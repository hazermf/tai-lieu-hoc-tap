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825" autoAdjust="0"/>
  </p:normalViewPr>
  <p:slideViewPr>
    <p:cSldViewPr>
      <p:cViewPr varScale="1">
        <p:scale>
          <a:sx n="110" d="100"/>
          <a:sy n="110" d="100"/>
        </p:scale>
        <p:origin x="3342"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C75C0B26-BF86-4DC6-865D-B1A05829D455}" type="datetimeFigureOut">
              <a:rPr lang="en-US" smtClean="0"/>
              <a:t>3/23/2025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A13772E-92BC-4DF5-A31C-A96E0BDD6752}" type="slidenum">
              <a:rPr lang="en-US" smtClean="0"/>
              <a:t>‹#›</a:t>
            </a:fld>
            <a:endParaRPr lang="en-US"/>
          </a:p>
        </p:txBody>
      </p:sp>
    </p:spTree>
    <p:extLst>
      <p:ext uri="{BB962C8B-B14F-4D97-AF65-F5344CB8AC3E}">
        <p14:creationId xmlns:p14="http://schemas.microsoft.com/office/powerpoint/2010/main" val="863122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mybucket.s3.amazonsws.co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Các kiểu kiến trúc hệ thống phân tán (Architectural Styles) là các mẫu thiết kế tổng thể định nghĩa cách các thành phần trong hệ thống phân tán tương tác với nhau. Dưới đây là giải thích chi tiết về các khái niệm liên quan:</a:t>
            </a:r>
          </a:p>
          <a:p>
            <a:pPr algn="l"/>
            <a:r>
              <a:rPr lang="vi-VN" b="1" i="0" dirty="0">
                <a:solidFill>
                  <a:srgbClr val="404040"/>
                </a:solidFill>
                <a:effectLst/>
                <a:latin typeface="Inter"/>
              </a:rPr>
              <a:t>1. Ý tưởng cơ bản (Basic Idea)</a:t>
            </a:r>
          </a:p>
          <a:p>
            <a:pPr algn="l"/>
            <a:r>
              <a:rPr lang="vi-VN" b="0" i="0" dirty="0">
                <a:solidFill>
                  <a:srgbClr val="404040"/>
                </a:solidFill>
                <a:effectLst/>
                <a:latin typeface="Inter"/>
              </a:rPr>
              <a:t>Một kiểu kiến trúc (architectural style) được xác định dựa trên các yếu tố sau:</a:t>
            </a:r>
          </a:p>
          <a:p>
            <a:pPr algn="l">
              <a:buFont typeface="Arial" panose="020B0604020202020204" pitchFamily="34" charset="0"/>
              <a:buChar char="•"/>
            </a:pPr>
            <a:r>
              <a:rPr lang="vi-VN" b="1" i="0" dirty="0">
                <a:solidFill>
                  <a:srgbClr val="404040"/>
                </a:solidFill>
                <a:effectLst/>
                <a:latin typeface="Inter"/>
              </a:rPr>
              <a:t>Các thành phần (Components):</a:t>
            </a:r>
            <a:r>
              <a:rPr lang="vi-VN" b="0" i="0" dirty="0">
                <a:solidFill>
                  <a:srgbClr val="404040"/>
                </a:solidFill>
                <a:effectLst/>
                <a:latin typeface="Inter"/>
              </a:rPr>
              <a:t> Các thành phần là các đơn vị phần mềm có thể thay thế được, có giao diện (interface) được định nghĩa rõ ràng. Mỗi thành phần thực hiện một chức năng cụ thể trong hệ thống.</a:t>
            </a:r>
          </a:p>
          <a:p>
            <a:pPr algn="l">
              <a:buFont typeface="Arial" panose="020B0604020202020204" pitchFamily="34" charset="0"/>
              <a:buChar char="•"/>
            </a:pPr>
            <a:r>
              <a:rPr lang="vi-VN" b="1" i="0" dirty="0">
                <a:solidFill>
                  <a:srgbClr val="404040"/>
                </a:solidFill>
                <a:effectLst/>
                <a:latin typeface="Inter"/>
              </a:rPr>
              <a:t>Cách kết nối các thành phần (Connections):</a:t>
            </a:r>
            <a:r>
              <a:rPr lang="vi-VN" b="0" i="0" dirty="0">
                <a:solidFill>
                  <a:srgbClr val="404040"/>
                </a:solidFill>
                <a:effectLst/>
                <a:latin typeface="Inter"/>
              </a:rPr>
              <a:t> Cách các thành phần được kết nối với nhau, thông qua các cơ chế giao tiếp (connectors).</a:t>
            </a:r>
          </a:p>
          <a:p>
            <a:pPr algn="l">
              <a:buFont typeface="Arial" panose="020B0604020202020204" pitchFamily="34" charset="0"/>
              <a:buChar char="•"/>
            </a:pPr>
            <a:r>
              <a:rPr lang="vi-VN" b="1" i="0" dirty="0">
                <a:solidFill>
                  <a:srgbClr val="404040"/>
                </a:solidFill>
                <a:effectLst/>
                <a:latin typeface="Inter"/>
              </a:rPr>
              <a:t>Dữ liệu trao đổi (Data Exchange):</a:t>
            </a:r>
            <a:r>
              <a:rPr lang="vi-VN" b="0" i="0" dirty="0">
                <a:solidFill>
                  <a:srgbClr val="404040"/>
                </a:solidFill>
                <a:effectLst/>
                <a:latin typeface="Inter"/>
              </a:rPr>
              <a:t> Dữ liệu được trao đổi giữa các thành phần, bao gồm định dạng, giao thức, và cách thức truyền tải.</a:t>
            </a:r>
          </a:p>
          <a:p>
            <a:pPr algn="l">
              <a:buFont typeface="Arial" panose="020B0604020202020204" pitchFamily="34" charset="0"/>
              <a:buChar char="•"/>
            </a:pPr>
            <a:r>
              <a:rPr lang="vi-VN" b="1" i="0" dirty="0">
                <a:solidFill>
                  <a:srgbClr val="404040"/>
                </a:solidFill>
                <a:effectLst/>
                <a:latin typeface="Inter"/>
              </a:rPr>
              <a:t>Cấu hình hệ thống (Configuration):</a:t>
            </a:r>
            <a:r>
              <a:rPr lang="vi-VN" b="0" i="0" dirty="0">
                <a:solidFill>
                  <a:srgbClr val="404040"/>
                </a:solidFill>
                <a:effectLst/>
                <a:latin typeface="Inter"/>
              </a:rPr>
              <a:t> Cách các thành phần và connectors được cấu hình cùng nhau để tạo thành một hệ thống hoàn chỉnh.</a:t>
            </a:r>
          </a:p>
          <a:p>
            <a:pPr algn="l"/>
            <a:r>
              <a:rPr lang="en-US" b="1" i="0" dirty="0">
                <a:solidFill>
                  <a:srgbClr val="404040"/>
                </a:solidFill>
                <a:effectLst/>
                <a:latin typeface="Inter"/>
              </a:rPr>
              <a:t>2</a:t>
            </a:r>
            <a:r>
              <a:rPr lang="vi-VN" b="1" i="0" dirty="0">
                <a:solidFill>
                  <a:srgbClr val="404040"/>
                </a:solidFill>
                <a:effectLst/>
                <a:latin typeface="Inter"/>
              </a:rPr>
              <a:t>. Connector</a:t>
            </a:r>
          </a:p>
          <a:p>
            <a:pPr algn="l"/>
            <a:r>
              <a:rPr lang="vi-VN" b="0" i="0" dirty="0">
                <a:solidFill>
                  <a:srgbClr val="404040"/>
                </a:solidFill>
                <a:effectLst/>
                <a:latin typeface="Inter"/>
              </a:rPr>
              <a:t>Connector là cơ chế trung gian giúp các thành phần giao tiếp, phối hợp hoặc hợp tác với nhau. Connector đóng vai trò quan trọng trong việc quản lý luồng dữ liệu và điều khiển giữa các thành phần. Ví dụ về các loại connector bao gồm:</a:t>
            </a:r>
          </a:p>
          <a:p>
            <a:pPr algn="l">
              <a:buFont typeface="Arial" panose="020B0604020202020204" pitchFamily="34" charset="0"/>
              <a:buChar char="•"/>
            </a:pPr>
            <a:r>
              <a:rPr lang="vi-VN" b="1" i="0" dirty="0">
                <a:solidFill>
                  <a:srgbClr val="404040"/>
                </a:solidFill>
                <a:effectLst/>
                <a:latin typeface="Inter"/>
              </a:rPr>
              <a:t>Remote Procedure Call (RPC):</a:t>
            </a:r>
            <a:r>
              <a:rPr lang="vi-VN" b="0" i="0" dirty="0">
                <a:solidFill>
                  <a:srgbClr val="404040"/>
                </a:solidFill>
                <a:effectLst/>
                <a:latin typeface="Inter"/>
              </a:rPr>
              <a:t> Cho phép một thành phần gọi một hàm hoặc thủ tục từ một thành phần khác trên một máy tính từ xa.</a:t>
            </a:r>
          </a:p>
          <a:p>
            <a:pPr algn="l">
              <a:buFont typeface="Arial" panose="020B0604020202020204" pitchFamily="34" charset="0"/>
              <a:buChar char="•"/>
            </a:pPr>
            <a:r>
              <a:rPr lang="vi-VN" b="1" i="0" dirty="0">
                <a:solidFill>
                  <a:srgbClr val="404040"/>
                </a:solidFill>
                <a:effectLst/>
                <a:latin typeface="Inter"/>
              </a:rPr>
              <a:t>Message Passing:</a:t>
            </a:r>
            <a:r>
              <a:rPr lang="vi-VN" b="0" i="0" dirty="0">
                <a:solidFill>
                  <a:srgbClr val="404040"/>
                </a:solidFill>
                <a:effectLst/>
                <a:latin typeface="Inter"/>
              </a:rPr>
              <a:t> Các thành phần giao tiếp bằng cách gửi và nhận thông điệp (messages) thông qua một hệ thống hàng đợi (message queue).</a:t>
            </a:r>
          </a:p>
          <a:p>
            <a:pPr algn="l">
              <a:buFont typeface="Arial" panose="020B0604020202020204" pitchFamily="34" charset="0"/>
              <a:buChar char="•"/>
            </a:pPr>
            <a:r>
              <a:rPr lang="vi-VN" b="1" i="0" dirty="0">
                <a:solidFill>
                  <a:srgbClr val="404040"/>
                </a:solidFill>
                <a:effectLst/>
                <a:latin typeface="Inter"/>
              </a:rPr>
              <a:t>Streaming:</a:t>
            </a:r>
            <a:r>
              <a:rPr lang="vi-VN" b="0" i="0" dirty="0">
                <a:solidFill>
                  <a:srgbClr val="404040"/>
                </a:solidFill>
                <a:effectLst/>
                <a:latin typeface="Inter"/>
              </a:rPr>
              <a:t> Truyền tải dữ liệu liên tục giữa các thành phần, thường được sử dụng trong các ứng dụng xử lý dữ liệu thời gian thực.</a:t>
            </a:r>
            <a:endParaRPr lang="en-US" b="0" i="0" dirty="0">
              <a:solidFill>
                <a:srgbClr val="404040"/>
              </a:solidFill>
              <a:effectLst/>
              <a:latin typeface="Inter"/>
            </a:endParaRPr>
          </a:p>
          <a:p>
            <a:pPr algn="l"/>
            <a:r>
              <a:rPr lang="en-US" b="1" i="0" dirty="0" err="1">
                <a:solidFill>
                  <a:srgbClr val="404040"/>
                </a:solidFill>
                <a:effectLst/>
                <a:latin typeface="Inter"/>
              </a:rPr>
              <a:t>Kết</a:t>
            </a:r>
            <a:r>
              <a:rPr lang="en-US" b="1" i="0" dirty="0">
                <a:solidFill>
                  <a:srgbClr val="404040"/>
                </a:solidFill>
                <a:effectLst/>
                <a:latin typeface="Inter"/>
              </a:rPr>
              <a:t> </a:t>
            </a:r>
            <a:r>
              <a:rPr lang="en-US" b="1" i="0" dirty="0" err="1">
                <a:solidFill>
                  <a:srgbClr val="404040"/>
                </a:solidFill>
                <a:effectLst/>
                <a:latin typeface="Inter"/>
              </a:rPr>
              <a:t>luận</a:t>
            </a:r>
            <a:endParaRPr lang="en-US" b="1" i="0" dirty="0">
              <a:solidFill>
                <a:srgbClr val="404040"/>
              </a:solidFill>
              <a:effectLst/>
              <a:latin typeface="Inter"/>
            </a:endParaRPr>
          </a:p>
          <a:p>
            <a:pPr algn="l"/>
            <a:r>
              <a:rPr lang="en-US" b="0" i="0" dirty="0" err="1">
                <a:solidFill>
                  <a:srgbClr val="404040"/>
                </a:solidFill>
                <a:effectLst/>
                <a:latin typeface="Inter"/>
              </a:rPr>
              <a:t>Các</a:t>
            </a:r>
            <a:r>
              <a:rPr lang="en-US" b="0" i="0" dirty="0">
                <a:solidFill>
                  <a:srgbClr val="404040"/>
                </a:solidFill>
                <a:effectLst/>
                <a:latin typeface="Inter"/>
              </a:rPr>
              <a:t> </a:t>
            </a:r>
            <a:r>
              <a:rPr lang="en-US" b="0" i="0" dirty="0" err="1">
                <a:solidFill>
                  <a:srgbClr val="404040"/>
                </a:solidFill>
                <a:effectLst/>
                <a:latin typeface="Inter"/>
              </a:rPr>
              <a:t>kiểu</a:t>
            </a:r>
            <a:r>
              <a:rPr lang="en-US" b="0" i="0" dirty="0">
                <a:solidFill>
                  <a:srgbClr val="404040"/>
                </a:solidFill>
                <a:effectLst/>
                <a:latin typeface="Inter"/>
              </a:rPr>
              <a:t> </a:t>
            </a:r>
            <a:r>
              <a:rPr lang="en-US" b="0" i="0" dirty="0" err="1">
                <a:solidFill>
                  <a:srgbClr val="404040"/>
                </a:solidFill>
                <a:effectLst/>
                <a:latin typeface="Inter"/>
              </a:rPr>
              <a:t>kiến</a:t>
            </a:r>
            <a:r>
              <a:rPr lang="en-US" b="0" i="0" dirty="0">
                <a:solidFill>
                  <a:srgbClr val="404040"/>
                </a:solidFill>
                <a:effectLst/>
                <a:latin typeface="Inter"/>
              </a:rPr>
              <a:t> </a:t>
            </a:r>
            <a:r>
              <a:rPr lang="en-US" b="0" i="0" dirty="0" err="1">
                <a:solidFill>
                  <a:srgbClr val="404040"/>
                </a:solidFill>
                <a:effectLst/>
                <a:latin typeface="Inter"/>
              </a:rPr>
              <a:t>trúc</a:t>
            </a:r>
            <a:r>
              <a:rPr lang="en-US" b="0" i="0" dirty="0">
                <a:solidFill>
                  <a:srgbClr val="404040"/>
                </a:solidFill>
                <a:effectLst/>
                <a:latin typeface="Inter"/>
              </a:rPr>
              <a:t> </a:t>
            </a:r>
            <a:r>
              <a:rPr lang="en-US" b="0" i="0" dirty="0" err="1">
                <a:solidFill>
                  <a:srgbClr val="404040"/>
                </a:solidFill>
                <a:effectLst/>
                <a:latin typeface="Inter"/>
              </a:rPr>
              <a:t>hệ</a:t>
            </a:r>
            <a:r>
              <a:rPr lang="en-US" b="0" i="0" dirty="0">
                <a:solidFill>
                  <a:srgbClr val="404040"/>
                </a:solidFill>
                <a:effectLst/>
                <a:latin typeface="Inter"/>
              </a:rPr>
              <a:t> </a:t>
            </a:r>
            <a:r>
              <a:rPr lang="en-US" b="0" i="0" dirty="0" err="1">
                <a:solidFill>
                  <a:srgbClr val="404040"/>
                </a:solidFill>
                <a:effectLst/>
                <a:latin typeface="Inter"/>
              </a:rPr>
              <a:t>thống</a:t>
            </a:r>
            <a:r>
              <a:rPr lang="en-US" b="0" i="0" dirty="0">
                <a:solidFill>
                  <a:srgbClr val="404040"/>
                </a:solidFill>
                <a:effectLst/>
                <a:latin typeface="Inter"/>
              </a:rPr>
              <a:t> </a:t>
            </a:r>
            <a:r>
              <a:rPr lang="en-US" b="0" i="0" dirty="0" err="1">
                <a:solidFill>
                  <a:srgbClr val="404040"/>
                </a:solidFill>
                <a:effectLst/>
                <a:latin typeface="Inter"/>
              </a:rPr>
              <a:t>phân</a:t>
            </a:r>
            <a:r>
              <a:rPr lang="en-US" b="0" i="0" dirty="0">
                <a:solidFill>
                  <a:srgbClr val="404040"/>
                </a:solidFill>
                <a:effectLst/>
                <a:latin typeface="Inter"/>
              </a:rPr>
              <a:t> </a:t>
            </a:r>
            <a:r>
              <a:rPr lang="en-US" b="0" i="0" dirty="0" err="1">
                <a:solidFill>
                  <a:srgbClr val="404040"/>
                </a:solidFill>
                <a:effectLst/>
                <a:latin typeface="Inter"/>
              </a:rPr>
              <a:t>tán</a:t>
            </a:r>
            <a:r>
              <a:rPr lang="en-US" b="0" i="0" dirty="0">
                <a:solidFill>
                  <a:srgbClr val="404040"/>
                </a:solidFill>
                <a:effectLst/>
                <a:latin typeface="Inter"/>
              </a:rPr>
              <a:t> </a:t>
            </a:r>
            <a:r>
              <a:rPr lang="en-US" b="0" i="0" dirty="0" err="1">
                <a:solidFill>
                  <a:srgbClr val="404040"/>
                </a:solidFill>
                <a:effectLst/>
                <a:latin typeface="Inter"/>
              </a:rPr>
              <a:t>cung</a:t>
            </a:r>
            <a:r>
              <a:rPr lang="en-US" b="0" i="0" dirty="0">
                <a:solidFill>
                  <a:srgbClr val="404040"/>
                </a:solidFill>
                <a:effectLst/>
                <a:latin typeface="Inter"/>
              </a:rPr>
              <a:t> </a:t>
            </a:r>
            <a:r>
              <a:rPr lang="en-US" b="0" i="0" dirty="0" err="1">
                <a:solidFill>
                  <a:srgbClr val="404040"/>
                </a:solidFill>
                <a:effectLst/>
                <a:latin typeface="Inter"/>
              </a:rPr>
              <a:t>cấp</a:t>
            </a:r>
            <a:r>
              <a:rPr lang="en-US" b="0" i="0" dirty="0">
                <a:solidFill>
                  <a:srgbClr val="404040"/>
                </a:solidFill>
                <a:effectLst/>
                <a:latin typeface="Inter"/>
              </a:rPr>
              <a:t> </a:t>
            </a:r>
            <a:r>
              <a:rPr lang="en-US" b="0" i="0" dirty="0" err="1">
                <a:solidFill>
                  <a:srgbClr val="404040"/>
                </a:solidFill>
                <a:effectLst/>
                <a:latin typeface="Inter"/>
              </a:rPr>
              <a:t>một</a:t>
            </a:r>
            <a:r>
              <a:rPr lang="en-US" b="0" i="0" dirty="0">
                <a:solidFill>
                  <a:srgbClr val="404040"/>
                </a:solidFill>
                <a:effectLst/>
                <a:latin typeface="Inter"/>
              </a:rPr>
              <a:t> </a:t>
            </a:r>
            <a:r>
              <a:rPr lang="en-US" b="0" i="0" dirty="0" err="1">
                <a:solidFill>
                  <a:srgbClr val="404040"/>
                </a:solidFill>
                <a:effectLst/>
                <a:latin typeface="Inter"/>
              </a:rPr>
              <a:t>khuôn</a:t>
            </a:r>
            <a:r>
              <a:rPr lang="en-US" b="0" i="0" dirty="0">
                <a:solidFill>
                  <a:srgbClr val="404040"/>
                </a:solidFill>
                <a:effectLst/>
                <a:latin typeface="Inter"/>
              </a:rPr>
              <a:t> </a:t>
            </a:r>
            <a:r>
              <a:rPr lang="en-US" b="0" i="0" dirty="0" err="1">
                <a:solidFill>
                  <a:srgbClr val="404040"/>
                </a:solidFill>
                <a:effectLst/>
                <a:latin typeface="Inter"/>
              </a:rPr>
              <a:t>mẫu</a:t>
            </a:r>
            <a:r>
              <a:rPr lang="en-US" b="0" i="0" dirty="0">
                <a:solidFill>
                  <a:srgbClr val="404040"/>
                </a:solidFill>
                <a:effectLst/>
                <a:latin typeface="Inter"/>
              </a:rPr>
              <a:t> </a:t>
            </a:r>
            <a:r>
              <a:rPr lang="en-US" b="0" i="0" dirty="0" err="1">
                <a:solidFill>
                  <a:srgbClr val="404040"/>
                </a:solidFill>
                <a:effectLst/>
                <a:latin typeface="Inter"/>
              </a:rPr>
              <a:t>để</a:t>
            </a:r>
            <a:r>
              <a:rPr lang="en-US" b="0" i="0" dirty="0">
                <a:solidFill>
                  <a:srgbClr val="404040"/>
                </a:solidFill>
                <a:effectLst/>
                <a:latin typeface="Inter"/>
              </a:rPr>
              <a:t> </a:t>
            </a:r>
            <a:r>
              <a:rPr lang="en-US" b="0" i="0" dirty="0" err="1">
                <a:solidFill>
                  <a:srgbClr val="404040"/>
                </a:solidFill>
                <a:effectLst/>
                <a:latin typeface="Inter"/>
              </a:rPr>
              <a:t>thiết</a:t>
            </a:r>
            <a:r>
              <a:rPr lang="en-US" b="0" i="0" dirty="0">
                <a:solidFill>
                  <a:srgbClr val="404040"/>
                </a:solidFill>
                <a:effectLst/>
                <a:latin typeface="Inter"/>
              </a:rPr>
              <a:t> </a:t>
            </a:r>
            <a:r>
              <a:rPr lang="en-US" b="0" i="0" dirty="0" err="1">
                <a:solidFill>
                  <a:srgbClr val="404040"/>
                </a:solidFill>
                <a:effectLst/>
                <a:latin typeface="Inter"/>
              </a:rPr>
              <a:t>kế</a:t>
            </a:r>
            <a:r>
              <a:rPr lang="en-US" b="0" i="0" dirty="0">
                <a:solidFill>
                  <a:srgbClr val="404040"/>
                </a:solidFill>
                <a:effectLst/>
                <a:latin typeface="Inter"/>
              </a:rPr>
              <a:t> </a:t>
            </a:r>
            <a:r>
              <a:rPr lang="en-US" b="0" i="0" dirty="0" err="1">
                <a:solidFill>
                  <a:srgbClr val="404040"/>
                </a:solidFill>
                <a:effectLst/>
                <a:latin typeface="Inter"/>
              </a:rPr>
              <a:t>và</a:t>
            </a:r>
            <a:r>
              <a:rPr lang="en-US" b="0" i="0" dirty="0">
                <a:solidFill>
                  <a:srgbClr val="404040"/>
                </a:solidFill>
                <a:effectLst/>
                <a:latin typeface="Inter"/>
              </a:rPr>
              <a:t> </a:t>
            </a:r>
            <a:r>
              <a:rPr lang="en-US" b="0" i="0" dirty="0" err="1">
                <a:solidFill>
                  <a:srgbClr val="404040"/>
                </a:solidFill>
                <a:effectLst/>
                <a:latin typeface="Inter"/>
              </a:rPr>
              <a:t>triển</a:t>
            </a:r>
            <a:r>
              <a:rPr lang="en-US" b="0" i="0" dirty="0">
                <a:solidFill>
                  <a:srgbClr val="404040"/>
                </a:solidFill>
                <a:effectLst/>
                <a:latin typeface="Inter"/>
              </a:rPr>
              <a:t> </a:t>
            </a:r>
            <a:r>
              <a:rPr lang="en-US" b="0" i="0" dirty="0" err="1">
                <a:solidFill>
                  <a:srgbClr val="404040"/>
                </a:solidFill>
                <a:effectLst/>
                <a:latin typeface="Inter"/>
              </a:rPr>
              <a:t>khai</a:t>
            </a:r>
            <a:r>
              <a:rPr lang="en-US" b="0" i="0" dirty="0">
                <a:solidFill>
                  <a:srgbClr val="404040"/>
                </a:solidFill>
                <a:effectLst/>
                <a:latin typeface="Inter"/>
              </a:rPr>
              <a:t> </a:t>
            </a:r>
            <a:r>
              <a:rPr lang="en-US" b="0" i="0" dirty="0" err="1">
                <a:solidFill>
                  <a:srgbClr val="404040"/>
                </a:solidFill>
                <a:effectLst/>
                <a:latin typeface="Inter"/>
              </a:rPr>
              <a:t>các</a:t>
            </a:r>
            <a:r>
              <a:rPr lang="en-US" b="0" i="0" dirty="0">
                <a:solidFill>
                  <a:srgbClr val="404040"/>
                </a:solidFill>
                <a:effectLst/>
                <a:latin typeface="Inter"/>
              </a:rPr>
              <a:t> </a:t>
            </a:r>
            <a:r>
              <a:rPr lang="en-US" b="0" i="0" dirty="0" err="1">
                <a:solidFill>
                  <a:srgbClr val="404040"/>
                </a:solidFill>
                <a:effectLst/>
                <a:latin typeface="Inter"/>
              </a:rPr>
              <a:t>hệ</a:t>
            </a:r>
            <a:r>
              <a:rPr lang="en-US" b="0" i="0" dirty="0">
                <a:solidFill>
                  <a:srgbClr val="404040"/>
                </a:solidFill>
                <a:effectLst/>
                <a:latin typeface="Inter"/>
              </a:rPr>
              <a:t> </a:t>
            </a:r>
            <a:r>
              <a:rPr lang="en-US" b="0" i="0" dirty="0" err="1">
                <a:solidFill>
                  <a:srgbClr val="404040"/>
                </a:solidFill>
                <a:effectLst/>
                <a:latin typeface="Inter"/>
              </a:rPr>
              <a:t>thống</a:t>
            </a:r>
            <a:r>
              <a:rPr lang="en-US" b="0" i="0" dirty="0">
                <a:solidFill>
                  <a:srgbClr val="404040"/>
                </a:solidFill>
                <a:effectLst/>
                <a:latin typeface="Inter"/>
              </a:rPr>
              <a:t> </a:t>
            </a:r>
            <a:r>
              <a:rPr lang="en-US" b="0" i="0" dirty="0" err="1">
                <a:solidFill>
                  <a:srgbClr val="404040"/>
                </a:solidFill>
                <a:effectLst/>
                <a:latin typeface="Inter"/>
              </a:rPr>
              <a:t>phân</a:t>
            </a:r>
            <a:r>
              <a:rPr lang="en-US" b="0" i="0" dirty="0">
                <a:solidFill>
                  <a:srgbClr val="404040"/>
                </a:solidFill>
                <a:effectLst/>
                <a:latin typeface="Inter"/>
              </a:rPr>
              <a:t> </a:t>
            </a:r>
            <a:r>
              <a:rPr lang="en-US" b="0" i="0" dirty="0" err="1">
                <a:solidFill>
                  <a:srgbClr val="404040"/>
                </a:solidFill>
                <a:effectLst/>
                <a:latin typeface="Inter"/>
              </a:rPr>
              <a:t>tán</a:t>
            </a:r>
            <a:r>
              <a:rPr lang="en-US" b="0" i="0" dirty="0">
                <a:solidFill>
                  <a:srgbClr val="404040"/>
                </a:solidFill>
                <a:effectLst/>
                <a:latin typeface="Inter"/>
              </a:rPr>
              <a:t>, </a:t>
            </a:r>
            <a:r>
              <a:rPr lang="en-US" b="0" i="0" dirty="0" err="1">
                <a:solidFill>
                  <a:srgbClr val="404040"/>
                </a:solidFill>
                <a:effectLst/>
                <a:latin typeface="Inter"/>
              </a:rPr>
              <a:t>giúp</a:t>
            </a:r>
            <a:r>
              <a:rPr lang="en-US" b="0" i="0" dirty="0">
                <a:solidFill>
                  <a:srgbClr val="404040"/>
                </a:solidFill>
                <a:effectLst/>
                <a:latin typeface="Inter"/>
              </a:rPr>
              <a:t> </a:t>
            </a:r>
            <a:r>
              <a:rPr lang="en-US" b="0" i="0" dirty="0" err="1">
                <a:solidFill>
                  <a:srgbClr val="404040"/>
                </a:solidFill>
                <a:effectLst/>
                <a:latin typeface="Inter"/>
              </a:rPr>
              <a:t>đảm</a:t>
            </a:r>
            <a:r>
              <a:rPr lang="en-US" b="0" i="0" dirty="0">
                <a:solidFill>
                  <a:srgbClr val="404040"/>
                </a:solidFill>
                <a:effectLst/>
                <a:latin typeface="Inter"/>
              </a:rPr>
              <a:t> </a:t>
            </a:r>
            <a:r>
              <a:rPr lang="en-US" b="0" i="0" dirty="0" err="1">
                <a:solidFill>
                  <a:srgbClr val="404040"/>
                </a:solidFill>
                <a:effectLst/>
                <a:latin typeface="Inter"/>
              </a:rPr>
              <a:t>bảo</a:t>
            </a:r>
            <a:r>
              <a:rPr lang="en-US" b="0" i="0" dirty="0">
                <a:solidFill>
                  <a:srgbClr val="404040"/>
                </a:solidFill>
                <a:effectLst/>
                <a:latin typeface="Inter"/>
              </a:rPr>
              <a:t> </a:t>
            </a:r>
            <a:r>
              <a:rPr lang="en-US" b="0" i="0" dirty="0" err="1">
                <a:solidFill>
                  <a:srgbClr val="404040"/>
                </a:solidFill>
                <a:effectLst/>
                <a:latin typeface="Inter"/>
              </a:rPr>
              <a:t>tính</a:t>
            </a:r>
            <a:r>
              <a:rPr lang="en-US" b="0" i="0" dirty="0">
                <a:solidFill>
                  <a:srgbClr val="404040"/>
                </a:solidFill>
                <a:effectLst/>
                <a:latin typeface="Inter"/>
              </a:rPr>
              <a:t> </a:t>
            </a:r>
            <a:r>
              <a:rPr lang="en-US" b="0" i="0" dirty="0" err="1">
                <a:solidFill>
                  <a:srgbClr val="404040"/>
                </a:solidFill>
                <a:effectLst/>
                <a:latin typeface="Inter"/>
              </a:rPr>
              <a:t>mô</a:t>
            </a:r>
            <a:r>
              <a:rPr lang="en-US" b="0" i="0" dirty="0">
                <a:solidFill>
                  <a:srgbClr val="404040"/>
                </a:solidFill>
                <a:effectLst/>
                <a:latin typeface="Inter"/>
              </a:rPr>
              <a:t> </a:t>
            </a:r>
            <a:r>
              <a:rPr lang="en-US" b="0" i="0" dirty="0" err="1">
                <a:solidFill>
                  <a:srgbClr val="404040"/>
                </a:solidFill>
                <a:effectLst/>
                <a:latin typeface="Inter"/>
              </a:rPr>
              <a:t>đun</a:t>
            </a:r>
            <a:r>
              <a:rPr lang="en-US" b="0" i="0" dirty="0">
                <a:solidFill>
                  <a:srgbClr val="404040"/>
                </a:solidFill>
                <a:effectLst/>
                <a:latin typeface="Inter"/>
              </a:rPr>
              <a:t>, </a:t>
            </a:r>
            <a:r>
              <a:rPr lang="en-US" b="0" i="0" dirty="0" err="1">
                <a:solidFill>
                  <a:srgbClr val="404040"/>
                </a:solidFill>
                <a:effectLst/>
                <a:latin typeface="Inter"/>
              </a:rPr>
              <a:t>khả</a:t>
            </a:r>
            <a:r>
              <a:rPr lang="en-US" b="0" i="0" dirty="0">
                <a:solidFill>
                  <a:srgbClr val="404040"/>
                </a:solidFill>
                <a:effectLst/>
                <a:latin typeface="Inter"/>
              </a:rPr>
              <a:t> </a:t>
            </a:r>
            <a:r>
              <a:rPr lang="en-US" b="0" i="0" dirty="0" err="1">
                <a:solidFill>
                  <a:srgbClr val="404040"/>
                </a:solidFill>
                <a:effectLst/>
                <a:latin typeface="Inter"/>
              </a:rPr>
              <a:t>năng</a:t>
            </a:r>
            <a:r>
              <a:rPr lang="en-US" b="0" i="0" dirty="0">
                <a:solidFill>
                  <a:srgbClr val="404040"/>
                </a:solidFill>
                <a:effectLst/>
                <a:latin typeface="Inter"/>
              </a:rPr>
              <a:t> </a:t>
            </a:r>
            <a:r>
              <a:rPr lang="en-US" b="0" i="0" dirty="0" err="1">
                <a:solidFill>
                  <a:srgbClr val="404040"/>
                </a:solidFill>
                <a:effectLst/>
                <a:latin typeface="Inter"/>
              </a:rPr>
              <a:t>mở</a:t>
            </a:r>
            <a:r>
              <a:rPr lang="en-US" b="0" i="0" dirty="0">
                <a:solidFill>
                  <a:srgbClr val="404040"/>
                </a:solidFill>
                <a:effectLst/>
                <a:latin typeface="Inter"/>
              </a:rPr>
              <a:t> </a:t>
            </a:r>
            <a:r>
              <a:rPr lang="en-US" b="0" i="0" dirty="0" err="1">
                <a:solidFill>
                  <a:srgbClr val="404040"/>
                </a:solidFill>
                <a:effectLst/>
                <a:latin typeface="Inter"/>
              </a:rPr>
              <a:t>rộng</a:t>
            </a:r>
            <a:r>
              <a:rPr lang="en-US" b="0" i="0" dirty="0">
                <a:solidFill>
                  <a:srgbClr val="404040"/>
                </a:solidFill>
                <a:effectLst/>
                <a:latin typeface="Inter"/>
              </a:rPr>
              <a:t> </a:t>
            </a:r>
            <a:r>
              <a:rPr lang="en-US" b="0" i="0" dirty="0" err="1">
                <a:solidFill>
                  <a:srgbClr val="404040"/>
                </a:solidFill>
                <a:effectLst/>
                <a:latin typeface="Inter"/>
              </a:rPr>
              <a:t>và</a:t>
            </a:r>
            <a:r>
              <a:rPr lang="en-US" b="0" i="0" dirty="0">
                <a:solidFill>
                  <a:srgbClr val="404040"/>
                </a:solidFill>
                <a:effectLst/>
                <a:latin typeface="Inter"/>
              </a:rPr>
              <a:t> </a:t>
            </a:r>
            <a:r>
              <a:rPr lang="en-US" b="0" i="0" dirty="0" err="1">
                <a:solidFill>
                  <a:srgbClr val="404040"/>
                </a:solidFill>
                <a:effectLst/>
                <a:latin typeface="Inter"/>
              </a:rPr>
              <a:t>dễ</a:t>
            </a:r>
            <a:r>
              <a:rPr lang="en-US" b="0" i="0" dirty="0">
                <a:solidFill>
                  <a:srgbClr val="404040"/>
                </a:solidFill>
                <a:effectLst/>
                <a:latin typeface="Inter"/>
              </a:rPr>
              <a:t> </a:t>
            </a:r>
            <a:r>
              <a:rPr lang="en-US" b="0" i="0" dirty="0" err="1">
                <a:solidFill>
                  <a:srgbClr val="404040"/>
                </a:solidFill>
                <a:effectLst/>
                <a:latin typeface="Inter"/>
              </a:rPr>
              <a:t>bảo</a:t>
            </a:r>
            <a:r>
              <a:rPr lang="en-US" b="0" i="0" dirty="0">
                <a:solidFill>
                  <a:srgbClr val="404040"/>
                </a:solidFill>
                <a:effectLst/>
                <a:latin typeface="Inter"/>
              </a:rPr>
              <a:t> </a:t>
            </a:r>
            <a:r>
              <a:rPr lang="en-US" b="0" i="0" dirty="0" err="1">
                <a:solidFill>
                  <a:srgbClr val="404040"/>
                </a:solidFill>
                <a:effectLst/>
                <a:latin typeface="Inter"/>
              </a:rPr>
              <a:t>trì</a:t>
            </a:r>
            <a:r>
              <a:rPr lang="en-US" b="0" i="0" dirty="0">
                <a:solidFill>
                  <a:srgbClr val="404040"/>
                </a:solidFill>
                <a:effectLst/>
                <a:latin typeface="Inter"/>
              </a:rPr>
              <a:t>. </a:t>
            </a:r>
            <a:r>
              <a:rPr lang="en-US" b="0" i="0" dirty="0" err="1">
                <a:solidFill>
                  <a:srgbClr val="404040"/>
                </a:solidFill>
                <a:effectLst/>
                <a:latin typeface="Inter"/>
              </a:rPr>
              <a:t>Việc</a:t>
            </a:r>
            <a:r>
              <a:rPr lang="en-US" b="0" i="0" dirty="0">
                <a:solidFill>
                  <a:srgbClr val="404040"/>
                </a:solidFill>
                <a:effectLst/>
                <a:latin typeface="Inter"/>
              </a:rPr>
              <a:t> </a:t>
            </a:r>
            <a:r>
              <a:rPr lang="en-US" b="0" i="0" dirty="0" err="1">
                <a:solidFill>
                  <a:srgbClr val="404040"/>
                </a:solidFill>
                <a:effectLst/>
                <a:latin typeface="Inter"/>
              </a:rPr>
              <a:t>lựa</a:t>
            </a:r>
            <a:r>
              <a:rPr lang="en-US" b="0" i="0" dirty="0">
                <a:solidFill>
                  <a:srgbClr val="404040"/>
                </a:solidFill>
                <a:effectLst/>
                <a:latin typeface="Inter"/>
              </a:rPr>
              <a:t> </a:t>
            </a:r>
            <a:r>
              <a:rPr lang="en-US" b="0" i="0" dirty="0" err="1">
                <a:solidFill>
                  <a:srgbClr val="404040"/>
                </a:solidFill>
                <a:effectLst/>
                <a:latin typeface="Inter"/>
              </a:rPr>
              <a:t>chọn</a:t>
            </a:r>
            <a:r>
              <a:rPr lang="en-US" b="0" i="0" dirty="0">
                <a:solidFill>
                  <a:srgbClr val="404040"/>
                </a:solidFill>
                <a:effectLst/>
                <a:latin typeface="Inter"/>
              </a:rPr>
              <a:t> </a:t>
            </a:r>
            <a:r>
              <a:rPr lang="en-US" b="0" i="0" dirty="0" err="1">
                <a:solidFill>
                  <a:srgbClr val="404040"/>
                </a:solidFill>
                <a:effectLst/>
                <a:latin typeface="Inter"/>
              </a:rPr>
              <a:t>kiểu</a:t>
            </a:r>
            <a:r>
              <a:rPr lang="en-US" b="0" i="0" dirty="0">
                <a:solidFill>
                  <a:srgbClr val="404040"/>
                </a:solidFill>
                <a:effectLst/>
                <a:latin typeface="Inter"/>
              </a:rPr>
              <a:t> </a:t>
            </a:r>
            <a:r>
              <a:rPr lang="en-US" b="0" i="0" dirty="0" err="1">
                <a:solidFill>
                  <a:srgbClr val="404040"/>
                </a:solidFill>
                <a:effectLst/>
                <a:latin typeface="Inter"/>
              </a:rPr>
              <a:t>kiến</a:t>
            </a:r>
            <a:r>
              <a:rPr lang="en-US" b="0" i="0" dirty="0">
                <a:solidFill>
                  <a:srgbClr val="404040"/>
                </a:solidFill>
                <a:effectLst/>
                <a:latin typeface="Inter"/>
              </a:rPr>
              <a:t> </a:t>
            </a:r>
            <a:r>
              <a:rPr lang="en-US" b="0" i="0" dirty="0" err="1">
                <a:solidFill>
                  <a:srgbClr val="404040"/>
                </a:solidFill>
                <a:effectLst/>
                <a:latin typeface="Inter"/>
              </a:rPr>
              <a:t>trúc</a:t>
            </a:r>
            <a:r>
              <a:rPr lang="en-US" b="0" i="0" dirty="0">
                <a:solidFill>
                  <a:srgbClr val="404040"/>
                </a:solidFill>
                <a:effectLst/>
                <a:latin typeface="Inter"/>
              </a:rPr>
              <a:t> </a:t>
            </a:r>
            <a:r>
              <a:rPr lang="en-US" b="0" i="0" dirty="0" err="1">
                <a:solidFill>
                  <a:srgbClr val="404040"/>
                </a:solidFill>
                <a:effectLst/>
                <a:latin typeface="Inter"/>
              </a:rPr>
              <a:t>phù</a:t>
            </a:r>
            <a:r>
              <a:rPr lang="en-US" b="0" i="0" dirty="0">
                <a:solidFill>
                  <a:srgbClr val="404040"/>
                </a:solidFill>
                <a:effectLst/>
                <a:latin typeface="Inter"/>
              </a:rPr>
              <a:t> </a:t>
            </a:r>
            <a:r>
              <a:rPr lang="en-US" b="0" i="0" dirty="0" err="1">
                <a:solidFill>
                  <a:srgbClr val="404040"/>
                </a:solidFill>
                <a:effectLst/>
                <a:latin typeface="Inter"/>
              </a:rPr>
              <a:t>hợp</a:t>
            </a:r>
            <a:r>
              <a:rPr lang="en-US" b="0" i="0" dirty="0">
                <a:solidFill>
                  <a:srgbClr val="404040"/>
                </a:solidFill>
                <a:effectLst/>
                <a:latin typeface="Inter"/>
              </a:rPr>
              <a:t> </a:t>
            </a:r>
            <a:r>
              <a:rPr lang="en-US" b="0" i="0" dirty="0" err="1">
                <a:solidFill>
                  <a:srgbClr val="404040"/>
                </a:solidFill>
                <a:effectLst/>
                <a:latin typeface="Inter"/>
              </a:rPr>
              <a:t>phụ</a:t>
            </a:r>
            <a:r>
              <a:rPr lang="en-US" b="0" i="0" dirty="0">
                <a:solidFill>
                  <a:srgbClr val="404040"/>
                </a:solidFill>
                <a:effectLst/>
                <a:latin typeface="Inter"/>
              </a:rPr>
              <a:t> </a:t>
            </a:r>
            <a:r>
              <a:rPr lang="en-US" b="0" i="0" dirty="0" err="1">
                <a:solidFill>
                  <a:srgbClr val="404040"/>
                </a:solidFill>
                <a:effectLst/>
                <a:latin typeface="Inter"/>
              </a:rPr>
              <a:t>thuộc</a:t>
            </a:r>
            <a:r>
              <a:rPr lang="en-US" b="0" i="0" dirty="0">
                <a:solidFill>
                  <a:srgbClr val="404040"/>
                </a:solidFill>
                <a:effectLst/>
                <a:latin typeface="Inter"/>
              </a:rPr>
              <a:t> </a:t>
            </a:r>
            <a:r>
              <a:rPr lang="en-US" b="0" i="0" dirty="0" err="1">
                <a:solidFill>
                  <a:srgbClr val="404040"/>
                </a:solidFill>
                <a:effectLst/>
                <a:latin typeface="Inter"/>
              </a:rPr>
              <a:t>vào</a:t>
            </a:r>
            <a:r>
              <a:rPr lang="en-US" b="0" i="0" dirty="0">
                <a:solidFill>
                  <a:srgbClr val="404040"/>
                </a:solidFill>
                <a:effectLst/>
                <a:latin typeface="Inter"/>
              </a:rPr>
              <a:t> </a:t>
            </a:r>
            <a:r>
              <a:rPr lang="en-US" b="0" i="0" dirty="0" err="1">
                <a:solidFill>
                  <a:srgbClr val="404040"/>
                </a:solidFill>
                <a:effectLst/>
                <a:latin typeface="Inter"/>
              </a:rPr>
              <a:t>yêu</a:t>
            </a:r>
            <a:r>
              <a:rPr lang="en-US" b="0" i="0" dirty="0">
                <a:solidFill>
                  <a:srgbClr val="404040"/>
                </a:solidFill>
                <a:effectLst/>
                <a:latin typeface="Inter"/>
              </a:rPr>
              <a:t> </a:t>
            </a:r>
            <a:r>
              <a:rPr lang="en-US" b="0" i="0" dirty="0" err="1">
                <a:solidFill>
                  <a:srgbClr val="404040"/>
                </a:solidFill>
                <a:effectLst/>
                <a:latin typeface="Inter"/>
              </a:rPr>
              <a:t>cầu</a:t>
            </a:r>
            <a:r>
              <a:rPr lang="en-US" b="0" i="0" dirty="0">
                <a:solidFill>
                  <a:srgbClr val="404040"/>
                </a:solidFill>
                <a:effectLst/>
                <a:latin typeface="Inter"/>
              </a:rPr>
              <a:t> </a:t>
            </a:r>
            <a:r>
              <a:rPr lang="en-US" b="0" i="0" dirty="0" err="1">
                <a:solidFill>
                  <a:srgbClr val="404040"/>
                </a:solidFill>
                <a:effectLst/>
                <a:latin typeface="Inter"/>
              </a:rPr>
              <a:t>cụ</a:t>
            </a:r>
            <a:r>
              <a:rPr lang="en-US" b="0" i="0" dirty="0">
                <a:solidFill>
                  <a:srgbClr val="404040"/>
                </a:solidFill>
                <a:effectLst/>
                <a:latin typeface="Inter"/>
              </a:rPr>
              <a:t> </a:t>
            </a:r>
            <a:r>
              <a:rPr lang="en-US" b="0" i="0" dirty="0" err="1">
                <a:solidFill>
                  <a:srgbClr val="404040"/>
                </a:solidFill>
                <a:effectLst/>
                <a:latin typeface="Inter"/>
              </a:rPr>
              <a:t>thể</a:t>
            </a:r>
            <a:r>
              <a:rPr lang="en-US" b="0" i="0" dirty="0">
                <a:solidFill>
                  <a:srgbClr val="404040"/>
                </a:solidFill>
                <a:effectLst/>
                <a:latin typeface="Inter"/>
              </a:rPr>
              <a:t> </a:t>
            </a:r>
            <a:r>
              <a:rPr lang="en-US" b="0" i="0" dirty="0" err="1">
                <a:solidFill>
                  <a:srgbClr val="404040"/>
                </a:solidFill>
                <a:effectLst/>
                <a:latin typeface="Inter"/>
              </a:rPr>
              <a:t>của</a:t>
            </a:r>
            <a:r>
              <a:rPr lang="en-US" b="0" i="0" dirty="0">
                <a:solidFill>
                  <a:srgbClr val="404040"/>
                </a:solidFill>
                <a:effectLst/>
                <a:latin typeface="Inter"/>
              </a:rPr>
              <a:t> </a:t>
            </a:r>
            <a:r>
              <a:rPr lang="en-US" b="0" i="0" dirty="0" err="1">
                <a:solidFill>
                  <a:srgbClr val="404040"/>
                </a:solidFill>
                <a:effectLst/>
                <a:latin typeface="Inter"/>
              </a:rPr>
              <a:t>hệ</a:t>
            </a:r>
            <a:r>
              <a:rPr lang="en-US" b="0" i="0" dirty="0">
                <a:solidFill>
                  <a:srgbClr val="404040"/>
                </a:solidFill>
                <a:effectLst/>
                <a:latin typeface="Inter"/>
              </a:rPr>
              <a:t> </a:t>
            </a:r>
            <a:r>
              <a:rPr lang="en-US" b="0" i="0" dirty="0" err="1">
                <a:solidFill>
                  <a:srgbClr val="404040"/>
                </a:solidFill>
                <a:effectLst/>
                <a:latin typeface="Inter"/>
              </a:rPr>
              <a:t>thống</a:t>
            </a:r>
            <a:r>
              <a:rPr lang="en-US" b="0" i="0" dirty="0">
                <a:solidFill>
                  <a:srgbClr val="404040"/>
                </a:solidFill>
                <a:effectLst/>
                <a:latin typeface="Inter"/>
              </a:rPr>
              <a:t> </a:t>
            </a:r>
            <a:r>
              <a:rPr lang="en-US" b="0" i="0" dirty="0" err="1">
                <a:solidFill>
                  <a:srgbClr val="404040"/>
                </a:solidFill>
                <a:effectLst/>
                <a:latin typeface="Inter"/>
              </a:rPr>
              <a:t>và</a:t>
            </a:r>
            <a:r>
              <a:rPr lang="en-US" b="0" i="0" dirty="0">
                <a:solidFill>
                  <a:srgbClr val="404040"/>
                </a:solidFill>
                <a:effectLst/>
                <a:latin typeface="Inter"/>
              </a:rPr>
              <a:t> </a:t>
            </a:r>
            <a:r>
              <a:rPr lang="en-US" b="0" i="0" dirty="0" err="1">
                <a:solidFill>
                  <a:srgbClr val="404040"/>
                </a:solidFill>
                <a:effectLst/>
                <a:latin typeface="Inter"/>
              </a:rPr>
              <a:t>các</a:t>
            </a:r>
            <a:r>
              <a:rPr lang="en-US" b="0" i="0" dirty="0">
                <a:solidFill>
                  <a:srgbClr val="404040"/>
                </a:solidFill>
                <a:effectLst/>
                <a:latin typeface="Inter"/>
              </a:rPr>
              <a:t> </a:t>
            </a:r>
            <a:r>
              <a:rPr lang="en-US" b="0" i="0" dirty="0" err="1">
                <a:solidFill>
                  <a:srgbClr val="404040"/>
                </a:solidFill>
                <a:effectLst/>
                <a:latin typeface="Inter"/>
              </a:rPr>
              <a:t>ràng</a:t>
            </a:r>
            <a:r>
              <a:rPr lang="en-US" b="0" i="0" dirty="0">
                <a:solidFill>
                  <a:srgbClr val="404040"/>
                </a:solidFill>
                <a:effectLst/>
                <a:latin typeface="Inter"/>
              </a:rPr>
              <a:t> </a:t>
            </a:r>
            <a:r>
              <a:rPr lang="en-US" b="0" i="0" dirty="0" err="1">
                <a:solidFill>
                  <a:srgbClr val="404040"/>
                </a:solidFill>
                <a:effectLst/>
                <a:latin typeface="Inter"/>
              </a:rPr>
              <a:t>buộc</a:t>
            </a:r>
            <a:r>
              <a:rPr lang="en-US" b="0" i="0" dirty="0">
                <a:solidFill>
                  <a:srgbClr val="404040"/>
                </a:solidFill>
                <a:effectLst/>
                <a:latin typeface="Inter"/>
              </a:rPr>
              <a:t> </a:t>
            </a:r>
            <a:r>
              <a:rPr lang="en-US" b="0" i="0" dirty="0" err="1">
                <a:solidFill>
                  <a:srgbClr val="404040"/>
                </a:solidFill>
                <a:effectLst/>
                <a:latin typeface="Inter"/>
              </a:rPr>
              <a:t>về</a:t>
            </a:r>
            <a:r>
              <a:rPr lang="en-US" b="0" i="0" dirty="0">
                <a:solidFill>
                  <a:srgbClr val="404040"/>
                </a:solidFill>
                <a:effectLst/>
                <a:latin typeface="Inter"/>
              </a:rPr>
              <a:t> </a:t>
            </a:r>
            <a:r>
              <a:rPr lang="en-US" b="0" i="0" dirty="0" err="1">
                <a:solidFill>
                  <a:srgbClr val="404040"/>
                </a:solidFill>
                <a:effectLst/>
                <a:latin typeface="Inter"/>
              </a:rPr>
              <a:t>hiệu</a:t>
            </a:r>
            <a:r>
              <a:rPr lang="en-US" b="0" i="0" dirty="0">
                <a:solidFill>
                  <a:srgbClr val="404040"/>
                </a:solidFill>
                <a:effectLst/>
                <a:latin typeface="Inter"/>
              </a:rPr>
              <a:t> </a:t>
            </a:r>
            <a:r>
              <a:rPr lang="en-US" b="0" i="0" dirty="0" err="1">
                <a:solidFill>
                  <a:srgbClr val="404040"/>
                </a:solidFill>
                <a:effectLst/>
                <a:latin typeface="Inter"/>
              </a:rPr>
              <a:t>suất</a:t>
            </a:r>
            <a:r>
              <a:rPr lang="en-US" b="0" i="0" dirty="0">
                <a:solidFill>
                  <a:srgbClr val="404040"/>
                </a:solidFill>
                <a:effectLst/>
                <a:latin typeface="Inter"/>
              </a:rPr>
              <a:t>, </a:t>
            </a:r>
            <a:r>
              <a:rPr lang="en-US" b="0" i="0" dirty="0" err="1">
                <a:solidFill>
                  <a:srgbClr val="404040"/>
                </a:solidFill>
                <a:effectLst/>
                <a:latin typeface="Inter"/>
              </a:rPr>
              <a:t>độ</a:t>
            </a:r>
            <a:r>
              <a:rPr lang="en-US" b="0" i="0" dirty="0">
                <a:solidFill>
                  <a:srgbClr val="404040"/>
                </a:solidFill>
                <a:effectLst/>
                <a:latin typeface="Inter"/>
              </a:rPr>
              <a:t> tin </a:t>
            </a:r>
            <a:r>
              <a:rPr lang="en-US" b="0" i="0" dirty="0" err="1">
                <a:solidFill>
                  <a:srgbClr val="404040"/>
                </a:solidFill>
                <a:effectLst/>
                <a:latin typeface="Inter"/>
              </a:rPr>
              <a:t>cậy</a:t>
            </a:r>
            <a:r>
              <a:rPr lang="en-US" b="0" i="0" dirty="0">
                <a:solidFill>
                  <a:srgbClr val="404040"/>
                </a:solidFill>
                <a:effectLst/>
                <a:latin typeface="Inter"/>
              </a:rPr>
              <a:t> </a:t>
            </a:r>
            <a:r>
              <a:rPr lang="en-US" b="0" i="0" dirty="0" err="1">
                <a:solidFill>
                  <a:srgbClr val="404040"/>
                </a:solidFill>
                <a:effectLst/>
                <a:latin typeface="Inter"/>
              </a:rPr>
              <a:t>và</a:t>
            </a:r>
            <a:r>
              <a:rPr lang="en-US" b="0" i="0" dirty="0">
                <a:solidFill>
                  <a:srgbClr val="404040"/>
                </a:solidFill>
                <a:effectLst/>
                <a:latin typeface="Inter"/>
              </a:rPr>
              <a:t> </a:t>
            </a:r>
            <a:r>
              <a:rPr lang="en-US" b="0" i="0" dirty="0" err="1">
                <a:solidFill>
                  <a:srgbClr val="404040"/>
                </a:solidFill>
                <a:effectLst/>
                <a:latin typeface="Inter"/>
              </a:rPr>
              <a:t>bảo</a:t>
            </a:r>
            <a:r>
              <a:rPr lang="en-US" b="0" i="0" dirty="0">
                <a:solidFill>
                  <a:srgbClr val="404040"/>
                </a:solidFill>
                <a:effectLst/>
                <a:latin typeface="Inter"/>
              </a:rPr>
              <a:t> </a:t>
            </a:r>
            <a:r>
              <a:rPr lang="en-US" b="0" i="0" dirty="0" err="1">
                <a:solidFill>
                  <a:srgbClr val="404040"/>
                </a:solidFill>
                <a:effectLst/>
                <a:latin typeface="Inter"/>
              </a:rPr>
              <a:t>mật</a:t>
            </a:r>
            <a:endParaRPr lang="en-US" b="0" i="0" dirty="0">
              <a:solidFill>
                <a:srgbClr val="404040"/>
              </a:solidFill>
              <a:effectLst/>
              <a:latin typeface="Inter"/>
            </a:endParaRPr>
          </a:p>
          <a:p>
            <a:pPr algn="l">
              <a:buFont typeface="Arial" panose="020B0604020202020204" pitchFamily="34" charset="0"/>
              <a:buNone/>
            </a:pPr>
            <a:endParaRPr lang="vi-VN" b="0" i="0" dirty="0">
              <a:solidFill>
                <a:srgbClr val="404040"/>
              </a:solidFill>
              <a:effectLst/>
              <a:latin typeface="Inter"/>
            </a:endParaRP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a:t>
            </a:fld>
            <a:endParaRPr lang="en-US"/>
          </a:p>
        </p:txBody>
      </p:sp>
    </p:spTree>
    <p:extLst>
      <p:ext uri="{BB962C8B-B14F-4D97-AF65-F5344CB8AC3E}">
        <p14:creationId xmlns:p14="http://schemas.microsoft.com/office/powerpoint/2010/main" val="3066390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Kiến trúc lớp (Layered Architecture) là một mẫu thiết kế phổ biến trong các hệ thống phần mềm, đặc biệt là trong các hệ thống phân tán. Kiến trúc này tổ chức hệ thống thành các lớp (layers) xếp chồng lên nhau, mỗi lớp thực hiện một chức năng cụ thể và chỉ tương tác với các lớp liền kề.</a:t>
            </a:r>
            <a:endParaRPr lang="en-US" b="0" i="0" dirty="0">
              <a:solidFill>
                <a:srgbClr val="404040"/>
              </a:solidFill>
              <a:effectLst/>
              <a:latin typeface="Inter"/>
            </a:endParaRPr>
          </a:p>
          <a:p>
            <a:pPr algn="l"/>
            <a:endParaRPr lang="en-US" b="0" i="0" dirty="0">
              <a:solidFill>
                <a:srgbClr val="404040"/>
              </a:solidFill>
              <a:effectLst/>
              <a:latin typeface="Inter"/>
            </a:endParaRPr>
          </a:p>
          <a:p>
            <a:pPr algn="l"/>
            <a:r>
              <a:rPr lang="vi-VN" b="0" i="0" dirty="0">
                <a:solidFill>
                  <a:srgbClr val="404040"/>
                </a:solidFill>
                <a:effectLst/>
                <a:latin typeface="Inter"/>
              </a:rPr>
              <a:t>Hình minh họa cho thấy các cách tổ chức lớp khác nhau trong kiến trúc lớp. Các lớp được đánh số từ N (lớp trên cùng) đến 1 (lớp dưới cùng). Mỗi lớp có thể giao tiếp với các lớp khác theo các cách khác nhau</a:t>
            </a:r>
            <a:r>
              <a:rPr lang="en-US" b="0" i="0" dirty="0">
                <a:solidFill>
                  <a:srgbClr val="404040"/>
                </a:solidFill>
                <a:effectLst/>
                <a:latin typeface="Inter"/>
              </a:rPr>
              <a:t>.</a:t>
            </a:r>
            <a:r>
              <a:rPr lang="vi-VN" b="0" i="0" dirty="0">
                <a:solidFill>
                  <a:srgbClr val="404040"/>
                </a:solidFill>
                <a:effectLst/>
                <a:latin typeface="Inter"/>
              </a:rPr>
              <a:t> </a:t>
            </a:r>
            <a:endParaRPr lang="en-US" b="0" i="0" dirty="0">
              <a:solidFill>
                <a:srgbClr val="404040"/>
              </a:solidFill>
              <a:effectLst/>
              <a:latin typeface="Inter"/>
            </a:endParaRPr>
          </a:p>
          <a:p>
            <a:pPr algn="l"/>
            <a:endParaRPr lang="en-US" b="0" i="0" dirty="0">
              <a:solidFill>
                <a:srgbClr val="404040"/>
              </a:solidFill>
              <a:effectLst/>
              <a:latin typeface="Inter"/>
            </a:endParaRPr>
          </a:p>
          <a:p>
            <a:pPr algn="l"/>
            <a:r>
              <a:rPr lang="vi-VN" b="0" i="0" dirty="0">
                <a:solidFill>
                  <a:srgbClr val="404040"/>
                </a:solidFill>
                <a:effectLst/>
                <a:latin typeface="Inter"/>
              </a:rPr>
              <a:t>Hình (a) cho thấy một tổ chức tiêu chuẩn trong đó chỉ có các lệnh gọi xuống (downcalls) đến lớp ngay bên dưới được thực hiện. Tổ chức này thường được triển khai trong trường hợp giao tiếp mạng.</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Trong nhiều tình huống, chúng ta cũng gặp tổ chức như trong Hình (b). Ví dụ, xem xét một ứng dụng A sử dụng thư viện LOS để giao tiếp với hệ điều hành. Đồng thời, ứng dụng này sử dụng một thư viện toán học chuyên dụng Lmath, thư viện này cũng được triển khai bằng cách sử dụng LOS. Trong trường hợp này, tham chiếu đến Hình 2.1(b), A được triển khai ở lớp N − 1, Lmath ở lớp N − 2, và LOS, thứ mà cả hai đều sử dụng, ở lớp N − 3.</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Cuối cùng, một tình huống đặc biệt được thể hiện trong Hình 2.1(c). Trong một số trường hợp, việc để một lớp bên dưới thực hiện lệnh gọi lên (upcall) đến lớp ngay bên trên là thuận tiện. Một ví dụ điển hình là khi hệ điều hành báo hiệu sự xuất hiện của một sự kiện, và để làm điều này, nó gọi một thao tác do người dùng định nghĩa mà ứng dụng đã truyền tham chiếu trước đó (thường được gọi là handle).</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a:t>
            </a:fld>
            <a:endParaRPr lang="en-US"/>
          </a:p>
        </p:txBody>
      </p:sp>
    </p:spTree>
    <p:extLst>
      <p:ext uri="{BB962C8B-B14F-4D97-AF65-F5344CB8AC3E}">
        <p14:creationId xmlns:p14="http://schemas.microsoft.com/office/powerpoint/2010/main" val="1910839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Các giao thức truyền thông phân lớp</a:t>
            </a:r>
            <a:br>
              <a:rPr lang="vi-VN" b="0" i="0" dirty="0">
                <a:solidFill>
                  <a:srgbClr val="404040"/>
                </a:solidFill>
                <a:effectLst/>
                <a:latin typeface="Inter"/>
              </a:rPr>
            </a:br>
            <a:r>
              <a:rPr lang="vi-VN" b="0" i="0" dirty="0">
                <a:solidFill>
                  <a:srgbClr val="404040"/>
                </a:solidFill>
                <a:effectLst/>
                <a:latin typeface="Inter"/>
              </a:rPr>
              <a:t>Một kiến trúc phân lớp nổi tiếng và được áp dụng rộng rãi là các ngăn xếp giao thức truyền thông (communication-protocol stacks). Ở đây, chúng ta sẽ tập trung vào bức tranh tổng thể.</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Trong các ngăn xếp giao thức truyền thông, mỗi lớp triển khai một hoặc nhiều dịch vụ truyền thông cho phép dữ liệu được gửi từ một nguồn đến một hoặc nhiều đích. Để làm điều này, mỗi lớp cung cấp một giao diện (interface) xác định các hàm có thể được gọi. Về nguyên tắc, giao diện nên che giấu hoàn toàn việc triển khai thực tế của dịch vụ. Một khái niệm quan trọng khác trong truyền thông là giao thức (protocol), mô tả các quy tắc mà các bên sẽ tuân theo để trao đổi thông tin.</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Điều quan trọng là phải hiểu sự khác biệt giữa dịch vụ được cung cấp bởi một lớp, giao diện mà dịch vụ đó được cung cấp, và giao thức mà lớp đó triển khai để thiết lập truyền thông. Sự phân biệt này được minh họa trong Hình.</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Để làm rõ sự phân biệt này, hãy xem xét một dịch vụ hướng kết nối đáng tin cậy (reliable, connection-oriented service), được cung cấp bởi nhiều hệ thống truyền thông. Trong trường hợp này, một bên tham gia truyền thông trước tiên cần thiết lập kết nối với một bên khác trước khi hai bên có thể gửi và nhận tin nhắn. Tính đáng tin cậy có nghĩa là sẽ có những đảm bảo mạnh mẽ rằng các tin nhắn được gửi sẽ thực sự được chuyển đến phía bên kia, ngay cả khi có nguy cơ cao là tin nhắn có thể bị mất (ví dụ, như trong trường hợp sử dụng môi trường không dây). Ngoài ra, các dịch vụ như vậy thường đảm bảo rằng các tin nhắn được giao theo đúng thứ tự mà chúng được gửi.</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Loại dịch vụ này được thực hiện trong Internet thông qua Giao thức Điều khiển Truyền tải (Transmission Control Protocol - TCP). Giao thức này quy định các tin nhắn cần được trao đổi để thiết lập hoặc ngắt kết nối, những việc cần làm để duy trì thứ tự của dữ liệu được truyền, và những gì cả hai bên cần làm để phát hiện và sửa chữa dữ liệu bị mất trong quá trình truyền tải. Dịch vụ này được cung cấp thông qua một giao diện lập trình tương đối đơn giản, bao gồm các lệnh để thiết lập kết nối, gửi và nhận tin nhắn, và ngắt kết nối. Trên thực tế, có nhiều giao diện khác nhau, thường phụ thuộc vào hệ điều hành hoặc ngôn ngữ lập trình được sử dụng. Tương tự, có nhiều cách triển khai khác nhau của giao thức và các giao diện của nó.</a:t>
            </a:r>
            <a:endParaRPr lang="en-US" b="0" i="0" dirty="0">
              <a:solidFill>
                <a:srgbClr val="404040"/>
              </a:solidFill>
              <a:effectLst/>
              <a:latin typeface="Inter"/>
            </a:endParaRPr>
          </a:p>
          <a:p>
            <a:pPr algn="l"/>
            <a:r>
              <a:rPr lang="en-US" b="0" i="0" dirty="0">
                <a:solidFill>
                  <a:srgbClr val="404040"/>
                </a:solidFill>
                <a:effectLst/>
                <a:latin typeface="Inter"/>
              </a:rPr>
              <a:t>--------------------------------------------------------------------------------------------------------------------------------------------------</a:t>
            </a:r>
            <a:endParaRPr lang="vi-VN" b="0" i="0" dirty="0">
              <a:solidFill>
                <a:srgbClr val="40404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04040"/>
                </a:solidFill>
                <a:effectLst/>
                <a:latin typeface="Inter"/>
              </a:rPr>
              <a:t>--------------------------------------------------------------------------------------------------------------------------------------------------</a:t>
            </a:r>
            <a:endParaRPr lang="vi-VN" b="0" i="0" dirty="0">
              <a:solidFill>
                <a:srgbClr val="40404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04040"/>
                </a:solidFill>
                <a:effectLst/>
                <a:latin typeface="Inter"/>
              </a:rPr>
              <a:t>--------------------------------------------------------------------------------------------------------------------------------------------------</a:t>
            </a:r>
            <a:endParaRPr lang="vi-VN" b="0" i="0" dirty="0">
              <a:solidFill>
                <a:srgbClr val="404040"/>
              </a:solidFill>
              <a:effectLst/>
              <a:latin typeface="Inter"/>
            </a:endParaRPr>
          </a:p>
          <a:p>
            <a:pPr algn="l"/>
            <a:r>
              <a:rPr lang="vi-VN" b="0" i="0" dirty="0">
                <a:solidFill>
                  <a:srgbClr val="404040"/>
                </a:solidFill>
                <a:effectLst/>
                <a:latin typeface="Inter"/>
              </a:rPr>
              <a:t>Hình minh họa trên mô tả một ví dụ về các giao thức truyền thông (communication protocols) trong kiến trúc lớp (layered architecture). Dưới đây là giải thích chi tiết về các thành phần và cách chúng tương tác với nhau:</a:t>
            </a:r>
          </a:p>
          <a:p>
            <a:pPr algn="l"/>
            <a:r>
              <a:rPr lang="vi-VN" b="1" i="0" dirty="0">
                <a:solidFill>
                  <a:srgbClr val="404040"/>
                </a:solidFill>
                <a:effectLst/>
                <a:latin typeface="Inter"/>
              </a:rPr>
              <a:t>1. Các bên tham gia (Party A và Party B)</a:t>
            </a:r>
          </a:p>
          <a:p>
            <a:pPr algn="l">
              <a:buFont typeface="Arial" panose="020B0604020202020204" pitchFamily="34" charset="0"/>
              <a:buChar char="•"/>
            </a:pPr>
            <a:r>
              <a:rPr lang="vi-VN" b="1" i="0" dirty="0">
                <a:solidFill>
                  <a:srgbClr val="404040"/>
                </a:solidFill>
                <a:effectLst/>
                <a:latin typeface="Inter"/>
              </a:rPr>
              <a:t>Party A và Party B:</a:t>
            </a:r>
            <a:r>
              <a:rPr lang="vi-VN" b="0" i="0" dirty="0">
                <a:solidFill>
                  <a:srgbClr val="404040"/>
                </a:solidFill>
                <a:effectLst/>
                <a:latin typeface="Inter"/>
              </a:rPr>
              <a:t> Đại diện cho hai bên tham gia vào quá trình truyền thông. Mỗi bên có một cấu trúc lớp tương tự nhau, bao gồm các lớp N và N-1.</a:t>
            </a:r>
          </a:p>
          <a:p>
            <a:pPr algn="l"/>
            <a:r>
              <a:rPr lang="vi-VN" b="1" i="0" dirty="0">
                <a:solidFill>
                  <a:srgbClr val="404040"/>
                </a:solidFill>
                <a:effectLst/>
                <a:latin typeface="Inter"/>
              </a:rPr>
              <a:t>2. Các lớp (Layers)</a:t>
            </a:r>
          </a:p>
          <a:p>
            <a:pPr algn="l">
              <a:buFont typeface="Arial" panose="020B0604020202020204" pitchFamily="34" charset="0"/>
              <a:buChar char="•"/>
            </a:pPr>
            <a:r>
              <a:rPr lang="vi-VN" b="1" i="0" dirty="0">
                <a:solidFill>
                  <a:srgbClr val="404040"/>
                </a:solidFill>
                <a:effectLst/>
                <a:latin typeface="Inter"/>
              </a:rPr>
              <a:t>Layer N:</a:t>
            </a:r>
            <a:r>
              <a:rPr lang="vi-VN" b="0" i="0" dirty="0">
                <a:solidFill>
                  <a:srgbClr val="404040"/>
                </a:solidFill>
                <a:effectLst/>
                <a:latin typeface="Inter"/>
              </a:rPr>
              <a:t> Lớp trên cùng, thường là lớp ứng dụng hoặc lớp giao diện người dùng. Lớp này cung cấp các dịch vụ (services) cho các ứng dụng hoặc người dùng cuối.</a:t>
            </a:r>
          </a:p>
          <a:p>
            <a:pPr algn="l">
              <a:buFont typeface="Arial" panose="020B0604020202020204" pitchFamily="34" charset="0"/>
              <a:buChar char="•"/>
            </a:pPr>
            <a:r>
              <a:rPr lang="vi-VN" b="1" i="0" dirty="0">
                <a:solidFill>
                  <a:srgbClr val="404040"/>
                </a:solidFill>
                <a:effectLst/>
                <a:latin typeface="Inter"/>
              </a:rPr>
              <a:t>Layer N-1:</a:t>
            </a:r>
            <a:r>
              <a:rPr lang="vi-VN" b="0" i="0" dirty="0">
                <a:solidFill>
                  <a:srgbClr val="404040"/>
                </a:solidFill>
                <a:effectLst/>
                <a:latin typeface="Inter"/>
              </a:rPr>
              <a:t> Lớp bên dưới Layer N, thường là lớp truyền thông hoặc lớp mạng. Lớp này thực hiện các giao thức (protocols) để truyền dữ liệu giữa các bên.</a:t>
            </a:r>
          </a:p>
          <a:p>
            <a:pPr algn="l"/>
            <a:r>
              <a:rPr lang="vi-VN" b="1" i="0" dirty="0">
                <a:solidFill>
                  <a:srgbClr val="404040"/>
                </a:solidFill>
                <a:effectLst/>
                <a:latin typeface="Inter"/>
              </a:rPr>
              <a:t>3. Giao diện (Interface)</a:t>
            </a:r>
          </a:p>
          <a:p>
            <a:pPr algn="l">
              <a:buFont typeface="Arial" panose="020B0604020202020204" pitchFamily="34" charset="0"/>
              <a:buChar char="•"/>
            </a:pPr>
            <a:r>
              <a:rPr lang="vi-VN" b="1" i="0" dirty="0">
                <a:solidFill>
                  <a:srgbClr val="404040"/>
                </a:solidFill>
                <a:effectLst/>
                <a:latin typeface="Inter"/>
              </a:rPr>
              <a:t>Interface:</a:t>
            </a:r>
            <a:r>
              <a:rPr lang="vi-VN" b="0" i="0" dirty="0">
                <a:solidFill>
                  <a:srgbClr val="404040"/>
                </a:solidFill>
                <a:effectLst/>
                <a:latin typeface="Inter"/>
              </a:rPr>
              <a:t> Là điểm kết nối giữa Layer N và Layer N-1. Giao diện định nghĩa cách các lớp tương tác với nhau, bao gồm các phương thức và dịch vụ mà Layer N có thể sử dụng từ Layer N-1.</a:t>
            </a:r>
          </a:p>
          <a:p>
            <a:pPr algn="l"/>
            <a:r>
              <a:rPr lang="vi-VN" b="1" i="0" dirty="0">
                <a:solidFill>
                  <a:srgbClr val="404040"/>
                </a:solidFill>
                <a:effectLst/>
                <a:latin typeface="Inter"/>
              </a:rPr>
              <a:t>4. Dịch vụ (Service)</a:t>
            </a:r>
          </a:p>
          <a:p>
            <a:pPr algn="l">
              <a:buFont typeface="Arial" panose="020B0604020202020204" pitchFamily="34" charset="0"/>
              <a:buChar char="•"/>
            </a:pPr>
            <a:r>
              <a:rPr lang="vi-VN" b="1" i="0" dirty="0">
                <a:solidFill>
                  <a:srgbClr val="404040"/>
                </a:solidFill>
                <a:effectLst/>
                <a:latin typeface="Inter"/>
              </a:rPr>
              <a:t>Service:</a:t>
            </a:r>
            <a:r>
              <a:rPr lang="vi-VN" b="0" i="0" dirty="0">
                <a:solidFill>
                  <a:srgbClr val="404040"/>
                </a:solidFill>
                <a:effectLst/>
                <a:latin typeface="Inter"/>
              </a:rPr>
              <a:t> Các chức năng mà Layer N-1 cung cấp cho Layer N. Dịch vụ có thể bao gồm việc truyền dữ liệu, quản lý kết nối, và các chức năng khác liên quan đến truyền thông.</a:t>
            </a:r>
          </a:p>
          <a:p>
            <a:pPr algn="l"/>
            <a:r>
              <a:rPr lang="vi-VN" b="1" i="0" dirty="0">
                <a:solidFill>
                  <a:srgbClr val="404040"/>
                </a:solidFill>
                <a:effectLst/>
                <a:latin typeface="Inter"/>
              </a:rPr>
              <a:t>5. Giao thức (Protocol)</a:t>
            </a:r>
          </a:p>
          <a:p>
            <a:pPr algn="l">
              <a:buFont typeface="Arial" panose="020B0604020202020204" pitchFamily="34" charset="0"/>
              <a:buChar char="•"/>
            </a:pPr>
            <a:r>
              <a:rPr lang="vi-VN" b="1" i="0" dirty="0">
                <a:solidFill>
                  <a:srgbClr val="404040"/>
                </a:solidFill>
                <a:effectLst/>
                <a:latin typeface="Inter"/>
              </a:rPr>
              <a:t>Protocol:</a:t>
            </a:r>
            <a:r>
              <a:rPr lang="vi-VN" b="0" i="0" dirty="0">
                <a:solidFill>
                  <a:srgbClr val="404040"/>
                </a:solidFill>
                <a:effectLst/>
                <a:latin typeface="Inter"/>
              </a:rPr>
              <a:t> Các quy tắc và thủ tục mà Layer N-1 sử dụng để truyền dữ liệu giữa Party A và Party B. Giao thức đảm bảo rằng dữ liệu được truyền một cách chính xác và đáng tin cậy giữa các bên.</a:t>
            </a:r>
          </a:p>
          <a:p>
            <a:pPr algn="l"/>
            <a:r>
              <a:rPr lang="vi-VN" b="1" i="0" dirty="0">
                <a:solidFill>
                  <a:srgbClr val="404040"/>
                </a:solidFill>
                <a:effectLst/>
                <a:latin typeface="Inter"/>
              </a:rPr>
              <a:t>6. Tương tác giữa các bên</a:t>
            </a:r>
          </a:p>
          <a:p>
            <a:pPr algn="l">
              <a:buFont typeface="Arial" panose="020B0604020202020204" pitchFamily="34" charset="0"/>
              <a:buChar char="•"/>
            </a:pPr>
            <a:r>
              <a:rPr lang="vi-VN" b="1" i="0" dirty="0">
                <a:solidFill>
                  <a:srgbClr val="404040"/>
                </a:solidFill>
                <a:effectLst/>
                <a:latin typeface="Inter"/>
              </a:rPr>
              <a:t>Party A và Party B:</a:t>
            </a:r>
            <a:r>
              <a:rPr lang="vi-VN" b="0" i="0" dirty="0">
                <a:solidFill>
                  <a:srgbClr val="404040"/>
                </a:solidFill>
                <a:effectLst/>
                <a:latin typeface="Inter"/>
              </a:rPr>
              <a:t> Hai bên giao tiếp với nhau thông qua các giao thức được thực hiện bởi Layer N-1. Dữ liệu được truyền từ Layer N của Party A xuống Layer N-1, sau đó được truyền qua mạng đến Layer N-1 của Party B, và cuối cùng lên Layer N của Party B.</a:t>
            </a:r>
          </a:p>
          <a:p>
            <a:pPr algn="l"/>
            <a:r>
              <a:rPr lang="vi-VN" b="1" i="0" dirty="0">
                <a:solidFill>
                  <a:srgbClr val="404040"/>
                </a:solidFill>
                <a:effectLst/>
                <a:latin typeface="Inter"/>
              </a:rPr>
              <a:t>7. Ví dụ cụ thể</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Khi Party A muốn gửi một tin nhắn đến Party B, tin nhắn này sẽ được xử lý bởi Layer N của Party A, sau đó được chuyển xuống Layer N-1 để thực hiện giao thức truyền thông. Layer N-1 của Party A sẽ đóng gói tin nhắn và gửi nó qua mạng đến Layer N-1 của Party B. Layer N-1 của Party B sẽ giải mã tin nhắn và chuyển nó lên Layer N để hiển thị cho người dùng.</a:t>
            </a:r>
          </a:p>
          <a:p>
            <a:pPr algn="l"/>
            <a:r>
              <a:rPr lang="vi-VN" b="1" i="0" dirty="0">
                <a:solidFill>
                  <a:srgbClr val="404040"/>
                </a:solidFill>
                <a:effectLst/>
                <a:latin typeface="Inter"/>
              </a:rPr>
              <a:t>Kết luận</a:t>
            </a:r>
          </a:p>
          <a:p>
            <a:pPr algn="l"/>
            <a:r>
              <a:rPr lang="vi-VN" b="0" i="0" dirty="0">
                <a:solidFill>
                  <a:srgbClr val="404040"/>
                </a:solidFill>
                <a:effectLst/>
                <a:latin typeface="Inter"/>
              </a:rPr>
              <a:t>Hình minh họa trên cho thấy cách các lớp và giao thức làm việc cùng nhau để thực hiện truyền thông giữa hai bên. Mỗi lớp có một vai trò cụ thể, và việc sử dụng giao diện và dịch vụ giúp đảm bảo rằng các lớp có thể tương tác một cách hiệu quả và đáng tin cậy.</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4</a:t>
            </a:fld>
            <a:endParaRPr lang="en-US"/>
          </a:p>
        </p:txBody>
      </p:sp>
    </p:spTree>
    <p:extLst>
      <p:ext uri="{BB962C8B-B14F-4D97-AF65-F5344CB8AC3E}">
        <p14:creationId xmlns:p14="http://schemas.microsoft.com/office/powerpoint/2010/main" val="2106571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Để làm rõ sự khác biệt giữa dịch vụ, giao diện và giao thức, hãy xem xét hai bên giao tiếp sau đây, còn được gọi là client và server, được biểu diễn bằng Python (lưu ý rằng một phần mã đã được loại bỏ để rõ ràng hơn).</a:t>
            </a:r>
          </a:p>
          <a:p>
            <a:pPr algn="l"/>
            <a:r>
              <a:rPr lang="vi-VN" b="0" i="0" dirty="0">
                <a:solidFill>
                  <a:srgbClr val="404040"/>
                </a:solidFill>
                <a:effectLst/>
                <a:latin typeface="Inter"/>
              </a:rPr>
              <a:t>Trong ví dụ này, một server được tạo ra sử dụng dịch vụ hướng kết nối được cung cấp bởi thư viện socket trong Python. Dịch vụ này cho phép hai bên giao tiếp gửi và nhận dữ liệu một cách đáng tin cậy thông qua một kết nối. Các hàm chính có sẵn trong giao diện của nó bao gồm:</a:t>
            </a:r>
          </a:p>
          <a:p>
            <a:pPr algn="l">
              <a:buFont typeface="Arial" panose="020B0604020202020204" pitchFamily="34" charset="0"/>
              <a:buChar char="•"/>
            </a:pPr>
            <a:r>
              <a:rPr lang="vi-VN" b="1" i="0" dirty="0">
                <a:solidFill>
                  <a:srgbClr val="404040"/>
                </a:solidFill>
                <a:effectLst/>
                <a:latin typeface="Inter"/>
              </a:rPr>
              <a:t>socket():</a:t>
            </a:r>
            <a:r>
              <a:rPr lang="vi-VN" b="0" i="0" dirty="0">
                <a:solidFill>
                  <a:srgbClr val="404040"/>
                </a:solidFill>
                <a:effectLst/>
                <a:latin typeface="Inter"/>
              </a:rPr>
              <a:t> để tạo một đối tượng đại diện cho kết nối.</a:t>
            </a:r>
          </a:p>
          <a:p>
            <a:pPr algn="l">
              <a:buFont typeface="Arial" panose="020B0604020202020204" pitchFamily="34" charset="0"/>
              <a:buChar char="•"/>
            </a:pPr>
            <a:r>
              <a:rPr lang="vi-VN" b="1" i="0" dirty="0">
                <a:solidFill>
                  <a:srgbClr val="404040"/>
                </a:solidFill>
                <a:effectLst/>
                <a:latin typeface="Inter"/>
              </a:rPr>
              <a:t>accept():</a:t>
            </a:r>
            <a:r>
              <a:rPr lang="vi-VN" b="0" i="0" dirty="0">
                <a:solidFill>
                  <a:srgbClr val="404040"/>
                </a:solidFill>
                <a:effectLst/>
                <a:latin typeface="Inter"/>
              </a:rPr>
              <a:t> một lệnh gọi chặn (blocking call) để chờ các yêu cầu kết nối đến; nếu thành công, lệnh gọi này trả về một socket mới cho một kết nối riêng biệt.</a:t>
            </a:r>
          </a:p>
          <a:p>
            <a:pPr algn="l">
              <a:buFont typeface="Arial" panose="020B0604020202020204" pitchFamily="34" charset="0"/>
              <a:buChar char="•"/>
            </a:pPr>
            <a:r>
              <a:rPr lang="vi-VN" b="1" i="0" dirty="0">
                <a:solidFill>
                  <a:srgbClr val="404040"/>
                </a:solidFill>
                <a:effectLst/>
                <a:latin typeface="Inter"/>
              </a:rPr>
              <a:t>connect():</a:t>
            </a:r>
            <a:r>
              <a:rPr lang="vi-VN" b="0" i="0" dirty="0">
                <a:solidFill>
                  <a:srgbClr val="404040"/>
                </a:solidFill>
                <a:effectLst/>
                <a:latin typeface="Inter"/>
              </a:rPr>
              <a:t> để thiết lập kết nối đến một bên được chỉ định.</a:t>
            </a:r>
          </a:p>
          <a:p>
            <a:pPr algn="l">
              <a:buFont typeface="Arial" panose="020B0604020202020204" pitchFamily="34" charset="0"/>
              <a:buChar char="•"/>
            </a:pPr>
            <a:r>
              <a:rPr lang="vi-VN" b="1" i="0" dirty="0">
                <a:solidFill>
                  <a:srgbClr val="404040"/>
                </a:solidFill>
                <a:effectLst/>
                <a:latin typeface="Inter"/>
              </a:rPr>
              <a:t>close():</a:t>
            </a:r>
            <a:r>
              <a:rPr lang="vi-VN" b="0" i="0" dirty="0">
                <a:solidFill>
                  <a:srgbClr val="404040"/>
                </a:solidFill>
                <a:effectLst/>
                <a:latin typeface="Inter"/>
              </a:rPr>
              <a:t> để ngắt kết nối.</a:t>
            </a:r>
          </a:p>
          <a:p>
            <a:pPr algn="l">
              <a:buFont typeface="Arial" panose="020B0604020202020204" pitchFamily="34" charset="0"/>
              <a:buChar char="•"/>
            </a:pPr>
            <a:r>
              <a:rPr lang="vi-VN" b="1" i="0" dirty="0">
                <a:solidFill>
                  <a:srgbClr val="404040"/>
                </a:solidFill>
                <a:effectLst/>
                <a:latin typeface="Inter"/>
              </a:rPr>
              <a:t>send(), recv():</a:t>
            </a:r>
            <a:r>
              <a:rPr lang="vi-VN" b="0" i="0" dirty="0">
                <a:solidFill>
                  <a:srgbClr val="404040"/>
                </a:solidFill>
                <a:effectLst/>
                <a:latin typeface="Inter"/>
              </a:rPr>
              <a:t> để gửi và nhận dữ liệu qua kết nối, tương ứng.</a:t>
            </a:r>
          </a:p>
          <a:p>
            <a:pPr algn="l"/>
            <a:r>
              <a:rPr lang="vi-VN" b="0" i="0" dirty="0">
                <a:solidFill>
                  <a:srgbClr val="404040"/>
                </a:solidFill>
                <a:effectLst/>
                <a:latin typeface="Inter"/>
              </a:rPr>
              <a:t>Sự kết hợp của các hằng số </a:t>
            </a:r>
            <a:r>
              <a:rPr lang="vi-VN" b="1" i="0" dirty="0">
                <a:solidFill>
                  <a:srgbClr val="404040"/>
                </a:solidFill>
                <a:effectLst/>
                <a:latin typeface="Inter"/>
              </a:rPr>
              <a:t>AF_INET</a:t>
            </a:r>
            <a:r>
              <a:rPr lang="vi-VN" b="0" i="0" dirty="0">
                <a:solidFill>
                  <a:srgbClr val="404040"/>
                </a:solidFill>
                <a:effectLst/>
                <a:latin typeface="Inter"/>
              </a:rPr>
              <a:t> và </a:t>
            </a:r>
            <a:r>
              <a:rPr lang="vi-VN" b="1" i="0" dirty="0">
                <a:solidFill>
                  <a:srgbClr val="404040"/>
                </a:solidFill>
                <a:effectLst/>
                <a:latin typeface="Inter"/>
              </a:rPr>
              <a:t>SOCK_STREAM</a:t>
            </a:r>
            <a:r>
              <a:rPr lang="vi-VN" b="0" i="0" dirty="0">
                <a:solidFill>
                  <a:srgbClr val="404040"/>
                </a:solidFill>
                <a:effectLst/>
                <a:latin typeface="Inter"/>
              </a:rPr>
              <a:t> được sử dụng để chỉ định rằng giao thức TCP nên được sử dụng trong giao tiếp giữa hai bên. Hai hằng số này có thể được coi là một phần của giao diện, trong khi việc sử dụng TCP là một phần của dịch vụ được cung cấp. Cách TCP được triển khai, hoặc bất kỳ phần nào của dịch vụ truyền thông, đều được ẩn hoàn toàn khỏi các ứng dụng.</a:t>
            </a:r>
          </a:p>
          <a:p>
            <a:pPr algn="l"/>
            <a:r>
              <a:rPr lang="vi-VN" b="0" i="0" dirty="0">
                <a:solidFill>
                  <a:srgbClr val="404040"/>
                </a:solidFill>
                <a:effectLst/>
                <a:latin typeface="Inter"/>
              </a:rPr>
              <a:t>Cuối cùng, cũng lưu ý rằng hai chương trình này tuân thủ một cách ngầm định một giao thức ở cấp ứng dụng: rõ ràng là nếu client gửi một số dữ liệu, server sẽ trả lại dữ liệu đó. Thực tế, nó hoạt động như một echo server, nơi server thêm một dấu hoa thị vào dữ liệu được gửi bởi client.</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5</a:t>
            </a:fld>
            <a:endParaRPr lang="en-US"/>
          </a:p>
        </p:txBody>
      </p:sp>
    </p:spTree>
    <p:extLst>
      <p:ext uri="{BB962C8B-B14F-4D97-AF65-F5344CB8AC3E}">
        <p14:creationId xmlns:p14="http://schemas.microsoft.com/office/powerpoint/2010/main" val="375524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Phân lớp ứng dụng (Application Layering)</a:t>
            </a:r>
          </a:p>
          <a:p>
            <a:pPr algn="l"/>
            <a:r>
              <a:rPr lang="vi-VN" b="1" i="0" dirty="0">
                <a:solidFill>
                  <a:srgbClr val="404040"/>
                </a:solidFill>
                <a:effectLst/>
                <a:latin typeface="Inter"/>
              </a:rPr>
              <a:t>Quan điểm truyền thống ba lớp (Traditional three-layered view)</a:t>
            </a:r>
          </a:p>
          <a:p>
            <a:pPr algn="l">
              <a:buFont typeface="+mj-lt"/>
              <a:buAutoNum type="arabicPeriod"/>
            </a:pPr>
            <a:r>
              <a:rPr lang="vi-VN" b="1" i="0" dirty="0">
                <a:solidFill>
                  <a:srgbClr val="404040"/>
                </a:solidFill>
                <a:effectLst/>
                <a:latin typeface="Inter"/>
              </a:rPr>
              <a:t>Lớp giao diện ứng dụng (Application-interface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các đơn vị (units) để giao tiếp với người dùng hoặc các ứng dụng bên ngoài.</a:t>
            </a:r>
          </a:p>
          <a:p>
            <a:pPr marL="742950" lvl="1" indent="-285750" algn="l">
              <a:buFont typeface="+mj-lt"/>
              <a:buAutoNum type="arabicPeriod"/>
            </a:pPr>
            <a:r>
              <a:rPr lang="vi-VN" b="0" i="0" dirty="0">
                <a:solidFill>
                  <a:srgbClr val="404040"/>
                </a:solidFill>
                <a:effectLst/>
                <a:latin typeface="Inter"/>
              </a:rPr>
              <a:t>Đóng vai trò là cầu nối giữa người dùng và ứng dụng, giúp người dùng tương tác với hệ thống thông qua các giao diện đồ họa (GUI), API, hoặc các phương thức nhập/xuất dữ liệu khác.</a:t>
            </a:r>
          </a:p>
          <a:p>
            <a:pPr algn="l">
              <a:buFont typeface="+mj-lt"/>
              <a:buAutoNum type="arabicPeriod"/>
            </a:pPr>
            <a:r>
              <a:rPr lang="vi-VN" b="1" i="0" dirty="0">
                <a:solidFill>
                  <a:srgbClr val="404040"/>
                </a:solidFill>
                <a:effectLst/>
                <a:latin typeface="Inter"/>
              </a:rPr>
              <a:t>Lớp xử lý (Processing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các chức năng chính của ứng dụng, bao gồm các logic nghiệp vụ (business logic) và quy trình xử lý dữ liệu.</a:t>
            </a:r>
          </a:p>
          <a:p>
            <a:pPr marL="742950" lvl="1" indent="-285750" algn="l">
              <a:buFont typeface="+mj-lt"/>
              <a:buAutoNum type="arabicPeriod"/>
            </a:pPr>
            <a:r>
              <a:rPr lang="vi-VN" b="0" i="0" dirty="0">
                <a:solidFill>
                  <a:srgbClr val="404040"/>
                </a:solidFill>
                <a:effectLst/>
                <a:latin typeface="Inter"/>
              </a:rPr>
              <a:t>Lớp này không chứa dữ liệu cụ thể mà chỉ tập trung vào việc thực hiện các tác vụ tính toán, xử lý, và điều khiển luồng công việc.</a:t>
            </a:r>
          </a:p>
          <a:p>
            <a:pPr algn="l">
              <a:buFont typeface="+mj-lt"/>
              <a:buAutoNum type="arabicPeriod"/>
            </a:pPr>
            <a:r>
              <a:rPr lang="vi-VN" b="1" i="0" dirty="0">
                <a:solidFill>
                  <a:srgbClr val="404040"/>
                </a:solidFill>
                <a:effectLst/>
                <a:latin typeface="Inter"/>
              </a:rPr>
              <a:t>Lớp dữ liệu (Data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dữ liệu mà khách hàng (client) muốn thao tác thông qua các thành phần của ứng dụng.</a:t>
            </a:r>
          </a:p>
          <a:p>
            <a:pPr marL="742950" lvl="1" indent="-285750" algn="l">
              <a:buFont typeface="+mj-lt"/>
              <a:buAutoNum type="arabicPeriod"/>
            </a:pPr>
            <a:r>
              <a:rPr lang="vi-VN" b="0" i="0" dirty="0">
                <a:solidFill>
                  <a:srgbClr val="404040"/>
                </a:solidFill>
                <a:effectLst/>
                <a:latin typeface="Inter"/>
              </a:rPr>
              <a:t>Lớp này bao gồm cơ sở dữ liệu, hệ thống lưu trữ, hoặc các nguồn dữ liệu khác, đảm bảo việc truy xuất, lưu trữ và quản lý dữ liệu một cách hiệu quả.</a:t>
            </a:r>
          </a:p>
          <a:p>
            <a:pPr algn="l"/>
            <a:r>
              <a:rPr lang="vi-VN" b="1" i="0" dirty="0">
                <a:solidFill>
                  <a:srgbClr val="404040"/>
                </a:solidFill>
                <a:effectLst/>
                <a:latin typeface="Inter"/>
              </a:rPr>
              <a:t>Tóm tắt</a:t>
            </a:r>
          </a:p>
          <a:p>
            <a:pPr algn="l">
              <a:buFont typeface="Arial" panose="020B0604020202020204" pitchFamily="34" charset="0"/>
              <a:buChar char="•"/>
            </a:pPr>
            <a:r>
              <a:rPr lang="vi-VN" b="1" i="0" dirty="0">
                <a:solidFill>
                  <a:srgbClr val="404040"/>
                </a:solidFill>
                <a:effectLst/>
                <a:latin typeface="Inter"/>
              </a:rPr>
              <a:t>Lớp giao diện ứng dụng:</a:t>
            </a:r>
            <a:r>
              <a:rPr lang="vi-VN" b="0" i="0" dirty="0">
                <a:solidFill>
                  <a:srgbClr val="404040"/>
                </a:solidFill>
                <a:effectLst/>
                <a:latin typeface="Inter"/>
              </a:rPr>
              <a:t> Tương tác với người dùng hoặc ứng dụng bên ngoài.</a:t>
            </a:r>
          </a:p>
          <a:p>
            <a:pPr algn="l">
              <a:buFont typeface="Arial" panose="020B0604020202020204" pitchFamily="34" charset="0"/>
              <a:buChar char="•"/>
            </a:pPr>
            <a:r>
              <a:rPr lang="vi-VN" b="1" i="0" dirty="0">
                <a:solidFill>
                  <a:srgbClr val="404040"/>
                </a:solidFill>
                <a:effectLst/>
                <a:latin typeface="Inter"/>
              </a:rPr>
              <a:t>Lớp xử lý:</a:t>
            </a:r>
            <a:r>
              <a:rPr lang="vi-VN" b="0" i="0" dirty="0">
                <a:solidFill>
                  <a:srgbClr val="404040"/>
                </a:solidFill>
                <a:effectLst/>
                <a:latin typeface="Inter"/>
              </a:rPr>
              <a:t> Thực hiện các chức năng và logic nghiệp vụ của ứng dụng.</a:t>
            </a:r>
          </a:p>
          <a:p>
            <a:pPr algn="l">
              <a:buFont typeface="Arial" panose="020B0604020202020204" pitchFamily="34" charset="0"/>
              <a:buChar char="•"/>
            </a:pPr>
            <a:r>
              <a:rPr lang="vi-VN" b="1" i="0" dirty="0">
                <a:solidFill>
                  <a:srgbClr val="404040"/>
                </a:solidFill>
                <a:effectLst/>
                <a:latin typeface="Inter"/>
              </a:rPr>
              <a:t>Lớp dữ liệu:</a:t>
            </a:r>
            <a:r>
              <a:rPr lang="vi-VN" b="0" i="0" dirty="0">
                <a:solidFill>
                  <a:srgbClr val="404040"/>
                </a:solidFill>
                <a:effectLst/>
                <a:latin typeface="Inter"/>
              </a:rPr>
              <a:t> Quản lý và lưu trữ dữ liệu mà ứng dụng thao tác.</a:t>
            </a:r>
          </a:p>
          <a:p>
            <a:pPr algn="l"/>
            <a:r>
              <a:rPr lang="vi-VN" b="0" i="0" dirty="0">
                <a:solidFill>
                  <a:srgbClr val="404040"/>
                </a:solidFill>
                <a:effectLst/>
                <a:latin typeface="Inter"/>
              </a:rPr>
              <a:t>Cách phân lớp này giúp tách biệt các mối quan tâm (separation of concerns), làm cho ứng dụng dễ dàng phát triển, bảo trì và mở rộng hơn.</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6</a:t>
            </a:fld>
            <a:endParaRPr lang="en-US"/>
          </a:p>
        </p:txBody>
      </p:sp>
    </p:spTree>
    <p:extLst>
      <p:ext uri="{BB962C8B-B14F-4D97-AF65-F5344CB8AC3E}">
        <p14:creationId xmlns:p14="http://schemas.microsoft.com/office/powerpoint/2010/main" val="2816212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Phân lớp ứng dụng (Application Layering)</a:t>
            </a:r>
          </a:p>
          <a:p>
            <a:pPr algn="l"/>
            <a:r>
              <a:rPr lang="vi-VN" b="1" i="0" dirty="0">
                <a:solidFill>
                  <a:srgbClr val="404040"/>
                </a:solidFill>
                <a:effectLst/>
                <a:latin typeface="Inter"/>
              </a:rPr>
              <a:t>Quan điểm truyền thống ba lớp (Traditional three-layered view)</a:t>
            </a:r>
          </a:p>
          <a:p>
            <a:pPr algn="l">
              <a:buFont typeface="+mj-lt"/>
              <a:buAutoNum type="arabicPeriod"/>
            </a:pPr>
            <a:r>
              <a:rPr lang="vi-VN" b="1" i="0" dirty="0">
                <a:solidFill>
                  <a:srgbClr val="404040"/>
                </a:solidFill>
                <a:effectLst/>
                <a:latin typeface="Inter"/>
              </a:rPr>
              <a:t>Lớp giao diện ứng dụng (Application-interface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các đơn vị (units) để giao tiếp với người dùng hoặc các ứng dụng bên ngoài.</a:t>
            </a:r>
          </a:p>
          <a:p>
            <a:pPr marL="742950" lvl="1" indent="-285750" algn="l">
              <a:buFont typeface="+mj-lt"/>
              <a:buAutoNum type="arabicPeriod"/>
            </a:pPr>
            <a:r>
              <a:rPr lang="vi-VN" b="0" i="0" dirty="0">
                <a:solidFill>
                  <a:srgbClr val="404040"/>
                </a:solidFill>
                <a:effectLst/>
                <a:latin typeface="Inter"/>
              </a:rPr>
              <a:t>Đóng vai trò là cầu nối giữa người dùng và ứng dụng, giúp người dùng tương tác với hệ thống thông qua các giao diện đồ họa (GUI), API, hoặc các phương thức nhập/xuất dữ liệu khác.</a:t>
            </a:r>
          </a:p>
          <a:p>
            <a:pPr algn="l">
              <a:buFont typeface="+mj-lt"/>
              <a:buAutoNum type="arabicPeriod"/>
            </a:pPr>
            <a:r>
              <a:rPr lang="vi-VN" b="1" i="0" dirty="0">
                <a:solidFill>
                  <a:srgbClr val="404040"/>
                </a:solidFill>
                <a:effectLst/>
                <a:latin typeface="Inter"/>
              </a:rPr>
              <a:t>Lớp xử lý (Processing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các chức năng chính của ứng dụng, bao gồm các logic nghiệp vụ (business logic) và quy trình xử lý dữ liệu.</a:t>
            </a:r>
          </a:p>
          <a:p>
            <a:pPr marL="742950" lvl="1" indent="-285750" algn="l">
              <a:buFont typeface="+mj-lt"/>
              <a:buAutoNum type="arabicPeriod"/>
            </a:pPr>
            <a:r>
              <a:rPr lang="vi-VN" b="0" i="0" dirty="0">
                <a:solidFill>
                  <a:srgbClr val="404040"/>
                </a:solidFill>
                <a:effectLst/>
                <a:latin typeface="Inter"/>
              </a:rPr>
              <a:t>Lớp này không chứa dữ liệu cụ thể mà chỉ tập trung vào việc thực hiện các tác vụ tính toán, xử lý, và điều khiển luồng công việc.</a:t>
            </a:r>
          </a:p>
          <a:p>
            <a:pPr algn="l">
              <a:buFont typeface="+mj-lt"/>
              <a:buAutoNum type="arabicPeriod"/>
            </a:pPr>
            <a:r>
              <a:rPr lang="vi-VN" b="1" i="0" dirty="0">
                <a:solidFill>
                  <a:srgbClr val="404040"/>
                </a:solidFill>
                <a:effectLst/>
                <a:latin typeface="Inter"/>
              </a:rPr>
              <a:t>Lớp dữ liệu (Data layer):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Chứa dữ liệu mà khách hàng (client) muốn thao tác thông qua các thành phần của ứng dụng.</a:t>
            </a:r>
          </a:p>
          <a:p>
            <a:pPr marL="742950" lvl="1" indent="-285750" algn="l">
              <a:buFont typeface="+mj-lt"/>
              <a:buAutoNum type="arabicPeriod"/>
            </a:pPr>
            <a:r>
              <a:rPr lang="vi-VN" b="0" i="0" dirty="0">
                <a:solidFill>
                  <a:srgbClr val="404040"/>
                </a:solidFill>
                <a:effectLst/>
                <a:latin typeface="Inter"/>
              </a:rPr>
              <a:t>Lớp này bao gồm cơ sở dữ liệu, hệ thống lưu trữ, hoặc các nguồn dữ liệu khác, đảm bảo việc truy xuất, lưu trữ và quản lý dữ liệu một cách hiệu quả.</a:t>
            </a:r>
          </a:p>
          <a:p>
            <a:pPr algn="l"/>
            <a:r>
              <a:rPr lang="vi-VN" b="1" i="0" dirty="0">
                <a:solidFill>
                  <a:srgbClr val="404040"/>
                </a:solidFill>
                <a:effectLst/>
                <a:latin typeface="Inter"/>
              </a:rPr>
              <a:t>Nhận xét (Observation)</a:t>
            </a:r>
          </a:p>
          <a:p>
            <a:pPr algn="l"/>
            <a:r>
              <a:rPr lang="vi-VN" b="0" i="0" dirty="0">
                <a:solidFill>
                  <a:srgbClr val="404040"/>
                </a:solidFill>
                <a:effectLst/>
                <a:latin typeface="Inter"/>
              </a:rPr>
              <a:t>Cách phân lớp này được tìm thấy trong nhiều hệ thống thông tin phân tán, sử dụng công nghệ cơ sở dữ liệu truyền thống và các ứng dụng đi kèm.</a:t>
            </a:r>
            <a:endParaRPr lang="en-US" b="0" i="0" dirty="0">
              <a:solidFill>
                <a:srgbClr val="404040"/>
              </a:solidFill>
              <a:effectLst/>
              <a:latin typeface="Inter"/>
            </a:endParaRPr>
          </a:p>
          <a:p>
            <a:pPr algn="l"/>
            <a:r>
              <a:rPr lang="en-US" b="0" i="0" dirty="0">
                <a:solidFill>
                  <a:srgbClr val="404040"/>
                </a:solidFill>
                <a:effectLst/>
                <a:latin typeface="Inter"/>
              </a:rPr>
              <a:t>-----------------------------------------------------------------------------------------------------------------------------------------------------------------------------------------</a:t>
            </a:r>
            <a:endParaRPr lang="vi-VN" b="0" i="0" dirty="0">
              <a:solidFill>
                <a:srgbClr val="404040"/>
              </a:solidFill>
              <a:effectLst/>
              <a:latin typeface="Inter"/>
            </a:endParaRPr>
          </a:p>
          <a:p>
            <a:pPr algn="l"/>
            <a:r>
              <a:rPr lang="vi-VN" b="1" i="0" dirty="0">
                <a:solidFill>
                  <a:srgbClr val="404040"/>
                </a:solidFill>
                <a:effectLst/>
                <a:latin typeface="Inter"/>
              </a:rPr>
              <a:t>Tóm tắt</a:t>
            </a:r>
          </a:p>
          <a:p>
            <a:pPr algn="l">
              <a:buFont typeface="Arial" panose="020B0604020202020204" pitchFamily="34" charset="0"/>
              <a:buChar char="•"/>
            </a:pPr>
            <a:r>
              <a:rPr lang="vi-VN" b="1" i="0" dirty="0">
                <a:solidFill>
                  <a:srgbClr val="404040"/>
                </a:solidFill>
                <a:effectLst/>
                <a:latin typeface="Inter"/>
              </a:rPr>
              <a:t>Lớp giao diện ứng dụng:</a:t>
            </a:r>
            <a:r>
              <a:rPr lang="vi-VN" b="0" i="0" dirty="0">
                <a:solidFill>
                  <a:srgbClr val="404040"/>
                </a:solidFill>
                <a:effectLst/>
                <a:latin typeface="Inter"/>
              </a:rPr>
              <a:t> Tương tác với người dùng hoặc ứng dụng bên ngoài.</a:t>
            </a:r>
          </a:p>
          <a:p>
            <a:pPr algn="l">
              <a:buFont typeface="Arial" panose="020B0604020202020204" pitchFamily="34" charset="0"/>
              <a:buChar char="•"/>
            </a:pPr>
            <a:r>
              <a:rPr lang="vi-VN" b="1" i="0" dirty="0">
                <a:solidFill>
                  <a:srgbClr val="404040"/>
                </a:solidFill>
                <a:effectLst/>
                <a:latin typeface="Inter"/>
              </a:rPr>
              <a:t>Lớp xử lý:</a:t>
            </a:r>
            <a:r>
              <a:rPr lang="vi-VN" b="0" i="0" dirty="0">
                <a:solidFill>
                  <a:srgbClr val="404040"/>
                </a:solidFill>
                <a:effectLst/>
                <a:latin typeface="Inter"/>
              </a:rPr>
              <a:t> Thực hiện các chức năng và logic nghiệp vụ của ứng dụng.</a:t>
            </a:r>
          </a:p>
          <a:p>
            <a:pPr algn="l">
              <a:buFont typeface="Arial" panose="020B0604020202020204" pitchFamily="34" charset="0"/>
              <a:buChar char="•"/>
            </a:pPr>
            <a:r>
              <a:rPr lang="vi-VN" b="1" i="0" dirty="0">
                <a:solidFill>
                  <a:srgbClr val="404040"/>
                </a:solidFill>
                <a:effectLst/>
                <a:latin typeface="Inter"/>
              </a:rPr>
              <a:t>Lớp dữ liệu:</a:t>
            </a:r>
            <a:r>
              <a:rPr lang="vi-VN" b="0" i="0" dirty="0">
                <a:solidFill>
                  <a:srgbClr val="404040"/>
                </a:solidFill>
                <a:effectLst/>
                <a:latin typeface="Inter"/>
              </a:rPr>
              <a:t> Quản lý và lưu trữ dữ liệu mà ứng dụng thao tác.</a:t>
            </a:r>
          </a:p>
          <a:p>
            <a:pPr algn="l"/>
            <a:r>
              <a:rPr lang="vi-VN" b="0" i="0" dirty="0">
                <a:solidFill>
                  <a:srgbClr val="404040"/>
                </a:solidFill>
                <a:effectLst/>
                <a:latin typeface="Inter"/>
              </a:rPr>
              <a:t>Cách phân lớp này giúp tách biệt các mối quan tâm (separation of concerns), làm cho ứng dụng dễ dàng phát triển, bảo trì và mở rộng hơn, đặc biệt trong các hệ thống thông tin phân tán sử dụng công nghệ cơ sở dữ liệu truyền thống.</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7</a:t>
            </a:fld>
            <a:endParaRPr lang="en-US"/>
          </a:p>
        </p:txBody>
      </p:sp>
    </p:spTree>
    <p:extLst>
      <p:ext uri="{BB962C8B-B14F-4D97-AF65-F5344CB8AC3E}">
        <p14:creationId xmlns:p14="http://schemas.microsoft.com/office/powerpoint/2010/main" val="3020426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Lấy một ví dụ đầu tiên, hãy xem xét một công cụ tìm kiếm trên Internet. Bỏ qua tất cả các biểu ngữ động, hình ảnh và các yếu tố trang trí hào nhoáng khác, giao diện người dùng của một công cụ tìm kiếm có thể rất đơn giản: người dùng nhập một chuỗi từ khóa và sau đó nhận được một danh sách tiêu đề của các trang Web.</a:t>
            </a:r>
          </a:p>
          <a:p>
            <a:r>
              <a:rPr lang="vi-VN" dirty="0"/>
              <a:t>Phần phụ trợ được tạo thành từ một cơ sở dữ liệu khổng lồ gồm các trang Web đã được tải trước và lập chỉ mục. Phần cốt lõi của công cụ tìm kiếm là một chương trình chuyển đổi chuỗi từ khóa của người dùng thành một hoặc nhiều truy vấn cơ sở dữ liệu. Sau đó, nó xếp hạng các kết quả thành một danh sách và chuyển danh sách đó thành một loạt các trang HTML.</a:t>
            </a:r>
          </a:p>
          <a:p>
            <a:r>
              <a:rPr lang="vi-VN" dirty="0"/>
              <a:t>Phần truy xuất thông tin này thường được đặt ở cấp độ xử lý.</a:t>
            </a:r>
          </a:p>
          <a:p>
            <a:r>
              <a:rPr lang="en-US" dirty="0"/>
              <a:t>------------------------------------------------------------------------------------------------------------------------------------------------------------------------------------------------------------------------------------------</a:t>
            </a:r>
          </a:p>
          <a:p>
            <a:pPr algn="l"/>
            <a:r>
              <a:rPr lang="vi-VN" b="0" i="0" dirty="0">
                <a:solidFill>
                  <a:srgbClr val="404040"/>
                </a:solidFill>
                <a:effectLst/>
                <a:latin typeface="Inter"/>
              </a:rPr>
              <a:t>Hình minh họa trên mô tả một ví dụ về phân lớp ứng dụng (Application Layering) trong một công cụ tìm kiếm đơn giản. Dưới đây là giải thích chi tiết về các thành phần và cách chúng tương tác với nhau:</a:t>
            </a:r>
          </a:p>
          <a:p>
            <a:pPr algn="l"/>
            <a:r>
              <a:rPr lang="vi-VN" b="1" i="0" dirty="0">
                <a:solidFill>
                  <a:srgbClr val="404040"/>
                </a:solidFill>
                <a:effectLst/>
                <a:latin typeface="Inter"/>
              </a:rPr>
              <a:t>1. Các lớp trong ứng dụng (Application Layers)</a:t>
            </a:r>
          </a:p>
          <a:p>
            <a:pPr algn="l">
              <a:buFont typeface="Arial" panose="020B0604020202020204" pitchFamily="34" charset="0"/>
              <a:buChar char="•"/>
            </a:pPr>
            <a:r>
              <a:rPr lang="vi-VN" b="1" i="0" dirty="0">
                <a:solidFill>
                  <a:srgbClr val="404040"/>
                </a:solidFill>
                <a:effectLst/>
                <a:latin typeface="Inter"/>
              </a:rPr>
              <a:t>Lớp giao diện người dùng (User-interface level):</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Đây là lớp trên cùng, nơi người dùng tương tác với hệ thống.</a:t>
            </a:r>
          </a:p>
          <a:p>
            <a:pPr marL="742950" lvl="1" indent="-285750" algn="l">
              <a:buFont typeface="Arial" panose="020B0604020202020204" pitchFamily="34" charset="0"/>
              <a:buChar char="•"/>
            </a:pPr>
            <a:r>
              <a:rPr lang="vi-VN" b="1" i="0" dirty="0">
                <a:solidFill>
                  <a:srgbClr val="404040"/>
                </a:solidFill>
                <a:effectLst/>
                <a:latin typeface="Inter"/>
              </a:rPr>
              <a:t>Keyword expression:</a:t>
            </a:r>
            <a:r>
              <a:rPr lang="vi-VN" b="0" i="0" dirty="0">
                <a:solidFill>
                  <a:srgbClr val="404040"/>
                </a:solidFill>
                <a:effectLst/>
                <a:latin typeface="Inter"/>
              </a:rPr>
              <a:t> Người dùng nhập từ khóa hoặc biểu thức tìm kiếm.</a:t>
            </a:r>
          </a:p>
          <a:p>
            <a:pPr marL="742950" lvl="1" indent="-285750" algn="l">
              <a:buFont typeface="Arial" panose="020B0604020202020204" pitchFamily="34" charset="0"/>
              <a:buChar char="•"/>
            </a:pPr>
            <a:r>
              <a:rPr lang="vi-VN" b="1" i="0" dirty="0">
                <a:solidFill>
                  <a:srgbClr val="404040"/>
                </a:solidFill>
                <a:effectLst/>
                <a:latin typeface="Inter"/>
              </a:rPr>
              <a:t>HTML page containing list:</a:t>
            </a:r>
            <a:r>
              <a:rPr lang="vi-VN" b="0" i="0" dirty="0">
                <a:solidFill>
                  <a:srgbClr val="404040"/>
                </a:solidFill>
                <a:effectLst/>
                <a:latin typeface="Inter"/>
              </a:rPr>
              <a:t> Kết quả tìm kiếm được hiển thị dưới dạng một trang HTML chứa danh sách các trang web phù hợp.</a:t>
            </a:r>
          </a:p>
          <a:p>
            <a:pPr algn="l">
              <a:buFont typeface="Arial" panose="020B0604020202020204" pitchFamily="34" charset="0"/>
              <a:buChar char="•"/>
            </a:pPr>
            <a:r>
              <a:rPr lang="vi-VN" b="1" i="0" dirty="0">
                <a:solidFill>
                  <a:srgbClr val="404040"/>
                </a:solidFill>
                <a:effectLst/>
                <a:latin typeface="Inter"/>
              </a:rPr>
              <a:t>Lớp xử lý (Processing level):</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Lớp này chứa các logic nghiệp vụ và quy trình xử lý dữ liệu.</a:t>
            </a:r>
          </a:p>
          <a:p>
            <a:pPr marL="742950" lvl="1" indent="-285750" algn="l">
              <a:buFont typeface="Arial" panose="020B0604020202020204" pitchFamily="34" charset="0"/>
              <a:buChar char="•"/>
            </a:pPr>
            <a:r>
              <a:rPr lang="vi-VN" b="1" i="0" dirty="0">
                <a:solidFill>
                  <a:srgbClr val="404040"/>
                </a:solidFill>
                <a:effectLst/>
                <a:latin typeface="Inter"/>
              </a:rPr>
              <a:t>Query generator:</a:t>
            </a:r>
            <a:r>
              <a:rPr lang="vi-VN" b="0" i="0" dirty="0">
                <a:solidFill>
                  <a:srgbClr val="404040"/>
                </a:solidFill>
                <a:effectLst/>
                <a:latin typeface="Inter"/>
              </a:rPr>
              <a:t> Tạo các truy vấn cơ sở dữ liệu dựa trên từ khóa mà người dùng nhập.</a:t>
            </a:r>
          </a:p>
          <a:p>
            <a:pPr marL="742950" lvl="1" indent="-285750" algn="l">
              <a:buFont typeface="Arial" panose="020B0604020202020204" pitchFamily="34" charset="0"/>
              <a:buChar char="•"/>
            </a:pPr>
            <a:r>
              <a:rPr lang="vi-VN" b="1" i="0" dirty="0">
                <a:solidFill>
                  <a:srgbClr val="404040"/>
                </a:solidFill>
                <a:effectLst/>
                <a:latin typeface="Inter"/>
              </a:rPr>
              <a:t>Ranking algorithm:</a:t>
            </a:r>
            <a:r>
              <a:rPr lang="vi-VN" b="0" i="0" dirty="0">
                <a:solidFill>
                  <a:srgbClr val="404040"/>
                </a:solidFill>
                <a:effectLst/>
                <a:latin typeface="Inter"/>
              </a:rPr>
              <a:t> Thuật toán xếp hạng các trang web dựa trên mức độ phù hợp với từ khóa tìm kiếm.</a:t>
            </a:r>
          </a:p>
          <a:p>
            <a:pPr marL="742950" lvl="1" indent="-285750" algn="l">
              <a:buFont typeface="Arial" panose="020B0604020202020204" pitchFamily="34" charset="0"/>
              <a:buChar char="•"/>
            </a:pPr>
            <a:r>
              <a:rPr lang="vi-VN" b="1" i="0" dirty="0">
                <a:solidFill>
                  <a:srgbClr val="404040"/>
                </a:solidFill>
                <a:effectLst/>
                <a:latin typeface="Inter"/>
              </a:rPr>
              <a:t>HTML generator:</a:t>
            </a:r>
            <a:r>
              <a:rPr lang="vi-VN" b="0" i="0" dirty="0">
                <a:solidFill>
                  <a:srgbClr val="404040"/>
                </a:solidFill>
                <a:effectLst/>
                <a:latin typeface="Inter"/>
              </a:rPr>
              <a:t> Tạo trang HTML từ danh sách các trang web đã được xếp hạng.</a:t>
            </a:r>
          </a:p>
          <a:p>
            <a:pPr algn="l">
              <a:buFont typeface="Arial" panose="020B0604020202020204" pitchFamily="34" charset="0"/>
              <a:buChar char="•"/>
            </a:pPr>
            <a:r>
              <a:rPr lang="vi-VN" b="1" i="0" dirty="0">
                <a:solidFill>
                  <a:srgbClr val="404040"/>
                </a:solidFill>
                <a:effectLst/>
                <a:latin typeface="Inter"/>
              </a:rPr>
              <a:t>Lớp dữ liệu (Data level):</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Lớp này chứa dữ liệu mà ứng dụng thao tác.</a:t>
            </a:r>
          </a:p>
          <a:p>
            <a:pPr marL="742950" lvl="1" indent="-285750" algn="l">
              <a:buFont typeface="Arial" panose="020B0604020202020204" pitchFamily="34" charset="0"/>
              <a:buChar char="•"/>
            </a:pPr>
            <a:r>
              <a:rPr lang="vi-VN" b="1" i="0" dirty="0">
                <a:solidFill>
                  <a:srgbClr val="404040"/>
                </a:solidFill>
                <a:effectLst/>
                <a:latin typeface="Inter"/>
              </a:rPr>
              <a:t>Database with Web pages:</a:t>
            </a:r>
            <a:r>
              <a:rPr lang="vi-VN" b="0" i="0" dirty="0">
                <a:solidFill>
                  <a:srgbClr val="404040"/>
                </a:solidFill>
                <a:effectLst/>
                <a:latin typeface="Inter"/>
              </a:rPr>
              <a:t> Cơ sở dữ liệu chứa các trang web và thông tin meta (như tiêu đề, mô tả, v.v.).</a:t>
            </a:r>
          </a:p>
          <a:p>
            <a:pPr marL="742950" lvl="1" indent="-285750" algn="l">
              <a:buFont typeface="Arial" panose="020B0604020202020204" pitchFamily="34" charset="0"/>
              <a:buChar char="•"/>
            </a:pPr>
            <a:r>
              <a:rPr lang="vi-VN" b="1" i="0" dirty="0">
                <a:solidFill>
                  <a:srgbClr val="404040"/>
                </a:solidFill>
                <a:effectLst/>
                <a:latin typeface="Inter"/>
              </a:rPr>
              <a:t>Web page titles with meta-information:</a:t>
            </a:r>
            <a:r>
              <a:rPr lang="vi-VN" b="0" i="0" dirty="0">
                <a:solidFill>
                  <a:srgbClr val="404040"/>
                </a:solidFill>
                <a:effectLst/>
                <a:latin typeface="Inter"/>
              </a:rPr>
              <a:t> Thông tin về các trang web, bao gồm tiêu đề và các thông tin meta khác.</a:t>
            </a:r>
          </a:p>
          <a:p>
            <a:pPr algn="l"/>
            <a:r>
              <a:rPr lang="vi-VN" b="1" i="0" dirty="0">
                <a:solidFill>
                  <a:srgbClr val="404040"/>
                </a:solidFill>
                <a:effectLst/>
                <a:latin typeface="Inter"/>
              </a:rPr>
              <a:t>2. Quy trình hoạt động</a:t>
            </a:r>
          </a:p>
          <a:p>
            <a:pPr algn="l">
              <a:buFont typeface="+mj-lt"/>
              <a:buAutoNum type="arabicPeriod"/>
            </a:pPr>
            <a:r>
              <a:rPr lang="vi-VN" b="1" i="0" dirty="0">
                <a:solidFill>
                  <a:srgbClr val="404040"/>
                </a:solidFill>
                <a:effectLst/>
                <a:latin typeface="Inter"/>
              </a:rPr>
              <a:t>Người dùng nhập từ khóa (Keyword expression):</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Người dùng nhập từ khóa hoặc biểu thức tìm kiếm thông qua giao diện người dùng.</a:t>
            </a:r>
          </a:p>
          <a:p>
            <a:pPr algn="l">
              <a:buFont typeface="+mj-lt"/>
              <a:buAutoNum type="arabicPeriod"/>
            </a:pPr>
            <a:r>
              <a:rPr lang="vi-VN" b="1" i="0" dirty="0">
                <a:solidFill>
                  <a:srgbClr val="404040"/>
                </a:solidFill>
                <a:effectLst/>
                <a:latin typeface="Inter"/>
              </a:rPr>
              <a:t>Tạo truy vấn (Query generator):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Hệ thống tạo các truy vấn cơ sở dữ liệu dựa trên từ khóa đã nhập.</a:t>
            </a:r>
          </a:p>
          <a:p>
            <a:pPr algn="l">
              <a:buFont typeface="+mj-lt"/>
              <a:buAutoNum type="arabicPeriod"/>
            </a:pPr>
            <a:r>
              <a:rPr lang="vi-VN" b="1" i="0" dirty="0">
                <a:solidFill>
                  <a:srgbClr val="404040"/>
                </a:solidFill>
                <a:effectLst/>
                <a:latin typeface="Inter"/>
              </a:rPr>
              <a:t>Truy vấn cơ sở dữ liệu (Database queries):</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Các truy vấn được gửi đến cơ sở dữ liệu để tìm kiếm các trang web phù hợp.</a:t>
            </a:r>
          </a:p>
          <a:p>
            <a:pPr algn="l">
              <a:buFont typeface="+mj-lt"/>
              <a:buAutoNum type="arabicPeriod"/>
            </a:pPr>
            <a:r>
              <a:rPr lang="vi-VN" b="1" i="0" dirty="0">
                <a:solidFill>
                  <a:srgbClr val="404040"/>
                </a:solidFill>
                <a:effectLst/>
                <a:latin typeface="Inter"/>
              </a:rPr>
              <a:t>Xếp hạng kết quả (Ranking algorithm):</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Các trang web tìm được được xếp hạng dựa trên mức độ phù hợp với từ khóa.</a:t>
            </a:r>
          </a:p>
          <a:p>
            <a:pPr algn="l">
              <a:buFont typeface="+mj-lt"/>
              <a:buAutoNum type="arabicPeriod"/>
            </a:pPr>
            <a:r>
              <a:rPr lang="vi-VN" b="1" i="0" dirty="0">
                <a:solidFill>
                  <a:srgbClr val="404040"/>
                </a:solidFill>
                <a:effectLst/>
                <a:latin typeface="Inter"/>
              </a:rPr>
              <a:t>Tạo trang HTML (HTML generator):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Danh sách các trang web đã được xếp hạng được chuyển đổi thành một trang HTML.</a:t>
            </a:r>
          </a:p>
          <a:p>
            <a:pPr algn="l">
              <a:buFont typeface="+mj-lt"/>
              <a:buAutoNum type="arabicPeriod"/>
            </a:pPr>
            <a:r>
              <a:rPr lang="vi-VN" b="1" i="0" dirty="0">
                <a:solidFill>
                  <a:srgbClr val="404040"/>
                </a:solidFill>
                <a:effectLst/>
                <a:latin typeface="Inter"/>
              </a:rPr>
              <a:t>Hiển thị kết quả (HTML page containing list):</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Trang HTML chứa danh sách các trang web phù hợp được hiển thị cho người dùng.</a:t>
            </a:r>
          </a:p>
          <a:p>
            <a:pPr algn="l"/>
            <a:r>
              <a:rPr lang="vi-VN" b="1" i="0" dirty="0">
                <a:solidFill>
                  <a:srgbClr val="404040"/>
                </a:solidFill>
                <a:effectLst/>
                <a:latin typeface="Inter"/>
              </a:rPr>
              <a:t>3. Nhận xét</a:t>
            </a:r>
          </a:p>
          <a:p>
            <a:pPr algn="l">
              <a:buFont typeface="Arial" panose="020B0604020202020204" pitchFamily="34" charset="0"/>
              <a:buChar char="•"/>
            </a:pPr>
            <a:r>
              <a:rPr lang="vi-VN" b="1" i="0" dirty="0">
                <a:solidFill>
                  <a:srgbClr val="404040"/>
                </a:solidFill>
                <a:effectLst/>
                <a:latin typeface="Inter"/>
              </a:rPr>
              <a:t>Tách biệt các mối quan tâm (Separation of concerns):</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Mỗi lớp có một nhiệm vụ cụ thể, giúp hệ thống dễ dàng phát triển, bảo trì và mở rộng.</a:t>
            </a:r>
          </a:p>
          <a:p>
            <a:pPr algn="l">
              <a:buFont typeface="Arial" panose="020B0604020202020204" pitchFamily="34" charset="0"/>
              <a:buChar char="•"/>
            </a:pPr>
            <a:r>
              <a:rPr lang="vi-VN" b="1" i="0" dirty="0">
                <a:solidFill>
                  <a:srgbClr val="404040"/>
                </a:solidFill>
                <a:effectLst/>
                <a:latin typeface="Inter"/>
              </a:rPr>
              <a:t>Tính mô đun (Modularity):</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Các thành phần trong từng lớp có thể được thay thế hoặc cải tiến mà không ảnh hưởng đến các lớp khác.</a:t>
            </a:r>
          </a:p>
          <a:p>
            <a:pPr algn="l"/>
            <a:r>
              <a:rPr lang="vi-VN" b="1" i="0" dirty="0">
                <a:solidFill>
                  <a:srgbClr val="404040"/>
                </a:solidFill>
                <a:effectLst/>
                <a:latin typeface="Inter"/>
              </a:rPr>
              <a:t>Kết luận</a:t>
            </a:r>
          </a:p>
          <a:p>
            <a:pPr algn="l"/>
            <a:r>
              <a:rPr lang="vi-VN" b="0" i="0" dirty="0">
                <a:solidFill>
                  <a:srgbClr val="404040"/>
                </a:solidFill>
                <a:effectLst/>
                <a:latin typeface="Inter"/>
              </a:rPr>
              <a:t>Hình minh họa trên cho thấy cách phân lớp ứng dụng được áp dụng trong một công cụ tìm kiếm đơn giản. Mỗi lớp đảm nhận một vai trò cụ thể, từ việc tương tác với người dùng, xử lý logic nghiệp vụ, đến quản lý dữ liệu, giúp hệ thống hoạt động hiệu quả và dễ dàng bảo trì.</a:t>
            </a:r>
          </a:p>
          <a:p>
            <a:r>
              <a:rPr lang="en-US" dirty="0"/>
              <a:t>------------------------------------------------------------------------------------------------------------------------------------------------------</a:t>
            </a:r>
          </a:p>
        </p:txBody>
      </p:sp>
      <p:sp>
        <p:nvSpPr>
          <p:cNvPr id="4" name="Slide Number Placeholder 3"/>
          <p:cNvSpPr>
            <a:spLocks noGrp="1"/>
          </p:cNvSpPr>
          <p:nvPr>
            <p:ph type="sldNum" sz="quarter" idx="5"/>
          </p:nvPr>
        </p:nvSpPr>
        <p:spPr/>
        <p:txBody>
          <a:bodyPr/>
          <a:lstStyle/>
          <a:p>
            <a:fld id="{FA13772E-92BC-4DF5-A31C-A96E0BDD6752}" type="slidenum">
              <a:rPr lang="en-US" smtClean="0"/>
              <a:t>8</a:t>
            </a:fld>
            <a:endParaRPr lang="en-US"/>
          </a:p>
        </p:txBody>
      </p:sp>
    </p:spTree>
    <p:extLst>
      <p:ext uri="{BB962C8B-B14F-4D97-AF65-F5344CB8AC3E}">
        <p14:creationId xmlns:p14="http://schemas.microsoft.com/office/powerpoint/2010/main" val="434505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Kiểu kiến trúc dựa trên đối tượng (Object-based style)</a:t>
            </a:r>
          </a:p>
          <a:p>
            <a:pPr algn="l"/>
            <a:r>
              <a:rPr lang="vi-VN" b="1" i="0" dirty="0">
                <a:solidFill>
                  <a:srgbClr val="404040"/>
                </a:solidFill>
                <a:effectLst/>
                <a:latin typeface="Inter"/>
              </a:rPr>
              <a:t>Bản chất (Essence)</a:t>
            </a:r>
          </a:p>
          <a:p>
            <a:pPr algn="l">
              <a:buFont typeface="Arial" panose="020B0604020202020204" pitchFamily="34" charset="0"/>
              <a:buChar char="•"/>
            </a:pPr>
            <a:r>
              <a:rPr lang="vi-VN" b="1" i="0" dirty="0">
                <a:solidFill>
                  <a:srgbClr val="404040"/>
                </a:solidFill>
                <a:effectLst/>
                <a:latin typeface="Inter"/>
              </a:rPr>
              <a:t>Các thành phần là các đối tượng (Components are objects):</a:t>
            </a:r>
            <a:br>
              <a:rPr lang="vi-VN" b="0" i="0" dirty="0">
                <a:solidFill>
                  <a:srgbClr val="404040"/>
                </a:solidFill>
                <a:effectLst/>
                <a:latin typeface="Inter"/>
              </a:rPr>
            </a:br>
            <a:r>
              <a:rPr lang="vi-VN" b="0" i="0" dirty="0">
                <a:solidFill>
                  <a:srgbClr val="404040"/>
                </a:solidFill>
                <a:effectLst/>
                <a:latin typeface="Inter"/>
              </a:rPr>
              <a:t>Trong kiểu kiến trúc này, các thành phần của hệ thống được tổ chức dưới dạng các đối tượng (objects). Mỗi đối tượng đại diện cho một thực thể trong hệ thống và có thể chứa dữ liệu cũng như các phương thức để thao tác trên dữ liệu đó.</a:t>
            </a:r>
          </a:p>
          <a:p>
            <a:pPr algn="l">
              <a:buFont typeface="Arial" panose="020B0604020202020204" pitchFamily="34" charset="0"/>
              <a:buChar char="•"/>
            </a:pPr>
            <a:r>
              <a:rPr lang="vi-VN" b="1" i="0" dirty="0">
                <a:solidFill>
                  <a:srgbClr val="404040"/>
                </a:solidFill>
                <a:effectLst/>
                <a:latin typeface="Inter"/>
              </a:rPr>
              <a:t>Kết nối thông qua lời gọi thủ tục (Connected through procedure calls):</a:t>
            </a:r>
            <a:br>
              <a:rPr lang="vi-VN" b="0" i="0" dirty="0">
                <a:solidFill>
                  <a:srgbClr val="404040"/>
                </a:solidFill>
                <a:effectLst/>
                <a:latin typeface="Inter"/>
              </a:rPr>
            </a:br>
            <a:r>
              <a:rPr lang="vi-VN" b="0" i="0" dirty="0">
                <a:solidFill>
                  <a:srgbClr val="404040"/>
                </a:solidFill>
                <a:effectLst/>
                <a:latin typeface="Inter"/>
              </a:rPr>
              <a:t>Các đối tượng giao tiếp với nhau thông qua các lời gọi thủ tục (procedure calls). Điều này có nghĩa là một đối tượng có thể gọi một phương thức của một đối tượng khác để thực hiện một tác vụ cụ thể.</a:t>
            </a:r>
          </a:p>
          <a:p>
            <a:pPr algn="l">
              <a:buFont typeface="Arial" panose="020B0604020202020204" pitchFamily="34" charset="0"/>
              <a:buChar char="•"/>
            </a:pPr>
            <a:r>
              <a:rPr lang="vi-VN" b="1" i="0" dirty="0">
                <a:solidFill>
                  <a:srgbClr val="404040"/>
                </a:solidFill>
                <a:effectLst/>
                <a:latin typeface="Inter"/>
              </a:rPr>
              <a:t>Phân tán trên các máy khác nhau (Objects may be placed on different machines):</a:t>
            </a:r>
            <a:br>
              <a:rPr lang="vi-VN" b="0" i="0" dirty="0">
                <a:solidFill>
                  <a:srgbClr val="404040"/>
                </a:solidFill>
                <a:effectLst/>
                <a:latin typeface="Inter"/>
              </a:rPr>
            </a:br>
            <a:r>
              <a:rPr lang="vi-VN" b="0" i="0" dirty="0">
                <a:solidFill>
                  <a:srgbClr val="404040"/>
                </a:solidFill>
                <a:effectLst/>
                <a:latin typeface="Inter"/>
              </a:rPr>
              <a:t>Các đối tượng có thể được đặt trên các máy tính khác nhau trong mạng. Do đó, các lời gọi thủ tục có thể được thực hiện qua mạng (remote procedure calls - RPC), cho phép các đối tượng phân tán giao tiếp với nhau.</a:t>
            </a:r>
          </a:p>
          <a:p>
            <a:pPr algn="l"/>
            <a:r>
              <a:rPr lang="vi-VN" b="1" i="0" dirty="0">
                <a:solidFill>
                  <a:srgbClr val="404040"/>
                </a:solidFill>
                <a:effectLst/>
                <a:latin typeface="Inter"/>
              </a:rPr>
              <a:t>Đóng gói (Encapsulation)</a:t>
            </a:r>
          </a:p>
          <a:p>
            <a:pPr algn="l">
              <a:buFont typeface="Arial" panose="020B0604020202020204" pitchFamily="34" charset="0"/>
              <a:buChar char="•"/>
            </a:pPr>
            <a:r>
              <a:rPr lang="vi-VN" b="1" i="0" dirty="0">
                <a:solidFill>
                  <a:srgbClr val="404040"/>
                </a:solidFill>
                <a:effectLst/>
                <a:latin typeface="Inter"/>
              </a:rPr>
              <a:t>Đóng gói dữ liệu (Encapsulate data):</a:t>
            </a:r>
            <a:br>
              <a:rPr lang="vi-VN" b="0" i="0" dirty="0">
                <a:solidFill>
                  <a:srgbClr val="404040"/>
                </a:solidFill>
                <a:effectLst/>
                <a:latin typeface="Inter"/>
              </a:rPr>
            </a:br>
            <a:r>
              <a:rPr lang="vi-VN" b="0" i="0" dirty="0">
                <a:solidFill>
                  <a:srgbClr val="404040"/>
                </a:solidFill>
                <a:effectLst/>
                <a:latin typeface="Inter"/>
              </a:rPr>
              <a:t>Các đối tượng được thiết kế để đóng gói dữ liệu, nghĩa là dữ liệu được ẩn đi và chỉ có thể truy cập thông qua các phương thức được định nghĩa rõ ràng.</a:t>
            </a:r>
          </a:p>
          <a:p>
            <a:pPr algn="l">
              <a:buFont typeface="Arial" panose="020B0604020202020204" pitchFamily="34" charset="0"/>
              <a:buChar char="•"/>
            </a:pPr>
            <a:r>
              <a:rPr lang="vi-VN" b="1" i="0" dirty="0">
                <a:solidFill>
                  <a:srgbClr val="404040"/>
                </a:solidFill>
                <a:effectLst/>
                <a:latin typeface="Inter"/>
              </a:rPr>
              <a:t>Cung cấp phương thức (Offer methods on that data):</a:t>
            </a:r>
            <a:br>
              <a:rPr lang="vi-VN" b="0" i="0" dirty="0">
                <a:solidFill>
                  <a:srgbClr val="404040"/>
                </a:solidFill>
                <a:effectLst/>
                <a:latin typeface="Inter"/>
              </a:rPr>
            </a:br>
            <a:r>
              <a:rPr lang="vi-VN" b="0" i="0" dirty="0">
                <a:solidFill>
                  <a:srgbClr val="404040"/>
                </a:solidFill>
                <a:effectLst/>
                <a:latin typeface="Inter"/>
              </a:rPr>
              <a:t>Các đối tượng cung cấp các phương thức (methods) để thao tác trên dữ liệu mà chúng chứa. Các phương thức này định nghĩa cách dữ liệu có thể được sử dụng hoặc thay đổi.</a:t>
            </a:r>
          </a:p>
          <a:p>
            <a:pPr algn="l">
              <a:buFont typeface="Arial" panose="020B0604020202020204" pitchFamily="34" charset="0"/>
              <a:buChar char="•"/>
            </a:pPr>
            <a:r>
              <a:rPr lang="vi-VN" b="1" i="0" dirty="0">
                <a:solidFill>
                  <a:srgbClr val="404040"/>
                </a:solidFill>
                <a:effectLst/>
                <a:latin typeface="Inter"/>
              </a:rPr>
              <a:t>Ẩn thông tin (Without revealing the internal implementation):</a:t>
            </a:r>
            <a:br>
              <a:rPr lang="vi-VN" b="0" i="0" dirty="0">
                <a:solidFill>
                  <a:srgbClr val="404040"/>
                </a:solidFill>
                <a:effectLst/>
                <a:latin typeface="Inter"/>
              </a:rPr>
            </a:br>
            <a:r>
              <a:rPr lang="vi-VN" b="0" i="0" dirty="0">
                <a:solidFill>
                  <a:srgbClr val="404040"/>
                </a:solidFill>
                <a:effectLst/>
                <a:latin typeface="Inter"/>
              </a:rPr>
              <a:t>Đối tượng không tiết lộ chi tiết về cách thức triển khai nội bộ của nó. Điều này giúp đảm bảo tính độc lập và dễ dàng thay đổi hoặc cải tiến đối tượng mà không ảnh hưởng đến các thành phần khác trong hệ thống.</a:t>
            </a:r>
          </a:p>
          <a:p>
            <a:pPr algn="l"/>
            <a:r>
              <a:rPr lang="en-US" b="1" i="0" dirty="0">
                <a:solidFill>
                  <a:srgbClr val="404040"/>
                </a:solidFill>
                <a:effectLst/>
                <a:latin typeface="Inter"/>
              </a:rPr>
              <a:t>-------------------------------------------------------------------------------------------------------------------------------------------------------------------------------------------------------------------</a:t>
            </a:r>
          </a:p>
          <a:p>
            <a:pPr algn="l"/>
            <a:r>
              <a:rPr lang="vi-VN" b="1" i="0" dirty="0">
                <a:solidFill>
                  <a:srgbClr val="404040"/>
                </a:solidFill>
                <a:effectLst/>
                <a:latin typeface="Inter"/>
              </a:rPr>
              <a:t>Lợi ích của kiểu kiến trúc dựa trên đối tượng</a:t>
            </a:r>
          </a:p>
          <a:p>
            <a:pPr algn="l">
              <a:buFont typeface="Arial" panose="020B0604020202020204" pitchFamily="34" charset="0"/>
              <a:buChar char="•"/>
            </a:pPr>
            <a:r>
              <a:rPr lang="vi-VN" b="1" i="0" dirty="0">
                <a:solidFill>
                  <a:srgbClr val="404040"/>
                </a:solidFill>
                <a:effectLst/>
                <a:latin typeface="Inter"/>
              </a:rPr>
              <a:t>Tính mô đun (Modularity):</a:t>
            </a:r>
            <a:br>
              <a:rPr lang="vi-VN" b="0" i="0" dirty="0">
                <a:solidFill>
                  <a:srgbClr val="404040"/>
                </a:solidFill>
                <a:effectLst/>
                <a:latin typeface="Inter"/>
              </a:rPr>
            </a:br>
            <a:r>
              <a:rPr lang="vi-VN" b="0" i="0" dirty="0">
                <a:solidFill>
                  <a:srgbClr val="404040"/>
                </a:solidFill>
                <a:effectLst/>
                <a:latin typeface="Inter"/>
              </a:rPr>
              <a:t>Các đối tượng có thể được phát triển, thử nghiệm và bảo trì độc lập.</a:t>
            </a:r>
          </a:p>
          <a:p>
            <a:pPr algn="l">
              <a:buFont typeface="Arial" panose="020B0604020202020204" pitchFamily="34" charset="0"/>
              <a:buChar char="•"/>
            </a:pPr>
            <a:r>
              <a:rPr lang="vi-VN" b="1" i="0" dirty="0">
                <a:solidFill>
                  <a:srgbClr val="404040"/>
                </a:solidFill>
                <a:effectLst/>
                <a:latin typeface="Inter"/>
              </a:rPr>
              <a:t>Tái sử dụng (Reusability):</a:t>
            </a:r>
            <a:br>
              <a:rPr lang="vi-VN" b="0" i="0" dirty="0">
                <a:solidFill>
                  <a:srgbClr val="404040"/>
                </a:solidFill>
                <a:effectLst/>
                <a:latin typeface="Inter"/>
              </a:rPr>
            </a:br>
            <a:r>
              <a:rPr lang="vi-VN" b="0" i="0" dirty="0">
                <a:solidFill>
                  <a:srgbClr val="404040"/>
                </a:solidFill>
                <a:effectLst/>
                <a:latin typeface="Inter"/>
              </a:rPr>
              <a:t>Các đối tượng có thể được tái sử dụng trong các phần khác nhau của hệ thống hoặc trong các hệ thống khác.</a:t>
            </a:r>
          </a:p>
          <a:p>
            <a:pPr algn="l">
              <a:buFont typeface="Arial" panose="020B0604020202020204" pitchFamily="34" charset="0"/>
              <a:buChar char="•"/>
            </a:pPr>
            <a:r>
              <a:rPr lang="vi-VN" b="1" i="0" dirty="0">
                <a:solidFill>
                  <a:srgbClr val="404040"/>
                </a:solidFill>
                <a:effectLst/>
                <a:latin typeface="Inter"/>
              </a:rPr>
              <a:t>Dễ dàng mở rộng (Scalability):</a:t>
            </a:r>
            <a:br>
              <a:rPr lang="vi-VN" b="0" i="0" dirty="0">
                <a:solidFill>
                  <a:srgbClr val="404040"/>
                </a:solidFill>
                <a:effectLst/>
                <a:latin typeface="Inter"/>
              </a:rPr>
            </a:br>
            <a:r>
              <a:rPr lang="vi-VN" b="0" i="0" dirty="0">
                <a:solidFill>
                  <a:srgbClr val="404040"/>
                </a:solidFill>
                <a:effectLst/>
                <a:latin typeface="Inter"/>
              </a:rPr>
              <a:t>Hệ thống có thể dễ dàng mở rộng bằng cách thêm các đối tượng mới hoặc phân tán các đối tượng trên nhiều máy tính.</a:t>
            </a:r>
          </a:p>
          <a:p>
            <a:pPr algn="l">
              <a:buFont typeface="Arial" panose="020B0604020202020204" pitchFamily="34" charset="0"/>
              <a:buChar char="•"/>
            </a:pPr>
            <a:r>
              <a:rPr lang="vi-VN" b="1" i="0" dirty="0">
                <a:solidFill>
                  <a:srgbClr val="404040"/>
                </a:solidFill>
                <a:effectLst/>
                <a:latin typeface="Inter"/>
              </a:rPr>
              <a:t>Bảo mật và ẩn thông tin (Security and Information Hiding):</a:t>
            </a:r>
            <a:br>
              <a:rPr lang="vi-VN" b="0" i="0" dirty="0">
                <a:solidFill>
                  <a:srgbClr val="404040"/>
                </a:solidFill>
                <a:effectLst/>
                <a:latin typeface="Inter"/>
              </a:rPr>
            </a:br>
            <a:r>
              <a:rPr lang="vi-VN" b="0" i="0" dirty="0">
                <a:solidFill>
                  <a:srgbClr val="404040"/>
                </a:solidFill>
                <a:effectLst/>
                <a:latin typeface="Inter"/>
              </a:rPr>
              <a:t>Việc đóng gói dữ liệu giúp bảo vệ dữ liệu khỏi truy cập trái phép và giảm thiểu rủi ro khi thay đổi cấu trúc nội bộ của đối tượng.</a:t>
            </a:r>
            <a:endParaRPr lang="en-US" b="0" i="0" dirty="0">
              <a:solidFill>
                <a:srgbClr val="404040"/>
              </a:solidFill>
              <a:effectLst/>
              <a:latin typeface="Inter"/>
            </a:endParaRPr>
          </a:p>
          <a:p>
            <a:pPr algn="l">
              <a:buFont typeface="Arial" panose="020B0604020202020204" pitchFamily="34" charset="0"/>
              <a:buNone/>
            </a:pPr>
            <a:r>
              <a:rPr lang="en-US" b="1" i="0" dirty="0">
                <a:solidFill>
                  <a:srgbClr val="404040"/>
                </a:solidFill>
                <a:effectLst/>
                <a:latin typeface="Inter"/>
              </a:rPr>
              <a:t>-------------------------------------------------------------------------------------------------------------------------------------------------------------------------------------------------------------------</a:t>
            </a:r>
            <a:endParaRPr lang="vi-VN" b="0" i="0" dirty="0">
              <a:solidFill>
                <a:srgbClr val="404040"/>
              </a:solidFill>
              <a:effectLst/>
              <a:latin typeface="Inter"/>
            </a:endParaRPr>
          </a:p>
          <a:p>
            <a:pPr algn="l"/>
            <a:r>
              <a:rPr lang="vi-VN" b="1" i="0" dirty="0">
                <a:solidFill>
                  <a:srgbClr val="404040"/>
                </a:solidFill>
                <a:effectLst/>
                <a:latin typeface="Inter"/>
              </a:rPr>
              <a:t>Kết luận</a:t>
            </a:r>
          </a:p>
          <a:p>
            <a:pPr algn="l"/>
            <a:r>
              <a:rPr lang="vi-VN" b="0" i="0" dirty="0">
                <a:solidFill>
                  <a:srgbClr val="404040"/>
                </a:solidFill>
                <a:effectLst/>
                <a:latin typeface="Inter"/>
              </a:rPr>
              <a:t>Kiểu kiến trúc dựa trên đối tượng là một cách tiếp cận hiệu quả để xây dựng các hệ thống phân tán, nơi các thành phần được tổ chức dưới dạng các đối tượng độc lập, giao tiếp với nhau thông qua các lời gọi thủ tục. Việc đóng gói dữ liệu và ẩn thông tin giúp tăng tính linh hoạt, bảo mật và dễ dàng bảo trì hệ thống.</a:t>
            </a:r>
            <a:endParaRPr lang="en-US" b="0" i="0" dirty="0">
              <a:solidFill>
                <a:srgbClr val="404040"/>
              </a:solidFill>
              <a:effectLst/>
              <a:latin typeface="Inter"/>
            </a:endParaRPr>
          </a:p>
          <a:p>
            <a:pPr algn="l"/>
            <a:r>
              <a:rPr lang="en-US" b="0" i="0" dirty="0">
                <a:solidFill>
                  <a:srgbClr val="404040"/>
                </a:solidFill>
                <a:effectLst/>
                <a:latin typeface="Inter"/>
              </a:rPr>
              <a:t>--------------------------------------------------------------------------------------------------------------------------------------------------------------------------------------------------------------------------</a:t>
            </a:r>
          </a:p>
          <a:p>
            <a:pPr algn="l"/>
            <a:r>
              <a:rPr lang="en-US" b="0" i="0" dirty="0">
                <a:solidFill>
                  <a:srgbClr val="404040"/>
                </a:solidFill>
                <a:effectLst/>
                <a:latin typeface="Inter"/>
              </a:rPr>
              <a:t>--------------------------------------------------------------------------------------------------------------------------------------------------------------------------------------------------------------------------</a:t>
            </a:r>
          </a:p>
          <a:p>
            <a:pPr algn="l"/>
            <a:r>
              <a:rPr lang="vi-VN" b="0" i="0" dirty="0">
                <a:solidFill>
                  <a:srgbClr val="404040"/>
                </a:solidFill>
                <a:effectLst/>
                <a:latin typeface="Inter"/>
              </a:rPr>
              <a:t>Hình minh họa trên mô tả các khái niệm cơ bản trong kiến trúc dựa trên đối tượng (Object-based style). Dưới đây là giải thích chi tiết về các thành phần trong hình:</a:t>
            </a:r>
          </a:p>
          <a:p>
            <a:pPr algn="l"/>
            <a:r>
              <a:rPr lang="vi-VN" b="1" i="0" dirty="0">
                <a:solidFill>
                  <a:srgbClr val="404040"/>
                </a:solidFill>
                <a:effectLst/>
                <a:latin typeface="Inter"/>
              </a:rPr>
              <a:t>1. Đối tượng (Object)</a:t>
            </a:r>
          </a:p>
          <a:p>
            <a:pPr algn="l">
              <a:buFont typeface="Arial" panose="020B0604020202020204" pitchFamily="34" charset="0"/>
              <a:buChar char="•"/>
            </a:pPr>
            <a:r>
              <a:rPr lang="vi-VN" b="1" i="0" dirty="0">
                <a:solidFill>
                  <a:srgbClr val="404040"/>
                </a:solidFill>
                <a:effectLst/>
                <a:latin typeface="Inter"/>
              </a:rPr>
              <a:t>Đối tượng (Object):</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Đối tượng là một thực thể trong hệ thống, bao gồm dữ liệu (state) và các phương thức (methods) để thao tác trên dữ liệu đó.</a:t>
            </a:r>
          </a:p>
          <a:p>
            <a:pPr marL="742950" lvl="1" indent="-285750" algn="l">
              <a:buFont typeface="Arial" panose="020B0604020202020204" pitchFamily="34" charset="0"/>
              <a:buChar char="•"/>
            </a:pPr>
            <a:r>
              <a:rPr lang="vi-VN" b="0" i="0" dirty="0">
                <a:solidFill>
                  <a:srgbClr val="404040"/>
                </a:solidFill>
                <a:effectLst/>
                <a:latin typeface="Inter"/>
              </a:rPr>
              <a:t>Mỗi đối tượng đại diện cho một thực thể cụ thể trong hệ thống, chẳng hạn như một người dùng, một đơn hàng, hoặc một sản phẩm.</a:t>
            </a:r>
          </a:p>
          <a:p>
            <a:pPr algn="l"/>
            <a:r>
              <a:rPr lang="vi-VN" b="1" i="0" dirty="0">
                <a:solidFill>
                  <a:srgbClr val="404040"/>
                </a:solidFill>
                <a:effectLst/>
                <a:latin typeface="Inter"/>
              </a:rPr>
              <a:t>2. Trạng thái (State)</a:t>
            </a:r>
          </a:p>
          <a:p>
            <a:pPr algn="l">
              <a:buFont typeface="Arial" panose="020B0604020202020204" pitchFamily="34" charset="0"/>
              <a:buChar char="•"/>
            </a:pPr>
            <a:r>
              <a:rPr lang="vi-VN" b="1" i="0" dirty="0">
                <a:solidFill>
                  <a:srgbClr val="404040"/>
                </a:solidFill>
                <a:effectLst/>
                <a:latin typeface="Inter"/>
              </a:rPr>
              <a:t>Trạng thái (State):</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Trạng thái là dữ liệu mà đối tượng chứa. Dữ liệu này có thể bao gồm các thuộc tính (attributes) hoặc biến (variables) mô tả đặc điểm của đối tượng.</a:t>
            </a:r>
          </a:p>
          <a:p>
            <a:pPr marL="742950" lvl="1" indent="-285750" algn="l">
              <a:buFont typeface="Arial" panose="020B0604020202020204" pitchFamily="34" charset="0"/>
              <a:buChar char="•"/>
            </a:pPr>
            <a:r>
              <a:rPr lang="vi-VN" b="0" i="0" dirty="0">
                <a:solidFill>
                  <a:srgbClr val="404040"/>
                </a:solidFill>
                <a:effectLst/>
                <a:latin typeface="Inter"/>
              </a:rPr>
              <a:t>Ví dụ: Đối với một đối tượng "Người dùng", trạng thái có thể bao gồm tên, tuổi, địa chỉ email, v.v.</a:t>
            </a:r>
          </a:p>
          <a:p>
            <a:pPr algn="l"/>
            <a:r>
              <a:rPr lang="vi-VN" b="1" i="0" dirty="0">
                <a:solidFill>
                  <a:srgbClr val="404040"/>
                </a:solidFill>
                <a:effectLst/>
                <a:latin typeface="Inter"/>
              </a:rPr>
              <a:t>3. Phương thức (Method)</a:t>
            </a:r>
          </a:p>
          <a:p>
            <a:pPr algn="l">
              <a:buFont typeface="Arial" panose="020B0604020202020204" pitchFamily="34" charset="0"/>
              <a:buChar char="•"/>
            </a:pPr>
            <a:r>
              <a:rPr lang="vi-VN" b="1" i="0" dirty="0">
                <a:solidFill>
                  <a:srgbClr val="404040"/>
                </a:solidFill>
                <a:effectLst/>
                <a:latin typeface="Inter"/>
              </a:rPr>
              <a:t>Phương thức (Method):</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Phương thức là các hàm hoặc thủ tục mà đối tượng cung cấp để thao tác trên dữ liệu của nó.</a:t>
            </a:r>
          </a:p>
          <a:p>
            <a:pPr marL="742950" lvl="1" indent="-285750" algn="l">
              <a:buFont typeface="Arial" panose="020B0604020202020204" pitchFamily="34" charset="0"/>
              <a:buChar char="•"/>
            </a:pPr>
            <a:r>
              <a:rPr lang="vi-VN" b="0" i="0" dirty="0">
                <a:solidFill>
                  <a:srgbClr val="404040"/>
                </a:solidFill>
                <a:effectLst/>
                <a:latin typeface="Inter"/>
              </a:rPr>
              <a:t>Các phương thức định nghĩa cách dữ liệu có thể được truy cập, thay đổi hoặc xử lý.</a:t>
            </a:r>
          </a:p>
          <a:p>
            <a:pPr marL="742950" lvl="1" indent="-285750" algn="l">
              <a:buFont typeface="Arial" panose="020B0604020202020204" pitchFamily="34" charset="0"/>
              <a:buChar char="•"/>
            </a:pPr>
            <a:r>
              <a:rPr lang="vi-VN" b="0" i="0" dirty="0">
                <a:solidFill>
                  <a:srgbClr val="404040"/>
                </a:solidFill>
                <a:effectLst/>
                <a:latin typeface="Inter"/>
              </a:rPr>
              <a:t>Ví dụ: Đối với một đối tượng "Người dùng", các phương thức có thể bao gồm updateEmail(), changePassword(), v.v.</a:t>
            </a:r>
          </a:p>
          <a:p>
            <a:pPr algn="l"/>
            <a:r>
              <a:rPr lang="vi-VN" b="1" i="0" dirty="0">
                <a:solidFill>
                  <a:srgbClr val="404040"/>
                </a:solidFill>
                <a:effectLst/>
                <a:latin typeface="Inter"/>
              </a:rPr>
              <a:t>4. Giao diện (Interface)</a:t>
            </a:r>
          </a:p>
          <a:p>
            <a:pPr algn="l">
              <a:buFont typeface="Arial" panose="020B0604020202020204" pitchFamily="34" charset="0"/>
              <a:buChar char="•"/>
            </a:pPr>
            <a:r>
              <a:rPr lang="vi-VN" b="1" i="0" dirty="0">
                <a:solidFill>
                  <a:srgbClr val="404040"/>
                </a:solidFill>
                <a:effectLst/>
                <a:latin typeface="Inter"/>
              </a:rPr>
              <a:t>Giao diện (Interface):</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Giao diện là tập hợp các phương thức mà đối tượng cung cấp ra bên ngoài để các đối tượng khác có thể tương tác với nó.</a:t>
            </a:r>
          </a:p>
          <a:p>
            <a:pPr marL="742950" lvl="1" indent="-285750" algn="l">
              <a:buFont typeface="Arial" panose="020B0604020202020204" pitchFamily="34" charset="0"/>
              <a:buChar char="•"/>
            </a:pPr>
            <a:r>
              <a:rPr lang="vi-VN" b="0" i="0" dirty="0">
                <a:solidFill>
                  <a:srgbClr val="404040"/>
                </a:solidFill>
                <a:effectLst/>
                <a:latin typeface="Inter"/>
              </a:rPr>
              <a:t>Giao diện đóng vai trò như một hợp đồng, quy định cách các đối tượng khác có thể sử dụng đối tượng này mà không cần biết chi tiết về cách thức triển khai nội bộ.</a:t>
            </a:r>
          </a:p>
          <a:p>
            <a:pPr marL="742950" lvl="1" indent="-285750" algn="l">
              <a:buFont typeface="Arial" panose="020B0604020202020204" pitchFamily="34" charset="0"/>
              <a:buChar char="•"/>
            </a:pPr>
            <a:r>
              <a:rPr lang="vi-VN" b="0" i="0" dirty="0">
                <a:solidFill>
                  <a:srgbClr val="404040"/>
                </a:solidFill>
                <a:effectLst/>
                <a:latin typeface="Inter"/>
              </a:rPr>
              <a:t>Ví dụ: Giao diện của một đối tượng "Người dùng" có thể bao gồm các phương thức như login(), logout(), getUserInfo(), v.v.</a:t>
            </a:r>
          </a:p>
          <a:p>
            <a:pPr algn="l"/>
            <a:r>
              <a:rPr lang="vi-VN" b="1" i="0" dirty="0">
                <a:solidFill>
                  <a:srgbClr val="404040"/>
                </a:solidFill>
                <a:effectLst/>
                <a:latin typeface="Inter"/>
              </a:rPr>
              <a:t>5. Lời gọi phương thức (Method call)</a:t>
            </a:r>
          </a:p>
          <a:p>
            <a:pPr algn="l">
              <a:buFont typeface="Arial" panose="020B0604020202020204" pitchFamily="34" charset="0"/>
              <a:buChar char="•"/>
            </a:pPr>
            <a:r>
              <a:rPr lang="vi-VN" b="1" i="0" dirty="0">
                <a:solidFill>
                  <a:srgbClr val="404040"/>
                </a:solidFill>
                <a:effectLst/>
                <a:latin typeface="Inter"/>
              </a:rPr>
              <a:t>Lời gọi phương thức (Method call):</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Các đối tượng giao tiếp với nhau thông qua việc gọi các phương thức của nhau.</a:t>
            </a:r>
          </a:p>
          <a:p>
            <a:pPr marL="742950" lvl="1" indent="-285750" algn="l">
              <a:buFont typeface="Arial" panose="020B0604020202020204" pitchFamily="34" charset="0"/>
              <a:buChar char="•"/>
            </a:pPr>
            <a:r>
              <a:rPr lang="vi-VN" b="0" i="0" dirty="0">
                <a:solidFill>
                  <a:srgbClr val="404040"/>
                </a:solidFill>
                <a:effectLst/>
                <a:latin typeface="Inter"/>
              </a:rPr>
              <a:t>Khi một đối tượng gọi một phương thức của một đối tượng khác, nó thực hiện một tác vụ cụ thể trên dữ liệu của đối tượng đó.</a:t>
            </a:r>
          </a:p>
          <a:p>
            <a:pPr marL="742950" lvl="1" indent="-285750" algn="l">
              <a:buFont typeface="Arial" panose="020B0604020202020204" pitchFamily="34" charset="0"/>
              <a:buChar char="•"/>
            </a:pPr>
            <a:r>
              <a:rPr lang="vi-VN" b="0" i="0" dirty="0">
                <a:solidFill>
                  <a:srgbClr val="404040"/>
                </a:solidFill>
                <a:effectLst/>
                <a:latin typeface="Inter"/>
              </a:rPr>
              <a:t>Ví dụ: Đối tượng "Giỏ hàng" có thể gọi phương thức addProduct() của đối tượng "Sản phẩm" để thêm một sản phẩm vào giỏ hàng.</a:t>
            </a:r>
          </a:p>
          <a:p>
            <a:pPr algn="l"/>
            <a:r>
              <a:rPr lang="vi-VN" b="1" i="0" dirty="0">
                <a:solidFill>
                  <a:srgbClr val="404040"/>
                </a:solidFill>
                <a:effectLst/>
                <a:latin typeface="Inter"/>
              </a:rPr>
              <a:t>6. Tương tác giữa các đối tượng</a:t>
            </a:r>
          </a:p>
          <a:p>
            <a:pPr algn="l">
              <a:buFont typeface="Arial" panose="020B0604020202020204" pitchFamily="34" charset="0"/>
              <a:buChar char="•"/>
            </a:pPr>
            <a:r>
              <a:rPr lang="vi-VN" b="1" i="0" dirty="0">
                <a:solidFill>
                  <a:srgbClr val="404040"/>
                </a:solidFill>
                <a:effectLst/>
                <a:latin typeface="Inter"/>
              </a:rPr>
              <a:t>Tương tác giữa các đối tượng:</a:t>
            </a:r>
            <a:endParaRPr lang="vi-VN" b="0" i="0" dirty="0">
              <a:solidFill>
                <a:srgbClr val="404040"/>
              </a:solidFill>
              <a:effectLst/>
              <a:latin typeface="Inter"/>
            </a:endParaRPr>
          </a:p>
          <a:p>
            <a:pPr marL="742950" lvl="1" indent="-285750" algn="l">
              <a:buFont typeface="Arial" panose="020B0604020202020204" pitchFamily="34" charset="0"/>
              <a:buChar char="•"/>
            </a:pPr>
            <a:r>
              <a:rPr lang="vi-VN" b="0" i="0" dirty="0">
                <a:solidFill>
                  <a:srgbClr val="404040"/>
                </a:solidFill>
                <a:effectLst/>
                <a:latin typeface="Inter"/>
              </a:rPr>
              <a:t>Các đối tượng có thể tương tác với nhau thông qua các lời gọi phương thức, ngay cả khi chúng được đặt trên các máy tính khác nhau trong mạng.</a:t>
            </a:r>
          </a:p>
          <a:p>
            <a:pPr marL="742950" lvl="1" indent="-285750" algn="l">
              <a:buFont typeface="Arial" panose="020B0604020202020204" pitchFamily="34" charset="0"/>
              <a:buChar char="•"/>
            </a:pPr>
            <a:r>
              <a:rPr lang="vi-VN" b="0" i="0" dirty="0">
                <a:solidFill>
                  <a:srgbClr val="404040"/>
                </a:solidFill>
                <a:effectLst/>
                <a:latin typeface="Inter"/>
              </a:rPr>
              <a:t>Điều này cho phép xây dựng các hệ thống phân tán, nơi các đối tượng có thể giao tiếp và phối hợp với nhau để thực hiện các tác vụ phức tạp.</a:t>
            </a:r>
          </a:p>
          <a:p>
            <a:pPr algn="l"/>
            <a:r>
              <a:rPr lang="vi-VN" b="1" i="0" dirty="0">
                <a:solidFill>
                  <a:srgbClr val="404040"/>
                </a:solidFill>
                <a:effectLst/>
                <a:latin typeface="Inter"/>
              </a:rPr>
              <a:t>Kết luận</a:t>
            </a:r>
          </a:p>
          <a:p>
            <a:pPr algn="l"/>
            <a:r>
              <a:rPr lang="vi-VN" b="0" i="0" dirty="0">
                <a:solidFill>
                  <a:srgbClr val="404040"/>
                </a:solidFill>
                <a:effectLst/>
                <a:latin typeface="Inter"/>
              </a:rPr>
              <a:t>Hình minh họa trên giúp hiểu rõ hơn về các khái niệm cơ bản trong kiến trúc dựa trên đối tượng, bao gồm đối tượng, trạng thái, phương thức, giao diện và cách các đối tượng tương tác với nhau thông qua lời gọi phương thức. Kiến trúc này giúp xây dựng các hệ thống linh hoạt, dễ bảo trì và có khả năng mở rộng cao.</a:t>
            </a:r>
          </a:p>
          <a:p>
            <a:pPr algn="l"/>
            <a:endParaRPr lang="vi-VN" b="0" i="0" dirty="0">
              <a:solidFill>
                <a:srgbClr val="404040"/>
              </a:solidFill>
              <a:effectLst/>
              <a:latin typeface="Inter"/>
            </a:endParaRP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9</a:t>
            </a:fld>
            <a:endParaRPr lang="en-US"/>
          </a:p>
        </p:txBody>
      </p:sp>
    </p:spTree>
    <p:extLst>
      <p:ext uri="{BB962C8B-B14F-4D97-AF65-F5344CB8AC3E}">
        <p14:creationId xmlns:p14="http://schemas.microsoft.com/office/powerpoint/2010/main" val="2600440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Kiến trúc RESTful (RESTful Architectures)</a:t>
            </a:r>
          </a:p>
          <a:p>
            <a:pPr algn="l"/>
            <a:r>
              <a:rPr lang="vi-VN" b="1" i="0" dirty="0">
                <a:solidFill>
                  <a:srgbClr val="404040"/>
                </a:solidFill>
                <a:effectLst/>
                <a:latin typeface="Inter"/>
              </a:rPr>
              <a:t>Bản chất (Essence)</a:t>
            </a:r>
          </a:p>
          <a:p>
            <a:pPr algn="l">
              <a:buFont typeface="Arial" panose="020B0604020202020204" pitchFamily="34" charset="0"/>
              <a:buChar char="•"/>
            </a:pPr>
            <a:r>
              <a:rPr lang="vi-VN" b="1" i="0" dirty="0">
                <a:solidFill>
                  <a:srgbClr val="404040"/>
                </a:solidFill>
                <a:effectLst/>
                <a:latin typeface="Inter"/>
              </a:rPr>
              <a:t>Xem hệ thống phân tán như một tập hợp các tài nguyên (View a distributed system as a collection of resources):</a:t>
            </a:r>
            <a:br>
              <a:rPr lang="vi-VN" b="0" i="0" dirty="0">
                <a:solidFill>
                  <a:srgbClr val="404040"/>
                </a:solidFill>
                <a:effectLst/>
                <a:latin typeface="Inter"/>
              </a:rPr>
            </a:br>
            <a:r>
              <a:rPr lang="vi-VN" b="0" i="0" dirty="0">
                <a:solidFill>
                  <a:srgbClr val="404040"/>
                </a:solidFill>
                <a:effectLst/>
                <a:latin typeface="Inter"/>
              </a:rPr>
              <a:t>Trong kiến trúc RESTful, hệ thống phân tán được xem như một tập hợp các tài nguyên (resources), mỗi tài nguyên được quản lý bởi các thành phần (components) riêng biệt.</a:t>
            </a:r>
          </a:p>
          <a:p>
            <a:pPr algn="l">
              <a:buFont typeface="Arial" panose="020B0604020202020204" pitchFamily="34" charset="0"/>
              <a:buChar char="•"/>
            </a:pPr>
            <a:r>
              <a:rPr lang="vi-VN" b="1" i="0" dirty="0">
                <a:solidFill>
                  <a:srgbClr val="404040"/>
                </a:solidFill>
                <a:effectLst/>
                <a:latin typeface="Inter"/>
              </a:rPr>
              <a:t>Quản lý tài nguyên (Individually managed by components):</a:t>
            </a:r>
            <a:br>
              <a:rPr lang="vi-VN" b="0" i="0" dirty="0">
                <a:solidFill>
                  <a:srgbClr val="404040"/>
                </a:solidFill>
                <a:effectLst/>
                <a:latin typeface="Inter"/>
              </a:rPr>
            </a:br>
            <a:r>
              <a:rPr lang="vi-VN" b="0" i="0" dirty="0">
                <a:solidFill>
                  <a:srgbClr val="404040"/>
                </a:solidFill>
                <a:effectLst/>
                <a:latin typeface="Inter"/>
              </a:rPr>
              <a:t>Mỗi tài nguyên có thể được thêm (added), xóa (removed), truy xuất (retrieved), và sửa đổi (modified) bởi các ứng dụng từ xa (remote applications).</a:t>
            </a:r>
          </a:p>
          <a:p>
            <a:pPr algn="l"/>
            <a:r>
              <a:rPr lang="vi-VN" b="1" i="0" dirty="0">
                <a:solidFill>
                  <a:srgbClr val="404040"/>
                </a:solidFill>
                <a:effectLst/>
                <a:latin typeface="Inter"/>
              </a:rPr>
              <a:t>Đặc điểm chính của RESTful</a:t>
            </a:r>
          </a:p>
          <a:p>
            <a:pPr algn="l">
              <a:buFont typeface="+mj-lt"/>
              <a:buAutoNum type="arabicPeriod"/>
            </a:pPr>
            <a:r>
              <a:rPr lang="vi-VN" b="1" i="0" dirty="0">
                <a:solidFill>
                  <a:srgbClr val="404040"/>
                </a:solidFill>
                <a:effectLst/>
                <a:latin typeface="Inter"/>
              </a:rPr>
              <a:t>Định danh tài nguyên thông qua một sơ đồ đặt tên duy nhất (Resources are identified through a single naming scheme):</a:t>
            </a:r>
            <a:endParaRPr lang="vi-VN" b="0" i="0" dirty="0">
              <a:solidFill>
                <a:srgbClr val="404040"/>
              </a:solidFill>
              <a:effectLst/>
              <a:latin typeface="Inter"/>
            </a:endParaRPr>
          </a:p>
          <a:p>
            <a:pPr marL="457200" lvl="1" indent="0" algn="l">
              <a:buFont typeface="+mj-lt"/>
              <a:buNone/>
            </a:pPr>
            <a:r>
              <a:rPr lang="vi-VN" b="0" i="0" dirty="0">
                <a:solidFill>
                  <a:srgbClr val="404040"/>
                </a:solidFill>
                <a:effectLst/>
                <a:latin typeface="Inter"/>
              </a:rPr>
              <a:t>Mỗi tài nguyên được định danh bằng một URI (Uniform Resource Identifier) duy nhất.</a:t>
            </a:r>
          </a:p>
          <a:p>
            <a:pPr algn="l">
              <a:buFont typeface="+mj-lt"/>
              <a:buAutoNum type="arabicPeriod"/>
            </a:pPr>
            <a:r>
              <a:rPr lang="vi-VN" b="1" i="0" dirty="0">
                <a:solidFill>
                  <a:srgbClr val="404040"/>
                </a:solidFill>
                <a:effectLst/>
                <a:latin typeface="Inter"/>
              </a:rPr>
              <a:t>Cung cấp cùng một giao diện (All services offer the same interface):</a:t>
            </a:r>
            <a:endParaRPr lang="vi-VN" b="0" i="0" dirty="0">
              <a:solidFill>
                <a:srgbClr val="404040"/>
              </a:solidFill>
              <a:effectLst/>
              <a:latin typeface="Inter"/>
            </a:endParaRPr>
          </a:p>
          <a:p>
            <a:pPr marL="457200" lvl="1" indent="0" algn="l">
              <a:buFont typeface="+mj-lt"/>
              <a:buNone/>
            </a:pPr>
            <a:r>
              <a:rPr lang="vi-VN" b="0" i="0" dirty="0">
                <a:solidFill>
                  <a:srgbClr val="404040"/>
                </a:solidFill>
                <a:effectLst/>
                <a:latin typeface="Inter"/>
              </a:rPr>
              <a:t>Tất cả các dịch vụ trong hệ thống RESTful đều cung cấp cùng một giao diện, thường là các phương thức HTTP tiêu chuẩn như GET, POST, PUT, DELETE.</a:t>
            </a:r>
          </a:p>
          <a:p>
            <a:pPr algn="l">
              <a:buFont typeface="+mj-lt"/>
              <a:buAutoNum type="arabicPeriod"/>
            </a:pPr>
            <a:r>
              <a:rPr lang="vi-VN" b="1" i="0" dirty="0">
                <a:solidFill>
                  <a:srgbClr val="404040"/>
                </a:solidFill>
                <a:effectLst/>
                <a:latin typeface="Inter"/>
              </a:rPr>
              <a:t>Thông điệp tự mô tả (Messages sent to or from a service are fully self-described):</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Các thông điệp (messages) được gửi đến hoặc từ một dịch vụ đều chứa đầy đủ thông tin cần thiết để xử lý yêu cầu.</a:t>
            </a:r>
          </a:p>
          <a:p>
            <a:pPr marL="742950" lvl="1" indent="-285750" algn="l">
              <a:buFont typeface="+mj-lt"/>
              <a:buAutoNum type="arabicPeriod"/>
            </a:pPr>
            <a:r>
              <a:rPr lang="vi-VN" b="0" i="0" dirty="0">
                <a:solidFill>
                  <a:srgbClr val="404040"/>
                </a:solidFill>
                <a:effectLst/>
                <a:latin typeface="Inter"/>
              </a:rPr>
              <a:t>Thông điệp thường được mã hóa dưới dạng JSON hoặc XML, chứa dữ liệu và metadata cần thiết.</a:t>
            </a:r>
          </a:p>
          <a:p>
            <a:pPr algn="l">
              <a:buFont typeface="+mj-lt"/>
              <a:buAutoNum type="arabicPeriod"/>
            </a:pPr>
            <a:r>
              <a:rPr lang="vi-VN" b="1" i="0" dirty="0">
                <a:solidFill>
                  <a:srgbClr val="404040"/>
                </a:solidFill>
                <a:effectLst/>
                <a:latin typeface="Inter"/>
              </a:rPr>
              <a:t>Không lưu trữ trạng thái (Statelessness - After executing an operation at a service, that component forgets everything about the caller):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Sau khi thực hiện một thao tác, dịch vụ sẽ không lưu trữ bất kỳ thông tin nào về người gọi (caller).</a:t>
            </a:r>
          </a:p>
          <a:p>
            <a:pPr marL="742950" lvl="1" indent="-285750" algn="l">
              <a:buFont typeface="+mj-lt"/>
              <a:buAutoNum type="arabicPeriod"/>
            </a:pPr>
            <a:r>
              <a:rPr lang="vi-VN" b="0" i="0" dirty="0">
                <a:solidFill>
                  <a:srgbClr val="404040"/>
                </a:solidFill>
                <a:effectLst/>
                <a:latin typeface="Inter"/>
              </a:rPr>
              <a:t>Mỗi yêu cầu từ client phải chứa tất cả thông tin cần thiết để dịch vụ hiểu và xử lý yêu cầu đó.</a:t>
            </a:r>
          </a:p>
          <a:p>
            <a:pPr marL="742950" lvl="1" indent="-285750" algn="l">
              <a:buFont typeface="+mj-lt"/>
              <a:buAutoNum type="arabicPeriod"/>
            </a:pPr>
            <a:r>
              <a:rPr lang="vi-VN" b="0" i="0" dirty="0">
                <a:solidFill>
                  <a:srgbClr val="404040"/>
                </a:solidFill>
                <a:effectLst/>
                <a:latin typeface="Inter"/>
              </a:rPr>
              <a:t>Điều này giúp hệ thống trở nên đơn giản, dễ mở rộng và dễ dàng quản lý.</a:t>
            </a:r>
          </a:p>
          <a:p>
            <a:pPr algn="l"/>
            <a:endParaRPr lang="en-US" b="1" i="0" dirty="0">
              <a:solidFill>
                <a:srgbClr val="404040"/>
              </a:solidFill>
              <a:effectLst/>
              <a:latin typeface="Inter"/>
            </a:endParaRPr>
          </a:p>
          <a:p>
            <a:pPr algn="l"/>
            <a:r>
              <a:rPr lang="en-US" b="1" i="0" dirty="0" err="1">
                <a:solidFill>
                  <a:srgbClr val="404040"/>
                </a:solidFill>
                <a:effectLst/>
                <a:latin typeface="Inter"/>
              </a:rPr>
              <a:t>Các</a:t>
            </a:r>
            <a:r>
              <a:rPr lang="en-US" b="1" i="0" dirty="0">
                <a:solidFill>
                  <a:srgbClr val="404040"/>
                </a:solidFill>
                <a:effectLst/>
                <a:latin typeface="Inter"/>
              </a:rPr>
              <a:t> </a:t>
            </a:r>
            <a:r>
              <a:rPr lang="en-US" b="1" i="0" dirty="0" err="1">
                <a:solidFill>
                  <a:srgbClr val="404040"/>
                </a:solidFill>
                <a:effectLst/>
                <a:latin typeface="Inter"/>
              </a:rPr>
              <a:t>thao</a:t>
            </a:r>
            <a:r>
              <a:rPr lang="en-US" b="1" i="0" dirty="0">
                <a:solidFill>
                  <a:srgbClr val="404040"/>
                </a:solidFill>
                <a:effectLst/>
                <a:latin typeface="Inter"/>
              </a:rPr>
              <a:t> </a:t>
            </a:r>
            <a:r>
              <a:rPr lang="en-US" b="1" i="0" dirty="0" err="1">
                <a:solidFill>
                  <a:srgbClr val="404040"/>
                </a:solidFill>
                <a:effectLst/>
                <a:latin typeface="Inter"/>
              </a:rPr>
              <a:t>tác</a:t>
            </a:r>
            <a:r>
              <a:rPr lang="en-US" b="1" i="0" dirty="0">
                <a:solidFill>
                  <a:srgbClr val="404040"/>
                </a:solidFill>
                <a:effectLst/>
                <a:latin typeface="Inter"/>
              </a:rPr>
              <a:t> </a:t>
            </a:r>
            <a:r>
              <a:rPr lang="en-US" b="1" i="0" dirty="0" err="1">
                <a:solidFill>
                  <a:srgbClr val="404040"/>
                </a:solidFill>
                <a:effectLst/>
                <a:latin typeface="Inter"/>
              </a:rPr>
              <a:t>cơ</a:t>
            </a:r>
            <a:r>
              <a:rPr lang="en-US" b="1" i="0" dirty="0">
                <a:solidFill>
                  <a:srgbClr val="404040"/>
                </a:solidFill>
                <a:effectLst/>
                <a:latin typeface="Inter"/>
              </a:rPr>
              <a:t> </a:t>
            </a:r>
            <a:r>
              <a:rPr lang="en-US" b="1" i="0" dirty="0" err="1">
                <a:solidFill>
                  <a:srgbClr val="404040"/>
                </a:solidFill>
                <a:effectLst/>
                <a:latin typeface="Inter"/>
              </a:rPr>
              <a:t>bản</a:t>
            </a:r>
            <a:r>
              <a:rPr lang="en-US" b="1" i="0" dirty="0">
                <a:solidFill>
                  <a:srgbClr val="404040"/>
                </a:solidFill>
                <a:effectLst/>
                <a:latin typeface="Inter"/>
              </a:rPr>
              <a:t>:</a:t>
            </a:r>
          </a:p>
          <a:p>
            <a:pPr algn="l"/>
            <a:r>
              <a:rPr lang="en-US" b="0" i="0" dirty="0">
                <a:solidFill>
                  <a:srgbClr val="404040"/>
                </a:solidFill>
                <a:effectLst/>
                <a:latin typeface="Inter"/>
              </a:rPr>
              <a:t>PUT</a:t>
            </a:r>
          </a:p>
          <a:p>
            <a:pPr algn="l"/>
            <a:r>
              <a:rPr lang="en-US" b="0" i="0" dirty="0">
                <a:solidFill>
                  <a:srgbClr val="404040"/>
                </a:solidFill>
                <a:effectLst/>
                <a:latin typeface="Inter"/>
              </a:rPr>
              <a:t>GET</a:t>
            </a:r>
          </a:p>
          <a:p>
            <a:pPr algn="l"/>
            <a:r>
              <a:rPr lang="en-US" b="0" i="0" dirty="0">
                <a:solidFill>
                  <a:srgbClr val="404040"/>
                </a:solidFill>
                <a:effectLst/>
                <a:latin typeface="Inter"/>
              </a:rPr>
              <a:t>DELETE</a:t>
            </a:r>
          </a:p>
          <a:p>
            <a:pPr algn="l"/>
            <a:r>
              <a:rPr lang="en-US" b="0" i="0" dirty="0">
                <a:solidFill>
                  <a:srgbClr val="404040"/>
                </a:solidFill>
                <a:effectLst/>
                <a:latin typeface="Inter"/>
              </a:rPr>
              <a:t>POST</a:t>
            </a:r>
          </a:p>
          <a:p>
            <a:pPr algn="l"/>
            <a:endParaRPr lang="vi-VN" b="0" i="0" dirty="0">
              <a:solidFill>
                <a:srgbClr val="404040"/>
              </a:solidFill>
              <a:effectLst/>
              <a:latin typeface="Inter"/>
            </a:endParaRPr>
          </a:p>
          <a:p>
            <a:pPr algn="l"/>
            <a:r>
              <a:rPr lang="vi-VN" b="1" i="0" dirty="0">
                <a:solidFill>
                  <a:srgbClr val="404040"/>
                </a:solidFill>
                <a:effectLst/>
                <a:latin typeface="Inter"/>
              </a:rPr>
              <a:t>Lợi ích của kiến trúc RESTful</a:t>
            </a:r>
          </a:p>
          <a:p>
            <a:pPr algn="l">
              <a:buFont typeface="Arial" panose="020B0604020202020204" pitchFamily="34" charset="0"/>
              <a:buChar char="•"/>
            </a:pPr>
            <a:r>
              <a:rPr lang="vi-VN" b="1" i="0" dirty="0">
                <a:solidFill>
                  <a:srgbClr val="404040"/>
                </a:solidFill>
                <a:effectLst/>
                <a:latin typeface="Inter"/>
              </a:rPr>
              <a:t>Tính đơn giản (Simplicity):</a:t>
            </a:r>
            <a:br>
              <a:rPr lang="vi-VN" b="0" i="0" dirty="0">
                <a:solidFill>
                  <a:srgbClr val="404040"/>
                </a:solidFill>
                <a:effectLst/>
                <a:latin typeface="Inter"/>
              </a:rPr>
            </a:br>
            <a:r>
              <a:rPr lang="vi-VN" b="0" i="0" dirty="0">
                <a:solidFill>
                  <a:srgbClr val="404040"/>
                </a:solidFill>
                <a:effectLst/>
                <a:latin typeface="Inter"/>
              </a:rPr>
              <a:t>RESTful sử dụng các phương thức HTTP tiêu chuẩn và định dạng dữ liệu phổ biến như JSON, làm cho nó dễ hiểu và dễ triển khai.</a:t>
            </a:r>
          </a:p>
          <a:p>
            <a:pPr algn="l">
              <a:buFont typeface="Arial" panose="020B0604020202020204" pitchFamily="34" charset="0"/>
              <a:buChar char="•"/>
            </a:pPr>
            <a:r>
              <a:rPr lang="vi-VN" b="1" i="0" dirty="0">
                <a:solidFill>
                  <a:srgbClr val="404040"/>
                </a:solidFill>
                <a:effectLst/>
                <a:latin typeface="Inter"/>
              </a:rPr>
              <a:t>Khả năng mở rộng (Scalability):</a:t>
            </a:r>
            <a:br>
              <a:rPr lang="vi-VN" b="0" i="0" dirty="0">
                <a:solidFill>
                  <a:srgbClr val="404040"/>
                </a:solidFill>
                <a:effectLst/>
                <a:latin typeface="Inter"/>
              </a:rPr>
            </a:br>
            <a:r>
              <a:rPr lang="vi-VN" b="0" i="0" dirty="0">
                <a:solidFill>
                  <a:srgbClr val="404040"/>
                </a:solidFill>
                <a:effectLst/>
                <a:latin typeface="Inter"/>
              </a:rPr>
              <a:t>Việc không lưu trữ trạng thái (statelessness) giúp hệ thống dễ dàng mở rộng bằng cách thêm các máy chủ mới.</a:t>
            </a:r>
          </a:p>
          <a:p>
            <a:pPr algn="l">
              <a:buFont typeface="Arial" panose="020B0604020202020204" pitchFamily="34" charset="0"/>
              <a:buChar char="•"/>
            </a:pPr>
            <a:r>
              <a:rPr lang="vi-VN" b="1" i="0" dirty="0">
                <a:solidFill>
                  <a:srgbClr val="404040"/>
                </a:solidFill>
                <a:effectLst/>
                <a:latin typeface="Inter"/>
              </a:rPr>
              <a:t>Tính linh hoạt (Flexibility):</a:t>
            </a:r>
            <a:br>
              <a:rPr lang="vi-VN" b="0" i="0" dirty="0">
                <a:solidFill>
                  <a:srgbClr val="404040"/>
                </a:solidFill>
                <a:effectLst/>
                <a:latin typeface="Inter"/>
              </a:rPr>
            </a:br>
            <a:r>
              <a:rPr lang="vi-VN" b="0" i="0" dirty="0">
                <a:solidFill>
                  <a:srgbClr val="404040"/>
                </a:solidFill>
                <a:effectLst/>
                <a:latin typeface="Inter"/>
              </a:rPr>
              <a:t>RESTful cho phép các client khác nhau (như trình duyệt, ứng dụng di động, IoT devices) tương tác với cùng một dịch vụ một cách dễ dàng.</a:t>
            </a:r>
          </a:p>
          <a:p>
            <a:pPr algn="l">
              <a:buFont typeface="Arial" panose="020B0604020202020204" pitchFamily="34" charset="0"/>
              <a:buChar char="•"/>
            </a:pPr>
            <a:r>
              <a:rPr lang="vi-VN" b="1" i="0" dirty="0">
                <a:solidFill>
                  <a:srgbClr val="404040"/>
                </a:solidFill>
                <a:effectLst/>
                <a:latin typeface="Inter"/>
              </a:rPr>
              <a:t>Khả năng tái sử dụng (Reusability):</a:t>
            </a:r>
            <a:br>
              <a:rPr lang="vi-VN" b="0" i="0" dirty="0">
                <a:solidFill>
                  <a:srgbClr val="404040"/>
                </a:solidFill>
                <a:effectLst/>
                <a:latin typeface="Inter"/>
              </a:rPr>
            </a:br>
            <a:r>
              <a:rPr lang="vi-VN" b="0" i="0" dirty="0">
                <a:solidFill>
                  <a:srgbClr val="404040"/>
                </a:solidFill>
                <a:effectLst/>
                <a:latin typeface="Inter"/>
              </a:rPr>
              <a:t>Các tài nguyên và dịch vụ có thể được tái sử dụng trong nhiều ngữ cảnh khác nhau.</a:t>
            </a:r>
          </a:p>
          <a:p>
            <a:pPr algn="l"/>
            <a:r>
              <a:rPr lang="vi-VN" b="1" i="0" dirty="0">
                <a:solidFill>
                  <a:srgbClr val="404040"/>
                </a:solidFill>
                <a:effectLst/>
                <a:latin typeface="Inter"/>
              </a:rPr>
              <a:t>Kết luận</a:t>
            </a:r>
          </a:p>
          <a:p>
            <a:pPr algn="l"/>
            <a:r>
              <a:rPr lang="vi-VN" b="0" i="0" dirty="0">
                <a:solidFill>
                  <a:srgbClr val="404040"/>
                </a:solidFill>
                <a:effectLst/>
                <a:latin typeface="Inter"/>
              </a:rPr>
              <a:t>Kiến trúc RESTful là một cách tiếp cận hiệu quả để xây dựng các hệ thống phân tán, nơi các tài nguyên được quản lý thông qua các URI và các phương thức HTTP tiêu chuẩn. Với tính đơn giản, khả năng mở rộng và linh hoạt, RESTful trở thành một trong những kiến trúc phổ biến nhất trong phát triển các dịch vụ web hiện đại.</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10</a:t>
            </a:fld>
            <a:endParaRPr lang="en-US"/>
          </a:p>
        </p:txBody>
      </p:sp>
    </p:spTree>
    <p:extLst>
      <p:ext uri="{BB962C8B-B14F-4D97-AF65-F5344CB8AC3E}">
        <p14:creationId xmlns:p14="http://schemas.microsoft.com/office/powerpoint/2010/main" val="1014017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Để minh họa cách RESTful có thể hoạt động trong thực tế, hãy xem xét một dịch vụ lưu trữ đám mây, chẳng hạn như Amazon Simple Storage Service (Amazon S3). Amazon S3</a:t>
            </a:r>
            <a:r>
              <a:rPr lang="en-US" b="0" i="0" dirty="0">
                <a:solidFill>
                  <a:srgbClr val="404040"/>
                </a:solidFill>
                <a:effectLst/>
                <a:latin typeface="Inter"/>
              </a:rPr>
              <a:t> </a:t>
            </a:r>
            <a:r>
              <a:rPr lang="vi-VN" b="0" i="0" dirty="0">
                <a:solidFill>
                  <a:srgbClr val="404040"/>
                </a:solidFill>
                <a:effectLst/>
                <a:latin typeface="Inter"/>
              </a:rPr>
              <a:t>hỗ trợ chỉ hai loại tài nguyên: các đối tượng (objects), về cơ bản tương đương với các tệp tin, và các nhóm (buckets), tương đương với các thư mục. Không có khái niệm đặt các nhóm vào trong các nhóm khác. Một đối tượng có tên </a:t>
            </a:r>
            <a:r>
              <a:rPr lang="vi-VN" b="1" i="0" dirty="0">
                <a:solidFill>
                  <a:srgbClr val="404040"/>
                </a:solidFill>
                <a:effectLst/>
                <a:latin typeface="Inter"/>
              </a:rPr>
              <a:t>ObjectName</a:t>
            </a:r>
            <a:r>
              <a:rPr lang="vi-VN" b="0" i="0" dirty="0">
                <a:solidFill>
                  <a:srgbClr val="404040"/>
                </a:solidFill>
                <a:effectLst/>
                <a:latin typeface="Inter"/>
              </a:rPr>
              <a:t> chứa trong nhóm </a:t>
            </a:r>
            <a:r>
              <a:rPr lang="vi-VN" b="1" i="0" dirty="0">
                <a:solidFill>
                  <a:srgbClr val="404040"/>
                </a:solidFill>
                <a:effectLst/>
                <a:latin typeface="Inter"/>
              </a:rPr>
              <a:t>BucketName</a:t>
            </a:r>
            <a:r>
              <a:rPr lang="vi-VN" b="0" i="0" dirty="0">
                <a:solidFill>
                  <a:srgbClr val="404040"/>
                </a:solidFill>
                <a:effectLst/>
                <a:latin typeface="Inter"/>
              </a:rPr>
              <a:t> được tham chiếu bằng cách sử dụng định danh tài nguyên thống nhất (URI) sau:</a:t>
            </a:r>
            <a:endParaRPr lang="en-US" b="0" i="0" dirty="0">
              <a:solidFill>
                <a:srgbClr val="404040"/>
              </a:solidFill>
              <a:effectLst/>
              <a:latin typeface="Inter"/>
            </a:endParaRPr>
          </a:p>
          <a:p>
            <a:r>
              <a:rPr lang="en-US" i="1" dirty="0"/>
              <a:t>http://s3.amazonaws.com/BucketName/ObjectName</a:t>
            </a:r>
          </a:p>
          <a:p>
            <a:endParaRPr lang="en-US" i="1" dirty="0"/>
          </a:p>
          <a:p>
            <a:pPr algn="l"/>
            <a:r>
              <a:rPr lang="vi-VN" b="0" i="0" dirty="0">
                <a:solidFill>
                  <a:srgbClr val="404040"/>
                </a:solidFill>
                <a:effectLst/>
                <a:latin typeface="Inter"/>
              </a:rPr>
              <a:t>Để tạo một nhóm hoặc một đối tượng, một ứng dụng về cơ bản sẽ gửi một yêu cầu </a:t>
            </a:r>
            <a:r>
              <a:rPr lang="vi-VN" b="1" i="0" dirty="0">
                <a:solidFill>
                  <a:srgbClr val="404040"/>
                </a:solidFill>
                <a:effectLst/>
                <a:latin typeface="Inter"/>
              </a:rPr>
              <a:t>PUT</a:t>
            </a:r>
            <a:r>
              <a:rPr lang="vi-VN" b="0" i="0" dirty="0">
                <a:solidFill>
                  <a:srgbClr val="404040"/>
                </a:solidFill>
                <a:effectLst/>
                <a:latin typeface="Inter"/>
              </a:rPr>
              <a:t> với URI của nhóm/đối tượng đó. Về nguyên tắc, giao thức được sử dụng với dịch vụ này là HTTP. Nói cách khác, nó chỉ là một yêu cầu HTTP thông thường, sau đó sẽ được S3 diễn giải một cách chính xác. Nếu nhóm hoặc đối tượng đã tồn tại, một thông báo lỗi HTTP sẽ được trả về.</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Theo cách tương tự, để biết các đối tượng nào được chứa trong một nhóm, một ứng dụng sẽ gửi một yêu cầu </a:t>
            </a:r>
            <a:r>
              <a:rPr lang="vi-VN" b="1" i="0" dirty="0">
                <a:solidFill>
                  <a:srgbClr val="404040"/>
                </a:solidFill>
                <a:effectLst/>
                <a:latin typeface="Inter"/>
              </a:rPr>
              <a:t>GET</a:t>
            </a:r>
            <a:r>
              <a:rPr lang="vi-VN" b="0" i="0" dirty="0">
                <a:solidFill>
                  <a:srgbClr val="404040"/>
                </a:solidFill>
                <a:effectLst/>
                <a:latin typeface="Inter"/>
              </a:rPr>
              <a:t> với URI của nhóm đó. S3 sẽ trả về một danh sách các tên đối tượng, một lần nữa dưới dạng phản hồi HTTP thông thường.</a:t>
            </a:r>
            <a:endParaRPr lang="en-US" b="0" i="0" dirty="0">
              <a:solidFill>
                <a:srgbClr val="404040"/>
              </a:solidFill>
              <a:effectLst/>
              <a:latin typeface="Inter"/>
            </a:endParaRPr>
          </a:p>
          <a:p>
            <a:pPr algn="l"/>
            <a:endParaRPr lang="vi-VN" b="0" i="0" dirty="0">
              <a:solidFill>
                <a:srgbClr val="404040"/>
              </a:solidFill>
              <a:effectLst/>
              <a:latin typeface="Inter"/>
            </a:endParaRPr>
          </a:p>
          <a:p>
            <a:endParaRPr lang="en-US" i="1" dirty="0"/>
          </a:p>
        </p:txBody>
      </p:sp>
      <p:sp>
        <p:nvSpPr>
          <p:cNvPr id="4" name="Slide Number Placeholder 3"/>
          <p:cNvSpPr>
            <a:spLocks noGrp="1"/>
          </p:cNvSpPr>
          <p:nvPr>
            <p:ph type="sldNum" sz="quarter" idx="5"/>
          </p:nvPr>
        </p:nvSpPr>
        <p:spPr/>
        <p:txBody>
          <a:bodyPr/>
          <a:lstStyle/>
          <a:p>
            <a:fld id="{FA13772E-92BC-4DF5-A31C-A96E0BDD6752}" type="slidenum">
              <a:rPr lang="en-US" smtClean="0"/>
              <a:t>11</a:t>
            </a:fld>
            <a:endParaRPr lang="en-US"/>
          </a:p>
        </p:txBody>
      </p:sp>
    </p:spTree>
    <p:extLst>
      <p:ext uri="{BB962C8B-B14F-4D97-AF65-F5344CB8AC3E}">
        <p14:creationId xmlns:p14="http://schemas.microsoft.com/office/powerpoint/2010/main" val="260556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0" i="0" dirty="0">
                <a:solidFill>
                  <a:srgbClr val="404040"/>
                </a:solidFill>
                <a:effectLst/>
                <a:latin typeface="Inter"/>
              </a:rPr>
              <a:t>Kiến trúc RESTful đã trở nên phổ biến nhờ tính đơn giản của nó. Tuy nhiên, có nhiều tranh luận về việc liệu các dịch vụ RESTful có tốt hơn so với các dịch vụ được xác định thông qua các giao diện dịch vụ cụ thể hay không. </a:t>
            </a:r>
            <a:r>
              <a:rPr lang="en-US" b="0" i="0" dirty="0" err="1">
                <a:solidFill>
                  <a:srgbClr val="404040"/>
                </a:solidFill>
                <a:effectLst/>
                <a:latin typeface="Inter"/>
              </a:rPr>
              <a:t>Câu</a:t>
            </a:r>
            <a:r>
              <a:rPr lang="en-US" b="0" i="0" dirty="0">
                <a:solidFill>
                  <a:srgbClr val="404040"/>
                </a:solidFill>
                <a:effectLst/>
                <a:latin typeface="Inter"/>
              </a:rPr>
              <a:t> </a:t>
            </a:r>
            <a:r>
              <a:rPr lang="en-US" b="0" i="0" dirty="0" err="1">
                <a:solidFill>
                  <a:srgbClr val="404040"/>
                </a:solidFill>
                <a:effectLst/>
                <a:latin typeface="Inter"/>
              </a:rPr>
              <a:t>trả</a:t>
            </a:r>
            <a:r>
              <a:rPr lang="en-US" b="0" i="0" dirty="0">
                <a:solidFill>
                  <a:srgbClr val="404040"/>
                </a:solidFill>
                <a:effectLst/>
                <a:latin typeface="Inter"/>
              </a:rPr>
              <a:t> </a:t>
            </a:r>
            <a:r>
              <a:rPr lang="en-US" b="0" i="0" dirty="0" err="1">
                <a:solidFill>
                  <a:srgbClr val="404040"/>
                </a:solidFill>
                <a:effectLst/>
                <a:latin typeface="Inter"/>
              </a:rPr>
              <a:t>lời</a:t>
            </a:r>
            <a:r>
              <a:rPr lang="en-US" b="0" i="0" dirty="0">
                <a:solidFill>
                  <a:srgbClr val="404040"/>
                </a:solidFill>
                <a:effectLst/>
                <a:latin typeface="Inter"/>
              </a:rPr>
              <a:t> </a:t>
            </a:r>
            <a:r>
              <a:rPr lang="en-US" b="0" i="0" dirty="0" err="1">
                <a:solidFill>
                  <a:srgbClr val="404040"/>
                </a:solidFill>
                <a:effectLst/>
                <a:latin typeface="Inter"/>
              </a:rPr>
              <a:t>là</a:t>
            </a:r>
            <a:r>
              <a:rPr lang="en-US" b="0" i="0" dirty="0">
                <a:solidFill>
                  <a:srgbClr val="404040"/>
                </a:solidFill>
                <a:effectLst/>
                <a:latin typeface="Inter"/>
              </a:rPr>
              <a:t> </a:t>
            </a:r>
            <a:r>
              <a:rPr lang="vi-VN" b="0" i="0" dirty="0">
                <a:solidFill>
                  <a:srgbClr val="404040"/>
                </a:solidFill>
                <a:effectLst/>
                <a:latin typeface="Inter"/>
              </a:rPr>
              <a:t>cả hai đều có những ưu điểm và nhược điểm riêng. Đặc biệt, sự đơn giản của kiến trúc RESTful có thể dễ dàng ngăn cản các giải pháp đơn giản cho các kịch bản giao tiếp phức tạp. Một ví dụ là khi cần các giao dịch phân tán (distributed transactions), điều này thường yêu cầu các dịch vụ theo dõi trạng thái thực thi. Mặt khác, có nhiều ví dụ trong đó kiến trúc RESTful hoàn toàn phù hợp với một kế hoạch tích hợp đơn giản các dịch vụ, trong khi vô số giao diện dịch vụ sẽ làm phức tạp hóa vấn đề.</a:t>
            </a:r>
            <a:endParaRPr lang="en-US" b="0" i="0" dirty="0">
              <a:solidFill>
                <a:srgbClr val="40404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40404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b="0" i="0" dirty="0">
                <a:solidFill>
                  <a:srgbClr val="404040"/>
                </a:solidFill>
                <a:effectLst/>
                <a:latin typeface="Inter"/>
              </a:rPr>
              <a:t>Để hiểu rõ hơn tại sao nhiều người lại quan tâm đến vấn đề này, chúng ta hãy xem xét kỹ hơn dịch vụ Amazon S3, dịch vụ này cung cấp cả giao diện REST lẫn một giao diện truyền thống hơn (được gọi là giao diện SOAP).</a:t>
            </a:r>
          </a:p>
          <a:p>
            <a:endParaRPr lang="en-US" dirty="0"/>
          </a:p>
          <a:p>
            <a:r>
              <a:rPr lang="vi-VN" b="0" i="0" dirty="0">
                <a:solidFill>
                  <a:srgbClr val="404040"/>
                </a:solidFill>
                <a:effectLst/>
                <a:latin typeface="Inter"/>
              </a:rPr>
              <a:t>Giao diện SOAP bao gồm khoảng 16 thao tác, được liệt kê trong </a:t>
            </a:r>
            <a:r>
              <a:rPr lang="en-US" b="0" i="0" dirty="0" err="1">
                <a:solidFill>
                  <a:srgbClr val="404040"/>
                </a:solidFill>
                <a:effectLst/>
                <a:latin typeface="Inter"/>
              </a:rPr>
              <a:t>bảng</a:t>
            </a:r>
            <a:r>
              <a:rPr lang="en-US" b="0" i="0" dirty="0">
                <a:solidFill>
                  <a:srgbClr val="404040"/>
                </a:solidFill>
                <a:effectLst/>
                <a:latin typeface="Inter"/>
              </a:rPr>
              <a:t> </a:t>
            </a:r>
            <a:r>
              <a:rPr lang="en-US" b="0" i="0" dirty="0" err="1">
                <a:solidFill>
                  <a:srgbClr val="404040"/>
                </a:solidFill>
                <a:effectLst/>
                <a:latin typeface="Inter"/>
              </a:rPr>
              <a:t>trên</a:t>
            </a:r>
            <a:r>
              <a:rPr lang="vi-VN" b="0" i="0" dirty="0">
                <a:solidFill>
                  <a:srgbClr val="404040"/>
                </a:solidFill>
                <a:effectLst/>
                <a:latin typeface="Inter"/>
              </a:rPr>
              <a:t>. Tuy nhiên, nếu chúng ta truy cập Amazon S3 bằng thư viện Python boto, chúng ta sẽ có gần 50 thao tác khả dụng. Ngược lại, giao diện REST chỉ cung cấp rất ít thao tác, chủ yếu là </a:t>
            </a:r>
            <a:r>
              <a:rPr lang="en-US" b="0" i="0" dirty="0">
                <a:solidFill>
                  <a:srgbClr val="404040"/>
                </a:solidFill>
                <a:effectLst/>
                <a:latin typeface="Inter"/>
              </a:rPr>
              <a:t>PUT, GET, DELETE, POST</a:t>
            </a:r>
            <a:r>
              <a:rPr lang="vi-VN" b="0" i="0" dirty="0">
                <a:solidFill>
                  <a:srgbClr val="404040"/>
                </a:solidFill>
                <a:effectLst/>
                <a:latin typeface="Inter"/>
              </a:rPr>
              <a:t>. Những khác biệt này đến từ đâu? Câu trả lời, tất nhiên, nằm trong không gian tham số. Trong trường hợp kiến trúc RESTful, một ứng dụng sẽ cần cung cấp tất cả những gì nó muốn thông qua các tham số mà nó truyền qua một trong các thao tác. Trong giao diện SOAP của Amazon, số lượng tham số cho mỗi thao tác thường bị giới hạn, và điều này chắc chắn đúng nếu chúng ta sử dụng thư viện Python boto.</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12</a:t>
            </a:fld>
            <a:endParaRPr lang="en-US"/>
          </a:p>
        </p:txBody>
      </p:sp>
    </p:spTree>
    <p:extLst>
      <p:ext uri="{BB962C8B-B14F-4D97-AF65-F5344CB8AC3E}">
        <p14:creationId xmlns:p14="http://schemas.microsoft.com/office/powerpoint/2010/main" val="2714131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Giữ vững các nguyên tắc (để tránh những phức tạp của mã thực tế), giả sử chúng ta có một giao diện </a:t>
            </a:r>
            <a:r>
              <a:rPr lang="vi-VN" b="1" dirty="0"/>
              <a:t>bucket</a:t>
            </a:r>
            <a:r>
              <a:rPr lang="vi-VN" dirty="0"/>
              <a:t> cung cấp một thao tác </a:t>
            </a:r>
            <a:r>
              <a:rPr lang="vi-VN" b="1" dirty="0"/>
              <a:t>create</a:t>
            </a:r>
            <a:r>
              <a:rPr lang="vi-VN" dirty="0"/>
              <a:t>, yêu cầu một chuỗi đầu vào, chẳng hạn như "mybucket", để tạo một bucket với tên </a:t>
            </a:r>
            <a:r>
              <a:rPr lang="vi-VN" b="1" dirty="0"/>
              <a:t>"mybucket"</a:t>
            </a:r>
            <a:r>
              <a:rPr lang="vi-VN" dirty="0"/>
              <a:t>.</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13</a:t>
            </a:fld>
            <a:endParaRPr lang="en-US"/>
          </a:p>
        </p:txBody>
      </p:sp>
    </p:spTree>
    <p:extLst>
      <p:ext uri="{BB962C8B-B14F-4D97-AF65-F5344CB8AC3E}">
        <p14:creationId xmlns:p14="http://schemas.microsoft.com/office/powerpoint/2010/main" val="4167640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Thông thường, thao tác này sẽ được gọi như sau: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spc="65" dirty="0">
                <a:latin typeface="Times New Roman"/>
                <a:cs typeface="Times New Roman"/>
              </a:rPr>
              <a:t>import</a:t>
            </a:r>
            <a:r>
              <a:rPr lang="en-US" sz="1200" i="1" spc="70" dirty="0">
                <a:latin typeface="Times New Roman"/>
                <a:cs typeface="Times New Roman"/>
              </a:rPr>
              <a:t> </a:t>
            </a:r>
            <a:r>
              <a:rPr lang="en-US" sz="1200" i="1" spc="75" dirty="0">
                <a:latin typeface="Times New Roman"/>
                <a:cs typeface="Times New Roman"/>
              </a:rPr>
              <a:t>bucket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spc="-5" dirty="0" err="1">
                <a:latin typeface="Times New Roman"/>
                <a:cs typeface="Times New Roman"/>
              </a:rPr>
              <a:t>bu</a:t>
            </a:r>
            <a:r>
              <a:rPr lang="en-US" sz="1200" i="1" spc="50" dirty="0" err="1">
                <a:latin typeface="Times New Roman"/>
                <a:cs typeface="Times New Roman"/>
              </a:rPr>
              <a:t>cke</a:t>
            </a:r>
            <a:r>
              <a:rPr lang="en-US" sz="1200" i="1" spc="215" dirty="0" err="1">
                <a:latin typeface="Times New Roman"/>
                <a:cs typeface="Times New Roman"/>
              </a:rPr>
              <a:t>t</a:t>
            </a:r>
            <a:r>
              <a:rPr lang="en-US" sz="1200" i="1" spc="245" dirty="0" err="1">
                <a:latin typeface="Times New Roman"/>
                <a:cs typeface="Times New Roman"/>
              </a:rPr>
              <a:t>.</a:t>
            </a:r>
            <a:r>
              <a:rPr lang="en-US" sz="1200" i="1" spc="50" dirty="0" err="1">
                <a:latin typeface="Times New Roman"/>
                <a:cs typeface="Times New Roman"/>
              </a:rPr>
              <a:t>c</a:t>
            </a:r>
            <a:r>
              <a:rPr lang="en-US" sz="1200" i="1" spc="105" dirty="0" err="1">
                <a:latin typeface="Times New Roman"/>
                <a:cs typeface="Times New Roman"/>
              </a:rPr>
              <a:t>r</a:t>
            </a:r>
            <a:r>
              <a:rPr lang="en-US" sz="1200" i="1" spc="50" dirty="0" err="1">
                <a:latin typeface="Times New Roman"/>
                <a:cs typeface="Times New Roman"/>
              </a:rPr>
              <a:t>e</a:t>
            </a:r>
            <a:r>
              <a:rPr lang="en-US" sz="1200" i="1" spc="-5" dirty="0" err="1">
                <a:latin typeface="Times New Roman"/>
                <a:cs typeface="Times New Roman"/>
              </a:rPr>
              <a:t>a</a:t>
            </a:r>
            <a:r>
              <a:rPr lang="en-US" sz="1200" i="1" spc="215" dirty="0" err="1">
                <a:latin typeface="Times New Roman"/>
                <a:cs typeface="Times New Roman"/>
              </a:rPr>
              <a:t>t</a:t>
            </a:r>
            <a:r>
              <a:rPr lang="en-US" sz="1200" i="1" spc="50" dirty="0" err="1">
                <a:latin typeface="Times New Roman"/>
                <a:cs typeface="Times New Roman"/>
              </a:rPr>
              <a:t>e</a:t>
            </a:r>
            <a:r>
              <a:rPr lang="en-US" sz="1200" i="1" spc="160" dirty="0">
                <a:latin typeface="Times New Roman"/>
                <a:cs typeface="Times New Roman"/>
              </a:rPr>
              <a:t>(</a:t>
            </a:r>
            <a:r>
              <a:rPr lang="en-US" sz="1200" i="1" spc="75" dirty="0">
                <a:latin typeface="Times New Roman"/>
                <a:cs typeface="Times New Roman"/>
              </a:rPr>
              <a:t>"</a:t>
            </a:r>
            <a:r>
              <a:rPr lang="en-US" sz="1200" i="1" spc="-225" dirty="0" err="1">
                <a:latin typeface="Times New Roman"/>
                <a:cs typeface="Times New Roman"/>
              </a:rPr>
              <a:t>m</a:t>
            </a:r>
            <a:r>
              <a:rPr lang="en-US" sz="1200" i="1" spc="50" dirty="0" err="1">
                <a:latin typeface="Times New Roman"/>
                <a:cs typeface="Times New Roman"/>
              </a:rPr>
              <a:t>y</a:t>
            </a:r>
            <a:r>
              <a:rPr lang="en-US" sz="1200" i="1" spc="-5" dirty="0" err="1">
                <a:latin typeface="Times New Roman"/>
                <a:cs typeface="Times New Roman"/>
              </a:rPr>
              <a:t>bu</a:t>
            </a:r>
            <a:r>
              <a:rPr lang="en-US" sz="1200" i="1" spc="50" dirty="0" err="1">
                <a:latin typeface="Times New Roman"/>
                <a:cs typeface="Times New Roman"/>
              </a:rPr>
              <a:t>cke</a:t>
            </a:r>
            <a:r>
              <a:rPr lang="en-US" sz="1200" i="1" spc="215" dirty="0" err="1">
                <a:latin typeface="Times New Roman"/>
                <a:cs typeface="Times New Roman"/>
              </a:rPr>
              <a:t>t</a:t>
            </a:r>
            <a:r>
              <a:rPr lang="en-US" sz="1200" i="1" spc="75" dirty="0">
                <a:latin typeface="Times New Roman"/>
                <a:cs typeface="Times New Roman"/>
              </a:rPr>
              <a:t>"</a:t>
            </a:r>
            <a:r>
              <a:rPr lang="en-US" sz="1200" i="1" spc="260" dirty="0">
                <a:latin typeface="Times New Roman"/>
                <a:cs typeface="Times New Roman"/>
              </a:rPr>
              <a:t>)</a:t>
            </a:r>
            <a:endParaRPr lang="en-US" sz="1200" dirty="0">
              <a:latin typeface="Times New Roman"/>
              <a:cs typeface="Times New Roman"/>
            </a:endParaRPr>
          </a:p>
          <a:p>
            <a:endParaRPr lang="vi-VN" dirty="0"/>
          </a:p>
        </p:txBody>
      </p:sp>
      <p:sp>
        <p:nvSpPr>
          <p:cNvPr id="4" name="Slide Number Placeholder 3"/>
          <p:cNvSpPr>
            <a:spLocks noGrp="1"/>
          </p:cNvSpPr>
          <p:nvPr>
            <p:ph type="sldNum" sz="quarter" idx="5"/>
          </p:nvPr>
        </p:nvSpPr>
        <p:spPr/>
        <p:txBody>
          <a:bodyPr/>
          <a:lstStyle/>
          <a:p>
            <a:fld id="{FA13772E-92BC-4DF5-A31C-A96E0BDD6752}" type="slidenum">
              <a:rPr lang="en-US" smtClean="0"/>
              <a:t>14</a:t>
            </a:fld>
            <a:endParaRPr lang="en-US"/>
          </a:p>
        </p:txBody>
      </p:sp>
    </p:spTree>
    <p:extLst>
      <p:ext uri="{BB962C8B-B14F-4D97-AF65-F5344CB8AC3E}">
        <p14:creationId xmlns:p14="http://schemas.microsoft.com/office/powerpoint/2010/main" val="202931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Tuy nhiên, trong một kiến trúc RESTful, lời gọi này sẽ cần được mã hóa dưới dạng một chuỗi duy nhất, chẳng hạn như:</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spc="-100" dirty="0">
                <a:latin typeface="Times New Roman"/>
                <a:cs typeface="Times New Roman"/>
              </a:rPr>
              <a:t>PUT</a:t>
            </a:r>
            <a:r>
              <a:rPr lang="en-US" sz="1200" i="1" spc="10" dirty="0">
                <a:latin typeface="Times New Roman"/>
                <a:cs typeface="Times New Roman"/>
              </a:rPr>
              <a:t> </a:t>
            </a:r>
            <a:r>
              <a:rPr lang="en-US" sz="1200" i="1" spc="65" dirty="0">
                <a:latin typeface="Times New Roman"/>
                <a:cs typeface="Times New Roman"/>
              </a:rPr>
              <a:t>"</a:t>
            </a:r>
            <a:r>
              <a:rPr lang="en-US" sz="1200" i="1" spc="65" dirty="0">
                <a:latin typeface="Times New Roman"/>
                <a:cs typeface="Times New Roman"/>
                <a:hlinkClick r:id="rId3"/>
              </a:rPr>
              <a:t>http://mybucket.s3.amazonsws.com/</a:t>
            </a:r>
            <a:r>
              <a:rPr lang="en-US" sz="1200" i="1" spc="65" dirty="0">
                <a:latin typeface="Times New Roman"/>
                <a:cs typeface="Times New Roman"/>
              </a:rPr>
              <a:t>"</a:t>
            </a:r>
            <a:endParaRPr lang="en-US" sz="1200" dirty="0">
              <a:latin typeface="Times New Roman"/>
              <a:cs typeface="Times New Roman"/>
            </a:endParaRP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15</a:t>
            </a:fld>
            <a:endParaRPr lang="en-US"/>
          </a:p>
        </p:txBody>
      </p:sp>
    </p:spTree>
    <p:extLst>
      <p:ext uri="{BB962C8B-B14F-4D97-AF65-F5344CB8AC3E}">
        <p14:creationId xmlns:p14="http://schemas.microsoft.com/office/powerpoint/2010/main" val="2843837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Sự khác biệt là rất rõ ràng.</a:t>
            </a:r>
          </a:p>
          <a:p>
            <a:r>
              <a:rPr lang="vi-VN" dirty="0"/>
              <a:t>Ví dụ, trong trường hợp đầu tiên, nhiều lỗi cú pháp có thể được phát hiện ngay trong quá trình biên dịch, trong khi ở trường hợp thứ hai, việc kiểm tra phải hoãn lại đến thời gian chạy.</a:t>
            </a:r>
          </a:p>
          <a:p>
            <a:r>
              <a:rPr lang="vi-VN" dirty="0"/>
              <a:t>Thứ hai, có thể lập luận rằng việc xác định ngữ nghĩa của một thao tác trở nên dễ dàng hơn khi sử dụng các giao diện cụ thể so với khi chỉ có các thao tác chung chung.</a:t>
            </a:r>
          </a:p>
          <a:p>
            <a:r>
              <a:rPr lang="vi-VN" dirty="0"/>
              <a:t>Mặt khác, với các thao tác chung chung, việc thích ứng với các thay đổi sẽ dễ dàng hơn nhiều, vì thông thường chỉ cần thay đổi cách bố trí chuỗi mã hóa những gì thực sự được yêu cầu.</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16</a:t>
            </a:fld>
            <a:endParaRPr lang="en-US"/>
          </a:p>
        </p:txBody>
      </p:sp>
    </p:spTree>
    <p:extLst>
      <p:ext uri="{BB962C8B-B14F-4D97-AF65-F5344CB8AC3E}">
        <p14:creationId xmlns:p14="http://schemas.microsoft.com/office/powerpoint/2010/main" val="462701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Kiến trúc xuất bản - đăng ký (Publish-Subscribe)</a:t>
            </a:r>
          </a:p>
          <a:p>
            <a:endParaRPr lang="en-US" dirty="0"/>
          </a:p>
          <a:p>
            <a:r>
              <a:rPr lang="vi-VN" dirty="0"/>
              <a:t>Khi các hệ thống tiếp tục phát triển và các tiến trình có thể dễ dàng tham gia hoặc rời khỏi hệ thống, việc thiết kế một kiến trúc sao cho sự phụ thuộc giữa các tiến trình trở nên lỏng lẻo nhất có thể trở nên quan trọng. Một lớp lớn của các hệ thống phân tán đã áp dụng một kiến trúc trong đó có sự phân tách mạnh mẽ giữa xử lý và điều phối. Ý tưởng là xem một hệ thống như một tập hợp các tiến trình hoạt động một cách tự chủ. Trong mô hình này, điều phối bao gồm sự giao tiếp và hợp tác giữa các tiến trình. Nó đóng vai trò là chất kết dính, gắn kết các hoạt động do các tiến trình thực hiện thành một thể thống nhất.</a:t>
            </a:r>
          </a:p>
          <a:p>
            <a:endParaRPr lang="en-US" dirty="0"/>
          </a:p>
          <a:p>
            <a:r>
              <a:rPr lang="vi-VN" dirty="0"/>
              <a:t>Cabri và cộng sự [2000] đã đưa ra một phân loại các mô hình điều phối có thể áp dụng cho nhiều loại hệ thống phân tán khác nhau. Điều chỉnh một chút thuật ngữ của họ, chúng ta phân biệt các mô hình theo hai chiều khác nhau: </a:t>
            </a:r>
            <a:r>
              <a:rPr lang="vi-VN" b="1" dirty="0"/>
              <a:t>thời gian</a:t>
            </a:r>
            <a:r>
              <a:rPr lang="vi-VN" dirty="0"/>
              <a:t> (temporal) và </a:t>
            </a:r>
            <a:r>
              <a:rPr lang="vi-VN" b="1" dirty="0"/>
              <a:t>tham chiếu</a:t>
            </a:r>
            <a:r>
              <a:rPr lang="vi-VN" dirty="0"/>
              <a:t> (referential), như thể hiện trong </a:t>
            </a:r>
            <a:r>
              <a:rPr lang="en-US" dirty="0" err="1"/>
              <a:t>Bảng</a:t>
            </a:r>
            <a:r>
              <a:rPr lang="en-US" dirty="0"/>
              <a:t> so </a:t>
            </a:r>
            <a:r>
              <a:rPr lang="en-US" dirty="0" err="1"/>
              <a:t>sánh</a:t>
            </a:r>
            <a:r>
              <a:rPr lang="vi-VN" dirty="0"/>
              <a:t>.</a:t>
            </a:r>
            <a:endParaRPr lang="en-US" dirty="0"/>
          </a:p>
          <a:p>
            <a:endParaRPr lang="vi-VN" dirty="0"/>
          </a:p>
          <a:p>
            <a:r>
              <a:rPr lang="vi-VN" dirty="0"/>
              <a:t>Khi các tiến trình gắn kết cả về thời gian và tham chiếu, sự điều phối diễn ra theo cách trực tiếp, được gọi là </a:t>
            </a:r>
            <a:r>
              <a:rPr lang="vi-VN" b="1" dirty="0"/>
              <a:t>điều phối trực tiếp</a:t>
            </a:r>
            <a:r>
              <a:rPr lang="vi-VN" dirty="0"/>
              <a:t> (direct coordination). Sự gắn kết tham chiếu thường xuất hiện dưới dạng tham chiếu tường minh trong giao tiếp. Ví dụ, một tiến trình chỉ có thể giao tiếp nếu nó biết tên hoặc định danh của các tiến trình khác mà nó muốn trao đổi thông tin. Sự gắn kết thời gian có nghĩa là các tiến trình đang giao tiếp phải cùng hoạt động tại một thời điểm. Trong thực tế, nói chuyện qua điện thoại di động (giả sử mỗi điện thoại chỉ có một chủ sở hữu) là một ví dụ về giao tiếp trực tiếp.</a:t>
            </a:r>
            <a:endParaRPr lang="en-US" dirty="0"/>
          </a:p>
          <a:p>
            <a:endParaRPr lang="vi-VN" dirty="0"/>
          </a:p>
          <a:p>
            <a:r>
              <a:rPr lang="vi-VN" dirty="0"/>
              <a:t>Một loại điều phối khác xảy ra khi các tiến trình không gắn kết về thời gian nhưng vẫn gắn kết về tham chiếu, được gọi là </a:t>
            </a:r>
            <a:r>
              <a:rPr lang="vi-VN" b="1" dirty="0"/>
              <a:t>điều phối qua hộp thư</a:t>
            </a:r>
            <a:r>
              <a:rPr lang="vi-VN" dirty="0"/>
              <a:t> (mailbox coordination). Trong trường hợp này, không cần hai tiến trình đang giao tiếp phải chạy cùng lúc để việc truyền thông diễn ra. Thay vào đó, thông tin liên lạc được thực hiện bằng cách đặt tin nhắn vào một hộp thư (có thể được chia sẻ). Tuy nhiên, do cần phải chỉ định rõ hộp thư nào sẽ chứa các tin nhắn được trao đổi, nên vẫn có sự gắn kết tham chiếu.</a:t>
            </a:r>
            <a:endParaRPr lang="en-US" dirty="0"/>
          </a:p>
          <a:p>
            <a:endParaRPr lang="vi-VN" dirty="0"/>
          </a:p>
          <a:p>
            <a:r>
              <a:rPr lang="vi-VN" dirty="0"/>
              <a:t>Khi các hệ thống được tách rời về mặt tham chiếu nhưng vẫn gắn kết về thời gian, chúng thuộc nhóm mô hình </a:t>
            </a:r>
            <a:r>
              <a:rPr lang="vi-VN" b="1" dirty="0"/>
              <a:t>điều phối dựa trên sự kiện</a:t>
            </a:r>
            <a:r>
              <a:rPr lang="vi-VN" dirty="0"/>
              <a:t> (event-based coordination). Trong các hệ thống tách rời về tham chiếu, các tiến trình không biết đến nhau một cách tường minh. Điều duy nhất mà một tiến trình có thể làm là </a:t>
            </a:r>
            <a:r>
              <a:rPr lang="vi-VN" b="1" dirty="0"/>
              <a:t>xuất bản (publish) một thông báo</a:t>
            </a:r>
            <a:r>
              <a:rPr lang="vi-VN" dirty="0"/>
              <a:t> mô tả sự xuất hiện của một sự kiện (ví dụ: tiến trình muốn phối hợp hoạt động hoặc vừa tạo ra một kết quả quan trọng). Giả sử có nhiều loại thông báo khác nhau, các tiến trình có thể </a:t>
            </a:r>
            <a:r>
              <a:rPr lang="vi-VN" b="1" dirty="0"/>
              <a:t>đăng ký (subscribe)</a:t>
            </a:r>
            <a:r>
              <a:rPr lang="vi-VN" dirty="0"/>
              <a:t> nhận một loại thông báo cụ thể. Trong một mô hình điều phối dựa trên sự kiện lý tưởng, một thông báo được xuất bản sẽ chỉ được gửi đến các tiến trình đã đăng ký nó. Tuy nhiên, thông thường vẫn cần tiến trình đăng ký phải đang hoạt động vào thời điểm thông báo được xuất bản.</a:t>
            </a:r>
            <a:endParaRPr lang="en-US" dirty="0"/>
          </a:p>
          <a:p>
            <a:r>
              <a:rPr lang="en-US" dirty="0"/>
              <a:t>---------</a:t>
            </a:r>
            <a:endParaRPr lang="vi-VN" dirty="0"/>
          </a:p>
          <a:p>
            <a:r>
              <a:rPr lang="vi-VN" dirty="0"/>
              <a:t>Một mô hình điều phối phổ biến khác là khi cả </a:t>
            </a:r>
            <a:r>
              <a:rPr lang="vi-VN" b="1" dirty="0"/>
              <a:t>tham chiếu và thời gian đều không gắn kết</a:t>
            </a:r>
            <a:r>
              <a:rPr lang="vi-VN" dirty="0"/>
              <a:t>, dẫn đến mô hình </a:t>
            </a:r>
            <a:r>
              <a:rPr lang="vi-VN" b="1" dirty="0"/>
              <a:t>không gian dữ liệu chia sẻ (shared data space)</a:t>
            </a:r>
            <a:r>
              <a:rPr lang="vi-VN" dirty="0"/>
              <a:t>. Ý tưởng chính là các tiến trình giao tiếp hoàn toàn thông qua </a:t>
            </a:r>
            <a:r>
              <a:rPr lang="vi-VN" b="1" dirty="0"/>
              <a:t>bộ dữ liệu kiểu tuple</a:t>
            </a:r>
            <a:r>
              <a:rPr lang="vi-VN" dirty="0"/>
              <a:t>—các bản ghi dữ liệu có cấu trúc bao gồm nhiều trường, rất giống với một hàng trong bảng cơ sở dữ liệu. Các tiến trình có thể đặt bất kỳ loại tuple nào vào không gian dữ liệu chia sẻ. Để truy xuất một tuple, một tiến trình cung cấp một mẫu tìm kiếm để so khớp với các tuple. Bất kỳ tuple nào khớp với mẫu đó sẽ được trả về.</a:t>
            </a:r>
            <a:endParaRPr lang="en-US" dirty="0"/>
          </a:p>
          <a:p>
            <a:endParaRPr lang="vi-VN" dirty="0"/>
          </a:p>
          <a:p>
            <a:r>
              <a:rPr lang="vi-VN" dirty="0"/>
              <a:t>Không gian dữ liệu chia sẻ được coi là một </a:t>
            </a:r>
            <a:r>
              <a:rPr lang="vi-VN" b="1" dirty="0"/>
              <a:t>cơ chế tìm kiếm liên kết</a:t>
            </a:r>
            <a:r>
              <a:rPr lang="vi-VN" dirty="0"/>
              <a:t> (associative search) cho các tuple. Khi một tiến trình muốn lấy một tuple từ không gian dữ liệu, nó chỉ định (một phần) các giá trị của các trường mà nó quan tâm. Bất kỳ tuple nào khớp với yêu cầu đó sẽ được xóa khỏi không gian dữ liệu và chuyển đến tiến trình yêu cầu.</a:t>
            </a:r>
            <a:endParaRPr lang="en-US" dirty="0"/>
          </a:p>
          <a:p>
            <a:endParaRPr lang="vi-VN" dirty="0"/>
          </a:p>
          <a:p>
            <a:r>
              <a:rPr lang="vi-VN" dirty="0"/>
              <a:t>Không gian dữ liệu chia sẻ thường được kết hợp với điều phối dựa trên sự kiện: một tiến trình đăng ký nhận các tuple nhất định bằng cách cung cấp một mẫu tìm kiếm; khi một tiến trình khác chèn một tuple vào không gian dữ liệu, các tiến trình đăng ký khớp với nó sẽ được thông báo.</a:t>
            </a:r>
            <a:endParaRPr lang="en-US" dirty="0"/>
          </a:p>
          <a:p>
            <a:endParaRPr lang="vi-VN" dirty="0"/>
          </a:p>
          <a:p>
            <a:r>
              <a:rPr lang="vi-VN" dirty="0"/>
              <a:t>Trong cả hai trường hợp trên, chúng ta đều đang xử lý một </a:t>
            </a:r>
            <a:r>
              <a:rPr lang="vi-VN" b="1" dirty="0"/>
              <a:t>kiến trúc xuất bản - đăng ký (publish-subscribe)</a:t>
            </a:r>
            <a:r>
              <a:rPr lang="vi-VN" dirty="0"/>
              <a:t>. Điểm đặc trưng quan trọng nhất của kiến trúc này là các tiến trình không có tham chiếu tường minh đến nhau.</a:t>
            </a:r>
            <a:endParaRPr lang="en-US" dirty="0"/>
          </a:p>
          <a:p>
            <a:endParaRPr lang="vi-VN" dirty="0"/>
          </a:p>
          <a:p>
            <a:r>
              <a:rPr lang="vi-VN" dirty="0"/>
              <a:t>Sự khác biệt giữa một </a:t>
            </a:r>
            <a:r>
              <a:rPr lang="vi-VN" b="1" dirty="0"/>
              <a:t>kiến trúc thuần túy dựa trên sự kiện</a:t>
            </a:r>
            <a:r>
              <a:rPr lang="vi-VN" dirty="0"/>
              <a:t> và </a:t>
            </a:r>
            <a:r>
              <a:rPr lang="vi-VN" b="1" dirty="0"/>
              <a:t>một kiến trúc dựa trên không gian dữ liệu chia sẻ</a:t>
            </a:r>
            <a:r>
              <a:rPr lang="vi-VN" dirty="0"/>
              <a:t> được thể hiện trong Hình </a:t>
            </a:r>
            <a:r>
              <a:rPr lang="en-US" dirty="0" err="1"/>
              <a:t>dưới</a:t>
            </a:r>
            <a:r>
              <a:rPr lang="vi-VN" dirty="0"/>
              <a:t>. Ngoài ra, chúng t</a:t>
            </a:r>
            <a:r>
              <a:rPr lang="en-US" dirty="0"/>
              <a:t>a</a:t>
            </a:r>
            <a:r>
              <a:rPr lang="vi-VN" dirty="0"/>
              <a:t> cũng minh họa một </a:t>
            </a:r>
            <a:r>
              <a:rPr lang="vi-VN" b="1" dirty="0"/>
              <a:t>cơ chế trừu tượng để kết nối nhà xuất bản (publisher) và người đăng ký (subscriber)</a:t>
            </a:r>
            <a:r>
              <a:rPr lang="vi-VN" dirty="0"/>
              <a:t>, được gọi là </a:t>
            </a:r>
            <a:r>
              <a:rPr lang="vi-VN" b="1" dirty="0"/>
              <a:t>bus sự kiện (event bus)</a:t>
            </a:r>
            <a:r>
              <a:rPr lang="vi-VN" dirty="0"/>
              <a:t>.</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17</a:t>
            </a:fld>
            <a:endParaRPr lang="en-US"/>
          </a:p>
        </p:txBody>
      </p:sp>
    </p:spTree>
    <p:extLst>
      <p:ext uri="{BB962C8B-B14F-4D97-AF65-F5344CB8AC3E}">
        <p14:creationId xmlns:p14="http://schemas.microsoft.com/office/powerpoint/2010/main" val="344436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Ví dụ: Không gian bộ dữ liệu Linda (Linda Tuple Spaces)</a:t>
            </a:r>
          </a:p>
          <a:p>
            <a:r>
              <a:rPr lang="vi-VN" dirty="0"/>
              <a:t>Để làm rõ hơn vấn đề, chúng ta hãy xem xét Linda, một mô hình lập trình được phát triển vào những năm 1980. Không gian dữ liệu chia sẻ trong Linda được gọi là </a:t>
            </a:r>
            <a:r>
              <a:rPr lang="vi-VN" b="1" dirty="0"/>
              <a:t>không gian bộ dữ liệu (tuple space)</a:t>
            </a:r>
            <a:r>
              <a:rPr lang="vi-VN" dirty="0"/>
              <a:t>, về cơ bản hỗ trợ ba thao tác sau:</a:t>
            </a:r>
          </a:p>
          <a:p>
            <a:pPr>
              <a:buFont typeface="Arial" panose="020B0604020202020204" pitchFamily="34" charset="0"/>
              <a:buChar char="•"/>
            </a:pPr>
            <a:r>
              <a:rPr lang="vi-VN" b="1" dirty="0"/>
              <a:t>in(t)</a:t>
            </a:r>
            <a:r>
              <a:rPr lang="vi-VN" dirty="0"/>
              <a:t>: Xóa một bộ dữ liệu (tuple) khớp với mẫu t</a:t>
            </a:r>
          </a:p>
          <a:p>
            <a:pPr>
              <a:buFont typeface="Arial" panose="020B0604020202020204" pitchFamily="34" charset="0"/>
              <a:buChar char="•"/>
            </a:pPr>
            <a:r>
              <a:rPr lang="vi-VN" b="1" dirty="0"/>
              <a:t>rd(t)</a:t>
            </a:r>
            <a:r>
              <a:rPr lang="vi-VN" dirty="0"/>
              <a:t>: Lấy một bản sao của bộ dữ liệu khớp với mẫu t</a:t>
            </a:r>
          </a:p>
          <a:p>
            <a:pPr>
              <a:buFont typeface="Arial" panose="020B0604020202020204" pitchFamily="34" charset="0"/>
              <a:buChar char="•"/>
            </a:pPr>
            <a:r>
              <a:rPr lang="vi-VN" b="1" dirty="0"/>
              <a:t>out(t)</a:t>
            </a:r>
            <a:r>
              <a:rPr lang="vi-VN" dirty="0"/>
              <a:t>: Thêm bộ dữ liệu t vào không gian bộ dữ liệu</a:t>
            </a:r>
          </a:p>
          <a:p>
            <a:r>
              <a:rPr lang="vi-VN" dirty="0"/>
              <a:t>Lưu ý rằng nếu một tiến trình gọi </a:t>
            </a:r>
            <a:r>
              <a:rPr lang="vi-VN" b="1" dirty="0"/>
              <a:t>out(t)</a:t>
            </a:r>
            <a:r>
              <a:rPr lang="vi-VN" dirty="0"/>
              <a:t> hai lần liên tiếp, chúng ta sẽ thấy hai bản sao của bộ dữ liệu t được lưu trữ. Do đó, về mặt lý thuyết, không gian bộ dữ liệu luôn được mô hình hóa như một </a:t>
            </a:r>
            <a:r>
              <a:rPr lang="vi-VN" b="1" dirty="0"/>
              <a:t>tập hợp đa tập (multiset)</a:t>
            </a:r>
            <a:r>
              <a:rPr lang="vi-VN" dirty="0"/>
              <a:t>.</a:t>
            </a:r>
          </a:p>
          <a:p>
            <a:r>
              <a:rPr lang="vi-VN" dirty="0"/>
              <a:t>Cả </a:t>
            </a:r>
            <a:r>
              <a:rPr lang="vi-VN" b="1" dirty="0"/>
              <a:t>in</a:t>
            </a:r>
            <a:r>
              <a:rPr lang="vi-VN" dirty="0"/>
              <a:t> và </a:t>
            </a:r>
            <a:r>
              <a:rPr lang="vi-VN" b="1" dirty="0"/>
              <a:t>rd</a:t>
            </a:r>
            <a:r>
              <a:rPr lang="vi-VN" dirty="0"/>
              <a:t> đều là các thao tác </a:t>
            </a:r>
            <a:r>
              <a:rPr lang="vi-VN" b="1" dirty="0"/>
              <a:t>chặn (blocking operations)</a:t>
            </a:r>
            <a:r>
              <a:rPr lang="vi-VN" dirty="0"/>
              <a:t>: tiến trình gọi sẽ bị chặn lại cho đến khi tìm thấy một bộ dữ liệu khớp, hoặc cho đến khi có một bộ dữ liệu phù hợp xuất hiện.</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18</a:t>
            </a:fld>
            <a:endParaRPr lang="en-US"/>
          </a:p>
        </p:txBody>
      </p:sp>
    </p:spTree>
    <p:extLst>
      <p:ext uri="{BB962C8B-B14F-4D97-AF65-F5344CB8AC3E}">
        <p14:creationId xmlns:p14="http://schemas.microsoft.com/office/powerpoint/2010/main" val="2081250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Hãy xem xét một ứng dụng </a:t>
            </a:r>
            <a:r>
              <a:rPr lang="vi-VN" b="1" dirty="0"/>
              <a:t>microblog</a:t>
            </a:r>
            <a:r>
              <a:rPr lang="vi-VN" dirty="0"/>
              <a:t> đơn giản, trong đó các tin nhắn được gắn thẻ với tên của người đăng, chủ đề và một chuỗi nội dung ngắn. Mỗi tin nhắn được mô hình hóa dưới dạng một bộ dữ liệu </a:t>
            </a:r>
            <a:r>
              <a:rPr lang="vi-VN" b="1" dirty="0"/>
              <a:t>&lt;string, string, string&gt;</a:t>
            </a:r>
            <a:r>
              <a:rPr lang="vi-VN" dirty="0"/>
              <a:t>, trong đó:</a:t>
            </a:r>
          </a:p>
          <a:p>
            <a:pPr>
              <a:buFont typeface="Arial" panose="020B0604020202020204" pitchFamily="34" charset="0"/>
              <a:buChar char="•"/>
            </a:pPr>
            <a:r>
              <a:rPr lang="vi-VN" dirty="0"/>
              <a:t>Chuỗi thứ nhất là </a:t>
            </a:r>
            <a:r>
              <a:rPr lang="vi-VN" b="1" dirty="0"/>
              <a:t>tên người đăng</a:t>
            </a:r>
            <a:endParaRPr lang="vi-VN" dirty="0"/>
          </a:p>
          <a:p>
            <a:pPr>
              <a:buFont typeface="Arial" panose="020B0604020202020204" pitchFamily="34" charset="0"/>
              <a:buChar char="•"/>
            </a:pPr>
            <a:r>
              <a:rPr lang="vi-VN" dirty="0"/>
              <a:t>Chuỗi thứ hai là </a:t>
            </a:r>
            <a:r>
              <a:rPr lang="vi-VN" b="1" dirty="0"/>
              <a:t>chủ đề</a:t>
            </a:r>
            <a:endParaRPr lang="vi-VN" dirty="0"/>
          </a:p>
          <a:p>
            <a:pPr>
              <a:buFont typeface="Arial" panose="020B0604020202020204" pitchFamily="34" charset="0"/>
              <a:buChar char="•"/>
            </a:pPr>
            <a:r>
              <a:rPr lang="vi-VN" dirty="0"/>
              <a:t>Chuỗi thứ ba là </a:t>
            </a:r>
            <a:r>
              <a:rPr lang="vi-VN" b="1" dirty="0"/>
              <a:t>nội dung thực tế</a:t>
            </a:r>
            <a:endParaRPr lang="vi-VN" dirty="0"/>
          </a:p>
          <a:p>
            <a:r>
              <a:rPr lang="vi-VN" dirty="0"/>
              <a:t>Giả sử chúng ta đã tạo một </a:t>
            </a:r>
            <a:r>
              <a:rPr lang="vi-VN" b="1" dirty="0"/>
              <a:t>không gian dữ liệu chia sẻ</a:t>
            </a:r>
            <a:r>
              <a:rPr lang="vi-VN" dirty="0"/>
              <a:t> có tên </a:t>
            </a:r>
            <a:r>
              <a:rPr lang="vi-VN" b="1" dirty="0"/>
              <a:t>MicroBlog</a:t>
            </a:r>
            <a:r>
              <a:rPr lang="vi-VN" dirty="0"/>
              <a:t>, </a:t>
            </a:r>
            <a:r>
              <a:rPr lang="en-US" dirty="0"/>
              <a:t>Slide </a:t>
            </a:r>
            <a:r>
              <a:rPr lang="en-US" dirty="0" err="1"/>
              <a:t>này</a:t>
            </a:r>
            <a:r>
              <a:rPr lang="vi-VN" dirty="0"/>
              <a:t> minh họa cách Alice và Bob có thể đăng tin nhắn vào không gian này, và cách Chuck có thể chọn ngẫu nhiên một tin nhắn để đọc.</a:t>
            </a:r>
          </a:p>
          <a:p>
            <a:r>
              <a:rPr lang="vi-VN" dirty="0"/>
              <a:t>Chúng tôi đã lược bỏ một số đoạn mã để dễ hiểu hơn. Lưu ý rằng </a:t>
            </a:r>
            <a:r>
              <a:rPr lang="vi-VN" b="1" dirty="0"/>
              <a:t>Alice và Bob không biết ai sẽ đọc bài đăng của họ</a:t>
            </a:r>
            <a:r>
              <a:rPr lang="vi-VN" dirty="0"/>
              <a:t>, điều này thể hiện tính </a:t>
            </a:r>
            <a:r>
              <a:rPr lang="vi-VN" b="1" dirty="0"/>
              <a:t>tách rời tham chiếu (referential decoupling)</a:t>
            </a:r>
            <a:r>
              <a:rPr lang="vi-VN" dirty="0"/>
              <a:t> trong mô hình Linda.</a:t>
            </a:r>
          </a:p>
          <a:p>
            <a:endParaRPr lang="en-US" dirty="0"/>
          </a:p>
          <a:p>
            <a:r>
              <a:rPr lang="vi-VN" dirty="0"/>
              <a:t>Trong dòng đầu tiên của mỗi đoạn mã, một tiến trình sẽ tìm kiếm </a:t>
            </a:r>
            <a:r>
              <a:rPr lang="vi-VN" b="1" dirty="0"/>
              <a:t>không gian bộ dữ liệu</a:t>
            </a:r>
            <a:r>
              <a:rPr lang="vi-VN" dirty="0"/>
              <a:t> có tên </a:t>
            </a:r>
            <a:r>
              <a:rPr lang="vi-VN" b="1" dirty="0"/>
              <a:t>"MicroBlog"</a:t>
            </a:r>
            <a:r>
              <a:rPr lang="vi-VN" dirty="0"/>
              <a:t>.</a:t>
            </a:r>
          </a:p>
          <a:p>
            <a:r>
              <a:rPr lang="vi-VN" dirty="0"/>
              <a:t>Bob đăng ba tin nhắn: </a:t>
            </a:r>
            <a:r>
              <a:rPr lang="vi-VN" b="1" dirty="0"/>
              <a:t>hai tin nhắn về chủ đề "distsys"</a:t>
            </a:r>
            <a:r>
              <a:rPr lang="vi-VN" dirty="0"/>
              <a:t> và </a:t>
            </a:r>
            <a:r>
              <a:rPr lang="vi-VN" b="1" dirty="0"/>
              <a:t>một tin nhắn về chủ đề "gtcn"</a:t>
            </a:r>
            <a:r>
              <a:rPr lang="vi-VN" dirty="0"/>
              <a:t>.</a:t>
            </a:r>
            <a:br>
              <a:rPr lang="vi-VN" dirty="0"/>
            </a:br>
            <a:r>
              <a:rPr lang="vi-VN" dirty="0"/>
              <a:t>Alice đăng hai tin nhắn, mỗi tin nhắn thuộc một chủ đề khác nhau.</a:t>
            </a:r>
            <a:br>
              <a:rPr lang="vi-VN" dirty="0"/>
            </a:br>
            <a:r>
              <a:rPr lang="vi-VN" dirty="0"/>
              <a:t>Cuối cùng, Chuck đọc ba tin nhắn: </a:t>
            </a:r>
            <a:r>
              <a:rPr lang="vi-VN" b="1" dirty="0"/>
              <a:t>một tin nhắn từ Bob về "distsys"</a:t>
            </a:r>
            <a:r>
              <a:rPr lang="vi-VN" dirty="0"/>
              <a:t>, </a:t>
            </a:r>
            <a:r>
              <a:rPr lang="vi-VN" b="1" dirty="0"/>
              <a:t>một tin nhắn từ Bob về "gtcn"</a:t>
            </a:r>
            <a:r>
              <a:rPr lang="vi-VN" dirty="0"/>
              <a:t>, và </a:t>
            </a:r>
            <a:r>
              <a:rPr lang="vi-VN" b="1" dirty="0"/>
              <a:t>một tin nhắn từ Alice về "gtcn"</a:t>
            </a:r>
            <a:r>
              <a:rPr lang="vi-VN" dirty="0"/>
              <a:t>.</a:t>
            </a:r>
          </a:p>
          <a:p>
            <a:r>
              <a:rPr lang="vi-VN" dirty="0"/>
              <a:t>Rõ ràng, vẫn có nhiều chỗ cần cải thiện. Ví dụ, chúng ta cần đảm bảo rằng </a:t>
            </a:r>
            <a:r>
              <a:rPr lang="vi-VN" b="1" dirty="0"/>
              <a:t>Alice không thể đăng tin nhắn dưới tên của Bob</a:t>
            </a:r>
            <a:r>
              <a:rPr lang="vi-VN" dirty="0"/>
              <a:t>.</a:t>
            </a:r>
          </a:p>
          <a:p>
            <a:r>
              <a:rPr lang="vi-VN" dirty="0"/>
              <a:t>Tuy nhiên, điều quan trọng cần lưu ý ở đây là </a:t>
            </a:r>
            <a:r>
              <a:rPr lang="vi-VN" b="1" dirty="0"/>
              <a:t>bằng cách chỉ cung cấp các thẻ (tags), một người đọc như Chuck có thể lấy tin nhắn mà không cần phải biết trực tiếp người đăng</a:t>
            </a:r>
            <a:r>
              <a:rPr lang="vi-VN" dirty="0"/>
              <a:t>.</a:t>
            </a:r>
          </a:p>
          <a:p>
            <a:r>
              <a:rPr lang="vi-VN" dirty="0"/>
              <a:t>Đặc biệt, Chuck cũng có thể đọc một tin nhắn được chọn ngẫu nhiên về chủ đề </a:t>
            </a:r>
            <a:r>
              <a:rPr lang="vi-VN" b="1" dirty="0"/>
              <a:t>"distsys"</a:t>
            </a:r>
            <a:r>
              <a:rPr lang="vi-VN" dirty="0"/>
              <a:t> bằng lệnh sau:</a:t>
            </a:r>
          </a:p>
          <a:p>
            <a:r>
              <a:rPr lang="de-DE" b="1" i="1" dirty="0"/>
              <a:t>t = blog_rd((str, "distsys", str))</a:t>
            </a:r>
          </a:p>
          <a:p>
            <a:r>
              <a:rPr lang="vi-VN" dirty="0"/>
              <a:t>Chúng </a:t>
            </a:r>
            <a:r>
              <a:rPr lang="en-US" dirty="0"/>
              <a:t>ta</a:t>
            </a:r>
            <a:r>
              <a:rPr lang="vi-VN" dirty="0"/>
              <a:t> để lại như một bài tập cho người đọc để mở rộng các đoạn mã sao cho </a:t>
            </a:r>
            <a:r>
              <a:rPr lang="vi-VN" b="1" dirty="0"/>
              <a:t>thay vì chọn một tin nhắn ngẫu nhiên, Chuck sẽ chọn tin nhắn tiếp theo theo thứ tự</a:t>
            </a:r>
            <a:r>
              <a:rPr lang="vi-VN" dirty="0"/>
              <a:t>.</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19</a:t>
            </a:fld>
            <a:endParaRPr lang="en-US"/>
          </a:p>
        </p:txBody>
      </p:sp>
    </p:spTree>
    <p:extLst>
      <p:ext uri="{BB962C8B-B14F-4D97-AF65-F5344CB8AC3E}">
        <p14:creationId xmlns:p14="http://schemas.microsoft.com/office/powerpoint/2010/main" val="237022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phần trước, chúng ta đã thảo luận về một số kiểu kiến trúc thường được sử dụng như các hướng dẫn chung để xây dựng và tổ chức các hệ thống phân tán. Bây giờ, hãy đi sâu vào cách tổ chức thực tế của middleware, tức là độc lập với tổ chức tổng thể của một hệ thống hoặc ứng dụng phân tán. Cụ thể, có hai kiểu mẫu thiết kế quan trọng thường được áp dụng trong tổ chức middleware: </a:t>
            </a:r>
            <a:r>
              <a:rPr lang="en-US" b="1" dirty="0"/>
              <a:t>wrapper</a:t>
            </a:r>
            <a:r>
              <a:rPr lang="en-US" dirty="0"/>
              <a:t> </a:t>
            </a:r>
            <a:r>
              <a:rPr lang="vi-VN" dirty="0"/>
              <a:t>và </a:t>
            </a:r>
            <a:r>
              <a:rPr lang="vi-VN" b="1" dirty="0"/>
              <a:t>interceptors</a:t>
            </a:r>
            <a:r>
              <a:rPr lang="vi-VN" dirty="0"/>
              <a:t>. Mỗi kiểu mẫu nhằm giải quyết các vấn đề khác nhau, nhưng đều hướng đến cùng một mục tiêu cho middleware: đạt được tính mở. Tuy nhiên, có thể lập luận rằng tính mở tối ưu đạt được khi chúng ta có thể cấu thành middleware trong thời gian chạy. Chúng </a:t>
            </a:r>
            <a:r>
              <a:rPr lang="en-US" dirty="0"/>
              <a:t>ta</a:t>
            </a:r>
            <a:r>
              <a:rPr lang="vi-VN" dirty="0"/>
              <a:t> sẽ đề cập ngắn gọn đến phương pháp xây dựng dựa trên thành phần như một cách phổ biến để hướng tới điều là middleware có thể sửa đổi.</a:t>
            </a:r>
            <a:endParaRPr lang="en-US" dirty="0"/>
          </a:p>
          <a:p>
            <a:endParaRPr lang="en-US" dirty="0"/>
          </a:p>
          <a:p>
            <a:r>
              <a:rPr lang="en-US" b="1" dirty="0" err="1"/>
              <a:t>Vấn</a:t>
            </a:r>
            <a:r>
              <a:rPr lang="en-US" b="1" dirty="0"/>
              <a:t> </a:t>
            </a:r>
            <a:r>
              <a:rPr lang="en-US" b="1" dirty="0" err="1"/>
              <a:t>đề</a:t>
            </a:r>
            <a:r>
              <a:rPr lang="en-US" b="1" dirty="0"/>
              <a:t>:</a:t>
            </a:r>
            <a:endParaRPr lang="en-US" dirty="0"/>
          </a:p>
          <a:p>
            <a:r>
              <a:rPr lang="vi-VN" dirty="0"/>
              <a:t>Khi xây dựng một hệ thống phân tán từ các thành phần hiện có, chúng ta ngay lập tức gặp phải một vấn đề cơ bản: các giao diện do thành phần cũ cung cấp rất có thể không phù hợp với tất cả các ứng dụng.</a:t>
            </a:r>
            <a:endParaRPr lang="en-US" dirty="0"/>
          </a:p>
          <a:p>
            <a:r>
              <a:rPr lang="vi-VN" b="1" dirty="0"/>
              <a:t>Giải pháp:</a:t>
            </a:r>
            <a:br>
              <a:rPr lang="vi-VN" dirty="0"/>
            </a:br>
            <a:r>
              <a:rPr lang="vi-VN" dirty="0"/>
              <a:t>Một </a:t>
            </a:r>
            <a:r>
              <a:rPr lang="vi-VN" b="1" dirty="0"/>
              <a:t>bộ bao bọc (wrapper)</a:t>
            </a:r>
            <a:r>
              <a:rPr lang="vi-VN" dirty="0"/>
              <a:t> hoặc </a:t>
            </a:r>
            <a:r>
              <a:rPr lang="vi-VN" b="1" dirty="0"/>
              <a:t>bộ chuyển đổi (adapter)</a:t>
            </a:r>
            <a:r>
              <a:rPr lang="vi-VN" dirty="0"/>
              <a:t> cung cấp một giao diện phù hợp với ứng dụng khách. Nó chuyển đổi các chức năng cần thiết thành các chức năng có sẵn trong thành phần hiện có.</a:t>
            </a:r>
          </a:p>
          <a:p>
            <a:r>
              <a:rPr lang="vi-VN" dirty="0"/>
              <a:t>Khái niệm này thường xuất hiện trong các mẫu thiết kế phần mềm, chẳng hạn như </a:t>
            </a:r>
            <a:r>
              <a:rPr lang="vi-VN" b="1" dirty="0"/>
              <a:t>Mẫu Adapter</a:t>
            </a:r>
            <a:r>
              <a:rPr lang="vi-VN" dirty="0"/>
              <a:t>, giúp các giao diện không tương thích có thể làm việc cùng nhau. Bộ bao bọc thường được sử dụng trong middleware, tích hợp API và hiện đại hóa hệ thống để đảm bảo khả năng tương thích giữa hệ thống cũ và mới.</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20</a:t>
            </a:fld>
            <a:endParaRPr lang="en-US"/>
          </a:p>
        </p:txBody>
      </p:sp>
    </p:spTree>
    <p:extLst>
      <p:ext uri="{BB962C8B-B14F-4D97-AF65-F5344CB8AC3E}">
        <p14:creationId xmlns:p14="http://schemas.microsoft.com/office/powerpoint/2010/main" val="1512041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dirty="0">
                <a:effectLst/>
              </a:rPr>
              <a:t>Hình ảnh</a:t>
            </a:r>
            <a:r>
              <a:rPr lang="vi-VN" dirty="0">
                <a:effectLst/>
              </a:rPr>
              <a:t>:</a:t>
            </a:r>
          </a:p>
          <a:p>
            <a:pPr marL="742950" lvl="1" indent="-285750">
              <a:buFont typeface="Arial" panose="020B0604020202020204" pitchFamily="34" charset="0"/>
              <a:buChar char="•"/>
            </a:pPr>
            <a:r>
              <a:rPr lang="vi-VN" b="1" dirty="0">
                <a:effectLst/>
              </a:rPr>
              <a:t>Application</a:t>
            </a:r>
            <a:r>
              <a:rPr lang="vi-VN" dirty="0">
                <a:effectLst/>
              </a:rPr>
              <a:t>: Đại diện cho các ứng dụng cần giao tiếp với nhau.</a:t>
            </a:r>
          </a:p>
          <a:p>
            <a:pPr marL="742950" lvl="1" indent="-285750">
              <a:buFont typeface="Arial" panose="020B0604020202020204" pitchFamily="34" charset="0"/>
              <a:buChar char="•"/>
            </a:pPr>
            <a:r>
              <a:rPr lang="vi-VN" b="1" dirty="0">
                <a:effectLst/>
              </a:rPr>
              <a:t>Wrapper</a:t>
            </a:r>
            <a:r>
              <a:rPr lang="vi-VN" dirty="0">
                <a:effectLst/>
              </a:rPr>
              <a:t>: Lớp trung gian giúp chuyển đổi giao diện hoặc giao thức giữa các ứng dụng.</a:t>
            </a:r>
          </a:p>
          <a:p>
            <a:pPr marL="742950" lvl="1" indent="-285750">
              <a:buFont typeface="Arial" panose="020B0604020202020204" pitchFamily="34" charset="0"/>
              <a:buChar char="•"/>
            </a:pPr>
            <a:r>
              <a:rPr lang="vi-VN" b="1" dirty="0">
                <a:effectLst/>
              </a:rPr>
              <a:t>Broker</a:t>
            </a:r>
            <a:r>
              <a:rPr lang="vi-VN" dirty="0">
                <a:effectLst/>
              </a:rPr>
              <a:t>: Một thành phần trung tâm giúp quản lý và điều phối việc giao tiếp giữa các ứng dụng thông qua các wrapper.</a:t>
            </a:r>
          </a:p>
          <a:p>
            <a:pPr>
              <a:buFont typeface="Arial" panose="020B0604020202020204" pitchFamily="34" charset="0"/>
              <a:buChar char="•"/>
            </a:pPr>
            <a:r>
              <a:rPr lang="vi-VN" b="1" dirty="0">
                <a:effectLst/>
              </a:rPr>
              <a:t>Hai giải pháp tổ chức wrapper</a:t>
            </a:r>
            <a:r>
              <a:rPr lang="vi-VN" dirty="0">
                <a:effectLst/>
              </a:rPr>
              <a:t>:</a:t>
            </a:r>
          </a:p>
          <a:p>
            <a:pPr marL="742950" lvl="1" indent="-285750">
              <a:buFont typeface="Arial" panose="020B0604020202020204" pitchFamily="34" charset="0"/>
              <a:buChar char="•"/>
            </a:pPr>
            <a:r>
              <a:rPr lang="vi-VN" b="1" dirty="0">
                <a:effectLst/>
              </a:rPr>
              <a:t>1-on-1 (trực tiếp)</a:t>
            </a:r>
            <a:r>
              <a:rPr lang="vi-VN" dirty="0">
                <a:effectLst/>
              </a:rPr>
              <a:t>:</a:t>
            </a:r>
          </a:p>
          <a:p>
            <a:pPr marL="1143000" lvl="2" indent="-228600">
              <a:buFont typeface="Arial" panose="020B0604020202020204" pitchFamily="34" charset="0"/>
              <a:buChar char="•"/>
            </a:pPr>
            <a:r>
              <a:rPr lang="vi-VN" dirty="0">
                <a:effectLst/>
              </a:rPr>
              <a:t>Mỗi ứng dụng cần một wrapper riêng để giao tiếp với từng ứng dụng khác.</a:t>
            </a:r>
          </a:p>
          <a:p>
            <a:pPr marL="742950" lvl="1" indent="-285750">
              <a:buFont typeface="Arial" panose="020B0604020202020204" pitchFamily="34" charset="0"/>
              <a:buChar char="•"/>
            </a:pPr>
            <a:r>
              <a:rPr lang="vi-VN" b="1" dirty="0">
                <a:effectLst/>
              </a:rPr>
              <a:t>Through a broker (thông qua một broker)</a:t>
            </a:r>
            <a:r>
              <a:rPr lang="vi-VN" dirty="0">
                <a:effectLst/>
              </a:rPr>
              <a:t>:</a:t>
            </a:r>
          </a:p>
          <a:p>
            <a:pPr marL="1143000" lvl="2" indent="-228600">
              <a:buFont typeface="Arial" panose="020B0604020202020204" pitchFamily="34" charset="0"/>
              <a:buChar char="•"/>
            </a:pPr>
            <a:r>
              <a:rPr lang="vi-VN" dirty="0">
                <a:effectLst/>
              </a:rPr>
              <a:t>Sử dụng một broker trung tâm để quản lý việc giao tiếp giữa các ứng dụng.</a:t>
            </a:r>
          </a:p>
          <a:p>
            <a:r>
              <a:rPr lang="vi-VN" b="1" dirty="0">
                <a:effectLst/>
              </a:rPr>
              <a:t>Giải thích chi tiết</a:t>
            </a:r>
          </a:p>
          <a:p>
            <a:r>
              <a:rPr lang="vi-VN" b="1" dirty="0">
                <a:effectLst/>
              </a:rPr>
              <a:t>1. Giải pháp 1-on-1 (trực tiếp)</a:t>
            </a:r>
          </a:p>
          <a:p>
            <a:pPr>
              <a:buFont typeface="Arial" panose="020B0604020202020204" pitchFamily="34" charset="0"/>
              <a:buChar char="•"/>
            </a:pPr>
            <a:r>
              <a:rPr lang="vi-VN" b="1" dirty="0">
                <a:effectLst/>
              </a:rPr>
              <a:t>Cách hoạt động</a:t>
            </a:r>
            <a:r>
              <a:rPr lang="vi-VN" dirty="0">
                <a:effectLst/>
              </a:rPr>
              <a:t>:</a:t>
            </a:r>
          </a:p>
          <a:p>
            <a:pPr marL="742950" lvl="1" indent="-285750">
              <a:buFont typeface="Arial" panose="020B0604020202020204" pitchFamily="34" charset="0"/>
              <a:buChar char="•"/>
            </a:pPr>
            <a:r>
              <a:rPr lang="vi-VN" dirty="0">
                <a:effectLst/>
              </a:rPr>
              <a:t>Mỗi ứng dụng cần một wrapper riêng để giao tiếp với từng ứng dụng khác.</a:t>
            </a:r>
          </a:p>
          <a:p>
            <a:pPr marL="742950" lvl="1" indent="-285750">
              <a:buFont typeface="Arial" panose="020B0604020202020204" pitchFamily="34" charset="0"/>
              <a:buChar char="•"/>
            </a:pPr>
            <a:r>
              <a:rPr lang="vi-VN" dirty="0">
                <a:effectLst/>
              </a:rPr>
              <a:t>Ví dụ: Nếu có 3 ứng dụng (A, B, C), thì:</a:t>
            </a:r>
          </a:p>
          <a:p>
            <a:pPr marL="1143000" lvl="2" indent="-228600">
              <a:buFont typeface="Arial" panose="020B0604020202020204" pitchFamily="34" charset="0"/>
              <a:buChar char="•"/>
            </a:pPr>
            <a:r>
              <a:rPr lang="vi-VN" dirty="0">
                <a:effectLst/>
              </a:rPr>
              <a:t>A cần một wrapper để giao tiếp với B.</a:t>
            </a:r>
          </a:p>
          <a:p>
            <a:pPr marL="1143000" lvl="2" indent="-228600">
              <a:buFont typeface="Arial" panose="020B0604020202020204" pitchFamily="34" charset="0"/>
              <a:buChar char="•"/>
            </a:pPr>
            <a:r>
              <a:rPr lang="vi-VN" dirty="0">
                <a:effectLst/>
              </a:rPr>
              <a:t>A cần một wrapper khác để giao tiếp với C.</a:t>
            </a:r>
          </a:p>
          <a:p>
            <a:pPr marL="1143000" lvl="2" indent="-228600">
              <a:buFont typeface="Arial" panose="020B0604020202020204" pitchFamily="34" charset="0"/>
              <a:buChar char="•"/>
            </a:pPr>
            <a:r>
              <a:rPr lang="vi-VN" dirty="0">
                <a:effectLst/>
              </a:rPr>
              <a:t>Tương tự, B và C cũng cần các wrapper riêng để giao tiếp với nhau.</a:t>
            </a:r>
          </a:p>
          <a:p>
            <a:pPr>
              <a:buFont typeface="Arial" panose="020B0604020202020204" pitchFamily="34" charset="0"/>
              <a:buChar char="•"/>
            </a:pPr>
            <a:r>
              <a:rPr lang="vi-VN" b="1" dirty="0">
                <a:effectLst/>
              </a:rPr>
              <a:t>Độ phức tạp</a:t>
            </a:r>
            <a:r>
              <a:rPr lang="vi-VN" dirty="0">
                <a:effectLst/>
              </a:rPr>
              <a:t>:</a:t>
            </a:r>
          </a:p>
          <a:p>
            <a:pPr marL="742950" lvl="1" indent="-285750">
              <a:buFont typeface="Arial" panose="020B0604020202020204" pitchFamily="34" charset="0"/>
              <a:buChar char="•"/>
            </a:pPr>
            <a:r>
              <a:rPr lang="vi-VN" dirty="0">
                <a:effectLst/>
              </a:rPr>
              <a:t>Số lượng wrapper cần thiết: </a:t>
            </a:r>
            <a:r>
              <a:rPr lang="vi-VN" dirty="0">
                <a:effectLst/>
                <a:latin typeface="KaTeX_Main"/>
              </a:rPr>
              <a:t>N×(N−1)=O(N2)</a:t>
            </a:r>
            <a:r>
              <a:rPr lang="vi-VN" dirty="0">
                <a:effectLst/>
              </a:rPr>
              <a:t>.</a:t>
            </a:r>
          </a:p>
          <a:p>
            <a:pPr marL="1143000" lvl="2" indent="-228600">
              <a:buFont typeface="Arial" panose="020B0604020202020204" pitchFamily="34" charset="0"/>
              <a:buChar char="•"/>
            </a:pPr>
            <a:r>
              <a:rPr lang="vi-VN" dirty="0">
                <a:effectLst/>
                <a:latin typeface="KaTeX_Main"/>
              </a:rPr>
              <a:t>N</a:t>
            </a:r>
            <a:r>
              <a:rPr lang="en-US" i="1" dirty="0">
                <a:effectLst/>
                <a:latin typeface="KaTeX_Math"/>
              </a:rPr>
              <a:t>:</a:t>
            </a:r>
            <a:r>
              <a:rPr lang="vi-VN" dirty="0">
                <a:effectLst/>
              </a:rPr>
              <a:t> Số lượng ứng dụng.</a:t>
            </a:r>
          </a:p>
          <a:p>
            <a:pPr marL="1143000" lvl="2" indent="-228600">
              <a:buFont typeface="Arial" panose="020B0604020202020204" pitchFamily="34" charset="0"/>
              <a:buChar char="•"/>
            </a:pPr>
            <a:r>
              <a:rPr lang="vi-VN" dirty="0">
                <a:effectLst/>
                <a:latin typeface="KaTeX_Main"/>
              </a:rPr>
              <a:t>N−1</a:t>
            </a:r>
            <a:r>
              <a:rPr lang="vi-VN" dirty="0">
                <a:effectLst/>
              </a:rPr>
              <a:t>: Số lượng ứng dụng mà mỗi ứng dụng cần giao tiếp.</a:t>
            </a:r>
          </a:p>
          <a:p>
            <a:pPr marL="742950" lvl="1" indent="-285750">
              <a:buFont typeface="Arial" panose="020B0604020202020204" pitchFamily="34" charset="0"/>
              <a:buChar char="•"/>
            </a:pPr>
            <a:r>
              <a:rPr lang="vi-VN" dirty="0">
                <a:effectLst/>
              </a:rPr>
              <a:t>Ví dụ: Với 4 ứng dụng, cần </a:t>
            </a:r>
            <a:r>
              <a:rPr lang="vi-VN" dirty="0">
                <a:effectLst/>
                <a:latin typeface="KaTeX_Main"/>
              </a:rPr>
              <a:t>4×3=12</a:t>
            </a:r>
            <a:r>
              <a:rPr lang="vi-VN" dirty="0">
                <a:effectLst/>
              </a:rPr>
              <a:t> wrapper.</a:t>
            </a:r>
          </a:p>
          <a:p>
            <a:pPr>
              <a:buFont typeface="Arial" panose="020B0604020202020204" pitchFamily="34" charset="0"/>
              <a:buChar char="•"/>
            </a:pPr>
            <a:r>
              <a:rPr lang="vi-VN" b="1" dirty="0">
                <a:effectLst/>
              </a:rPr>
              <a:t>Nhược điểm</a:t>
            </a:r>
            <a:r>
              <a:rPr lang="vi-VN" dirty="0">
                <a:effectLst/>
              </a:rPr>
              <a:t>:</a:t>
            </a:r>
          </a:p>
          <a:p>
            <a:pPr marL="742950" lvl="1" indent="-285750">
              <a:buFont typeface="Arial" panose="020B0604020202020204" pitchFamily="34" charset="0"/>
              <a:buChar char="•"/>
            </a:pPr>
            <a:r>
              <a:rPr lang="vi-VN" dirty="0">
                <a:effectLst/>
              </a:rPr>
              <a:t>Số lượng wrapper tăng nhanh khi số lượng ứng dụng tăng, dẫn đến độ phức tạp cao và khó quản lý.</a:t>
            </a:r>
            <a:endParaRPr lang="en-US" dirty="0">
              <a:effectLst/>
            </a:endParaRPr>
          </a:p>
          <a:p>
            <a:pPr marL="457200" lvl="1" indent="0">
              <a:buFont typeface="Arial" panose="020B0604020202020204" pitchFamily="34" charset="0"/>
              <a:buNone/>
            </a:pPr>
            <a:endParaRPr lang="vi-VN" dirty="0">
              <a:effectLst/>
            </a:endParaRPr>
          </a:p>
          <a:p>
            <a:r>
              <a:rPr lang="vi-VN" b="1" dirty="0">
                <a:effectLst/>
              </a:rPr>
              <a:t>2. Giải pháp Through a broker (thông qua broker)</a:t>
            </a:r>
          </a:p>
          <a:p>
            <a:pPr>
              <a:buFont typeface="Arial" panose="020B0604020202020204" pitchFamily="34" charset="0"/>
              <a:buChar char="•"/>
            </a:pPr>
            <a:r>
              <a:rPr lang="vi-VN" b="1" dirty="0">
                <a:effectLst/>
              </a:rPr>
              <a:t>Cách hoạt động</a:t>
            </a:r>
            <a:r>
              <a:rPr lang="vi-VN" dirty="0">
                <a:effectLst/>
              </a:rPr>
              <a:t>:</a:t>
            </a:r>
          </a:p>
          <a:p>
            <a:pPr marL="742950" lvl="1" indent="-285750">
              <a:buFont typeface="Arial" panose="020B0604020202020204" pitchFamily="34" charset="0"/>
              <a:buChar char="•"/>
            </a:pPr>
            <a:r>
              <a:rPr lang="vi-VN" dirty="0">
                <a:effectLst/>
              </a:rPr>
              <a:t>Sử dụng một broker trung tâm để quản lý việc giao tiếp giữa các ứng dụng.</a:t>
            </a:r>
          </a:p>
          <a:p>
            <a:pPr marL="742950" lvl="1" indent="-285750">
              <a:buFont typeface="Arial" panose="020B0604020202020204" pitchFamily="34" charset="0"/>
              <a:buChar char="•"/>
            </a:pPr>
            <a:r>
              <a:rPr lang="vi-VN" dirty="0">
                <a:effectLst/>
              </a:rPr>
              <a:t>Mỗi ứng dụng chỉ cần một wrapper để giao tiếp với broker.</a:t>
            </a:r>
          </a:p>
          <a:p>
            <a:pPr marL="742950" lvl="1" indent="-285750">
              <a:buFont typeface="Arial" panose="020B0604020202020204" pitchFamily="34" charset="0"/>
              <a:buChar char="•"/>
            </a:pPr>
            <a:r>
              <a:rPr lang="vi-VN" dirty="0">
                <a:effectLst/>
              </a:rPr>
              <a:t>Broker đóng vai trò trung gian, chuyển đổi và điều phối các yêu cầu giữa các ứng dụng.</a:t>
            </a:r>
          </a:p>
          <a:p>
            <a:pPr>
              <a:buFont typeface="Arial" panose="020B0604020202020204" pitchFamily="34" charset="0"/>
              <a:buChar char="•"/>
            </a:pPr>
            <a:r>
              <a:rPr lang="vi-VN" b="1" dirty="0">
                <a:effectLst/>
              </a:rPr>
              <a:t>Độ phức tạp</a:t>
            </a:r>
            <a:r>
              <a:rPr lang="vi-VN" dirty="0">
                <a:effectLst/>
              </a:rPr>
              <a:t>:</a:t>
            </a:r>
          </a:p>
          <a:p>
            <a:pPr marL="742950" lvl="1" indent="-285750">
              <a:buFont typeface="Arial" panose="020B0604020202020204" pitchFamily="34" charset="0"/>
              <a:buChar char="•"/>
            </a:pPr>
            <a:r>
              <a:rPr lang="vi-VN" dirty="0">
                <a:effectLst/>
              </a:rPr>
              <a:t>Số lượng wrapper cần thiết: </a:t>
            </a:r>
            <a:r>
              <a:rPr lang="vi-VN" dirty="0">
                <a:effectLst/>
                <a:latin typeface="KaTeX_Main"/>
              </a:rPr>
              <a:t>2N=O(N)</a:t>
            </a:r>
            <a:r>
              <a:rPr lang="vi-VN" dirty="0">
                <a:effectLst/>
              </a:rPr>
              <a:t>.</a:t>
            </a:r>
          </a:p>
          <a:p>
            <a:pPr marL="1143000" lvl="2" indent="-228600">
              <a:buFont typeface="Arial" panose="020B0604020202020204" pitchFamily="34" charset="0"/>
              <a:buChar char="•"/>
            </a:pPr>
            <a:r>
              <a:rPr lang="vi-VN" dirty="0">
                <a:effectLst/>
                <a:latin typeface="KaTeX_Main"/>
              </a:rPr>
              <a:t>N</a:t>
            </a:r>
            <a:r>
              <a:rPr lang="vi-VN" i="1" dirty="0">
                <a:effectLst/>
                <a:latin typeface="KaTeX_Math"/>
              </a:rPr>
              <a:t>N</a:t>
            </a:r>
            <a:r>
              <a:rPr lang="vi-VN" dirty="0">
                <a:effectLst/>
              </a:rPr>
              <a:t>: Số lượng ứng dụng.</a:t>
            </a:r>
          </a:p>
          <a:p>
            <a:pPr marL="1143000" lvl="2" indent="-228600">
              <a:buFont typeface="Arial" panose="020B0604020202020204" pitchFamily="34" charset="0"/>
              <a:buChar char="•"/>
            </a:pPr>
            <a:r>
              <a:rPr lang="vi-VN" dirty="0">
                <a:effectLst/>
              </a:rPr>
              <a:t>Mỗi ứng dụng cần một wrapper để giao tiếp với broker.</a:t>
            </a:r>
          </a:p>
          <a:p>
            <a:pPr marL="742950" lvl="1" indent="-285750">
              <a:buFont typeface="Arial" panose="020B0604020202020204" pitchFamily="34" charset="0"/>
              <a:buChar char="•"/>
            </a:pPr>
            <a:r>
              <a:rPr lang="vi-VN" dirty="0">
                <a:effectLst/>
              </a:rPr>
              <a:t>Ví dụ: Với 4 ứng dụng, chỉ cần </a:t>
            </a:r>
            <a:r>
              <a:rPr lang="vi-VN" dirty="0">
                <a:effectLst/>
                <a:latin typeface="KaTeX_Main"/>
              </a:rPr>
              <a:t>2×4=8</a:t>
            </a:r>
            <a:r>
              <a:rPr lang="vi-VN" dirty="0">
                <a:effectLst/>
              </a:rPr>
              <a:t> wrapper.</a:t>
            </a:r>
          </a:p>
          <a:p>
            <a:pPr>
              <a:buFont typeface="Arial" panose="020B0604020202020204" pitchFamily="34" charset="0"/>
              <a:buChar char="•"/>
            </a:pPr>
            <a:r>
              <a:rPr lang="vi-VN" b="1" dirty="0">
                <a:effectLst/>
              </a:rPr>
              <a:t>Ưu điểm</a:t>
            </a:r>
            <a:r>
              <a:rPr lang="vi-VN" dirty="0">
                <a:effectLst/>
              </a:rPr>
              <a:t>:</a:t>
            </a:r>
          </a:p>
          <a:p>
            <a:pPr marL="742950" lvl="1" indent="-285750">
              <a:buFont typeface="Arial" panose="020B0604020202020204" pitchFamily="34" charset="0"/>
              <a:buChar char="•"/>
            </a:pPr>
            <a:r>
              <a:rPr lang="vi-VN" dirty="0">
                <a:effectLst/>
              </a:rPr>
              <a:t>Giảm đáng kể số lượng wrapper cần thiết so với giải pháp 1-on-1.</a:t>
            </a:r>
          </a:p>
          <a:p>
            <a:pPr marL="742950" lvl="1" indent="-285750">
              <a:buFont typeface="Arial" panose="020B0604020202020204" pitchFamily="34" charset="0"/>
              <a:buChar char="•"/>
            </a:pPr>
            <a:r>
              <a:rPr lang="vi-VN" dirty="0">
                <a:effectLst/>
              </a:rPr>
              <a:t>Dễ quản lý và mở rộng hệ thống khi số lượng ứng dụng tăng.</a:t>
            </a:r>
          </a:p>
          <a:p>
            <a:br>
              <a:rPr lang="vi-VN" dirty="0">
                <a:solidFill>
                  <a:srgbClr val="4D6BFE"/>
                </a:solidFill>
                <a:effectLst/>
              </a:rPr>
            </a:b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21</a:t>
            </a:fld>
            <a:endParaRPr lang="en-US"/>
          </a:p>
        </p:txBody>
      </p:sp>
    </p:spTree>
    <p:extLst>
      <p:ext uri="{BB962C8B-B14F-4D97-AF65-F5344CB8AC3E}">
        <p14:creationId xmlns:p14="http://schemas.microsoft.com/office/powerpoint/2010/main" val="732952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Problem (Vấn đề)</a:t>
            </a:r>
          </a:p>
          <a:p>
            <a:pPr marL="742950" lvl="1" indent="-285750" algn="l">
              <a:buFont typeface="Arial" panose="020B0604020202020204" pitchFamily="34" charset="0"/>
              <a:buChar char="•"/>
            </a:pPr>
            <a:r>
              <a:rPr lang="vi-VN" b="0" i="0" dirty="0">
                <a:solidFill>
                  <a:srgbClr val="404040"/>
                </a:solidFill>
                <a:effectLst/>
                <a:latin typeface="Inter"/>
              </a:rPr>
              <a:t>Middleware được thiết kế để cung cấp các giải pháp chung, đáp ứng nhu cầu của nhiều ứng dụng khác nhau.</a:t>
            </a:r>
          </a:p>
          <a:p>
            <a:pPr marL="742950" lvl="1" indent="-285750" algn="l">
              <a:buFont typeface="Arial" panose="020B0604020202020204" pitchFamily="34" charset="0"/>
              <a:buChar char="•"/>
            </a:pPr>
            <a:r>
              <a:rPr lang="vi-VN" b="0" i="0" dirty="0">
                <a:solidFill>
                  <a:srgbClr val="404040"/>
                </a:solidFill>
                <a:effectLst/>
                <a:latin typeface="Inter"/>
              </a:rPr>
              <a:t>Tuy nhiên, một số ứng dụng có yêu cầu đặc biệt hoặc độc đáo mà giải pháp chung của middleware không thể đáp ứng đầy đủ.</a:t>
            </a:r>
          </a:p>
          <a:p>
            <a:pPr marL="742950" lvl="1" indent="-285750" algn="l">
              <a:buFont typeface="Arial" panose="020B0604020202020204" pitchFamily="34" charset="0"/>
              <a:buChar char="•"/>
            </a:pPr>
            <a:r>
              <a:rPr lang="vi-VN" b="0" i="0" dirty="0">
                <a:solidFill>
                  <a:srgbClr val="404040"/>
                </a:solidFill>
                <a:effectLst/>
                <a:latin typeface="Inter"/>
              </a:rPr>
              <a:t>Điều này dẫn đến nhu cầu điều chỉnh hoặc tùy biến hành vi của middleware để phù hợp hơn với các ứng dụng cụ thể.</a:t>
            </a:r>
          </a:p>
          <a:p>
            <a:endParaRPr lang="en-US" dirty="0"/>
          </a:p>
          <a:p>
            <a:r>
              <a:rPr lang="en-US" b="1" dirty="0" err="1"/>
              <a:t>Khái</a:t>
            </a:r>
            <a:r>
              <a:rPr lang="en-US" b="1" dirty="0"/>
              <a:t> </a:t>
            </a:r>
            <a:r>
              <a:rPr lang="en-US" b="1" dirty="0" err="1"/>
              <a:t>niệm</a:t>
            </a:r>
            <a:r>
              <a:rPr lang="en-US" b="1" dirty="0"/>
              <a:t> </a:t>
            </a:r>
            <a:r>
              <a:rPr lang="en-US" b="1" dirty="0" err="1"/>
              <a:t>về</a:t>
            </a:r>
            <a:r>
              <a:rPr lang="en-US" b="1" dirty="0"/>
              <a:t> Interceptors</a:t>
            </a:r>
          </a:p>
          <a:p>
            <a:r>
              <a:rPr lang="vi-VN" dirty="0"/>
              <a:t>Về mặt khái niệm, một bộ đánh chặn (interceptor) chỉ đơn giản là một cấu trúc phần mềm có khả năng phá vỡ luồng điều khiển thông thường và cho phép thực thi mã khác (mã dành riêng cho ứng dụng). Bộ đánh chặn là một phương tiện chính để điều chỉnh middleware theo nhu cầu cụ thể của một ứng dụng. Do đó, chúng đóng vai trò quan trọng trong việc giúp middleware trở nên mở.</a:t>
            </a:r>
            <a:endParaRPr lang="en-US" b="1" dirty="0"/>
          </a:p>
        </p:txBody>
      </p:sp>
      <p:sp>
        <p:nvSpPr>
          <p:cNvPr id="4" name="Slide Number Placeholder 3"/>
          <p:cNvSpPr>
            <a:spLocks noGrp="1"/>
          </p:cNvSpPr>
          <p:nvPr>
            <p:ph type="sldNum" sz="quarter" idx="5"/>
          </p:nvPr>
        </p:nvSpPr>
        <p:spPr/>
        <p:txBody>
          <a:bodyPr/>
          <a:lstStyle/>
          <a:p>
            <a:fld id="{FA13772E-92BC-4DF5-A31C-A96E0BDD6752}" type="slidenum">
              <a:rPr lang="en-US" smtClean="0"/>
              <a:t>22</a:t>
            </a:fld>
            <a:endParaRPr lang="en-US"/>
          </a:p>
        </p:txBody>
      </p:sp>
    </p:spTree>
    <p:extLst>
      <p:ext uri="{BB962C8B-B14F-4D97-AF65-F5344CB8AC3E}">
        <p14:creationId xmlns:p14="http://schemas.microsoft.com/office/powerpoint/2010/main" val="3097841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vi-VN" b="1" i="0" dirty="0">
                <a:solidFill>
                  <a:srgbClr val="404040"/>
                </a:solidFill>
                <a:effectLst/>
                <a:latin typeface="Inter"/>
              </a:rPr>
              <a:t>Hình ảnh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Intercepted call</a:t>
            </a:r>
            <a:r>
              <a:rPr lang="vi-VN" b="0" i="0" dirty="0">
                <a:solidFill>
                  <a:srgbClr val="404040"/>
                </a:solidFill>
                <a:effectLst/>
                <a:latin typeface="Inter"/>
              </a:rPr>
              <a:t>: Minh họa luồng điều khiển bị chặn bởi các interceptor.</a:t>
            </a:r>
          </a:p>
          <a:p>
            <a:pPr marL="742950" lvl="1" indent="-285750" algn="l">
              <a:buFont typeface="Arial" panose="020B0604020202020204" pitchFamily="34" charset="0"/>
              <a:buChar char="•"/>
            </a:pPr>
            <a:r>
              <a:rPr lang="vi-VN" b="1" i="0" dirty="0">
                <a:solidFill>
                  <a:srgbClr val="404040"/>
                </a:solidFill>
                <a:effectLst/>
                <a:latin typeface="Inter"/>
              </a:rPr>
              <a:t>Nonintercepted call</a:t>
            </a:r>
            <a:r>
              <a:rPr lang="vi-VN" b="0" i="0" dirty="0">
                <a:solidFill>
                  <a:srgbClr val="404040"/>
                </a:solidFill>
                <a:effectLst/>
                <a:latin typeface="Inter"/>
              </a:rPr>
              <a:t>: Minh họa luồng điều khiển thông thường không bị chặn.</a:t>
            </a:r>
          </a:p>
          <a:p>
            <a:pPr algn="l">
              <a:buFont typeface="Arial" panose="020B0604020202020204" pitchFamily="34" charset="0"/>
              <a:buChar char="•"/>
            </a:pPr>
            <a:r>
              <a:rPr lang="vi-VN" b="1" i="0" dirty="0">
                <a:solidFill>
                  <a:srgbClr val="404040"/>
                </a:solidFill>
                <a:effectLst/>
                <a:latin typeface="Inter"/>
              </a:rPr>
              <a:t>Các thành phần</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Client application</a:t>
            </a:r>
            <a:r>
              <a:rPr lang="vi-VN" b="0" i="0" dirty="0">
                <a:solidFill>
                  <a:srgbClr val="404040"/>
                </a:solidFill>
                <a:effectLst/>
                <a:latin typeface="Inter"/>
              </a:rPr>
              <a:t>: Ứng dụng khách thực hiện yêu cầu.</a:t>
            </a:r>
          </a:p>
          <a:p>
            <a:pPr marL="742950" lvl="1" indent="-285750" algn="l">
              <a:buFont typeface="Arial" panose="020B0604020202020204" pitchFamily="34" charset="0"/>
              <a:buChar char="•"/>
            </a:pPr>
            <a:r>
              <a:rPr lang="vi-VN" b="1" i="0" dirty="0">
                <a:solidFill>
                  <a:srgbClr val="404040"/>
                </a:solidFill>
                <a:effectLst/>
                <a:latin typeface="Inter"/>
              </a:rPr>
              <a:t>Application stub</a:t>
            </a:r>
            <a:r>
              <a:rPr lang="vi-VN" b="0" i="0" dirty="0">
                <a:solidFill>
                  <a:srgbClr val="404040"/>
                </a:solidFill>
                <a:effectLst/>
                <a:latin typeface="Inter"/>
              </a:rPr>
              <a:t>: Stub ứng dụng, đóng vai trò trung gian giữa ứng dụng khách và middleware.</a:t>
            </a:r>
          </a:p>
          <a:p>
            <a:pPr marL="742950" lvl="1" indent="-285750" algn="l">
              <a:buFont typeface="Arial" panose="020B0604020202020204" pitchFamily="34" charset="0"/>
              <a:buChar char="•"/>
            </a:pPr>
            <a:r>
              <a:rPr lang="vi-VN" b="1" i="0" dirty="0">
                <a:solidFill>
                  <a:srgbClr val="404040"/>
                </a:solidFill>
                <a:effectLst/>
                <a:latin typeface="Inter"/>
              </a:rPr>
              <a:t>Object middleware</a:t>
            </a:r>
            <a:r>
              <a:rPr lang="vi-VN" b="0" i="0" dirty="0">
                <a:solidFill>
                  <a:srgbClr val="404040"/>
                </a:solidFill>
                <a:effectLst/>
                <a:latin typeface="Inter"/>
              </a:rPr>
              <a:t>: Middleware quản lý việc giao tiếp giữa các đối tượng phân tán.</a:t>
            </a:r>
          </a:p>
          <a:p>
            <a:pPr marL="742950" lvl="1" indent="-285750" algn="l">
              <a:buFont typeface="Arial" panose="020B0604020202020204" pitchFamily="34" charset="0"/>
              <a:buChar char="•"/>
            </a:pPr>
            <a:r>
              <a:rPr lang="vi-VN" b="1" i="0" dirty="0">
                <a:solidFill>
                  <a:srgbClr val="404040"/>
                </a:solidFill>
                <a:effectLst/>
                <a:latin typeface="Inter"/>
              </a:rPr>
              <a:t>Local OS</a:t>
            </a:r>
            <a:r>
              <a:rPr lang="vi-VN" b="0" i="0" dirty="0">
                <a:solidFill>
                  <a:srgbClr val="404040"/>
                </a:solidFill>
                <a:effectLst/>
                <a:latin typeface="Inter"/>
              </a:rPr>
              <a:t>: Hệ điều hành cục bộ.</a:t>
            </a:r>
          </a:p>
          <a:p>
            <a:pPr algn="l">
              <a:buFont typeface="Arial" panose="020B0604020202020204" pitchFamily="34" charset="0"/>
              <a:buChar char="•"/>
            </a:pPr>
            <a:r>
              <a:rPr lang="vi-VN" b="1" i="0" dirty="0">
                <a:solidFill>
                  <a:srgbClr val="404040"/>
                </a:solidFill>
                <a:effectLst/>
                <a:latin typeface="Inter"/>
              </a:rPr>
              <a:t>Interceptor types</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Request-level interceptor</a:t>
            </a:r>
            <a:r>
              <a:rPr lang="vi-VN" b="0" i="0" dirty="0">
                <a:solidFill>
                  <a:srgbClr val="404040"/>
                </a:solidFill>
                <a:effectLst/>
                <a:latin typeface="Inter"/>
              </a:rPr>
              <a:t>: Chặn và xử lý yêu cầu ở mức độ yêu cầu (request level).</a:t>
            </a:r>
          </a:p>
          <a:p>
            <a:pPr marL="742950" lvl="1" indent="-285750" algn="l">
              <a:buFont typeface="Arial" panose="020B0604020202020204" pitchFamily="34" charset="0"/>
              <a:buChar char="•"/>
            </a:pPr>
            <a:r>
              <a:rPr lang="vi-VN" b="1" i="0" dirty="0">
                <a:solidFill>
                  <a:srgbClr val="404040"/>
                </a:solidFill>
                <a:effectLst/>
                <a:latin typeface="Inter"/>
              </a:rPr>
              <a:t>Message-level interceptor</a:t>
            </a:r>
            <a:r>
              <a:rPr lang="vi-VN" b="0" i="0" dirty="0">
                <a:solidFill>
                  <a:srgbClr val="404040"/>
                </a:solidFill>
                <a:effectLst/>
                <a:latin typeface="Inter"/>
              </a:rPr>
              <a:t>: Chặn và xử lý yêu cầu ở mức độ tin nhắn (message level).</a:t>
            </a:r>
          </a:p>
          <a:p>
            <a:pPr algn="l"/>
            <a:endParaRPr lang="en-US" b="1" i="0" dirty="0">
              <a:solidFill>
                <a:srgbClr val="404040"/>
              </a:solidFill>
              <a:effectLst/>
              <a:latin typeface="Inter"/>
            </a:endParaRPr>
          </a:p>
          <a:p>
            <a:pPr algn="l"/>
            <a:r>
              <a:rPr lang="en-US" b="1" i="0" dirty="0">
                <a:solidFill>
                  <a:srgbClr val="404040"/>
                </a:solidFill>
                <a:effectLst/>
                <a:latin typeface="Inter"/>
              </a:rPr>
              <a:t>---------------------------------------------------------------------------------------------------------------</a:t>
            </a:r>
          </a:p>
          <a:p>
            <a:pPr algn="l"/>
            <a:r>
              <a:rPr lang="vi-VN" b="1" i="0" dirty="0">
                <a:solidFill>
                  <a:srgbClr val="404040"/>
                </a:solidFill>
                <a:effectLst/>
                <a:latin typeface="Inter"/>
              </a:rPr>
              <a:t>Giải thích chi tiết</a:t>
            </a:r>
          </a:p>
          <a:p>
            <a:pPr algn="l"/>
            <a:r>
              <a:rPr lang="vi-VN" b="1" i="0" dirty="0">
                <a:solidFill>
                  <a:srgbClr val="404040"/>
                </a:solidFill>
                <a:effectLst/>
                <a:latin typeface="Inter"/>
              </a:rPr>
              <a:t>1. Non</a:t>
            </a:r>
            <a:r>
              <a:rPr lang="en-US" b="1" i="0" dirty="0">
                <a:solidFill>
                  <a:srgbClr val="404040"/>
                </a:solidFill>
                <a:effectLst/>
                <a:latin typeface="Inter"/>
              </a:rPr>
              <a:t>-</a:t>
            </a:r>
            <a:r>
              <a:rPr lang="vi-VN" b="1" i="0" dirty="0">
                <a:solidFill>
                  <a:srgbClr val="404040"/>
                </a:solidFill>
                <a:effectLst/>
                <a:latin typeface="Inter"/>
              </a:rPr>
              <a:t>intercepted Call (Luồng điều khiển thông thường)</a:t>
            </a:r>
          </a:p>
          <a:p>
            <a:pPr algn="l">
              <a:buFont typeface="Arial" panose="020B0604020202020204" pitchFamily="34" charset="0"/>
              <a:buChar char="•"/>
            </a:pPr>
            <a:r>
              <a:rPr lang="vi-VN" b="1" i="0" dirty="0">
                <a:solidFill>
                  <a:srgbClr val="404040"/>
                </a:solidFill>
                <a:effectLst/>
                <a:latin typeface="Inter"/>
              </a:rPr>
              <a:t>Cách hoạt động</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Ứng dụng khách (Client application) gọi một phương thức (ví dụ: B.doit(val)).</a:t>
            </a:r>
          </a:p>
          <a:p>
            <a:pPr marL="742950" lvl="1" indent="-285750" algn="l">
              <a:buFont typeface="Arial" panose="020B0604020202020204" pitchFamily="34" charset="0"/>
              <a:buChar char="•"/>
            </a:pPr>
            <a:r>
              <a:rPr lang="vi-VN" b="0" i="0" dirty="0">
                <a:solidFill>
                  <a:srgbClr val="404040"/>
                </a:solidFill>
                <a:effectLst/>
                <a:latin typeface="Inter"/>
              </a:rPr>
              <a:t>Yêu cầu được chuyển đến application stub, sau đó đến object middleware.</a:t>
            </a:r>
          </a:p>
          <a:p>
            <a:pPr marL="742950" lvl="1" indent="-285750" algn="l">
              <a:buFont typeface="Arial" panose="020B0604020202020204" pitchFamily="34" charset="0"/>
              <a:buChar char="•"/>
            </a:pPr>
            <a:r>
              <a:rPr lang="vi-VN" b="0" i="0" dirty="0">
                <a:solidFill>
                  <a:srgbClr val="404040"/>
                </a:solidFill>
                <a:effectLst/>
                <a:latin typeface="Inter"/>
              </a:rPr>
              <a:t>Object middleware gửi yêu cầu đến hệ điều hành cục bộ (Local OS) để xử lý.</a:t>
            </a:r>
          </a:p>
          <a:p>
            <a:pPr marL="742950" lvl="1" indent="-285750" algn="l">
              <a:buFont typeface="Arial" panose="020B0604020202020204" pitchFamily="34" charset="0"/>
              <a:buChar char="•"/>
            </a:pPr>
            <a:r>
              <a:rPr lang="vi-VN" b="0" i="0" dirty="0">
                <a:solidFill>
                  <a:srgbClr val="404040"/>
                </a:solidFill>
                <a:effectLst/>
                <a:latin typeface="Inter"/>
              </a:rPr>
              <a:t>Luồng điều khiển diễn ra mà không có sự can thiệp nào từ interceptor.</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Đơn giản và trực tiếp.</a:t>
            </a:r>
          </a:p>
          <a:p>
            <a:pPr marL="742950" lvl="1" indent="-285750" algn="l">
              <a:buFont typeface="Arial" panose="020B0604020202020204" pitchFamily="34" charset="0"/>
              <a:buChar char="•"/>
            </a:pPr>
            <a:r>
              <a:rPr lang="vi-VN" b="0" i="0" dirty="0">
                <a:solidFill>
                  <a:srgbClr val="404040"/>
                </a:solidFill>
                <a:effectLst/>
                <a:latin typeface="Inter"/>
              </a:rPr>
              <a:t>Không có sự can thiệp hoặc điều chỉnh nào trong quá trình xử lý yêu cầu.</a:t>
            </a:r>
          </a:p>
          <a:p>
            <a:pPr algn="l"/>
            <a:r>
              <a:rPr lang="vi-VN" b="1" i="0" dirty="0">
                <a:solidFill>
                  <a:srgbClr val="404040"/>
                </a:solidFill>
                <a:effectLst/>
                <a:latin typeface="Inter"/>
              </a:rPr>
              <a:t>2. Intercepted Call (Luồng điều khiển bị chặn)</a:t>
            </a:r>
          </a:p>
          <a:p>
            <a:pPr algn="l">
              <a:buFont typeface="Arial" panose="020B0604020202020204" pitchFamily="34" charset="0"/>
              <a:buChar char="•"/>
            </a:pPr>
            <a:r>
              <a:rPr lang="vi-VN" b="1" i="0" dirty="0">
                <a:solidFill>
                  <a:srgbClr val="404040"/>
                </a:solidFill>
                <a:effectLst/>
                <a:latin typeface="Inter"/>
              </a:rPr>
              <a:t>Cách hoạt động</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Ứng dụng khách (Client application) gọi một phương thức (ví dụ: B.doit(val)).</a:t>
            </a:r>
          </a:p>
          <a:p>
            <a:pPr marL="742950" lvl="1" indent="-285750" algn="l">
              <a:buFont typeface="Arial" panose="020B0604020202020204" pitchFamily="34" charset="0"/>
              <a:buChar char="•"/>
            </a:pPr>
            <a:r>
              <a:rPr lang="vi-VN" b="0" i="0" dirty="0">
                <a:solidFill>
                  <a:srgbClr val="404040"/>
                </a:solidFill>
                <a:effectLst/>
                <a:latin typeface="Inter"/>
              </a:rPr>
              <a:t>Yêu cầu được chuyển đến application stub</a:t>
            </a:r>
            <a:r>
              <a:rPr lang="en-US" b="0" i="0" dirty="0">
                <a:solidFill>
                  <a:srgbClr val="404040"/>
                </a:solidFill>
                <a:effectLst/>
                <a:latin typeface="Inter"/>
              </a:rPr>
              <a:t> (</a:t>
            </a:r>
            <a:r>
              <a:rPr lang="en-US" b="0" i="0" dirty="0" err="1">
                <a:solidFill>
                  <a:srgbClr val="404040"/>
                </a:solidFill>
                <a:effectLst/>
                <a:latin typeface="Inter"/>
              </a:rPr>
              <a:t>mô-đun</a:t>
            </a:r>
            <a:r>
              <a:rPr lang="en-US" b="0" i="0" dirty="0">
                <a:solidFill>
                  <a:srgbClr val="404040"/>
                </a:solidFill>
                <a:effectLst/>
                <a:latin typeface="Inter"/>
              </a:rPr>
              <a:t> </a:t>
            </a:r>
            <a:r>
              <a:rPr lang="en-US" b="0" i="0" dirty="0" err="1">
                <a:solidFill>
                  <a:srgbClr val="404040"/>
                </a:solidFill>
                <a:effectLst/>
                <a:latin typeface="Inter"/>
              </a:rPr>
              <a:t>đại</a:t>
            </a:r>
            <a:r>
              <a:rPr lang="en-US" b="0" i="0" dirty="0">
                <a:solidFill>
                  <a:srgbClr val="404040"/>
                </a:solidFill>
                <a:effectLst/>
                <a:latin typeface="Inter"/>
              </a:rPr>
              <a:t> </a:t>
            </a:r>
            <a:r>
              <a:rPr lang="en-US" b="0" i="0" dirty="0" err="1">
                <a:solidFill>
                  <a:srgbClr val="404040"/>
                </a:solidFill>
                <a:effectLst/>
                <a:latin typeface="Inter"/>
              </a:rPr>
              <a:t>diện</a:t>
            </a:r>
            <a:r>
              <a:rPr lang="en-US" b="0" i="0" dirty="0">
                <a:solidFill>
                  <a:srgbClr val="404040"/>
                </a:solidFill>
                <a:effectLst/>
                <a:latin typeface="Inter"/>
              </a:rPr>
              <a:t> </a:t>
            </a:r>
            <a:r>
              <a:rPr lang="en-US" b="0" i="0" dirty="0" err="1">
                <a:solidFill>
                  <a:srgbClr val="404040"/>
                </a:solidFill>
                <a:effectLst/>
                <a:latin typeface="Inter"/>
              </a:rPr>
              <a:t>của</a:t>
            </a:r>
            <a:r>
              <a:rPr lang="en-US" b="0" i="0" dirty="0">
                <a:solidFill>
                  <a:srgbClr val="404040"/>
                </a:solidFill>
                <a:effectLst/>
                <a:latin typeface="Inter"/>
              </a:rPr>
              <a:t> </a:t>
            </a:r>
            <a:r>
              <a:rPr lang="en-US" b="0" i="0" dirty="0" err="1">
                <a:solidFill>
                  <a:srgbClr val="404040"/>
                </a:solidFill>
                <a:effectLst/>
                <a:latin typeface="Inter"/>
              </a:rPr>
              <a:t>ứng</a:t>
            </a:r>
            <a:r>
              <a:rPr lang="en-US" b="0" i="0" dirty="0">
                <a:solidFill>
                  <a:srgbClr val="404040"/>
                </a:solidFill>
                <a:effectLst/>
                <a:latin typeface="Inter"/>
              </a:rPr>
              <a:t> </a:t>
            </a:r>
            <a:r>
              <a:rPr lang="en-US" b="0" i="0" dirty="0" err="1">
                <a:solidFill>
                  <a:srgbClr val="404040"/>
                </a:solidFill>
                <a:effectLst/>
                <a:latin typeface="Inter"/>
              </a:rPr>
              <a:t>dụng</a:t>
            </a:r>
            <a:r>
              <a:rPr lang="en-US" b="0" i="0" dirty="0">
                <a:solidFill>
                  <a:srgbClr val="404040"/>
                </a:solidFill>
                <a:effectLst/>
                <a:latin typeface="Inter"/>
              </a:rPr>
              <a:t>)</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Trước khi yêu cầu đến object middleware, nó bị chặn bởi các interceptor:</a:t>
            </a:r>
          </a:p>
          <a:p>
            <a:pPr marL="1143000" lvl="2" indent="-228600" algn="l">
              <a:buFont typeface="Arial" panose="020B0604020202020204" pitchFamily="34" charset="0"/>
              <a:buChar char="•"/>
            </a:pPr>
            <a:r>
              <a:rPr lang="vi-VN" b="1" i="0" dirty="0">
                <a:solidFill>
                  <a:srgbClr val="404040"/>
                </a:solidFill>
                <a:effectLst/>
                <a:latin typeface="Inter"/>
              </a:rPr>
              <a:t>Request-level interceptor</a:t>
            </a:r>
            <a:r>
              <a:rPr lang="vi-VN" b="0" i="0" dirty="0">
                <a:solidFill>
                  <a:srgbClr val="404040"/>
                </a:solidFill>
                <a:effectLst/>
                <a:latin typeface="Inter"/>
              </a:rPr>
              <a:t>: Chặn và xử lý yêu cầu ở mức độ yêu cầu. Ví dụ: kiểm tra quyền truy cập, ghi log, v.v.</a:t>
            </a:r>
          </a:p>
          <a:p>
            <a:pPr marL="1143000" lvl="2" indent="-228600" algn="l">
              <a:buFont typeface="Arial" panose="020B0604020202020204" pitchFamily="34" charset="0"/>
              <a:buChar char="•"/>
            </a:pPr>
            <a:r>
              <a:rPr lang="vi-VN" b="1" i="0" dirty="0">
                <a:solidFill>
                  <a:srgbClr val="404040"/>
                </a:solidFill>
                <a:effectLst/>
                <a:latin typeface="Inter"/>
              </a:rPr>
              <a:t>Message-level interceptor</a:t>
            </a:r>
            <a:r>
              <a:rPr lang="vi-VN" b="0" i="0" dirty="0">
                <a:solidFill>
                  <a:srgbClr val="404040"/>
                </a:solidFill>
                <a:effectLst/>
                <a:latin typeface="Inter"/>
              </a:rPr>
              <a:t>: Chặn và xử lý yêu cầu ở mức độ tin nhắn. Ví dụ: mã hóa/giải mã tin nhắn, nén dữ liệu, v.v.</a:t>
            </a:r>
          </a:p>
          <a:p>
            <a:pPr marL="742950" lvl="1" indent="-285750" algn="l">
              <a:buFont typeface="Arial" panose="020B0604020202020204" pitchFamily="34" charset="0"/>
              <a:buChar char="•"/>
            </a:pPr>
            <a:r>
              <a:rPr lang="vi-VN" b="0" i="0" dirty="0">
                <a:solidFill>
                  <a:srgbClr val="404040"/>
                </a:solidFill>
                <a:effectLst/>
                <a:latin typeface="Inter"/>
              </a:rPr>
              <a:t>Sau khi xử lý bởi interceptor, yêu cầu được chuyển đến object middleware và tiếp tục quá trình xử lý.</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Linh hoạt và có thể điều chỉnh luồng điều khiển.</a:t>
            </a:r>
          </a:p>
          <a:p>
            <a:pPr marL="742950" lvl="1" indent="-285750" algn="l">
              <a:buFont typeface="Arial" panose="020B0604020202020204" pitchFamily="34" charset="0"/>
              <a:buChar char="•"/>
            </a:pPr>
            <a:r>
              <a:rPr lang="vi-VN" b="0" i="0" dirty="0">
                <a:solidFill>
                  <a:srgbClr val="404040"/>
                </a:solidFill>
                <a:effectLst/>
                <a:latin typeface="Inter"/>
              </a:rPr>
              <a:t>Cho phép thêm các chức năng như bảo mật, ghi log, xử lý lỗi, v.v. mà không cần thay đổi mã nguồn chính.</a:t>
            </a:r>
          </a:p>
        </p:txBody>
      </p:sp>
      <p:sp>
        <p:nvSpPr>
          <p:cNvPr id="4" name="Slide Number Placeholder 3"/>
          <p:cNvSpPr>
            <a:spLocks noGrp="1"/>
          </p:cNvSpPr>
          <p:nvPr>
            <p:ph type="sldNum" sz="quarter" idx="5"/>
          </p:nvPr>
        </p:nvSpPr>
        <p:spPr/>
        <p:txBody>
          <a:bodyPr/>
          <a:lstStyle/>
          <a:p>
            <a:fld id="{FA13772E-92BC-4DF5-A31C-A96E0BDD6752}" type="slidenum">
              <a:rPr lang="en-US" smtClean="0"/>
              <a:t>23</a:t>
            </a:fld>
            <a:endParaRPr lang="en-US"/>
          </a:p>
        </p:txBody>
      </p:sp>
    </p:spTree>
    <p:extLst>
      <p:ext uri="{BB962C8B-B14F-4D97-AF65-F5344CB8AC3E}">
        <p14:creationId xmlns:p14="http://schemas.microsoft.com/office/powerpoint/2010/main" val="1681001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Bây giờ, sau khi đã thảo luận sơ lược về một số kiểu kiến trúc thường được áp dụng, hãy cùng xem cách các hệ thống phân tán thực sự được tổ chức bằng cách xem xét vị trí của các thành phần phần mềm. Việc quyết định các thành phần phần mềm, cách chúng tương tác và vị trí của chúng sẽ tạo nên một kiến trúc phần mềm cụ thể, còn được gọi là kiến trúc hệ thống. Chúng ta sẽ thảo luận về các mô hình tổ chức tập trung, phi tập trung cũng như các hình thức lai khác nhau.</a:t>
            </a:r>
            <a:endParaRPr lang="en-US" dirty="0"/>
          </a:p>
          <a:p>
            <a:endParaRPr lang="en-US" dirty="0"/>
          </a:p>
          <a:p>
            <a:r>
              <a:rPr lang="vi-VN" b="1" dirty="0"/>
              <a:t>Tổ chức tập trung</a:t>
            </a:r>
          </a:p>
          <a:p>
            <a:r>
              <a:rPr lang="vi-VN" dirty="0"/>
              <a:t>Mặc dù còn nhiều ý kiến khác nhau về các vấn đề trong hệ thống phân tán, có một quan điểm mà nhiều nhà nghiên cứu và chuyên gia đều đồng tình: tư duy theo mô </a:t>
            </a:r>
            <a:r>
              <a:rPr lang="en-US" dirty="0"/>
              <a:t>client-server </a:t>
            </a:r>
            <a:r>
              <a:rPr lang="vi-VN" dirty="0"/>
              <a:t>giúp hiểu và quản lý sự phức tạp của hệ thống phân tán.</a:t>
            </a:r>
          </a:p>
          <a:p>
            <a:r>
              <a:rPr lang="vi-VN" dirty="0"/>
              <a:t>Dưới đây, trước tiên chúng ta sẽ xem xét một mô hình tổ chức phân lớp đơn giản, sau đó sẽ tìm hiểu các mô hình tổ chức đa lớp.</a:t>
            </a:r>
          </a:p>
          <a:p>
            <a:endParaRPr lang="en-US" dirty="0"/>
          </a:p>
          <a:p>
            <a:r>
              <a:rPr lang="vi-VN" dirty="0"/>
              <a:t>Trong mô hình khách-chủ (client-server) cơ bản, các tiến trình trong hệ thống phân tán được chia thành hai nhóm (có thể trùng lặp).</a:t>
            </a:r>
            <a:endParaRPr lang="en-US" dirty="0"/>
          </a:p>
          <a:p>
            <a:pPr marL="171450" indent="-171450">
              <a:buFontTx/>
              <a:buChar char="-"/>
            </a:pPr>
            <a:r>
              <a:rPr lang="vi-VN" b="1" dirty="0"/>
              <a:t>Máy chủ (server)</a:t>
            </a:r>
            <a:r>
              <a:rPr lang="vi-VN" dirty="0"/>
              <a:t> là một tiến trình thực hiện một dịch vụ cụ thể, chẳng hạn như dịch vụ hệ thống tệp hoặc dịch vụ cơ sở dữ liệu. </a:t>
            </a:r>
            <a:endParaRPr lang="en-US" dirty="0"/>
          </a:p>
          <a:p>
            <a:pPr marL="171450" indent="-171450">
              <a:buFontTx/>
              <a:buChar char="-"/>
            </a:pPr>
            <a:r>
              <a:rPr lang="vi-VN" b="1" dirty="0"/>
              <a:t>Máy khách (client)</a:t>
            </a:r>
            <a:r>
              <a:rPr lang="vi-VN" dirty="0"/>
              <a:t> là một tiến trình yêu cầu dịch vụ từ máy chủ bằng cách gửi một yêu cầu và sau đó chờ phản hồi từ máy chủ. </a:t>
            </a:r>
            <a:endParaRPr lang="en-US" dirty="0"/>
          </a:p>
          <a:p>
            <a:pPr marL="171450" indent="-171450">
              <a:buFontTx/>
              <a:buChar char="-"/>
            </a:pPr>
            <a:r>
              <a:rPr lang="vi-VN" dirty="0"/>
              <a:t>Tương tác giữa máy khách và máy chủ, còn được gọi là hành vi yêu cầu - phản hồi (request-reply), được minh họa trong Hình dưới dạng biểu đồ trình tự thông điệp.</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24</a:t>
            </a:fld>
            <a:endParaRPr lang="en-US"/>
          </a:p>
        </p:txBody>
      </p:sp>
    </p:spTree>
    <p:extLst>
      <p:ext uri="{BB962C8B-B14F-4D97-AF65-F5344CB8AC3E}">
        <p14:creationId xmlns:p14="http://schemas.microsoft.com/office/powerpoint/2010/main" val="2791415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Kiến trúc đa tầng</a:t>
            </a:r>
          </a:p>
          <a:p>
            <a:r>
              <a:rPr lang="vi-VN" dirty="0"/>
              <a:t>Việc phân chia thành ba mức logic như đã thảo luận cho đến nay gợi ý một số cách để phân bố vật lý một ứng dụng </a:t>
            </a:r>
            <a:r>
              <a:rPr lang="en-US" dirty="0"/>
              <a:t>client-server</a:t>
            </a:r>
            <a:r>
              <a:rPr lang="vi-VN" dirty="0"/>
              <a:t> trên nhiều máy khác nhau. Cách tổ chức đơn giản nhất là chỉ có hai loại máy:</a:t>
            </a:r>
          </a:p>
          <a:p>
            <a:pPr>
              <a:buFont typeface="+mj-lt"/>
              <a:buAutoNum type="arabicPeriod"/>
            </a:pPr>
            <a:r>
              <a:rPr lang="vi-VN" b="1" dirty="0"/>
              <a:t>Máy khách (Client machine):</a:t>
            </a:r>
            <a:r>
              <a:rPr lang="vi-VN" dirty="0"/>
              <a:t> Chứa các chương trình chỉ thực hiện (một phần) của mức giao diện người dùng.</a:t>
            </a:r>
          </a:p>
          <a:p>
            <a:pPr>
              <a:buFont typeface="+mj-lt"/>
              <a:buAutoNum type="arabicPeriod"/>
            </a:pPr>
            <a:r>
              <a:rPr lang="vi-VN" b="1" dirty="0"/>
              <a:t>Máy chủ (Server machine):</a:t>
            </a:r>
            <a:r>
              <a:rPr lang="vi-VN" dirty="0"/>
              <a:t> Chứa phần còn lại, tức là các chương trình thực hiện mức xử lý và mức dữ liệu.</a:t>
            </a:r>
          </a:p>
          <a:p>
            <a:r>
              <a:rPr lang="vi-VN" dirty="0"/>
              <a:t>Trong cách tổ chức này, mọi thứ đều do máy chủ xử lý, trong khi máy khách thực chất chỉ là một thiết bị đầu cuối đơn giản, có thể chỉ có một giao diện đồ họa thuận tiện. Tuy nhiên, vẫn còn nhiều cách tổ chức khác. </a:t>
            </a:r>
            <a:r>
              <a:rPr lang="en-US" dirty="0"/>
              <a:t>N</a:t>
            </a:r>
            <a:r>
              <a:rPr lang="vi-VN" dirty="0"/>
              <a:t>hiều ứng dụng phân tán được chia thành ba lớp: (1) lớp giao diện người dùng, (2) lớp xử lý, và (3) lớp dữ liệu.</a:t>
            </a:r>
          </a:p>
          <a:p>
            <a:r>
              <a:rPr lang="vi-VN" dirty="0"/>
              <a:t>Một cách tiếp cận để tổ chức máy khách</a:t>
            </a:r>
            <a:r>
              <a:rPr lang="en-US" dirty="0"/>
              <a:t> (client)</a:t>
            </a:r>
            <a:r>
              <a:rPr lang="vi-VN" dirty="0"/>
              <a:t> và máy chủ</a:t>
            </a:r>
            <a:r>
              <a:rPr lang="en-US" dirty="0"/>
              <a:t> (server)</a:t>
            </a:r>
            <a:r>
              <a:rPr lang="vi-VN" dirty="0"/>
              <a:t> là phân phối các lớp này trên các máy khác nhau, như được minh họa trong Hình. Bước đầu tiên, chúng ta phân biệt hai loại máy: </a:t>
            </a:r>
            <a:r>
              <a:rPr lang="vi-VN" b="1" dirty="0"/>
              <a:t>máy khách</a:t>
            </a:r>
            <a:r>
              <a:rPr lang="vi-VN" dirty="0"/>
              <a:t> và </a:t>
            </a:r>
            <a:r>
              <a:rPr lang="vi-VN" b="1" dirty="0"/>
              <a:t>máy chủ</a:t>
            </a:r>
            <a:r>
              <a:rPr lang="vi-VN" dirty="0"/>
              <a:t>, dẫn đến mô hình kiến trúc hai tầng (two-tiered architecture) theo nghĩa vật lý.</a:t>
            </a:r>
          </a:p>
          <a:p>
            <a:r>
              <a:rPr lang="vi-VN" dirty="0"/>
              <a:t>Một cách tổ chức có thể áp dụng là chỉ đặt phần giao diện người dùng phụ thuộc vào thiết bị đầu cuối trên máy khách, như minh họa trong Hình(a), và cho phép các ứng dụng điều khiển từ xa việc hiển thị dữ liệu của chúng.</a:t>
            </a:r>
          </a:p>
          <a:p>
            <a:r>
              <a:rPr lang="vi-VN" dirty="0"/>
              <a:t>Một phương án khác là đặt toàn bộ phần mềm giao diện người dùng trên phía máy khách, như minh họa trong Hình(b). Trong trường hợp này, ứng dụng được chia thành hai phần: </a:t>
            </a:r>
            <a:r>
              <a:rPr lang="vi-VN" b="1" dirty="0"/>
              <a:t>giao diện đồ họa (front-end)</a:t>
            </a:r>
            <a:r>
              <a:rPr lang="vi-VN" dirty="0"/>
              <a:t>, giao tiếp với phần còn lại của ứng dụng (nằm trên máy chủ) thông qua một giao thức riêng của ứng dụng. Trong mô hình này, phần front-end (phần mềm máy khách) không thực hiện bất kỳ xử lý nào ngoài việc hiển thị giao diện của ứng dụng.</a:t>
            </a:r>
            <a:endParaRPr lang="en-US" dirty="0"/>
          </a:p>
          <a:p>
            <a:r>
              <a:rPr lang="vi-VN" dirty="0"/>
              <a:t>Tiếp tục theo hướng lập luận này, chúng ta cũng có thể chuyển một phần của ứng dụng</a:t>
            </a:r>
            <a:r>
              <a:rPr lang="en-US" dirty="0"/>
              <a:t> sang front-end</a:t>
            </a:r>
            <a:r>
              <a:rPr lang="vi-VN" dirty="0"/>
              <a:t>, như minh họa trong Hình(c). Một ví dụ hợp lý cho cách tiếp cận này là khi ứng dụng sử dụng một biểu mẫu cần được điền đầy đủ trước khi có thể xử lý. Khi đó, phần front-end có thể kiểm tra tính đúng đắn và nhất quán của biểu mẫu, đồng thời tương tác với người dùng khi cần thiết.</a:t>
            </a:r>
          </a:p>
          <a:p>
            <a:r>
              <a:rPr lang="vi-VN" dirty="0"/>
              <a:t>Một ví dụ khác về cách tổ chức theo Hình</a:t>
            </a:r>
            <a:r>
              <a:rPr lang="en-US" dirty="0"/>
              <a:t> </a:t>
            </a:r>
            <a:r>
              <a:rPr lang="vi-VN" dirty="0"/>
              <a:t>(c) là một trình xử lý văn bản, trong đó các chức năng chỉnh sửa cơ bản được thực thi trên phía máy khách, hoạt động trên dữ liệu được lưu trong bộ nhớ hoặc bộ nhớ đệm cục bộ. Trong khi đó, các công cụ hỗ trợ nâng cao như kiểm tra chính tả và ngữ pháp sẽ được thực thi trên máy chủ.</a:t>
            </a:r>
            <a:endParaRPr lang="en-US" dirty="0"/>
          </a:p>
          <a:p>
            <a:r>
              <a:rPr lang="vi-VN" dirty="0"/>
              <a:t>Trong nhiều môi trường client-server, các mô hình tổ chức được minh họa trong Hình</a:t>
            </a:r>
            <a:r>
              <a:rPr lang="en-US" dirty="0"/>
              <a:t> </a:t>
            </a:r>
            <a:r>
              <a:rPr lang="vi-VN" dirty="0"/>
              <a:t>(d) và Hình (e) đặc biệt phổ biến. Những mô hình này thường được sử dụng khi máy khách là một PC hoặc trạm làm việc (workstation) được kết nối qua mạng với một hệ thống tệp phân tán hoặc cơ sở dữ liệu.</a:t>
            </a:r>
          </a:p>
          <a:p>
            <a:r>
              <a:rPr lang="vi-VN" dirty="0"/>
              <a:t>Về cơ bản, hầu hết ứng dụng chạy trên máy khách, nhưng tất cả các thao tác trên tệp hoặc mục nhập trong cơ sở dữ liệu đều được gửi đến máy chủ. Ví dụ, nhiều ứng dụng ngân hàng chạy trên máy của người dùng cuối, nơi họ chuẩn bị các giao dịch. Sau khi hoàn tất, ứng dụng kết nối với cơ sở dữ liệu trên máy chủ của ngân hàng và tải lên các giao dịch để xử lý tiếp theo.</a:t>
            </a:r>
          </a:p>
          <a:p>
            <a:r>
              <a:rPr lang="vi-VN" dirty="0"/>
              <a:t>Hình (e) thể hiện tình huống khi ổ đĩa cục bộ của máy khách chứa một phần dữ liệu. Ví dụ, khi duyệt Web, máy khách có thể dần dần tạo một bộ nhớ đệm (cache) lớn trên ổ đĩa cục bộ, lưu trữ các trang Web đã xem gần đây nhất.</a:t>
            </a:r>
          </a:p>
          <a:p>
            <a:endParaRPr lang="vi-VN" dirty="0"/>
          </a:p>
          <a:p>
            <a:endParaRPr lang="vi-VN" dirty="0"/>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25</a:t>
            </a:fld>
            <a:endParaRPr lang="en-US"/>
          </a:p>
        </p:txBody>
      </p:sp>
    </p:spTree>
    <p:extLst>
      <p:ext uri="{BB962C8B-B14F-4D97-AF65-F5344CB8AC3E}">
        <p14:creationId xmlns:p14="http://schemas.microsoft.com/office/powerpoint/2010/main" val="2938168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Khi chỉ phân biệt giữa máy khách</a:t>
            </a:r>
            <a:r>
              <a:rPr lang="en-US" dirty="0"/>
              <a:t> (client)</a:t>
            </a:r>
            <a:r>
              <a:rPr lang="vi-VN" dirty="0"/>
              <a:t> và máy chủ</a:t>
            </a:r>
            <a:r>
              <a:rPr lang="en-US" dirty="0"/>
              <a:t> (server)</a:t>
            </a:r>
            <a:r>
              <a:rPr lang="vi-VN" dirty="0"/>
              <a:t> như đã làm trước đây, chúng ta bỏ qua thực tế rằng một máy chủ đôi khi cũng cần đóng vai trò như một máy khách, như minh họa trong Hình. Điều này dẫn đến một kiến trúc ba tầng (three-tiered architecture) theo nghĩa vật lý.</a:t>
            </a:r>
            <a:endParaRPr lang="en-US" dirty="0"/>
          </a:p>
          <a:p>
            <a:endParaRPr lang="vi-VN" dirty="0"/>
          </a:p>
          <a:p>
            <a:r>
              <a:rPr lang="vi-VN" dirty="0"/>
              <a:t>Trong kiến trúc này, các chương trình thuộc lớp xử lý truyền thống thường được thực thi bởi một máy chủ riêng biệt, nhưng cũng có thể được phân phối một phần giữa các máy khách và máy chủ. Một ví dụ điển hình về việc sử dụng kiến trúc ba tầng là trong xử lý giao dịch (transaction processing). Một tiến trình riêng biệt, được gọi là </a:t>
            </a:r>
            <a:r>
              <a:rPr lang="vi-VN" b="1" dirty="0"/>
              <a:t>bộ giám sát xử lý giao dịch</a:t>
            </a:r>
            <a:r>
              <a:rPr lang="vi-VN" dirty="0"/>
              <a:t> (transaction processing monitor), có nhiệm vụ điều phối tất cả các giao dịch giữa các máy chủ dữ liệu khác nhau.</a:t>
            </a:r>
            <a:endParaRPr lang="en-US" dirty="0"/>
          </a:p>
          <a:p>
            <a:endParaRPr lang="vi-VN" dirty="0"/>
          </a:p>
          <a:p>
            <a:r>
              <a:rPr lang="vi-VN" dirty="0"/>
              <a:t>Một ví dụ khác, nhưng rất khác biệt, về việc sử dụng kiến trúc ba tầng là trong tổ chức của các trang web. Trong trường hợp này, một </a:t>
            </a:r>
            <a:r>
              <a:rPr lang="vi-VN" b="1" dirty="0"/>
              <a:t>máy chủ Web</a:t>
            </a:r>
            <a:r>
              <a:rPr lang="vi-VN" dirty="0"/>
              <a:t> đóng vai trò là điểm truy cập vào trang web, chuyển tiếp các yêu cầu đến </a:t>
            </a:r>
            <a:r>
              <a:rPr lang="vi-VN" b="1" dirty="0"/>
              <a:t>máy chủ ứng dụng</a:t>
            </a:r>
            <a:r>
              <a:rPr lang="vi-VN" dirty="0"/>
              <a:t>, nơi thực hiện xử lý thực tế. Máy chủ ứng dụng này sau đó sẽ tương tác với </a:t>
            </a:r>
            <a:r>
              <a:rPr lang="vi-VN" b="1" dirty="0"/>
              <a:t>máy chủ cơ sở dữ liệu</a:t>
            </a:r>
            <a:r>
              <a:rPr lang="vi-VN" dirty="0"/>
              <a:t>.</a:t>
            </a:r>
            <a:endParaRPr lang="en-US" dirty="0"/>
          </a:p>
          <a:p>
            <a:endParaRPr lang="vi-VN" dirty="0"/>
          </a:p>
          <a:p>
            <a:r>
              <a:rPr lang="vi-VN" dirty="0"/>
              <a:t>Ví dụ, một máy chủ ứng dụng có thể chịu trách nhiệm chạy mã để kiểm tra hàng tồn kho của một nhà sách trực tuyến. Để làm điều này, nó có thể cần phải tương tác với một cơ sở dữ liệu chứa dữ liệu tồn kho thô.</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26</a:t>
            </a:fld>
            <a:endParaRPr lang="en-US"/>
          </a:p>
        </p:txBody>
      </p:sp>
    </p:spTree>
    <p:extLst>
      <p:ext uri="{BB962C8B-B14F-4D97-AF65-F5344CB8AC3E}">
        <p14:creationId xmlns:p14="http://schemas.microsoft.com/office/powerpoint/2010/main" val="3065650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Alternative Organizations (Các mô hình tổ chức thay thế)</a:t>
            </a:r>
          </a:p>
          <a:p>
            <a:pPr>
              <a:buFont typeface="+mj-lt"/>
              <a:buAutoNum type="arabicPeriod"/>
            </a:pPr>
            <a:r>
              <a:rPr lang="vi-VN" b="1" dirty="0"/>
              <a:t>Vertical Distribution (Phân tán theo chiều dọc)</a:t>
            </a:r>
            <a:endParaRPr lang="vi-VN" dirty="0"/>
          </a:p>
          <a:p>
            <a:pPr marL="742950" lvl="1" indent="-285750">
              <a:buFont typeface="+mj-lt"/>
              <a:buAutoNum type="arabicPeriod"/>
            </a:pPr>
            <a:r>
              <a:rPr lang="vi-VN" dirty="0"/>
              <a:t>Xuất phát từ việc chia ứng dụng phân tán thành ba lớp logic: </a:t>
            </a:r>
            <a:r>
              <a:rPr lang="vi-VN" b="1" dirty="0"/>
              <a:t>giao diện người dùng, xử lý, và dữ liệu</a:t>
            </a:r>
            <a:r>
              <a:rPr lang="vi-VN" dirty="0"/>
              <a:t>.</a:t>
            </a:r>
          </a:p>
          <a:p>
            <a:pPr marL="742950" lvl="1" indent="-285750">
              <a:buFont typeface="+mj-lt"/>
              <a:buAutoNum type="arabicPeriod"/>
            </a:pPr>
            <a:r>
              <a:rPr lang="vi-VN" dirty="0"/>
              <a:t>Các thành phần của mỗi lớp được chạy trên các máy chủ (server) khác nhau.</a:t>
            </a:r>
          </a:p>
          <a:p>
            <a:pPr>
              <a:buFont typeface="+mj-lt"/>
              <a:buAutoNum type="arabicPeriod"/>
            </a:pPr>
            <a:r>
              <a:rPr lang="vi-VN" b="1" dirty="0"/>
              <a:t>Horizontal Distribution (Phân tán theo chiều ngang)</a:t>
            </a:r>
            <a:endParaRPr lang="vi-VN" dirty="0"/>
          </a:p>
          <a:p>
            <a:pPr marL="742950" lvl="1" indent="-285750">
              <a:buFont typeface="+mj-lt"/>
              <a:buAutoNum type="arabicPeriod"/>
            </a:pPr>
            <a:r>
              <a:rPr lang="vi-VN" dirty="0"/>
              <a:t>Một máy khách hoặc máy chủ có thể được chia thành nhiều phần có chức năng tương đương nhau.</a:t>
            </a:r>
          </a:p>
          <a:p>
            <a:pPr marL="742950" lvl="1" indent="-285750">
              <a:buFont typeface="+mj-lt"/>
              <a:buAutoNum type="arabicPeriod"/>
            </a:pPr>
            <a:r>
              <a:rPr lang="vi-VN" dirty="0"/>
              <a:t>Mỗi phần hoạt động trên một phần riêng của tập dữ liệu hoàn chỉnh.</a:t>
            </a:r>
          </a:p>
          <a:p>
            <a:pPr>
              <a:buFont typeface="+mj-lt"/>
              <a:buAutoNum type="arabicPeriod"/>
            </a:pPr>
            <a:r>
              <a:rPr lang="vi-VN" b="1" dirty="0"/>
              <a:t>Peer-to-Peer Architectures (Kiến trúc ngang hàng - P2P)</a:t>
            </a:r>
            <a:endParaRPr lang="vi-VN" dirty="0"/>
          </a:p>
          <a:p>
            <a:pPr marL="742950" lvl="1" indent="-285750">
              <a:buFont typeface="+mj-lt"/>
              <a:buAutoNum type="arabicPeriod"/>
            </a:pPr>
            <a:r>
              <a:rPr lang="vi-VN" dirty="0"/>
              <a:t>Các tiến trình trong hệ thống có vai trò bình đẳng, không có sự phân biệt giữa máy chủ và máy khách.</a:t>
            </a:r>
          </a:p>
          <a:p>
            <a:pPr marL="742950" lvl="1" indent="-285750">
              <a:buFont typeface="+mj-lt"/>
              <a:buAutoNum type="arabicPeriod"/>
            </a:pPr>
            <a:r>
              <a:rPr lang="vi-VN" dirty="0"/>
              <a:t>Mọi tiến trình đều thực hiện các chức năng cần thiết, vừa đóng vai trò là máy khách vừa là máy chủ (còn gọi là </a:t>
            </a:r>
            <a:r>
              <a:rPr lang="vi-VN" b="1" dirty="0"/>
              <a:t>servant</a:t>
            </a:r>
            <a:r>
              <a:rPr lang="vi-VN" dirty="0"/>
              <a:t> – sự kết hợp giữa </a:t>
            </a:r>
            <a:r>
              <a:rPr lang="vi-VN" b="1" dirty="0"/>
              <a:t>server</a:t>
            </a:r>
            <a:r>
              <a:rPr lang="vi-VN" dirty="0"/>
              <a:t> và </a:t>
            </a:r>
            <a:r>
              <a:rPr lang="vi-VN" b="1" dirty="0"/>
              <a:t>client</a:t>
            </a:r>
            <a:r>
              <a:rPr lang="vi-VN" dirty="0"/>
              <a:t>).</a:t>
            </a:r>
          </a:p>
          <a:p>
            <a:r>
              <a:rPr lang="en-US" dirty="0"/>
              <a:t>----------------------------------------------------------------------------------------------------------------------------------------------------------------------------------------</a:t>
            </a:r>
          </a:p>
          <a:p>
            <a:r>
              <a:rPr lang="vi-VN" dirty="0"/>
              <a:t>Các kiến trúc client-server nhiều tầng (Multitiered client-server architectures) là hệ quả trực tiếp của việc chia nhỏ các ứng dụng phân tán thành </a:t>
            </a:r>
            <a:r>
              <a:rPr lang="vi-VN" b="1" dirty="0"/>
              <a:t>giao diện người dùng, các thành phần xử lý và các thành phần quản lý dữ liệu</a:t>
            </a:r>
            <a:r>
              <a:rPr lang="vi-VN" dirty="0"/>
              <a:t>. Các tầng khác nhau tương ứng trực tiếp với cách tổ chức logic của ứng dụng.</a:t>
            </a:r>
          </a:p>
          <a:p>
            <a:r>
              <a:rPr lang="vi-VN" dirty="0"/>
              <a:t>Trong nhiều môi trường doanh nghiệp, </a:t>
            </a:r>
            <a:r>
              <a:rPr lang="vi-VN" b="1" dirty="0"/>
              <a:t>xử lý phân tán</a:t>
            </a:r>
            <a:r>
              <a:rPr lang="vi-VN" dirty="0"/>
              <a:t> đồng nghĩa với việc tổ chức một ứng dụng client-server theo kiến trúc nhiều tầng. Chúng t</a:t>
            </a:r>
            <a:r>
              <a:rPr lang="en-US" dirty="0"/>
              <a:t>a</a:t>
            </a:r>
            <a:r>
              <a:rPr lang="vi-VN" dirty="0"/>
              <a:t> gọi kiểu phân phối này là </a:t>
            </a:r>
            <a:r>
              <a:rPr lang="vi-VN" b="1" dirty="0"/>
              <a:t>phân tán theo chiều dọc (vertical distribution)</a:t>
            </a:r>
            <a:r>
              <a:rPr lang="vi-VN" dirty="0"/>
              <a:t>. Đặc điểm chính của </a:t>
            </a:r>
            <a:r>
              <a:rPr lang="vi-VN" b="1" dirty="0"/>
              <a:t>phân tán theo chiều dọc</a:t>
            </a:r>
            <a:r>
              <a:rPr lang="vi-VN" dirty="0"/>
              <a:t> là nó đạt được bằng cách đặt các thành phần logic khác nhau trên các máy khác nhau.</a:t>
            </a:r>
          </a:p>
          <a:p>
            <a:r>
              <a:rPr lang="vi-VN" dirty="0"/>
              <a:t>Thuật ngữ này có liên quan đến khái niệm </a:t>
            </a:r>
            <a:r>
              <a:rPr lang="vi-VN" b="1" dirty="0"/>
              <a:t>phân mảnh theo chiều dọc (vertical fragmentation)</a:t>
            </a:r>
            <a:r>
              <a:rPr lang="vi-VN" dirty="0"/>
              <a:t> trong cơ sở dữ liệu quan hệ phân tán, trong đó </a:t>
            </a:r>
            <a:r>
              <a:rPr lang="vi-VN" b="1" dirty="0"/>
              <a:t>bảng dữ liệu được chia theo cột</a:t>
            </a:r>
            <a:r>
              <a:rPr lang="vi-VN" dirty="0"/>
              <a:t> và sau đó được phân phối trên nhiều máy.</a:t>
            </a:r>
            <a:endParaRPr lang="en-US" dirty="0"/>
          </a:p>
          <a:p>
            <a:r>
              <a:rPr lang="vi-VN" dirty="0"/>
              <a:t>Từ góc độ quản lý hệ thống, </a:t>
            </a:r>
            <a:r>
              <a:rPr lang="vi-VN" b="1" dirty="0"/>
              <a:t>phân tán theo chiều dọc</a:t>
            </a:r>
            <a:r>
              <a:rPr lang="vi-VN" dirty="0"/>
              <a:t> có thể giúp tối ưu hóa hệ thống: các chức năng được chia tách về mặt logic và vật lý trên nhiều máy khác nhau, mỗi máy được điều chỉnh để thực hiện một nhóm chức năng cụ thể.</a:t>
            </a:r>
          </a:p>
          <a:p>
            <a:endParaRPr lang="en-US" dirty="0"/>
          </a:p>
          <a:p>
            <a:r>
              <a:rPr lang="vi-VN" dirty="0"/>
              <a:t>Tuy nhiên, </a:t>
            </a:r>
            <a:r>
              <a:rPr lang="vi-VN" b="1" dirty="0"/>
              <a:t>phân tán theo chiều dọc</a:t>
            </a:r>
            <a:r>
              <a:rPr lang="vi-VN" dirty="0"/>
              <a:t> chỉ là một trong những cách tổ chức ứng dụng client-server. Trong các kiến trúc hiện đại, </a:t>
            </a:r>
            <a:r>
              <a:rPr lang="vi-VN" b="1" dirty="0"/>
              <a:t>sự phân phối giữa các máy khách và máy chủ mới là yếu tố quan trọng</a:t>
            </a:r>
            <a:r>
              <a:rPr lang="vi-VN" dirty="0"/>
              <a:t>, và chúng tôi gọi đó là </a:t>
            </a:r>
            <a:r>
              <a:rPr lang="vi-VN" b="1" dirty="0"/>
              <a:t>phân tán theo chiều ngang (horizontal distribution)</a:t>
            </a:r>
            <a:r>
              <a:rPr lang="vi-VN" dirty="0"/>
              <a:t>.</a:t>
            </a:r>
          </a:p>
          <a:p>
            <a:r>
              <a:rPr lang="vi-VN" dirty="0"/>
              <a:t>Trong kiểu phân phối này:</a:t>
            </a:r>
          </a:p>
          <a:p>
            <a:pPr>
              <a:buFont typeface="Arial" panose="020B0604020202020204" pitchFamily="34" charset="0"/>
              <a:buChar char="•"/>
            </a:pPr>
            <a:r>
              <a:rPr lang="vi-VN" dirty="0"/>
              <a:t>Một máy khách hoặc máy chủ có thể </a:t>
            </a:r>
            <a:r>
              <a:rPr lang="vi-VN" b="1" dirty="0"/>
              <a:t>được chia thành nhiều phần có chức năng tương đương</a:t>
            </a:r>
            <a:r>
              <a:rPr lang="vi-VN" dirty="0"/>
              <a:t>.</a:t>
            </a:r>
          </a:p>
          <a:p>
            <a:pPr>
              <a:buFont typeface="Arial" panose="020B0604020202020204" pitchFamily="34" charset="0"/>
              <a:buChar char="•"/>
            </a:pPr>
            <a:r>
              <a:rPr lang="vi-VN" dirty="0"/>
              <a:t>Mỗi phần hoạt động trên một phần riêng của tập dữ liệu hoàn chỉnh, giúp </a:t>
            </a:r>
            <a:r>
              <a:rPr lang="vi-VN" b="1" dirty="0"/>
              <a:t>cân bằng tải (load balancing)</a:t>
            </a:r>
            <a:r>
              <a:rPr lang="vi-VN" dirty="0"/>
              <a:t>.</a:t>
            </a:r>
            <a:endParaRPr lang="en-US" dirty="0"/>
          </a:p>
          <a:p>
            <a:pPr>
              <a:buFont typeface="Arial" panose="020B0604020202020204" pitchFamily="34" charset="0"/>
              <a:buChar char="•"/>
            </a:pPr>
            <a:endParaRPr lang="vi-VN" dirty="0"/>
          </a:p>
          <a:p>
            <a:r>
              <a:rPr lang="vi-VN" dirty="0"/>
              <a:t>Trong phần này, chúng ta sẽ xem xét một lớp kiến trúc hệ thống hiện đại hỗ trợ </a:t>
            </a:r>
            <a:r>
              <a:rPr lang="vi-VN" b="1" dirty="0"/>
              <a:t>phân tán theo chiều ngang</a:t>
            </a:r>
            <a:r>
              <a:rPr lang="vi-VN" dirty="0"/>
              <a:t>, được gọi là </a:t>
            </a:r>
            <a:r>
              <a:rPr lang="vi-VN" b="1" dirty="0"/>
              <a:t>hệ thống ngang hàng (peer-to-peer systems - P2P)</a:t>
            </a:r>
            <a:r>
              <a:rPr lang="vi-VN" dirty="0"/>
              <a:t>.</a:t>
            </a:r>
          </a:p>
          <a:p>
            <a:r>
              <a:rPr lang="en-US" dirty="0" err="1"/>
              <a:t>Nhìn</a:t>
            </a:r>
            <a:r>
              <a:rPr lang="en-US" dirty="0"/>
              <a:t> ở </a:t>
            </a:r>
            <a:r>
              <a:rPr lang="en-US" dirty="0" err="1"/>
              <a:t>góc</a:t>
            </a:r>
            <a:r>
              <a:rPr lang="en-US" dirty="0"/>
              <a:t> </a:t>
            </a:r>
            <a:r>
              <a:rPr lang="en-US" dirty="0" err="1"/>
              <a:t>độ</a:t>
            </a:r>
            <a:r>
              <a:rPr lang="en-US" dirty="0"/>
              <a:t> high-level</a:t>
            </a:r>
            <a:r>
              <a:rPr lang="vi-VN" dirty="0"/>
              <a:t>, các tiến trình tạo thành một hệ thống </a:t>
            </a:r>
            <a:r>
              <a:rPr lang="vi-VN" b="1" dirty="0"/>
              <a:t>peer-to-peer (P2P)</a:t>
            </a:r>
            <a:r>
              <a:rPr lang="vi-VN" dirty="0"/>
              <a:t> đều </a:t>
            </a:r>
            <a:r>
              <a:rPr lang="vi-VN" b="1" dirty="0"/>
              <a:t>bình đẳng</a:t>
            </a:r>
            <a:r>
              <a:rPr lang="vi-VN" dirty="0"/>
              <a:t>. Điều này có nghĩa là các chức năng cần thực hiện được đại diện bởi </a:t>
            </a:r>
            <a:r>
              <a:rPr lang="vi-VN" b="1" dirty="0"/>
              <a:t>mọi tiến trình</a:t>
            </a:r>
            <a:r>
              <a:rPr lang="vi-VN" dirty="0"/>
              <a:t> trong hệ thống phân tán.</a:t>
            </a:r>
          </a:p>
          <a:p>
            <a:r>
              <a:rPr lang="vi-VN" dirty="0"/>
              <a:t>Do đó, </a:t>
            </a:r>
            <a:r>
              <a:rPr lang="vi-VN" b="1" dirty="0"/>
              <a:t>phần lớn các tương tác giữa các tiến trình mang tính đối xứng</a:t>
            </a:r>
            <a:r>
              <a:rPr lang="vi-VN" dirty="0"/>
              <a:t>:</a:t>
            </a:r>
          </a:p>
          <a:p>
            <a:pPr>
              <a:buFont typeface="Arial" panose="020B0604020202020204" pitchFamily="34" charset="0"/>
              <a:buChar char="•"/>
            </a:pPr>
            <a:r>
              <a:rPr lang="vi-VN" dirty="0"/>
              <a:t>Mỗi tiến trình </a:t>
            </a:r>
            <a:r>
              <a:rPr lang="vi-VN" b="1" dirty="0"/>
              <a:t>vừa đóng vai trò là client, vừa đóng vai trò là server cùng một lúc</a:t>
            </a:r>
            <a:r>
              <a:rPr lang="vi-VN" dirty="0"/>
              <a:t> (điều này còn được gọi là </a:t>
            </a:r>
            <a:r>
              <a:rPr lang="vi-VN" b="1" dirty="0"/>
              <a:t>servant</a:t>
            </a:r>
            <a:r>
              <a:rPr lang="vi-VN" dirty="0"/>
              <a:t>).</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27</a:t>
            </a:fld>
            <a:endParaRPr lang="en-US"/>
          </a:p>
        </p:txBody>
      </p:sp>
    </p:spTree>
    <p:extLst>
      <p:ext uri="{BB962C8B-B14F-4D97-AF65-F5344CB8AC3E}">
        <p14:creationId xmlns:p14="http://schemas.microsoft.com/office/powerpoint/2010/main" val="2610677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Như tên gọi của nó, trong một hệ thống ngang hàng có cấu trúc, các nút (tức là các tiến trình) được tổ chức trong một lớp phủ tuân theo một cấu trúc cụ thể và xác định: một vòng tròn, một cây nhị phân, một lưới, v.v. Cấu trúc này được sử dụng để tra cứu dữ liệu một cách hiệu quả. Đặc điểm của các hệ thống ngang hàng có cấu trúc là chúng thường dựa trên việc sử dụng một chỉ mục được gọi là không mang ngữ nghĩa. Điều này có nghĩa là mỗi mục dữ liệu được duy trì bởi hệ thống sẽ được liên kết duy nhất với một khóa, và khóa này sau đó được sử dụng như một chỉ mục. Để đạt được điều này, người ta thường sử dụng một hàm băm, sao cho chúng ta có:</a:t>
            </a:r>
            <a:endParaRPr lang="en-US" b="0" i="0" dirty="0">
              <a:solidFill>
                <a:srgbClr val="404040"/>
              </a:solidFill>
              <a:effectLst/>
              <a:latin typeface="Inter"/>
            </a:endParaRPr>
          </a:p>
          <a:p>
            <a:r>
              <a:rPr lang="en-US" b="1" i="1" dirty="0">
                <a:solidFill>
                  <a:srgbClr val="404040"/>
                </a:solidFill>
                <a:effectLst/>
                <a:latin typeface="Inter"/>
              </a:rPr>
              <a:t>Key(data item) = hash(data item’s value)</a:t>
            </a:r>
          </a:p>
          <a:p>
            <a:endParaRPr lang="en-US" b="1" i="1" dirty="0">
              <a:solidFill>
                <a:srgbClr val="404040"/>
              </a:solidFill>
              <a:effectLst/>
              <a:latin typeface="Inter"/>
            </a:endParaRPr>
          </a:p>
          <a:p>
            <a:pPr algn="l"/>
            <a:r>
              <a:rPr lang="vi-VN" b="0" i="0" dirty="0">
                <a:solidFill>
                  <a:srgbClr val="404040"/>
                </a:solidFill>
                <a:effectLst/>
                <a:latin typeface="Inter"/>
              </a:rPr>
              <a:t>Hệ thống ngang hàng nói chung có trách nhiệm lưu trữ các cặp (khóa, giá trị). Để thực hiện điều này, mỗi nút được gán một định danh từ cùng một tập hợp tất cả các giá trị băm có thể, và mỗi nút được giao nhiệm vụ lưu trữ dữ liệu liên quan đến một tập hợp con cụ thể của các khóa. Về bản chất, hệ thống này được xem như triển khai một bảng băm phân tán, thường được viết tắt là DHT.</a:t>
            </a:r>
          </a:p>
          <a:p>
            <a:pPr algn="l"/>
            <a:r>
              <a:rPr lang="vi-VN" b="0" i="0" dirty="0">
                <a:solidFill>
                  <a:srgbClr val="404040"/>
                </a:solidFill>
                <a:effectLst/>
                <a:latin typeface="Inter"/>
              </a:rPr>
              <a:t>Theo cách tiếp cận này, bản chất của các hệ thống ngang hàng có cấu trúc được rút gọn thành khả năng tra cứu một mục dữ liệu thông qua khóa của nó. Cụ thể, hệ thống cung cấp một triển khai hiệu quả của hàm tra cứu (lookup), ánh xạ một khóa đến một nút hiện có trong hệ thống.</a:t>
            </a:r>
            <a:endParaRPr lang="en-US" b="0" i="0" dirty="0">
              <a:solidFill>
                <a:srgbClr val="404040"/>
              </a:solidFill>
              <a:effectLst/>
              <a:latin typeface="Inter"/>
            </a:endParaRPr>
          </a:p>
          <a:p>
            <a:pPr algn="l"/>
            <a:r>
              <a:rPr lang="en-US" sz="1800" b="1" i="1" dirty="0">
                <a:solidFill>
                  <a:srgbClr val="000000"/>
                </a:solidFill>
                <a:effectLst/>
                <a:latin typeface="URWPalladioL-Ital"/>
              </a:rPr>
              <a:t>existing node </a:t>
            </a:r>
            <a:r>
              <a:rPr lang="en-US" sz="1800" b="1" i="0" dirty="0">
                <a:solidFill>
                  <a:srgbClr val="000000"/>
                </a:solidFill>
                <a:effectLst/>
                <a:latin typeface="CMR10"/>
              </a:rPr>
              <a:t>= </a:t>
            </a:r>
            <a:r>
              <a:rPr lang="en-US" sz="1800" b="1" i="1" dirty="0">
                <a:solidFill>
                  <a:srgbClr val="000000"/>
                </a:solidFill>
                <a:effectLst/>
                <a:latin typeface="URWPalladioL-Ital"/>
              </a:rPr>
              <a:t>lookup</a:t>
            </a:r>
            <a:r>
              <a:rPr lang="en-US" sz="1800" b="1" i="0" dirty="0">
                <a:solidFill>
                  <a:srgbClr val="000000"/>
                </a:solidFill>
                <a:effectLst/>
                <a:latin typeface="CMR10"/>
              </a:rPr>
              <a:t>(</a:t>
            </a:r>
            <a:r>
              <a:rPr lang="en-US" sz="1800" b="1" i="1" dirty="0">
                <a:solidFill>
                  <a:srgbClr val="000000"/>
                </a:solidFill>
                <a:effectLst/>
                <a:latin typeface="URWPalladioL-Ital"/>
              </a:rPr>
              <a:t>key</a:t>
            </a:r>
            <a:r>
              <a:rPr lang="en-US" sz="1800" b="1" i="0" dirty="0">
                <a:solidFill>
                  <a:srgbClr val="000000"/>
                </a:solidFill>
                <a:effectLst/>
                <a:latin typeface="CMR10"/>
              </a:rPr>
              <a:t>)</a:t>
            </a:r>
            <a:r>
              <a:rPr lang="en-US" sz="1800" b="1" i="0" dirty="0">
                <a:solidFill>
                  <a:srgbClr val="000000"/>
                </a:solidFill>
                <a:effectLst/>
                <a:latin typeface="URWPalladioL-Roma"/>
              </a:rPr>
              <a:t>.</a:t>
            </a:r>
            <a:r>
              <a:rPr lang="en-US" b="1" dirty="0"/>
              <a:t> </a:t>
            </a:r>
          </a:p>
          <a:p>
            <a:pPr algn="l"/>
            <a:br>
              <a:rPr lang="en-US" b="1" dirty="0"/>
            </a:br>
            <a:r>
              <a:rPr lang="vi-VN" b="0" i="0" dirty="0">
                <a:solidFill>
                  <a:srgbClr val="404040"/>
                </a:solidFill>
                <a:effectLst/>
                <a:latin typeface="Inter"/>
              </a:rPr>
              <a:t>Đây là lúc cấu trúc liên kết (topology) của một hệ thống ngang hàng có cấu trúc đóng vai trò quan trọng. Bất kỳ nút nào cũng có thể được yêu cầu tra cứu một khóa cụ thể, và việc này được thực hiện bằng cách định tuyến hiệu quả yêu cầu tra cứu đó đến nút chịu trách nhiệm lưu trữ dữ liệu liên quan đến khóa đã cho.</a:t>
            </a:r>
          </a:p>
          <a:p>
            <a:pPr algn="l"/>
            <a:r>
              <a:rPr lang="vi-VN" b="0" i="0" dirty="0">
                <a:solidFill>
                  <a:srgbClr val="404040"/>
                </a:solidFill>
                <a:effectLst/>
                <a:latin typeface="Inter"/>
              </a:rPr>
              <a:t>Để làm rõ vấn đề này, hãy xem xét một hệ thống ngang hàng đơn giản với số lượng nút cố định, được tổ chức thành một siêu khối (hypercube). Một siêu khối là một khối n chiều. Siêu khối được hiển thị trong Hình là một siêu khối bốn chiều. Nó có thể được hình dung như hai khối lập phương thông thường, mỗi khối có 8 đỉnh và 12 cạnh. Để mở rộng siêu khối lên năm chiều, chúng ta sẽ thêm một cặp khối lập phương khác vào hình, kết nối các cạnh tương ứng trong hai nửa, và cứ tiếp tục như vậy.</a:t>
            </a:r>
          </a:p>
          <a:p>
            <a:pPr algn="l"/>
            <a:endParaRPr lang="en-US" b="1" i="0" dirty="0">
              <a:solidFill>
                <a:srgbClr val="404040"/>
              </a:solidFill>
              <a:effectLst/>
              <a:latin typeface="Inter"/>
            </a:endParaRPr>
          </a:p>
          <a:p>
            <a:pPr algn="l"/>
            <a:r>
              <a:rPr lang="vi-VN" b="0" i="0" dirty="0">
                <a:solidFill>
                  <a:srgbClr val="404040"/>
                </a:solidFill>
                <a:effectLst/>
                <a:latin typeface="Inter"/>
              </a:rPr>
              <a:t>Trong hệ thống </a:t>
            </a:r>
            <a:r>
              <a:rPr lang="en-US" b="0" i="0" dirty="0" err="1">
                <a:solidFill>
                  <a:srgbClr val="404040"/>
                </a:solidFill>
                <a:effectLst/>
                <a:latin typeface="Inter"/>
              </a:rPr>
              <a:t>đơn</a:t>
            </a:r>
            <a:r>
              <a:rPr lang="en-US" b="0" i="0" dirty="0">
                <a:solidFill>
                  <a:srgbClr val="404040"/>
                </a:solidFill>
                <a:effectLst/>
                <a:latin typeface="Inter"/>
              </a:rPr>
              <a:t> </a:t>
            </a:r>
            <a:r>
              <a:rPr lang="en-US" b="0" i="0" dirty="0" err="1">
                <a:solidFill>
                  <a:srgbClr val="404040"/>
                </a:solidFill>
                <a:effectLst/>
                <a:latin typeface="Inter"/>
              </a:rPr>
              <a:t>giản</a:t>
            </a:r>
            <a:r>
              <a:rPr lang="en-US" b="0" i="0" dirty="0">
                <a:solidFill>
                  <a:srgbClr val="404040"/>
                </a:solidFill>
                <a:effectLst/>
                <a:latin typeface="Inter"/>
              </a:rPr>
              <a:t> </a:t>
            </a:r>
            <a:r>
              <a:rPr lang="vi-VN" b="0" i="0" dirty="0">
                <a:solidFill>
                  <a:srgbClr val="404040"/>
                </a:solidFill>
                <a:effectLst/>
                <a:latin typeface="Inter"/>
              </a:rPr>
              <a:t>này, mỗi mục dữ liệu được liên kết với một trong 16 nút. Điều này có thể đạt được bằng cách băm giá trị của một mục dữ liệu thành một khóa </a:t>
            </a:r>
            <a:r>
              <a:rPr lang="vi-VN" b="0" i="0" dirty="0">
                <a:solidFill>
                  <a:srgbClr val="404040"/>
                </a:solidFill>
                <a:effectLst/>
                <a:latin typeface="KaTeX_Main"/>
              </a:rPr>
              <a:t>k∈{0,1,2,…,2</a:t>
            </a:r>
            <a:r>
              <a:rPr lang="en-US" b="0" i="0" dirty="0">
                <a:solidFill>
                  <a:srgbClr val="404040"/>
                </a:solidFill>
                <a:effectLst/>
                <a:latin typeface="KaTeX_Main"/>
              </a:rPr>
              <a:t>^</a:t>
            </a:r>
            <a:r>
              <a:rPr lang="vi-VN" b="0" i="0" dirty="0">
                <a:solidFill>
                  <a:srgbClr val="404040"/>
                </a:solidFill>
                <a:effectLst/>
                <a:latin typeface="KaTeX_Main"/>
              </a:rPr>
              <a:t>4−1}</a:t>
            </a:r>
            <a:r>
              <a:rPr lang="vi-VN" b="0" i="0" dirty="0">
                <a:solidFill>
                  <a:srgbClr val="404040"/>
                </a:solidFill>
                <a:effectLst/>
                <a:latin typeface="Inter"/>
              </a:rPr>
              <a:t>. Bây giờ, giả sử rằng nút có định danh </a:t>
            </a:r>
            <a:r>
              <a:rPr lang="vi-VN" b="1" i="0" dirty="0">
                <a:solidFill>
                  <a:srgbClr val="404040"/>
                </a:solidFill>
                <a:effectLst/>
                <a:latin typeface="Inter"/>
              </a:rPr>
              <a:t>0111</a:t>
            </a:r>
            <a:r>
              <a:rPr lang="vi-VN" b="0" i="0" dirty="0">
                <a:solidFill>
                  <a:srgbClr val="404040"/>
                </a:solidFill>
                <a:effectLst/>
                <a:latin typeface="Inter"/>
              </a:rPr>
              <a:t> được yêu cầu tra cứu dữ liệu có khóa </a:t>
            </a:r>
            <a:r>
              <a:rPr lang="vi-VN" b="1" i="0" dirty="0">
                <a:solidFill>
                  <a:srgbClr val="404040"/>
                </a:solidFill>
                <a:effectLst/>
                <a:latin typeface="Inter"/>
              </a:rPr>
              <a:t>14</a:t>
            </a:r>
            <a:r>
              <a:rPr lang="vi-VN" b="0" i="0" dirty="0">
                <a:solidFill>
                  <a:srgbClr val="404040"/>
                </a:solidFill>
                <a:effectLst/>
                <a:latin typeface="Inter"/>
              </a:rPr>
              <a:t>, tương ứng với giá trị nhị phân </a:t>
            </a:r>
            <a:r>
              <a:rPr lang="vi-VN" b="1" i="0" dirty="0">
                <a:solidFill>
                  <a:srgbClr val="404040"/>
                </a:solidFill>
                <a:effectLst/>
                <a:latin typeface="Inter"/>
              </a:rPr>
              <a:t>1110</a:t>
            </a:r>
            <a:r>
              <a:rPr lang="vi-VN" b="0" i="0" dirty="0">
                <a:solidFill>
                  <a:srgbClr val="404040"/>
                </a:solidFill>
                <a:effectLst/>
                <a:latin typeface="Inter"/>
              </a:rPr>
              <a:t>. Trong ví dụ này, chúng ta giả định rằng nút có định danh </a:t>
            </a:r>
            <a:r>
              <a:rPr lang="vi-VN" b="1" i="0" dirty="0">
                <a:solidFill>
                  <a:srgbClr val="404040"/>
                </a:solidFill>
                <a:effectLst/>
                <a:latin typeface="Inter"/>
              </a:rPr>
              <a:t>1110</a:t>
            </a:r>
            <a:r>
              <a:rPr lang="vi-VN" b="0" i="0" dirty="0">
                <a:solidFill>
                  <a:srgbClr val="404040"/>
                </a:solidFill>
                <a:effectLst/>
                <a:latin typeface="Inter"/>
              </a:rPr>
              <a:t> chịu trách nhiệm lưu trữ tất cả các mục dữ liệu có khóa </a:t>
            </a:r>
            <a:r>
              <a:rPr lang="vi-VN" b="1" i="0" dirty="0">
                <a:solidFill>
                  <a:srgbClr val="404040"/>
                </a:solidFill>
                <a:effectLst/>
                <a:latin typeface="Inter"/>
              </a:rPr>
              <a:t>14</a:t>
            </a:r>
            <a:r>
              <a:rPr lang="vi-VN" b="0" i="0" dirty="0">
                <a:solidFill>
                  <a:srgbClr val="404040"/>
                </a:solidFill>
                <a:effectLst/>
                <a:latin typeface="Inter"/>
              </a:rPr>
              <a:t>. Điều mà nút </a:t>
            </a:r>
            <a:r>
              <a:rPr lang="vi-VN" b="1" i="0" dirty="0">
                <a:solidFill>
                  <a:srgbClr val="404040"/>
                </a:solidFill>
                <a:effectLst/>
                <a:latin typeface="Inter"/>
              </a:rPr>
              <a:t>0111</a:t>
            </a:r>
            <a:r>
              <a:rPr lang="vi-VN" b="0" i="0" dirty="0">
                <a:solidFill>
                  <a:srgbClr val="404040"/>
                </a:solidFill>
                <a:effectLst/>
                <a:latin typeface="Inter"/>
              </a:rPr>
              <a:t> có thể làm đơn giản là chuyển tiếp yêu cầu đến một nút láng giềng gần hơn với nút </a:t>
            </a:r>
            <a:r>
              <a:rPr lang="vi-VN" b="1" i="0" dirty="0">
                <a:solidFill>
                  <a:srgbClr val="404040"/>
                </a:solidFill>
                <a:effectLst/>
                <a:latin typeface="Inter"/>
              </a:rPr>
              <a:t>1110</a:t>
            </a:r>
            <a:r>
              <a:rPr lang="vi-VN" b="0" i="0" dirty="0">
                <a:solidFill>
                  <a:srgbClr val="404040"/>
                </a:solidFill>
                <a:effectLst/>
                <a:latin typeface="Inter"/>
              </a:rPr>
              <a:t>.</a:t>
            </a:r>
          </a:p>
          <a:p>
            <a:pPr algn="l"/>
            <a:r>
              <a:rPr lang="vi-VN" b="0" i="0" dirty="0">
                <a:solidFill>
                  <a:srgbClr val="404040"/>
                </a:solidFill>
                <a:effectLst/>
                <a:latin typeface="Inter"/>
              </a:rPr>
              <a:t>Trong trường hợp này, nút láng giềng đó có thể là nút </a:t>
            </a:r>
            <a:r>
              <a:rPr lang="vi-VN" b="1" i="0" dirty="0">
                <a:solidFill>
                  <a:srgbClr val="404040"/>
                </a:solidFill>
                <a:effectLst/>
                <a:latin typeface="Inter"/>
              </a:rPr>
              <a:t>0110</a:t>
            </a:r>
            <a:r>
              <a:rPr lang="vi-VN" b="0" i="0" dirty="0">
                <a:solidFill>
                  <a:srgbClr val="404040"/>
                </a:solidFill>
                <a:effectLst/>
                <a:latin typeface="Inter"/>
              </a:rPr>
              <a:t> hoặc nút </a:t>
            </a:r>
            <a:r>
              <a:rPr lang="vi-VN" b="1" i="0" dirty="0">
                <a:solidFill>
                  <a:srgbClr val="404040"/>
                </a:solidFill>
                <a:effectLst/>
                <a:latin typeface="Inter"/>
              </a:rPr>
              <a:t>1111</a:t>
            </a:r>
            <a:r>
              <a:rPr lang="vi-VN" b="0" i="0" dirty="0">
                <a:solidFill>
                  <a:srgbClr val="404040"/>
                </a:solidFill>
                <a:effectLst/>
                <a:latin typeface="Inter"/>
              </a:rPr>
              <a:t>. Nếu nó chọn nút </a:t>
            </a:r>
            <a:r>
              <a:rPr lang="vi-VN" b="1" i="0" dirty="0">
                <a:solidFill>
                  <a:srgbClr val="404040"/>
                </a:solidFill>
                <a:effectLst/>
                <a:latin typeface="Inter"/>
              </a:rPr>
              <a:t>0110</a:t>
            </a:r>
            <a:r>
              <a:rPr lang="vi-VN" b="0" i="0" dirty="0">
                <a:solidFill>
                  <a:srgbClr val="404040"/>
                </a:solidFill>
                <a:effectLst/>
                <a:latin typeface="Inter"/>
              </a:rPr>
              <a:t>, nút này sau đó sẽ chuyển tiếp yêu cầu trực tiếp đến nút </a:t>
            </a:r>
            <a:r>
              <a:rPr lang="vi-VN" b="1" i="0" dirty="0">
                <a:solidFill>
                  <a:srgbClr val="404040"/>
                </a:solidFill>
                <a:effectLst/>
                <a:latin typeface="Inter"/>
              </a:rPr>
              <a:t>1110</a:t>
            </a:r>
            <a:r>
              <a:rPr lang="vi-VN" b="0" i="0" dirty="0">
                <a:solidFill>
                  <a:srgbClr val="404040"/>
                </a:solidFill>
                <a:effectLst/>
                <a:latin typeface="Inter"/>
              </a:rPr>
              <a:t>, từ đó dữ liệu có thể được truy xuất.</a:t>
            </a:r>
          </a:p>
          <a:p>
            <a:pPr algn="l"/>
            <a:endParaRPr lang="vi-VN" b="1" i="0" dirty="0">
              <a:solidFill>
                <a:srgbClr val="404040"/>
              </a:solidFill>
              <a:effectLst/>
              <a:latin typeface="Inter"/>
            </a:endParaRPr>
          </a:p>
        </p:txBody>
      </p:sp>
      <p:sp>
        <p:nvSpPr>
          <p:cNvPr id="4" name="Slide Number Placeholder 3"/>
          <p:cNvSpPr>
            <a:spLocks noGrp="1"/>
          </p:cNvSpPr>
          <p:nvPr>
            <p:ph type="sldNum" sz="quarter" idx="5"/>
          </p:nvPr>
        </p:nvSpPr>
        <p:spPr/>
        <p:txBody>
          <a:bodyPr/>
          <a:lstStyle/>
          <a:p>
            <a:fld id="{FA13772E-92BC-4DF5-A31C-A96E0BDD6752}" type="slidenum">
              <a:rPr lang="en-US" smtClean="0"/>
              <a:t>28</a:t>
            </a:fld>
            <a:endParaRPr lang="en-US"/>
          </a:p>
        </p:txBody>
      </p:sp>
    </p:spTree>
    <p:extLst>
      <p:ext uri="{BB962C8B-B14F-4D97-AF65-F5344CB8AC3E}">
        <p14:creationId xmlns:p14="http://schemas.microsoft.com/office/powerpoint/2010/main" val="37315210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Ví dụ trước minh họa hai điều: (1) việc sử dụng hàm băm để xác định nút chịu trách nhiệm lưu trữ một mục dữ liệu nào đó, và (2) việc định tuyến dọc theo cấu trúc liên kết của hệ thống ngang hàng khi tra cứu một mục dữ liệu dựa trên khóa của nó. Tuy nhiên, đây không phải là một ví dụ thực tế lắm, ít nhất là vì chúng ta đã giả định rằng tổng số nút là cố định. Do đó, hãy xem xét một ví dụ thực tế hơn về một hệ thống ngang hàng có cấu trúc cũng được sử dụng trong thực tế.</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Trong hệ thống </a:t>
            </a:r>
            <a:r>
              <a:rPr lang="vi-VN" b="1" i="0" dirty="0">
                <a:solidFill>
                  <a:srgbClr val="404040"/>
                </a:solidFill>
                <a:effectLst/>
                <a:latin typeface="Inter"/>
              </a:rPr>
              <a:t>Chord</a:t>
            </a:r>
            <a:r>
              <a:rPr lang="vi-VN" b="0" i="0" dirty="0">
                <a:solidFill>
                  <a:srgbClr val="404040"/>
                </a:solidFill>
                <a:effectLst/>
                <a:latin typeface="Inter"/>
              </a:rPr>
              <a:t>, các nút được tổ chức logic thành một vòng tròn sao cho một mục dữ liệu với khóa </a:t>
            </a:r>
            <a:r>
              <a:rPr lang="vi-VN" b="0" i="0" dirty="0">
                <a:solidFill>
                  <a:srgbClr val="404040"/>
                </a:solidFill>
                <a:effectLst/>
                <a:latin typeface="KaTeX_Main"/>
              </a:rPr>
              <a:t>k</a:t>
            </a:r>
            <a:r>
              <a:rPr lang="vi-VN" b="0" i="0" dirty="0">
                <a:solidFill>
                  <a:srgbClr val="404040"/>
                </a:solidFill>
                <a:effectLst/>
                <a:latin typeface="Inter"/>
              </a:rPr>
              <a:t> (có độ dài </a:t>
            </a:r>
            <a:r>
              <a:rPr lang="vi-VN" b="0" i="0" dirty="0">
                <a:solidFill>
                  <a:srgbClr val="404040"/>
                </a:solidFill>
                <a:effectLst/>
                <a:latin typeface="KaTeX_Main"/>
              </a:rPr>
              <a:t>m</a:t>
            </a:r>
            <a:r>
              <a:rPr lang="vi-VN" b="0" i="0" dirty="0">
                <a:solidFill>
                  <a:srgbClr val="404040"/>
                </a:solidFill>
                <a:effectLst/>
                <a:latin typeface="Inter"/>
              </a:rPr>
              <a:t> bit) được ánh xạ đến nút có định danh </a:t>
            </a:r>
            <a:r>
              <a:rPr lang="vi-VN" b="0" i="0" dirty="0">
                <a:solidFill>
                  <a:srgbClr val="404040"/>
                </a:solidFill>
                <a:effectLst/>
                <a:latin typeface="KaTeX_Main"/>
              </a:rPr>
              <a:t>id</a:t>
            </a:r>
            <a:r>
              <a:rPr lang="vi-VN" b="0" i="0" dirty="0">
                <a:solidFill>
                  <a:srgbClr val="404040"/>
                </a:solidFill>
                <a:effectLst/>
                <a:latin typeface="Inter"/>
              </a:rPr>
              <a:t> (cũng có độ dài </a:t>
            </a:r>
            <a:r>
              <a:rPr lang="vi-VN" b="0" i="0" dirty="0">
                <a:solidFill>
                  <a:srgbClr val="404040"/>
                </a:solidFill>
                <a:effectLst/>
                <a:latin typeface="KaTeX_Main"/>
              </a:rPr>
              <a:t>m</a:t>
            </a:r>
            <a:r>
              <a:rPr lang="vi-VN" b="0" i="0" dirty="0">
                <a:solidFill>
                  <a:srgbClr val="404040"/>
                </a:solidFill>
                <a:effectLst/>
                <a:latin typeface="Inter"/>
              </a:rPr>
              <a:t> bit) nhỏ nhất thỏa mãn </a:t>
            </a:r>
            <a:r>
              <a:rPr lang="vi-VN" b="0" i="0" dirty="0">
                <a:solidFill>
                  <a:srgbClr val="404040"/>
                </a:solidFill>
                <a:effectLst/>
                <a:latin typeface="KaTeX_Main"/>
              </a:rPr>
              <a:t>id≥k</a:t>
            </a:r>
            <a:r>
              <a:rPr lang="vi-VN" b="0" i="0" dirty="0">
                <a:solidFill>
                  <a:srgbClr val="404040"/>
                </a:solidFill>
                <a:effectLst/>
                <a:latin typeface="Inter"/>
              </a:rPr>
              <a:t>. </a:t>
            </a:r>
            <a:endParaRPr lang="en-US" b="0" i="0" dirty="0">
              <a:solidFill>
                <a:srgbClr val="404040"/>
              </a:solidFill>
              <a:effectLst/>
              <a:latin typeface="Inter"/>
            </a:endParaRPr>
          </a:p>
          <a:p>
            <a:pPr algn="l"/>
            <a:endParaRPr lang="en-US" b="0" i="0" dirty="0">
              <a:solidFill>
                <a:srgbClr val="404040"/>
              </a:solidFill>
              <a:effectLst/>
              <a:latin typeface="Inter"/>
            </a:endParaRPr>
          </a:p>
          <a:p>
            <a:pPr algn="l"/>
            <a:r>
              <a:rPr lang="vi-VN" b="0" i="0" dirty="0">
                <a:solidFill>
                  <a:srgbClr val="404040"/>
                </a:solidFill>
                <a:effectLst/>
                <a:latin typeface="Inter"/>
              </a:rPr>
              <a:t>Nút này được gọi là </a:t>
            </a:r>
            <a:r>
              <a:rPr lang="vi-VN" b="1" i="0" dirty="0">
                <a:solidFill>
                  <a:srgbClr val="404040"/>
                </a:solidFill>
                <a:effectLst/>
                <a:latin typeface="Inter"/>
              </a:rPr>
              <a:t>successor</a:t>
            </a:r>
            <a:r>
              <a:rPr lang="vi-VN" b="0" i="0" dirty="0">
                <a:solidFill>
                  <a:srgbClr val="404040"/>
                </a:solidFill>
                <a:effectLst/>
                <a:latin typeface="Inter"/>
              </a:rPr>
              <a:t> (nút kế tiếp) của khóa </a:t>
            </a:r>
            <a:r>
              <a:rPr lang="vi-VN" b="0" i="0" dirty="0">
                <a:solidFill>
                  <a:srgbClr val="404040"/>
                </a:solidFill>
                <a:effectLst/>
                <a:latin typeface="KaTeX_Main"/>
              </a:rPr>
              <a:t>k</a:t>
            </a:r>
            <a:r>
              <a:rPr lang="vi-VN" b="0" i="0" dirty="0">
                <a:solidFill>
                  <a:srgbClr val="404040"/>
                </a:solidFill>
                <a:effectLst/>
                <a:latin typeface="Inter"/>
              </a:rPr>
              <a:t> và được ký hiệu là </a:t>
            </a:r>
            <a:r>
              <a:rPr lang="vi-VN" b="0" i="0" dirty="0">
                <a:solidFill>
                  <a:srgbClr val="404040"/>
                </a:solidFill>
                <a:effectLst/>
                <a:latin typeface="KaTeX_Main"/>
              </a:rPr>
              <a:t>succ(k)</a:t>
            </a:r>
            <a:r>
              <a:rPr lang="vi-VN" b="0" i="0" dirty="0">
                <a:solidFill>
                  <a:srgbClr val="404040"/>
                </a:solidFill>
                <a:effectLst/>
                <a:latin typeface="Inter"/>
              </a:rPr>
              <a:t>. Khóa và định danh thường có độ dài 128 hoặc 160 bit.</a:t>
            </a:r>
            <a:endParaRPr lang="en-US" b="0" i="0" dirty="0">
              <a:solidFill>
                <a:srgbClr val="404040"/>
              </a:solidFill>
              <a:effectLst/>
              <a:latin typeface="Inter"/>
            </a:endParaRPr>
          </a:p>
          <a:p>
            <a:pPr algn="l"/>
            <a:endParaRPr lang="en-US" b="0" i="0" dirty="0">
              <a:solidFill>
                <a:srgbClr val="404040"/>
              </a:solidFill>
              <a:effectLst/>
              <a:latin typeface="Inter"/>
            </a:endParaRPr>
          </a:p>
          <a:p>
            <a:pPr algn="l"/>
            <a:r>
              <a:rPr lang="vi-VN" b="0" i="0" dirty="0">
                <a:solidFill>
                  <a:srgbClr val="404040"/>
                </a:solidFill>
                <a:effectLst/>
                <a:latin typeface="Inter"/>
              </a:rPr>
              <a:t>Trong Chord, mỗi nút duy trì các "đường tắt" (shortcuts) đến các nút khác. Một đường tắt</a:t>
            </a:r>
            <a:r>
              <a:rPr lang="en-US" b="0" i="0" dirty="0">
                <a:solidFill>
                  <a:srgbClr val="404040"/>
                </a:solidFill>
                <a:effectLst/>
                <a:latin typeface="Inter"/>
              </a:rPr>
              <a:t> </a:t>
            </a:r>
            <a:r>
              <a:rPr lang="vi-VN" b="0" i="0" dirty="0">
                <a:solidFill>
                  <a:srgbClr val="404040"/>
                </a:solidFill>
                <a:effectLst/>
                <a:latin typeface="Inter"/>
              </a:rPr>
              <a:t>(shortcuts) xuất hiện dưới dạng một cạnh có hướng từ một nút đến nút khác. Việc xây dựng được thực hiện sao cho độ dài của đường đi ngắn nhất giữa bất kỳ cặp nút nào có độ phức tạp </a:t>
            </a:r>
            <a:r>
              <a:rPr lang="vi-VN" b="0" i="0" dirty="0">
                <a:solidFill>
                  <a:srgbClr val="404040"/>
                </a:solidFill>
                <a:effectLst/>
                <a:latin typeface="KaTeX_Main"/>
              </a:rPr>
              <a:t>O(log⁡N)</a:t>
            </a:r>
            <a:r>
              <a:rPr lang="vi-VN" b="0" i="0" dirty="0">
                <a:solidFill>
                  <a:srgbClr val="404040"/>
                </a:solidFill>
                <a:effectLst/>
                <a:latin typeface="Inter"/>
              </a:rPr>
              <a:t>, trong đó </a:t>
            </a:r>
            <a:r>
              <a:rPr lang="vi-VN" b="0" i="0" dirty="0">
                <a:solidFill>
                  <a:srgbClr val="404040"/>
                </a:solidFill>
                <a:effectLst/>
                <a:latin typeface="KaTeX_Main"/>
              </a:rPr>
              <a:t>N</a:t>
            </a:r>
            <a:r>
              <a:rPr lang="vi-VN" b="0" i="0" dirty="0">
                <a:solidFill>
                  <a:srgbClr val="404040"/>
                </a:solidFill>
                <a:effectLst/>
                <a:latin typeface="Inter"/>
              </a:rPr>
              <a:t> là tổng số nút.</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29</a:t>
            </a:fld>
            <a:endParaRPr lang="en-US"/>
          </a:p>
        </p:txBody>
      </p:sp>
    </p:spTree>
    <p:extLst>
      <p:ext uri="{BB962C8B-B14F-4D97-AF65-F5344CB8AC3E}">
        <p14:creationId xmlns:p14="http://schemas.microsoft.com/office/powerpoint/2010/main" val="2310957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Hình </a:t>
            </a:r>
            <a:r>
              <a:rPr lang="en-US" b="0" i="0" dirty="0" err="1">
                <a:solidFill>
                  <a:srgbClr val="404040"/>
                </a:solidFill>
                <a:effectLst/>
                <a:latin typeface="Inter"/>
              </a:rPr>
              <a:t>minh</a:t>
            </a:r>
            <a:r>
              <a:rPr lang="en-US" b="0" i="0" dirty="0">
                <a:solidFill>
                  <a:srgbClr val="404040"/>
                </a:solidFill>
                <a:effectLst/>
                <a:latin typeface="Inter"/>
              </a:rPr>
              <a:t> </a:t>
            </a:r>
            <a:r>
              <a:rPr lang="en-US" b="0" i="0" dirty="0" err="1">
                <a:solidFill>
                  <a:srgbClr val="404040"/>
                </a:solidFill>
                <a:effectLst/>
                <a:latin typeface="Inter"/>
              </a:rPr>
              <a:t>họa</a:t>
            </a:r>
            <a:r>
              <a:rPr lang="vi-VN" b="0" i="0" dirty="0">
                <a:solidFill>
                  <a:srgbClr val="404040"/>
                </a:solidFill>
                <a:effectLst/>
                <a:latin typeface="Inter"/>
              </a:rPr>
              <a:t> cho thấy một vòng tròn Chord, với </a:t>
            </a:r>
            <a:r>
              <a:rPr lang="vi-VN" b="0" i="0" dirty="0">
                <a:solidFill>
                  <a:srgbClr val="404040"/>
                </a:solidFill>
                <a:effectLst/>
                <a:latin typeface="KaTeX_Main"/>
              </a:rPr>
              <a:t>m=5</a:t>
            </a:r>
            <a:r>
              <a:rPr lang="vi-VN" b="0" i="0" dirty="0">
                <a:solidFill>
                  <a:srgbClr val="404040"/>
                </a:solidFill>
                <a:effectLst/>
                <a:latin typeface="Inter"/>
              </a:rPr>
              <a:t> và chín nút </a:t>
            </a:r>
            <a:r>
              <a:rPr lang="vi-VN" b="0" i="0" dirty="0">
                <a:solidFill>
                  <a:srgbClr val="404040"/>
                </a:solidFill>
                <a:effectLst/>
                <a:latin typeface="KaTeX_Main"/>
              </a:rPr>
              <a:t>{1,4,9,11,14,18,20,21,28}</a:t>
            </a:r>
            <a:r>
              <a:rPr lang="vi-VN" b="0" i="0" dirty="0">
                <a:solidFill>
                  <a:srgbClr val="404040"/>
                </a:solidFill>
                <a:effectLst/>
                <a:latin typeface="Inter"/>
              </a:rPr>
              <a:t>. Nút kế tiếp của khóa </a:t>
            </a:r>
            <a:r>
              <a:rPr lang="vi-VN" b="1" i="0" dirty="0">
                <a:solidFill>
                  <a:srgbClr val="404040"/>
                </a:solidFill>
                <a:effectLst/>
                <a:latin typeface="Inter"/>
              </a:rPr>
              <a:t>7</a:t>
            </a:r>
            <a:r>
              <a:rPr lang="vi-VN" b="0" i="0" dirty="0">
                <a:solidFill>
                  <a:srgbClr val="404040"/>
                </a:solidFill>
                <a:effectLst/>
                <a:latin typeface="Inter"/>
              </a:rPr>
              <a:t> là nút </a:t>
            </a:r>
            <a:r>
              <a:rPr lang="vi-VN" b="1" i="0" dirty="0">
                <a:solidFill>
                  <a:srgbClr val="404040"/>
                </a:solidFill>
                <a:effectLst/>
                <a:latin typeface="Inter"/>
              </a:rPr>
              <a:t>9</a:t>
            </a:r>
            <a:r>
              <a:rPr lang="vi-VN" b="0" i="0" dirty="0">
                <a:solidFill>
                  <a:srgbClr val="404040"/>
                </a:solidFill>
                <a:effectLst/>
                <a:latin typeface="Inter"/>
              </a:rPr>
              <a:t>. Tương tự, </a:t>
            </a:r>
            <a:r>
              <a:rPr lang="vi-VN" b="0" i="0" dirty="0">
                <a:solidFill>
                  <a:srgbClr val="404040"/>
                </a:solidFill>
                <a:effectLst/>
                <a:latin typeface="KaTeX_Main"/>
              </a:rPr>
              <a:t>succ(5)=9</a:t>
            </a:r>
            <a:r>
              <a:rPr lang="vi-VN" b="0" i="0" dirty="0">
                <a:solidFill>
                  <a:srgbClr val="404040"/>
                </a:solidFill>
                <a:effectLst/>
                <a:latin typeface="Inter"/>
              </a:rPr>
              <a:t>, và cũng </a:t>
            </a:r>
            <a:r>
              <a:rPr lang="vi-VN" b="0" i="0" dirty="0">
                <a:solidFill>
                  <a:srgbClr val="404040"/>
                </a:solidFill>
                <a:effectLst/>
                <a:latin typeface="KaTeX_Main"/>
              </a:rPr>
              <a:t>succ(9)=9</a:t>
            </a:r>
            <a:r>
              <a:rPr lang="en-US" b="0" i="0" dirty="0">
                <a:solidFill>
                  <a:srgbClr val="404040"/>
                </a:solidFill>
                <a:effectLst/>
                <a:latin typeface="KaTeX_Main"/>
              </a:rPr>
              <a:t>.</a:t>
            </a:r>
          </a:p>
          <a:p>
            <a:endParaRPr lang="en-US" b="0" i="0" dirty="0">
              <a:solidFill>
                <a:srgbClr val="404040"/>
              </a:solidFill>
              <a:effectLst/>
              <a:latin typeface="KaTeX_Main"/>
            </a:endParaRPr>
          </a:p>
          <a:p>
            <a:r>
              <a:rPr lang="vi-VN" dirty="0">
                <a:effectLst/>
              </a:rPr>
              <a:t>Để tra cứu một khóa, một nút sẽ cố gắng chuyển tiếp yêu cầu "càng xa càng tốt", nhưng không vượt quá nút chịu trách nhiệm cho khóa đó. Để làm rõ, giả sử trong ví dụ về vòng tròn Chord của chúng ta, nút </a:t>
            </a:r>
            <a:r>
              <a:rPr lang="vi-VN" b="1" dirty="0">
                <a:effectLst/>
              </a:rPr>
              <a:t>9</a:t>
            </a:r>
            <a:r>
              <a:rPr lang="vi-VN" dirty="0">
                <a:effectLst/>
              </a:rPr>
              <a:t> được yêu cầu tra cứu nút chịu trách nhiệm cho khóa </a:t>
            </a:r>
            <a:r>
              <a:rPr lang="vi-VN" b="1" dirty="0">
                <a:effectLst/>
              </a:rPr>
              <a:t>3</a:t>
            </a:r>
            <a:r>
              <a:rPr lang="vi-VN" dirty="0">
                <a:effectLst/>
              </a:rPr>
              <a:t> (là nút </a:t>
            </a:r>
            <a:r>
              <a:rPr lang="vi-VN" b="1" dirty="0">
                <a:effectLst/>
              </a:rPr>
              <a:t>4</a:t>
            </a:r>
            <a:r>
              <a:rPr lang="vi-VN" dirty="0">
                <a:effectLst/>
              </a:rPr>
              <a:t>). Nút </a:t>
            </a:r>
            <a:r>
              <a:rPr lang="vi-VN" b="1" dirty="0">
                <a:effectLst/>
              </a:rPr>
              <a:t>9</a:t>
            </a:r>
            <a:r>
              <a:rPr lang="vi-VN" dirty="0">
                <a:effectLst/>
              </a:rPr>
              <a:t> có bốn đường tắt: đến các nút </a:t>
            </a:r>
            <a:r>
              <a:rPr lang="vi-VN" b="1" dirty="0">
                <a:effectLst/>
              </a:rPr>
              <a:t>11</a:t>
            </a:r>
            <a:r>
              <a:rPr lang="vi-VN" dirty="0">
                <a:effectLst/>
              </a:rPr>
              <a:t>, </a:t>
            </a:r>
            <a:r>
              <a:rPr lang="vi-VN" b="1" dirty="0">
                <a:effectLst/>
              </a:rPr>
              <a:t>14</a:t>
            </a:r>
            <a:r>
              <a:rPr lang="vi-VN" dirty="0">
                <a:effectLst/>
              </a:rPr>
              <a:t>, </a:t>
            </a:r>
            <a:r>
              <a:rPr lang="vi-VN" b="1" dirty="0">
                <a:effectLst/>
              </a:rPr>
              <a:t>18</a:t>
            </a:r>
            <a:r>
              <a:rPr lang="vi-VN" dirty="0">
                <a:effectLst/>
              </a:rPr>
              <a:t>, và </a:t>
            </a:r>
            <a:r>
              <a:rPr lang="vi-VN" b="1" dirty="0">
                <a:effectLst/>
              </a:rPr>
              <a:t>28</a:t>
            </a:r>
            <a:r>
              <a:rPr lang="vi-VN" dirty="0">
                <a:effectLst/>
              </a:rPr>
              <a:t>. Vì nút </a:t>
            </a:r>
            <a:r>
              <a:rPr lang="vi-VN" b="1" dirty="0">
                <a:effectLst/>
              </a:rPr>
              <a:t>28</a:t>
            </a:r>
            <a:r>
              <a:rPr lang="vi-VN" dirty="0">
                <a:effectLst/>
              </a:rPr>
              <a:t> là nút xa nhất mà nút </a:t>
            </a:r>
            <a:r>
              <a:rPr lang="vi-VN" b="1" dirty="0">
                <a:effectLst/>
              </a:rPr>
              <a:t>9</a:t>
            </a:r>
            <a:r>
              <a:rPr lang="vi-VN" dirty="0">
                <a:effectLst/>
              </a:rPr>
              <a:t> biết và vẫn đứng trước nút chịu trách nhiệm cho khóa </a:t>
            </a:r>
            <a:r>
              <a:rPr lang="vi-VN" b="1" dirty="0">
                <a:effectLst/>
              </a:rPr>
              <a:t>3</a:t>
            </a:r>
            <a:r>
              <a:rPr lang="vi-VN" dirty="0">
                <a:effectLst/>
              </a:rPr>
              <a:t>, nó sẽ nhận được yêu cầu tra cứu. Nút </a:t>
            </a:r>
            <a:r>
              <a:rPr lang="vi-VN" b="1" dirty="0">
                <a:effectLst/>
              </a:rPr>
              <a:t>28</a:t>
            </a:r>
            <a:r>
              <a:rPr lang="vi-VN" dirty="0">
                <a:effectLst/>
              </a:rPr>
              <a:t> có ba đường tắt: đến các nút </a:t>
            </a:r>
            <a:r>
              <a:rPr lang="vi-VN" b="1" dirty="0">
                <a:effectLst/>
              </a:rPr>
              <a:t>1</a:t>
            </a:r>
            <a:r>
              <a:rPr lang="vi-VN" dirty="0">
                <a:effectLst/>
              </a:rPr>
              <a:t>, </a:t>
            </a:r>
            <a:r>
              <a:rPr lang="vi-VN" b="1" dirty="0">
                <a:effectLst/>
              </a:rPr>
              <a:t>4</a:t>
            </a:r>
            <a:r>
              <a:rPr lang="vi-VN" dirty="0">
                <a:effectLst/>
              </a:rPr>
              <a:t>, và </a:t>
            </a:r>
            <a:r>
              <a:rPr lang="vi-VN" b="1" dirty="0">
                <a:effectLst/>
              </a:rPr>
              <a:t>14</a:t>
            </a:r>
            <a:r>
              <a:rPr lang="vi-VN" dirty="0">
                <a:effectLst/>
              </a:rPr>
              <a:t>. Lưu ý rằng nút </a:t>
            </a:r>
            <a:r>
              <a:rPr lang="vi-VN" b="1" dirty="0">
                <a:effectLst/>
              </a:rPr>
              <a:t>28</a:t>
            </a:r>
            <a:r>
              <a:rPr lang="vi-VN" dirty="0">
                <a:effectLst/>
              </a:rPr>
              <a:t> không biết về sự tồn tại của các nút nằm giữa nút </a:t>
            </a:r>
            <a:r>
              <a:rPr lang="vi-VN" b="1" dirty="0">
                <a:effectLst/>
              </a:rPr>
              <a:t>1</a:t>
            </a:r>
            <a:r>
              <a:rPr lang="vi-VN" dirty="0">
                <a:effectLst/>
              </a:rPr>
              <a:t> và </a:t>
            </a:r>
            <a:r>
              <a:rPr lang="vi-VN" b="1" dirty="0">
                <a:effectLst/>
              </a:rPr>
              <a:t>4</a:t>
            </a:r>
            <a:r>
              <a:rPr lang="vi-VN" dirty="0">
                <a:effectLst/>
              </a:rPr>
              <a:t>. Vì lý do này, điều tốt nhất nó có thể làm là chuyển tiếp yêu cầu đến nút </a:t>
            </a:r>
            <a:r>
              <a:rPr lang="vi-VN" b="1" dirty="0">
                <a:effectLst/>
              </a:rPr>
              <a:t>1</a:t>
            </a:r>
            <a:r>
              <a:rPr lang="vi-VN" dirty="0">
                <a:effectLst/>
              </a:rPr>
              <a:t>. Nút </a:t>
            </a:r>
            <a:r>
              <a:rPr lang="vi-VN" b="1" dirty="0">
                <a:effectLst/>
              </a:rPr>
              <a:t>1</a:t>
            </a:r>
            <a:r>
              <a:rPr lang="vi-VN" dirty="0">
                <a:effectLst/>
              </a:rPr>
              <a:t> biết rằng nút kế tiếp của nó trong vòng tròn là nút </a:t>
            </a:r>
            <a:r>
              <a:rPr lang="vi-VN" b="1" dirty="0">
                <a:effectLst/>
              </a:rPr>
              <a:t>4</a:t>
            </a:r>
            <a:r>
              <a:rPr lang="vi-VN" dirty="0">
                <a:effectLst/>
              </a:rPr>
              <a:t>, và do đó, đây là nút chịu trách nhiệm cho khóa </a:t>
            </a:r>
            <a:r>
              <a:rPr lang="vi-VN" b="1" dirty="0">
                <a:effectLst/>
              </a:rPr>
              <a:t>3</a:t>
            </a:r>
            <a:r>
              <a:rPr lang="vi-VN" dirty="0">
                <a:effectLst/>
              </a:rPr>
              <a:t>, nơi nó sẽ chuyển tiếp yêu cầu.</a:t>
            </a:r>
            <a:endParaRPr lang="en-US" dirty="0">
              <a:effectLst/>
            </a:endParaRPr>
          </a:p>
          <a:p>
            <a:endParaRPr lang="vi-VN" dirty="0">
              <a:effectLst/>
            </a:endParaRPr>
          </a:p>
          <a:p>
            <a:r>
              <a:rPr lang="vi-VN" dirty="0">
                <a:effectLst/>
              </a:rPr>
              <a:t>Bây giờ, giả sử một nút có định danh duy nhất </a:t>
            </a:r>
            <a:r>
              <a:rPr lang="vi-VN" dirty="0">
                <a:effectLst/>
                <a:latin typeface="KaTeX_Main"/>
              </a:rPr>
              <a:t>u</a:t>
            </a:r>
            <a:r>
              <a:rPr lang="vi-VN" dirty="0">
                <a:effectLst/>
              </a:rPr>
              <a:t> muốn tham gia vào một lớp phủ Chord. Để làm điều đó, nó liên hệ với một nút bất kỳ và yêu cầu nút đó tra cứu </a:t>
            </a:r>
            <a:r>
              <a:rPr lang="vi-VN" dirty="0">
                <a:effectLst/>
                <a:latin typeface="KaTeX_Main"/>
              </a:rPr>
              <a:t>u</a:t>
            </a:r>
            <a:r>
              <a:rPr lang="vi-VN" dirty="0">
                <a:effectLst/>
              </a:rPr>
              <a:t>, tức là trả về giá trị </a:t>
            </a:r>
            <a:r>
              <a:rPr lang="vi-VN" dirty="0">
                <a:effectLst/>
                <a:latin typeface="KaTeX_Main"/>
              </a:rPr>
              <a:t>v=succ(u)</a:t>
            </a:r>
            <a:r>
              <a:rPr lang="vi-VN" dirty="0">
                <a:effectLst/>
              </a:rPr>
              <a:t>. Tại thời điểm đó, nút </a:t>
            </a:r>
            <a:r>
              <a:rPr lang="vi-VN" dirty="0">
                <a:effectLst/>
                <a:latin typeface="KaTeX_Main"/>
              </a:rPr>
              <a:t>u</a:t>
            </a:r>
            <a:r>
              <a:rPr lang="vi-VN" dirty="0">
                <a:effectLst/>
              </a:rPr>
              <a:t> chỉ cần chèn chính nó vào giữa nút tiền nhiệm của </a:t>
            </a:r>
            <a:r>
              <a:rPr lang="vi-VN" dirty="0">
                <a:effectLst/>
                <a:latin typeface="KaTeX_Main"/>
              </a:rPr>
              <a:t>v</a:t>
            </a:r>
            <a:r>
              <a:rPr lang="vi-VN" dirty="0">
                <a:effectLst/>
              </a:rPr>
              <a:t> </a:t>
            </a:r>
            <a:r>
              <a:rPr lang="en-US" dirty="0" err="1">
                <a:effectLst/>
              </a:rPr>
              <a:t>và</a:t>
            </a:r>
            <a:r>
              <a:rPr lang="vi-VN" dirty="0">
                <a:effectLst/>
              </a:rPr>
              <a:t> chính nó, qua đó trở thành nút tiền nhiệm mới của </a:t>
            </a:r>
            <a:r>
              <a:rPr lang="vi-VN" i="1" dirty="0">
                <a:effectLst/>
                <a:latin typeface="KaTeX_Math"/>
              </a:rPr>
              <a:t>v</a:t>
            </a:r>
            <a:r>
              <a:rPr lang="vi-VN" dirty="0">
                <a:effectLst/>
              </a:rPr>
              <a:t>. Trong quá trình này, các đường tắt từ </a:t>
            </a:r>
            <a:r>
              <a:rPr lang="vi-VN" dirty="0">
                <a:effectLst/>
                <a:latin typeface="KaTeX_Main"/>
              </a:rPr>
              <a:t>u</a:t>
            </a:r>
            <a:r>
              <a:rPr lang="vi-VN" dirty="0">
                <a:effectLst/>
              </a:rPr>
              <a:t> đến các nút khác sẽ được thiết lập, và một số đường tắt hiện có trước đây hướng đến </a:t>
            </a:r>
            <a:r>
              <a:rPr lang="vi-VN" i="1" dirty="0">
                <a:effectLst/>
                <a:latin typeface="KaTeX_Math"/>
              </a:rPr>
              <a:t>v</a:t>
            </a:r>
            <a:r>
              <a:rPr lang="vi-VN" dirty="0">
                <a:effectLst/>
              </a:rPr>
              <a:t> sẽ được điều chỉnh để trỏ đến </a:t>
            </a:r>
            <a:r>
              <a:rPr lang="vi-VN" dirty="0">
                <a:effectLst/>
                <a:latin typeface="KaTeX_Main"/>
              </a:rPr>
              <a:t>u</a:t>
            </a:r>
            <a:r>
              <a:rPr lang="vi-VN" dirty="0">
                <a:effectLst/>
              </a:rPr>
              <a:t> (chi tiết sẽ được trình bày trong các chương sau). Rõ ràng, bất kỳ mục dữ liệu nào với khóa </a:t>
            </a:r>
            <a:r>
              <a:rPr lang="vi-VN" dirty="0">
                <a:effectLst/>
                <a:latin typeface="KaTeX_Main"/>
              </a:rPr>
              <a:t>k</a:t>
            </a:r>
            <a:r>
              <a:rPr lang="vi-VN" dirty="0">
                <a:effectLst/>
              </a:rPr>
              <a:t> được lưu trữ tại </a:t>
            </a:r>
            <a:r>
              <a:rPr lang="vi-VN" dirty="0">
                <a:effectLst/>
                <a:latin typeface="KaTeX_Main"/>
              </a:rPr>
              <a:t>v</a:t>
            </a:r>
            <a:r>
              <a:rPr lang="vi-VN" dirty="0">
                <a:effectLst/>
              </a:rPr>
              <a:t> nhưng mà </a:t>
            </a:r>
            <a:r>
              <a:rPr lang="vi-VN" dirty="0">
                <a:effectLst/>
                <a:latin typeface="KaTeX_Main"/>
              </a:rPr>
              <a:t>succ(k)</a:t>
            </a:r>
            <a:r>
              <a:rPr lang="vi-VN" dirty="0">
                <a:effectLst/>
              </a:rPr>
              <a:t> bây giờ bằng </a:t>
            </a:r>
            <a:r>
              <a:rPr lang="vi-VN" dirty="0">
                <a:effectLst/>
                <a:latin typeface="KaTeX_Main"/>
              </a:rPr>
              <a:t>u</a:t>
            </a:r>
            <a:r>
              <a:rPr lang="vi-VN" dirty="0">
                <a:effectLst/>
              </a:rPr>
              <a:t> sẽ được chuyển từ </a:t>
            </a:r>
            <a:r>
              <a:rPr lang="vi-VN" dirty="0">
                <a:effectLst/>
                <a:latin typeface="KaTeX_Main"/>
              </a:rPr>
              <a:t>v</a:t>
            </a:r>
            <a:r>
              <a:rPr lang="vi-VN" dirty="0">
                <a:effectLst/>
              </a:rPr>
              <a:t> sang </a:t>
            </a:r>
            <a:r>
              <a:rPr lang="vi-VN" dirty="0">
                <a:effectLst/>
                <a:latin typeface="KaTeX_Main"/>
              </a:rPr>
              <a:t>u</a:t>
            </a:r>
            <a:r>
              <a:rPr lang="vi-VN" dirty="0">
                <a:effectLst/>
              </a:rPr>
              <a:t>.</a:t>
            </a:r>
          </a:p>
          <a:p>
            <a:endParaRPr lang="en-US" dirty="0">
              <a:effectLst/>
            </a:endParaRPr>
          </a:p>
          <a:p>
            <a:r>
              <a:rPr lang="vi-VN" dirty="0">
                <a:effectLst/>
              </a:rPr>
              <a:t>Việc rời khỏi hệ thống cũng đơn giản: nút </a:t>
            </a:r>
            <a:r>
              <a:rPr lang="vi-VN" dirty="0">
                <a:effectLst/>
                <a:latin typeface="KaTeX_Main"/>
              </a:rPr>
              <a:t>u</a:t>
            </a:r>
            <a:r>
              <a:rPr lang="vi-VN" dirty="0">
                <a:effectLst/>
              </a:rPr>
              <a:t> thông báo việc rời đi cho nút tiền nhiệm và nút kế tiếp của nó, và chuyển các mục dữ liệu của nó sang </a:t>
            </a:r>
            <a:r>
              <a:rPr lang="vi-VN" dirty="0">
                <a:effectLst/>
                <a:latin typeface="KaTeX_Main"/>
              </a:rPr>
              <a:t>succ(u)</a:t>
            </a:r>
            <a:r>
              <a:rPr lang="vi-VN" dirty="0">
                <a:effectLst/>
              </a:rPr>
              <a:t>.</a:t>
            </a:r>
          </a:p>
          <a:p>
            <a:br>
              <a:rPr lang="vi-VN" dirty="0">
                <a:solidFill>
                  <a:srgbClr val="4D6BFE"/>
                </a:solidFill>
                <a:effectLst/>
              </a:rPr>
            </a:br>
            <a:r>
              <a:rPr lang="en-US" dirty="0">
                <a:solidFill>
                  <a:srgbClr val="4D6BFE"/>
                </a:solidFill>
                <a:effectLst/>
              </a:rPr>
              <a:t>(</a:t>
            </a:r>
            <a:r>
              <a:rPr lang="en-US" dirty="0" err="1">
                <a:solidFill>
                  <a:srgbClr val="4D6BFE"/>
                </a:solidFill>
                <a:effectLst/>
              </a:rPr>
              <a:t>xem</a:t>
            </a:r>
            <a:r>
              <a:rPr lang="en-US" dirty="0">
                <a:solidFill>
                  <a:srgbClr val="4D6BFE"/>
                </a:solidFill>
                <a:effectLst/>
              </a:rPr>
              <a:t> them </a:t>
            </a:r>
            <a:r>
              <a:rPr lang="en-US" dirty="0" err="1">
                <a:solidFill>
                  <a:srgbClr val="4D6BFE"/>
                </a:solidFill>
                <a:effectLst/>
              </a:rPr>
              <a:t>ví</a:t>
            </a:r>
            <a:r>
              <a:rPr lang="en-US" dirty="0">
                <a:solidFill>
                  <a:srgbClr val="4D6BFE"/>
                </a:solidFill>
                <a:effectLst/>
              </a:rPr>
              <a:t> </a:t>
            </a:r>
            <a:r>
              <a:rPr lang="en-US" dirty="0" err="1">
                <a:solidFill>
                  <a:srgbClr val="4D6BFE"/>
                </a:solidFill>
                <a:effectLst/>
              </a:rPr>
              <a:t>dụ</a:t>
            </a:r>
            <a:r>
              <a:rPr lang="en-US" dirty="0">
                <a:solidFill>
                  <a:srgbClr val="4D6BFE"/>
                </a:solidFill>
                <a:effectLst/>
              </a:rPr>
              <a:t> </a:t>
            </a:r>
            <a:r>
              <a:rPr lang="en-US" dirty="0" err="1">
                <a:solidFill>
                  <a:srgbClr val="4D6BFE"/>
                </a:solidFill>
                <a:effectLst/>
              </a:rPr>
              <a:t>trang</a:t>
            </a:r>
            <a:r>
              <a:rPr lang="en-US" dirty="0">
                <a:solidFill>
                  <a:srgbClr val="4D6BFE"/>
                </a:solidFill>
                <a:effectLst/>
              </a:rPr>
              <a:t> 83, 84)</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30</a:t>
            </a:fld>
            <a:endParaRPr lang="en-US"/>
          </a:p>
        </p:txBody>
      </p:sp>
    </p:spTree>
    <p:extLst>
      <p:ext uri="{BB962C8B-B14F-4D97-AF65-F5344CB8AC3E}">
        <p14:creationId xmlns:p14="http://schemas.microsoft.com/office/powerpoint/2010/main" val="2676240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Hệ thống ngang hàng không cấu trúc</a:t>
            </a:r>
          </a:p>
          <a:p>
            <a:pPr algn="l"/>
            <a:r>
              <a:rPr lang="vi-VN" b="0" i="0" dirty="0">
                <a:solidFill>
                  <a:srgbClr val="404040"/>
                </a:solidFill>
                <a:effectLst/>
                <a:latin typeface="Inter"/>
              </a:rPr>
              <a:t>Các hệ thống ngang hàng có cấu trúc cố gắng duy trì một mạng lớp phủ cụ thể và xác định. Ngược lại, trong một hệ thống ngang hàng không cấu trúc, mỗi nút duy trì một danh sách láng giềng ngẫu nhiên. Lớp phủ kết quả giống như một </a:t>
            </a:r>
            <a:r>
              <a:rPr lang="vi-VN" b="1" i="0" dirty="0">
                <a:solidFill>
                  <a:srgbClr val="404040"/>
                </a:solidFill>
                <a:effectLst/>
                <a:latin typeface="Inter"/>
              </a:rPr>
              <a:t>đồ thị ngẫu nhiên</a:t>
            </a:r>
            <a:r>
              <a:rPr lang="vi-VN" b="0" i="0" dirty="0">
                <a:solidFill>
                  <a:srgbClr val="404040"/>
                </a:solidFill>
                <a:effectLst/>
                <a:latin typeface="Inter"/>
              </a:rPr>
              <a:t>: một đồ thị trong đó một cạnh </a:t>
            </a:r>
            <a:r>
              <a:rPr lang="vi-VN" b="0" i="0" dirty="0">
                <a:solidFill>
                  <a:srgbClr val="404040"/>
                </a:solidFill>
                <a:effectLst/>
                <a:latin typeface="KaTeX_Main"/>
              </a:rPr>
              <a:t>⟨u,v⟩</a:t>
            </a:r>
            <a:r>
              <a:rPr lang="vi-VN" b="0" i="0" dirty="0">
                <a:solidFill>
                  <a:srgbClr val="404040"/>
                </a:solidFill>
                <a:effectLst/>
                <a:latin typeface="Inter"/>
              </a:rPr>
              <a:t> giữa hai nút </a:t>
            </a:r>
            <a:r>
              <a:rPr lang="en-US" b="0" i="0" dirty="0">
                <a:solidFill>
                  <a:srgbClr val="404040"/>
                </a:solidFill>
                <a:effectLst/>
                <a:latin typeface="KaTeX_Main"/>
              </a:rPr>
              <a:t>u</a:t>
            </a:r>
            <a:r>
              <a:rPr lang="vi-VN" b="0" i="0" dirty="0">
                <a:solidFill>
                  <a:srgbClr val="404040"/>
                </a:solidFill>
                <a:effectLst/>
                <a:latin typeface="Inter"/>
              </a:rPr>
              <a:t> và </a:t>
            </a:r>
            <a:r>
              <a:rPr lang="vi-VN" b="0" i="0" dirty="0">
                <a:solidFill>
                  <a:srgbClr val="404040"/>
                </a:solidFill>
                <a:effectLst/>
                <a:latin typeface="KaTeX_Main"/>
              </a:rPr>
              <a:t>v</a:t>
            </a:r>
            <a:r>
              <a:rPr lang="vi-VN" b="0" i="0" dirty="0">
                <a:solidFill>
                  <a:srgbClr val="404040"/>
                </a:solidFill>
                <a:effectLst/>
                <a:latin typeface="Inter"/>
              </a:rPr>
              <a:t> chỉ tồn tại với một xác suất nhất định </a:t>
            </a:r>
            <a:r>
              <a:rPr lang="vi-VN" b="0" i="0" dirty="0">
                <a:solidFill>
                  <a:srgbClr val="404040"/>
                </a:solidFill>
                <a:effectLst/>
                <a:latin typeface="KaTeX_Main"/>
              </a:rPr>
              <a:t>P[⟨u,v⟩]</a:t>
            </a:r>
            <a:r>
              <a:rPr lang="vi-VN" b="0" i="0" dirty="0">
                <a:solidFill>
                  <a:srgbClr val="404040"/>
                </a:solidFill>
                <a:effectLst/>
                <a:latin typeface="Inter"/>
              </a:rPr>
              <a:t>. Lý tưởng nhất, xác suất này là như nhau cho tất cả các cặp nút, nhưng trong thực tế, người ta quan sát thấy một phạm vi phân phối rộng.</a:t>
            </a:r>
          </a:p>
          <a:p>
            <a:pPr algn="l"/>
            <a:r>
              <a:rPr lang="vi-VN" b="0" i="0" dirty="0">
                <a:solidFill>
                  <a:srgbClr val="404040"/>
                </a:solidFill>
                <a:effectLst/>
                <a:latin typeface="Inter"/>
              </a:rPr>
              <a:t>Trong một hệ thống ngang hàng không cấu trúc, khi một nút tham gia, nó thường liên hệ với một nút được biết đến rộng rãi để nhận danh sách ban đầu của các nút khác trong hệ thống. Danh sách này sau đó có thể được sử dụng để tìm thêm các nút khác, và có thể bỏ qua một số nút khác, và cứ tiếp tục như vậy. Trong thực tế, một nút thường thay đổi danh sách cục bộ của nó gần như liên tục. Ví dụ, một nút có thể phát hiện ra rằng một nút láng giềng không còn phản hồi và cần được thay thế. Cũng có thể có các lý do khác, mà chúng ta sẽ mô tả ngay sau đây.</a:t>
            </a:r>
          </a:p>
          <a:p>
            <a:pPr algn="l"/>
            <a:r>
              <a:rPr lang="vi-VN" b="0" i="0" dirty="0">
                <a:solidFill>
                  <a:srgbClr val="404040"/>
                </a:solidFill>
                <a:effectLst/>
                <a:latin typeface="Inter"/>
              </a:rPr>
              <a:t>Không giống như các hệ thống ngang hàng có cấu trúc, việc tra cứu dữ liệu không thể tuân theo một tuyến đường định trước khi danh sách láng giềng được xây dựng một cách ngẫu nhiên. Thay vào đó, trong các hệ thống ngang hàng không cấu trúc, chúng ta thực sự cần phải dựa vào việc </a:t>
            </a:r>
            <a:r>
              <a:rPr lang="vi-VN" b="1" i="0" dirty="0">
                <a:solidFill>
                  <a:srgbClr val="404040"/>
                </a:solidFill>
                <a:effectLst/>
                <a:latin typeface="Inter"/>
              </a:rPr>
              <a:t>tìm kiếm dữ liệu</a:t>
            </a:r>
            <a:r>
              <a:rPr lang="vi-VN" b="0" i="0" dirty="0">
                <a:solidFill>
                  <a:srgbClr val="404040"/>
                </a:solidFill>
                <a:effectLst/>
                <a:latin typeface="Inter"/>
              </a:rPr>
              <a:t>. Hãy xem xét hai phương pháp cực đoan và xem xét trường hợp chúng ta được yêu cầu tìm kiếm dữ liệu cụ thể (ví dụ: được xác định bằng từ khóa).</a:t>
            </a:r>
          </a:p>
          <a:p>
            <a:pPr algn="l"/>
            <a:endParaRPr lang="en-US" b="1" i="0" dirty="0">
              <a:solidFill>
                <a:srgbClr val="404040"/>
              </a:solidFill>
              <a:effectLst/>
              <a:latin typeface="Inter"/>
            </a:endParaRPr>
          </a:p>
          <a:p>
            <a:pPr algn="l"/>
            <a:r>
              <a:rPr lang="vi-VN" b="1" i="0" dirty="0">
                <a:solidFill>
                  <a:srgbClr val="404040"/>
                </a:solidFill>
                <a:effectLst/>
                <a:latin typeface="Inter"/>
              </a:rPr>
              <a:t>1. Flooding (Lan truyền)</a:t>
            </a:r>
          </a:p>
          <a:p>
            <a:pPr algn="l"/>
            <a:r>
              <a:rPr lang="vi-VN" b="0" i="0" dirty="0">
                <a:solidFill>
                  <a:srgbClr val="404040"/>
                </a:solidFill>
                <a:effectLst/>
                <a:latin typeface="Inter"/>
              </a:rPr>
              <a:t>Trong trường hợp </a:t>
            </a:r>
            <a:r>
              <a:rPr lang="vi-VN" b="1" i="0" dirty="0">
                <a:solidFill>
                  <a:srgbClr val="404040"/>
                </a:solidFill>
                <a:effectLst/>
                <a:latin typeface="Inter"/>
              </a:rPr>
              <a:t>flooding</a:t>
            </a:r>
            <a:r>
              <a:rPr lang="vi-VN" b="0" i="0" dirty="0">
                <a:solidFill>
                  <a:srgbClr val="404040"/>
                </a:solidFill>
                <a:effectLst/>
                <a:latin typeface="Inter"/>
              </a:rPr>
              <a:t>, một nút phát hành </a:t>
            </a:r>
            <a:r>
              <a:rPr lang="vi-VN" b="0" i="0" dirty="0">
                <a:solidFill>
                  <a:srgbClr val="404040"/>
                </a:solidFill>
                <a:effectLst/>
                <a:latin typeface="KaTeX_Main"/>
              </a:rPr>
              <a:t>u</a:t>
            </a:r>
            <a:r>
              <a:rPr lang="vi-VN" b="0" i="1" dirty="0">
                <a:solidFill>
                  <a:srgbClr val="404040"/>
                </a:solidFill>
                <a:effectLst/>
                <a:latin typeface="KaTeX_Math"/>
              </a:rPr>
              <a:t>u</a:t>
            </a:r>
            <a:r>
              <a:rPr lang="vi-VN" b="0" i="0" dirty="0">
                <a:solidFill>
                  <a:srgbClr val="404040"/>
                </a:solidFill>
                <a:effectLst/>
                <a:latin typeface="Inter"/>
              </a:rPr>
              <a:t> đơn giản chuyển yêu cầu tìm kiếm dữ liệu đến tất cả các nút láng giềng của nó. Yêu cầu sẽ bị bỏ qua nếu nút nhận được yêu cầu, chẳng hạn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đã thấy nó trước đó. Ngược lại,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sẽ tìm kiếm cục bộ dữ liệu được yêu cầu. Nếu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có dữ liệu cần thiết, nó có thể trả lời trực tiếp cho nút phát hành </a:t>
            </a:r>
            <a:r>
              <a:rPr lang="vi-VN" b="0" i="0" dirty="0">
                <a:solidFill>
                  <a:srgbClr val="404040"/>
                </a:solidFill>
                <a:effectLst/>
                <a:latin typeface="KaTeX_Main"/>
              </a:rPr>
              <a:t>u</a:t>
            </a:r>
            <a:r>
              <a:rPr lang="vi-VN" b="0" i="1" dirty="0">
                <a:solidFill>
                  <a:srgbClr val="404040"/>
                </a:solidFill>
                <a:effectLst/>
                <a:latin typeface="KaTeX_Math"/>
              </a:rPr>
              <a:t>u</a:t>
            </a:r>
            <a:r>
              <a:rPr lang="vi-VN" b="0" i="0" dirty="0">
                <a:solidFill>
                  <a:srgbClr val="404040"/>
                </a:solidFill>
                <a:effectLst/>
                <a:latin typeface="Inter"/>
              </a:rPr>
              <a:t>, hoặc gửi nó trở lại nút chuyển tiếp ban đầu, người này sau đó sẽ trả lại nó cho nút chuyển tiếp ban đầu của họ, và cứ tiếp tục như vậy. Nếu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không có dữ liệu được yêu cầu, nó sẽ chuyển tiếp yêu cầu đến tất cả các nút láng giềng của nó.</a:t>
            </a:r>
          </a:p>
          <a:p>
            <a:pPr algn="l"/>
            <a:r>
              <a:rPr lang="vi-VN" b="0" i="0" dirty="0">
                <a:solidFill>
                  <a:srgbClr val="404040"/>
                </a:solidFill>
                <a:effectLst/>
                <a:latin typeface="Inter"/>
              </a:rPr>
              <a:t>Rõ ràng, </a:t>
            </a:r>
            <a:r>
              <a:rPr lang="vi-VN" b="1" i="0" dirty="0">
                <a:solidFill>
                  <a:srgbClr val="404040"/>
                </a:solidFill>
                <a:effectLst/>
                <a:latin typeface="Inter"/>
              </a:rPr>
              <a:t>flooding</a:t>
            </a:r>
            <a:r>
              <a:rPr lang="vi-VN" b="0" i="0" dirty="0">
                <a:solidFill>
                  <a:srgbClr val="404040"/>
                </a:solidFill>
                <a:effectLst/>
                <a:latin typeface="Inter"/>
              </a:rPr>
              <a:t> có thể rất tốn kém, vì vậy yêu cầu thường có một giá trị </a:t>
            </a:r>
            <a:r>
              <a:rPr lang="vi-VN" b="1" i="0" dirty="0">
                <a:solidFill>
                  <a:srgbClr val="404040"/>
                </a:solidFill>
                <a:effectLst/>
                <a:latin typeface="Inter"/>
              </a:rPr>
              <a:t>time-to-live (TTL)</a:t>
            </a:r>
            <a:r>
              <a:rPr lang="vi-VN" b="0" i="0" dirty="0">
                <a:solidFill>
                  <a:srgbClr val="404040"/>
                </a:solidFill>
                <a:effectLst/>
                <a:latin typeface="Inter"/>
              </a:rPr>
              <a:t> đi kèm, chỉ định số lần chuyển tiếp tối đa mà yêu cầu được phép thực hiện. Việc chọn giá trị TTL phù hợp là rất quan trọng: quá nhỏ có nghĩa là yêu cầu sẽ chỉ ở gần nút phát hành và có thể không đến được nút có dữ liệu. Quá lớn sẽ dẫn đến chi phí truyền thông cao.</a:t>
            </a:r>
          </a:p>
          <a:p>
            <a:pPr algn="l"/>
            <a:r>
              <a:rPr lang="vi-VN" b="0" i="0" dirty="0">
                <a:solidFill>
                  <a:srgbClr val="404040"/>
                </a:solidFill>
                <a:effectLst/>
                <a:latin typeface="Inter"/>
              </a:rPr>
              <a:t>Một cách thay thế cho việc đặt giá trị TTL, một nút cũng có thể bắt đầu tìm kiếm với giá trị TTL ban đầu là 1, nghĩa là nó sẽ chỉ hỏi các nút láng giềng của nó trước. Nếu không có hoặc không đủ kết quả được trả về, TTL sẽ được tăng lên và một tìm kiếm mới được bắt đầu.</a:t>
            </a:r>
          </a:p>
          <a:p>
            <a:pPr algn="l"/>
            <a:endParaRPr lang="en-US" b="1" i="0" dirty="0">
              <a:solidFill>
                <a:srgbClr val="404040"/>
              </a:solidFill>
              <a:effectLst/>
              <a:latin typeface="Inter"/>
            </a:endParaRPr>
          </a:p>
          <a:p>
            <a:pPr algn="l"/>
            <a:r>
              <a:rPr lang="vi-VN" b="1" i="0" dirty="0">
                <a:solidFill>
                  <a:srgbClr val="404040"/>
                </a:solidFill>
                <a:effectLst/>
                <a:latin typeface="Inter"/>
              </a:rPr>
              <a:t>2. Random Walks (Đi ngẫu nhiên)</a:t>
            </a:r>
          </a:p>
          <a:p>
            <a:pPr algn="l"/>
            <a:r>
              <a:rPr lang="vi-VN" b="0" i="0" dirty="0">
                <a:solidFill>
                  <a:srgbClr val="404040"/>
                </a:solidFill>
                <a:effectLst/>
                <a:latin typeface="Inter"/>
              </a:rPr>
              <a:t>Ở phía ngược lại của quang phổ tìm kiếm, một nút phát hành </a:t>
            </a:r>
            <a:r>
              <a:rPr lang="vi-VN" b="0" i="0" dirty="0">
                <a:solidFill>
                  <a:srgbClr val="404040"/>
                </a:solidFill>
                <a:effectLst/>
                <a:latin typeface="KaTeX_Main"/>
              </a:rPr>
              <a:t>u</a:t>
            </a:r>
            <a:r>
              <a:rPr lang="vi-VN" b="0" i="1" dirty="0">
                <a:solidFill>
                  <a:srgbClr val="404040"/>
                </a:solidFill>
                <a:effectLst/>
                <a:latin typeface="KaTeX_Math"/>
              </a:rPr>
              <a:t>u</a:t>
            </a:r>
            <a:r>
              <a:rPr lang="vi-VN" b="0" i="0" dirty="0">
                <a:solidFill>
                  <a:srgbClr val="404040"/>
                </a:solidFill>
                <a:effectLst/>
                <a:latin typeface="Inter"/>
              </a:rPr>
              <a:t> có thể đơn giản thử tìm kiếm dữ liệu bằng cách hỏi một nút láng giềng được chọn ngẫu nhiên, chẳng hạn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Nếu </a:t>
            </a:r>
            <a:r>
              <a:rPr lang="vi-VN" b="0" i="0" dirty="0">
                <a:solidFill>
                  <a:srgbClr val="404040"/>
                </a:solidFill>
                <a:effectLst/>
                <a:latin typeface="KaTeX_Main"/>
              </a:rPr>
              <a:t>v</a:t>
            </a:r>
            <a:r>
              <a:rPr lang="vi-VN" b="0" i="1" dirty="0">
                <a:solidFill>
                  <a:srgbClr val="404040"/>
                </a:solidFill>
                <a:effectLst/>
                <a:latin typeface="KaTeX_Math"/>
              </a:rPr>
              <a:t>v</a:t>
            </a:r>
            <a:r>
              <a:rPr lang="vi-VN" b="0" i="0" dirty="0">
                <a:solidFill>
                  <a:srgbClr val="404040"/>
                </a:solidFill>
                <a:effectLst/>
                <a:latin typeface="Inter"/>
              </a:rPr>
              <a:t> không có dữ liệu, nó sẽ chuyển tiếp yêu cầu đến một trong các nút láng giềng được chọn ngẫu nhiên của nó, và cứ tiếp tục như vậy. Kết quả được gọi là một </a:t>
            </a:r>
            <a:r>
              <a:rPr lang="vi-VN" b="1" i="0" dirty="0">
                <a:solidFill>
                  <a:srgbClr val="404040"/>
                </a:solidFill>
                <a:effectLst/>
                <a:latin typeface="Inter"/>
              </a:rPr>
              <a:t>random walk</a:t>
            </a:r>
            <a:r>
              <a:rPr lang="vi-VN" b="0" i="0" dirty="0">
                <a:solidFill>
                  <a:srgbClr val="404040"/>
                </a:solidFill>
                <a:effectLst/>
                <a:latin typeface="Inter"/>
              </a:rPr>
              <a:t>. Rõ ràng, một random walk tạo ra ít lưu lượng mạng hơn nhiều, nhưng nó có thể mất nhiều thời gian hơn trước khi đến được một nút có dữ liệu được yêu cầu. Để giảm thời gian chờ đợi, một nút phát hành có thể bắt đầu </a:t>
            </a:r>
            <a:r>
              <a:rPr lang="vi-VN" b="0" i="0" dirty="0">
                <a:solidFill>
                  <a:srgbClr val="404040"/>
                </a:solidFill>
                <a:effectLst/>
                <a:latin typeface="KaTeX_Main"/>
              </a:rPr>
              <a:t>n</a:t>
            </a:r>
            <a:r>
              <a:rPr lang="vi-VN" b="0" i="1" dirty="0">
                <a:solidFill>
                  <a:srgbClr val="404040"/>
                </a:solidFill>
                <a:effectLst/>
                <a:latin typeface="KaTeX_Math"/>
              </a:rPr>
              <a:t>n</a:t>
            </a:r>
            <a:r>
              <a:rPr lang="vi-VN" b="0" i="0" dirty="0">
                <a:solidFill>
                  <a:srgbClr val="404040"/>
                </a:solidFill>
                <a:effectLst/>
                <a:latin typeface="Inter"/>
              </a:rPr>
              <a:t> random walk đồng thời. Thực tế, các nghiên cứu cho thấy rằng trong trường hợp này, thời gian cần thiết để đến được một nút có dữ liệu giảm đi khoảng </a:t>
            </a:r>
            <a:r>
              <a:rPr lang="vi-VN" b="0" i="0" dirty="0">
                <a:solidFill>
                  <a:srgbClr val="404040"/>
                </a:solidFill>
                <a:effectLst/>
                <a:latin typeface="KaTeX_Main"/>
              </a:rPr>
              <a:t>n</a:t>
            </a:r>
            <a:r>
              <a:rPr lang="vi-VN" b="0" i="1" dirty="0">
                <a:solidFill>
                  <a:srgbClr val="404040"/>
                </a:solidFill>
                <a:effectLst/>
                <a:latin typeface="KaTeX_Math"/>
              </a:rPr>
              <a:t>n</a:t>
            </a:r>
            <a:r>
              <a:rPr lang="vi-VN" b="0" i="0" dirty="0">
                <a:solidFill>
                  <a:srgbClr val="404040"/>
                </a:solidFill>
                <a:effectLst/>
                <a:latin typeface="Inter"/>
              </a:rPr>
              <a:t> lần. Lv et al. [2002] báo cáo rằng các giá trị </a:t>
            </a:r>
            <a:r>
              <a:rPr lang="vi-VN" b="0" i="0" dirty="0">
                <a:solidFill>
                  <a:srgbClr val="404040"/>
                </a:solidFill>
                <a:effectLst/>
                <a:latin typeface="KaTeX_Main"/>
              </a:rPr>
              <a:t>n</a:t>
            </a:r>
            <a:r>
              <a:rPr lang="vi-VN" b="0" i="1" dirty="0">
                <a:solidFill>
                  <a:srgbClr val="404040"/>
                </a:solidFill>
                <a:effectLst/>
                <a:latin typeface="KaTeX_Math"/>
              </a:rPr>
              <a:t>n</a:t>
            </a:r>
            <a:r>
              <a:rPr lang="vi-VN" b="0" i="0" dirty="0">
                <a:solidFill>
                  <a:srgbClr val="404040"/>
                </a:solidFill>
                <a:effectLst/>
                <a:latin typeface="Inter"/>
              </a:rPr>
              <a:t> tương đối nhỏ, chẳng hạn 16 hoặc 64, tỏ ra hiệu quả.</a:t>
            </a:r>
          </a:p>
          <a:p>
            <a:pPr algn="l"/>
            <a:r>
              <a:rPr lang="vi-VN" b="0" i="0" dirty="0">
                <a:solidFill>
                  <a:srgbClr val="404040"/>
                </a:solidFill>
                <a:effectLst/>
                <a:latin typeface="Inter"/>
              </a:rPr>
              <a:t>Một random walk cũng cần được dừng lại. Để làm điều này, chúng ta có thể sử dụng lại giá trị TTL, hoặc thay vào đó, khi một nút nhận được yêu cầu tra cứu, nó có thể kiểm tra với nút phát hành xem việc chuyển tiếp yêu cầu đến một nút láng giềng ngẫu nhiên khác có còn cần thiết hay không.</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1" i="0" dirty="0">
                <a:solidFill>
                  <a:srgbClr val="404040"/>
                </a:solidFill>
                <a:effectLst/>
                <a:latin typeface="Inter"/>
              </a:rPr>
              <a:t>Lưu ý</a:t>
            </a:r>
          </a:p>
          <a:p>
            <a:pPr algn="l"/>
            <a:r>
              <a:rPr lang="vi-VN" b="0" i="0" dirty="0">
                <a:solidFill>
                  <a:srgbClr val="404040"/>
                </a:solidFill>
                <a:effectLst/>
                <a:latin typeface="Inter"/>
              </a:rPr>
              <a:t>Cả hai phương pháp này đều không dựa trên một kỹ thuật so sánh cụ thể để quyết định khi nào dữ liệu được yêu cầu đã được tìm thấy. Đối với các hệ thống ngang hàng có cấu trúc, chúng ta giả định việc sử dụng khóa để so sánh; đối với hai phương pháp vừa được mô tả, bất kỳ kỹ thuật so sánh nào cũng sẽ phù hợp.</a:t>
            </a:r>
          </a:p>
          <a:p>
            <a:pPr algn="l"/>
            <a:r>
              <a:rPr lang="vi-VN" b="1" i="0" dirty="0">
                <a:solidFill>
                  <a:srgbClr val="404040"/>
                </a:solidFill>
                <a:effectLst/>
                <a:latin typeface="Inter"/>
              </a:rPr>
              <a:t>Các phương pháp tìm kiếm dựa trên chính sách</a:t>
            </a:r>
          </a:p>
          <a:p>
            <a:pPr algn="l"/>
            <a:r>
              <a:rPr lang="vi-VN" b="0" i="0" dirty="0">
                <a:solidFill>
                  <a:srgbClr val="404040"/>
                </a:solidFill>
                <a:effectLst/>
                <a:latin typeface="Inter"/>
              </a:rPr>
              <a:t>Giữa </a:t>
            </a:r>
            <a:r>
              <a:rPr lang="vi-VN" b="1" i="0" dirty="0">
                <a:solidFill>
                  <a:srgbClr val="404040"/>
                </a:solidFill>
                <a:effectLst/>
                <a:latin typeface="Inter"/>
              </a:rPr>
              <a:t>flooding</a:t>
            </a:r>
            <a:r>
              <a:rPr lang="vi-VN" b="0" i="0" dirty="0">
                <a:solidFill>
                  <a:srgbClr val="404040"/>
                </a:solidFill>
                <a:effectLst/>
                <a:latin typeface="Inter"/>
              </a:rPr>
              <a:t> và </a:t>
            </a:r>
            <a:r>
              <a:rPr lang="vi-VN" b="1" i="0" dirty="0">
                <a:solidFill>
                  <a:srgbClr val="404040"/>
                </a:solidFill>
                <a:effectLst/>
                <a:latin typeface="Inter"/>
              </a:rPr>
              <a:t>random walks</a:t>
            </a:r>
            <a:r>
              <a:rPr lang="vi-VN" b="0" i="0" dirty="0">
                <a:solidFill>
                  <a:srgbClr val="404040"/>
                </a:solidFill>
                <a:effectLst/>
                <a:latin typeface="Inter"/>
              </a:rPr>
              <a:t> là các phương pháp tìm kiếm dựa trên chính sách. Ví dụ, một nút có thể quyết định theo dõi các nút đã phản hồi tích cực, biến chúng thành các nút láng giềng ưu tiên cho các truy vấn tiếp theo. Tương tự, chúng ta có thể muốn hạn chế </a:t>
            </a:r>
            <a:r>
              <a:rPr lang="vi-VN" b="1" i="0" dirty="0">
                <a:solidFill>
                  <a:srgbClr val="404040"/>
                </a:solidFill>
                <a:effectLst/>
                <a:latin typeface="Inter"/>
              </a:rPr>
              <a:t>flooding</a:t>
            </a:r>
            <a:r>
              <a:rPr lang="vi-VN" b="0" i="0" dirty="0">
                <a:solidFill>
                  <a:srgbClr val="404040"/>
                </a:solidFill>
                <a:effectLst/>
                <a:latin typeface="Inter"/>
              </a:rPr>
              <a:t> đến ít nút láng giềng hơn, nhưng trong mọi trường hợp, ưu tiên các nút láng giềng có nhiều nút láng giềng khác.</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31</a:t>
            </a:fld>
            <a:endParaRPr lang="en-US"/>
          </a:p>
        </p:txBody>
      </p:sp>
    </p:spTree>
    <p:extLst>
      <p:ext uri="{BB962C8B-B14F-4D97-AF65-F5344CB8AC3E}">
        <p14:creationId xmlns:p14="http://schemas.microsoft.com/office/powerpoint/2010/main" val="1650576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404040"/>
                </a:solidFill>
                <a:effectLst/>
                <a:latin typeface="Inter"/>
              </a:rPr>
              <a:t>So </a:t>
            </a:r>
            <a:r>
              <a:rPr lang="en-US" b="0" i="0" dirty="0" err="1">
                <a:solidFill>
                  <a:srgbClr val="404040"/>
                </a:solidFill>
                <a:effectLst/>
                <a:latin typeface="Inter"/>
              </a:rPr>
              <a:t>sánh</a:t>
            </a:r>
            <a:r>
              <a:rPr lang="en-US" b="0" i="0" dirty="0">
                <a:solidFill>
                  <a:srgbClr val="404040"/>
                </a:solidFill>
                <a:effectLst/>
                <a:latin typeface="Inter"/>
              </a:rPr>
              <a:t> </a:t>
            </a:r>
            <a:r>
              <a:rPr lang="en-US" b="0" i="0" dirty="0" err="1">
                <a:solidFill>
                  <a:srgbClr val="404040"/>
                </a:solidFill>
                <a:effectLst/>
                <a:latin typeface="Inter"/>
              </a:rPr>
              <a:t>thuật</a:t>
            </a:r>
            <a:r>
              <a:rPr lang="en-US" b="0" i="0" dirty="0">
                <a:solidFill>
                  <a:srgbClr val="404040"/>
                </a:solidFill>
                <a:effectLst/>
                <a:latin typeface="Inter"/>
              </a:rPr>
              <a:t> </a:t>
            </a:r>
            <a:r>
              <a:rPr lang="en-US" b="0" i="0" dirty="0" err="1">
                <a:solidFill>
                  <a:srgbClr val="404040"/>
                </a:solidFill>
                <a:effectLst/>
                <a:latin typeface="Inter"/>
              </a:rPr>
              <a:t>toán</a:t>
            </a:r>
            <a:r>
              <a:rPr lang="en-US" b="0" i="0" dirty="0">
                <a:solidFill>
                  <a:srgbClr val="404040"/>
                </a:solidFill>
                <a:effectLst/>
                <a:latin typeface="Inter"/>
              </a:rPr>
              <a:t> Flooding </a:t>
            </a:r>
            <a:r>
              <a:rPr lang="en-US" b="0" i="0" dirty="0" err="1">
                <a:solidFill>
                  <a:srgbClr val="404040"/>
                </a:solidFill>
                <a:effectLst/>
                <a:latin typeface="Inter"/>
              </a:rPr>
              <a:t>và</a:t>
            </a:r>
            <a:r>
              <a:rPr lang="en-US" b="0" i="0" dirty="0">
                <a:solidFill>
                  <a:srgbClr val="404040"/>
                </a:solidFill>
                <a:effectLst/>
                <a:latin typeface="Inter"/>
              </a:rPr>
              <a:t> random walk.</a:t>
            </a:r>
          </a:p>
          <a:p>
            <a:pPr algn="l"/>
            <a:endParaRPr lang="vi-VN" b="0" i="0" dirty="0">
              <a:solidFill>
                <a:srgbClr val="404040"/>
              </a:solidFill>
              <a:effectLst/>
              <a:latin typeface="Inter"/>
            </a:endParaRPr>
          </a:p>
          <a:p>
            <a:pPr algn="l"/>
            <a:r>
              <a:rPr lang="vi-VN" b="0" i="0" dirty="0">
                <a:solidFill>
                  <a:srgbClr val="404040"/>
                </a:solidFill>
                <a:effectLst/>
                <a:latin typeface="Inter"/>
              </a:rPr>
              <a:t>Giả sử có tổng cộng </a:t>
            </a:r>
            <a:r>
              <a:rPr lang="vi-VN" b="0" i="0" dirty="0">
                <a:solidFill>
                  <a:srgbClr val="404040"/>
                </a:solidFill>
                <a:effectLst/>
                <a:latin typeface="KaTeX_Main"/>
              </a:rPr>
              <a:t>N</a:t>
            </a:r>
            <a:r>
              <a:rPr lang="vi-VN" b="0" i="0" dirty="0">
                <a:solidFill>
                  <a:srgbClr val="404040"/>
                </a:solidFill>
                <a:effectLst/>
                <a:latin typeface="Inter"/>
              </a:rPr>
              <a:t> nút và mỗi mục dữ liệu được nhân bản trên </a:t>
            </a:r>
            <a:r>
              <a:rPr lang="vi-VN" b="0" i="0" dirty="0">
                <a:solidFill>
                  <a:srgbClr val="404040"/>
                </a:solidFill>
                <a:effectLst/>
                <a:latin typeface="KaTeX_Main"/>
              </a:rPr>
              <a:t>r</a:t>
            </a:r>
            <a:r>
              <a:rPr lang="vi-VN" b="0" i="0" dirty="0">
                <a:solidFill>
                  <a:srgbClr val="404040"/>
                </a:solidFill>
                <a:effectLst/>
                <a:latin typeface="Inter"/>
              </a:rPr>
              <a:t> nút được chọn ngẫu nhiên. Một lượt tìm kiếm bao gồm việc liên tục chọn một nút ngẫu nhiên cho đến khi tìm thấy mục dữ liệu. Nếu </a:t>
            </a:r>
            <a:r>
              <a:rPr lang="vi-VN" b="0" i="0" dirty="0">
                <a:solidFill>
                  <a:srgbClr val="404040"/>
                </a:solidFill>
                <a:effectLst/>
                <a:latin typeface="KaTeX_Main"/>
              </a:rPr>
              <a:t>P[k]</a:t>
            </a:r>
            <a:r>
              <a:rPr lang="vi-VN" b="0" i="0" dirty="0">
                <a:solidFill>
                  <a:srgbClr val="404040"/>
                </a:solidFill>
                <a:effectLst/>
                <a:latin typeface="Inter"/>
              </a:rPr>
              <a:t> là xác suất tìm thấy mục dữ liệu sau </a:t>
            </a:r>
            <a:r>
              <a:rPr lang="vi-VN" b="0" i="0" dirty="0">
                <a:solidFill>
                  <a:srgbClr val="404040"/>
                </a:solidFill>
                <a:effectLst/>
                <a:latin typeface="KaTeX_Main"/>
              </a:rPr>
              <a:t>k</a:t>
            </a:r>
            <a:r>
              <a:rPr lang="vi-VN" b="0" i="0" dirty="0">
                <a:solidFill>
                  <a:srgbClr val="404040"/>
                </a:solidFill>
                <a:effectLst/>
                <a:latin typeface="Inter"/>
              </a:rPr>
              <a:t> lần thử, chúng ta có:</a:t>
            </a:r>
            <a:endParaRPr lang="en-US" b="0" i="0" dirty="0">
              <a:solidFill>
                <a:srgbClr val="404040"/>
              </a:solidFill>
              <a:effectLst/>
              <a:latin typeface="Inter"/>
            </a:endParaRPr>
          </a:p>
          <a:p>
            <a:r>
              <a:rPr lang="en-US" dirty="0"/>
              <a:t>P[k] = r/N (1 – r/N) ^ (k-1)</a:t>
            </a:r>
          </a:p>
          <a:p>
            <a:endParaRPr lang="en-US" dirty="0"/>
          </a:p>
          <a:p>
            <a:r>
              <a:rPr lang="vi-VN" b="0" i="0" dirty="0">
                <a:solidFill>
                  <a:srgbClr val="404040"/>
                </a:solidFill>
                <a:effectLst/>
                <a:latin typeface="Inter"/>
              </a:rPr>
              <a:t>Gọi </a:t>
            </a:r>
            <a:r>
              <a:rPr lang="vi-VN" b="1" i="0" dirty="0">
                <a:solidFill>
                  <a:srgbClr val="404040"/>
                </a:solidFill>
                <a:effectLst/>
                <a:latin typeface="Inter"/>
              </a:rPr>
              <a:t>kích thước tìm kiếm trung bình </a:t>
            </a:r>
            <a:r>
              <a:rPr lang="vi-VN" b="1" i="0" dirty="0">
                <a:solidFill>
                  <a:srgbClr val="404040"/>
                </a:solidFill>
                <a:effectLst/>
                <a:latin typeface="KaTeX_Main"/>
              </a:rPr>
              <a:t>S</a:t>
            </a:r>
            <a:r>
              <a:rPr lang="vi-VN" b="0" i="0" dirty="0">
                <a:solidFill>
                  <a:srgbClr val="404040"/>
                </a:solidFill>
                <a:effectLst/>
                <a:latin typeface="Inter"/>
              </a:rPr>
              <a:t> là số lượng nút dự kiến cần được kiểm tra trước khi tìm thấy mục dữ liệu được yêu cầu:</a:t>
            </a:r>
            <a:endParaRPr lang="en-US" b="0" i="0" dirty="0">
              <a:solidFill>
                <a:srgbClr val="404040"/>
              </a:solidFill>
              <a:effectLst/>
              <a:latin typeface="Inter"/>
            </a:endParaRPr>
          </a:p>
          <a:p>
            <a:r>
              <a:rPr lang="en-US" b="0" i="0" dirty="0">
                <a:solidFill>
                  <a:srgbClr val="404040"/>
                </a:solidFill>
                <a:effectLst/>
                <a:latin typeface="Inter"/>
              </a:rPr>
              <a:t>S = SUM_{k=1}^N k. P[k]</a:t>
            </a:r>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32</a:t>
            </a:fld>
            <a:endParaRPr lang="en-US"/>
          </a:p>
        </p:txBody>
      </p:sp>
    </p:spTree>
    <p:extLst>
      <p:ext uri="{BB962C8B-B14F-4D97-AF65-F5344CB8AC3E}">
        <p14:creationId xmlns:p14="http://schemas.microsoft.com/office/powerpoint/2010/main" val="580486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Bằng cách sao chép mỗi mục dữ liệu đến mọi nút, </a:t>
            </a:r>
            <a:r>
              <a:rPr lang="vi-VN" b="0" i="0" dirty="0">
                <a:solidFill>
                  <a:srgbClr val="404040"/>
                </a:solidFill>
                <a:effectLst/>
                <a:latin typeface="KaTeX_Main"/>
              </a:rPr>
              <a:t>S=1</a:t>
            </a:r>
            <a:r>
              <a:rPr lang="vi-VN" b="0" i="0" dirty="0">
                <a:solidFill>
                  <a:srgbClr val="404040"/>
                </a:solidFill>
                <a:effectLst/>
                <a:latin typeface="Inter"/>
              </a:rPr>
              <a:t>, và rõ ràng là </a:t>
            </a:r>
            <a:r>
              <a:rPr lang="vi-VN" b="1" i="0" dirty="0">
                <a:solidFill>
                  <a:srgbClr val="404040"/>
                </a:solidFill>
                <a:effectLst/>
                <a:latin typeface="Inter"/>
              </a:rPr>
              <a:t>random walk</a:t>
            </a:r>
            <a:r>
              <a:rPr lang="vi-VN" b="0" i="0" dirty="0">
                <a:solidFill>
                  <a:srgbClr val="404040"/>
                </a:solidFill>
                <a:effectLst/>
                <a:latin typeface="Inter"/>
              </a:rPr>
              <a:t> sẽ luôn vượt trội hơn </a:t>
            </a:r>
            <a:r>
              <a:rPr lang="vi-VN" b="1" i="0" dirty="0">
                <a:solidFill>
                  <a:srgbClr val="404040"/>
                </a:solidFill>
                <a:effectLst/>
                <a:latin typeface="Inter"/>
              </a:rPr>
              <a:t>flooding</a:t>
            </a:r>
            <a:r>
              <a:rPr lang="vi-VN" b="0" i="0" dirty="0">
                <a:solidFill>
                  <a:srgbClr val="404040"/>
                </a:solidFill>
                <a:effectLst/>
                <a:latin typeface="Inter"/>
              </a:rPr>
              <a:t> ngay cả với giá trị TTL là 1. Tuy nhiên, thực tế hơn là giả định rằng </a:t>
            </a:r>
            <a:r>
              <a:rPr lang="vi-VN" b="0" i="0" dirty="0">
                <a:solidFill>
                  <a:srgbClr val="404040"/>
                </a:solidFill>
                <a:effectLst/>
                <a:latin typeface="KaTeX_Main"/>
              </a:rPr>
              <a:t>r/N</a:t>
            </a:r>
            <a:r>
              <a:rPr lang="vi-VN" b="0" i="0" dirty="0">
                <a:solidFill>
                  <a:srgbClr val="404040"/>
                </a:solidFill>
                <a:effectLst/>
                <a:latin typeface="Inter"/>
              </a:rPr>
              <a:t> tương đối thấp, chẳng hạn như 0.1%, có nghĩa là kích thước tìm kiếm trung bình sẽ vào khoảng 1000 nút.</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Để so sánh điều này với </a:t>
            </a:r>
            <a:r>
              <a:rPr lang="vi-VN" b="1" i="0" dirty="0">
                <a:solidFill>
                  <a:srgbClr val="404040"/>
                </a:solidFill>
                <a:effectLst/>
                <a:latin typeface="Inter"/>
              </a:rPr>
              <a:t>flooding</a:t>
            </a:r>
            <a:r>
              <a:rPr lang="vi-VN" b="0" i="0" dirty="0">
                <a:solidFill>
                  <a:srgbClr val="404040"/>
                </a:solidFill>
                <a:effectLst/>
                <a:latin typeface="Inter"/>
              </a:rPr>
              <a:t>, giả sử rằng mỗi nút, trung bình, chuyển tiếp yêu cầu đến </a:t>
            </a:r>
            <a:r>
              <a:rPr lang="vi-VN" b="0" i="0" dirty="0">
                <a:solidFill>
                  <a:srgbClr val="404040"/>
                </a:solidFill>
                <a:effectLst/>
                <a:latin typeface="KaTeX_Main"/>
              </a:rPr>
              <a:t>d</a:t>
            </a:r>
            <a:r>
              <a:rPr lang="vi-VN" b="0" i="0" dirty="0">
                <a:solidFill>
                  <a:srgbClr val="404040"/>
                </a:solidFill>
                <a:effectLst/>
                <a:latin typeface="Inter"/>
              </a:rPr>
              <a:t> nút láng giềng được chọn ngẫu nhiên. Sau một bước, yêu cầu sẽ đến được </a:t>
            </a:r>
            <a:r>
              <a:rPr lang="vi-VN" b="0" i="0" dirty="0">
                <a:solidFill>
                  <a:srgbClr val="404040"/>
                </a:solidFill>
                <a:effectLst/>
                <a:latin typeface="KaTeX_Main"/>
              </a:rPr>
              <a:t>d</a:t>
            </a:r>
            <a:r>
              <a:rPr lang="vi-VN" b="0" i="0" dirty="0">
                <a:solidFill>
                  <a:srgbClr val="404040"/>
                </a:solidFill>
                <a:effectLst/>
                <a:latin typeface="Inter"/>
              </a:rPr>
              <a:t> nút, mỗi nút này sẽ chuyển tiếp nó đến </a:t>
            </a:r>
            <a:r>
              <a:rPr lang="vi-VN" b="0" i="0" dirty="0">
                <a:solidFill>
                  <a:srgbClr val="404040"/>
                </a:solidFill>
                <a:effectLst/>
                <a:latin typeface="KaTeX_Main"/>
              </a:rPr>
              <a:t>d−1</a:t>
            </a:r>
            <a:r>
              <a:rPr lang="vi-VN" b="0" i="0" dirty="0">
                <a:solidFill>
                  <a:srgbClr val="404040"/>
                </a:solidFill>
                <a:effectLst/>
                <a:latin typeface="Inter"/>
              </a:rPr>
              <a:t> nút khác (giả sử rằng nút mà yêu cầu xuất phát được bỏ qua), và cứ tiếp tục như vậy. Nói cách khác, sau </a:t>
            </a:r>
            <a:r>
              <a:rPr lang="vi-VN" b="0" i="0" dirty="0">
                <a:solidFill>
                  <a:srgbClr val="404040"/>
                </a:solidFill>
                <a:effectLst/>
                <a:latin typeface="KaTeX_Main"/>
              </a:rPr>
              <a:t>k</a:t>
            </a:r>
            <a:r>
              <a:rPr lang="vi-VN" b="0" i="0" dirty="0">
                <a:solidFill>
                  <a:srgbClr val="404040"/>
                </a:solidFill>
                <a:effectLst/>
                <a:latin typeface="Inter"/>
              </a:rPr>
              <a:t> bước, và tính đến việc một nút có thể nhận được yêu cầu nhiều hơn một lần, chúng ta sẽ tiếp cận được (tối đa):</a:t>
            </a:r>
          </a:p>
          <a:p>
            <a:pPr algn="l"/>
            <a:r>
              <a:rPr lang="vi-VN" b="0" i="0" dirty="0">
                <a:solidFill>
                  <a:srgbClr val="404040"/>
                </a:solidFill>
                <a:effectLst/>
                <a:latin typeface="KaTeX_Main"/>
              </a:rPr>
              <a:t>R(k)=d(d−1)k−1</a:t>
            </a:r>
            <a:r>
              <a:rPr lang="en-US" b="0" i="1" dirty="0">
                <a:solidFill>
                  <a:srgbClr val="404040"/>
                </a:solidFill>
                <a:effectLst/>
                <a:latin typeface="KaTeX_Math"/>
              </a:rPr>
              <a:t> </a:t>
            </a:r>
            <a:r>
              <a:rPr lang="vi-VN" b="0" i="0" dirty="0">
                <a:solidFill>
                  <a:srgbClr val="404040"/>
                </a:solidFill>
                <a:effectLst/>
                <a:latin typeface="Inter"/>
              </a:rPr>
              <a:t>nút. Nhiều nghiên cứu cho thấy rằng </a:t>
            </a:r>
            <a:r>
              <a:rPr lang="vi-VN" b="0" i="0" dirty="0">
                <a:solidFill>
                  <a:srgbClr val="404040"/>
                </a:solidFill>
                <a:effectLst/>
                <a:latin typeface="KaTeX_Main"/>
              </a:rPr>
              <a:t>R(k)</a:t>
            </a:r>
            <a:r>
              <a:rPr lang="vi-VN" b="0" i="0" dirty="0">
                <a:solidFill>
                  <a:srgbClr val="404040"/>
                </a:solidFill>
                <a:effectLst/>
                <a:latin typeface="Inter"/>
              </a:rPr>
              <a:t> là một ước tính tốt cho số lượng nút thực tế được tiếp cận, miễn là chúng ta chỉ có một số bước </a:t>
            </a:r>
            <a:r>
              <a:rPr lang="vi-VN" b="1" i="0" dirty="0">
                <a:solidFill>
                  <a:srgbClr val="404040"/>
                </a:solidFill>
                <a:effectLst/>
                <a:latin typeface="Inter"/>
              </a:rPr>
              <a:t>flooding</a:t>
            </a:r>
            <a:r>
              <a:rPr lang="vi-VN" b="0" i="0" dirty="0">
                <a:solidFill>
                  <a:srgbClr val="404040"/>
                </a:solidFill>
                <a:effectLst/>
                <a:latin typeface="Inter"/>
              </a:rPr>
              <a:t> nhỏ. Trong số các nút này, chúng ta có thể mong đợi một phần </a:t>
            </a:r>
            <a:r>
              <a:rPr lang="vi-VN" b="0" i="0" dirty="0">
                <a:solidFill>
                  <a:srgbClr val="404040"/>
                </a:solidFill>
                <a:effectLst/>
                <a:latin typeface="KaTeX_Main"/>
              </a:rPr>
              <a:t>r/N</a:t>
            </a:r>
            <a:r>
              <a:rPr lang="vi-VN" b="0" i="0" dirty="0">
                <a:solidFill>
                  <a:srgbClr val="404040"/>
                </a:solidFill>
                <a:effectLst/>
                <a:latin typeface="Inter"/>
              </a:rPr>
              <a:t> có mục dữ liệu được yêu cầu, có nghĩa là khi:</a:t>
            </a:r>
          </a:p>
          <a:p>
            <a:pPr algn="l"/>
            <a:r>
              <a:rPr lang="vi-VN" b="0" i="0" dirty="0">
                <a:solidFill>
                  <a:srgbClr val="404040"/>
                </a:solidFill>
                <a:effectLst/>
                <a:latin typeface="KaTeX_Main"/>
              </a:rPr>
              <a:t>r</a:t>
            </a:r>
            <a:r>
              <a:rPr lang="en-US" b="0" i="0" dirty="0">
                <a:solidFill>
                  <a:srgbClr val="404040"/>
                </a:solidFill>
                <a:effectLst/>
                <a:latin typeface="KaTeX_Main"/>
              </a:rPr>
              <a:t>/</a:t>
            </a:r>
            <a:r>
              <a:rPr lang="vi-VN" b="0" i="0" dirty="0">
                <a:solidFill>
                  <a:srgbClr val="404040"/>
                </a:solidFill>
                <a:effectLst/>
                <a:latin typeface="KaTeX_Main"/>
              </a:rPr>
              <a:t>N⋅R(k)≥1,</a:t>
            </a:r>
            <a:r>
              <a:rPr lang="en-US" b="0" i="1" dirty="0">
                <a:solidFill>
                  <a:srgbClr val="404040"/>
                </a:solidFill>
                <a:effectLst/>
                <a:latin typeface="KaTeX_Math"/>
              </a:rPr>
              <a:t> </a:t>
            </a:r>
            <a:r>
              <a:rPr lang="vi-VN" b="0" i="0" dirty="0">
                <a:solidFill>
                  <a:srgbClr val="404040"/>
                </a:solidFill>
                <a:effectLst/>
                <a:latin typeface="Inter"/>
              </a:rPr>
              <a:t>chúng ta rất có thể sẽ tìm thấy một nút có dữ liệu.</a:t>
            </a:r>
          </a:p>
          <a:p>
            <a:pPr algn="l"/>
            <a:r>
              <a:rPr lang="vi-VN" b="0" i="0" dirty="0">
                <a:solidFill>
                  <a:srgbClr val="404040"/>
                </a:solidFill>
                <a:effectLst/>
                <a:latin typeface="Inter"/>
              </a:rPr>
              <a:t>Để minh họa, giả sử </a:t>
            </a:r>
            <a:r>
              <a:rPr lang="vi-VN" b="0" i="0" dirty="0">
                <a:solidFill>
                  <a:srgbClr val="404040"/>
                </a:solidFill>
                <a:effectLst/>
                <a:latin typeface="KaTeX_Main"/>
              </a:rPr>
              <a:t>r/N=0.001=0.1%</a:t>
            </a:r>
            <a:r>
              <a:rPr lang="vi-VN" b="0" i="0" dirty="0">
                <a:solidFill>
                  <a:srgbClr val="404040"/>
                </a:solidFill>
                <a:effectLst/>
                <a:latin typeface="Inter"/>
              </a:rPr>
              <a:t>, có nghĩa là </a:t>
            </a:r>
            <a:r>
              <a:rPr lang="vi-VN" b="0" i="0" dirty="0">
                <a:solidFill>
                  <a:srgbClr val="404040"/>
                </a:solidFill>
                <a:effectLst/>
                <a:latin typeface="KaTeX_Main"/>
              </a:rPr>
              <a:t>S≈1000</a:t>
            </a:r>
            <a:r>
              <a:rPr lang="vi-VN" b="0" i="0" dirty="0">
                <a:solidFill>
                  <a:srgbClr val="404040"/>
                </a:solidFill>
                <a:effectLst/>
                <a:latin typeface="Inter"/>
              </a:rPr>
              <a:t>. Với </a:t>
            </a:r>
            <a:r>
              <a:rPr lang="vi-VN" b="1" i="0" dirty="0">
                <a:solidFill>
                  <a:srgbClr val="404040"/>
                </a:solidFill>
                <a:effectLst/>
                <a:latin typeface="Inter"/>
              </a:rPr>
              <a:t>flooding</a:t>
            </a:r>
            <a:r>
              <a:rPr lang="vi-VN" b="0" i="0" dirty="0">
                <a:solidFill>
                  <a:srgbClr val="404040"/>
                </a:solidFill>
                <a:effectLst/>
                <a:latin typeface="Inter"/>
              </a:rPr>
              <a:t> đến trung bình </a:t>
            </a:r>
            <a:r>
              <a:rPr lang="vi-VN" b="0" i="0" dirty="0">
                <a:solidFill>
                  <a:srgbClr val="404040"/>
                </a:solidFill>
                <a:effectLst/>
                <a:latin typeface="KaTeX_Main"/>
              </a:rPr>
              <a:t>d=10</a:t>
            </a:r>
            <a:r>
              <a:rPr lang="vi-VN" b="0" i="0" dirty="0">
                <a:solidFill>
                  <a:srgbClr val="404040"/>
                </a:solidFill>
                <a:effectLst/>
                <a:latin typeface="Inter"/>
              </a:rPr>
              <a:t> nút láng giềng, chúng ta sẽ cần ít nhất 4 bước </a:t>
            </a:r>
            <a:r>
              <a:rPr lang="vi-VN" b="1" i="0" dirty="0">
                <a:solidFill>
                  <a:srgbClr val="404040"/>
                </a:solidFill>
                <a:effectLst/>
                <a:latin typeface="Inter"/>
              </a:rPr>
              <a:t>flooding</a:t>
            </a:r>
            <a:r>
              <a:rPr lang="vi-VN" b="0" i="0" dirty="0">
                <a:solidFill>
                  <a:srgbClr val="404040"/>
                </a:solidFill>
                <a:effectLst/>
                <a:latin typeface="Inter"/>
              </a:rPr>
              <a:t>, tiếp cận khoảng 7290 nút, nhiều hơn đáng kể so với 1000 nút cần thiết khi sử dụng </a:t>
            </a:r>
            <a:r>
              <a:rPr lang="vi-VN" b="1" i="0" dirty="0">
                <a:solidFill>
                  <a:srgbClr val="404040"/>
                </a:solidFill>
                <a:effectLst/>
                <a:latin typeface="Inter"/>
              </a:rPr>
              <a:t>random walk</a:t>
            </a:r>
            <a:r>
              <a:rPr lang="vi-VN" b="0" i="0" dirty="0">
                <a:solidFill>
                  <a:srgbClr val="404040"/>
                </a:solidFill>
                <a:effectLst/>
                <a:latin typeface="Inter"/>
              </a:rPr>
              <a:t>. Chỉ với </a:t>
            </a:r>
            <a:r>
              <a:rPr lang="vi-VN" b="0" i="0" dirty="0">
                <a:solidFill>
                  <a:srgbClr val="404040"/>
                </a:solidFill>
                <a:effectLst/>
                <a:latin typeface="KaTeX_Main"/>
              </a:rPr>
              <a:t>d=33</a:t>
            </a:r>
            <a:r>
              <a:rPr lang="vi-VN" b="0" i="0" dirty="0">
                <a:solidFill>
                  <a:srgbClr val="404040"/>
                </a:solidFill>
                <a:effectLst/>
                <a:latin typeface="Inter"/>
              </a:rPr>
              <a:t>, chúng ta mới cần liên hệ với khoảng 1000 nút trong </a:t>
            </a:r>
            <a:r>
              <a:rPr lang="vi-VN" b="0" i="0" dirty="0">
                <a:solidFill>
                  <a:srgbClr val="404040"/>
                </a:solidFill>
                <a:effectLst/>
                <a:latin typeface="KaTeX_Main"/>
              </a:rPr>
              <a:t>k=2</a:t>
            </a:r>
            <a:r>
              <a:rPr lang="vi-VN" b="0" i="0" dirty="0">
                <a:solidFill>
                  <a:srgbClr val="404040"/>
                </a:solidFill>
                <a:effectLst/>
                <a:latin typeface="Inter"/>
              </a:rPr>
              <a:t> bước </a:t>
            </a:r>
            <a:r>
              <a:rPr lang="vi-VN" b="1" i="0" dirty="0">
                <a:solidFill>
                  <a:srgbClr val="404040"/>
                </a:solidFill>
                <a:effectLst/>
                <a:latin typeface="Inter"/>
              </a:rPr>
              <a:t>flooding</a:t>
            </a:r>
            <a:r>
              <a:rPr lang="vi-VN" b="0" i="0" dirty="0">
                <a:solidFill>
                  <a:srgbClr val="404040"/>
                </a:solidFill>
                <a:effectLst/>
                <a:latin typeface="Inter"/>
              </a:rPr>
              <a:t> và đạt được </a:t>
            </a:r>
            <a:r>
              <a:rPr lang="vi-VN" b="0" i="0" dirty="0">
                <a:solidFill>
                  <a:srgbClr val="404040"/>
                </a:solidFill>
                <a:effectLst/>
                <a:latin typeface="KaTeX_Main"/>
              </a:rPr>
              <a:t>r</a:t>
            </a:r>
            <a:r>
              <a:rPr lang="en-US" b="0" i="0" dirty="0">
                <a:solidFill>
                  <a:srgbClr val="404040"/>
                </a:solidFill>
                <a:effectLst/>
                <a:latin typeface="KaTeX_Main"/>
              </a:rPr>
              <a:t>/</a:t>
            </a:r>
            <a:r>
              <a:rPr lang="vi-VN" b="0" i="0" dirty="0">
                <a:solidFill>
                  <a:srgbClr val="404040"/>
                </a:solidFill>
                <a:effectLst/>
                <a:latin typeface="KaTeX_Main"/>
              </a:rPr>
              <a:t>N⋅R(k)≥1</a:t>
            </a:r>
            <a:r>
              <a:rPr lang="vi-VN" b="0" i="0" dirty="0">
                <a:solidFill>
                  <a:srgbClr val="404040"/>
                </a:solidFill>
                <a:effectLst/>
                <a:latin typeface="Inter"/>
              </a:rPr>
              <a:t>.</a:t>
            </a:r>
          </a:p>
          <a:p>
            <a:pPr algn="l"/>
            <a:r>
              <a:rPr lang="vi-VN" b="0" i="0" dirty="0">
                <a:solidFill>
                  <a:srgbClr val="404040"/>
                </a:solidFill>
                <a:effectLst/>
                <a:latin typeface="Inter"/>
              </a:rPr>
              <a:t>Nhược điểm rõ ràng của việc triển khai </a:t>
            </a:r>
            <a:r>
              <a:rPr lang="vi-VN" b="1" i="0" dirty="0">
                <a:solidFill>
                  <a:srgbClr val="404040"/>
                </a:solidFill>
                <a:effectLst/>
                <a:latin typeface="Inter"/>
              </a:rPr>
              <a:t>random walk</a:t>
            </a:r>
            <a:r>
              <a:rPr lang="vi-VN" b="0" i="0" dirty="0">
                <a:solidFill>
                  <a:srgbClr val="404040"/>
                </a:solidFill>
                <a:effectLst/>
                <a:latin typeface="Inter"/>
              </a:rPr>
              <a:t> là có thể mất nhiều thời gian hơn trước khi nhận được câu trả lời.</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33</a:t>
            </a:fld>
            <a:endParaRPr lang="en-US"/>
          </a:p>
        </p:txBody>
      </p:sp>
    </p:spTree>
    <p:extLst>
      <p:ext uri="{BB962C8B-B14F-4D97-AF65-F5344CB8AC3E}">
        <p14:creationId xmlns:p14="http://schemas.microsoft.com/office/powerpoint/2010/main" val="1887375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Mạng Super-Peer (Super-Peer Networks)</a:t>
            </a:r>
          </a:p>
          <a:p>
            <a:pPr algn="l">
              <a:buFont typeface="+mj-lt"/>
              <a:buAutoNum type="arabicPeriod"/>
            </a:pPr>
            <a:r>
              <a:rPr lang="vi-VN" b="1" i="0" dirty="0">
                <a:solidFill>
                  <a:srgbClr val="404040"/>
                </a:solidFill>
                <a:effectLst/>
                <a:latin typeface="Inter"/>
              </a:rPr>
              <a:t>Bối cảnh và ý tưởng chính:</a:t>
            </a:r>
            <a:endParaRPr lang="vi-VN" b="0" i="0" dirty="0">
              <a:solidFill>
                <a:srgbClr val="404040"/>
              </a:solidFill>
              <a:effectLst/>
              <a:latin typeface="Inter"/>
            </a:endParaRPr>
          </a:p>
          <a:p>
            <a:pPr marL="457200" lvl="1" indent="0" algn="l">
              <a:buFont typeface="+mj-lt"/>
              <a:buNone/>
            </a:pPr>
            <a:r>
              <a:rPr lang="en-US" b="0" i="0" dirty="0">
                <a:solidFill>
                  <a:srgbClr val="404040"/>
                </a:solidFill>
                <a:effectLst/>
                <a:latin typeface="Inter"/>
              </a:rPr>
              <a:t>- </a:t>
            </a:r>
            <a:r>
              <a:rPr lang="vi-VN" b="0" i="0" dirty="0">
                <a:solidFill>
                  <a:srgbClr val="404040"/>
                </a:solidFill>
                <a:effectLst/>
                <a:latin typeface="Inter"/>
              </a:rPr>
              <a:t>Trong các mạng ngang hàng thuần túy (pure peer-to-peer), tất cả các nút đều có vai trò ngang nhau. Tuy nhiên, đôi khi việc </a:t>
            </a:r>
            <a:r>
              <a:rPr lang="vi-VN" b="1" i="0" dirty="0">
                <a:solidFill>
                  <a:srgbClr val="404040"/>
                </a:solidFill>
                <a:effectLst/>
                <a:latin typeface="Inter"/>
              </a:rPr>
              <a:t>phá vỡ tính đối xứng</a:t>
            </a:r>
            <a:r>
              <a:rPr lang="vi-VN" b="0" i="0" dirty="0">
                <a:solidFill>
                  <a:srgbClr val="404040"/>
                </a:solidFill>
                <a:effectLst/>
                <a:latin typeface="Inter"/>
              </a:rPr>
              <a:t> này là cần thiết để cải thiện hiệu suất và hiệu quả.</a:t>
            </a:r>
          </a:p>
          <a:p>
            <a:pPr marL="457200" lvl="1" indent="0" algn="l">
              <a:buFont typeface="+mj-lt"/>
              <a:buNone/>
            </a:pPr>
            <a:r>
              <a:rPr lang="en-US" b="1" i="0" dirty="0">
                <a:solidFill>
                  <a:srgbClr val="404040"/>
                </a:solidFill>
                <a:effectLst/>
                <a:latin typeface="Inter"/>
              </a:rPr>
              <a:t>- </a:t>
            </a:r>
            <a:r>
              <a:rPr lang="vi-VN" b="1" i="0" dirty="0">
                <a:solidFill>
                  <a:srgbClr val="404040"/>
                </a:solidFill>
                <a:effectLst/>
                <a:latin typeface="Inter"/>
              </a:rPr>
              <a:t>Super-peer networks</a:t>
            </a:r>
            <a:r>
              <a:rPr lang="vi-VN" b="0" i="0" dirty="0">
                <a:solidFill>
                  <a:srgbClr val="404040"/>
                </a:solidFill>
                <a:effectLst/>
                <a:latin typeface="Inter"/>
              </a:rPr>
              <a:t> là một cách tiếp cận trong đó một số nút đặc biệt (gọi là </a:t>
            </a:r>
            <a:r>
              <a:rPr lang="vi-VN" b="1" i="0" dirty="0">
                <a:solidFill>
                  <a:srgbClr val="404040"/>
                </a:solidFill>
                <a:effectLst/>
                <a:latin typeface="Inter"/>
              </a:rPr>
              <a:t>super-peer</a:t>
            </a:r>
            <a:r>
              <a:rPr lang="vi-VN" b="0" i="0" dirty="0">
                <a:solidFill>
                  <a:srgbClr val="404040"/>
                </a:solidFill>
                <a:effectLst/>
                <a:latin typeface="Inter"/>
              </a:rPr>
              <a:t>) đóng vai trò quan trọng hơn so với các nút thông thường (gọi là </a:t>
            </a:r>
            <a:r>
              <a:rPr lang="vi-VN" b="1" i="0" dirty="0">
                <a:solidFill>
                  <a:srgbClr val="404040"/>
                </a:solidFill>
                <a:effectLst/>
                <a:latin typeface="Inter"/>
              </a:rPr>
              <a:t>weak peer</a:t>
            </a:r>
            <a:r>
              <a:rPr lang="vi-VN" b="0" i="0" dirty="0">
                <a:solidFill>
                  <a:srgbClr val="404040"/>
                </a:solidFill>
                <a:effectLst/>
                <a:latin typeface="Inter"/>
              </a:rPr>
              <a:t> hoặc </a:t>
            </a:r>
            <a:r>
              <a:rPr lang="vi-VN" b="1" i="0" dirty="0">
                <a:solidFill>
                  <a:srgbClr val="404040"/>
                </a:solidFill>
                <a:effectLst/>
                <a:latin typeface="Inter"/>
              </a:rPr>
              <a:t>silver peer</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Inter"/>
              </a:rPr>
              <a:t>Lợi ích của Super-Peer:</a:t>
            </a:r>
            <a:endParaRPr lang="vi-VN" b="0" i="0" dirty="0">
              <a:solidFill>
                <a:srgbClr val="404040"/>
              </a:solidFill>
              <a:effectLst/>
              <a:latin typeface="Inter"/>
            </a:endParaRPr>
          </a:p>
          <a:p>
            <a:pPr marL="457200" lvl="1" indent="0" algn="l">
              <a:buFont typeface="+mj-lt"/>
              <a:buNone/>
            </a:pPr>
            <a:r>
              <a:rPr lang="en-US" b="1" i="0" dirty="0">
                <a:solidFill>
                  <a:srgbClr val="404040"/>
                </a:solidFill>
                <a:effectLst/>
                <a:latin typeface="Inter"/>
              </a:rPr>
              <a:t>- </a:t>
            </a:r>
            <a:r>
              <a:rPr lang="vi-VN" b="1" i="0" dirty="0">
                <a:solidFill>
                  <a:srgbClr val="404040"/>
                </a:solidFill>
                <a:effectLst/>
                <a:latin typeface="Inter"/>
              </a:rPr>
              <a:t>Cải thiện hiệu suất tìm kiếm:</a:t>
            </a:r>
            <a:r>
              <a:rPr lang="vi-VN" b="0" i="0" dirty="0">
                <a:solidFill>
                  <a:srgbClr val="404040"/>
                </a:solidFill>
                <a:effectLst/>
                <a:latin typeface="Inter"/>
              </a:rPr>
              <a:t> Trong các hệ thống ngang hàng không cấu trúc (unstructured P2P), việc tìm kiếm dữ liệu có thể kém hiệu quả do thiếu tổ chức. Super-peer đóng vai trò như </a:t>
            </a:r>
            <a:r>
              <a:rPr lang="vi-VN" b="1" i="0" dirty="0">
                <a:solidFill>
                  <a:srgbClr val="404040"/>
                </a:solidFill>
                <a:effectLst/>
                <a:latin typeface="Inter"/>
              </a:rPr>
              <a:t>máy chủ chỉ mục (index servers)</a:t>
            </a:r>
            <a:r>
              <a:rPr lang="vi-VN" b="0" i="0" dirty="0">
                <a:solidFill>
                  <a:srgbClr val="404040"/>
                </a:solidFill>
                <a:effectLst/>
                <a:latin typeface="Inter"/>
              </a:rPr>
              <a:t>, giúp tăng tốc quá trình tìm kiếm bằng cách lưu trữ thông tin về vị trí dữ liệu.</a:t>
            </a:r>
          </a:p>
          <a:p>
            <a:pPr marL="457200" lvl="1" indent="0" algn="l">
              <a:buFont typeface="+mj-lt"/>
              <a:buNone/>
            </a:pPr>
            <a:r>
              <a:rPr lang="en-US" b="1" i="0" dirty="0">
                <a:solidFill>
                  <a:srgbClr val="404040"/>
                </a:solidFill>
                <a:effectLst/>
                <a:latin typeface="Inter"/>
              </a:rPr>
              <a:t>- </a:t>
            </a:r>
            <a:r>
              <a:rPr lang="vi-VN" b="1" i="0" dirty="0">
                <a:solidFill>
                  <a:srgbClr val="404040"/>
                </a:solidFill>
                <a:effectLst/>
                <a:latin typeface="Inter"/>
              </a:rPr>
              <a:t>Quản lý dữ liệu hiệu quả hơn:</a:t>
            </a:r>
            <a:r>
              <a:rPr lang="vi-VN" b="0" i="0" dirty="0">
                <a:solidFill>
                  <a:srgbClr val="404040"/>
                </a:solidFill>
                <a:effectLst/>
                <a:latin typeface="Inter"/>
              </a:rPr>
              <a:t> Việc quyết định lưu trữ dữ liệu ở đâu có thể được thực hiện hiệu quả hơn thông qua các </a:t>
            </a:r>
            <a:r>
              <a:rPr lang="vi-VN" b="1" i="0" dirty="0">
                <a:solidFill>
                  <a:srgbClr val="404040"/>
                </a:solidFill>
                <a:effectLst/>
                <a:latin typeface="Inter"/>
              </a:rPr>
              <a:t>broker</a:t>
            </a:r>
            <a:r>
              <a:rPr lang="vi-VN" b="0" i="0" dirty="0">
                <a:solidFill>
                  <a:srgbClr val="404040"/>
                </a:solidFill>
                <a:effectLst/>
                <a:latin typeface="Inter"/>
              </a:rPr>
              <a:t> (người trung gian). Các super-peer có thể đóng vai trò này, giúp phân phối và quản lý dữ liệu một cách tối ưu.</a:t>
            </a:r>
          </a:p>
          <a:p>
            <a:pPr algn="l">
              <a:buFont typeface="+mj-lt"/>
              <a:buAutoNum type="arabicPeriod"/>
            </a:pPr>
            <a:r>
              <a:rPr lang="vi-VN" b="1" i="0" dirty="0">
                <a:solidFill>
                  <a:srgbClr val="404040"/>
                </a:solidFill>
                <a:effectLst/>
                <a:latin typeface="Inter"/>
              </a:rPr>
              <a:t>Cấu trúc mạng:</a:t>
            </a:r>
            <a:endParaRPr lang="vi-VN" b="0" i="0" dirty="0">
              <a:solidFill>
                <a:srgbClr val="404040"/>
              </a:solidFill>
              <a:effectLst/>
              <a:latin typeface="Inter"/>
            </a:endParaRPr>
          </a:p>
          <a:p>
            <a:pPr marL="457200" lvl="1" indent="0" algn="l">
              <a:buFont typeface="+mj-lt"/>
              <a:buNone/>
            </a:pPr>
            <a:r>
              <a:rPr lang="en-US" b="1" i="0" dirty="0">
                <a:solidFill>
                  <a:srgbClr val="404040"/>
                </a:solidFill>
                <a:effectLst/>
                <a:latin typeface="Inter"/>
              </a:rPr>
              <a:t>- </a:t>
            </a:r>
            <a:r>
              <a:rPr lang="vi-VN" b="1" i="0" dirty="0">
                <a:solidFill>
                  <a:srgbClr val="404040"/>
                </a:solidFill>
                <a:effectLst/>
                <a:latin typeface="Inter"/>
              </a:rPr>
              <a:t>Super-peer:</a:t>
            </a:r>
            <a:r>
              <a:rPr lang="vi-VN" b="0" i="0" dirty="0">
                <a:solidFill>
                  <a:srgbClr val="404040"/>
                </a:solidFill>
                <a:effectLst/>
                <a:latin typeface="Inter"/>
              </a:rPr>
              <a:t> Các nút mạnh, có khả năng xử lý cao, đóng vai trò trung tâm trong việc quản lý và điều phối.</a:t>
            </a:r>
          </a:p>
          <a:p>
            <a:pPr marL="457200" lvl="1" indent="0" algn="l">
              <a:buFont typeface="+mj-lt"/>
              <a:buNone/>
            </a:pPr>
            <a:r>
              <a:rPr lang="en-US" b="1" i="0" dirty="0">
                <a:solidFill>
                  <a:srgbClr val="404040"/>
                </a:solidFill>
                <a:effectLst/>
                <a:latin typeface="Inter"/>
              </a:rPr>
              <a:t>- </a:t>
            </a:r>
            <a:r>
              <a:rPr lang="vi-VN" b="1" i="0" dirty="0">
                <a:solidFill>
                  <a:srgbClr val="404040"/>
                </a:solidFill>
                <a:effectLst/>
                <a:latin typeface="Inter"/>
              </a:rPr>
              <a:t>Weak peer/Silver peer:</a:t>
            </a:r>
            <a:r>
              <a:rPr lang="vi-VN" b="0" i="0" dirty="0">
                <a:solidFill>
                  <a:srgbClr val="404040"/>
                </a:solidFill>
                <a:effectLst/>
                <a:latin typeface="Inter"/>
              </a:rPr>
              <a:t> Các nút thông thường, có khả năng xử lý hạn chế hơn, kết nối với super-peer để thực hiện các yêu cầu tìm kiếm và lưu trữ.</a:t>
            </a:r>
          </a:p>
          <a:p>
            <a:pPr algn="l"/>
            <a:r>
              <a:rPr lang="vi-VN" b="1" i="0">
                <a:solidFill>
                  <a:srgbClr val="404040"/>
                </a:solidFill>
                <a:effectLst/>
                <a:latin typeface="Inter"/>
              </a:rPr>
              <a:t>Tóm </a:t>
            </a:r>
            <a:r>
              <a:rPr lang="vi-VN" b="1" i="0" dirty="0">
                <a:solidFill>
                  <a:srgbClr val="404040"/>
                </a:solidFill>
                <a:effectLst/>
                <a:latin typeface="Inter"/>
              </a:rPr>
              <a:t>tắt bản chất của Super-Peer Networks:</a:t>
            </a:r>
          </a:p>
          <a:p>
            <a:pPr algn="l">
              <a:buFont typeface="Arial" panose="020B0604020202020204" pitchFamily="34" charset="0"/>
              <a:buChar char="•"/>
            </a:pPr>
            <a:r>
              <a:rPr lang="vi-VN" b="1" i="0" dirty="0">
                <a:solidFill>
                  <a:srgbClr val="404040"/>
                </a:solidFill>
                <a:effectLst/>
                <a:latin typeface="Inter"/>
              </a:rPr>
              <a:t>Phá vỡ tính đối xứng:</a:t>
            </a:r>
            <a:r>
              <a:rPr lang="vi-VN" b="0" i="0" dirty="0">
                <a:solidFill>
                  <a:srgbClr val="404040"/>
                </a:solidFill>
                <a:effectLst/>
                <a:latin typeface="Inter"/>
              </a:rPr>
              <a:t> Không phải tất cả các nút đều có vai trò như nhau. Một số nút (super-peer) đóng vai trò quan trọng hơn để cải thiện hiệu suất.</a:t>
            </a:r>
          </a:p>
          <a:p>
            <a:pPr algn="l">
              <a:buFont typeface="Arial" panose="020B0604020202020204" pitchFamily="34" charset="0"/>
              <a:buChar char="•"/>
            </a:pPr>
            <a:r>
              <a:rPr lang="vi-VN" b="1" i="0" dirty="0">
                <a:solidFill>
                  <a:srgbClr val="404040"/>
                </a:solidFill>
                <a:effectLst/>
                <a:latin typeface="Inter"/>
              </a:rPr>
              <a:t>Cải thiện tìm kiếm:</a:t>
            </a:r>
            <a:r>
              <a:rPr lang="vi-VN" b="0" i="0" dirty="0">
                <a:solidFill>
                  <a:srgbClr val="404040"/>
                </a:solidFill>
                <a:effectLst/>
                <a:latin typeface="Inter"/>
              </a:rPr>
              <a:t> Super-peer hoạt động như máy chủ chỉ mục, giúp tăng tốc quá trình tìm kiếm trong các hệ thống không cấu trúc.</a:t>
            </a:r>
          </a:p>
          <a:p>
            <a:pPr algn="l">
              <a:buFont typeface="Arial" panose="020B0604020202020204" pitchFamily="34" charset="0"/>
              <a:buChar char="•"/>
            </a:pPr>
            <a:r>
              <a:rPr lang="vi-VN" b="1" i="0" dirty="0">
                <a:solidFill>
                  <a:srgbClr val="404040"/>
                </a:solidFill>
                <a:effectLst/>
                <a:latin typeface="Inter"/>
              </a:rPr>
              <a:t>Quản lý dữ liệu hiệu quả:</a:t>
            </a:r>
            <a:r>
              <a:rPr lang="vi-VN" b="0" i="0" dirty="0">
                <a:solidFill>
                  <a:srgbClr val="404040"/>
                </a:solidFill>
                <a:effectLst/>
                <a:latin typeface="Inter"/>
              </a:rPr>
              <a:t> Super-peer có thể đóng vai trò trung gian (broker) để quyết định vị trí lưu trữ dữ liệu một cách tối ưu.</a:t>
            </a:r>
          </a:p>
          <a:p>
            <a:pPr algn="l"/>
            <a:r>
              <a:rPr lang="vi-VN" b="0" i="0" dirty="0">
                <a:solidFill>
                  <a:srgbClr val="404040"/>
                </a:solidFill>
                <a:effectLst/>
                <a:latin typeface="Inter"/>
              </a:rPr>
              <a:t>Slide này nhấn mạnh rằng việc sử dụng </a:t>
            </a:r>
            <a:r>
              <a:rPr lang="vi-VN" b="1" i="0" dirty="0">
                <a:solidFill>
                  <a:srgbClr val="404040"/>
                </a:solidFill>
                <a:effectLst/>
                <a:latin typeface="Inter"/>
              </a:rPr>
              <a:t>super-peer</a:t>
            </a:r>
            <a:r>
              <a:rPr lang="vi-VN" b="0" i="0" dirty="0">
                <a:solidFill>
                  <a:srgbClr val="404040"/>
                </a:solidFill>
                <a:effectLst/>
                <a:latin typeface="Inter"/>
              </a:rPr>
              <a:t> là một cách tiếp cận hiệu quả để giải quyết các hạn chế của mạng ngang hàng thuần túy, đặc biệt trong việc tìm kiếm và quản lý dữ liệu.</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34</a:t>
            </a:fld>
            <a:endParaRPr lang="en-US"/>
          </a:p>
        </p:txBody>
      </p:sp>
    </p:spTree>
    <p:extLst>
      <p:ext uri="{BB962C8B-B14F-4D97-AF65-F5344CB8AC3E}">
        <p14:creationId xmlns:p14="http://schemas.microsoft.com/office/powerpoint/2010/main" val="2716797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Nguyên lý hoạt động của Skype</a:t>
            </a:r>
          </a:p>
          <a:p>
            <a:pPr algn="l">
              <a:buFont typeface="+mj-lt"/>
              <a:buAutoNum type="arabicPeriod"/>
            </a:pPr>
            <a:r>
              <a:rPr lang="vi-VN" b="1" i="0" dirty="0">
                <a:solidFill>
                  <a:srgbClr val="404040"/>
                </a:solidFill>
                <a:effectLst/>
                <a:latin typeface="Inter"/>
              </a:rPr>
              <a:t>Tình huống 1: A và B đều kết nối trực tiếp với Internet công cộng</a:t>
            </a:r>
            <a:endParaRPr lang="vi-VN" b="0" i="0" dirty="0">
              <a:solidFill>
                <a:srgbClr val="404040"/>
              </a:solidFill>
              <a:effectLst/>
              <a:latin typeface="Inter"/>
            </a:endParaRPr>
          </a:p>
          <a:p>
            <a:pPr marL="742950" lvl="1" indent="-285750" algn="l">
              <a:buFont typeface="+mj-lt"/>
              <a:buAutoNum type="arabicPeriod"/>
            </a:pPr>
            <a:r>
              <a:rPr lang="vi-VN" b="1" i="0" dirty="0">
                <a:solidFill>
                  <a:srgbClr val="404040"/>
                </a:solidFill>
                <a:effectLst/>
                <a:latin typeface="Inter"/>
              </a:rPr>
              <a:t>Thiết lập kết nối TCP:</a:t>
            </a:r>
            <a:r>
              <a:rPr lang="vi-VN" b="0" i="0" dirty="0">
                <a:solidFill>
                  <a:srgbClr val="404040"/>
                </a:solidFill>
                <a:effectLst/>
                <a:latin typeface="Inter"/>
              </a:rPr>
              <a:t> Một kết nối TCP được thiết lập giữa A và B để truyền các gói tin điều khiển (control packets).</a:t>
            </a:r>
          </a:p>
          <a:p>
            <a:pPr marL="742950" lvl="1" indent="-285750" algn="l">
              <a:buFont typeface="+mj-lt"/>
              <a:buAutoNum type="arabicPeriod"/>
            </a:pPr>
            <a:r>
              <a:rPr lang="vi-VN" b="1" i="0" dirty="0">
                <a:solidFill>
                  <a:srgbClr val="404040"/>
                </a:solidFill>
                <a:effectLst/>
                <a:latin typeface="Inter"/>
              </a:rPr>
              <a:t>Cuộc gọi thực tế:</a:t>
            </a:r>
            <a:r>
              <a:rPr lang="vi-VN" b="0" i="0" dirty="0">
                <a:solidFill>
                  <a:srgbClr val="404040"/>
                </a:solidFill>
                <a:effectLst/>
                <a:latin typeface="Inter"/>
              </a:rPr>
              <a:t> Cuộc gọi thực tế diễn ra bằng cách sử dụng các gói tin UDP giữa các cổng đã được thương lượng (negotiated ports).</a:t>
            </a:r>
          </a:p>
          <a:p>
            <a:pPr algn="l">
              <a:buFont typeface="+mj-lt"/>
              <a:buAutoNum type="arabicPeriod"/>
            </a:pPr>
            <a:r>
              <a:rPr lang="vi-VN" b="1" i="0" dirty="0">
                <a:solidFill>
                  <a:srgbClr val="404040"/>
                </a:solidFill>
                <a:effectLst/>
                <a:latin typeface="Inter"/>
              </a:rPr>
              <a:t>Tình huống 2: A đứng sau tường lửa (firewall), B trên Internet công cộng</a:t>
            </a:r>
            <a:endParaRPr lang="vi-VN" b="0" i="0" dirty="0">
              <a:solidFill>
                <a:srgbClr val="404040"/>
              </a:solidFill>
              <a:effectLst/>
              <a:latin typeface="Inter"/>
            </a:endParaRPr>
          </a:p>
          <a:p>
            <a:pPr marL="742950" lvl="1" indent="-285750" algn="l">
              <a:buFont typeface="+mj-lt"/>
              <a:buAutoNum type="arabicPeriod"/>
            </a:pPr>
            <a:r>
              <a:rPr lang="vi-VN" b="1" i="0" dirty="0">
                <a:solidFill>
                  <a:srgbClr val="404040"/>
                </a:solidFill>
                <a:effectLst/>
                <a:latin typeface="Inter"/>
              </a:rPr>
              <a:t>Kết nối TCP đến Super-peer (S):</a:t>
            </a:r>
            <a:r>
              <a:rPr lang="vi-VN" b="0" i="0" dirty="0">
                <a:solidFill>
                  <a:srgbClr val="404040"/>
                </a:solidFill>
                <a:effectLst/>
                <a:latin typeface="Inter"/>
              </a:rPr>
              <a:t> A thiết lập kết nối TCP (cho các gói tin điều khiển) đến một </a:t>
            </a:r>
            <a:r>
              <a:rPr lang="vi-VN" b="1" i="0" dirty="0">
                <a:solidFill>
                  <a:srgbClr val="404040"/>
                </a:solidFill>
                <a:effectLst/>
                <a:latin typeface="Inter"/>
              </a:rPr>
              <a:t>super-peer (S)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Kết nối TCP từ S đến B:</a:t>
            </a:r>
            <a:r>
              <a:rPr lang="vi-VN" b="0" i="0" dirty="0">
                <a:solidFill>
                  <a:srgbClr val="404040"/>
                </a:solidFill>
                <a:effectLst/>
                <a:latin typeface="Inter"/>
              </a:rPr>
              <a:t> Super-peer S thiết lập kết nối TCP (để chuyển tiếp các gói tin điều khiển) đến B.</a:t>
            </a:r>
          </a:p>
          <a:p>
            <a:pPr marL="742950" lvl="1" indent="-285750" algn="l">
              <a:buFont typeface="+mj-lt"/>
              <a:buAutoNum type="arabicPeriod"/>
            </a:pPr>
            <a:r>
              <a:rPr lang="vi-VN" b="1" i="0" dirty="0">
                <a:solidFill>
                  <a:srgbClr val="404040"/>
                </a:solidFill>
                <a:effectLst/>
                <a:latin typeface="Inter"/>
              </a:rPr>
              <a:t>Cuộc gọi thực tế:</a:t>
            </a:r>
            <a:r>
              <a:rPr lang="vi-VN" b="0" i="0" dirty="0">
                <a:solidFill>
                  <a:srgbClr val="404040"/>
                </a:solidFill>
                <a:effectLst/>
                <a:latin typeface="Inter"/>
              </a:rPr>
              <a:t> Cuộc gọi thực tế diễn ra thông qua UDP và trực tiếp giữa A và B.</a:t>
            </a:r>
          </a:p>
          <a:p>
            <a:pPr algn="l">
              <a:buFont typeface="+mj-lt"/>
              <a:buAutoNum type="arabicPeriod"/>
            </a:pPr>
            <a:r>
              <a:rPr lang="vi-VN" b="1" i="0" dirty="0">
                <a:solidFill>
                  <a:srgbClr val="404040"/>
                </a:solidFill>
                <a:effectLst/>
                <a:latin typeface="Inter"/>
              </a:rPr>
              <a:t>Tình huống 3: Cả A và B đều đứng sau tường lửa</a:t>
            </a:r>
            <a:endParaRPr lang="vi-VN" b="0" i="0" dirty="0">
              <a:solidFill>
                <a:srgbClr val="404040"/>
              </a:solidFill>
              <a:effectLst/>
              <a:latin typeface="Inter"/>
            </a:endParaRPr>
          </a:p>
          <a:p>
            <a:pPr marL="742950" lvl="1" indent="-285750" algn="l">
              <a:buFont typeface="+mj-lt"/>
              <a:buAutoNum type="arabicPeriod"/>
            </a:pPr>
            <a:r>
              <a:rPr lang="vi-VN" b="1" i="0" dirty="0">
                <a:solidFill>
                  <a:srgbClr val="404040"/>
                </a:solidFill>
                <a:effectLst/>
                <a:latin typeface="Inter"/>
              </a:rPr>
              <a:t>Kết nối TCP đến Super-peer (S):</a:t>
            </a:r>
            <a:r>
              <a:rPr lang="vi-VN" b="0" i="0" dirty="0">
                <a:solidFill>
                  <a:srgbClr val="404040"/>
                </a:solidFill>
                <a:effectLst/>
                <a:latin typeface="Inter"/>
              </a:rPr>
              <a:t> A kết nối đến một super-peer S đang trực tuyến thông qua TCP.</a:t>
            </a:r>
          </a:p>
          <a:p>
            <a:pPr marL="742950" lvl="1" indent="-285750" algn="l">
              <a:buFont typeface="+mj-lt"/>
              <a:buAutoNum type="arabicPeriod"/>
            </a:pPr>
            <a:r>
              <a:rPr lang="vi-VN" b="1" i="0" dirty="0">
                <a:solidFill>
                  <a:srgbClr val="404040"/>
                </a:solidFill>
                <a:effectLst/>
                <a:latin typeface="Inter"/>
              </a:rPr>
              <a:t>Kết nối TCP từ S đến B:</a:t>
            </a:r>
            <a:r>
              <a:rPr lang="vi-VN" b="0" i="0" dirty="0">
                <a:solidFill>
                  <a:srgbClr val="404040"/>
                </a:solidFill>
                <a:effectLst/>
                <a:latin typeface="Inter"/>
              </a:rPr>
              <a:t> Super-peer S thiết lập kết nối TCP đến B.</a:t>
            </a:r>
          </a:p>
          <a:p>
            <a:pPr marL="742950" lvl="1" indent="-285750" algn="l">
              <a:buFont typeface="+mj-lt"/>
              <a:buAutoNum type="arabicPeriod"/>
            </a:pPr>
            <a:r>
              <a:rPr lang="vi-VN" b="1" i="0" dirty="0">
                <a:solidFill>
                  <a:srgbClr val="404040"/>
                </a:solidFill>
                <a:effectLst/>
                <a:latin typeface="Inter"/>
              </a:rPr>
              <a:t>Cuộc gọi thực tế:</a:t>
            </a:r>
            <a:r>
              <a:rPr lang="vi-VN" b="0" i="0" dirty="0">
                <a:solidFill>
                  <a:srgbClr val="404040"/>
                </a:solidFill>
                <a:effectLst/>
                <a:latin typeface="Inter"/>
              </a:rPr>
              <a:t> Để thực hiện cuộc gọi, một super-peer khác (R) được liên hệ để đóng vai trò </a:t>
            </a:r>
            <a:r>
              <a:rPr lang="vi-VN" b="1" i="0" dirty="0">
                <a:solidFill>
                  <a:srgbClr val="404040"/>
                </a:solidFill>
                <a:effectLst/>
                <a:latin typeface="Inter"/>
              </a:rPr>
              <a:t>relay</a:t>
            </a:r>
            <a:r>
              <a:rPr lang="vi-VN" b="0" i="0" dirty="0">
                <a:solidFill>
                  <a:srgbClr val="404040"/>
                </a:solidFill>
                <a:effectLst/>
                <a:latin typeface="Inter"/>
              </a:rPr>
              <a:t> (trung chuyển). A thiết lập kết nối đến R, và B cũng làm tương tự.</a:t>
            </a:r>
          </a:p>
          <a:p>
            <a:pPr marL="742950" lvl="1" indent="-285750" algn="l">
              <a:buFont typeface="+mj-lt"/>
              <a:buAutoNum type="arabicPeriod"/>
            </a:pPr>
            <a:r>
              <a:rPr lang="vi-VN" b="1" i="0" dirty="0">
                <a:solidFill>
                  <a:srgbClr val="404040"/>
                </a:solidFill>
                <a:effectLst/>
                <a:latin typeface="Inter"/>
              </a:rPr>
              <a:t>Chuyển tiếp dữ liệu:</a:t>
            </a:r>
            <a:r>
              <a:rPr lang="vi-VN" b="0" i="0" dirty="0">
                <a:solidFill>
                  <a:srgbClr val="404040"/>
                </a:solidFill>
                <a:effectLst/>
                <a:latin typeface="Inter"/>
              </a:rPr>
              <a:t> Dữ liệu cuộc gọi được chuyển tiếp qua hai kết nối TCP này.</a:t>
            </a:r>
          </a:p>
          <a:p>
            <a:pPr algn="l"/>
            <a:r>
              <a:rPr lang="vi-VN" b="1" i="0" dirty="0">
                <a:solidFill>
                  <a:srgbClr val="404040"/>
                </a:solidFill>
                <a:effectLst/>
                <a:latin typeface="Inter"/>
              </a:rPr>
              <a:t>Tổ chức phân cấp của mạng ngang hàng trong Skype</a:t>
            </a:r>
          </a:p>
          <a:p>
            <a:pPr algn="l">
              <a:buFont typeface="Arial" panose="020B0604020202020204" pitchFamily="34" charset="0"/>
              <a:buChar char="•"/>
            </a:pPr>
            <a:r>
              <a:rPr lang="vi-VN" b="0" i="0" dirty="0">
                <a:solidFill>
                  <a:srgbClr val="404040"/>
                </a:solidFill>
                <a:effectLst/>
                <a:latin typeface="Inter"/>
              </a:rPr>
              <a:t>Skype sử dụng một mạng ngang hàng </a:t>
            </a:r>
            <a:r>
              <a:rPr lang="vi-VN" b="1" i="0" dirty="0">
                <a:solidFill>
                  <a:srgbClr val="404040"/>
                </a:solidFill>
                <a:effectLst/>
                <a:latin typeface="Inter"/>
              </a:rPr>
              <a:t>phân cấp (hierarchical)</a:t>
            </a:r>
            <a:r>
              <a:rPr lang="vi-VN" b="0" i="0" dirty="0">
                <a:solidFill>
                  <a:srgbClr val="404040"/>
                </a:solidFill>
                <a:effectLst/>
                <a:latin typeface="Inter"/>
              </a:rPr>
              <a:t> để quản lý và điều phối các kết nối.</a:t>
            </a:r>
          </a:p>
          <a:p>
            <a:pPr algn="l">
              <a:buFont typeface="Arial" panose="020B0604020202020204" pitchFamily="34" charset="0"/>
              <a:buChar char="•"/>
            </a:pPr>
            <a:r>
              <a:rPr lang="vi-VN" b="1" i="0" dirty="0">
                <a:solidFill>
                  <a:srgbClr val="404040"/>
                </a:solidFill>
                <a:effectLst/>
                <a:latin typeface="Inter"/>
              </a:rPr>
              <a:t>Super-peer (S):</a:t>
            </a:r>
            <a:r>
              <a:rPr lang="vi-VN" b="0" i="0" dirty="0">
                <a:solidFill>
                  <a:srgbClr val="404040"/>
                </a:solidFill>
                <a:effectLst/>
                <a:latin typeface="Inter"/>
              </a:rPr>
              <a:t> Đóng vai trò trung tâm trong việc thiết lập kết nối và chuyển tiếp dữ liệu điều khiển.</a:t>
            </a:r>
          </a:p>
          <a:p>
            <a:pPr algn="l">
              <a:buFont typeface="Arial" panose="020B0604020202020204" pitchFamily="34" charset="0"/>
              <a:buChar char="•"/>
            </a:pPr>
            <a:r>
              <a:rPr lang="vi-VN" b="1" i="0" dirty="0">
                <a:solidFill>
                  <a:srgbClr val="404040"/>
                </a:solidFill>
                <a:effectLst/>
                <a:latin typeface="Inter"/>
              </a:rPr>
              <a:t>Relay (R):</a:t>
            </a:r>
            <a:r>
              <a:rPr lang="vi-VN" b="0" i="0" dirty="0">
                <a:solidFill>
                  <a:srgbClr val="404040"/>
                </a:solidFill>
                <a:effectLst/>
                <a:latin typeface="Inter"/>
              </a:rPr>
              <a:t> Trong trường hợp cả hai người dùng đều đứng sau tường lửa, một super-peer khác (R) được sử dụng để trung chuyển dữ liệu cuộc gọi.</a:t>
            </a:r>
          </a:p>
          <a:p>
            <a:pPr algn="l"/>
            <a:r>
              <a:rPr lang="vi-VN" b="1" i="0" dirty="0">
                <a:solidFill>
                  <a:srgbClr val="404040"/>
                </a:solidFill>
                <a:effectLst/>
                <a:latin typeface="Inter"/>
              </a:rPr>
              <a:t>Tóm tắt nguyên lý hoạt động:</a:t>
            </a:r>
          </a:p>
          <a:p>
            <a:pPr algn="l">
              <a:buFont typeface="Arial" panose="020B0604020202020204" pitchFamily="34" charset="0"/>
              <a:buChar char="•"/>
            </a:pPr>
            <a:r>
              <a:rPr lang="vi-VN" b="1" i="0" dirty="0">
                <a:solidFill>
                  <a:srgbClr val="404040"/>
                </a:solidFill>
                <a:effectLst/>
                <a:latin typeface="Inter"/>
              </a:rPr>
              <a:t>Kết nối TCP:</a:t>
            </a:r>
            <a:r>
              <a:rPr lang="vi-VN" b="0" i="0" dirty="0">
                <a:solidFill>
                  <a:srgbClr val="404040"/>
                </a:solidFill>
                <a:effectLst/>
                <a:latin typeface="Inter"/>
              </a:rPr>
              <a:t> Được sử dụng để truyền các gói tin điều khiển và thiết lập kết nối ban đầu.</a:t>
            </a:r>
          </a:p>
          <a:p>
            <a:pPr algn="l">
              <a:buFont typeface="Arial" panose="020B0604020202020204" pitchFamily="34" charset="0"/>
              <a:buChar char="•"/>
            </a:pPr>
            <a:r>
              <a:rPr lang="vi-VN" b="1" i="0" dirty="0">
                <a:solidFill>
                  <a:srgbClr val="404040"/>
                </a:solidFill>
                <a:effectLst/>
                <a:latin typeface="Inter"/>
              </a:rPr>
              <a:t>Kết nối UDP:</a:t>
            </a:r>
            <a:r>
              <a:rPr lang="vi-VN" b="0" i="0" dirty="0">
                <a:solidFill>
                  <a:srgbClr val="404040"/>
                </a:solidFill>
                <a:effectLst/>
                <a:latin typeface="Inter"/>
              </a:rPr>
              <a:t> Được sử dụng cho cuộc gọi thực tế để đảm bảo độ trễ thấp và hiệu suất cao.</a:t>
            </a:r>
          </a:p>
          <a:p>
            <a:pPr algn="l">
              <a:buFont typeface="Arial" panose="020B0604020202020204" pitchFamily="34" charset="0"/>
              <a:buChar char="•"/>
            </a:pPr>
            <a:r>
              <a:rPr lang="vi-VN" b="1" i="0" dirty="0">
                <a:solidFill>
                  <a:srgbClr val="404040"/>
                </a:solidFill>
                <a:effectLst/>
                <a:latin typeface="Inter"/>
              </a:rPr>
              <a:t>Super-peer:</a:t>
            </a:r>
            <a:r>
              <a:rPr lang="vi-VN" b="0" i="0" dirty="0">
                <a:solidFill>
                  <a:srgbClr val="404040"/>
                </a:solidFill>
                <a:effectLst/>
                <a:latin typeface="Inter"/>
              </a:rPr>
              <a:t> Đóng vai trò trung tâm trong việc điều phối kết nối, đặc biệt khi người dùng đứng sau tường lửa.</a:t>
            </a:r>
          </a:p>
          <a:p>
            <a:pPr algn="l">
              <a:buFont typeface="Arial" panose="020B0604020202020204" pitchFamily="34" charset="0"/>
              <a:buChar char="•"/>
            </a:pPr>
            <a:r>
              <a:rPr lang="vi-VN" b="1" i="0" dirty="0">
                <a:solidFill>
                  <a:srgbClr val="404040"/>
                </a:solidFill>
                <a:effectLst/>
                <a:latin typeface="Inter"/>
              </a:rPr>
              <a:t>Relay:</a:t>
            </a:r>
            <a:r>
              <a:rPr lang="vi-VN" b="0" i="0" dirty="0">
                <a:solidFill>
                  <a:srgbClr val="404040"/>
                </a:solidFill>
                <a:effectLst/>
                <a:latin typeface="Inter"/>
              </a:rPr>
              <a:t> Được sử dụng để trung chuyển dữ liệu khi cả hai người dùng đều đứng sau tường lửa.</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35</a:t>
            </a:fld>
            <a:endParaRPr lang="en-US"/>
          </a:p>
        </p:txBody>
      </p:sp>
    </p:spTree>
    <p:extLst>
      <p:ext uri="{BB962C8B-B14F-4D97-AF65-F5344CB8AC3E}">
        <p14:creationId xmlns:p14="http://schemas.microsoft.com/office/powerpoint/2010/main" val="1550642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Một lớp quan trọng của các hệ thống phân tán được tổ chức theo kiến trúc lai (hybrid architecture) là các hệ thống </a:t>
            </a:r>
            <a:r>
              <a:rPr lang="vi-VN" b="1" i="0" dirty="0">
                <a:solidFill>
                  <a:srgbClr val="404040"/>
                </a:solidFill>
                <a:effectLst/>
                <a:latin typeface="Inter"/>
              </a:rPr>
              <a:t>edge-server</a:t>
            </a:r>
            <a:r>
              <a:rPr lang="vi-VN" b="0" i="0" dirty="0">
                <a:solidFill>
                  <a:srgbClr val="404040"/>
                </a:solidFill>
                <a:effectLst/>
                <a:latin typeface="Inter"/>
              </a:rPr>
              <a:t> (máy chủ biên). Các hệ thống này được triển khai trên Internet, nơi các máy chủ được đặt "ở rìa" của mạng. Rìa này được hình thành bởi ranh giới giữa các mạng doanh nghiệp và Internet thực tế, ví dụ như được cung cấp bởi một Nhà cung cấp dịch vụ Internet (ISP). Tương tự, khi người dùng cuối tại nhà kết nối với Internet thông qua ISP của họ, ISP có thể được coi là nằm ở rìa của Internet. Điều này dẫn đến một tổ chức chung như trong Hình </a:t>
            </a:r>
            <a:r>
              <a:rPr lang="en-US" b="0" i="0" dirty="0" err="1">
                <a:solidFill>
                  <a:srgbClr val="404040"/>
                </a:solidFill>
                <a:effectLst/>
                <a:latin typeface="Inter"/>
              </a:rPr>
              <a:t>minh</a:t>
            </a:r>
            <a:r>
              <a:rPr lang="en-US" b="0" i="0" dirty="0">
                <a:solidFill>
                  <a:srgbClr val="404040"/>
                </a:solidFill>
                <a:effectLst/>
                <a:latin typeface="Inter"/>
              </a:rPr>
              <a:t> </a:t>
            </a:r>
            <a:r>
              <a:rPr lang="en-US" b="0" i="0" dirty="0" err="1">
                <a:solidFill>
                  <a:srgbClr val="404040"/>
                </a:solidFill>
                <a:effectLst/>
                <a:latin typeface="Inter"/>
              </a:rPr>
              <a:t>họa</a:t>
            </a:r>
            <a:r>
              <a:rPr lang="vi-VN" b="0" i="0" dirty="0">
                <a:solidFill>
                  <a:srgbClr val="404040"/>
                </a:solidFill>
                <a:effectLst/>
                <a:latin typeface="Inter"/>
              </a:rPr>
              <a:t>.</a:t>
            </a:r>
            <a:endParaRPr lang="en-US" b="0" i="0" dirty="0">
              <a:solidFill>
                <a:srgbClr val="404040"/>
              </a:solidFill>
              <a:effectLst/>
              <a:latin typeface="Inter"/>
            </a:endParaRPr>
          </a:p>
          <a:p>
            <a:endParaRPr lang="en-US" b="0" i="0" dirty="0">
              <a:solidFill>
                <a:srgbClr val="404040"/>
              </a:solidFill>
              <a:effectLst/>
              <a:latin typeface="Inter"/>
            </a:endParaRPr>
          </a:p>
          <a:p>
            <a:pPr algn="l"/>
            <a:r>
              <a:rPr lang="vi-VN" b="0" i="0" dirty="0">
                <a:solidFill>
                  <a:srgbClr val="404040"/>
                </a:solidFill>
                <a:effectLst/>
                <a:latin typeface="Inter"/>
              </a:rPr>
              <a:t>Người dùng cuối, hoặc khách hàng nói chung, kết nối với Internet thông qua một </a:t>
            </a:r>
            <a:r>
              <a:rPr lang="vi-VN" b="1" i="0" dirty="0">
                <a:solidFill>
                  <a:srgbClr val="404040"/>
                </a:solidFill>
                <a:effectLst/>
                <a:latin typeface="Inter"/>
              </a:rPr>
              <a:t>máy chủ biên (edge server)</a:t>
            </a:r>
            <a:r>
              <a:rPr lang="vi-VN" b="0" i="0" dirty="0">
                <a:solidFill>
                  <a:srgbClr val="404040"/>
                </a:solidFill>
                <a:effectLst/>
                <a:latin typeface="Inter"/>
              </a:rPr>
              <a:t>. Mục đích chính của máy chủ biên là cung cấp nội dung, có thể sau khi áp dụng các chức năng lọc và chuyển mã (transcoding). Điều thú vị hơn là một tập hợp các máy chủ biên có thể được sử dụng để tối ưu hóa việc phân phối nội dung và ứng dụng. Mô hình cơ bản là đối với một tổ chức cụ thể, một máy chủ biên đóng vai trò là </a:t>
            </a:r>
            <a:r>
              <a:rPr lang="vi-VN" b="1" i="0" dirty="0">
                <a:solidFill>
                  <a:srgbClr val="404040"/>
                </a:solidFill>
                <a:effectLst/>
                <a:latin typeface="Inter"/>
              </a:rPr>
              <a:t>máy chủ gốc (origin server)</a:t>
            </a:r>
            <a:r>
              <a:rPr lang="vi-VN" b="0" i="0" dirty="0">
                <a:solidFill>
                  <a:srgbClr val="404040"/>
                </a:solidFill>
                <a:effectLst/>
                <a:latin typeface="Inter"/>
              </a:rPr>
              <a:t>, nơi tất cả nội dung bắt nguồn. Máy chủ đó có thể sử dụng các máy chủ biên khác để sao chép các trang web và các nội dung tương tự.</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Khái niệm về hệ thống máy chủ biên hiện nay thường được phát triển thêm một bước: lấy </a:t>
            </a:r>
            <a:r>
              <a:rPr lang="vi-VN" b="1" i="0" dirty="0">
                <a:solidFill>
                  <a:srgbClr val="404040"/>
                </a:solidFill>
                <a:effectLst/>
                <a:latin typeface="Inter"/>
              </a:rPr>
              <a:t>điện toán đám mây (cloud computing)</a:t>
            </a:r>
            <a:r>
              <a:rPr lang="vi-VN" b="0" i="0" dirty="0">
                <a:solidFill>
                  <a:srgbClr val="404040"/>
                </a:solidFill>
                <a:effectLst/>
                <a:latin typeface="Inter"/>
              </a:rPr>
              <a:t> được triển khai trong một trung tâm dữ liệu làm lõi, các máy chủ bổ sung ở rìa mạng được sử dụng để hỗ trợ tính toán và lưu trữ, về cơ bản dẫn đến các hệ thống đám mây phân tán. Trong trường hợp </a:t>
            </a:r>
            <a:r>
              <a:rPr lang="vi-VN" b="1" i="0" dirty="0">
                <a:solidFill>
                  <a:srgbClr val="404040"/>
                </a:solidFill>
                <a:effectLst/>
                <a:latin typeface="Inter"/>
              </a:rPr>
              <a:t>điện toán sương mù (fog computing)</a:t>
            </a:r>
            <a:r>
              <a:rPr lang="vi-VN" b="0" i="0" dirty="0">
                <a:solidFill>
                  <a:srgbClr val="404040"/>
                </a:solidFill>
                <a:effectLst/>
                <a:latin typeface="Inter"/>
              </a:rPr>
              <a:t>, thậm chí các thiết bị của người dùng cuối cũng trở thành một phần của hệ thống và được (một phần) kiểm soát bởi nhà cung cấp dịch vụ đám mây</a:t>
            </a:r>
            <a:r>
              <a:rPr lang="en-US" b="0" i="0" dirty="0">
                <a:solidFill>
                  <a:srgbClr val="404040"/>
                </a:solidFill>
                <a:effectLst/>
                <a:latin typeface="Inter"/>
              </a:rPr>
              <a:t>.</a:t>
            </a:r>
            <a:endParaRPr lang="vi-VN" b="0" i="0" dirty="0">
              <a:solidFill>
                <a:srgbClr val="404040"/>
              </a:solidFill>
              <a:effectLst/>
              <a:latin typeface="Inter"/>
            </a:endParaRP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36</a:t>
            </a:fld>
            <a:endParaRPr lang="en-US"/>
          </a:p>
        </p:txBody>
      </p:sp>
    </p:spTree>
    <p:extLst>
      <p:ext uri="{BB962C8B-B14F-4D97-AF65-F5344CB8AC3E}">
        <p14:creationId xmlns:p14="http://schemas.microsoft.com/office/powerpoint/2010/main" val="1653651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Các cấu trúc lai (hybrid structures) được triển khai đáng chú ý trong các hệ thống phân tán hợp tác. Vấn đề chính trong nhiều hệ thống này là làm thế nào để bắt đầu, và thường một sơ đồ máy khách-máy chủ truyền thống được triển khai cho mục đích này. Khi một nút đã tham gia vào hệ thống, nó có thể sử dụng một sơ đồ phi tập trung hoàn toàn để hợp tác.</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Để làm rõ vấn đề, hãy xem xét hệ thống chia sẻ tệp BitTorrent rất phổ biến. BitTorrent là một hệ thống tải tệp ngang hàng (peer-to-peer). Nguyên lý hoạt động chính của nó được thể hiện trong Hình </a:t>
            </a:r>
            <a:r>
              <a:rPr lang="en-US" b="0" i="0" dirty="0" err="1">
                <a:solidFill>
                  <a:srgbClr val="404040"/>
                </a:solidFill>
                <a:effectLst/>
                <a:latin typeface="Inter"/>
              </a:rPr>
              <a:t>minh</a:t>
            </a:r>
            <a:r>
              <a:rPr lang="en-US" b="0" i="0" dirty="0">
                <a:solidFill>
                  <a:srgbClr val="404040"/>
                </a:solidFill>
                <a:effectLst/>
                <a:latin typeface="Inter"/>
              </a:rPr>
              <a:t> </a:t>
            </a:r>
            <a:r>
              <a:rPr lang="en-US" b="0" i="0" dirty="0" err="1">
                <a:solidFill>
                  <a:srgbClr val="404040"/>
                </a:solidFill>
                <a:effectLst/>
                <a:latin typeface="Inter"/>
              </a:rPr>
              <a:t>họa</a:t>
            </a:r>
            <a:r>
              <a:rPr lang="vi-VN" b="0" i="0" dirty="0">
                <a:solidFill>
                  <a:srgbClr val="404040"/>
                </a:solidFill>
                <a:effectLst/>
                <a:latin typeface="Inter"/>
              </a:rPr>
              <a:t>. Ý tưởng cơ bản là khi một người dùng cuối tìm kiếm một tệp, họ tải các phần (chunks) của tệp từ những người dùng khác cho đến khi các phần tải về có thể được ghép lại với nhau để tạo thành tệp hoàn chỉnh. Một mục tiêu thiết kế quan trọng là đảm bảo sự hợp tác.</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Trong hầu hết các hệ thống chia sẻ tệp, một phần đáng kể người tham gia chỉ tải tệp về mà gần như không đóng góp gì, một hiện tượng được gọi là </a:t>
            </a:r>
            <a:r>
              <a:rPr lang="vi-VN" b="1" i="0" dirty="0">
                <a:solidFill>
                  <a:srgbClr val="404040"/>
                </a:solidFill>
                <a:effectLst/>
                <a:latin typeface="Inter"/>
              </a:rPr>
              <a:t>free riding</a:t>
            </a:r>
            <a:r>
              <a:rPr lang="vi-VN" b="0" i="0" dirty="0">
                <a:solidFill>
                  <a:srgbClr val="404040"/>
                </a:solidFill>
                <a:effectLst/>
                <a:latin typeface="Inter"/>
              </a:rPr>
              <a:t> (đi nhờ). Để ngăn chặn tình trạng này, trong BitTorrent, một tệp chỉ có thể được tải về khi máy khách đang tải cũng đồng thời cung cấp nội dung cho người khác.</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37</a:t>
            </a:fld>
            <a:endParaRPr lang="en-US"/>
          </a:p>
        </p:txBody>
      </p:sp>
    </p:spTree>
    <p:extLst>
      <p:ext uri="{BB962C8B-B14F-4D97-AF65-F5344CB8AC3E}">
        <p14:creationId xmlns:p14="http://schemas.microsoft.com/office/powerpoint/2010/main" val="1140320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1. Tracker và Swarm</a:t>
            </a:r>
          </a:p>
          <a:p>
            <a:pPr algn="l">
              <a:buFont typeface="Arial" panose="020B0604020202020204" pitchFamily="34" charset="0"/>
              <a:buChar char="•"/>
            </a:pPr>
            <a:r>
              <a:rPr lang="vi-VN" b="1" i="0" dirty="0">
                <a:solidFill>
                  <a:srgbClr val="404040"/>
                </a:solidFill>
                <a:effectLst/>
                <a:latin typeface="Inter"/>
              </a:rPr>
              <a:t>Tracker:</a:t>
            </a:r>
            <a:r>
              <a:rPr lang="vi-VN" b="0" i="0" dirty="0">
                <a:solidFill>
                  <a:srgbClr val="404040"/>
                </a:solidFill>
                <a:effectLst/>
                <a:latin typeface="Inter"/>
              </a:rPr>
              <a:t> Là một máy chủ trung tâm quản lý thông tin về các tệp cụ thể. Khi người dùng muốn tải tệp </a:t>
            </a:r>
            <a:r>
              <a:rPr lang="vi-VN" b="1" i="0" dirty="0">
                <a:solidFill>
                  <a:srgbClr val="404040"/>
                </a:solidFill>
                <a:effectLst/>
                <a:latin typeface="Inter"/>
              </a:rPr>
              <a:t>F</a:t>
            </a:r>
            <a:r>
              <a:rPr lang="vi-VN" b="0" i="0" dirty="0">
                <a:solidFill>
                  <a:srgbClr val="404040"/>
                </a:solidFill>
                <a:effectLst/>
                <a:latin typeface="Inter"/>
              </a:rPr>
              <a:t>, tracker sẽ trả về danh sách các quy trình đang tải tệp đó, được gọi là </a:t>
            </a:r>
            <a:r>
              <a:rPr lang="vi-VN" b="1" i="0" dirty="0">
                <a:solidFill>
                  <a:srgbClr val="404040"/>
                </a:solidFill>
                <a:effectLst/>
                <a:latin typeface="Inter"/>
              </a:rPr>
              <a:t>swarm</a:t>
            </a:r>
            <a:r>
              <a:rPr lang="vi-VN" b="0" i="0" dirty="0">
                <a:solidFill>
                  <a:srgbClr val="404040"/>
                </a:solidFill>
                <a:effectLst/>
                <a:latin typeface="Inter"/>
              </a:rPr>
              <a:t> (đàn).</a:t>
            </a:r>
          </a:p>
          <a:p>
            <a:pPr algn="l">
              <a:buFont typeface="Arial" panose="020B0604020202020204" pitchFamily="34" charset="0"/>
              <a:buChar char="•"/>
            </a:pPr>
            <a:r>
              <a:rPr lang="vi-VN" b="1" i="0" dirty="0">
                <a:solidFill>
                  <a:srgbClr val="404040"/>
                </a:solidFill>
                <a:effectLst/>
                <a:latin typeface="Inter"/>
              </a:rPr>
              <a:t>Swarm:</a:t>
            </a:r>
            <a:r>
              <a:rPr lang="vi-VN" b="0" i="0" dirty="0">
                <a:solidFill>
                  <a:srgbClr val="404040"/>
                </a:solidFill>
                <a:effectLst/>
                <a:latin typeface="Inter"/>
              </a:rPr>
              <a:t> Là tập hợp các nút (peer) đang tải hoặc chia sẻ cùng một tệp. Mỗi nút trong swarm có thể vừa tải về (download) vừa chia sẻ (upload) các phần của tệp.</a:t>
            </a:r>
          </a:p>
          <a:p>
            <a:pPr algn="l"/>
            <a:r>
              <a:rPr lang="vi-VN" b="1" i="0" dirty="0">
                <a:solidFill>
                  <a:srgbClr val="404040"/>
                </a:solidFill>
                <a:effectLst/>
                <a:latin typeface="Inter"/>
              </a:rPr>
              <a:t>2. Neighbor Set (Tập láng giềng)</a:t>
            </a:r>
          </a:p>
          <a:p>
            <a:pPr algn="l">
              <a:buFont typeface="Arial" panose="020B0604020202020204" pitchFamily="34" charset="0"/>
              <a:buChar char="•"/>
            </a:pPr>
            <a:r>
              <a:rPr lang="vi-VN" b="1" i="0" dirty="0">
                <a:solidFill>
                  <a:srgbClr val="404040"/>
                </a:solidFill>
                <a:effectLst/>
                <a:latin typeface="Inter"/>
              </a:rPr>
              <a:t>Neighbor Set (NA):</a:t>
            </a:r>
            <a:r>
              <a:rPr lang="vi-VN" b="0" i="0" dirty="0">
                <a:solidFill>
                  <a:srgbClr val="404040"/>
                </a:solidFill>
                <a:effectLst/>
                <a:latin typeface="Inter"/>
              </a:rPr>
              <a:t> Mỗi nút </a:t>
            </a:r>
            <a:r>
              <a:rPr lang="vi-VN" b="1" i="0" dirty="0">
                <a:solidFill>
                  <a:srgbClr val="404040"/>
                </a:solidFill>
                <a:effectLst/>
                <a:latin typeface="Inter"/>
              </a:rPr>
              <a:t>A</a:t>
            </a:r>
            <a:r>
              <a:rPr lang="vi-VN" b="0" i="0" dirty="0">
                <a:solidFill>
                  <a:srgbClr val="404040"/>
                </a:solidFill>
                <a:effectLst/>
                <a:latin typeface="Inter"/>
              </a:rPr>
              <a:t> chỉ giao tiếp với một tập hợp con của swarm, được gọi là </a:t>
            </a:r>
            <a:r>
              <a:rPr lang="vi-VN" b="1" i="0" dirty="0">
                <a:solidFill>
                  <a:srgbClr val="404040"/>
                </a:solidFill>
                <a:effectLst/>
                <a:latin typeface="Inter"/>
              </a:rPr>
              <a:t>neighbor set</a:t>
            </a:r>
            <a:r>
              <a:rPr lang="vi-VN" b="0" i="0" dirty="0">
                <a:solidFill>
                  <a:srgbClr val="404040"/>
                </a:solidFill>
                <a:effectLst/>
                <a:latin typeface="Inter"/>
              </a:rPr>
              <a:t> (tập láng giềng). Tập này được ký hiệu là </a:t>
            </a:r>
            <a:r>
              <a:rPr lang="vi-VN" b="1" i="0" dirty="0">
                <a:solidFill>
                  <a:srgbClr val="404040"/>
                </a:solidFill>
                <a:effectLst/>
                <a:latin typeface="Inter"/>
              </a:rPr>
              <a:t>NA</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Tính đối xứng:</a:t>
            </a:r>
            <a:r>
              <a:rPr lang="vi-VN" b="0" i="0" dirty="0">
                <a:solidFill>
                  <a:srgbClr val="404040"/>
                </a:solidFill>
                <a:effectLst/>
                <a:latin typeface="Inter"/>
              </a:rPr>
              <a:t> Nếu nút </a:t>
            </a:r>
            <a:r>
              <a:rPr lang="vi-VN" b="1" i="0" dirty="0">
                <a:solidFill>
                  <a:srgbClr val="404040"/>
                </a:solidFill>
                <a:effectLst/>
                <a:latin typeface="Inter"/>
              </a:rPr>
              <a:t>B</a:t>
            </a:r>
            <a:r>
              <a:rPr lang="vi-VN" b="0" i="0" dirty="0">
                <a:solidFill>
                  <a:srgbClr val="404040"/>
                </a:solidFill>
                <a:effectLst/>
                <a:latin typeface="Inter"/>
              </a:rPr>
              <a:t> nằm trong tập láng giềng của </a:t>
            </a:r>
            <a:r>
              <a:rPr lang="vi-VN" b="1" i="0" dirty="0">
                <a:solidFill>
                  <a:srgbClr val="404040"/>
                </a:solidFill>
                <a:effectLst/>
                <a:latin typeface="Inter"/>
              </a:rPr>
              <a:t>A</a:t>
            </a:r>
            <a:r>
              <a:rPr lang="vi-VN" b="0" i="0" dirty="0">
                <a:solidFill>
                  <a:srgbClr val="404040"/>
                </a:solidFill>
                <a:effectLst/>
                <a:latin typeface="Inter"/>
              </a:rPr>
              <a:t> (tức </a:t>
            </a:r>
            <a:r>
              <a:rPr lang="vi-VN" b="1" i="0" dirty="0">
                <a:solidFill>
                  <a:srgbClr val="404040"/>
                </a:solidFill>
                <a:effectLst/>
                <a:latin typeface="Inter"/>
              </a:rPr>
              <a:t>B ∈ NA</a:t>
            </a:r>
            <a:r>
              <a:rPr lang="vi-VN" b="0" i="0" dirty="0">
                <a:solidFill>
                  <a:srgbClr val="404040"/>
                </a:solidFill>
                <a:effectLst/>
                <a:latin typeface="Inter"/>
              </a:rPr>
              <a:t>), thì </a:t>
            </a:r>
            <a:r>
              <a:rPr lang="vi-VN" b="1" i="0" dirty="0">
                <a:solidFill>
                  <a:srgbClr val="404040"/>
                </a:solidFill>
                <a:effectLst/>
                <a:latin typeface="Inter"/>
              </a:rPr>
              <a:t>A</a:t>
            </a:r>
            <a:r>
              <a:rPr lang="vi-VN" b="0" i="0" dirty="0">
                <a:solidFill>
                  <a:srgbClr val="404040"/>
                </a:solidFill>
                <a:effectLst/>
                <a:latin typeface="Inter"/>
              </a:rPr>
              <a:t> cũng phải nằm trong tập láng giềng của </a:t>
            </a:r>
            <a:r>
              <a:rPr lang="vi-VN" b="1" i="0" dirty="0">
                <a:solidFill>
                  <a:srgbClr val="404040"/>
                </a:solidFill>
                <a:effectLst/>
                <a:latin typeface="Inter"/>
              </a:rPr>
              <a:t>B</a:t>
            </a:r>
            <a:r>
              <a:rPr lang="vi-VN" b="0" i="0" dirty="0">
                <a:solidFill>
                  <a:srgbClr val="404040"/>
                </a:solidFill>
                <a:effectLst/>
                <a:latin typeface="Inter"/>
              </a:rPr>
              <a:t> (tức </a:t>
            </a:r>
            <a:r>
              <a:rPr lang="vi-VN" b="1" i="0" dirty="0">
                <a:solidFill>
                  <a:srgbClr val="404040"/>
                </a:solidFill>
                <a:effectLst/>
                <a:latin typeface="Inter"/>
              </a:rPr>
              <a:t>A ∈ NB</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Cập nhật thường xuyên:</a:t>
            </a:r>
            <a:r>
              <a:rPr lang="vi-VN" b="0" i="0" dirty="0">
                <a:solidFill>
                  <a:srgbClr val="404040"/>
                </a:solidFill>
                <a:effectLst/>
                <a:latin typeface="Inter"/>
              </a:rPr>
              <a:t> Tập láng giềng được cập nhật định kỳ bởi tracker để đảm bảo tính hiệu quả và cân bằng tải.</a:t>
            </a:r>
          </a:p>
          <a:p>
            <a:pPr algn="l"/>
            <a:r>
              <a:rPr lang="vi-VN" b="1" i="0" dirty="0">
                <a:solidFill>
                  <a:srgbClr val="404040"/>
                </a:solidFill>
                <a:effectLst/>
                <a:latin typeface="Inter"/>
              </a:rPr>
              <a:t>3. Chia sẻ và trao đổi dữ liệu</a:t>
            </a:r>
          </a:p>
          <a:p>
            <a:pPr algn="l">
              <a:buFont typeface="Arial" panose="020B0604020202020204" pitchFamily="34" charset="0"/>
              <a:buChar char="•"/>
            </a:pPr>
            <a:r>
              <a:rPr lang="vi-VN" b="1" i="0" dirty="0">
                <a:solidFill>
                  <a:srgbClr val="404040"/>
                </a:solidFill>
                <a:effectLst/>
                <a:latin typeface="Inter"/>
              </a:rPr>
              <a:t>Chia tệp thành các phần:</a:t>
            </a:r>
            <a:r>
              <a:rPr lang="vi-VN" b="0" i="0" dirty="0">
                <a:solidFill>
                  <a:srgbClr val="404040"/>
                </a:solidFill>
                <a:effectLst/>
                <a:latin typeface="Inter"/>
              </a:rPr>
              <a:t> Tệp được chia thành các phần có kích thước bằng nhau (thường là 256 KB mỗi phần).</a:t>
            </a:r>
          </a:p>
          <a:p>
            <a:pPr algn="l">
              <a:buFont typeface="Arial" panose="020B0604020202020204" pitchFamily="34" charset="0"/>
              <a:buChar char="•"/>
            </a:pPr>
            <a:r>
              <a:rPr lang="vi-VN" b="1" i="0" dirty="0">
                <a:solidFill>
                  <a:srgbClr val="404040"/>
                </a:solidFill>
                <a:effectLst/>
                <a:latin typeface="Inter"/>
              </a:rPr>
              <a:t>Trao đổi các khối (blocks):</a:t>
            </a:r>
            <a:r>
              <a:rPr lang="vi-VN" b="0" i="0" dirty="0">
                <a:solidFill>
                  <a:srgbClr val="404040"/>
                </a:solidFill>
                <a:effectLst/>
                <a:latin typeface="Inter"/>
              </a:rPr>
              <a:t> Các nút trao đổi các khối nhỏ hơn của các phần này (thường là 16 KB mỗi khối).</a:t>
            </a:r>
          </a:p>
          <a:p>
            <a:pPr algn="l">
              <a:buFont typeface="Arial" panose="020B0604020202020204" pitchFamily="34" charset="0"/>
              <a:buChar char="•"/>
            </a:pPr>
            <a:r>
              <a:rPr lang="vi-VN" b="1" i="0" dirty="0">
                <a:solidFill>
                  <a:srgbClr val="404040"/>
                </a:solidFill>
                <a:effectLst/>
                <a:latin typeface="Inter"/>
              </a:rPr>
              <a:t>Điều kiện upload:</a:t>
            </a:r>
            <a:r>
              <a:rPr lang="vi-VN" b="0" i="0" dirty="0">
                <a:solidFill>
                  <a:srgbClr val="404040"/>
                </a:solidFill>
                <a:effectLst/>
                <a:latin typeface="Inter"/>
              </a:rPr>
              <a:t> Nút </a:t>
            </a:r>
            <a:r>
              <a:rPr lang="vi-VN" b="1" i="0" dirty="0">
                <a:solidFill>
                  <a:srgbClr val="404040"/>
                </a:solidFill>
                <a:effectLst/>
                <a:latin typeface="Inter"/>
              </a:rPr>
              <a:t>A</a:t>
            </a:r>
            <a:r>
              <a:rPr lang="vi-VN" b="0" i="0" dirty="0">
                <a:solidFill>
                  <a:srgbClr val="404040"/>
                </a:solidFill>
                <a:effectLst/>
                <a:latin typeface="Inter"/>
              </a:rPr>
              <a:t> chỉ có thể upload một khối </a:t>
            </a:r>
            <a:r>
              <a:rPr lang="vi-VN" b="1" i="0" dirty="0">
                <a:solidFill>
                  <a:srgbClr val="404040"/>
                </a:solidFill>
                <a:effectLst/>
                <a:latin typeface="Inter"/>
              </a:rPr>
              <a:t>d</a:t>
            </a:r>
            <a:r>
              <a:rPr lang="vi-VN" b="0" i="0" dirty="0">
                <a:solidFill>
                  <a:srgbClr val="404040"/>
                </a:solidFill>
                <a:effectLst/>
                <a:latin typeface="Inter"/>
              </a:rPr>
              <a:t> của phần </a:t>
            </a:r>
            <a:r>
              <a:rPr lang="vi-VN" b="1" i="0" dirty="0">
                <a:solidFill>
                  <a:srgbClr val="404040"/>
                </a:solidFill>
                <a:effectLst/>
                <a:latin typeface="Inter"/>
              </a:rPr>
              <a:t>D</a:t>
            </a:r>
            <a:r>
              <a:rPr lang="vi-VN" b="0" i="0" dirty="0">
                <a:solidFill>
                  <a:srgbClr val="404040"/>
                </a:solidFill>
                <a:effectLst/>
                <a:latin typeface="Inter"/>
              </a:rPr>
              <a:t> nếu nó đã sở hữu toàn bộ phần </a:t>
            </a:r>
            <a:r>
              <a:rPr lang="vi-VN" b="1" i="0" dirty="0">
                <a:solidFill>
                  <a:srgbClr val="404040"/>
                </a:solidFill>
                <a:effectLst/>
                <a:latin typeface="Inter"/>
              </a:rPr>
              <a:t>D</a:t>
            </a:r>
            <a:r>
              <a:rPr lang="vi-VN" b="0" i="0" dirty="0">
                <a:solidFill>
                  <a:srgbClr val="404040"/>
                </a:solidFill>
                <a:effectLst/>
                <a:latin typeface="Inter"/>
              </a:rPr>
              <a:t>.</a:t>
            </a:r>
          </a:p>
          <a:p>
            <a:pPr algn="l"/>
            <a:r>
              <a:rPr lang="vi-VN" b="1" i="0" dirty="0">
                <a:solidFill>
                  <a:srgbClr val="404040"/>
                </a:solidFill>
                <a:effectLst/>
                <a:latin typeface="Inter"/>
              </a:rPr>
              <a:t>4. Potential Set (Tập tiềm năng)</a:t>
            </a:r>
          </a:p>
          <a:p>
            <a:pPr algn="l">
              <a:buFont typeface="Arial" panose="020B0604020202020204" pitchFamily="34" charset="0"/>
              <a:buChar char="•"/>
            </a:pPr>
            <a:r>
              <a:rPr lang="vi-VN" b="1" i="0" dirty="0">
                <a:solidFill>
                  <a:srgbClr val="404040"/>
                </a:solidFill>
                <a:effectLst/>
                <a:latin typeface="Inter"/>
              </a:rPr>
              <a:t>Potential Set (PA):</a:t>
            </a:r>
            <a:r>
              <a:rPr lang="vi-VN" b="0" i="0" dirty="0">
                <a:solidFill>
                  <a:srgbClr val="404040"/>
                </a:solidFill>
                <a:effectLst/>
                <a:latin typeface="Inter"/>
              </a:rPr>
              <a:t> Nút </a:t>
            </a:r>
            <a:r>
              <a:rPr lang="vi-VN" b="1" i="0" dirty="0">
                <a:solidFill>
                  <a:srgbClr val="404040"/>
                </a:solidFill>
                <a:effectLst/>
                <a:latin typeface="Inter"/>
              </a:rPr>
              <a:t>B</a:t>
            </a:r>
            <a:r>
              <a:rPr lang="vi-VN" b="0" i="0" dirty="0">
                <a:solidFill>
                  <a:srgbClr val="404040"/>
                </a:solidFill>
                <a:effectLst/>
                <a:latin typeface="Inter"/>
              </a:rPr>
              <a:t> thuộc tập tiềm năng của </a:t>
            </a:r>
            <a:r>
              <a:rPr lang="vi-VN" b="1" i="0" dirty="0">
                <a:solidFill>
                  <a:srgbClr val="404040"/>
                </a:solidFill>
                <a:effectLst/>
                <a:latin typeface="Inter"/>
              </a:rPr>
              <a:t>A</a:t>
            </a:r>
            <a:r>
              <a:rPr lang="vi-VN" b="0" i="0" dirty="0">
                <a:solidFill>
                  <a:srgbClr val="404040"/>
                </a:solidFill>
                <a:effectLst/>
                <a:latin typeface="Inter"/>
              </a:rPr>
              <a:t> (ký hiệu </a:t>
            </a:r>
            <a:r>
              <a:rPr lang="vi-VN" b="1" i="0" dirty="0">
                <a:solidFill>
                  <a:srgbClr val="404040"/>
                </a:solidFill>
                <a:effectLst/>
                <a:latin typeface="Inter"/>
              </a:rPr>
              <a:t>B ∈ PA</a:t>
            </a:r>
            <a:r>
              <a:rPr lang="vi-VN" b="0" i="0" dirty="0">
                <a:solidFill>
                  <a:srgbClr val="404040"/>
                </a:solidFill>
                <a:effectLst/>
                <a:latin typeface="Inter"/>
              </a:rPr>
              <a:t>) nếu </a:t>
            </a:r>
            <a:r>
              <a:rPr lang="vi-VN" b="1" i="0" dirty="0">
                <a:solidFill>
                  <a:srgbClr val="404040"/>
                </a:solidFill>
                <a:effectLst/>
                <a:latin typeface="Inter"/>
              </a:rPr>
              <a:t>B</a:t>
            </a:r>
            <a:r>
              <a:rPr lang="vi-VN" b="0" i="0" dirty="0">
                <a:solidFill>
                  <a:srgbClr val="404040"/>
                </a:solidFill>
                <a:effectLst/>
                <a:latin typeface="Inter"/>
              </a:rPr>
              <a:t> có một khối mà </a:t>
            </a:r>
            <a:r>
              <a:rPr lang="vi-VN" b="1" i="0" dirty="0">
                <a:solidFill>
                  <a:srgbClr val="404040"/>
                </a:solidFill>
                <a:effectLst/>
                <a:latin typeface="Inter"/>
              </a:rPr>
              <a:t>A</a:t>
            </a:r>
            <a:r>
              <a:rPr lang="vi-VN" b="0" i="0" dirty="0">
                <a:solidFill>
                  <a:srgbClr val="404040"/>
                </a:solidFill>
                <a:effectLst/>
                <a:latin typeface="Inter"/>
              </a:rPr>
              <a:t> cần.</a:t>
            </a:r>
          </a:p>
          <a:p>
            <a:pPr algn="l">
              <a:buFont typeface="Arial" panose="020B0604020202020204" pitchFamily="34" charset="0"/>
              <a:buChar char="•"/>
            </a:pPr>
            <a:r>
              <a:rPr lang="vi-VN" b="1" i="0" dirty="0">
                <a:solidFill>
                  <a:srgbClr val="404040"/>
                </a:solidFill>
                <a:effectLst/>
                <a:latin typeface="Inter"/>
              </a:rPr>
              <a:t>Điều kiện trao đổi:</a:t>
            </a:r>
            <a:r>
              <a:rPr lang="vi-VN" b="0" i="0" dirty="0">
                <a:solidFill>
                  <a:srgbClr val="404040"/>
                </a:solidFill>
                <a:effectLst/>
                <a:latin typeface="Inter"/>
              </a:rPr>
              <a:t> Nếu </a:t>
            </a:r>
            <a:r>
              <a:rPr lang="vi-VN" b="1" i="0" dirty="0">
                <a:solidFill>
                  <a:srgbClr val="404040"/>
                </a:solidFill>
                <a:effectLst/>
                <a:latin typeface="Inter"/>
              </a:rPr>
              <a:t>B ∈ PA</a:t>
            </a:r>
            <a:r>
              <a:rPr lang="vi-VN" b="0" i="0" dirty="0">
                <a:solidFill>
                  <a:srgbClr val="404040"/>
                </a:solidFill>
                <a:effectLst/>
                <a:latin typeface="Inter"/>
              </a:rPr>
              <a:t> và </a:t>
            </a:r>
            <a:r>
              <a:rPr lang="vi-VN" b="1" i="0" dirty="0">
                <a:solidFill>
                  <a:srgbClr val="404040"/>
                </a:solidFill>
                <a:effectLst/>
                <a:latin typeface="Inter"/>
              </a:rPr>
              <a:t>A ∈ PB</a:t>
            </a:r>
            <a:r>
              <a:rPr lang="vi-VN" b="0" i="0" dirty="0">
                <a:solidFill>
                  <a:srgbClr val="404040"/>
                </a:solidFill>
                <a:effectLst/>
                <a:latin typeface="Inter"/>
              </a:rPr>
              <a:t>, thì </a:t>
            </a:r>
            <a:r>
              <a:rPr lang="vi-VN" b="1" i="0" dirty="0">
                <a:solidFill>
                  <a:srgbClr val="404040"/>
                </a:solidFill>
                <a:effectLst/>
                <a:latin typeface="Inter"/>
              </a:rPr>
              <a:t>A</a:t>
            </a:r>
            <a:r>
              <a:rPr lang="vi-VN" b="0" i="0" dirty="0">
                <a:solidFill>
                  <a:srgbClr val="404040"/>
                </a:solidFill>
                <a:effectLst/>
                <a:latin typeface="Inter"/>
              </a:rPr>
              <a:t> và </a:t>
            </a:r>
            <a:r>
              <a:rPr lang="vi-VN" b="1" i="0" dirty="0">
                <a:solidFill>
                  <a:srgbClr val="404040"/>
                </a:solidFill>
                <a:effectLst/>
                <a:latin typeface="Inter"/>
              </a:rPr>
              <a:t>B</a:t>
            </a:r>
            <a:r>
              <a:rPr lang="vi-VN" b="0" i="0" dirty="0">
                <a:solidFill>
                  <a:srgbClr val="404040"/>
                </a:solidFill>
                <a:effectLst/>
                <a:latin typeface="Inter"/>
              </a:rPr>
              <a:t> có thể trao đổi khối với nhau. Đây là cơ chế </a:t>
            </a:r>
            <a:r>
              <a:rPr lang="vi-VN" b="1" i="0" dirty="0">
                <a:solidFill>
                  <a:srgbClr val="404040"/>
                </a:solidFill>
                <a:effectLst/>
                <a:latin typeface="Inter"/>
              </a:rPr>
              <a:t>trading</a:t>
            </a:r>
            <a:r>
              <a:rPr lang="vi-VN" b="0" i="0" dirty="0">
                <a:solidFill>
                  <a:srgbClr val="404040"/>
                </a:solidFill>
                <a:effectLst/>
                <a:latin typeface="Inter"/>
              </a:rPr>
              <a:t> (trao đổi) trong BitTorrent, đảm bảo sự hợp tác giữa các nút.</a:t>
            </a:r>
          </a:p>
          <a:p>
            <a:pPr algn="l"/>
            <a:r>
              <a:rPr lang="vi-VN" b="1" i="0" dirty="0">
                <a:solidFill>
                  <a:srgbClr val="404040"/>
                </a:solidFill>
                <a:effectLst/>
                <a:latin typeface="Inter"/>
              </a:rPr>
              <a:t>Tóm tắt nguyên lý hoạt động:</a:t>
            </a:r>
          </a:p>
          <a:p>
            <a:pPr algn="l">
              <a:buFont typeface="+mj-lt"/>
              <a:buAutoNum type="arabicPeriod"/>
            </a:pPr>
            <a:r>
              <a:rPr lang="vi-VN" b="1" i="0" dirty="0">
                <a:solidFill>
                  <a:srgbClr val="404040"/>
                </a:solidFill>
                <a:effectLst/>
                <a:latin typeface="Inter"/>
              </a:rPr>
              <a:t>Tracker</a:t>
            </a:r>
            <a:r>
              <a:rPr lang="vi-VN" b="0" i="0" dirty="0">
                <a:solidFill>
                  <a:srgbClr val="404040"/>
                </a:solidFill>
                <a:effectLst/>
                <a:latin typeface="Inter"/>
              </a:rPr>
              <a:t> quản lý thông tin về swarm và cung cấp danh sách các nút đang tải tệp.</a:t>
            </a:r>
          </a:p>
          <a:p>
            <a:pPr algn="l">
              <a:buFont typeface="+mj-lt"/>
              <a:buAutoNum type="arabicPeriod"/>
            </a:pPr>
            <a:r>
              <a:rPr lang="vi-VN" b="0" i="0" dirty="0">
                <a:solidFill>
                  <a:srgbClr val="404040"/>
                </a:solidFill>
                <a:effectLst/>
                <a:latin typeface="Inter"/>
              </a:rPr>
              <a:t>Mỗi nút chỉ giao tiếp với một tập láng giềng (</a:t>
            </a:r>
            <a:r>
              <a:rPr lang="vi-VN" b="1" i="0" dirty="0">
                <a:solidFill>
                  <a:srgbClr val="404040"/>
                </a:solidFill>
                <a:effectLst/>
                <a:latin typeface="Inter"/>
              </a:rPr>
              <a:t>neighbor set</a:t>
            </a:r>
            <a:r>
              <a:rPr lang="vi-VN" b="0" i="0" dirty="0">
                <a:solidFill>
                  <a:srgbClr val="404040"/>
                </a:solidFill>
                <a:effectLst/>
                <a:latin typeface="Inter"/>
              </a:rPr>
              <a:t>) được cập nhật thường xuyên.</a:t>
            </a:r>
          </a:p>
          <a:p>
            <a:pPr algn="l">
              <a:buFont typeface="+mj-lt"/>
              <a:buAutoNum type="arabicPeriod"/>
            </a:pPr>
            <a:r>
              <a:rPr lang="vi-VN" b="0" i="0" dirty="0">
                <a:solidFill>
                  <a:srgbClr val="404040"/>
                </a:solidFill>
                <a:effectLst/>
                <a:latin typeface="Inter"/>
              </a:rPr>
              <a:t>Tệp được chia thành các phần và khối nhỏ để trao đổi giữa các nút.</a:t>
            </a:r>
          </a:p>
          <a:p>
            <a:pPr algn="l">
              <a:buFont typeface="+mj-lt"/>
              <a:buAutoNum type="arabicPeriod"/>
            </a:pPr>
            <a:r>
              <a:rPr lang="vi-VN" b="0" i="0" dirty="0">
                <a:solidFill>
                  <a:srgbClr val="404040"/>
                </a:solidFill>
                <a:effectLst/>
                <a:latin typeface="Inter"/>
              </a:rPr>
              <a:t>Các nút chỉ có thể upload các khối nếu đã sở hữu toàn bộ phần chứa khối đó.</a:t>
            </a:r>
          </a:p>
          <a:p>
            <a:pPr algn="l">
              <a:buFont typeface="+mj-lt"/>
              <a:buAutoNum type="arabicPeriod"/>
            </a:pPr>
            <a:r>
              <a:rPr lang="vi-VN" b="0" i="0" dirty="0">
                <a:solidFill>
                  <a:srgbClr val="404040"/>
                </a:solidFill>
                <a:effectLst/>
                <a:latin typeface="Inter"/>
              </a:rPr>
              <a:t>Các nút trong tập tiềm năng (</a:t>
            </a:r>
            <a:r>
              <a:rPr lang="vi-VN" b="1" i="0" dirty="0">
                <a:solidFill>
                  <a:srgbClr val="404040"/>
                </a:solidFill>
                <a:effectLst/>
                <a:latin typeface="Inter"/>
              </a:rPr>
              <a:t>potential set</a:t>
            </a:r>
            <a:r>
              <a:rPr lang="vi-VN" b="0" i="0" dirty="0">
                <a:solidFill>
                  <a:srgbClr val="404040"/>
                </a:solidFill>
                <a:effectLst/>
                <a:latin typeface="Inter"/>
              </a:rPr>
              <a:t>) có thể trao đổi khối với nhau, đảm bảo sự hợp tác và cân bằng tải.</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38</a:t>
            </a:fld>
            <a:endParaRPr lang="en-US"/>
          </a:p>
        </p:txBody>
      </p:sp>
    </p:spTree>
    <p:extLst>
      <p:ext uri="{BB962C8B-B14F-4D97-AF65-F5344CB8AC3E}">
        <p14:creationId xmlns:p14="http://schemas.microsoft.com/office/powerpoint/2010/main" val="42906613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2800" b="1" i="0" dirty="0">
                <a:solidFill>
                  <a:srgbClr val="404040"/>
                </a:solidFill>
                <a:effectLst/>
                <a:latin typeface="Inter"/>
              </a:rPr>
              <a:t>1. Giai đoạn Bootstrap (Khởi động)</a:t>
            </a:r>
          </a:p>
          <a:p>
            <a:pPr algn="l">
              <a:buFont typeface="Arial" panose="020B0604020202020204" pitchFamily="34" charset="0"/>
              <a:buChar char="•"/>
            </a:pPr>
            <a:r>
              <a:rPr lang="vi-VN" sz="2800" b="1" i="0" dirty="0">
                <a:solidFill>
                  <a:srgbClr val="404040"/>
                </a:solidFill>
                <a:effectLst/>
                <a:latin typeface="Inter"/>
              </a:rPr>
              <a:t>Mục tiêu:</a:t>
            </a:r>
            <a:r>
              <a:rPr lang="vi-VN" sz="2800" b="0" i="0" dirty="0">
                <a:solidFill>
                  <a:srgbClr val="404040"/>
                </a:solidFill>
                <a:effectLst/>
                <a:latin typeface="Inter"/>
              </a:rPr>
              <a:t> Trong giai đoạn này, nút </a:t>
            </a:r>
            <a:r>
              <a:rPr lang="vi-VN" sz="2800" b="1" i="0" dirty="0">
                <a:solidFill>
                  <a:srgbClr val="404040"/>
                </a:solidFill>
                <a:effectLst/>
                <a:latin typeface="Inter"/>
              </a:rPr>
              <a:t>A</a:t>
            </a:r>
            <a:r>
              <a:rPr lang="vi-VN" sz="2800" b="0" i="0" dirty="0">
                <a:solidFill>
                  <a:srgbClr val="404040"/>
                </a:solidFill>
                <a:effectLst/>
                <a:latin typeface="Inter"/>
              </a:rPr>
              <a:t> vừa tham gia vào hệ thống và cần nhận được phần dữ liệu đầu tiên để bắt đầu quá trình tải.</a:t>
            </a:r>
          </a:p>
          <a:p>
            <a:pPr algn="l">
              <a:buFont typeface="Arial" panose="020B0604020202020204" pitchFamily="34" charset="0"/>
              <a:buChar char="•"/>
            </a:pPr>
            <a:r>
              <a:rPr lang="vi-VN" sz="2800" b="1" i="0" dirty="0">
                <a:solidFill>
                  <a:srgbClr val="404040"/>
                </a:solidFill>
                <a:effectLst/>
                <a:latin typeface="Inter"/>
              </a:rPr>
              <a:t>Cơ chế Optimistic Unchoking:</a:t>
            </a:r>
            <a:r>
              <a:rPr lang="vi-VN" sz="2800" b="0" i="0" dirty="0">
                <a:solidFill>
                  <a:srgbClr val="404040"/>
                </a:solidFill>
                <a:effectLst/>
                <a:latin typeface="Inter"/>
              </a:rPr>
              <a:t> Để giúp nút mới bắt đầu, một nút trong tập láng giềng (</a:t>
            </a:r>
            <a:r>
              <a:rPr lang="vi-VN" sz="2800" b="1" i="0" dirty="0">
                <a:solidFill>
                  <a:srgbClr val="404040"/>
                </a:solidFill>
                <a:effectLst/>
                <a:latin typeface="Inter"/>
              </a:rPr>
              <a:t>NA</a:t>
            </a:r>
            <a:r>
              <a:rPr lang="vi-VN" sz="2800" b="0" i="0" dirty="0">
                <a:solidFill>
                  <a:srgbClr val="404040"/>
                </a:solidFill>
                <a:effectLst/>
                <a:latin typeface="Inter"/>
              </a:rPr>
              <a:t>) sẽ "hào phóng" cung cấp các khối dữ liệu của một phần cho </a:t>
            </a:r>
            <a:r>
              <a:rPr lang="vi-VN" sz="2800" b="1" i="0" dirty="0">
                <a:solidFill>
                  <a:srgbClr val="404040"/>
                </a:solidFill>
                <a:effectLst/>
                <a:latin typeface="Inter"/>
              </a:rPr>
              <a:t>A</a:t>
            </a:r>
            <a:r>
              <a:rPr lang="vi-VN" sz="2800" b="0" i="0" dirty="0">
                <a:solidFill>
                  <a:srgbClr val="404040"/>
                </a:solidFill>
                <a:effectLst/>
                <a:latin typeface="Inter"/>
              </a:rPr>
              <a:t> mà không đòi hỏi đổi lại. Đây là cơ chế </a:t>
            </a:r>
            <a:r>
              <a:rPr lang="vi-VN" sz="2800" b="1" i="0" dirty="0">
                <a:solidFill>
                  <a:srgbClr val="404040"/>
                </a:solidFill>
                <a:effectLst/>
                <a:latin typeface="Inter"/>
              </a:rPr>
              <a:t>optimistic unchoking</a:t>
            </a:r>
            <a:r>
              <a:rPr lang="vi-VN" sz="2800" b="0" i="0" dirty="0">
                <a:solidFill>
                  <a:srgbClr val="404040"/>
                </a:solidFill>
                <a:effectLst/>
                <a:latin typeface="Inter"/>
              </a:rPr>
              <a:t>, giúp nút mới nhanh chóng có dữ liệu để bắt đầu chia sẻ.</a:t>
            </a:r>
          </a:p>
          <a:p>
            <a:pPr algn="l">
              <a:buFont typeface="Arial" panose="020B0604020202020204" pitchFamily="34" charset="0"/>
              <a:buChar char="•"/>
            </a:pPr>
            <a:r>
              <a:rPr lang="vi-VN" sz="2800" b="1" i="0" dirty="0">
                <a:solidFill>
                  <a:srgbClr val="404040"/>
                </a:solidFill>
                <a:effectLst/>
                <a:latin typeface="Inter"/>
              </a:rPr>
              <a:t>Kết quả:</a:t>
            </a:r>
            <a:r>
              <a:rPr lang="vi-VN" sz="2800" b="0" i="0" dirty="0">
                <a:solidFill>
                  <a:srgbClr val="404040"/>
                </a:solidFill>
                <a:effectLst/>
                <a:latin typeface="Inter"/>
              </a:rPr>
              <a:t> Nút </a:t>
            </a:r>
            <a:r>
              <a:rPr lang="vi-VN" sz="2800" b="1" i="0" dirty="0">
                <a:solidFill>
                  <a:srgbClr val="404040"/>
                </a:solidFill>
                <a:effectLst/>
                <a:latin typeface="Inter"/>
              </a:rPr>
              <a:t>A</a:t>
            </a:r>
            <a:r>
              <a:rPr lang="vi-VN" sz="2800" b="0" i="0" dirty="0">
                <a:solidFill>
                  <a:srgbClr val="404040"/>
                </a:solidFill>
                <a:effectLst/>
                <a:latin typeface="Inter"/>
              </a:rPr>
              <a:t> nhận được phần dữ liệu đầu tiên và có thể bắt đầu tham gia vào quá trình trao đổi dữ liệu với các nút khác.</a:t>
            </a:r>
          </a:p>
          <a:p>
            <a:pPr algn="l"/>
            <a:r>
              <a:rPr lang="vi-VN" sz="2800" b="1" i="0" dirty="0">
                <a:solidFill>
                  <a:srgbClr val="404040"/>
                </a:solidFill>
                <a:effectLst/>
                <a:latin typeface="Inter"/>
              </a:rPr>
              <a:t>2. Giai đoạn Trading (Trao đổi)</a:t>
            </a:r>
          </a:p>
          <a:p>
            <a:pPr algn="l">
              <a:buFont typeface="Arial" panose="020B0604020202020204" pitchFamily="34" charset="0"/>
              <a:buChar char="•"/>
            </a:pPr>
            <a:r>
              <a:rPr lang="vi-VN" sz="2800" b="1" i="0" dirty="0">
                <a:solidFill>
                  <a:srgbClr val="404040"/>
                </a:solidFill>
                <a:effectLst/>
                <a:latin typeface="Inter"/>
              </a:rPr>
              <a:t>Mục tiêu:</a:t>
            </a:r>
            <a:r>
              <a:rPr lang="vi-VN" sz="2800" b="0" i="0" dirty="0">
                <a:solidFill>
                  <a:srgbClr val="404040"/>
                </a:solidFill>
                <a:effectLst/>
                <a:latin typeface="Inter"/>
              </a:rPr>
              <a:t> Trong giai đoạn này, nút </a:t>
            </a:r>
            <a:r>
              <a:rPr lang="vi-VN" sz="2800" b="1" i="0" dirty="0">
                <a:solidFill>
                  <a:srgbClr val="404040"/>
                </a:solidFill>
                <a:effectLst/>
                <a:latin typeface="Inter"/>
              </a:rPr>
              <a:t>A</a:t>
            </a:r>
            <a:r>
              <a:rPr lang="vi-VN" sz="2800" b="0" i="0" dirty="0">
                <a:solidFill>
                  <a:srgbClr val="404040"/>
                </a:solidFill>
                <a:effectLst/>
                <a:latin typeface="Inter"/>
              </a:rPr>
              <a:t> đã có một số phần dữ liệu và tham gia vào quá trình trao đổi dữ liệu với các nút khác.</a:t>
            </a:r>
          </a:p>
          <a:p>
            <a:pPr algn="l">
              <a:buFont typeface="Arial" panose="020B0604020202020204" pitchFamily="34" charset="0"/>
              <a:buChar char="•"/>
            </a:pPr>
            <a:r>
              <a:rPr lang="vi-VN" sz="2800" b="1" i="0" dirty="0">
                <a:solidFill>
                  <a:srgbClr val="404040"/>
                </a:solidFill>
                <a:effectLst/>
                <a:latin typeface="Inter"/>
              </a:rPr>
              <a:t>Điều kiện:</a:t>
            </a:r>
            <a:r>
              <a:rPr lang="vi-VN" sz="2800" b="0" i="0" dirty="0">
                <a:solidFill>
                  <a:srgbClr val="404040"/>
                </a:solidFill>
                <a:effectLst/>
                <a:latin typeface="Inter"/>
              </a:rPr>
              <a:t> Tập tiềm năng (</a:t>
            </a:r>
            <a:r>
              <a:rPr lang="vi-VN" sz="2800" b="1" i="0" dirty="0">
                <a:solidFill>
                  <a:srgbClr val="404040"/>
                </a:solidFill>
                <a:effectLst/>
                <a:latin typeface="Inter"/>
              </a:rPr>
              <a:t>PA</a:t>
            </a:r>
            <a:r>
              <a:rPr lang="vi-VN" sz="2800" b="0" i="0" dirty="0">
                <a:solidFill>
                  <a:srgbClr val="404040"/>
                </a:solidFill>
                <a:effectLst/>
                <a:latin typeface="Inter"/>
              </a:rPr>
              <a:t>) của </a:t>
            </a:r>
            <a:r>
              <a:rPr lang="vi-VN" sz="2800" b="1" i="0" dirty="0">
                <a:solidFill>
                  <a:srgbClr val="404040"/>
                </a:solidFill>
                <a:effectLst/>
                <a:latin typeface="Inter"/>
              </a:rPr>
              <a:t>A</a:t>
            </a:r>
            <a:r>
              <a:rPr lang="vi-VN" sz="2800" b="0" i="0" dirty="0">
                <a:solidFill>
                  <a:srgbClr val="404040"/>
                </a:solidFill>
                <a:effectLst/>
                <a:latin typeface="Inter"/>
              </a:rPr>
              <a:t> không rỗng (tức </a:t>
            </a:r>
            <a:r>
              <a:rPr lang="vi-VN" sz="2800" b="1" i="0" dirty="0">
                <a:solidFill>
                  <a:srgbClr val="404040"/>
                </a:solidFill>
                <a:effectLst/>
                <a:latin typeface="Inter"/>
              </a:rPr>
              <a:t>|PA| &gt; 0</a:t>
            </a:r>
            <a:r>
              <a:rPr lang="vi-VN" sz="2800" b="0" i="0" dirty="0">
                <a:solidFill>
                  <a:srgbClr val="404040"/>
                </a:solidFill>
                <a:effectLst/>
                <a:latin typeface="Inter"/>
              </a:rPr>
              <a:t>), nghĩa là luôn có ít nhất một nút mà </a:t>
            </a:r>
            <a:r>
              <a:rPr lang="vi-VN" sz="2800" b="1" i="0" dirty="0">
                <a:solidFill>
                  <a:srgbClr val="404040"/>
                </a:solidFill>
                <a:effectLst/>
                <a:latin typeface="Inter"/>
              </a:rPr>
              <a:t>A</a:t>
            </a:r>
            <a:r>
              <a:rPr lang="vi-VN" sz="2800" b="0" i="0" dirty="0">
                <a:solidFill>
                  <a:srgbClr val="404040"/>
                </a:solidFill>
                <a:effectLst/>
                <a:latin typeface="Inter"/>
              </a:rPr>
              <a:t> có thể trao đổi dữ liệu.</a:t>
            </a:r>
          </a:p>
          <a:p>
            <a:pPr algn="l">
              <a:buFont typeface="Arial" panose="020B0604020202020204" pitchFamily="34" charset="0"/>
              <a:buChar char="•"/>
            </a:pPr>
            <a:r>
              <a:rPr lang="vi-VN" sz="2800" b="1" i="0" dirty="0">
                <a:solidFill>
                  <a:srgbClr val="404040"/>
                </a:solidFill>
                <a:effectLst/>
                <a:latin typeface="Inter"/>
              </a:rPr>
              <a:t>Cơ chế:</a:t>
            </a:r>
            <a:r>
              <a:rPr lang="vi-VN" sz="2800" b="0" i="0" dirty="0">
                <a:solidFill>
                  <a:srgbClr val="404040"/>
                </a:solidFill>
                <a:effectLst/>
                <a:latin typeface="Inter"/>
              </a:rPr>
              <a:t> Nút </a:t>
            </a:r>
            <a:r>
              <a:rPr lang="vi-VN" sz="2800" b="1" i="0" dirty="0">
                <a:solidFill>
                  <a:srgbClr val="404040"/>
                </a:solidFill>
                <a:effectLst/>
                <a:latin typeface="Inter"/>
              </a:rPr>
              <a:t>A</a:t>
            </a:r>
            <a:r>
              <a:rPr lang="vi-VN" sz="2800" b="0" i="0" dirty="0">
                <a:solidFill>
                  <a:srgbClr val="404040"/>
                </a:solidFill>
                <a:effectLst/>
                <a:latin typeface="Inter"/>
              </a:rPr>
              <a:t> sẽ trao đổi các khối dữ liệu với các nút trong tập tiềm năng (</a:t>
            </a:r>
            <a:r>
              <a:rPr lang="vi-VN" sz="2800" b="1" i="0" dirty="0">
                <a:solidFill>
                  <a:srgbClr val="404040"/>
                </a:solidFill>
                <a:effectLst/>
                <a:latin typeface="Inter"/>
              </a:rPr>
              <a:t>PA</a:t>
            </a:r>
            <a:r>
              <a:rPr lang="vi-VN" sz="2800" b="0" i="0" dirty="0">
                <a:solidFill>
                  <a:srgbClr val="404040"/>
                </a:solidFill>
                <a:effectLst/>
                <a:latin typeface="Inter"/>
              </a:rPr>
              <a:t>) dựa trên nguyên tắc </a:t>
            </a:r>
            <a:r>
              <a:rPr lang="vi-VN" sz="2800" b="1" i="0" dirty="0">
                <a:solidFill>
                  <a:srgbClr val="404040"/>
                </a:solidFill>
                <a:effectLst/>
                <a:latin typeface="Inter"/>
              </a:rPr>
              <a:t>trading</a:t>
            </a:r>
            <a:r>
              <a:rPr lang="vi-VN" sz="2800" b="0" i="0" dirty="0">
                <a:solidFill>
                  <a:srgbClr val="404040"/>
                </a:solidFill>
                <a:effectLst/>
                <a:latin typeface="Inter"/>
              </a:rPr>
              <a:t> (trao đổi có đi có lại). Điều này đảm bảo sự hợp tác và cân bằng tải trong hệ thống.</a:t>
            </a:r>
          </a:p>
          <a:p>
            <a:pPr algn="l"/>
            <a:r>
              <a:rPr lang="vi-VN" sz="2800" b="1" i="0" dirty="0">
                <a:solidFill>
                  <a:srgbClr val="404040"/>
                </a:solidFill>
                <a:effectLst/>
                <a:latin typeface="Inter"/>
              </a:rPr>
              <a:t>3. Giai đoạn Last Download (Tải phần cuối cùng)</a:t>
            </a:r>
          </a:p>
          <a:p>
            <a:pPr algn="l">
              <a:buFont typeface="Arial" panose="020B0604020202020204" pitchFamily="34" charset="0"/>
              <a:buChar char="•"/>
            </a:pPr>
            <a:r>
              <a:rPr lang="vi-VN" sz="2800" b="1" i="0" dirty="0">
                <a:solidFill>
                  <a:srgbClr val="404040"/>
                </a:solidFill>
                <a:effectLst/>
                <a:latin typeface="Inter"/>
              </a:rPr>
              <a:t>Mục tiêu:</a:t>
            </a:r>
            <a:r>
              <a:rPr lang="vi-VN" sz="2800" b="0" i="0" dirty="0">
                <a:solidFill>
                  <a:srgbClr val="404040"/>
                </a:solidFill>
                <a:effectLst/>
                <a:latin typeface="Inter"/>
              </a:rPr>
              <a:t> Trong giai đoạn này, nút </a:t>
            </a:r>
            <a:r>
              <a:rPr lang="vi-VN" sz="2800" b="1" i="0" dirty="0">
                <a:solidFill>
                  <a:srgbClr val="404040"/>
                </a:solidFill>
                <a:effectLst/>
                <a:latin typeface="Inter"/>
              </a:rPr>
              <a:t>A</a:t>
            </a:r>
            <a:r>
              <a:rPr lang="vi-VN" sz="2800" b="0" i="0" dirty="0">
                <a:solidFill>
                  <a:srgbClr val="404040"/>
                </a:solidFill>
                <a:effectLst/>
                <a:latin typeface="Inter"/>
              </a:rPr>
              <a:t> đã tải gần như toàn bộ tệp và chỉ còn thiếu một số phần cuối cùng.</a:t>
            </a:r>
          </a:p>
          <a:p>
            <a:pPr algn="l">
              <a:buFont typeface="Arial" panose="020B0604020202020204" pitchFamily="34" charset="0"/>
              <a:buChar char="•"/>
            </a:pPr>
            <a:r>
              <a:rPr lang="vi-VN" sz="2800" b="1" i="0" dirty="0">
                <a:solidFill>
                  <a:srgbClr val="404040"/>
                </a:solidFill>
                <a:effectLst/>
                <a:latin typeface="Inter"/>
              </a:rPr>
              <a:t>Điều kiện:</a:t>
            </a:r>
            <a:r>
              <a:rPr lang="vi-VN" sz="2800" b="0" i="0" dirty="0">
                <a:solidFill>
                  <a:srgbClr val="404040"/>
                </a:solidFill>
                <a:effectLst/>
                <a:latin typeface="Inter"/>
              </a:rPr>
              <a:t> Tập tiềm năng (</a:t>
            </a:r>
            <a:r>
              <a:rPr lang="vi-VN" sz="2800" b="1" i="0" dirty="0">
                <a:solidFill>
                  <a:srgbClr val="404040"/>
                </a:solidFill>
                <a:effectLst/>
                <a:latin typeface="Inter"/>
              </a:rPr>
              <a:t>PA</a:t>
            </a:r>
            <a:r>
              <a:rPr lang="vi-VN" sz="2800" b="0" i="0" dirty="0">
                <a:solidFill>
                  <a:srgbClr val="404040"/>
                </a:solidFill>
                <a:effectLst/>
                <a:latin typeface="Inter"/>
              </a:rPr>
              <a:t>) của </a:t>
            </a:r>
            <a:r>
              <a:rPr lang="vi-VN" sz="2800" b="1" i="0" dirty="0">
                <a:solidFill>
                  <a:srgbClr val="404040"/>
                </a:solidFill>
                <a:effectLst/>
                <a:latin typeface="Inter"/>
              </a:rPr>
              <a:t>A</a:t>
            </a:r>
            <a:r>
              <a:rPr lang="vi-VN" sz="2800" b="0" i="0" dirty="0">
                <a:solidFill>
                  <a:srgbClr val="404040"/>
                </a:solidFill>
                <a:effectLst/>
                <a:latin typeface="Inter"/>
              </a:rPr>
              <a:t> trở nên rỗng (tức </a:t>
            </a:r>
            <a:r>
              <a:rPr lang="vi-VN" sz="2800" b="1" i="0" dirty="0">
                <a:solidFill>
                  <a:srgbClr val="404040"/>
                </a:solidFill>
                <a:effectLst/>
                <a:latin typeface="Inter"/>
              </a:rPr>
              <a:t>|PA| = 0</a:t>
            </a:r>
            <a:r>
              <a:rPr lang="vi-VN" sz="2800" b="0" i="0" dirty="0">
                <a:solidFill>
                  <a:srgbClr val="404040"/>
                </a:solidFill>
                <a:effectLst/>
                <a:latin typeface="Inter"/>
              </a:rPr>
              <a:t>), nghĩa là không còn nút nào trong tập láng giềng (</a:t>
            </a:r>
            <a:r>
              <a:rPr lang="vi-VN" sz="2800" b="1" i="0" dirty="0">
                <a:solidFill>
                  <a:srgbClr val="404040"/>
                </a:solidFill>
                <a:effectLst/>
                <a:latin typeface="Inter"/>
              </a:rPr>
              <a:t>NA</a:t>
            </a:r>
            <a:r>
              <a:rPr lang="vi-VN" sz="2800" b="0" i="0" dirty="0">
                <a:solidFill>
                  <a:srgbClr val="404040"/>
                </a:solidFill>
                <a:effectLst/>
                <a:latin typeface="Inter"/>
              </a:rPr>
              <a:t>) có các phần mà </a:t>
            </a:r>
            <a:r>
              <a:rPr lang="vi-VN" sz="2800" b="1" i="0" dirty="0">
                <a:solidFill>
                  <a:srgbClr val="404040"/>
                </a:solidFill>
                <a:effectLst/>
                <a:latin typeface="Inter"/>
              </a:rPr>
              <a:t>A</a:t>
            </a:r>
            <a:r>
              <a:rPr lang="vi-VN" sz="2800" b="0" i="0" dirty="0">
                <a:solidFill>
                  <a:srgbClr val="404040"/>
                </a:solidFill>
                <a:effectLst/>
                <a:latin typeface="Inter"/>
              </a:rPr>
              <a:t> cần.</a:t>
            </a:r>
          </a:p>
          <a:p>
            <a:pPr algn="l">
              <a:buFont typeface="Arial" panose="020B0604020202020204" pitchFamily="34" charset="0"/>
              <a:buChar char="•"/>
            </a:pPr>
            <a:r>
              <a:rPr lang="vi-VN" sz="2800" b="1" i="0" dirty="0">
                <a:solidFill>
                  <a:srgbClr val="404040"/>
                </a:solidFill>
                <a:effectLst/>
                <a:latin typeface="Inter"/>
              </a:rPr>
              <a:t>Cơ chế:</a:t>
            </a:r>
            <a:r>
              <a:rPr lang="vi-VN" sz="2800" b="0" i="0" dirty="0">
                <a:solidFill>
                  <a:srgbClr val="404040"/>
                </a:solidFill>
                <a:effectLst/>
                <a:latin typeface="Inter"/>
              </a:rPr>
              <a:t> Nút </a:t>
            </a:r>
            <a:r>
              <a:rPr lang="vi-VN" sz="2800" b="1" i="0" dirty="0">
                <a:solidFill>
                  <a:srgbClr val="404040"/>
                </a:solidFill>
                <a:effectLst/>
                <a:latin typeface="Inter"/>
              </a:rPr>
              <a:t>A</a:t>
            </a:r>
            <a:r>
              <a:rPr lang="vi-VN" sz="2800" b="0" i="0" dirty="0">
                <a:solidFill>
                  <a:srgbClr val="404040"/>
                </a:solidFill>
                <a:effectLst/>
                <a:latin typeface="Inter"/>
              </a:rPr>
              <a:t> phụ thuộc vào các nút mới tham gia vào hệ thống (thông qua cập nhật từ </a:t>
            </a:r>
            <a:r>
              <a:rPr lang="vi-VN" sz="2800" b="1" i="0" dirty="0">
                <a:solidFill>
                  <a:srgbClr val="404040"/>
                </a:solidFill>
                <a:effectLst/>
                <a:latin typeface="Inter"/>
              </a:rPr>
              <a:t>tracker</a:t>
            </a:r>
            <a:r>
              <a:rPr lang="vi-VN" sz="2800" b="0" i="0" dirty="0">
                <a:solidFill>
                  <a:srgbClr val="404040"/>
                </a:solidFill>
                <a:effectLst/>
                <a:latin typeface="Inter"/>
              </a:rPr>
              <a:t>) để nhận được các phần cuối cùng. Tập láng giềng (</a:t>
            </a:r>
            <a:r>
              <a:rPr lang="vi-VN" sz="2800" b="1" i="0" dirty="0">
                <a:solidFill>
                  <a:srgbClr val="404040"/>
                </a:solidFill>
                <a:effectLst/>
                <a:latin typeface="Inter"/>
              </a:rPr>
              <a:t>NA</a:t>
            </a:r>
            <a:r>
              <a:rPr lang="vi-VN" sz="2800" b="0" i="0" dirty="0">
                <a:solidFill>
                  <a:srgbClr val="404040"/>
                </a:solidFill>
                <a:effectLst/>
                <a:latin typeface="Inter"/>
              </a:rPr>
              <a:t>) của </a:t>
            </a:r>
            <a:r>
              <a:rPr lang="vi-VN" sz="2800" b="1" i="0" dirty="0">
                <a:solidFill>
                  <a:srgbClr val="404040"/>
                </a:solidFill>
                <a:effectLst/>
                <a:latin typeface="Inter"/>
              </a:rPr>
              <a:t>A</a:t>
            </a:r>
            <a:r>
              <a:rPr lang="vi-VN" sz="2800" b="0" i="0" dirty="0">
                <a:solidFill>
                  <a:srgbClr val="404040"/>
                </a:solidFill>
                <a:effectLst/>
                <a:latin typeface="Inter"/>
              </a:rPr>
              <a:t> chỉ có thể thay đổi thông qua thông tin từ </a:t>
            </a:r>
            <a:r>
              <a:rPr lang="vi-VN" sz="2800" b="1" i="0" dirty="0">
                <a:solidFill>
                  <a:srgbClr val="404040"/>
                </a:solidFill>
                <a:effectLst/>
                <a:latin typeface="Inter"/>
              </a:rPr>
              <a:t>tracker</a:t>
            </a:r>
            <a:r>
              <a:rPr lang="vi-VN" sz="2800" b="0" i="0" dirty="0">
                <a:solidFill>
                  <a:srgbClr val="404040"/>
                </a:solidFill>
                <a:effectLst/>
                <a:latin typeface="Inter"/>
              </a:rPr>
              <a:t>.</a:t>
            </a:r>
            <a:endParaRPr lang="en-US" sz="2800" b="0" i="0" dirty="0">
              <a:solidFill>
                <a:srgbClr val="404040"/>
              </a:solidFill>
              <a:effectLst/>
              <a:latin typeface="Inter"/>
            </a:endParaRPr>
          </a:p>
          <a:p>
            <a:pPr algn="l">
              <a:buFont typeface="Arial" panose="020B0604020202020204" pitchFamily="34" charset="0"/>
              <a:buNone/>
            </a:pPr>
            <a:endParaRPr lang="vi-VN" sz="2800" b="0" i="0" dirty="0">
              <a:solidFill>
                <a:srgbClr val="404040"/>
              </a:solidFill>
              <a:effectLst/>
              <a:latin typeface="Inter"/>
            </a:endParaRPr>
          </a:p>
          <a:p>
            <a:pPr algn="l"/>
            <a:r>
              <a:rPr lang="vi-VN" sz="2800" b="1" i="0" dirty="0">
                <a:solidFill>
                  <a:srgbClr val="404040"/>
                </a:solidFill>
                <a:effectLst/>
                <a:latin typeface="Inter"/>
              </a:rPr>
              <a:t>Tóm tắt các giai đoạn:</a:t>
            </a:r>
          </a:p>
          <a:p>
            <a:pPr algn="l">
              <a:buFont typeface="+mj-lt"/>
              <a:buAutoNum type="arabicPeriod"/>
            </a:pPr>
            <a:r>
              <a:rPr lang="vi-VN" sz="2800" b="1" i="0" dirty="0">
                <a:solidFill>
                  <a:srgbClr val="404040"/>
                </a:solidFill>
                <a:effectLst/>
                <a:latin typeface="Inter"/>
              </a:rPr>
              <a:t>Bootstrap phase:</a:t>
            </a:r>
            <a:r>
              <a:rPr lang="vi-VN" sz="2800" b="0" i="0" dirty="0">
                <a:solidFill>
                  <a:srgbClr val="404040"/>
                </a:solidFill>
                <a:effectLst/>
                <a:latin typeface="Inter"/>
              </a:rPr>
              <a:t> Nút mới nhận phần dữ liệu đầu tiên thông qua cơ chế </a:t>
            </a:r>
            <a:r>
              <a:rPr lang="vi-VN" sz="2800" b="1" i="0" dirty="0">
                <a:solidFill>
                  <a:srgbClr val="404040"/>
                </a:solidFill>
                <a:effectLst/>
                <a:latin typeface="Inter"/>
              </a:rPr>
              <a:t>optimistic unchoking</a:t>
            </a:r>
            <a:r>
              <a:rPr lang="vi-VN" sz="2800" b="0" i="0" dirty="0">
                <a:solidFill>
                  <a:srgbClr val="404040"/>
                </a:solidFill>
                <a:effectLst/>
                <a:latin typeface="Inter"/>
              </a:rPr>
              <a:t>.</a:t>
            </a:r>
          </a:p>
          <a:p>
            <a:pPr algn="l">
              <a:buFont typeface="+mj-lt"/>
              <a:buAutoNum type="arabicPeriod"/>
            </a:pPr>
            <a:r>
              <a:rPr lang="vi-VN" sz="2800" b="1" i="0" dirty="0">
                <a:solidFill>
                  <a:srgbClr val="404040"/>
                </a:solidFill>
                <a:effectLst/>
                <a:latin typeface="Inter"/>
              </a:rPr>
              <a:t>Trading phase:</a:t>
            </a:r>
            <a:r>
              <a:rPr lang="vi-VN" sz="2800" b="0" i="0" dirty="0">
                <a:solidFill>
                  <a:srgbClr val="404040"/>
                </a:solidFill>
                <a:effectLst/>
                <a:latin typeface="Inter"/>
              </a:rPr>
              <a:t> Nút tham gia trao đổi dữ liệu với các nút khác khi tập tiềm năng (</a:t>
            </a:r>
            <a:r>
              <a:rPr lang="vi-VN" sz="2800" b="1" i="0" dirty="0">
                <a:solidFill>
                  <a:srgbClr val="404040"/>
                </a:solidFill>
                <a:effectLst/>
                <a:latin typeface="Inter"/>
              </a:rPr>
              <a:t>PA</a:t>
            </a:r>
            <a:r>
              <a:rPr lang="vi-VN" sz="2800" b="0" i="0" dirty="0">
                <a:solidFill>
                  <a:srgbClr val="404040"/>
                </a:solidFill>
                <a:effectLst/>
                <a:latin typeface="Inter"/>
              </a:rPr>
              <a:t>) không rỗng.</a:t>
            </a:r>
          </a:p>
          <a:p>
            <a:pPr algn="l">
              <a:buFont typeface="+mj-lt"/>
              <a:buAutoNum type="arabicPeriod"/>
            </a:pPr>
            <a:r>
              <a:rPr lang="vi-VN" sz="2800" b="1" i="0" dirty="0">
                <a:solidFill>
                  <a:srgbClr val="404040"/>
                </a:solidFill>
                <a:effectLst/>
                <a:latin typeface="Inter"/>
              </a:rPr>
              <a:t>Last download phase:</a:t>
            </a:r>
            <a:r>
              <a:rPr lang="vi-VN" sz="2800" b="0" i="0" dirty="0">
                <a:solidFill>
                  <a:srgbClr val="404040"/>
                </a:solidFill>
                <a:effectLst/>
                <a:latin typeface="Inter"/>
              </a:rPr>
              <a:t> Nút phụ thuộc vào các nút mới tham gia để nhận các phần cuối cùng khi tập tiềm năng (</a:t>
            </a:r>
            <a:r>
              <a:rPr lang="vi-VN" sz="2800" b="1" i="0" dirty="0">
                <a:solidFill>
                  <a:srgbClr val="404040"/>
                </a:solidFill>
                <a:effectLst/>
                <a:latin typeface="Inter"/>
              </a:rPr>
              <a:t>PA</a:t>
            </a:r>
            <a:r>
              <a:rPr lang="vi-VN" sz="2800" b="0" i="0" dirty="0">
                <a:solidFill>
                  <a:srgbClr val="404040"/>
                </a:solidFill>
                <a:effectLst/>
                <a:latin typeface="Inter"/>
              </a:rPr>
              <a:t>) rỗng.</a:t>
            </a:r>
          </a:p>
        </p:txBody>
      </p:sp>
      <p:sp>
        <p:nvSpPr>
          <p:cNvPr id="4" name="Slide Number Placeholder 3"/>
          <p:cNvSpPr>
            <a:spLocks noGrp="1"/>
          </p:cNvSpPr>
          <p:nvPr>
            <p:ph type="sldNum" sz="quarter" idx="5"/>
          </p:nvPr>
        </p:nvSpPr>
        <p:spPr/>
        <p:txBody>
          <a:bodyPr/>
          <a:lstStyle/>
          <a:p>
            <a:fld id="{FA13772E-92BC-4DF5-A31C-A96E0BDD6752}" type="slidenum">
              <a:rPr lang="en-US" smtClean="0"/>
              <a:t>39</a:t>
            </a:fld>
            <a:endParaRPr lang="en-US"/>
          </a:p>
        </p:txBody>
      </p:sp>
    </p:spTree>
    <p:extLst>
      <p:ext uri="{BB962C8B-B14F-4D97-AF65-F5344CB8AC3E}">
        <p14:creationId xmlns:p14="http://schemas.microsoft.com/office/powerpoint/2010/main" val="4881040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Hầu hết các mô tả về BitTorrent chỉ tập trung vào giai đoạn </a:t>
            </a:r>
            <a:r>
              <a:rPr lang="vi-VN" b="1" i="0" dirty="0">
                <a:solidFill>
                  <a:srgbClr val="404040"/>
                </a:solidFill>
                <a:effectLst/>
                <a:latin typeface="Inter"/>
              </a:rPr>
              <a:t>trading phase</a:t>
            </a:r>
            <a:r>
              <a:rPr lang="vi-VN" b="0" i="0" dirty="0">
                <a:solidFill>
                  <a:srgbClr val="404040"/>
                </a:solidFill>
                <a:effectLst/>
                <a:latin typeface="Inter"/>
              </a:rPr>
              <a:t> (giai đoạn trao đổi), thường là giai đoạn dài nhất và hiệu quả nhất. Hình </a:t>
            </a:r>
            <a:r>
              <a:rPr lang="en-US" b="0" i="0" dirty="0" err="1">
                <a:solidFill>
                  <a:srgbClr val="404040"/>
                </a:solidFill>
                <a:effectLst/>
                <a:latin typeface="Inter"/>
              </a:rPr>
              <a:t>minh</a:t>
            </a:r>
            <a:r>
              <a:rPr lang="en-US" b="0" i="0" dirty="0">
                <a:solidFill>
                  <a:srgbClr val="404040"/>
                </a:solidFill>
                <a:effectLst/>
                <a:latin typeface="Inter"/>
              </a:rPr>
              <a:t> </a:t>
            </a:r>
            <a:r>
              <a:rPr lang="en-US" b="0" i="0" dirty="0" err="1">
                <a:solidFill>
                  <a:srgbClr val="404040"/>
                </a:solidFill>
                <a:effectLst/>
                <a:latin typeface="Inter"/>
              </a:rPr>
              <a:t>họa</a:t>
            </a:r>
            <a:r>
              <a:rPr lang="vi-VN" b="0" i="0" dirty="0">
                <a:solidFill>
                  <a:srgbClr val="404040"/>
                </a:solidFill>
                <a:effectLst/>
                <a:latin typeface="Inter"/>
              </a:rPr>
              <a:t> cho thấy cách ba giai đoạn phát triển dựa trên kích thước tương đối của tập tiềm năng (</a:t>
            </a:r>
            <a:r>
              <a:rPr lang="vi-VN" b="1" i="0" dirty="0">
                <a:solidFill>
                  <a:srgbClr val="404040"/>
                </a:solidFill>
                <a:effectLst/>
                <a:latin typeface="Inter"/>
              </a:rPr>
              <a:t>potential set</a:t>
            </a:r>
            <a:r>
              <a:rPr lang="vi-VN" b="0" i="0" dirty="0">
                <a:solidFill>
                  <a:srgbClr val="404040"/>
                </a:solidFill>
                <a:effectLst/>
                <a:latin typeface="Inter"/>
              </a:rPr>
              <a:t>). Chúng ta có thể thấy rõ rằng trong giai đoạn </a:t>
            </a:r>
            <a:r>
              <a:rPr lang="vi-VN" b="1" i="0" dirty="0">
                <a:solidFill>
                  <a:srgbClr val="404040"/>
                </a:solidFill>
                <a:effectLst/>
                <a:latin typeface="Inter"/>
              </a:rPr>
              <a:t>bootstrap phase</a:t>
            </a:r>
            <a:r>
              <a:rPr lang="vi-VN" b="0" i="0" dirty="0">
                <a:solidFill>
                  <a:srgbClr val="404040"/>
                </a:solidFill>
                <a:effectLst/>
                <a:latin typeface="Inter"/>
              </a:rPr>
              <a:t> (giai đoạn khởi động) và </a:t>
            </a:r>
            <a:r>
              <a:rPr lang="vi-VN" b="1" i="0" dirty="0">
                <a:solidFill>
                  <a:srgbClr val="404040"/>
                </a:solidFill>
                <a:effectLst/>
                <a:latin typeface="Inter"/>
              </a:rPr>
              <a:t>last download phase</a:t>
            </a:r>
            <a:r>
              <a:rPr lang="vi-VN" b="0" i="0" dirty="0">
                <a:solidFill>
                  <a:srgbClr val="404040"/>
                </a:solidFill>
                <a:effectLst/>
                <a:latin typeface="Inter"/>
              </a:rPr>
              <a:t> (giai đoạn tải phần cuối cùng), tập tiềm năng </a:t>
            </a:r>
            <a:r>
              <a:rPr lang="vi-VN" b="1" i="0" dirty="0">
                <a:solidFill>
                  <a:srgbClr val="404040"/>
                </a:solidFill>
                <a:effectLst/>
                <a:latin typeface="Inter"/>
              </a:rPr>
              <a:t>P</a:t>
            </a:r>
            <a:r>
              <a:rPr lang="vi-VN" b="0" i="0" dirty="0">
                <a:solidFill>
                  <a:srgbClr val="404040"/>
                </a:solidFill>
                <a:effectLst/>
                <a:latin typeface="Inter"/>
              </a:rPr>
              <a:t> tương đối nhỏ. Điều này có nghĩa là việc bắt đầu BitTorrent có thể mất một khoảng thời gian, nhưng cũng có nghĩa là việc hoàn thành quá trình tải có thể mất thêm thời gian vì lý do đơn giản là khó tìm được đối tác trao đổi.</a:t>
            </a:r>
          </a:p>
          <a:p>
            <a:pPr algn="l"/>
            <a:r>
              <a:rPr lang="vi-VN" b="0" i="0" dirty="0">
                <a:solidFill>
                  <a:srgbClr val="404040"/>
                </a:solidFill>
                <a:effectLst/>
                <a:latin typeface="Inter"/>
              </a:rPr>
              <a:t>Để tìm một nút phù hợp để trao đổi, một nút luôn chọn một nút từ tập tiềm năng của nó có tốc độ upload cao nhất. Tương tự, để tăng tốc độ phân phối, một nút thường chọn chia sẻ các khối của phần hiếm nhất trong </a:t>
            </a:r>
            <a:r>
              <a:rPr lang="vi-VN" b="1" i="0" dirty="0">
                <a:solidFill>
                  <a:srgbClr val="404040"/>
                </a:solidFill>
                <a:effectLst/>
                <a:latin typeface="Inter"/>
              </a:rPr>
              <a:t>swarm</a:t>
            </a:r>
            <a:r>
              <a:rPr lang="vi-VN" b="0" i="0" dirty="0">
                <a:solidFill>
                  <a:srgbClr val="404040"/>
                </a:solidFill>
                <a:effectLst/>
                <a:latin typeface="Inter"/>
              </a:rPr>
              <a:t> trước khi xem xét các phần khác. Bằng cách này, chúng ta có thể mong đợi sự phân phối nhanh chóng và đồng đều các phần trong toàn bộ </a:t>
            </a:r>
            <a:r>
              <a:rPr lang="vi-VN" b="1" i="0" dirty="0">
                <a:solidFill>
                  <a:srgbClr val="404040"/>
                </a:solidFill>
                <a:effectLst/>
                <a:latin typeface="Inter"/>
              </a:rPr>
              <a:t>swarm</a:t>
            </a:r>
            <a:r>
              <a:rPr lang="vi-VN" b="0" i="0" dirty="0">
                <a:solidFill>
                  <a:srgbClr val="404040"/>
                </a:solidFill>
                <a:effectLst/>
                <a:latin typeface="Inter"/>
              </a:rPr>
              <a:t>.</a:t>
            </a:r>
          </a:p>
          <a:p>
            <a:endParaRPr lang="en-US" dirty="0"/>
          </a:p>
        </p:txBody>
      </p:sp>
      <p:sp>
        <p:nvSpPr>
          <p:cNvPr id="4" name="Slide Number Placeholder 3"/>
          <p:cNvSpPr>
            <a:spLocks noGrp="1"/>
          </p:cNvSpPr>
          <p:nvPr>
            <p:ph type="sldNum" sz="quarter" idx="5"/>
          </p:nvPr>
        </p:nvSpPr>
        <p:spPr/>
        <p:txBody>
          <a:bodyPr/>
          <a:lstStyle/>
          <a:p>
            <a:fld id="{FA13772E-92BC-4DF5-A31C-A96E0BDD6752}" type="slidenum">
              <a:rPr lang="en-US" smtClean="0"/>
              <a:t>40</a:t>
            </a:fld>
            <a:endParaRPr lang="en-US"/>
          </a:p>
        </p:txBody>
      </p:sp>
    </p:spTree>
    <p:extLst>
      <p:ext uri="{BB962C8B-B14F-4D97-AF65-F5344CB8AC3E}">
        <p14:creationId xmlns:p14="http://schemas.microsoft.com/office/powerpoint/2010/main" val="4232815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2080260"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589406" y="1515389"/>
            <a:ext cx="3432175" cy="15259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3/23/2025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slide" Target="slide2.xm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5" Type="http://schemas.openxmlformats.org/officeDocument/2006/relationships/image" Target="../media/image11.png"/><Relationship Id="rId10" Type="http://schemas.openxmlformats.org/officeDocument/2006/relationships/image" Target="../media/image6.png"/><Relationship Id="rId4" Type="http://schemas.openxmlformats.org/officeDocument/2006/relationships/slide" Target="slide3.xml"/><Relationship Id="rId9" Type="http://schemas.openxmlformats.org/officeDocument/2006/relationships/image" Target="../media/image5.png"/><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slide" Target="slide4.xml"/><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slide" Target="slide3.xml"/><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slide" Target="slide3.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slide" Target="slide3.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slide" Target="slide3.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 Target="slide2.xml"/><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slide" Target="slide3.xml"/><Relationship Id="rId9" Type="http://schemas.openxmlformats.org/officeDocument/2006/relationships/slide" Target="slide6.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BucketName.s3.amazonaws.com/ObjectName" TargetMode="Externa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slide" Target="slide10.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slide" Target="slide10.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hyperlink" Target="http://mybucket.s3.amazonsws.com/" TargetMode="External"/><Relationship Id="rId4" Type="http://schemas.openxmlformats.org/officeDocument/2006/relationships/slide" Target="slide10.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hyperlink" Target="http://mybucket.s3.amazonsws.com/" TargetMode="External"/><Relationship Id="rId4" Type="http://schemas.openxmlformats.org/officeDocument/2006/relationships/slide" Target="slide10.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 Target="slide17.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slide" Target="slide17.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slide" Target="slide20.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20.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slide" Target="slide2.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slide" Target="slide22.xml"/><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slide" Target="slide20.xml"/><Relationship Id="rId9" Type="http://schemas.openxmlformats.org/officeDocument/2006/relationships/image" Target="../media/image30.png"/><Relationship Id="rId1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slide" Target="slide24.xml"/></Relationships>
</file>

<file path=ppt/slides/_rels/slide25.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2.xml"/><Relationship Id="rId7"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slide" Target="slide24.xml"/></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slide" Target="slide2.xml"/><Relationship Id="rId7"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9.png"/><Relationship Id="rId4" Type="http://schemas.openxmlformats.org/officeDocument/2006/relationships/slide" Target="slide24.xml"/><Relationship Id="rId9" Type="http://schemas.openxmlformats.org/officeDocument/2006/relationships/slide" Target="slide25.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slide" Target="slide24.xml"/></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slide" Target="slide2.xml"/><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27.xml"/><Relationship Id="rId16" Type="http://schemas.openxmlformats.org/officeDocument/2006/relationships/image" Target="../media/image52.png"/><Relationship Id="rId20" Type="http://schemas.openxmlformats.org/officeDocument/2006/relationships/slide" Target="slide28.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slide" Target="slide27.xml"/><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slide" Target="slide24.xml"/><Relationship Id="rId9" Type="http://schemas.openxmlformats.org/officeDocument/2006/relationships/image" Target="../media/image45.png"/><Relationship Id="rId1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slide" Target="slide27.xml"/><Relationship Id="rId5" Type="http://schemas.openxmlformats.org/officeDocument/2006/relationships/slide" Target="slide24.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8.xml"/><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slide" Target="slide27.xml"/><Relationship Id="rId4" Type="http://schemas.openxmlformats.org/officeDocument/2006/relationships/slide" Target="slide24.xml"/></Relationships>
</file>

<file path=ppt/slides/_rels/slide31.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slide" Target="slide27.xml"/><Relationship Id="rId5" Type="http://schemas.openxmlformats.org/officeDocument/2006/relationships/slide" Target="slide24.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slide" Target="slide31.xml"/><Relationship Id="rId5" Type="http://schemas.openxmlformats.org/officeDocument/2006/relationships/slide" Target="slide27.xml"/><Relationship Id="rId4" Type="http://schemas.openxmlformats.org/officeDocument/2006/relationships/slide" Target="slide24.xml"/></Relationships>
</file>

<file path=ppt/slides/_rels/slide33.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slide" Target="slide27.xml"/><Relationship Id="rId5" Type="http://schemas.openxmlformats.org/officeDocument/2006/relationships/slide" Target="slide24.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3.png"/><Relationship Id="rId3" Type="http://schemas.openxmlformats.org/officeDocument/2006/relationships/slide" Target="slide2.xml"/><Relationship Id="rId7" Type="http://schemas.openxmlformats.org/officeDocument/2006/relationships/image" Target="../media/image58.png"/><Relationship Id="rId12" Type="http://schemas.openxmlformats.org/officeDocument/2006/relationships/image" Target="../media/image46.png"/><Relationship Id="rId17" Type="http://schemas.openxmlformats.org/officeDocument/2006/relationships/slide" Target="slide34.xml"/><Relationship Id="rId2" Type="http://schemas.openxmlformats.org/officeDocument/2006/relationships/notesSlide" Target="../notesSlides/notesSlide33.xml"/><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slide" Target="slide27.xml"/><Relationship Id="rId15" Type="http://schemas.openxmlformats.org/officeDocument/2006/relationships/image" Target="../media/image48.png"/><Relationship Id="rId10" Type="http://schemas.openxmlformats.org/officeDocument/2006/relationships/image" Target="../media/image61.png"/><Relationship Id="rId4" Type="http://schemas.openxmlformats.org/officeDocument/2006/relationships/slide" Target="slide24.xml"/><Relationship Id="rId9" Type="http://schemas.openxmlformats.org/officeDocument/2006/relationships/image" Target="../media/image60.png"/><Relationship Id="rId1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27.xml"/><Relationship Id="rId4" Type="http://schemas.openxmlformats.org/officeDocument/2006/relationships/slide" Target="slide24.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slide" Target="slide36.xml"/><Relationship Id="rId4" Type="http://schemas.openxmlformats.org/officeDocument/2006/relationships/slide" Target="slide24.xml"/></Relationships>
</file>

<file path=ppt/slides/_rels/slide37.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slide" Target="slide37.xml"/><Relationship Id="rId3" Type="http://schemas.openxmlformats.org/officeDocument/2006/relationships/slide" Target="slide2.xml"/><Relationship Id="rId7" Type="http://schemas.openxmlformats.org/officeDocument/2006/relationships/image" Target="../media/image65.png"/><Relationship Id="rId12"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image" Target="../media/image64.png"/><Relationship Id="rId11" Type="http://schemas.openxmlformats.org/officeDocument/2006/relationships/image" Target="../media/image9.png"/><Relationship Id="rId5" Type="http://schemas.openxmlformats.org/officeDocument/2006/relationships/slide" Target="slide36.xml"/><Relationship Id="rId10" Type="http://schemas.openxmlformats.org/officeDocument/2006/relationships/image" Target="../media/image67.png"/><Relationship Id="rId4" Type="http://schemas.openxmlformats.org/officeDocument/2006/relationships/slide" Target="slide24.xml"/><Relationship Id="rId9"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24.xml"/><Relationship Id="rId4" Type="http://schemas.openxmlformats.org/officeDocument/2006/relationships/slide" Target="slide2.xml"/></Relationships>
</file>

<file path=ppt/slides/_rels/slide3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slide" Target="slide36.xml"/><Relationship Id="rId5" Type="http://schemas.openxmlformats.org/officeDocument/2006/relationships/slide" Target="slide24.xml"/><Relationship Id="rId4" Type="http://schemas.openxmlformats.org/officeDocument/2006/relationships/slide" Target="slide2.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slide" Target="slide37.xml"/><Relationship Id="rId5" Type="http://schemas.openxmlformats.org/officeDocument/2006/relationships/slide" Target="slide36.xml"/><Relationship Id="rId4" Type="http://schemas.openxmlformats.org/officeDocument/2006/relationships/slide" Target="slide2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252435" y="2243770"/>
            <a:ext cx="2103755"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25" dirty="0">
                <a:latin typeface="Arial"/>
                <a:cs typeface="Arial"/>
              </a:rPr>
              <a:t> </a:t>
            </a:r>
            <a:r>
              <a:rPr sz="1400" spc="15" dirty="0">
                <a:latin typeface="Arial"/>
                <a:cs typeface="Arial"/>
              </a:rPr>
              <a:t>02:</a:t>
            </a:r>
            <a:r>
              <a:rPr sz="1400" spc="70" dirty="0">
                <a:latin typeface="Arial"/>
                <a:cs typeface="Arial"/>
              </a:rPr>
              <a:t> </a:t>
            </a:r>
            <a:r>
              <a:rPr sz="1400" spc="15" dirty="0">
                <a:latin typeface="Arial"/>
                <a:cs typeface="Arial"/>
              </a:rPr>
              <a:t>Architectures</a:t>
            </a:r>
            <a:endParaRPr sz="140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2</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a:spLocks noGrp="1"/>
          </p:cNvSpPr>
          <p:nvPr>
            <p:ph type="title"/>
          </p:nvPr>
        </p:nvSpPr>
        <p:spPr>
          <a:xfrm>
            <a:off x="95300" y="188846"/>
            <a:ext cx="1552575" cy="244475"/>
          </a:xfrm>
          <a:prstGeom prst="rect">
            <a:avLst/>
          </a:prstGeom>
        </p:spPr>
        <p:txBody>
          <a:bodyPr vert="horz" wrap="square" lIns="0" tIns="17145" rIns="0" bIns="0" rtlCol="0">
            <a:spAutoFit/>
          </a:bodyPr>
          <a:lstStyle/>
          <a:p>
            <a:pPr marL="12700">
              <a:lnSpc>
                <a:spcPct val="100000"/>
              </a:lnSpc>
              <a:spcBef>
                <a:spcPts val="135"/>
              </a:spcBef>
            </a:pPr>
            <a:r>
              <a:rPr spc="10" dirty="0"/>
              <a:t>Architectural</a:t>
            </a:r>
            <a:r>
              <a:rPr spc="-25" dirty="0"/>
              <a:t> </a:t>
            </a:r>
            <a:r>
              <a:rPr spc="10" dirty="0"/>
              <a:t>styles</a:t>
            </a:r>
          </a:p>
        </p:txBody>
      </p:sp>
      <p:sp>
        <p:nvSpPr>
          <p:cNvPr id="4" name="object 4"/>
          <p:cNvSpPr txBox="1"/>
          <p:nvPr/>
        </p:nvSpPr>
        <p:spPr>
          <a:xfrm>
            <a:off x="305028" y="767738"/>
            <a:ext cx="3994150" cy="2011045"/>
          </a:xfrm>
          <a:prstGeom prst="rect">
            <a:avLst/>
          </a:prstGeom>
        </p:spPr>
        <p:txBody>
          <a:bodyPr vert="horz" wrap="square" lIns="0" tIns="12065" rIns="0" bIns="0" rtlCol="0">
            <a:spAutoFit/>
          </a:bodyPr>
          <a:lstStyle/>
          <a:p>
            <a:pPr marL="5461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dirty="0">
              <a:latin typeface="Arial"/>
              <a:cs typeface="Arial"/>
            </a:endParaRPr>
          </a:p>
          <a:p>
            <a:pPr marL="50800">
              <a:lnSpc>
                <a:spcPts val="1170"/>
              </a:lnSpc>
            </a:pPr>
            <a:r>
              <a:rPr sz="1000" spc="-5" dirty="0">
                <a:latin typeface="Arial"/>
                <a:cs typeface="Arial"/>
              </a:rPr>
              <a:t>A</a:t>
            </a:r>
            <a:r>
              <a:rPr sz="1000" spc="-15" dirty="0">
                <a:latin typeface="Arial"/>
                <a:cs typeface="Arial"/>
              </a:rPr>
              <a:t> </a:t>
            </a:r>
            <a:r>
              <a:rPr sz="1000" spc="-5" dirty="0">
                <a:latin typeface="Arial"/>
                <a:cs typeface="Arial"/>
              </a:rPr>
              <a:t>style</a:t>
            </a:r>
            <a:r>
              <a:rPr sz="1000" spc="-10"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formulated</a:t>
            </a:r>
            <a:r>
              <a:rPr sz="1000" spc="-10" dirty="0">
                <a:latin typeface="Arial"/>
                <a:cs typeface="Arial"/>
              </a:rPr>
              <a:t> </a:t>
            </a:r>
            <a:r>
              <a:rPr sz="1000" spc="-5" dirty="0">
                <a:latin typeface="Arial"/>
                <a:cs typeface="Arial"/>
              </a:rPr>
              <a:t>in</a:t>
            </a:r>
            <a:r>
              <a:rPr sz="1000" spc="-10" dirty="0">
                <a:latin typeface="Arial"/>
                <a:cs typeface="Arial"/>
              </a:rPr>
              <a:t> </a:t>
            </a:r>
            <a:r>
              <a:rPr sz="1000" dirty="0">
                <a:latin typeface="Arial"/>
                <a:cs typeface="Arial"/>
              </a:rPr>
              <a:t>terms</a:t>
            </a:r>
            <a:r>
              <a:rPr sz="1000" spc="-10" dirty="0">
                <a:latin typeface="Arial"/>
                <a:cs typeface="Arial"/>
              </a:rPr>
              <a:t> </a:t>
            </a:r>
            <a:r>
              <a:rPr sz="1000" spc="-5" dirty="0">
                <a:latin typeface="Arial"/>
                <a:cs typeface="Arial"/>
              </a:rPr>
              <a:t>of</a:t>
            </a:r>
            <a:endParaRPr sz="1000" dirty="0">
              <a:latin typeface="Arial"/>
              <a:cs typeface="Arial"/>
            </a:endParaRPr>
          </a:p>
          <a:p>
            <a:pPr marL="331470" indent="-168275">
              <a:lnSpc>
                <a:spcPts val="1200"/>
              </a:lnSpc>
              <a:spcBef>
                <a:spcPts val="590"/>
              </a:spcBef>
              <a:buClr>
                <a:srgbClr val="3333B2"/>
              </a:buClr>
              <a:buChar char="►"/>
              <a:tabLst>
                <a:tab pos="332105" algn="l"/>
              </a:tabLst>
            </a:pPr>
            <a:r>
              <a:rPr sz="1000" spc="-5" dirty="0">
                <a:latin typeface="Arial"/>
                <a:cs typeface="Arial"/>
              </a:rPr>
              <a:t>(replaceable)</a:t>
            </a:r>
            <a:r>
              <a:rPr sz="1000" spc="-10" dirty="0">
                <a:latin typeface="Arial"/>
                <a:cs typeface="Arial"/>
              </a:rPr>
              <a:t> </a:t>
            </a:r>
            <a:r>
              <a:rPr sz="1000" spc="-5" dirty="0">
                <a:latin typeface="Arial"/>
                <a:cs typeface="Arial"/>
              </a:rPr>
              <a:t>components with well-defined interfaces</a:t>
            </a:r>
            <a:endParaRPr sz="1000" dirty="0">
              <a:latin typeface="Arial"/>
              <a:cs typeface="Arial"/>
            </a:endParaRPr>
          </a:p>
          <a:p>
            <a:pPr marL="331470" indent="-168275">
              <a:lnSpc>
                <a:spcPts val="1195"/>
              </a:lnSpc>
              <a:buClr>
                <a:srgbClr val="3333B2"/>
              </a:buClr>
              <a:buChar char="►"/>
              <a:tabLst>
                <a:tab pos="332105" algn="l"/>
              </a:tabLst>
            </a:pPr>
            <a:r>
              <a:rPr sz="1000" spc="-5" dirty="0">
                <a:latin typeface="Arial"/>
                <a:cs typeface="Arial"/>
              </a:rPr>
              <a:t>the </a:t>
            </a:r>
            <a:r>
              <a:rPr sz="1000" spc="-20" dirty="0">
                <a:latin typeface="Arial"/>
                <a:cs typeface="Arial"/>
              </a:rPr>
              <a:t>way</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components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connected to</a:t>
            </a:r>
            <a:r>
              <a:rPr sz="100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other</a:t>
            </a:r>
            <a:endParaRPr sz="1000" dirty="0">
              <a:latin typeface="Arial"/>
              <a:cs typeface="Arial"/>
            </a:endParaRPr>
          </a:p>
          <a:p>
            <a:pPr marL="331470" indent="-168275">
              <a:lnSpc>
                <a:spcPts val="1195"/>
              </a:lnSpc>
              <a:buClr>
                <a:srgbClr val="3333B2"/>
              </a:buClr>
              <a:buChar char="►"/>
              <a:tabLst>
                <a:tab pos="332105" algn="l"/>
              </a:tabLst>
            </a:pPr>
            <a:r>
              <a:rPr sz="1000" spc="-5" dirty="0">
                <a:latin typeface="Arial"/>
                <a:cs typeface="Arial"/>
              </a:rPr>
              <a:t>the data </a:t>
            </a:r>
            <a:r>
              <a:rPr sz="1000" spc="-10" dirty="0">
                <a:latin typeface="Arial"/>
                <a:cs typeface="Arial"/>
              </a:rPr>
              <a:t>exchanged</a:t>
            </a:r>
            <a:r>
              <a:rPr sz="1000" spc="-5" dirty="0">
                <a:latin typeface="Arial"/>
                <a:cs typeface="Arial"/>
              </a:rPr>
              <a:t> between components</a:t>
            </a:r>
            <a:endParaRPr sz="1000" dirty="0">
              <a:latin typeface="Arial"/>
              <a:cs typeface="Arial"/>
            </a:endParaRPr>
          </a:p>
          <a:p>
            <a:pPr marL="331470" marR="43180" indent="-168275">
              <a:lnSpc>
                <a:spcPts val="1200"/>
              </a:lnSpc>
              <a:spcBef>
                <a:spcPts val="40"/>
              </a:spcBef>
              <a:buClr>
                <a:srgbClr val="3333B2"/>
              </a:buClr>
              <a:buChar char="►"/>
              <a:tabLst>
                <a:tab pos="332105" algn="l"/>
              </a:tabLst>
            </a:pPr>
            <a:r>
              <a:rPr sz="1000" spc="-15" dirty="0">
                <a:latin typeface="Arial"/>
                <a:cs typeface="Arial"/>
              </a:rPr>
              <a:t>how</a:t>
            </a:r>
            <a:r>
              <a:rPr sz="1000" dirty="0">
                <a:latin typeface="Arial"/>
                <a:cs typeface="Arial"/>
              </a:rPr>
              <a:t> </a:t>
            </a:r>
            <a:r>
              <a:rPr sz="1000" spc="-10" dirty="0">
                <a:latin typeface="Arial"/>
                <a:cs typeface="Arial"/>
              </a:rPr>
              <a:t>these</a:t>
            </a:r>
            <a:r>
              <a:rPr sz="1000" spc="5" dirty="0">
                <a:latin typeface="Arial"/>
                <a:cs typeface="Arial"/>
              </a:rPr>
              <a:t> </a:t>
            </a:r>
            <a:r>
              <a:rPr sz="1000" spc="-10" dirty="0">
                <a:latin typeface="Arial"/>
                <a:cs typeface="Arial"/>
              </a:rPr>
              <a:t>components</a:t>
            </a:r>
            <a:r>
              <a:rPr sz="1000" spc="5" dirty="0">
                <a:latin typeface="Arial"/>
                <a:cs typeface="Arial"/>
              </a:rPr>
              <a:t> </a:t>
            </a:r>
            <a:r>
              <a:rPr sz="1000" spc="-10" dirty="0">
                <a:latin typeface="Arial"/>
                <a:cs typeface="Arial"/>
              </a:rPr>
              <a:t>and</a:t>
            </a:r>
            <a:r>
              <a:rPr sz="1000" spc="5" dirty="0">
                <a:latin typeface="Arial"/>
                <a:cs typeface="Arial"/>
              </a:rPr>
              <a:t> </a:t>
            </a:r>
            <a:r>
              <a:rPr sz="1000" spc="-10" dirty="0">
                <a:latin typeface="Arial"/>
                <a:cs typeface="Arial"/>
              </a:rPr>
              <a:t>connectors</a:t>
            </a:r>
            <a:r>
              <a:rPr sz="1000" dirty="0">
                <a:latin typeface="Arial"/>
                <a:cs typeface="Arial"/>
              </a:rPr>
              <a:t> </a:t>
            </a:r>
            <a:r>
              <a:rPr sz="1000" spc="-10" dirty="0">
                <a:latin typeface="Arial"/>
                <a:cs typeface="Arial"/>
              </a:rPr>
              <a:t>are</a:t>
            </a:r>
            <a:r>
              <a:rPr sz="1000" spc="5" dirty="0">
                <a:latin typeface="Arial"/>
                <a:cs typeface="Arial"/>
              </a:rPr>
              <a:t> </a:t>
            </a:r>
            <a:r>
              <a:rPr sz="1000" spc="-5" dirty="0">
                <a:latin typeface="Arial"/>
                <a:cs typeface="Arial"/>
              </a:rPr>
              <a:t>jointly</a:t>
            </a:r>
            <a:r>
              <a:rPr sz="1000" spc="5" dirty="0">
                <a:latin typeface="Arial"/>
                <a:cs typeface="Arial"/>
              </a:rPr>
              <a:t> </a:t>
            </a:r>
            <a:r>
              <a:rPr sz="1000" spc="-10" dirty="0">
                <a:latin typeface="Arial"/>
                <a:cs typeface="Arial"/>
              </a:rPr>
              <a:t>configured</a:t>
            </a:r>
            <a:r>
              <a:rPr sz="1000" spc="5" dirty="0">
                <a:latin typeface="Arial"/>
                <a:cs typeface="Arial"/>
              </a:rPr>
              <a:t> </a:t>
            </a:r>
            <a:r>
              <a:rPr sz="1000" spc="-10" dirty="0">
                <a:latin typeface="Arial"/>
                <a:cs typeface="Arial"/>
              </a:rPr>
              <a:t>into </a:t>
            </a:r>
            <a:r>
              <a:rPr sz="1000" spc="-265"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system.</a:t>
            </a:r>
            <a:endParaRPr sz="1000" dirty="0">
              <a:latin typeface="Arial"/>
              <a:cs typeface="Arial"/>
            </a:endParaRPr>
          </a:p>
          <a:p>
            <a:pPr>
              <a:lnSpc>
                <a:spcPct val="100000"/>
              </a:lnSpc>
              <a:spcBef>
                <a:spcPts val="20"/>
              </a:spcBef>
            </a:pPr>
            <a:endParaRPr sz="1250" dirty="0">
              <a:latin typeface="Arial"/>
              <a:cs typeface="Arial"/>
            </a:endParaRPr>
          </a:p>
          <a:p>
            <a:pPr marL="54610">
              <a:lnSpc>
                <a:spcPts val="1410"/>
              </a:lnSpc>
            </a:pPr>
            <a:r>
              <a:rPr sz="1200" spc="-5" dirty="0">
                <a:solidFill>
                  <a:srgbClr val="3333B2"/>
                </a:solidFill>
                <a:latin typeface="Arial"/>
                <a:cs typeface="Arial"/>
              </a:rPr>
              <a:t>Connector</a:t>
            </a:r>
            <a:endParaRPr sz="1200" dirty="0">
              <a:latin typeface="Arial"/>
              <a:cs typeface="Arial"/>
            </a:endParaRPr>
          </a:p>
          <a:p>
            <a:pPr marL="54610" marR="338455" indent="-4445">
              <a:lnSpc>
                <a:spcPts val="1200"/>
              </a:lnSpc>
              <a:spcBef>
                <a:spcPts val="15"/>
              </a:spcBef>
            </a:pPr>
            <a:r>
              <a:rPr sz="1000" spc="-5" dirty="0">
                <a:latin typeface="Arial"/>
                <a:cs typeface="Arial"/>
              </a:rPr>
              <a:t>A mechanism</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mediates</a:t>
            </a:r>
            <a:r>
              <a:rPr sz="1000" dirty="0">
                <a:latin typeface="Arial"/>
                <a:cs typeface="Arial"/>
              </a:rPr>
              <a:t> </a:t>
            </a:r>
            <a:r>
              <a:rPr sz="1000" spc="-5" dirty="0">
                <a:latin typeface="Arial"/>
                <a:cs typeface="Arial"/>
              </a:rPr>
              <a:t>communication, coordination,</a:t>
            </a:r>
            <a:r>
              <a:rPr sz="1000" dirty="0">
                <a:latin typeface="Arial"/>
                <a:cs typeface="Arial"/>
              </a:rPr>
              <a:t> </a:t>
            </a:r>
            <a:r>
              <a:rPr sz="1000" spc="-5" dirty="0">
                <a:latin typeface="Arial"/>
                <a:cs typeface="Arial"/>
              </a:rPr>
              <a:t>or </a:t>
            </a:r>
            <a:r>
              <a:rPr sz="1000" dirty="0">
                <a:latin typeface="Arial"/>
                <a:cs typeface="Arial"/>
              </a:rPr>
              <a:t> </a:t>
            </a:r>
            <a:r>
              <a:rPr sz="1000" spc="-5" dirty="0">
                <a:latin typeface="Arial"/>
                <a:cs typeface="Arial"/>
              </a:rPr>
              <a:t>cooperation among</a:t>
            </a:r>
            <a:r>
              <a:rPr sz="1000" dirty="0">
                <a:latin typeface="Arial"/>
                <a:cs typeface="Arial"/>
              </a:rPr>
              <a:t> </a:t>
            </a:r>
            <a:r>
              <a:rPr sz="1000" spc="-5" dirty="0">
                <a:latin typeface="Arial"/>
                <a:cs typeface="Arial"/>
              </a:rPr>
              <a:t>components.</a:t>
            </a:r>
            <a:r>
              <a:rPr sz="1000" spc="65" dirty="0">
                <a:latin typeface="Arial"/>
                <a:cs typeface="Arial"/>
              </a:rPr>
              <a:t> </a:t>
            </a:r>
            <a:r>
              <a:rPr sz="1000" spc="-5" dirty="0">
                <a:solidFill>
                  <a:srgbClr val="0000FA"/>
                </a:solidFill>
                <a:latin typeface="Arial"/>
                <a:cs typeface="Arial"/>
              </a:rPr>
              <a:t>Example</a:t>
            </a:r>
            <a:r>
              <a:rPr sz="1000" spc="-5" dirty="0">
                <a:latin typeface="Arial"/>
                <a:cs typeface="Arial"/>
              </a:rPr>
              <a:t>:</a:t>
            </a:r>
            <a:r>
              <a:rPr sz="1000" spc="60" dirty="0">
                <a:latin typeface="Arial"/>
                <a:cs typeface="Arial"/>
              </a:rPr>
              <a:t> </a:t>
            </a:r>
            <a:r>
              <a:rPr sz="1000" spc="-5" dirty="0">
                <a:latin typeface="Arial"/>
                <a:cs typeface="Arial"/>
              </a:rPr>
              <a:t>facilities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(remote) </a:t>
            </a:r>
            <a:r>
              <a:rPr sz="1000" spc="-265" dirty="0">
                <a:latin typeface="Arial"/>
                <a:cs typeface="Arial"/>
              </a:rPr>
              <a:t> </a:t>
            </a:r>
            <a:r>
              <a:rPr sz="1000" spc="-5" dirty="0">
                <a:latin typeface="Arial"/>
                <a:cs typeface="Arial"/>
              </a:rPr>
              <a:t>procedure call, messaging, or streaming.</a:t>
            </a:r>
            <a:endParaRPr sz="1000" dirty="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Layered</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4" name="object 4"/>
          <p:cNvSpPr txBox="1"/>
          <p:nvPr/>
        </p:nvSpPr>
        <p:spPr>
          <a:xfrm>
            <a:off x="95300" y="188846"/>
            <a:ext cx="2324735" cy="81978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Layered</a:t>
            </a:r>
            <a:r>
              <a:rPr sz="1400" spc="-35" dirty="0">
                <a:solidFill>
                  <a:srgbClr val="3333B2"/>
                </a:solidFill>
                <a:latin typeface="Arial"/>
                <a:cs typeface="Arial"/>
              </a:rPr>
              <a:t> </a:t>
            </a:r>
            <a:r>
              <a:rPr sz="1400" spc="15" dirty="0">
                <a:solidFill>
                  <a:srgbClr val="3333B2"/>
                </a:solidFill>
                <a:latin typeface="Arial"/>
                <a:cs typeface="Arial"/>
              </a:rPr>
              <a:t>architecture</a:t>
            </a:r>
            <a:endParaRPr sz="1400">
              <a:latin typeface="Arial"/>
              <a:cs typeface="Arial"/>
            </a:endParaRPr>
          </a:p>
          <a:p>
            <a:pPr marL="264160">
              <a:lnSpc>
                <a:spcPct val="100000"/>
              </a:lnSpc>
              <a:spcBef>
                <a:spcPts val="1345"/>
              </a:spcBef>
            </a:pPr>
            <a:r>
              <a:rPr sz="1200" spc="-10" dirty="0">
                <a:solidFill>
                  <a:srgbClr val="3333B2"/>
                </a:solidFill>
                <a:latin typeface="Arial"/>
                <a:cs typeface="Arial"/>
              </a:rPr>
              <a:t>Different </a:t>
            </a:r>
            <a:r>
              <a:rPr sz="1200" spc="-15" dirty="0">
                <a:solidFill>
                  <a:srgbClr val="3333B2"/>
                </a:solidFill>
                <a:latin typeface="Arial"/>
                <a:cs typeface="Arial"/>
              </a:rPr>
              <a:t>layered</a:t>
            </a:r>
            <a:r>
              <a:rPr sz="1200" spc="-5" dirty="0">
                <a:solidFill>
                  <a:srgbClr val="3333B2"/>
                </a:solidFill>
                <a:latin typeface="Arial"/>
                <a:cs typeface="Arial"/>
              </a:rPr>
              <a:t> organizations</a:t>
            </a:r>
            <a:endParaRPr sz="1200">
              <a:latin typeface="Arial"/>
              <a:cs typeface="Arial"/>
            </a:endParaRPr>
          </a:p>
          <a:p>
            <a:pPr marL="659765">
              <a:lnSpc>
                <a:spcPct val="100000"/>
              </a:lnSpc>
              <a:spcBef>
                <a:spcPts val="970"/>
              </a:spcBef>
            </a:pPr>
            <a:r>
              <a:rPr sz="650" spc="5" dirty="0">
                <a:solidFill>
                  <a:srgbClr val="231F20"/>
                </a:solidFill>
                <a:latin typeface="Arial"/>
                <a:cs typeface="Arial"/>
              </a:rPr>
              <a:t>Request/Response</a:t>
            </a:r>
            <a:endParaRPr sz="650">
              <a:latin typeface="Arial"/>
              <a:cs typeface="Arial"/>
            </a:endParaRPr>
          </a:p>
        </p:txBody>
      </p:sp>
      <p:pic>
        <p:nvPicPr>
          <p:cNvPr id="5" name="object 5"/>
          <p:cNvPicPr/>
          <p:nvPr/>
        </p:nvPicPr>
        <p:blipFill>
          <a:blip r:embed="rId5" cstate="print"/>
          <a:stretch>
            <a:fillRect/>
          </a:stretch>
        </p:blipFill>
        <p:spPr>
          <a:xfrm>
            <a:off x="1110852" y="1474764"/>
            <a:ext cx="63751" cy="180283"/>
          </a:xfrm>
          <a:prstGeom prst="rect">
            <a:avLst/>
          </a:prstGeom>
        </p:spPr>
      </p:pic>
      <p:pic>
        <p:nvPicPr>
          <p:cNvPr id="6" name="object 6"/>
          <p:cNvPicPr/>
          <p:nvPr/>
        </p:nvPicPr>
        <p:blipFill>
          <a:blip r:embed="rId5" cstate="print"/>
          <a:stretch>
            <a:fillRect/>
          </a:stretch>
        </p:blipFill>
        <p:spPr>
          <a:xfrm>
            <a:off x="1110852" y="2341282"/>
            <a:ext cx="63751" cy="180284"/>
          </a:xfrm>
          <a:prstGeom prst="rect">
            <a:avLst/>
          </a:prstGeom>
        </p:spPr>
      </p:pic>
      <p:pic>
        <p:nvPicPr>
          <p:cNvPr id="7" name="object 7"/>
          <p:cNvPicPr/>
          <p:nvPr/>
        </p:nvPicPr>
        <p:blipFill>
          <a:blip r:embed="rId6" cstate="print"/>
          <a:stretch>
            <a:fillRect/>
          </a:stretch>
        </p:blipFill>
        <p:spPr>
          <a:xfrm>
            <a:off x="1110852" y="1803198"/>
            <a:ext cx="63751" cy="389687"/>
          </a:xfrm>
          <a:prstGeom prst="rect">
            <a:avLst/>
          </a:prstGeom>
        </p:spPr>
      </p:pic>
      <p:sp>
        <p:nvSpPr>
          <p:cNvPr id="8" name="object 8"/>
          <p:cNvSpPr txBox="1"/>
          <p:nvPr/>
        </p:nvSpPr>
        <p:spPr>
          <a:xfrm>
            <a:off x="709022" y="1323969"/>
            <a:ext cx="868044" cy="152400"/>
          </a:xfrm>
          <a:prstGeom prst="rect">
            <a:avLst/>
          </a:prstGeom>
          <a:ln w="5270">
            <a:solidFill>
              <a:srgbClr val="231F20"/>
            </a:solidFill>
          </a:ln>
        </p:spPr>
        <p:txBody>
          <a:bodyPr vert="horz" wrap="square" lIns="0" tIns="27305" rIns="0" bIns="0" rtlCol="0">
            <a:spAutoFit/>
          </a:bodyPr>
          <a:lstStyle/>
          <a:p>
            <a:pPr marL="267970">
              <a:lnSpc>
                <a:spcPct val="100000"/>
              </a:lnSpc>
              <a:spcBef>
                <a:spcPts val="215"/>
              </a:spcBef>
            </a:pPr>
            <a:r>
              <a:rPr sz="650" spc="5" dirty="0">
                <a:solidFill>
                  <a:srgbClr val="231F20"/>
                </a:solidFill>
                <a:latin typeface="Arial"/>
                <a:cs typeface="Arial"/>
              </a:rPr>
              <a:t>Layer</a:t>
            </a:r>
            <a:r>
              <a:rPr sz="650" spc="-45" dirty="0">
                <a:solidFill>
                  <a:srgbClr val="231F20"/>
                </a:solidFill>
                <a:latin typeface="Arial"/>
                <a:cs typeface="Arial"/>
              </a:rPr>
              <a:t> </a:t>
            </a:r>
            <a:r>
              <a:rPr sz="650" spc="10" dirty="0">
                <a:solidFill>
                  <a:srgbClr val="231F20"/>
                </a:solidFill>
                <a:latin typeface="Arial"/>
                <a:cs typeface="Arial"/>
              </a:rPr>
              <a:t>N</a:t>
            </a:r>
            <a:endParaRPr sz="650">
              <a:latin typeface="Arial"/>
              <a:cs typeface="Arial"/>
            </a:endParaRPr>
          </a:p>
        </p:txBody>
      </p:sp>
      <p:sp>
        <p:nvSpPr>
          <p:cNvPr id="9" name="object 9"/>
          <p:cNvSpPr txBox="1"/>
          <p:nvPr/>
        </p:nvSpPr>
        <p:spPr>
          <a:xfrm>
            <a:off x="708425" y="1655047"/>
            <a:ext cx="865505" cy="152400"/>
          </a:xfrm>
          <a:prstGeom prst="rect">
            <a:avLst/>
          </a:prstGeom>
          <a:ln w="5270">
            <a:solidFill>
              <a:srgbClr val="231F20"/>
            </a:solidFill>
          </a:ln>
        </p:spPr>
        <p:txBody>
          <a:bodyPr vert="horz" wrap="square" lIns="0" tIns="33655" rIns="0" bIns="0" rtlCol="0">
            <a:spAutoFit/>
          </a:bodyPr>
          <a:lstStyle/>
          <a:p>
            <a:pPr marL="231140">
              <a:lnSpc>
                <a:spcPct val="100000"/>
              </a:lnSpc>
              <a:spcBef>
                <a:spcPts val="265"/>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N-1</a:t>
            </a:r>
            <a:endParaRPr sz="650">
              <a:latin typeface="Arial"/>
              <a:cs typeface="Arial"/>
            </a:endParaRPr>
          </a:p>
        </p:txBody>
      </p:sp>
      <p:sp>
        <p:nvSpPr>
          <p:cNvPr id="10" name="object 10"/>
          <p:cNvSpPr txBox="1"/>
          <p:nvPr/>
        </p:nvSpPr>
        <p:spPr>
          <a:xfrm>
            <a:off x="709022" y="2521566"/>
            <a:ext cx="865505" cy="152400"/>
          </a:xfrm>
          <a:prstGeom prst="rect">
            <a:avLst/>
          </a:prstGeom>
          <a:ln w="5270">
            <a:solidFill>
              <a:srgbClr val="231F20"/>
            </a:solidFill>
          </a:ln>
        </p:spPr>
        <p:txBody>
          <a:bodyPr vert="horz" wrap="square" lIns="0" tIns="22860" rIns="0" bIns="0" rtlCol="0">
            <a:spAutoFit/>
          </a:bodyPr>
          <a:lstStyle/>
          <a:p>
            <a:pPr marL="280670">
              <a:lnSpc>
                <a:spcPct val="100000"/>
              </a:lnSpc>
              <a:spcBef>
                <a:spcPts val="18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1</a:t>
            </a:r>
            <a:endParaRPr sz="650">
              <a:latin typeface="Arial"/>
              <a:cs typeface="Arial"/>
            </a:endParaRPr>
          </a:p>
        </p:txBody>
      </p:sp>
      <p:sp>
        <p:nvSpPr>
          <p:cNvPr id="11" name="object 11"/>
          <p:cNvSpPr txBox="1"/>
          <p:nvPr/>
        </p:nvSpPr>
        <p:spPr>
          <a:xfrm>
            <a:off x="709022" y="2190492"/>
            <a:ext cx="865505" cy="152400"/>
          </a:xfrm>
          <a:prstGeom prst="rect">
            <a:avLst/>
          </a:prstGeom>
          <a:ln w="5270">
            <a:solidFill>
              <a:srgbClr val="231F20"/>
            </a:solidFill>
          </a:ln>
        </p:spPr>
        <p:txBody>
          <a:bodyPr vert="horz" wrap="square" lIns="0" tIns="23495" rIns="0" bIns="0" rtlCol="0">
            <a:spAutoFit/>
          </a:bodyPr>
          <a:lstStyle/>
          <a:p>
            <a:pPr marL="274320">
              <a:lnSpc>
                <a:spcPct val="100000"/>
              </a:lnSpc>
              <a:spcBef>
                <a:spcPts val="185"/>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2</a:t>
            </a:r>
            <a:endParaRPr sz="650">
              <a:latin typeface="Arial"/>
              <a:cs typeface="Arial"/>
            </a:endParaRPr>
          </a:p>
        </p:txBody>
      </p:sp>
      <p:grpSp>
        <p:nvGrpSpPr>
          <p:cNvPr id="12" name="object 12"/>
          <p:cNvGrpSpPr/>
          <p:nvPr/>
        </p:nvGrpSpPr>
        <p:grpSpPr>
          <a:xfrm>
            <a:off x="884810" y="1143533"/>
            <a:ext cx="434340" cy="64135"/>
            <a:chOff x="884810" y="1143533"/>
            <a:chExt cx="434340" cy="64135"/>
          </a:xfrm>
        </p:grpSpPr>
        <p:sp>
          <p:nvSpPr>
            <p:cNvPr id="13" name="object 13"/>
            <p:cNvSpPr/>
            <p:nvPr/>
          </p:nvSpPr>
          <p:spPr>
            <a:xfrm>
              <a:off x="900745" y="1175398"/>
              <a:ext cx="381000" cy="0"/>
            </a:xfrm>
            <a:custGeom>
              <a:avLst/>
              <a:gdLst/>
              <a:ahLst/>
              <a:cxnLst/>
              <a:rect l="l" t="t" r="r" b="b"/>
              <a:pathLst>
                <a:path w="381000">
                  <a:moveTo>
                    <a:pt x="0" y="0"/>
                  </a:moveTo>
                  <a:lnTo>
                    <a:pt x="380941" y="0"/>
                  </a:lnTo>
                </a:path>
              </a:pathLst>
            </a:custGeom>
            <a:ln w="5270">
              <a:solidFill>
                <a:srgbClr val="231F20"/>
              </a:solidFill>
            </a:ln>
          </p:spPr>
          <p:txBody>
            <a:bodyPr wrap="square" lIns="0" tIns="0" rIns="0" bIns="0" rtlCol="0"/>
            <a:lstStyle/>
            <a:p>
              <a:endParaRPr/>
            </a:p>
          </p:txBody>
        </p:sp>
        <p:sp>
          <p:nvSpPr>
            <p:cNvPr id="14" name="object 14"/>
            <p:cNvSpPr/>
            <p:nvPr/>
          </p:nvSpPr>
          <p:spPr>
            <a:xfrm>
              <a:off x="884810" y="1159468"/>
              <a:ext cx="32384" cy="32384"/>
            </a:xfrm>
            <a:custGeom>
              <a:avLst/>
              <a:gdLst/>
              <a:ahLst/>
              <a:cxnLst/>
              <a:rect l="l" t="t" r="r" b="b"/>
              <a:pathLst>
                <a:path w="32384" h="32384">
                  <a:moveTo>
                    <a:pt x="31874" y="0"/>
                  </a:moveTo>
                  <a:lnTo>
                    <a:pt x="0" y="0"/>
                  </a:lnTo>
                  <a:lnTo>
                    <a:pt x="0" y="31878"/>
                  </a:lnTo>
                  <a:lnTo>
                    <a:pt x="31874" y="31878"/>
                  </a:lnTo>
                  <a:lnTo>
                    <a:pt x="31874" y="0"/>
                  </a:lnTo>
                  <a:close/>
                </a:path>
              </a:pathLst>
            </a:custGeom>
            <a:solidFill>
              <a:srgbClr val="231F20"/>
            </a:solidFill>
          </p:spPr>
          <p:txBody>
            <a:bodyPr wrap="square" lIns="0" tIns="0" rIns="0" bIns="0" rtlCol="0"/>
            <a:lstStyle/>
            <a:p>
              <a:endParaRPr/>
            </a:p>
          </p:txBody>
        </p:sp>
        <p:pic>
          <p:nvPicPr>
            <p:cNvPr id="15" name="object 15"/>
            <p:cNvPicPr/>
            <p:nvPr/>
          </p:nvPicPr>
          <p:blipFill>
            <a:blip r:embed="rId7" cstate="print"/>
            <a:stretch>
              <a:fillRect/>
            </a:stretch>
          </p:blipFill>
          <p:spPr>
            <a:xfrm>
              <a:off x="1244690" y="1143533"/>
              <a:ext cx="74375" cy="63751"/>
            </a:xfrm>
            <a:prstGeom prst="rect">
              <a:avLst/>
            </a:prstGeom>
          </p:spPr>
        </p:pic>
      </p:grpSp>
      <p:sp>
        <p:nvSpPr>
          <p:cNvPr id="16" name="object 16"/>
          <p:cNvSpPr txBox="1"/>
          <p:nvPr/>
        </p:nvSpPr>
        <p:spPr>
          <a:xfrm>
            <a:off x="742443" y="975851"/>
            <a:ext cx="3536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downcall</a:t>
            </a:r>
            <a:endParaRPr sz="650">
              <a:latin typeface="Arial"/>
              <a:cs typeface="Arial"/>
            </a:endParaRPr>
          </a:p>
        </p:txBody>
      </p:sp>
      <p:grpSp>
        <p:nvGrpSpPr>
          <p:cNvPr id="17" name="object 17"/>
          <p:cNvGrpSpPr/>
          <p:nvPr/>
        </p:nvGrpSpPr>
        <p:grpSpPr>
          <a:xfrm>
            <a:off x="1944638" y="1464223"/>
            <a:ext cx="542290" cy="868044"/>
            <a:chOff x="1944638" y="1464223"/>
            <a:chExt cx="542290" cy="868044"/>
          </a:xfrm>
        </p:grpSpPr>
        <p:pic>
          <p:nvPicPr>
            <p:cNvPr id="18" name="object 18"/>
            <p:cNvPicPr/>
            <p:nvPr/>
          </p:nvPicPr>
          <p:blipFill>
            <a:blip r:embed="rId8" cstate="print"/>
            <a:stretch>
              <a:fillRect/>
            </a:stretch>
          </p:blipFill>
          <p:spPr>
            <a:xfrm>
              <a:off x="2183688" y="1464223"/>
              <a:ext cx="63753" cy="180280"/>
            </a:xfrm>
            <a:prstGeom prst="rect">
              <a:avLst/>
            </a:prstGeom>
          </p:spPr>
        </p:pic>
        <p:pic>
          <p:nvPicPr>
            <p:cNvPr id="19" name="object 19"/>
            <p:cNvPicPr/>
            <p:nvPr/>
          </p:nvPicPr>
          <p:blipFill>
            <a:blip r:embed="rId9" cstate="print"/>
            <a:stretch>
              <a:fillRect/>
            </a:stretch>
          </p:blipFill>
          <p:spPr>
            <a:xfrm>
              <a:off x="2422730" y="1794510"/>
              <a:ext cx="63751" cy="178673"/>
            </a:xfrm>
            <a:prstGeom prst="rect">
              <a:avLst/>
            </a:prstGeom>
          </p:spPr>
        </p:pic>
        <p:sp>
          <p:nvSpPr>
            <p:cNvPr id="20" name="object 20"/>
            <p:cNvSpPr/>
            <p:nvPr/>
          </p:nvSpPr>
          <p:spPr>
            <a:xfrm>
              <a:off x="1976512" y="1808838"/>
              <a:ext cx="0" cy="485775"/>
            </a:xfrm>
            <a:custGeom>
              <a:avLst/>
              <a:gdLst/>
              <a:ahLst/>
              <a:cxnLst/>
              <a:rect l="l" t="t" r="r" b="b"/>
              <a:pathLst>
                <a:path h="485775">
                  <a:moveTo>
                    <a:pt x="0" y="0"/>
                  </a:moveTo>
                  <a:lnTo>
                    <a:pt x="0" y="485523"/>
                  </a:lnTo>
                </a:path>
              </a:pathLst>
            </a:custGeom>
            <a:ln w="5270">
              <a:solidFill>
                <a:srgbClr val="231F20"/>
              </a:solidFill>
            </a:ln>
          </p:spPr>
          <p:txBody>
            <a:bodyPr wrap="square" lIns="0" tIns="0" rIns="0" bIns="0" rtlCol="0"/>
            <a:lstStyle/>
            <a:p>
              <a:endParaRPr/>
            </a:p>
          </p:txBody>
        </p:sp>
        <p:sp>
          <p:nvSpPr>
            <p:cNvPr id="21" name="object 21"/>
            <p:cNvSpPr/>
            <p:nvPr/>
          </p:nvSpPr>
          <p:spPr>
            <a:xfrm>
              <a:off x="1960577" y="1792899"/>
              <a:ext cx="32384" cy="32384"/>
            </a:xfrm>
            <a:custGeom>
              <a:avLst/>
              <a:gdLst/>
              <a:ahLst/>
              <a:cxnLst/>
              <a:rect l="l" t="t" r="r" b="b"/>
              <a:pathLst>
                <a:path w="32385" h="32385">
                  <a:moveTo>
                    <a:pt x="31874" y="0"/>
                  </a:moveTo>
                  <a:lnTo>
                    <a:pt x="0" y="0"/>
                  </a:lnTo>
                  <a:lnTo>
                    <a:pt x="0" y="31878"/>
                  </a:lnTo>
                  <a:lnTo>
                    <a:pt x="31874" y="31878"/>
                  </a:lnTo>
                  <a:lnTo>
                    <a:pt x="31874" y="0"/>
                  </a:lnTo>
                  <a:close/>
                </a:path>
              </a:pathLst>
            </a:custGeom>
            <a:solidFill>
              <a:srgbClr val="231F20"/>
            </a:solidFill>
          </p:spPr>
          <p:txBody>
            <a:bodyPr wrap="square" lIns="0" tIns="0" rIns="0" bIns="0" rtlCol="0"/>
            <a:lstStyle/>
            <a:p>
              <a:endParaRPr/>
            </a:p>
          </p:txBody>
        </p:sp>
        <p:pic>
          <p:nvPicPr>
            <p:cNvPr id="22" name="object 22"/>
            <p:cNvPicPr/>
            <p:nvPr/>
          </p:nvPicPr>
          <p:blipFill>
            <a:blip r:embed="rId10" cstate="print"/>
            <a:stretch>
              <a:fillRect/>
            </a:stretch>
          </p:blipFill>
          <p:spPr>
            <a:xfrm>
              <a:off x="1944638" y="2257366"/>
              <a:ext cx="63751" cy="74379"/>
            </a:xfrm>
            <a:prstGeom prst="rect">
              <a:avLst/>
            </a:prstGeom>
          </p:spPr>
        </p:pic>
      </p:grpSp>
      <p:pic>
        <p:nvPicPr>
          <p:cNvPr id="23" name="object 23"/>
          <p:cNvPicPr/>
          <p:nvPr/>
        </p:nvPicPr>
        <p:blipFill>
          <a:blip r:embed="rId11" cstate="print"/>
          <a:stretch>
            <a:fillRect/>
          </a:stretch>
        </p:blipFill>
        <p:spPr>
          <a:xfrm>
            <a:off x="2422718" y="2120625"/>
            <a:ext cx="63751" cy="210371"/>
          </a:xfrm>
          <a:prstGeom prst="rect">
            <a:avLst/>
          </a:prstGeom>
        </p:spPr>
      </p:pic>
      <p:pic>
        <p:nvPicPr>
          <p:cNvPr id="24" name="object 24"/>
          <p:cNvPicPr/>
          <p:nvPr/>
        </p:nvPicPr>
        <p:blipFill>
          <a:blip r:embed="rId12" cstate="print"/>
          <a:stretch>
            <a:fillRect/>
          </a:stretch>
        </p:blipFill>
        <p:spPr>
          <a:xfrm>
            <a:off x="2213557" y="2479394"/>
            <a:ext cx="63753" cy="181029"/>
          </a:xfrm>
          <a:prstGeom prst="rect">
            <a:avLst/>
          </a:prstGeom>
        </p:spPr>
      </p:pic>
      <p:sp>
        <p:nvSpPr>
          <p:cNvPr id="25" name="object 25"/>
          <p:cNvSpPr txBox="1"/>
          <p:nvPr/>
        </p:nvSpPr>
        <p:spPr>
          <a:xfrm>
            <a:off x="1794252" y="1315825"/>
            <a:ext cx="869950" cy="152400"/>
          </a:xfrm>
          <a:prstGeom prst="rect">
            <a:avLst/>
          </a:prstGeom>
          <a:ln w="5270">
            <a:solidFill>
              <a:srgbClr val="231F20"/>
            </a:solidFill>
          </a:ln>
        </p:spPr>
        <p:txBody>
          <a:bodyPr vert="horz" wrap="square" lIns="0" tIns="16510" rIns="0" bIns="0" rtlCol="0">
            <a:spAutoFit/>
          </a:bodyPr>
          <a:lstStyle/>
          <a:p>
            <a:pPr marL="264795">
              <a:lnSpc>
                <a:spcPct val="100000"/>
              </a:lnSpc>
              <a:spcBef>
                <a:spcPts val="130"/>
              </a:spcBef>
            </a:pPr>
            <a:r>
              <a:rPr sz="650" spc="5" dirty="0">
                <a:solidFill>
                  <a:srgbClr val="231F20"/>
                </a:solidFill>
                <a:latin typeface="Arial"/>
                <a:cs typeface="Arial"/>
              </a:rPr>
              <a:t>Layer</a:t>
            </a:r>
            <a:r>
              <a:rPr sz="650" spc="-45" dirty="0">
                <a:solidFill>
                  <a:srgbClr val="231F20"/>
                </a:solidFill>
                <a:latin typeface="Arial"/>
                <a:cs typeface="Arial"/>
              </a:rPr>
              <a:t> </a:t>
            </a:r>
            <a:r>
              <a:rPr sz="650" spc="10" dirty="0">
                <a:solidFill>
                  <a:srgbClr val="231F20"/>
                </a:solidFill>
                <a:latin typeface="Arial"/>
                <a:cs typeface="Arial"/>
              </a:rPr>
              <a:t>N</a:t>
            </a:r>
            <a:endParaRPr sz="650">
              <a:latin typeface="Arial"/>
              <a:cs typeface="Arial"/>
            </a:endParaRPr>
          </a:p>
        </p:txBody>
      </p:sp>
      <p:sp>
        <p:nvSpPr>
          <p:cNvPr id="26" name="object 26"/>
          <p:cNvSpPr/>
          <p:nvPr/>
        </p:nvSpPr>
        <p:spPr>
          <a:xfrm>
            <a:off x="1794252" y="1644506"/>
            <a:ext cx="868044" cy="152400"/>
          </a:xfrm>
          <a:custGeom>
            <a:avLst/>
            <a:gdLst/>
            <a:ahLst/>
            <a:cxnLst/>
            <a:rect l="l" t="t" r="r" b="b"/>
            <a:pathLst>
              <a:path w="868044" h="152400">
                <a:moveTo>
                  <a:pt x="0" y="151790"/>
                </a:moveTo>
                <a:lnTo>
                  <a:pt x="868014" y="151790"/>
                </a:lnTo>
                <a:lnTo>
                  <a:pt x="868014" y="0"/>
                </a:lnTo>
                <a:lnTo>
                  <a:pt x="0" y="0"/>
                </a:lnTo>
                <a:lnTo>
                  <a:pt x="0" y="151790"/>
                </a:lnTo>
                <a:close/>
              </a:path>
            </a:pathLst>
          </a:custGeom>
          <a:ln w="5270">
            <a:solidFill>
              <a:srgbClr val="231F20"/>
            </a:solidFill>
          </a:ln>
        </p:spPr>
        <p:txBody>
          <a:bodyPr wrap="square" lIns="0" tIns="0" rIns="0" bIns="0" rtlCol="0"/>
          <a:lstStyle/>
          <a:p>
            <a:endParaRPr/>
          </a:p>
        </p:txBody>
      </p:sp>
      <p:sp>
        <p:nvSpPr>
          <p:cNvPr id="27" name="object 27"/>
          <p:cNvSpPr txBox="1"/>
          <p:nvPr/>
        </p:nvSpPr>
        <p:spPr>
          <a:xfrm>
            <a:off x="1796887" y="1647031"/>
            <a:ext cx="862965" cy="127000"/>
          </a:xfrm>
          <a:prstGeom prst="rect">
            <a:avLst/>
          </a:prstGeom>
        </p:spPr>
        <p:txBody>
          <a:bodyPr vert="horz" wrap="square" lIns="0" tIns="13970" rIns="0" bIns="0" rtlCol="0">
            <a:spAutoFit/>
          </a:bodyPr>
          <a:lstStyle/>
          <a:p>
            <a:pPr marL="230504">
              <a:lnSpc>
                <a:spcPct val="100000"/>
              </a:lnSpc>
              <a:spcBef>
                <a:spcPts val="11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N-1</a:t>
            </a:r>
            <a:endParaRPr sz="650">
              <a:latin typeface="Arial"/>
              <a:cs typeface="Arial"/>
            </a:endParaRPr>
          </a:p>
        </p:txBody>
      </p:sp>
      <p:sp>
        <p:nvSpPr>
          <p:cNvPr id="28" name="object 28"/>
          <p:cNvSpPr txBox="1"/>
          <p:nvPr/>
        </p:nvSpPr>
        <p:spPr>
          <a:xfrm>
            <a:off x="1794252" y="2330996"/>
            <a:ext cx="868044" cy="152400"/>
          </a:xfrm>
          <a:prstGeom prst="rect">
            <a:avLst/>
          </a:prstGeom>
          <a:ln w="5270">
            <a:solidFill>
              <a:srgbClr val="231F20"/>
            </a:solidFill>
          </a:ln>
        </p:spPr>
        <p:txBody>
          <a:bodyPr vert="horz" wrap="square" lIns="0" tIns="16510" rIns="0" bIns="0" rtlCol="0">
            <a:spAutoFit/>
          </a:bodyPr>
          <a:lstStyle/>
          <a:p>
            <a:pPr marL="262890">
              <a:lnSpc>
                <a:spcPct val="100000"/>
              </a:lnSpc>
              <a:spcBef>
                <a:spcPts val="13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N-3</a:t>
            </a:r>
            <a:endParaRPr sz="650">
              <a:latin typeface="Arial"/>
              <a:cs typeface="Arial"/>
            </a:endParaRPr>
          </a:p>
        </p:txBody>
      </p:sp>
      <p:sp>
        <p:nvSpPr>
          <p:cNvPr id="29" name="object 29"/>
          <p:cNvSpPr txBox="1"/>
          <p:nvPr/>
        </p:nvSpPr>
        <p:spPr>
          <a:xfrm>
            <a:off x="2214064" y="1973183"/>
            <a:ext cx="450215" cy="152400"/>
          </a:xfrm>
          <a:prstGeom prst="rect">
            <a:avLst/>
          </a:prstGeom>
          <a:ln w="5270">
            <a:solidFill>
              <a:srgbClr val="231F20"/>
            </a:solidFill>
          </a:ln>
        </p:spPr>
        <p:txBody>
          <a:bodyPr vert="horz" wrap="square" lIns="0" tIns="16510" rIns="0" bIns="0" rtlCol="0">
            <a:spAutoFit/>
          </a:bodyPr>
          <a:lstStyle/>
          <a:p>
            <a:pPr marL="22860">
              <a:lnSpc>
                <a:spcPct val="100000"/>
              </a:lnSpc>
              <a:spcBef>
                <a:spcPts val="13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N-2</a:t>
            </a:r>
            <a:endParaRPr sz="650">
              <a:latin typeface="Arial"/>
              <a:cs typeface="Arial"/>
            </a:endParaRPr>
          </a:p>
        </p:txBody>
      </p:sp>
      <p:grpSp>
        <p:nvGrpSpPr>
          <p:cNvPr id="30" name="object 30"/>
          <p:cNvGrpSpPr/>
          <p:nvPr/>
        </p:nvGrpSpPr>
        <p:grpSpPr>
          <a:xfrm>
            <a:off x="2066160" y="1134541"/>
            <a:ext cx="418465" cy="64135"/>
            <a:chOff x="2066160" y="1134541"/>
            <a:chExt cx="418465" cy="64135"/>
          </a:xfrm>
        </p:grpSpPr>
        <p:sp>
          <p:nvSpPr>
            <p:cNvPr id="31" name="object 31"/>
            <p:cNvSpPr/>
            <p:nvPr/>
          </p:nvSpPr>
          <p:spPr>
            <a:xfrm>
              <a:off x="2066160" y="1166417"/>
              <a:ext cx="381000" cy="0"/>
            </a:xfrm>
            <a:custGeom>
              <a:avLst/>
              <a:gdLst/>
              <a:ahLst/>
              <a:cxnLst/>
              <a:rect l="l" t="t" r="r" b="b"/>
              <a:pathLst>
                <a:path w="381000">
                  <a:moveTo>
                    <a:pt x="0" y="0"/>
                  </a:moveTo>
                  <a:lnTo>
                    <a:pt x="380938" y="0"/>
                  </a:lnTo>
                </a:path>
              </a:pathLst>
            </a:custGeom>
            <a:ln w="5270">
              <a:solidFill>
                <a:srgbClr val="231F20"/>
              </a:solidFill>
            </a:ln>
          </p:spPr>
          <p:txBody>
            <a:bodyPr wrap="square" lIns="0" tIns="0" rIns="0" bIns="0" rtlCol="0"/>
            <a:lstStyle/>
            <a:p>
              <a:endParaRPr/>
            </a:p>
          </p:txBody>
        </p:sp>
        <p:pic>
          <p:nvPicPr>
            <p:cNvPr id="32" name="object 32"/>
            <p:cNvPicPr/>
            <p:nvPr/>
          </p:nvPicPr>
          <p:blipFill>
            <a:blip r:embed="rId13" cstate="print"/>
            <a:stretch>
              <a:fillRect/>
            </a:stretch>
          </p:blipFill>
          <p:spPr>
            <a:xfrm>
              <a:off x="2410101" y="1134541"/>
              <a:ext cx="74376" cy="63751"/>
            </a:xfrm>
            <a:prstGeom prst="rect">
              <a:avLst/>
            </a:prstGeom>
          </p:spPr>
        </p:pic>
      </p:grpSp>
      <p:sp>
        <p:nvSpPr>
          <p:cNvPr id="33" name="object 33"/>
          <p:cNvSpPr txBox="1"/>
          <p:nvPr/>
        </p:nvSpPr>
        <p:spPr>
          <a:xfrm>
            <a:off x="1960008" y="959227"/>
            <a:ext cx="5130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One-way call</a:t>
            </a:r>
            <a:endParaRPr sz="650">
              <a:latin typeface="Arial"/>
              <a:cs typeface="Arial"/>
            </a:endParaRPr>
          </a:p>
        </p:txBody>
      </p:sp>
      <p:pic>
        <p:nvPicPr>
          <p:cNvPr id="34" name="object 34"/>
          <p:cNvPicPr/>
          <p:nvPr/>
        </p:nvPicPr>
        <p:blipFill>
          <a:blip r:embed="rId8" cstate="print"/>
          <a:stretch>
            <a:fillRect/>
          </a:stretch>
        </p:blipFill>
        <p:spPr>
          <a:xfrm>
            <a:off x="3276087" y="1464223"/>
            <a:ext cx="63753" cy="180280"/>
          </a:xfrm>
          <a:prstGeom prst="rect">
            <a:avLst/>
          </a:prstGeom>
        </p:spPr>
      </p:pic>
      <p:pic>
        <p:nvPicPr>
          <p:cNvPr id="35" name="object 35"/>
          <p:cNvPicPr/>
          <p:nvPr/>
        </p:nvPicPr>
        <p:blipFill>
          <a:blip r:embed="rId14" cstate="print"/>
          <a:stretch>
            <a:fillRect/>
          </a:stretch>
        </p:blipFill>
        <p:spPr>
          <a:xfrm>
            <a:off x="2977275" y="1792899"/>
            <a:ext cx="63751" cy="240046"/>
          </a:xfrm>
          <a:prstGeom prst="rect">
            <a:avLst/>
          </a:prstGeom>
        </p:spPr>
      </p:pic>
      <p:pic>
        <p:nvPicPr>
          <p:cNvPr id="36" name="object 36"/>
          <p:cNvPicPr/>
          <p:nvPr/>
        </p:nvPicPr>
        <p:blipFill>
          <a:blip r:embed="rId15" cstate="print"/>
          <a:stretch>
            <a:fillRect/>
          </a:stretch>
        </p:blipFill>
        <p:spPr>
          <a:xfrm>
            <a:off x="3305955" y="2181339"/>
            <a:ext cx="63748" cy="269923"/>
          </a:xfrm>
          <a:prstGeom prst="rect">
            <a:avLst/>
          </a:prstGeom>
        </p:spPr>
      </p:pic>
      <p:grpSp>
        <p:nvGrpSpPr>
          <p:cNvPr id="37" name="object 37"/>
          <p:cNvGrpSpPr/>
          <p:nvPr/>
        </p:nvGrpSpPr>
        <p:grpSpPr>
          <a:xfrm>
            <a:off x="3629919" y="1795444"/>
            <a:ext cx="64135" cy="239395"/>
            <a:chOff x="3629919" y="1795444"/>
            <a:chExt cx="64135" cy="239395"/>
          </a:xfrm>
        </p:grpSpPr>
        <p:sp>
          <p:nvSpPr>
            <p:cNvPr id="38" name="object 38"/>
            <p:cNvSpPr/>
            <p:nvPr/>
          </p:nvSpPr>
          <p:spPr>
            <a:xfrm>
              <a:off x="3661797" y="1832828"/>
              <a:ext cx="0" cy="201930"/>
            </a:xfrm>
            <a:custGeom>
              <a:avLst/>
              <a:gdLst/>
              <a:ahLst/>
              <a:cxnLst/>
              <a:rect l="l" t="t" r="r" b="b"/>
              <a:pathLst>
                <a:path h="201930">
                  <a:moveTo>
                    <a:pt x="0" y="201657"/>
                  </a:moveTo>
                  <a:lnTo>
                    <a:pt x="0" y="0"/>
                  </a:lnTo>
                </a:path>
              </a:pathLst>
            </a:custGeom>
            <a:ln w="5270">
              <a:solidFill>
                <a:srgbClr val="231F20"/>
              </a:solidFill>
            </a:ln>
          </p:spPr>
          <p:txBody>
            <a:bodyPr wrap="square" lIns="0" tIns="0" rIns="0" bIns="0" rtlCol="0"/>
            <a:lstStyle/>
            <a:p>
              <a:endParaRPr/>
            </a:p>
          </p:txBody>
        </p:sp>
        <p:sp>
          <p:nvSpPr>
            <p:cNvPr id="39" name="object 39"/>
            <p:cNvSpPr/>
            <p:nvPr/>
          </p:nvSpPr>
          <p:spPr>
            <a:xfrm>
              <a:off x="3629919" y="1795444"/>
              <a:ext cx="64135" cy="74930"/>
            </a:xfrm>
            <a:custGeom>
              <a:avLst/>
              <a:gdLst/>
              <a:ahLst/>
              <a:cxnLst/>
              <a:rect l="l" t="t" r="r" b="b"/>
              <a:pathLst>
                <a:path w="64135" h="74930">
                  <a:moveTo>
                    <a:pt x="31878" y="0"/>
                  </a:moveTo>
                  <a:lnTo>
                    <a:pt x="0" y="74379"/>
                  </a:lnTo>
                  <a:lnTo>
                    <a:pt x="15938" y="68401"/>
                  </a:lnTo>
                  <a:lnTo>
                    <a:pt x="31876" y="66408"/>
                  </a:lnTo>
                  <a:lnTo>
                    <a:pt x="47814" y="68401"/>
                  </a:lnTo>
                  <a:lnTo>
                    <a:pt x="63753" y="74379"/>
                  </a:lnTo>
                  <a:lnTo>
                    <a:pt x="31878" y="0"/>
                  </a:lnTo>
                  <a:close/>
                </a:path>
              </a:pathLst>
            </a:custGeom>
            <a:solidFill>
              <a:srgbClr val="231F20"/>
            </a:solidFill>
          </p:spPr>
          <p:txBody>
            <a:bodyPr wrap="square" lIns="0" tIns="0" rIns="0" bIns="0" rtlCol="0"/>
            <a:lstStyle/>
            <a:p>
              <a:endParaRPr/>
            </a:p>
          </p:txBody>
        </p:sp>
      </p:grpSp>
      <p:sp>
        <p:nvSpPr>
          <p:cNvPr id="40" name="object 40"/>
          <p:cNvSpPr txBox="1"/>
          <p:nvPr/>
        </p:nvSpPr>
        <p:spPr>
          <a:xfrm>
            <a:off x="3681596" y="1884311"/>
            <a:ext cx="2597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Upcall</a:t>
            </a:r>
            <a:endParaRPr sz="650">
              <a:latin typeface="Arial"/>
              <a:cs typeface="Arial"/>
            </a:endParaRPr>
          </a:p>
        </p:txBody>
      </p:sp>
      <p:grpSp>
        <p:nvGrpSpPr>
          <p:cNvPr id="41" name="object 41"/>
          <p:cNvGrpSpPr/>
          <p:nvPr/>
        </p:nvGrpSpPr>
        <p:grpSpPr>
          <a:xfrm>
            <a:off x="3510394" y="1795444"/>
            <a:ext cx="64135" cy="239395"/>
            <a:chOff x="3510394" y="1795444"/>
            <a:chExt cx="64135" cy="239395"/>
          </a:xfrm>
        </p:grpSpPr>
        <p:sp>
          <p:nvSpPr>
            <p:cNvPr id="42" name="object 42"/>
            <p:cNvSpPr/>
            <p:nvPr/>
          </p:nvSpPr>
          <p:spPr>
            <a:xfrm>
              <a:off x="3542268" y="1795444"/>
              <a:ext cx="0" cy="201930"/>
            </a:xfrm>
            <a:custGeom>
              <a:avLst/>
              <a:gdLst/>
              <a:ahLst/>
              <a:cxnLst/>
              <a:rect l="l" t="t" r="r" b="b"/>
              <a:pathLst>
                <a:path h="201930">
                  <a:moveTo>
                    <a:pt x="0" y="0"/>
                  </a:moveTo>
                  <a:lnTo>
                    <a:pt x="0" y="201661"/>
                  </a:lnTo>
                </a:path>
              </a:pathLst>
            </a:custGeom>
            <a:ln w="5270">
              <a:solidFill>
                <a:srgbClr val="231F20"/>
              </a:solidFill>
            </a:ln>
          </p:spPr>
          <p:txBody>
            <a:bodyPr wrap="square" lIns="0" tIns="0" rIns="0" bIns="0" rtlCol="0"/>
            <a:lstStyle/>
            <a:p>
              <a:endParaRPr/>
            </a:p>
          </p:txBody>
        </p:sp>
        <p:sp>
          <p:nvSpPr>
            <p:cNvPr id="43" name="object 43"/>
            <p:cNvSpPr/>
            <p:nvPr/>
          </p:nvSpPr>
          <p:spPr>
            <a:xfrm>
              <a:off x="3510394" y="1960110"/>
              <a:ext cx="64135" cy="74930"/>
            </a:xfrm>
            <a:custGeom>
              <a:avLst/>
              <a:gdLst/>
              <a:ahLst/>
              <a:cxnLst/>
              <a:rect l="l" t="t" r="r" b="b"/>
              <a:pathLst>
                <a:path w="64135" h="74930">
                  <a:moveTo>
                    <a:pt x="63751" y="0"/>
                  </a:moveTo>
                  <a:lnTo>
                    <a:pt x="47813" y="5975"/>
                  </a:lnTo>
                  <a:lnTo>
                    <a:pt x="31875" y="7967"/>
                  </a:lnTo>
                  <a:lnTo>
                    <a:pt x="15937" y="5975"/>
                  </a:lnTo>
                  <a:lnTo>
                    <a:pt x="0" y="0"/>
                  </a:lnTo>
                  <a:lnTo>
                    <a:pt x="31873" y="74375"/>
                  </a:lnTo>
                  <a:lnTo>
                    <a:pt x="63751" y="0"/>
                  </a:lnTo>
                  <a:close/>
                </a:path>
              </a:pathLst>
            </a:custGeom>
            <a:solidFill>
              <a:srgbClr val="231F20"/>
            </a:solidFill>
          </p:spPr>
          <p:txBody>
            <a:bodyPr wrap="square" lIns="0" tIns="0" rIns="0" bIns="0" rtlCol="0"/>
            <a:lstStyle/>
            <a:p>
              <a:endParaRPr/>
            </a:p>
          </p:txBody>
        </p:sp>
      </p:grpSp>
      <p:sp>
        <p:nvSpPr>
          <p:cNvPr id="44" name="object 44"/>
          <p:cNvSpPr txBox="1"/>
          <p:nvPr/>
        </p:nvSpPr>
        <p:spPr>
          <a:xfrm>
            <a:off x="3205618" y="1824552"/>
            <a:ext cx="2927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Handle</a:t>
            </a:r>
            <a:endParaRPr sz="650">
              <a:latin typeface="Arial"/>
              <a:cs typeface="Arial"/>
            </a:endParaRPr>
          </a:p>
        </p:txBody>
      </p:sp>
      <p:sp>
        <p:nvSpPr>
          <p:cNvPr id="51" name="object 51"/>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3</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45" name="object 45"/>
          <p:cNvSpPr txBox="1"/>
          <p:nvPr/>
        </p:nvSpPr>
        <p:spPr>
          <a:xfrm>
            <a:off x="2886646" y="1315825"/>
            <a:ext cx="869950" cy="152400"/>
          </a:xfrm>
          <a:prstGeom prst="rect">
            <a:avLst/>
          </a:prstGeom>
          <a:ln w="5270">
            <a:solidFill>
              <a:srgbClr val="231F20"/>
            </a:solidFill>
          </a:ln>
        </p:spPr>
        <p:txBody>
          <a:bodyPr vert="horz" wrap="square" lIns="0" tIns="16510" rIns="0" bIns="0" rtlCol="0">
            <a:spAutoFit/>
          </a:bodyPr>
          <a:lstStyle/>
          <a:p>
            <a:pPr marL="264795">
              <a:lnSpc>
                <a:spcPct val="100000"/>
              </a:lnSpc>
              <a:spcBef>
                <a:spcPts val="130"/>
              </a:spcBef>
            </a:pPr>
            <a:r>
              <a:rPr sz="650" spc="5" dirty="0">
                <a:solidFill>
                  <a:srgbClr val="231F20"/>
                </a:solidFill>
                <a:latin typeface="Arial"/>
                <a:cs typeface="Arial"/>
              </a:rPr>
              <a:t>Layer</a:t>
            </a:r>
            <a:r>
              <a:rPr sz="650" spc="-45" dirty="0">
                <a:solidFill>
                  <a:srgbClr val="231F20"/>
                </a:solidFill>
                <a:latin typeface="Arial"/>
                <a:cs typeface="Arial"/>
              </a:rPr>
              <a:t> </a:t>
            </a:r>
            <a:r>
              <a:rPr sz="650" spc="10" dirty="0">
                <a:solidFill>
                  <a:srgbClr val="231F20"/>
                </a:solidFill>
                <a:latin typeface="Arial"/>
                <a:cs typeface="Arial"/>
              </a:rPr>
              <a:t>N</a:t>
            </a:r>
            <a:endParaRPr sz="650">
              <a:latin typeface="Arial"/>
              <a:cs typeface="Arial"/>
            </a:endParaRPr>
          </a:p>
        </p:txBody>
      </p:sp>
      <p:sp>
        <p:nvSpPr>
          <p:cNvPr id="46" name="object 46"/>
          <p:cNvSpPr txBox="1"/>
          <p:nvPr/>
        </p:nvSpPr>
        <p:spPr>
          <a:xfrm>
            <a:off x="2886646" y="1644506"/>
            <a:ext cx="868044" cy="152400"/>
          </a:xfrm>
          <a:prstGeom prst="rect">
            <a:avLst/>
          </a:prstGeom>
          <a:ln w="5270">
            <a:solidFill>
              <a:srgbClr val="231F20"/>
            </a:solidFill>
          </a:ln>
        </p:spPr>
        <p:txBody>
          <a:bodyPr vert="horz" wrap="square" lIns="0" tIns="16510" rIns="0" bIns="0" rtlCol="0">
            <a:spAutoFit/>
          </a:bodyPr>
          <a:lstStyle/>
          <a:p>
            <a:pPr marL="233045">
              <a:lnSpc>
                <a:spcPct val="100000"/>
              </a:lnSpc>
              <a:spcBef>
                <a:spcPts val="13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N-1</a:t>
            </a:r>
            <a:endParaRPr sz="650">
              <a:latin typeface="Arial"/>
              <a:cs typeface="Arial"/>
            </a:endParaRPr>
          </a:p>
        </p:txBody>
      </p:sp>
      <p:sp>
        <p:nvSpPr>
          <p:cNvPr id="47" name="object 47"/>
          <p:cNvSpPr txBox="1"/>
          <p:nvPr/>
        </p:nvSpPr>
        <p:spPr>
          <a:xfrm>
            <a:off x="2888141" y="2032945"/>
            <a:ext cx="868044" cy="152400"/>
          </a:xfrm>
          <a:prstGeom prst="rect">
            <a:avLst/>
          </a:prstGeom>
          <a:ln w="5270">
            <a:solidFill>
              <a:srgbClr val="231F20"/>
            </a:solidFill>
          </a:ln>
        </p:spPr>
        <p:txBody>
          <a:bodyPr vert="horz" wrap="square" lIns="0" tIns="16510" rIns="0" bIns="0" rtlCol="0">
            <a:spAutoFit/>
          </a:bodyPr>
          <a:lstStyle/>
          <a:p>
            <a:pPr marL="262890">
              <a:lnSpc>
                <a:spcPct val="100000"/>
              </a:lnSpc>
              <a:spcBef>
                <a:spcPts val="130"/>
              </a:spcBef>
            </a:pPr>
            <a:r>
              <a:rPr sz="650" spc="5" dirty="0">
                <a:solidFill>
                  <a:srgbClr val="231F20"/>
                </a:solidFill>
                <a:latin typeface="Arial"/>
                <a:cs typeface="Arial"/>
              </a:rPr>
              <a:t>Layer</a:t>
            </a:r>
            <a:r>
              <a:rPr sz="650" spc="-40" dirty="0">
                <a:solidFill>
                  <a:srgbClr val="231F20"/>
                </a:solidFill>
                <a:latin typeface="Arial"/>
                <a:cs typeface="Arial"/>
              </a:rPr>
              <a:t> </a:t>
            </a:r>
            <a:r>
              <a:rPr sz="650" spc="5" dirty="0">
                <a:solidFill>
                  <a:srgbClr val="231F20"/>
                </a:solidFill>
                <a:latin typeface="Arial"/>
                <a:cs typeface="Arial"/>
              </a:rPr>
              <a:t>N-2</a:t>
            </a:r>
            <a:endParaRPr sz="650">
              <a:latin typeface="Arial"/>
              <a:cs typeface="Arial"/>
            </a:endParaRPr>
          </a:p>
        </p:txBody>
      </p:sp>
      <p:sp>
        <p:nvSpPr>
          <p:cNvPr id="48" name="object 48"/>
          <p:cNvSpPr txBox="1"/>
          <p:nvPr/>
        </p:nvSpPr>
        <p:spPr>
          <a:xfrm>
            <a:off x="1050226" y="2744894"/>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sp>
        <p:nvSpPr>
          <p:cNvPr id="49" name="object 49"/>
          <p:cNvSpPr txBox="1"/>
          <p:nvPr/>
        </p:nvSpPr>
        <p:spPr>
          <a:xfrm>
            <a:off x="2140239" y="2744894"/>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
        <p:nvSpPr>
          <p:cNvPr id="50" name="object 50"/>
          <p:cNvSpPr txBox="1"/>
          <p:nvPr/>
        </p:nvSpPr>
        <p:spPr>
          <a:xfrm>
            <a:off x="3307559" y="2744894"/>
            <a:ext cx="17335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a:t>
            </a:r>
            <a:endParaRPr sz="10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Layered</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4" name="object 4"/>
          <p:cNvSpPr txBox="1"/>
          <p:nvPr/>
        </p:nvSpPr>
        <p:spPr>
          <a:xfrm>
            <a:off x="95300" y="188846"/>
            <a:ext cx="286067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75" dirty="0">
                <a:solidFill>
                  <a:srgbClr val="3333B2"/>
                </a:solidFill>
                <a:latin typeface="Arial"/>
                <a:cs typeface="Arial"/>
              </a:rPr>
              <a:t> </a:t>
            </a:r>
            <a:r>
              <a:rPr sz="1400" spc="15" dirty="0">
                <a:solidFill>
                  <a:srgbClr val="3333B2"/>
                </a:solidFill>
                <a:latin typeface="Arial"/>
                <a:cs typeface="Arial"/>
              </a:rPr>
              <a:t>communication</a:t>
            </a:r>
            <a:r>
              <a:rPr sz="1400" spc="-15" dirty="0">
                <a:solidFill>
                  <a:srgbClr val="3333B2"/>
                </a:solidFill>
                <a:latin typeface="Arial"/>
                <a:cs typeface="Arial"/>
              </a:rPr>
              <a:t> </a:t>
            </a:r>
            <a:r>
              <a:rPr sz="1400" spc="15" dirty="0">
                <a:solidFill>
                  <a:srgbClr val="3333B2"/>
                </a:solidFill>
                <a:latin typeface="Arial"/>
                <a:cs typeface="Arial"/>
              </a:rPr>
              <a:t>protocols</a:t>
            </a:r>
            <a:endParaRPr sz="1400">
              <a:latin typeface="Arial"/>
              <a:cs typeface="Arial"/>
            </a:endParaRPr>
          </a:p>
        </p:txBody>
      </p:sp>
      <p:sp>
        <p:nvSpPr>
          <p:cNvPr id="5" name="object 5"/>
          <p:cNvSpPr txBox="1"/>
          <p:nvPr/>
        </p:nvSpPr>
        <p:spPr>
          <a:xfrm>
            <a:off x="347294" y="757895"/>
            <a:ext cx="1812289" cy="407670"/>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Protocol,</a:t>
            </a:r>
            <a:r>
              <a:rPr sz="1200" spc="-10" dirty="0">
                <a:solidFill>
                  <a:srgbClr val="3333B2"/>
                </a:solidFill>
                <a:latin typeface="Arial"/>
                <a:cs typeface="Arial"/>
              </a:rPr>
              <a:t> </a:t>
            </a:r>
            <a:r>
              <a:rPr sz="1200" spc="-5" dirty="0">
                <a:solidFill>
                  <a:srgbClr val="3333B2"/>
                </a:solidFill>
                <a:latin typeface="Arial"/>
                <a:cs typeface="Arial"/>
              </a:rPr>
              <a:t>service, </a:t>
            </a:r>
            <a:r>
              <a:rPr sz="1200" spc="-10" dirty="0">
                <a:solidFill>
                  <a:srgbClr val="3333B2"/>
                </a:solidFill>
                <a:latin typeface="Arial"/>
                <a:cs typeface="Arial"/>
              </a:rPr>
              <a:t>interface</a:t>
            </a:r>
            <a:endParaRPr sz="1200">
              <a:latin typeface="Arial"/>
              <a:cs typeface="Arial"/>
            </a:endParaRPr>
          </a:p>
          <a:p>
            <a:pPr marL="111760" algn="ctr">
              <a:lnSpc>
                <a:spcPct val="100000"/>
              </a:lnSpc>
              <a:spcBef>
                <a:spcPts val="785"/>
              </a:spcBef>
            </a:pPr>
            <a:r>
              <a:rPr sz="650" spc="5" dirty="0">
                <a:solidFill>
                  <a:srgbClr val="231F20"/>
                </a:solidFill>
                <a:latin typeface="Arial"/>
                <a:cs typeface="Arial"/>
              </a:rPr>
              <a:t>Party</a:t>
            </a:r>
            <a:r>
              <a:rPr sz="650" spc="-35"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grpSp>
        <p:nvGrpSpPr>
          <p:cNvPr id="6" name="object 6"/>
          <p:cNvGrpSpPr/>
          <p:nvPr/>
        </p:nvGrpSpPr>
        <p:grpSpPr>
          <a:xfrm>
            <a:off x="760698" y="1347393"/>
            <a:ext cx="3083560" cy="1195705"/>
            <a:chOff x="760698" y="1347393"/>
            <a:chExt cx="3083560" cy="1195705"/>
          </a:xfrm>
        </p:grpSpPr>
        <p:sp>
          <p:nvSpPr>
            <p:cNvPr id="7" name="object 7"/>
            <p:cNvSpPr/>
            <p:nvPr/>
          </p:nvSpPr>
          <p:spPr>
            <a:xfrm>
              <a:off x="763556" y="1380125"/>
              <a:ext cx="3077845" cy="866775"/>
            </a:xfrm>
            <a:custGeom>
              <a:avLst/>
              <a:gdLst/>
              <a:ahLst/>
              <a:cxnLst/>
              <a:rect l="l" t="t" r="r" b="b"/>
              <a:pathLst>
                <a:path w="3077845" h="866775">
                  <a:moveTo>
                    <a:pt x="85493" y="866520"/>
                  </a:moveTo>
                  <a:lnTo>
                    <a:pt x="2992145" y="866520"/>
                  </a:lnTo>
                  <a:lnTo>
                    <a:pt x="3025342" y="859448"/>
                  </a:lnTo>
                  <a:lnTo>
                    <a:pt x="3052528" y="840190"/>
                  </a:lnTo>
                  <a:lnTo>
                    <a:pt x="3070897" y="811687"/>
                  </a:lnTo>
                  <a:lnTo>
                    <a:pt x="3077643" y="776881"/>
                  </a:lnTo>
                  <a:lnTo>
                    <a:pt x="3077643" y="687241"/>
                  </a:lnTo>
                  <a:lnTo>
                    <a:pt x="3070897" y="652437"/>
                  </a:lnTo>
                  <a:lnTo>
                    <a:pt x="3052528" y="623934"/>
                  </a:lnTo>
                  <a:lnTo>
                    <a:pt x="3025342" y="604675"/>
                  </a:lnTo>
                  <a:lnTo>
                    <a:pt x="2992145" y="597601"/>
                  </a:lnTo>
                  <a:lnTo>
                    <a:pt x="85493" y="597601"/>
                  </a:lnTo>
                  <a:lnTo>
                    <a:pt x="52297" y="604675"/>
                  </a:lnTo>
                  <a:lnTo>
                    <a:pt x="25113" y="623934"/>
                  </a:lnTo>
                  <a:lnTo>
                    <a:pt x="6745" y="652437"/>
                  </a:lnTo>
                  <a:lnTo>
                    <a:pt x="0" y="687241"/>
                  </a:lnTo>
                  <a:lnTo>
                    <a:pt x="0" y="776881"/>
                  </a:lnTo>
                  <a:lnTo>
                    <a:pt x="6745" y="811687"/>
                  </a:lnTo>
                  <a:lnTo>
                    <a:pt x="25113" y="840190"/>
                  </a:lnTo>
                  <a:lnTo>
                    <a:pt x="52297" y="859448"/>
                  </a:lnTo>
                  <a:lnTo>
                    <a:pt x="85493" y="866520"/>
                  </a:lnTo>
                  <a:close/>
                </a:path>
                <a:path w="3077845" h="866775">
                  <a:moveTo>
                    <a:pt x="85493" y="268924"/>
                  </a:moveTo>
                  <a:lnTo>
                    <a:pt x="2992145" y="268924"/>
                  </a:lnTo>
                  <a:lnTo>
                    <a:pt x="3025342" y="261850"/>
                  </a:lnTo>
                  <a:lnTo>
                    <a:pt x="3052528" y="242590"/>
                  </a:lnTo>
                  <a:lnTo>
                    <a:pt x="3070897" y="214086"/>
                  </a:lnTo>
                  <a:lnTo>
                    <a:pt x="3077643" y="179281"/>
                  </a:lnTo>
                  <a:lnTo>
                    <a:pt x="3077643" y="89640"/>
                  </a:lnTo>
                  <a:lnTo>
                    <a:pt x="3070897" y="54835"/>
                  </a:lnTo>
                  <a:lnTo>
                    <a:pt x="3052528" y="26332"/>
                  </a:lnTo>
                  <a:lnTo>
                    <a:pt x="3025342" y="7073"/>
                  </a:lnTo>
                  <a:lnTo>
                    <a:pt x="2992145" y="0"/>
                  </a:lnTo>
                  <a:lnTo>
                    <a:pt x="85493" y="0"/>
                  </a:lnTo>
                  <a:lnTo>
                    <a:pt x="52297" y="7073"/>
                  </a:lnTo>
                  <a:lnTo>
                    <a:pt x="25113" y="26332"/>
                  </a:lnTo>
                  <a:lnTo>
                    <a:pt x="6745" y="54835"/>
                  </a:lnTo>
                  <a:lnTo>
                    <a:pt x="0" y="89640"/>
                  </a:lnTo>
                  <a:lnTo>
                    <a:pt x="0" y="179281"/>
                  </a:lnTo>
                  <a:lnTo>
                    <a:pt x="6745" y="214086"/>
                  </a:lnTo>
                  <a:lnTo>
                    <a:pt x="25113" y="242590"/>
                  </a:lnTo>
                  <a:lnTo>
                    <a:pt x="52297" y="261850"/>
                  </a:lnTo>
                  <a:lnTo>
                    <a:pt x="85493" y="268924"/>
                  </a:lnTo>
                  <a:close/>
                </a:path>
              </a:pathLst>
            </a:custGeom>
            <a:ln w="5270">
              <a:solidFill>
                <a:srgbClr val="231F20"/>
              </a:solidFill>
            </a:ln>
          </p:spPr>
          <p:txBody>
            <a:bodyPr wrap="square" lIns="0" tIns="0" rIns="0" bIns="0" rtlCol="0"/>
            <a:lstStyle/>
            <a:p>
              <a:endParaRPr/>
            </a:p>
          </p:txBody>
        </p:sp>
        <p:sp>
          <p:nvSpPr>
            <p:cNvPr id="8" name="object 8"/>
            <p:cNvSpPr/>
            <p:nvPr/>
          </p:nvSpPr>
          <p:spPr>
            <a:xfrm>
              <a:off x="913549" y="1407617"/>
              <a:ext cx="868044" cy="152400"/>
            </a:xfrm>
            <a:custGeom>
              <a:avLst/>
              <a:gdLst/>
              <a:ahLst/>
              <a:cxnLst/>
              <a:rect l="l" t="t" r="r" b="b"/>
              <a:pathLst>
                <a:path w="868044" h="152400">
                  <a:moveTo>
                    <a:pt x="867422" y="0"/>
                  </a:moveTo>
                  <a:lnTo>
                    <a:pt x="0" y="0"/>
                  </a:lnTo>
                  <a:lnTo>
                    <a:pt x="0" y="2400"/>
                  </a:lnTo>
                  <a:lnTo>
                    <a:pt x="0" y="151790"/>
                  </a:lnTo>
                  <a:lnTo>
                    <a:pt x="867422" y="151790"/>
                  </a:lnTo>
                  <a:lnTo>
                    <a:pt x="867422" y="2400"/>
                  </a:lnTo>
                  <a:lnTo>
                    <a:pt x="867422" y="0"/>
                  </a:lnTo>
                  <a:close/>
                </a:path>
              </a:pathLst>
            </a:custGeom>
            <a:solidFill>
              <a:srgbClr val="FFFFFF"/>
            </a:solidFill>
          </p:spPr>
          <p:txBody>
            <a:bodyPr wrap="square" lIns="0" tIns="0" rIns="0" bIns="0" rtlCol="0"/>
            <a:lstStyle/>
            <a:p>
              <a:endParaRPr/>
            </a:p>
          </p:txBody>
        </p:sp>
        <p:sp>
          <p:nvSpPr>
            <p:cNvPr id="9" name="object 9"/>
            <p:cNvSpPr/>
            <p:nvPr/>
          </p:nvSpPr>
          <p:spPr>
            <a:xfrm>
              <a:off x="913555" y="1407612"/>
              <a:ext cx="868044" cy="152400"/>
            </a:xfrm>
            <a:custGeom>
              <a:avLst/>
              <a:gdLst/>
              <a:ahLst/>
              <a:cxnLst/>
              <a:rect l="l" t="t" r="r" b="b"/>
              <a:pathLst>
                <a:path w="868044" h="152400">
                  <a:moveTo>
                    <a:pt x="0" y="151794"/>
                  </a:moveTo>
                  <a:lnTo>
                    <a:pt x="867416" y="151794"/>
                  </a:lnTo>
                  <a:lnTo>
                    <a:pt x="867416" y="0"/>
                  </a:lnTo>
                  <a:lnTo>
                    <a:pt x="0" y="0"/>
                  </a:lnTo>
                  <a:lnTo>
                    <a:pt x="0" y="151794"/>
                  </a:lnTo>
                  <a:close/>
                </a:path>
              </a:pathLst>
            </a:custGeom>
            <a:ln w="5270">
              <a:solidFill>
                <a:srgbClr val="231F20"/>
              </a:solidFill>
            </a:ln>
          </p:spPr>
          <p:txBody>
            <a:bodyPr wrap="square" lIns="0" tIns="0" rIns="0" bIns="0" rtlCol="0"/>
            <a:lstStyle/>
            <a:p>
              <a:endParaRPr/>
            </a:p>
          </p:txBody>
        </p:sp>
        <p:sp>
          <p:nvSpPr>
            <p:cNvPr id="10" name="object 10"/>
            <p:cNvSpPr/>
            <p:nvPr/>
          </p:nvSpPr>
          <p:spPr>
            <a:xfrm>
              <a:off x="2824378" y="1407617"/>
              <a:ext cx="867410" cy="152400"/>
            </a:xfrm>
            <a:custGeom>
              <a:avLst/>
              <a:gdLst/>
              <a:ahLst/>
              <a:cxnLst/>
              <a:rect l="l" t="t" r="r" b="b"/>
              <a:pathLst>
                <a:path w="867410" h="152400">
                  <a:moveTo>
                    <a:pt x="867410" y="0"/>
                  </a:moveTo>
                  <a:lnTo>
                    <a:pt x="0" y="0"/>
                  </a:lnTo>
                  <a:lnTo>
                    <a:pt x="0" y="2400"/>
                  </a:lnTo>
                  <a:lnTo>
                    <a:pt x="0" y="151790"/>
                  </a:lnTo>
                  <a:lnTo>
                    <a:pt x="867410" y="151790"/>
                  </a:lnTo>
                  <a:lnTo>
                    <a:pt x="867410" y="2400"/>
                  </a:lnTo>
                  <a:lnTo>
                    <a:pt x="867410" y="0"/>
                  </a:lnTo>
                  <a:close/>
                </a:path>
              </a:pathLst>
            </a:custGeom>
            <a:solidFill>
              <a:srgbClr val="FFFFFF"/>
            </a:solidFill>
          </p:spPr>
          <p:txBody>
            <a:bodyPr wrap="square" lIns="0" tIns="0" rIns="0" bIns="0" rtlCol="0"/>
            <a:lstStyle/>
            <a:p>
              <a:endParaRPr/>
            </a:p>
          </p:txBody>
        </p:sp>
        <p:sp>
          <p:nvSpPr>
            <p:cNvPr id="11" name="object 11"/>
            <p:cNvSpPr/>
            <p:nvPr/>
          </p:nvSpPr>
          <p:spPr>
            <a:xfrm>
              <a:off x="2824383" y="1407612"/>
              <a:ext cx="868044" cy="152400"/>
            </a:xfrm>
            <a:custGeom>
              <a:avLst/>
              <a:gdLst/>
              <a:ahLst/>
              <a:cxnLst/>
              <a:rect l="l" t="t" r="r" b="b"/>
              <a:pathLst>
                <a:path w="868045" h="152400">
                  <a:moveTo>
                    <a:pt x="0" y="151794"/>
                  </a:moveTo>
                  <a:lnTo>
                    <a:pt x="867416" y="151794"/>
                  </a:lnTo>
                  <a:lnTo>
                    <a:pt x="867416" y="0"/>
                  </a:lnTo>
                  <a:lnTo>
                    <a:pt x="0" y="0"/>
                  </a:lnTo>
                  <a:lnTo>
                    <a:pt x="0" y="151794"/>
                  </a:lnTo>
                  <a:close/>
                </a:path>
              </a:pathLst>
            </a:custGeom>
            <a:ln w="5270">
              <a:solidFill>
                <a:srgbClr val="231F20"/>
              </a:solidFill>
            </a:ln>
          </p:spPr>
          <p:txBody>
            <a:bodyPr wrap="square" lIns="0" tIns="0" rIns="0" bIns="0" rtlCol="0"/>
            <a:lstStyle/>
            <a:p>
              <a:endParaRPr/>
            </a:p>
          </p:txBody>
        </p:sp>
        <p:sp>
          <p:nvSpPr>
            <p:cNvPr id="12" name="object 12"/>
            <p:cNvSpPr/>
            <p:nvPr/>
          </p:nvSpPr>
          <p:spPr>
            <a:xfrm>
              <a:off x="1347264" y="1574343"/>
              <a:ext cx="0" cy="336550"/>
            </a:xfrm>
            <a:custGeom>
              <a:avLst/>
              <a:gdLst/>
              <a:ahLst/>
              <a:cxnLst/>
              <a:rect l="l" t="t" r="r" b="b"/>
              <a:pathLst>
                <a:path h="336550">
                  <a:moveTo>
                    <a:pt x="0" y="0"/>
                  </a:moveTo>
                  <a:lnTo>
                    <a:pt x="0" y="336122"/>
                  </a:lnTo>
                </a:path>
              </a:pathLst>
            </a:custGeom>
            <a:ln w="5270">
              <a:solidFill>
                <a:srgbClr val="231F20"/>
              </a:solidFill>
            </a:ln>
          </p:spPr>
          <p:txBody>
            <a:bodyPr wrap="square" lIns="0" tIns="0" rIns="0" bIns="0" rtlCol="0"/>
            <a:lstStyle/>
            <a:p>
              <a:endParaRPr/>
            </a:p>
          </p:txBody>
        </p:sp>
        <p:sp>
          <p:nvSpPr>
            <p:cNvPr id="13" name="object 13"/>
            <p:cNvSpPr/>
            <p:nvPr/>
          </p:nvSpPr>
          <p:spPr>
            <a:xfrm>
              <a:off x="1331325" y="1558407"/>
              <a:ext cx="32384" cy="32384"/>
            </a:xfrm>
            <a:custGeom>
              <a:avLst/>
              <a:gdLst/>
              <a:ahLst/>
              <a:cxnLst/>
              <a:rect l="l" t="t" r="r" b="b"/>
              <a:pathLst>
                <a:path w="32384" h="32384">
                  <a:moveTo>
                    <a:pt x="31874" y="0"/>
                  </a:moveTo>
                  <a:lnTo>
                    <a:pt x="0" y="0"/>
                  </a:lnTo>
                  <a:lnTo>
                    <a:pt x="0" y="31874"/>
                  </a:lnTo>
                  <a:lnTo>
                    <a:pt x="31874" y="31874"/>
                  </a:lnTo>
                  <a:lnTo>
                    <a:pt x="31874" y="0"/>
                  </a:lnTo>
                  <a:close/>
                </a:path>
              </a:pathLst>
            </a:custGeom>
            <a:solidFill>
              <a:srgbClr val="231F20"/>
            </a:solidFill>
          </p:spPr>
          <p:txBody>
            <a:bodyPr wrap="square" lIns="0" tIns="0" rIns="0" bIns="0" rtlCol="0"/>
            <a:lstStyle/>
            <a:p>
              <a:endParaRPr/>
            </a:p>
          </p:txBody>
        </p:sp>
        <p:pic>
          <p:nvPicPr>
            <p:cNvPr id="14" name="object 14"/>
            <p:cNvPicPr/>
            <p:nvPr/>
          </p:nvPicPr>
          <p:blipFill>
            <a:blip r:embed="rId5" cstate="print"/>
            <a:stretch>
              <a:fillRect/>
            </a:stretch>
          </p:blipFill>
          <p:spPr>
            <a:xfrm>
              <a:off x="1315386" y="1873470"/>
              <a:ext cx="63751" cy="74379"/>
            </a:xfrm>
            <a:prstGeom prst="rect">
              <a:avLst/>
            </a:prstGeom>
          </p:spPr>
        </p:pic>
        <p:sp>
          <p:nvSpPr>
            <p:cNvPr id="15" name="object 15"/>
            <p:cNvSpPr/>
            <p:nvPr/>
          </p:nvSpPr>
          <p:spPr>
            <a:xfrm>
              <a:off x="3249839" y="1564645"/>
              <a:ext cx="0" cy="336550"/>
            </a:xfrm>
            <a:custGeom>
              <a:avLst/>
              <a:gdLst/>
              <a:ahLst/>
              <a:cxnLst/>
              <a:rect l="l" t="t" r="r" b="b"/>
              <a:pathLst>
                <a:path h="336550">
                  <a:moveTo>
                    <a:pt x="0" y="0"/>
                  </a:moveTo>
                  <a:lnTo>
                    <a:pt x="0" y="336128"/>
                  </a:lnTo>
                </a:path>
              </a:pathLst>
            </a:custGeom>
            <a:ln w="5270">
              <a:solidFill>
                <a:srgbClr val="231F20"/>
              </a:solidFill>
            </a:ln>
          </p:spPr>
          <p:txBody>
            <a:bodyPr wrap="square" lIns="0" tIns="0" rIns="0" bIns="0" rtlCol="0"/>
            <a:lstStyle/>
            <a:p>
              <a:endParaRPr/>
            </a:p>
          </p:txBody>
        </p:sp>
        <p:sp>
          <p:nvSpPr>
            <p:cNvPr id="16" name="object 16"/>
            <p:cNvSpPr/>
            <p:nvPr/>
          </p:nvSpPr>
          <p:spPr>
            <a:xfrm>
              <a:off x="3233901" y="1548709"/>
              <a:ext cx="32384" cy="32384"/>
            </a:xfrm>
            <a:custGeom>
              <a:avLst/>
              <a:gdLst/>
              <a:ahLst/>
              <a:cxnLst/>
              <a:rect l="l" t="t" r="r" b="b"/>
              <a:pathLst>
                <a:path w="32385" h="32384">
                  <a:moveTo>
                    <a:pt x="31874" y="0"/>
                  </a:moveTo>
                  <a:lnTo>
                    <a:pt x="0" y="0"/>
                  </a:lnTo>
                  <a:lnTo>
                    <a:pt x="0" y="31874"/>
                  </a:lnTo>
                  <a:lnTo>
                    <a:pt x="31874" y="31874"/>
                  </a:lnTo>
                  <a:lnTo>
                    <a:pt x="31874" y="0"/>
                  </a:lnTo>
                  <a:close/>
                </a:path>
              </a:pathLst>
            </a:custGeom>
            <a:solidFill>
              <a:srgbClr val="231F20"/>
            </a:solidFill>
          </p:spPr>
          <p:txBody>
            <a:bodyPr wrap="square" lIns="0" tIns="0" rIns="0" bIns="0" rtlCol="0"/>
            <a:lstStyle/>
            <a:p>
              <a:endParaRPr/>
            </a:p>
          </p:txBody>
        </p:sp>
        <p:pic>
          <p:nvPicPr>
            <p:cNvPr id="17" name="object 17"/>
            <p:cNvPicPr/>
            <p:nvPr/>
          </p:nvPicPr>
          <p:blipFill>
            <a:blip r:embed="rId6" cstate="print"/>
            <a:stretch>
              <a:fillRect/>
            </a:stretch>
          </p:blipFill>
          <p:spPr>
            <a:xfrm>
              <a:off x="3217963" y="1863778"/>
              <a:ext cx="63751" cy="74375"/>
            </a:xfrm>
            <a:prstGeom prst="rect">
              <a:avLst/>
            </a:prstGeom>
          </p:spPr>
        </p:pic>
        <p:sp>
          <p:nvSpPr>
            <p:cNvPr id="18" name="object 18"/>
            <p:cNvSpPr/>
            <p:nvPr/>
          </p:nvSpPr>
          <p:spPr>
            <a:xfrm>
              <a:off x="1349912" y="2169305"/>
              <a:ext cx="0" cy="105410"/>
            </a:xfrm>
            <a:custGeom>
              <a:avLst/>
              <a:gdLst/>
              <a:ahLst/>
              <a:cxnLst/>
              <a:rect l="l" t="t" r="r" b="b"/>
              <a:pathLst>
                <a:path h="105410">
                  <a:moveTo>
                    <a:pt x="0" y="0"/>
                  </a:moveTo>
                  <a:lnTo>
                    <a:pt x="0" y="104833"/>
                  </a:lnTo>
                </a:path>
              </a:pathLst>
            </a:custGeom>
            <a:ln w="5270">
              <a:solidFill>
                <a:srgbClr val="231F20"/>
              </a:solidFill>
            </a:ln>
          </p:spPr>
          <p:txBody>
            <a:bodyPr wrap="square" lIns="0" tIns="0" rIns="0" bIns="0" rtlCol="0"/>
            <a:lstStyle/>
            <a:p>
              <a:endParaRPr/>
            </a:p>
          </p:txBody>
        </p:sp>
        <p:sp>
          <p:nvSpPr>
            <p:cNvPr id="19" name="object 19"/>
            <p:cNvSpPr/>
            <p:nvPr/>
          </p:nvSpPr>
          <p:spPr>
            <a:xfrm>
              <a:off x="1333972" y="2157010"/>
              <a:ext cx="32384" cy="28575"/>
            </a:xfrm>
            <a:custGeom>
              <a:avLst/>
              <a:gdLst/>
              <a:ahLst/>
              <a:cxnLst/>
              <a:rect l="l" t="t" r="r" b="b"/>
              <a:pathLst>
                <a:path w="32384" h="28575">
                  <a:moveTo>
                    <a:pt x="0" y="28234"/>
                  </a:moveTo>
                  <a:lnTo>
                    <a:pt x="31874" y="28234"/>
                  </a:lnTo>
                  <a:lnTo>
                    <a:pt x="31874" y="0"/>
                  </a:lnTo>
                  <a:lnTo>
                    <a:pt x="0" y="0"/>
                  </a:lnTo>
                  <a:lnTo>
                    <a:pt x="0" y="28234"/>
                  </a:lnTo>
                  <a:close/>
                </a:path>
              </a:pathLst>
            </a:custGeom>
            <a:solidFill>
              <a:srgbClr val="231F20"/>
            </a:solidFill>
          </p:spPr>
          <p:txBody>
            <a:bodyPr wrap="square" lIns="0" tIns="0" rIns="0" bIns="0" rtlCol="0"/>
            <a:lstStyle/>
            <a:p>
              <a:endParaRPr/>
            </a:p>
          </p:txBody>
        </p:sp>
        <p:sp>
          <p:nvSpPr>
            <p:cNvPr id="20" name="object 20"/>
            <p:cNvSpPr/>
            <p:nvPr/>
          </p:nvSpPr>
          <p:spPr>
            <a:xfrm>
              <a:off x="3252485" y="2159613"/>
              <a:ext cx="0" cy="105410"/>
            </a:xfrm>
            <a:custGeom>
              <a:avLst/>
              <a:gdLst/>
              <a:ahLst/>
              <a:cxnLst/>
              <a:rect l="l" t="t" r="r" b="b"/>
              <a:pathLst>
                <a:path h="105410">
                  <a:moveTo>
                    <a:pt x="0" y="0"/>
                  </a:moveTo>
                  <a:lnTo>
                    <a:pt x="0" y="104829"/>
                  </a:lnTo>
                </a:path>
              </a:pathLst>
            </a:custGeom>
            <a:ln w="5270">
              <a:solidFill>
                <a:srgbClr val="231F20"/>
              </a:solidFill>
            </a:ln>
          </p:spPr>
          <p:txBody>
            <a:bodyPr wrap="square" lIns="0" tIns="0" rIns="0" bIns="0" rtlCol="0"/>
            <a:lstStyle/>
            <a:p>
              <a:endParaRPr/>
            </a:p>
          </p:txBody>
        </p:sp>
        <p:sp>
          <p:nvSpPr>
            <p:cNvPr id="21" name="object 21"/>
            <p:cNvSpPr/>
            <p:nvPr/>
          </p:nvSpPr>
          <p:spPr>
            <a:xfrm>
              <a:off x="3236547" y="2157006"/>
              <a:ext cx="32384" cy="19050"/>
            </a:xfrm>
            <a:custGeom>
              <a:avLst/>
              <a:gdLst/>
              <a:ahLst/>
              <a:cxnLst/>
              <a:rect l="l" t="t" r="r" b="b"/>
              <a:pathLst>
                <a:path w="32385" h="19050">
                  <a:moveTo>
                    <a:pt x="0" y="18545"/>
                  </a:moveTo>
                  <a:lnTo>
                    <a:pt x="31874" y="18545"/>
                  </a:lnTo>
                  <a:lnTo>
                    <a:pt x="31874" y="0"/>
                  </a:lnTo>
                  <a:lnTo>
                    <a:pt x="0" y="0"/>
                  </a:lnTo>
                  <a:lnTo>
                    <a:pt x="0" y="18545"/>
                  </a:lnTo>
                  <a:close/>
                </a:path>
              </a:pathLst>
            </a:custGeom>
            <a:solidFill>
              <a:srgbClr val="231F20"/>
            </a:solidFill>
          </p:spPr>
          <p:txBody>
            <a:bodyPr wrap="square" lIns="0" tIns="0" rIns="0" bIns="0" rtlCol="0"/>
            <a:lstStyle/>
            <a:p>
              <a:endParaRPr/>
            </a:p>
          </p:txBody>
        </p:sp>
        <p:sp>
          <p:nvSpPr>
            <p:cNvPr id="22" name="object 22"/>
            <p:cNvSpPr/>
            <p:nvPr/>
          </p:nvSpPr>
          <p:spPr>
            <a:xfrm>
              <a:off x="1349912" y="2393656"/>
              <a:ext cx="0" cy="112395"/>
            </a:xfrm>
            <a:custGeom>
              <a:avLst/>
              <a:gdLst/>
              <a:ahLst/>
              <a:cxnLst/>
              <a:rect l="l" t="t" r="r" b="b"/>
              <a:pathLst>
                <a:path h="112394">
                  <a:moveTo>
                    <a:pt x="0" y="0"/>
                  </a:moveTo>
                  <a:lnTo>
                    <a:pt x="0" y="112023"/>
                  </a:lnTo>
                </a:path>
              </a:pathLst>
            </a:custGeom>
            <a:ln w="5270">
              <a:solidFill>
                <a:srgbClr val="231F20"/>
              </a:solidFill>
            </a:ln>
          </p:spPr>
          <p:txBody>
            <a:bodyPr wrap="square" lIns="0" tIns="0" rIns="0" bIns="0" rtlCol="0"/>
            <a:lstStyle/>
            <a:p>
              <a:endParaRPr/>
            </a:p>
          </p:txBody>
        </p:sp>
        <p:sp>
          <p:nvSpPr>
            <p:cNvPr id="23" name="object 23"/>
            <p:cNvSpPr/>
            <p:nvPr/>
          </p:nvSpPr>
          <p:spPr>
            <a:xfrm>
              <a:off x="1318033" y="2468678"/>
              <a:ext cx="64135" cy="74930"/>
            </a:xfrm>
            <a:custGeom>
              <a:avLst/>
              <a:gdLst/>
              <a:ahLst/>
              <a:cxnLst/>
              <a:rect l="l" t="t" r="r" b="b"/>
              <a:pathLst>
                <a:path w="64134" h="74930">
                  <a:moveTo>
                    <a:pt x="63751" y="0"/>
                  </a:moveTo>
                  <a:lnTo>
                    <a:pt x="47813" y="5977"/>
                  </a:lnTo>
                  <a:lnTo>
                    <a:pt x="31875" y="7970"/>
                  </a:lnTo>
                  <a:lnTo>
                    <a:pt x="15937" y="5977"/>
                  </a:lnTo>
                  <a:lnTo>
                    <a:pt x="0" y="0"/>
                  </a:lnTo>
                  <a:lnTo>
                    <a:pt x="31878" y="74379"/>
                  </a:lnTo>
                  <a:lnTo>
                    <a:pt x="63751" y="0"/>
                  </a:lnTo>
                  <a:close/>
                </a:path>
              </a:pathLst>
            </a:custGeom>
            <a:solidFill>
              <a:srgbClr val="231F20"/>
            </a:solidFill>
          </p:spPr>
          <p:txBody>
            <a:bodyPr wrap="square" lIns="0" tIns="0" rIns="0" bIns="0" rtlCol="0"/>
            <a:lstStyle/>
            <a:p>
              <a:endParaRPr/>
            </a:p>
          </p:txBody>
        </p:sp>
        <p:sp>
          <p:nvSpPr>
            <p:cNvPr id="24" name="object 24"/>
            <p:cNvSpPr/>
            <p:nvPr/>
          </p:nvSpPr>
          <p:spPr>
            <a:xfrm>
              <a:off x="1349912" y="2274139"/>
              <a:ext cx="0" cy="120014"/>
            </a:xfrm>
            <a:custGeom>
              <a:avLst/>
              <a:gdLst/>
              <a:ahLst/>
              <a:cxnLst/>
              <a:rect l="l" t="t" r="r" b="b"/>
              <a:pathLst>
                <a:path h="120014">
                  <a:moveTo>
                    <a:pt x="0" y="0"/>
                  </a:moveTo>
                  <a:lnTo>
                    <a:pt x="0" y="119517"/>
                  </a:lnTo>
                </a:path>
              </a:pathLst>
            </a:custGeom>
            <a:ln w="5270">
              <a:solidFill>
                <a:srgbClr val="231F20"/>
              </a:solidFill>
              <a:prstDash val="lgDash"/>
            </a:ln>
          </p:spPr>
          <p:txBody>
            <a:bodyPr wrap="square" lIns="0" tIns="0" rIns="0" bIns="0" rtlCol="0"/>
            <a:lstStyle/>
            <a:p>
              <a:endParaRPr/>
            </a:p>
          </p:txBody>
        </p:sp>
        <p:sp>
          <p:nvSpPr>
            <p:cNvPr id="25" name="object 25"/>
            <p:cNvSpPr/>
            <p:nvPr/>
          </p:nvSpPr>
          <p:spPr>
            <a:xfrm>
              <a:off x="3252485" y="2383963"/>
              <a:ext cx="0" cy="112395"/>
            </a:xfrm>
            <a:custGeom>
              <a:avLst/>
              <a:gdLst/>
              <a:ahLst/>
              <a:cxnLst/>
              <a:rect l="l" t="t" r="r" b="b"/>
              <a:pathLst>
                <a:path h="112394">
                  <a:moveTo>
                    <a:pt x="0" y="0"/>
                  </a:moveTo>
                  <a:lnTo>
                    <a:pt x="0" y="112022"/>
                  </a:lnTo>
                </a:path>
              </a:pathLst>
            </a:custGeom>
            <a:ln w="5270">
              <a:solidFill>
                <a:srgbClr val="231F20"/>
              </a:solidFill>
            </a:ln>
          </p:spPr>
          <p:txBody>
            <a:bodyPr wrap="square" lIns="0" tIns="0" rIns="0" bIns="0" rtlCol="0"/>
            <a:lstStyle/>
            <a:p>
              <a:endParaRPr/>
            </a:p>
          </p:txBody>
        </p:sp>
        <p:sp>
          <p:nvSpPr>
            <p:cNvPr id="26" name="object 26"/>
            <p:cNvSpPr/>
            <p:nvPr/>
          </p:nvSpPr>
          <p:spPr>
            <a:xfrm>
              <a:off x="3220609" y="2458986"/>
              <a:ext cx="64135" cy="74930"/>
            </a:xfrm>
            <a:custGeom>
              <a:avLst/>
              <a:gdLst/>
              <a:ahLst/>
              <a:cxnLst/>
              <a:rect l="l" t="t" r="r" b="b"/>
              <a:pathLst>
                <a:path w="64135" h="74930">
                  <a:moveTo>
                    <a:pt x="63751" y="0"/>
                  </a:moveTo>
                  <a:lnTo>
                    <a:pt x="47813" y="5977"/>
                  </a:lnTo>
                  <a:lnTo>
                    <a:pt x="31875" y="7970"/>
                  </a:lnTo>
                  <a:lnTo>
                    <a:pt x="15937" y="5977"/>
                  </a:lnTo>
                  <a:lnTo>
                    <a:pt x="0" y="0"/>
                  </a:lnTo>
                  <a:lnTo>
                    <a:pt x="31875" y="74379"/>
                  </a:lnTo>
                  <a:lnTo>
                    <a:pt x="63751" y="0"/>
                  </a:lnTo>
                  <a:close/>
                </a:path>
              </a:pathLst>
            </a:custGeom>
            <a:solidFill>
              <a:srgbClr val="231F20"/>
            </a:solidFill>
          </p:spPr>
          <p:txBody>
            <a:bodyPr wrap="square" lIns="0" tIns="0" rIns="0" bIns="0" rtlCol="0"/>
            <a:lstStyle/>
            <a:p>
              <a:endParaRPr/>
            </a:p>
          </p:txBody>
        </p:sp>
        <p:sp>
          <p:nvSpPr>
            <p:cNvPr id="27" name="object 27"/>
            <p:cNvSpPr/>
            <p:nvPr/>
          </p:nvSpPr>
          <p:spPr>
            <a:xfrm>
              <a:off x="3252485" y="2264442"/>
              <a:ext cx="0" cy="120014"/>
            </a:xfrm>
            <a:custGeom>
              <a:avLst/>
              <a:gdLst/>
              <a:ahLst/>
              <a:cxnLst/>
              <a:rect l="l" t="t" r="r" b="b"/>
              <a:pathLst>
                <a:path h="120014">
                  <a:moveTo>
                    <a:pt x="0" y="0"/>
                  </a:moveTo>
                  <a:lnTo>
                    <a:pt x="0" y="119521"/>
                  </a:lnTo>
                </a:path>
              </a:pathLst>
            </a:custGeom>
            <a:ln w="5270">
              <a:solidFill>
                <a:srgbClr val="231F20"/>
              </a:solidFill>
              <a:prstDash val="lgDash"/>
            </a:ln>
          </p:spPr>
          <p:txBody>
            <a:bodyPr wrap="square" lIns="0" tIns="0" rIns="0" bIns="0" rtlCol="0"/>
            <a:lstStyle/>
            <a:p>
              <a:endParaRPr/>
            </a:p>
          </p:txBody>
        </p:sp>
        <p:sp>
          <p:nvSpPr>
            <p:cNvPr id="28" name="object 28"/>
            <p:cNvSpPr/>
            <p:nvPr/>
          </p:nvSpPr>
          <p:spPr>
            <a:xfrm>
              <a:off x="972717" y="1947850"/>
              <a:ext cx="747395" cy="57785"/>
            </a:xfrm>
            <a:custGeom>
              <a:avLst/>
              <a:gdLst/>
              <a:ahLst/>
              <a:cxnLst/>
              <a:rect l="l" t="t" r="r" b="b"/>
              <a:pathLst>
                <a:path w="747394" h="57785">
                  <a:moveTo>
                    <a:pt x="0" y="57365"/>
                  </a:moveTo>
                  <a:lnTo>
                    <a:pt x="746998" y="57365"/>
                  </a:lnTo>
                  <a:lnTo>
                    <a:pt x="746998" y="0"/>
                  </a:lnTo>
                  <a:lnTo>
                    <a:pt x="0" y="0"/>
                  </a:lnTo>
                  <a:lnTo>
                    <a:pt x="0" y="57365"/>
                  </a:lnTo>
                  <a:close/>
                </a:path>
              </a:pathLst>
            </a:custGeom>
            <a:solidFill>
              <a:srgbClr val="BCBEC0"/>
            </a:solidFill>
          </p:spPr>
          <p:txBody>
            <a:bodyPr wrap="square" lIns="0" tIns="0" rIns="0" bIns="0" rtlCol="0"/>
            <a:lstStyle/>
            <a:p>
              <a:endParaRPr/>
            </a:p>
          </p:txBody>
        </p:sp>
        <p:sp>
          <p:nvSpPr>
            <p:cNvPr id="29" name="object 29"/>
            <p:cNvSpPr/>
            <p:nvPr/>
          </p:nvSpPr>
          <p:spPr>
            <a:xfrm>
              <a:off x="972717" y="1947850"/>
              <a:ext cx="747395" cy="60325"/>
            </a:xfrm>
            <a:custGeom>
              <a:avLst/>
              <a:gdLst/>
              <a:ahLst/>
              <a:cxnLst/>
              <a:rect l="l" t="t" r="r" b="b"/>
              <a:pathLst>
                <a:path w="747394" h="60325">
                  <a:moveTo>
                    <a:pt x="0" y="59758"/>
                  </a:moveTo>
                  <a:lnTo>
                    <a:pt x="746998" y="59758"/>
                  </a:lnTo>
                  <a:lnTo>
                    <a:pt x="746998" y="0"/>
                  </a:lnTo>
                  <a:lnTo>
                    <a:pt x="0" y="0"/>
                  </a:lnTo>
                  <a:lnTo>
                    <a:pt x="0" y="59758"/>
                  </a:lnTo>
                  <a:close/>
                </a:path>
              </a:pathLst>
            </a:custGeom>
            <a:ln w="5270">
              <a:solidFill>
                <a:srgbClr val="231F20"/>
              </a:solidFill>
            </a:ln>
          </p:spPr>
          <p:txBody>
            <a:bodyPr wrap="square" lIns="0" tIns="0" rIns="0" bIns="0" rtlCol="0"/>
            <a:lstStyle/>
            <a:p>
              <a:endParaRPr/>
            </a:p>
          </p:txBody>
        </p:sp>
        <p:sp>
          <p:nvSpPr>
            <p:cNvPr id="30" name="object 30"/>
            <p:cNvSpPr/>
            <p:nvPr/>
          </p:nvSpPr>
          <p:spPr>
            <a:xfrm>
              <a:off x="982459" y="1350250"/>
              <a:ext cx="747395" cy="60325"/>
            </a:xfrm>
            <a:custGeom>
              <a:avLst/>
              <a:gdLst/>
              <a:ahLst/>
              <a:cxnLst/>
              <a:rect l="l" t="t" r="r" b="b"/>
              <a:pathLst>
                <a:path w="747394" h="60325">
                  <a:moveTo>
                    <a:pt x="747002" y="0"/>
                  </a:moveTo>
                  <a:lnTo>
                    <a:pt x="0" y="0"/>
                  </a:lnTo>
                  <a:lnTo>
                    <a:pt x="0" y="59758"/>
                  </a:lnTo>
                  <a:lnTo>
                    <a:pt x="747002" y="59758"/>
                  </a:lnTo>
                  <a:lnTo>
                    <a:pt x="747002" y="0"/>
                  </a:lnTo>
                  <a:close/>
                </a:path>
              </a:pathLst>
            </a:custGeom>
            <a:solidFill>
              <a:srgbClr val="BCBEC0"/>
            </a:solidFill>
          </p:spPr>
          <p:txBody>
            <a:bodyPr wrap="square" lIns="0" tIns="0" rIns="0" bIns="0" rtlCol="0"/>
            <a:lstStyle/>
            <a:p>
              <a:endParaRPr/>
            </a:p>
          </p:txBody>
        </p:sp>
        <p:sp>
          <p:nvSpPr>
            <p:cNvPr id="31" name="object 31"/>
            <p:cNvSpPr/>
            <p:nvPr/>
          </p:nvSpPr>
          <p:spPr>
            <a:xfrm>
              <a:off x="982459" y="1350250"/>
              <a:ext cx="747395" cy="60325"/>
            </a:xfrm>
            <a:custGeom>
              <a:avLst/>
              <a:gdLst/>
              <a:ahLst/>
              <a:cxnLst/>
              <a:rect l="l" t="t" r="r" b="b"/>
              <a:pathLst>
                <a:path w="747394" h="60325">
                  <a:moveTo>
                    <a:pt x="0" y="59758"/>
                  </a:moveTo>
                  <a:lnTo>
                    <a:pt x="747002" y="59758"/>
                  </a:lnTo>
                  <a:lnTo>
                    <a:pt x="747002" y="0"/>
                  </a:lnTo>
                  <a:lnTo>
                    <a:pt x="0" y="0"/>
                  </a:lnTo>
                  <a:lnTo>
                    <a:pt x="0" y="59758"/>
                  </a:lnTo>
                  <a:close/>
                </a:path>
              </a:pathLst>
            </a:custGeom>
            <a:ln w="5270">
              <a:solidFill>
                <a:srgbClr val="231F20"/>
              </a:solidFill>
            </a:ln>
          </p:spPr>
          <p:txBody>
            <a:bodyPr wrap="square" lIns="0" tIns="0" rIns="0" bIns="0" rtlCol="0"/>
            <a:lstStyle/>
            <a:p>
              <a:endParaRPr/>
            </a:p>
          </p:txBody>
        </p:sp>
        <p:sp>
          <p:nvSpPr>
            <p:cNvPr id="32" name="object 32"/>
            <p:cNvSpPr/>
            <p:nvPr/>
          </p:nvSpPr>
          <p:spPr>
            <a:xfrm>
              <a:off x="2875296" y="1946928"/>
              <a:ext cx="747395" cy="58419"/>
            </a:xfrm>
            <a:custGeom>
              <a:avLst/>
              <a:gdLst/>
              <a:ahLst/>
              <a:cxnLst/>
              <a:rect l="l" t="t" r="r" b="b"/>
              <a:pathLst>
                <a:path w="747395" h="58419">
                  <a:moveTo>
                    <a:pt x="0" y="58287"/>
                  </a:moveTo>
                  <a:lnTo>
                    <a:pt x="746998" y="58287"/>
                  </a:lnTo>
                  <a:lnTo>
                    <a:pt x="746998" y="0"/>
                  </a:lnTo>
                  <a:lnTo>
                    <a:pt x="0" y="0"/>
                  </a:lnTo>
                  <a:lnTo>
                    <a:pt x="0" y="58287"/>
                  </a:lnTo>
                  <a:close/>
                </a:path>
              </a:pathLst>
            </a:custGeom>
            <a:solidFill>
              <a:srgbClr val="BCBEC0"/>
            </a:solidFill>
          </p:spPr>
          <p:txBody>
            <a:bodyPr wrap="square" lIns="0" tIns="0" rIns="0" bIns="0" rtlCol="0"/>
            <a:lstStyle/>
            <a:p>
              <a:endParaRPr/>
            </a:p>
          </p:txBody>
        </p:sp>
        <p:sp>
          <p:nvSpPr>
            <p:cNvPr id="33" name="object 33"/>
            <p:cNvSpPr/>
            <p:nvPr/>
          </p:nvSpPr>
          <p:spPr>
            <a:xfrm>
              <a:off x="2875296" y="1946928"/>
              <a:ext cx="747395" cy="60325"/>
            </a:xfrm>
            <a:custGeom>
              <a:avLst/>
              <a:gdLst/>
              <a:ahLst/>
              <a:cxnLst/>
              <a:rect l="l" t="t" r="r" b="b"/>
              <a:pathLst>
                <a:path w="747395" h="60325">
                  <a:moveTo>
                    <a:pt x="0" y="59758"/>
                  </a:moveTo>
                  <a:lnTo>
                    <a:pt x="746998" y="59758"/>
                  </a:lnTo>
                  <a:lnTo>
                    <a:pt x="746998" y="0"/>
                  </a:lnTo>
                  <a:lnTo>
                    <a:pt x="0" y="0"/>
                  </a:lnTo>
                  <a:lnTo>
                    <a:pt x="0" y="59758"/>
                  </a:lnTo>
                  <a:close/>
                </a:path>
              </a:pathLst>
            </a:custGeom>
            <a:ln w="5270">
              <a:solidFill>
                <a:srgbClr val="231F20"/>
              </a:solidFill>
            </a:ln>
          </p:spPr>
          <p:txBody>
            <a:bodyPr wrap="square" lIns="0" tIns="0" rIns="0" bIns="0" rtlCol="0"/>
            <a:lstStyle/>
            <a:p>
              <a:endParaRPr/>
            </a:p>
          </p:txBody>
        </p:sp>
        <p:sp>
          <p:nvSpPr>
            <p:cNvPr id="34" name="object 34"/>
            <p:cNvSpPr/>
            <p:nvPr/>
          </p:nvSpPr>
          <p:spPr>
            <a:xfrm>
              <a:off x="2885036" y="1350250"/>
              <a:ext cx="747395" cy="60325"/>
            </a:xfrm>
            <a:custGeom>
              <a:avLst/>
              <a:gdLst/>
              <a:ahLst/>
              <a:cxnLst/>
              <a:rect l="l" t="t" r="r" b="b"/>
              <a:pathLst>
                <a:path w="747395" h="60325">
                  <a:moveTo>
                    <a:pt x="747002" y="0"/>
                  </a:moveTo>
                  <a:lnTo>
                    <a:pt x="0" y="0"/>
                  </a:lnTo>
                  <a:lnTo>
                    <a:pt x="0" y="59758"/>
                  </a:lnTo>
                  <a:lnTo>
                    <a:pt x="747002" y="59758"/>
                  </a:lnTo>
                  <a:lnTo>
                    <a:pt x="747002" y="0"/>
                  </a:lnTo>
                  <a:close/>
                </a:path>
              </a:pathLst>
            </a:custGeom>
            <a:solidFill>
              <a:srgbClr val="BCBEC0"/>
            </a:solidFill>
          </p:spPr>
          <p:txBody>
            <a:bodyPr wrap="square" lIns="0" tIns="0" rIns="0" bIns="0" rtlCol="0"/>
            <a:lstStyle/>
            <a:p>
              <a:endParaRPr/>
            </a:p>
          </p:txBody>
        </p:sp>
        <p:sp>
          <p:nvSpPr>
            <p:cNvPr id="35" name="object 35"/>
            <p:cNvSpPr/>
            <p:nvPr/>
          </p:nvSpPr>
          <p:spPr>
            <a:xfrm>
              <a:off x="2885036" y="1350250"/>
              <a:ext cx="747395" cy="60325"/>
            </a:xfrm>
            <a:custGeom>
              <a:avLst/>
              <a:gdLst/>
              <a:ahLst/>
              <a:cxnLst/>
              <a:rect l="l" t="t" r="r" b="b"/>
              <a:pathLst>
                <a:path w="747395" h="60325">
                  <a:moveTo>
                    <a:pt x="0" y="59758"/>
                  </a:moveTo>
                  <a:lnTo>
                    <a:pt x="747002" y="59758"/>
                  </a:lnTo>
                  <a:lnTo>
                    <a:pt x="747002" y="0"/>
                  </a:lnTo>
                  <a:lnTo>
                    <a:pt x="0" y="0"/>
                  </a:lnTo>
                  <a:lnTo>
                    <a:pt x="0" y="59758"/>
                  </a:lnTo>
                  <a:close/>
                </a:path>
              </a:pathLst>
            </a:custGeom>
            <a:ln w="5270">
              <a:solidFill>
                <a:srgbClr val="231F20"/>
              </a:solidFill>
            </a:ln>
          </p:spPr>
          <p:txBody>
            <a:bodyPr wrap="square" lIns="0" tIns="0" rIns="0" bIns="0" rtlCol="0"/>
            <a:lstStyle/>
            <a:p>
              <a:endParaRPr/>
            </a:p>
          </p:txBody>
        </p:sp>
      </p:grpSp>
      <p:sp>
        <p:nvSpPr>
          <p:cNvPr id="36" name="object 36"/>
          <p:cNvSpPr txBox="1"/>
          <p:nvPr/>
        </p:nvSpPr>
        <p:spPr>
          <a:xfrm>
            <a:off x="1826532" y="1670436"/>
            <a:ext cx="3536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Interface</a:t>
            </a:r>
            <a:endParaRPr sz="650">
              <a:latin typeface="Arial"/>
              <a:cs typeface="Arial"/>
            </a:endParaRPr>
          </a:p>
        </p:txBody>
      </p:sp>
      <p:grpSp>
        <p:nvGrpSpPr>
          <p:cNvPr id="37" name="object 37"/>
          <p:cNvGrpSpPr/>
          <p:nvPr/>
        </p:nvGrpSpPr>
        <p:grpSpPr>
          <a:xfrm>
            <a:off x="1719715" y="1468174"/>
            <a:ext cx="1106170" cy="661035"/>
            <a:chOff x="1719715" y="1468174"/>
            <a:chExt cx="1106170" cy="661035"/>
          </a:xfrm>
        </p:grpSpPr>
        <p:pic>
          <p:nvPicPr>
            <p:cNvPr id="38" name="object 38"/>
            <p:cNvPicPr/>
            <p:nvPr/>
          </p:nvPicPr>
          <p:blipFill>
            <a:blip r:embed="rId7" cstate="print"/>
            <a:stretch>
              <a:fillRect/>
            </a:stretch>
          </p:blipFill>
          <p:spPr>
            <a:xfrm>
              <a:off x="1719715" y="1795812"/>
              <a:ext cx="211793" cy="152037"/>
            </a:xfrm>
            <a:prstGeom prst="rect">
              <a:avLst/>
            </a:prstGeom>
          </p:spPr>
        </p:pic>
        <p:sp>
          <p:nvSpPr>
            <p:cNvPr id="39" name="object 39"/>
            <p:cNvSpPr/>
            <p:nvPr/>
          </p:nvSpPr>
          <p:spPr>
            <a:xfrm>
              <a:off x="1816854" y="2097240"/>
              <a:ext cx="971550" cy="0"/>
            </a:xfrm>
            <a:custGeom>
              <a:avLst/>
              <a:gdLst/>
              <a:ahLst/>
              <a:cxnLst/>
              <a:rect l="l" t="t" r="r" b="b"/>
              <a:pathLst>
                <a:path w="971550">
                  <a:moveTo>
                    <a:pt x="0" y="0"/>
                  </a:moveTo>
                  <a:lnTo>
                    <a:pt x="971047" y="0"/>
                  </a:lnTo>
                </a:path>
              </a:pathLst>
            </a:custGeom>
            <a:ln w="5270">
              <a:solidFill>
                <a:srgbClr val="231F20"/>
              </a:solidFill>
              <a:prstDash val="lgDash"/>
            </a:ln>
          </p:spPr>
          <p:txBody>
            <a:bodyPr wrap="square" lIns="0" tIns="0" rIns="0" bIns="0" rtlCol="0"/>
            <a:lstStyle/>
            <a:p>
              <a:endParaRPr/>
            </a:p>
          </p:txBody>
        </p:sp>
        <p:pic>
          <p:nvPicPr>
            <p:cNvPr id="40" name="object 40"/>
            <p:cNvPicPr/>
            <p:nvPr/>
          </p:nvPicPr>
          <p:blipFill>
            <a:blip r:embed="rId8" cstate="print"/>
            <a:stretch>
              <a:fillRect/>
            </a:stretch>
          </p:blipFill>
          <p:spPr>
            <a:xfrm>
              <a:off x="1779477" y="2065366"/>
              <a:ext cx="74375" cy="63751"/>
            </a:xfrm>
            <a:prstGeom prst="rect">
              <a:avLst/>
            </a:prstGeom>
          </p:spPr>
        </p:pic>
        <p:pic>
          <p:nvPicPr>
            <p:cNvPr id="41" name="object 41"/>
            <p:cNvPicPr/>
            <p:nvPr/>
          </p:nvPicPr>
          <p:blipFill>
            <a:blip r:embed="rId9" cstate="print"/>
            <a:stretch>
              <a:fillRect/>
            </a:stretch>
          </p:blipFill>
          <p:spPr>
            <a:xfrm>
              <a:off x="2750902" y="2065366"/>
              <a:ext cx="74377" cy="63751"/>
            </a:xfrm>
            <a:prstGeom prst="rect">
              <a:avLst/>
            </a:prstGeom>
          </p:spPr>
        </p:pic>
        <p:sp>
          <p:nvSpPr>
            <p:cNvPr id="42" name="object 42"/>
            <p:cNvSpPr/>
            <p:nvPr/>
          </p:nvSpPr>
          <p:spPr>
            <a:xfrm>
              <a:off x="1817402" y="1500050"/>
              <a:ext cx="971550" cy="0"/>
            </a:xfrm>
            <a:custGeom>
              <a:avLst/>
              <a:gdLst/>
              <a:ahLst/>
              <a:cxnLst/>
              <a:rect l="l" t="t" r="r" b="b"/>
              <a:pathLst>
                <a:path w="971550">
                  <a:moveTo>
                    <a:pt x="0" y="0"/>
                  </a:moveTo>
                  <a:lnTo>
                    <a:pt x="971036" y="0"/>
                  </a:lnTo>
                </a:path>
              </a:pathLst>
            </a:custGeom>
            <a:ln w="5270">
              <a:solidFill>
                <a:srgbClr val="231F20"/>
              </a:solidFill>
              <a:prstDash val="lgDash"/>
            </a:ln>
          </p:spPr>
          <p:txBody>
            <a:bodyPr wrap="square" lIns="0" tIns="0" rIns="0" bIns="0" rtlCol="0"/>
            <a:lstStyle/>
            <a:p>
              <a:endParaRPr/>
            </a:p>
          </p:txBody>
        </p:sp>
        <p:pic>
          <p:nvPicPr>
            <p:cNvPr id="43" name="object 43"/>
            <p:cNvPicPr/>
            <p:nvPr/>
          </p:nvPicPr>
          <p:blipFill>
            <a:blip r:embed="rId8" cstate="print"/>
            <a:stretch>
              <a:fillRect/>
            </a:stretch>
          </p:blipFill>
          <p:spPr>
            <a:xfrm>
              <a:off x="1780013" y="1468174"/>
              <a:ext cx="74377" cy="63751"/>
            </a:xfrm>
            <a:prstGeom prst="rect">
              <a:avLst/>
            </a:prstGeom>
          </p:spPr>
        </p:pic>
        <p:pic>
          <p:nvPicPr>
            <p:cNvPr id="44" name="object 44"/>
            <p:cNvPicPr/>
            <p:nvPr/>
          </p:nvPicPr>
          <p:blipFill>
            <a:blip r:embed="rId9" cstate="print"/>
            <a:stretch>
              <a:fillRect/>
            </a:stretch>
          </p:blipFill>
          <p:spPr>
            <a:xfrm>
              <a:off x="2751440" y="1468174"/>
              <a:ext cx="74377" cy="63751"/>
            </a:xfrm>
            <a:prstGeom prst="rect">
              <a:avLst/>
            </a:prstGeom>
          </p:spPr>
        </p:pic>
      </p:grpSp>
      <p:sp>
        <p:nvSpPr>
          <p:cNvPr id="45" name="object 45"/>
          <p:cNvSpPr txBox="1"/>
          <p:nvPr/>
        </p:nvSpPr>
        <p:spPr>
          <a:xfrm>
            <a:off x="2440408" y="1670388"/>
            <a:ext cx="3067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Service</a:t>
            </a:r>
            <a:endParaRPr sz="650">
              <a:latin typeface="Arial"/>
              <a:cs typeface="Arial"/>
            </a:endParaRPr>
          </a:p>
        </p:txBody>
      </p:sp>
      <p:sp>
        <p:nvSpPr>
          <p:cNvPr id="46" name="object 46"/>
          <p:cNvSpPr txBox="1"/>
          <p:nvPr/>
        </p:nvSpPr>
        <p:spPr>
          <a:xfrm>
            <a:off x="2095450" y="2088758"/>
            <a:ext cx="3352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Protocol</a:t>
            </a:r>
            <a:endParaRPr sz="650">
              <a:latin typeface="Arial"/>
              <a:cs typeface="Arial"/>
            </a:endParaRPr>
          </a:p>
        </p:txBody>
      </p:sp>
      <p:grpSp>
        <p:nvGrpSpPr>
          <p:cNvPr id="47" name="object 47"/>
          <p:cNvGrpSpPr/>
          <p:nvPr/>
        </p:nvGrpSpPr>
        <p:grpSpPr>
          <a:xfrm>
            <a:off x="880220" y="1197986"/>
            <a:ext cx="2844800" cy="1470025"/>
            <a:chOff x="880220" y="1197986"/>
            <a:chExt cx="2844800" cy="1470025"/>
          </a:xfrm>
        </p:grpSpPr>
        <p:pic>
          <p:nvPicPr>
            <p:cNvPr id="48" name="object 48"/>
            <p:cNvPicPr/>
            <p:nvPr/>
          </p:nvPicPr>
          <p:blipFill>
            <a:blip r:embed="rId10" cstate="print"/>
            <a:stretch>
              <a:fillRect/>
            </a:stretch>
          </p:blipFill>
          <p:spPr>
            <a:xfrm>
              <a:off x="2526474" y="1795812"/>
              <a:ext cx="92276" cy="181914"/>
            </a:xfrm>
            <a:prstGeom prst="rect">
              <a:avLst/>
            </a:prstGeom>
          </p:spPr>
        </p:pic>
        <p:sp>
          <p:nvSpPr>
            <p:cNvPr id="49" name="object 49"/>
            <p:cNvSpPr/>
            <p:nvPr/>
          </p:nvSpPr>
          <p:spPr>
            <a:xfrm>
              <a:off x="883077" y="1200843"/>
              <a:ext cx="2839085" cy="1464310"/>
            </a:xfrm>
            <a:custGeom>
              <a:avLst/>
              <a:gdLst/>
              <a:ahLst/>
              <a:cxnLst/>
              <a:rect l="l" t="t" r="r" b="b"/>
              <a:pathLst>
                <a:path w="2839085" h="1464310">
                  <a:moveTo>
                    <a:pt x="0" y="1464123"/>
                  </a:moveTo>
                  <a:lnTo>
                    <a:pt x="926281" y="1464123"/>
                  </a:lnTo>
                  <a:lnTo>
                    <a:pt x="926281" y="0"/>
                  </a:lnTo>
                  <a:lnTo>
                    <a:pt x="0" y="0"/>
                  </a:lnTo>
                  <a:lnTo>
                    <a:pt x="0" y="1464123"/>
                  </a:lnTo>
                  <a:close/>
                </a:path>
                <a:path w="2839085" h="1464310">
                  <a:moveTo>
                    <a:pt x="1912318" y="1464123"/>
                  </a:moveTo>
                  <a:lnTo>
                    <a:pt x="2838600" y="1464123"/>
                  </a:lnTo>
                  <a:lnTo>
                    <a:pt x="2838600" y="0"/>
                  </a:lnTo>
                  <a:lnTo>
                    <a:pt x="1912318" y="0"/>
                  </a:lnTo>
                  <a:lnTo>
                    <a:pt x="1912318" y="1464123"/>
                  </a:lnTo>
                  <a:close/>
                </a:path>
              </a:pathLst>
            </a:custGeom>
            <a:ln w="5270">
              <a:solidFill>
                <a:srgbClr val="231F20"/>
              </a:solidFill>
            </a:ln>
          </p:spPr>
          <p:txBody>
            <a:bodyPr wrap="square" lIns="0" tIns="0" rIns="0" bIns="0" rtlCol="0"/>
            <a:lstStyle/>
            <a:p>
              <a:endParaRPr/>
            </a:p>
          </p:txBody>
        </p:sp>
      </p:grpSp>
      <p:sp>
        <p:nvSpPr>
          <p:cNvPr id="50" name="object 50"/>
          <p:cNvSpPr txBox="1"/>
          <p:nvPr/>
        </p:nvSpPr>
        <p:spPr>
          <a:xfrm>
            <a:off x="3074285" y="1053972"/>
            <a:ext cx="3022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Party B</a:t>
            </a:r>
            <a:endParaRPr sz="650">
              <a:latin typeface="Arial"/>
              <a:cs typeface="Arial"/>
            </a:endParaRPr>
          </a:p>
        </p:txBody>
      </p:sp>
      <p:sp>
        <p:nvSpPr>
          <p:cNvPr id="51" name="object 51"/>
          <p:cNvSpPr txBox="1"/>
          <p:nvPr/>
        </p:nvSpPr>
        <p:spPr>
          <a:xfrm>
            <a:off x="1168883" y="1420346"/>
            <a:ext cx="3206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Layer </a:t>
            </a:r>
            <a:r>
              <a:rPr sz="650" spc="10" dirty="0">
                <a:solidFill>
                  <a:srgbClr val="231F20"/>
                </a:solidFill>
                <a:latin typeface="Arial"/>
                <a:cs typeface="Arial"/>
              </a:rPr>
              <a:t>N</a:t>
            </a:r>
            <a:endParaRPr sz="650">
              <a:latin typeface="Arial"/>
              <a:cs typeface="Arial"/>
            </a:endParaRPr>
          </a:p>
        </p:txBody>
      </p:sp>
      <p:sp>
        <p:nvSpPr>
          <p:cNvPr id="52" name="object 52"/>
          <p:cNvSpPr txBox="1"/>
          <p:nvPr/>
        </p:nvSpPr>
        <p:spPr>
          <a:xfrm>
            <a:off x="3071460" y="1410649"/>
            <a:ext cx="3206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Layer </a:t>
            </a:r>
            <a:r>
              <a:rPr sz="650" spc="10" dirty="0">
                <a:solidFill>
                  <a:srgbClr val="231F20"/>
                </a:solidFill>
                <a:latin typeface="Arial"/>
                <a:cs typeface="Arial"/>
              </a:rPr>
              <a:t>N</a:t>
            </a:r>
            <a:endParaRPr sz="650">
              <a:latin typeface="Arial"/>
              <a:cs typeface="Arial"/>
            </a:endParaRPr>
          </a:p>
        </p:txBody>
      </p:sp>
      <p:grpSp>
        <p:nvGrpSpPr>
          <p:cNvPr id="53" name="object 53"/>
          <p:cNvGrpSpPr/>
          <p:nvPr/>
        </p:nvGrpSpPr>
        <p:grpSpPr>
          <a:xfrm>
            <a:off x="912970" y="2002580"/>
            <a:ext cx="2780665" cy="157480"/>
            <a:chOff x="912970" y="2002580"/>
            <a:chExt cx="2780665" cy="157480"/>
          </a:xfrm>
        </p:grpSpPr>
        <p:sp>
          <p:nvSpPr>
            <p:cNvPr id="54" name="object 54"/>
            <p:cNvSpPr/>
            <p:nvPr/>
          </p:nvSpPr>
          <p:spPr>
            <a:xfrm>
              <a:off x="915606" y="2005216"/>
              <a:ext cx="865505" cy="152400"/>
            </a:xfrm>
            <a:custGeom>
              <a:avLst/>
              <a:gdLst/>
              <a:ahLst/>
              <a:cxnLst/>
              <a:rect l="l" t="t" r="r" b="b"/>
              <a:pathLst>
                <a:path w="865505" h="152400">
                  <a:moveTo>
                    <a:pt x="865366" y="0"/>
                  </a:moveTo>
                  <a:lnTo>
                    <a:pt x="0" y="0"/>
                  </a:lnTo>
                  <a:lnTo>
                    <a:pt x="0" y="151794"/>
                  </a:lnTo>
                  <a:lnTo>
                    <a:pt x="865366" y="151794"/>
                  </a:lnTo>
                  <a:lnTo>
                    <a:pt x="865366" y="0"/>
                  </a:lnTo>
                  <a:close/>
                </a:path>
              </a:pathLst>
            </a:custGeom>
            <a:solidFill>
              <a:srgbClr val="FFFFFF"/>
            </a:solidFill>
          </p:spPr>
          <p:txBody>
            <a:bodyPr wrap="square" lIns="0" tIns="0" rIns="0" bIns="0" rtlCol="0"/>
            <a:lstStyle/>
            <a:p>
              <a:endParaRPr/>
            </a:p>
          </p:txBody>
        </p:sp>
        <p:sp>
          <p:nvSpPr>
            <p:cNvPr id="55" name="object 55"/>
            <p:cNvSpPr/>
            <p:nvPr/>
          </p:nvSpPr>
          <p:spPr>
            <a:xfrm>
              <a:off x="915606" y="2005216"/>
              <a:ext cx="865505" cy="152400"/>
            </a:xfrm>
            <a:custGeom>
              <a:avLst/>
              <a:gdLst/>
              <a:ahLst/>
              <a:cxnLst/>
              <a:rect l="l" t="t" r="r" b="b"/>
              <a:pathLst>
                <a:path w="865505" h="152400">
                  <a:moveTo>
                    <a:pt x="0" y="151794"/>
                  </a:moveTo>
                  <a:lnTo>
                    <a:pt x="865366" y="151794"/>
                  </a:lnTo>
                  <a:lnTo>
                    <a:pt x="865366" y="0"/>
                  </a:lnTo>
                  <a:lnTo>
                    <a:pt x="0" y="0"/>
                  </a:lnTo>
                  <a:lnTo>
                    <a:pt x="0" y="151794"/>
                  </a:lnTo>
                  <a:close/>
                </a:path>
              </a:pathLst>
            </a:custGeom>
            <a:ln w="5270">
              <a:solidFill>
                <a:srgbClr val="231F20"/>
              </a:solidFill>
            </a:ln>
          </p:spPr>
          <p:txBody>
            <a:bodyPr wrap="square" lIns="0" tIns="0" rIns="0" bIns="0" rtlCol="0"/>
            <a:lstStyle/>
            <a:p>
              <a:endParaRPr/>
            </a:p>
          </p:txBody>
        </p:sp>
        <p:sp>
          <p:nvSpPr>
            <p:cNvPr id="56" name="object 56"/>
            <p:cNvSpPr/>
            <p:nvPr/>
          </p:nvSpPr>
          <p:spPr>
            <a:xfrm>
              <a:off x="2825279" y="2005216"/>
              <a:ext cx="865505" cy="152400"/>
            </a:xfrm>
            <a:custGeom>
              <a:avLst/>
              <a:gdLst/>
              <a:ahLst/>
              <a:cxnLst/>
              <a:rect l="l" t="t" r="r" b="b"/>
              <a:pathLst>
                <a:path w="865504" h="152400">
                  <a:moveTo>
                    <a:pt x="865366" y="0"/>
                  </a:moveTo>
                  <a:lnTo>
                    <a:pt x="0" y="0"/>
                  </a:lnTo>
                  <a:lnTo>
                    <a:pt x="0" y="151790"/>
                  </a:lnTo>
                  <a:lnTo>
                    <a:pt x="865366" y="151790"/>
                  </a:lnTo>
                  <a:lnTo>
                    <a:pt x="865366" y="0"/>
                  </a:lnTo>
                  <a:close/>
                </a:path>
              </a:pathLst>
            </a:custGeom>
            <a:solidFill>
              <a:srgbClr val="FFFFFF"/>
            </a:solidFill>
          </p:spPr>
          <p:txBody>
            <a:bodyPr wrap="square" lIns="0" tIns="0" rIns="0" bIns="0" rtlCol="0"/>
            <a:lstStyle/>
            <a:p>
              <a:endParaRPr/>
            </a:p>
          </p:txBody>
        </p:sp>
        <p:sp>
          <p:nvSpPr>
            <p:cNvPr id="57" name="object 57"/>
            <p:cNvSpPr/>
            <p:nvPr/>
          </p:nvSpPr>
          <p:spPr>
            <a:xfrm>
              <a:off x="2825279" y="2005216"/>
              <a:ext cx="865505" cy="152400"/>
            </a:xfrm>
            <a:custGeom>
              <a:avLst/>
              <a:gdLst/>
              <a:ahLst/>
              <a:cxnLst/>
              <a:rect l="l" t="t" r="r" b="b"/>
              <a:pathLst>
                <a:path w="865504" h="152400">
                  <a:moveTo>
                    <a:pt x="0" y="151790"/>
                  </a:moveTo>
                  <a:lnTo>
                    <a:pt x="865366" y="151790"/>
                  </a:lnTo>
                  <a:lnTo>
                    <a:pt x="865366" y="0"/>
                  </a:lnTo>
                  <a:lnTo>
                    <a:pt x="0" y="0"/>
                  </a:lnTo>
                  <a:lnTo>
                    <a:pt x="0" y="151790"/>
                  </a:lnTo>
                  <a:close/>
                </a:path>
              </a:pathLst>
            </a:custGeom>
            <a:ln w="5270">
              <a:solidFill>
                <a:srgbClr val="231F20"/>
              </a:solidFill>
            </a:ln>
          </p:spPr>
          <p:txBody>
            <a:bodyPr wrap="square" lIns="0" tIns="0" rIns="0" bIns="0" rtlCol="0"/>
            <a:lstStyle/>
            <a:p>
              <a:endParaRPr/>
            </a:p>
          </p:txBody>
        </p:sp>
      </p:grpSp>
      <p:sp>
        <p:nvSpPr>
          <p:cNvPr id="58" name="object 58"/>
          <p:cNvSpPr txBox="1"/>
          <p:nvPr/>
        </p:nvSpPr>
        <p:spPr>
          <a:xfrm>
            <a:off x="1134181" y="2024359"/>
            <a:ext cx="395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Layer N-1</a:t>
            </a:r>
            <a:endParaRPr sz="650">
              <a:latin typeface="Arial"/>
              <a:cs typeface="Arial"/>
            </a:endParaRPr>
          </a:p>
        </p:txBody>
      </p:sp>
      <p:sp>
        <p:nvSpPr>
          <p:cNvPr id="60" name="object 60"/>
          <p:cNvSpPr txBox="1"/>
          <p:nvPr/>
        </p:nvSpPr>
        <p:spPr>
          <a:xfrm>
            <a:off x="66713" y="3331252"/>
            <a:ext cx="1156335" cy="119380"/>
          </a:xfrm>
          <a:prstGeom prst="rect">
            <a:avLst/>
          </a:prstGeom>
        </p:spPr>
        <p:txBody>
          <a:bodyPr vert="horz" wrap="square" lIns="0" tIns="8890" rIns="0" bIns="0" rtlCol="0">
            <a:spAutoFit/>
          </a:bodyPr>
          <a:lstStyle/>
          <a:p>
            <a:pPr marL="12700">
              <a:lnSpc>
                <a:spcPct val="100000"/>
              </a:lnSpc>
              <a:spcBef>
                <a:spcPts val="70"/>
              </a:spcBef>
            </a:pPr>
            <a:r>
              <a:rPr sz="600" spc="-10" dirty="0">
                <a:solidFill>
                  <a:srgbClr val="3333B2"/>
                </a:solidFill>
                <a:latin typeface="Arial"/>
                <a:cs typeface="Arial"/>
                <a:hlinkClick r:id="rId11" action="ppaction://hlinksldjump"/>
              </a:rPr>
              <a:t>Layered</a:t>
            </a:r>
            <a:r>
              <a:rPr sz="600" spc="-5" dirty="0">
                <a:solidFill>
                  <a:srgbClr val="3333B2"/>
                </a:solidFill>
                <a:latin typeface="Arial"/>
                <a:cs typeface="Arial"/>
                <a:hlinkClick r:id="rId11" action="ppaction://hlinksldjump"/>
              </a:rPr>
              <a:t> communication protocols</a:t>
            </a:r>
            <a:endParaRPr sz="600">
              <a:latin typeface="Arial"/>
              <a:cs typeface="Arial"/>
            </a:endParaRPr>
          </a:p>
        </p:txBody>
      </p:sp>
      <p:sp>
        <p:nvSpPr>
          <p:cNvPr id="61" name="object 61"/>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4</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59" name="object 59"/>
          <p:cNvSpPr txBox="1"/>
          <p:nvPr/>
        </p:nvSpPr>
        <p:spPr>
          <a:xfrm>
            <a:off x="3036758" y="2014666"/>
            <a:ext cx="395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Layer N-1</a:t>
            </a:r>
            <a:endParaRPr sz="65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p:nvPr/>
        </p:nvSpPr>
        <p:spPr>
          <a:xfrm>
            <a:off x="66713" y="3331252"/>
            <a:ext cx="1156335" cy="119380"/>
          </a:xfrm>
          <a:prstGeom prst="rect">
            <a:avLst/>
          </a:prstGeom>
        </p:spPr>
        <p:txBody>
          <a:bodyPr vert="horz" wrap="square" lIns="0" tIns="8890" rIns="0" bIns="0" rtlCol="0">
            <a:spAutoFit/>
          </a:bodyPr>
          <a:lstStyle/>
          <a:p>
            <a:pPr marL="12700">
              <a:lnSpc>
                <a:spcPct val="100000"/>
              </a:lnSpc>
              <a:spcBef>
                <a:spcPts val="70"/>
              </a:spcBef>
            </a:pPr>
            <a:r>
              <a:rPr sz="600" spc="-10" dirty="0">
                <a:solidFill>
                  <a:srgbClr val="3333B2"/>
                </a:solidFill>
                <a:latin typeface="Arial"/>
                <a:cs typeface="Arial"/>
                <a:hlinkClick r:id="rId3" action="ppaction://hlinksldjump"/>
              </a:rPr>
              <a:t>Layered</a:t>
            </a:r>
            <a:r>
              <a:rPr sz="600" spc="-5" dirty="0">
                <a:solidFill>
                  <a:srgbClr val="3333B2"/>
                </a:solidFill>
                <a:latin typeface="Arial"/>
                <a:cs typeface="Arial"/>
                <a:hlinkClick r:id="rId3" action="ppaction://hlinksldjump"/>
              </a:rPr>
              <a:t> communication protocols</a:t>
            </a:r>
            <a:endParaRPr sz="600">
              <a:latin typeface="Arial"/>
              <a:cs typeface="Arial"/>
            </a:endParaRPr>
          </a:p>
        </p:txBody>
      </p:sp>
      <p:sp>
        <p:nvSpPr>
          <p:cNvPr id="12" name="object 12"/>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5</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Architectural</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Layered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95300" y="188846"/>
            <a:ext cx="20929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Two-party</a:t>
            </a:r>
            <a:r>
              <a:rPr sz="1400" spc="-45" dirty="0">
                <a:solidFill>
                  <a:srgbClr val="3333B2"/>
                </a:solidFill>
                <a:latin typeface="Arial"/>
                <a:cs typeface="Arial"/>
              </a:rPr>
              <a:t> </a:t>
            </a:r>
            <a:r>
              <a:rPr sz="1400" spc="15" dirty="0">
                <a:solidFill>
                  <a:srgbClr val="3333B2"/>
                </a:solidFill>
                <a:latin typeface="Arial"/>
                <a:cs typeface="Arial"/>
              </a:rPr>
              <a:t>communication</a:t>
            </a:r>
            <a:endParaRPr sz="1400">
              <a:latin typeface="Arial"/>
              <a:cs typeface="Arial"/>
            </a:endParaRPr>
          </a:p>
        </p:txBody>
      </p:sp>
      <p:sp>
        <p:nvSpPr>
          <p:cNvPr id="5" name="object 5"/>
          <p:cNvSpPr txBox="1"/>
          <p:nvPr/>
        </p:nvSpPr>
        <p:spPr>
          <a:xfrm>
            <a:off x="263652" y="677364"/>
            <a:ext cx="3470910" cy="641985"/>
          </a:xfrm>
          <a:prstGeom prst="rect">
            <a:avLst/>
          </a:prstGeom>
        </p:spPr>
        <p:txBody>
          <a:bodyPr vert="horz" wrap="square" lIns="0" tIns="12065" rIns="0" bIns="0" rtlCol="0">
            <a:spAutoFit/>
          </a:bodyPr>
          <a:lstStyle/>
          <a:p>
            <a:pPr marL="95885">
              <a:lnSpc>
                <a:spcPts val="1390"/>
              </a:lnSpc>
              <a:spcBef>
                <a:spcPts val="95"/>
              </a:spcBef>
            </a:pPr>
            <a:r>
              <a:rPr sz="1200" spc="-5" dirty="0">
                <a:solidFill>
                  <a:srgbClr val="3333B2"/>
                </a:solidFill>
                <a:latin typeface="Arial"/>
                <a:cs typeface="Arial"/>
              </a:rPr>
              <a:t>Server</a:t>
            </a:r>
            <a:endParaRPr sz="1200">
              <a:latin typeface="Arial"/>
              <a:cs typeface="Arial"/>
            </a:endParaRPr>
          </a:p>
          <a:p>
            <a:pPr marL="50800">
              <a:lnSpc>
                <a:spcPts val="855"/>
              </a:lnSpc>
            </a:pPr>
            <a:r>
              <a:rPr sz="600" spc="55" dirty="0">
                <a:latin typeface="Times New Roman"/>
                <a:cs typeface="Times New Roman"/>
              </a:rPr>
              <a:t>1 </a:t>
            </a:r>
            <a:r>
              <a:rPr sz="600" spc="160" dirty="0">
                <a:latin typeface="Times New Roman"/>
                <a:cs typeface="Times New Roman"/>
              </a:rPr>
              <a:t> </a:t>
            </a:r>
            <a:r>
              <a:rPr sz="800" b="1" spc="5" dirty="0">
                <a:solidFill>
                  <a:srgbClr val="FF0059"/>
                </a:solidFill>
                <a:latin typeface="Times New Roman"/>
                <a:cs typeface="Times New Roman"/>
              </a:rPr>
              <a:t>from</a:t>
            </a:r>
            <a:r>
              <a:rPr sz="800" b="1" spc="60" dirty="0">
                <a:solidFill>
                  <a:srgbClr val="FF0059"/>
                </a:solidFill>
                <a:latin typeface="Times New Roman"/>
                <a:cs typeface="Times New Roman"/>
              </a:rPr>
              <a:t> </a:t>
            </a:r>
            <a:r>
              <a:rPr sz="800" spc="75" dirty="0">
                <a:latin typeface="Times New Roman"/>
                <a:cs typeface="Times New Roman"/>
              </a:rPr>
              <a:t>socket </a:t>
            </a:r>
            <a:r>
              <a:rPr sz="800" spc="170" dirty="0">
                <a:latin typeface="Times New Roman"/>
                <a:cs typeface="Times New Roman"/>
              </a:rPr>
              <a:t> </a:t>
            </a:r>
            <a:r>
              <a:rPr sz="800" b="1" spc="25" dirty="0">
                <a:solidFill>
                  <a:srgbClr val="FF0059"/>
                </a:solidFill>
                <a:latin typeface="Times New Roman"/>
                <a:cs typeface="Times New Roman"/>
              </a:rPr>
              <a:t>import</a:t>
            </a:r>
            <a:r>
              <a:rPr sz="800" b="1" spc="85" dirty="0">
                <a:solidFill>
                  <a:srgbClr val="FF0059"/>
                </a:solidFill>
                <a:latin typeface="Times New Roman"/>
                <a:cs typeface="Times New Roman"/>
              </a:rPr>
              <a:t> </a:t>
            </a:r>
            <a:r>
              <a:rPr sz="1200" spc="112" baseline="-10416" dirty="0">
                <a:latin typeface="Times New Roman"/>
                <a:cs typeface="Times New Roman"/>
              </a:rPr>
              <a:t>*</a:t>
            </a:r>
            <a:endParaRPr sz="1200" baseline="-10416">
              <a:latin typeface="Times New Roman"/>
              <a:cs typeface="Times New Roman"/>
            </a:endParaRPr>
          </a:p>
          <a:p>
            <a:pPr marL="50800">
              <a:lnSpc>
                <a:spcPts val="850"/>
              </a:lnSpc>
            </a:pPr>
            <a:r>
              <a:rPr sz="600" spc="55" dirty="0">
                <a:latin typeface="Times New Roman"/>
                <a:cs typeface="Times New Roman"/>
              </a:rPr>
              <a:t>2 </a:t>
            </a:r>
            <a:r>
              <a:rPr sz="600" spc="200" dirty="0">
                <a:latin typeface="Times New Roman"/>
                <a:cs typeface="Times New Roman"/>
              </a:rPr>
              <a:t> </a:t>
            </a:r>
            <a:r>
              <a:rPr sz="800" spc="165" dirty="0">
                <a:latin typeface="Times New Roman"/>
                <a:cs typeface="Times New Roman"/>
              </a:rPr>
              <a:t>s</a:t>
            </a:r>
            <a:r>
              <a:rPr sz="800" spc="12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15" dirty="0">
                <a:latin typeface="Times New Roman"/>
                <a:cs typeface="Times New Roman"/>
              </a:rPr>
              <a:t>socket(AF_INET,</a:t>
            </a:r>
            <a:r>
              <a:rPr sz="800" spc="85" dirty="0">
                <a:latin typeface="Times New Roman"/>
                <a:cs typeface="Times New Roman"/>
              </a:rPr>
              <a:t> </a:t>
            </a:r>
            <a:r>
              <a:rPr sz="800" spc="-100" dirty="0">
                <a:latin typeface="Times New Roman"/>
                <a:cs typeface="Times New Roman"/>
              </a:rPr>
              <a:t>SOCK_STREAM)</a:t>
            </a:r>
            <a:endParaRPr sz="800">
              <a:latin typeface="Times New Roman"/>
              <a:cs typeface="Times New Roman"/>
            </a:endParaRPr>
          </a:p>
          <a:p>
            <a:pPr marL="50800">
              <a:lnSpc>
                <a:spcPts val="850"/>
              </a:lnSpc>
            </a:pPr>
            <a:r>
              <a:rPr sz="600" spc="55" dirty="0">
                <a:latin typeface="Times New Roman"/>
                <a:cs typeface="Times New Roman"/>
              </a:rPr>
              <a:t>3 </a:t>
            </a:r>
            <a:r>
              <a:rPr sz="600" spc="200" dirty="0">
                <a:latin typeface="Times New Roman"/>
                <a:cs typeface="Times New Roman"/>
              </a:rPr>
              <a:t> </a:t>
            </a:r>
            <a:r>
              <a:rPr sz="800" spc="70" dirty="0">
                <a:latin typeface="Times New Roman"/>
                <a:cs typeface="Times New Roman"/>
              </a:rPr>
              <a:t>(conn,</a:t>
            </a:r>
            <a:r>
              <a:rPr sz="800" spc="90" dirty="0">
                <a:latin typeface="Times New Roman"/>
                <a:cs typeface="Times New Roman"/>
              </a:rPr>
              <a:t> </a:t>
            </a:r>
            <a:r>
              <a:rPr sz="800" spc="80" dirty="0">
                <a:latin typeface="Times New Roman"/>
                <a:cs typeface="Times New Roman"/>
              </a:rPr>
              <a:t>addr)</a:t>
            </a:r>
            <a:r>
              <a:rPr sz="800" spc="12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95" dirty="0">
                <a:latin typeface="Times New Roman"/>
                <a:cs typeface="Times New Roman"/>
              </a:rPr>
              <a:t>s.accept() </a:t>
            </a:r>
            <a:r>
              <a:rPr sz="800" spc="210"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returns</a:t>
            </a:r>
            <a:r>
              <a:rPr sz="800" i="1" spc="65" dirty="0">
                <a:solidFill>
                  <a:srgbClr val="009600"/>
                </a:solidFill>
                <a:latin typeface="Times New Roman"/>
                <a:cs typeface="Times New Roman"/>
              </a:rPr>
              <a:t> </a:t>
            </a:r>
            <a:r>
              <a:rPr sz="800" i="1" spc="5" dirty="0">
                <a:solidFill>
                  <a:srgbClr val="009600"/>
                </a:solidFill>
                <a:latin typeface="Times New Roman"/>
                <a:cs typeface="Times New Roman"/>
              </a:rPr>
              <a:t>new</a:t>
            </a:r>
            <a:r>
              <a:rPr sz="800" i="1" spc="70" dirty="0">
                <a:solidFill>
                  <a:srgbClr val="009600"/>
                </a:solidFill>
                <a:latin typeface="Times New Roman"/>
                <a:cs typeface="Times New Roman"/>
              </a:rPr>
              <a:t> </a:t>
            </a:r>
            <a:r>
              <a:rPr sz="800" i="1" spc="85" dirty="0">
                <a:solidFill>
                  <a:srgbClr val="009600"/>
                </a:solidFill>
                <a:latin typeface="Times New Roman"/>
                <a:cs typeface="Times New Roman"/>
              </a:rPr>
              <a:t>socket</a:t>
            </a:r>
            <a:r>
              <a:rPr sz="800" i="1" spc="75" dirty="0">
                <a:solidFill>
                  <a:srgbClr val="009600"/>
                </a:solidFill>
                <a:latin typeface="Times New Roman"/>
                <a:cs typeface="Times New Roman"/>
              </a:rPr>
              <a:t> </a:t>
            </a:r>
            <a:r>
              <a:rPr sz="800" i="1" spc="35" dirty="0">
                <a:solidFill>
                  <a:srgbClr val="009600"/>
                </a:solidFill>
                <a:latin typeface="Times New Roman"/>
                <a:cs typeface="Times New Roman"/>
              </a:rPr>
              <a:t>and</a:t>
            </a:r>
            <a:r>
              <a:rPr sz="800" i="1" spc="75" dirty="0">
                <a:solidFill>
                  <a:srgbClr val="009600"/>
                </a:solidFill>
                <a:latin typeface="Times New Roman"/>
                <a:cs typeface="Times New Roman"/>
              </a:rPr>
              <a:t> addr.</a:t>
            </a:r>
            <a:r>
              <a:rPr sz="800" i="1" spc="90" dirty="0">
                <a:solidFill>
                  <a:srgbClr val="009600"/>
                </a:solidFill>
                <a:latin typeface="Times New Roman"/>
                <a:cs typeface="Times New Roman"/>
              </a:rPr>
              <a:t> </a:t>
            </a:r>
            <a:r>
              <a:rPr sz="800" i="1" spc="120" dirty="0">
                <a:solidFill>
                  <a:srgbClr val="009600"/>
                </a:solidFill>
                <a:latin typeface="Times New Roman"/>
                <a:cs typeface="Times New Roman"/>
              </a:rPr>
              <a:t>client</a:t>
            </a:r>
            <a:endParaRPr sz="800">
              <a:latin typeface="Times New Roman"/>
              <a:cs typeface="Times New Roman"/>
            </a:endParaRPr>
          </a:p>
          <a:p>
            <a:pPr marL="50165">
              <a:lnSpc>
                <a:spcPts val="905"/>
              </a:lnSpc>
              <a:tabLst>
                <a:tab pos="1533525" algn="l"/>
              </a:tabLst>
            </a:pPr>
            <a:r>
              <a:rPr sz="600" spc="55" dirty="0">
                <a:latin typeface="Times New Roman"/>
                <a:cs typeface="Times New Roman"/>
              </a:rPr>
              <a:t>4 </a:t>
            </a:r>
            <a:r>
              <a:rPr sz="600" spc="185" dirty="0">
                <a:latin typeface="Times New Roman"/>
                <a:cs typeface="Times New Roman"/>
              </a:rPr>
              <a:t> </a:t>
            </a:r>
            <a:r>
              <a:rPr sz="800" b="1" spc="55" dirty="0">
                <a:solidFill>
                  <a:srgbClr val="FF0059"/>
                </a:solidFill>
                <a:latin typeface="Times New Roman"/>
                <a:cs typeface="Times New Roman"/>
              </a:rPr>
              <a:t>while</a:t>
            </a:r>
            <a:r>
              <a:rPr sz="800" b="1" spc="70" dirty="0">
                <a:solidFill>
                  <a:srgbClr val="FF0059"/>
                </a:solidFill>
                <a:latin typeface="Times New Roman"/>
                <a:cs typeface="Times New Roman"/>
              </a:rPr>
              <a:t> </a:t>
            </a:r>
            <a:r>
              <a:rPr sz="800" spc="70" dirty="0">
                <a:latin typeface="Times New Roman"/>
                <a:cs typeface="Times New Roman"/>
              </a:rPr>
              <a:t>True:	</a:t>
            </a:r>
            <a:r>
              <a:rPr sz="800" i="1" spc="75" dirty="0">
                <a:solidFill>
                  <a:srgbClr val="009600"/>
                </a:solidFill>
                <a:latin typeface="Times New Roman"/>
                <a:cs typeface="Times New Roman"/>
              </a:rPr>
              <a:t>#</a:t>
            </a:r>
            <a:r>
              <a:rPr sz="800" i="1" spc="30" dirty="0">
                <a:solidFill>
                  <a:srgbClr val="009600"/>
                </a:solidFill>
                <a:latin typeface="Times New Roman"/>
                <a:cs typeface="Times New Roman"/>
              </a:rPr>
              <a:t> </a:t>
            </a:r>
            <a:r>
              <a:rPr sz="800" i="1" spc="85" dirty="0">
                <a:solidFill>
                  <a:srgbClr val="009600"/>
                </a:solidFill>
                <a:latin typeface="Times New Roman"/>
                <a:cs typeface="Times New Roman"/>
              </a:rPr>
              <a:t>forever</a:t>
            </a:r>
            <a:endParaRPr sz="800">
              <a:latin typeface="Times New Roman"/>
              <a:cs typeface="Times New Roman"/>
            </a:endParaRPr>
          </a:p>
        </p:txBody>
      </p:sp>
      <p:sp>
        <p:nvSpPr>
          <p:cNvPr id="6" name="object 6"/>
          <p:cNvSpPr txBox="1"/>
          <p:nvPr/>
        </p:nvSpPr>
        <p:spPr>
          <a:xfrm>
            <a:off x="516343" y="1280133"/>
            <a:ext cx="2623820" cy="147320"/>
          </a:xfrm>
          <a:prstGeom prst="rect">
            <a:avLst/>
          </a:prstGeom>
        </p:spPr>
        <p:txBody>
          <a:bodyPr vert="horz" wrap="square" lIns="0" tIns="12065" rIns="0" bIns="0" rtlCol="0">
            <a:spAutoFit/>
          </a:bodyPr>
          <a:lstStyle/>
          <a:p>
            <a:pPr marL="12700">
              <a:lnSpc>
                <a:spcPct val="100000"/>
              </a:lnSpc>
              <a:spcBef>
                <a:spcPts val="95"/>
              </a:spcBef>
              <a:tabLst>
                <a:tab pos="1280795" algn="l"/>
              </a:tabLst>
            </a:pPr>
            <a:r>
              <a:rPr sz="800" spc="95" dirty="0">
                <a:latin typeface="Times New Roman"/>
                <a:cs typeface="Times New Roman"/>
              </a:rPr>
              <a:t>data</a:t>
            </a:r>
            <a:r>
              <a:rPr sz="800" spc="11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50" dirty="0">
                <a:latin typeface="Times New Roman"/>
                <a:cs typeface="Times New Roman"/>
              </a:rPr>
              <a:t>conn.recv(1024)	</a:t>
            </a: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50" dirty="0">
                <a:solidFill>
                  <a:srgbClr val="009600"/>
                </a:solidFill>
                <a:latin typeface="Times New Roman"/>
                <a:cs typeface="Times New Roman"/>
              </a:rPr>
              <a:t> </a:t>
            </a:r>
            <a:r>
              <a:rPr sz="800" i="1" spc="70" dirty="0">
                <a:solidFill>
                  <a:srgbClr val="009600"/>
                </a:solidFill>
                <a:latin typeface="Times New Roman"/>
                <a:cs typeface="Times New Roman"/>
              </a:rPr>
              <a:t>data</a:t>
            </a:r>
            <a:r>
              <a:rPr sz="800" i="1" spc="60" dirty="0">
                <a:solidFill>
                  <a:srgbClr val="009600"/>
                </a:solidFill>
                <a:latin typeface="Times New Roman"/>
                <a:cs typeface="Times New Roman"/>
              </a:rPr>
              <a:t> </a:t>
            </a:r>
            <a:r>
              <a:rPr sz="800" i="1" spc="50" dirty="0">
                <a:solidFill>
                  <a:srgbClr val="009600"/>
                </a:solidFill>
                <a:latin typeface="Times New Roman"/>
                <a:cs typeface="Times New Roman"/>
              </a:rPr>
              <a:t>from</a:t>
            </a:r>
            <a:r>
              <a:rPr sz="800" i="1" spc="55" dirty="0">
                <a:solidFill>
                  <a:srgbClr val="009600"/>
                </a:solidFill>
                <a:latin typeface="Times New Roman"/>
                <a:cs typeface="Times New Roman"/>
              </a:rPr>
              <a:t> </a:t>
            </a:r>
            <a:r>
              <a:rPr sz="800" i="1" spc="120" dirty="0">
                <a:solidFill>
                  <a:srgbClr val="009600"/>
                </a:solidFill>
                <a:latin typeface="Times New Roman"/>
                <a:cs typeface="Times New Roman"/>
              </a:rPr>
              <a:t>client</a:t>
            </a:r>
            <a:endParaRPr sz="800">
              <a:latin typeface="Times New Roman"/>
              <a:cs typeface="Times New Roman"/>
            </a:endParaRPr>
          </a:p>
        </p:txBody>
      </p:sp>
      <p:sp>
        <p:nvSpPr>
          <p:cNvPr id="7" name="object 7"/>
          <p:cNvSpPr txBox="1"/>
          <p:nvPr/>
        </p:nvSpPr>
        <p:spPr>
          <a:xfrm>
            <a:off x="263652" y="1305438"/>
            <a:ext cx="3128645" cy="338455"/>
          </a:xfrm>
          <a:prstGeom prst="rect">
            <a:avLst/>
          </a:prstGeom>
        </p:spPr>
        <p:txBody>
          <a:bodyPr vert="horz" wrap="square" lIns="0" tIns="12065" rIns="0" bIns="0" rtlCol="0">
            <a:spAutoFit/>
          </a:bodyPr>
          <a:lstStyle/>
          <a:p>
            <a:pPr marL="50800">
              <a:lnSpc>
                <a:spcPts val="685"/>
              </a:lnSpc>
              <a:spcBef>
                <a:spcPts val="95"/>
              </a:spcBef>
            </a:pPr>
            <a:r>
              <a:rPr sz="600" spc="55" dirty="0">
                <a:latin typeface="Times New Roman"/>
                <a:cs typeface="Times New Roman"/>
              </a:rPr>
              <a:t>5</a:t>
            </a:r>
            <a:endParaRPr sz="600">
              <a:latin typeface="Times New Roman"/>
              <a:cs typeface="Times New Roman"/>
            </a:endParaRPr>
          </a:p>
          <a:p>
            <a:pPr marL="50800">
              <a:lnSpc>
                <a:spcPts val="869"/>
              </a:lnSpc>
              <a:tabLst>
                <a:tab pos="266065" algn="l"/>
                <a:tab pos="1533525" algn="l"/>
              </a:tabLst>
            </a:pPr>
            <a:r>
              <a:rPr sz="600" spc="55" dirty="0">
                <a:latin typeface="Times New Roman"/>
                <a:cs typeface="Times New Roman"/>
              </a:rPr>
              <a:t>6	</a:t>
            </a:r>
            <a:r>
              <a:rPr sz="800" b="1" spc="204" dirty="0">
                <a:solidFill>
                  <a:srgbClr val="FF0059"/>
                </a:solidFill>
                <a:latin typeface="Times New Roman"/>
                <a:cs typeface="Times New Roman"/>
              </a:rPr>
              <a:t>if</a:t>
            </a:r>
            <a:r>
              <a:rPr sz="800" b="1" spc="90" dirty="0">
                <a:solidFill>
                  <a:srgbClr val="FF0059"/>
                </a:solidFill>
                <a:latin typeface="Times New Roman"/>
                <a:cs typeface="Times New Roman"/>
              </a:rPr>
              <a:t> </a:t>
            </a:r>
            <a:r>
              <a:rPr sz="800" b="1" spc="65" dirty="0">
                <a:solidFill>
                  <a:srgbClr val="FF0059"/>
                </a:solidFill>
                <a:latin typeface="Times New Roman"/>
                <a:cs typeface="Times New Roman"/>
              </a:rPr>
              <a:t>not</a:t>
            </a:r>
            <a:r>
              <a:rPr sz="800" b="1" spc="75" dirty="0">
                <a:solidFill>
                  <a:srgbClr val="FF0059"/>
                </a:solidFill>
                <a:latin typeface="Times New Roman"/>
                <a:cs typeface="Times New Roman"/>
              </a:rPr>
              <a:t> </a:t>
            </a:r>
            <a:r>
              <a:rPr sz="800" spc="105" dirty="0">
                <a:latin typeface="Times New Roman"/>
                <a:cs typeface="Times New Roman"/>
              </a:rPr>
              <a:t>data:</a:t>
            </a:r>
            <a:r>
              <a:rPr sz="800" spc="100" dirty="0">
                <a:latin typeface="Times New Roman"/>
                <a:cs typeface="Times New Roman"/>
              </a:rPr>
              <a:t> </a:t>
            </a:r>
            <a:r>
              <a:rPr sz="800" b="1" spc="20" dirty="0">
                <a:solidFill>
                  <a:srgbClr val="FF0059"/>
                </a:solidFill>
                <a:latin typeface="Times New Roman"/>
                <a:cs typeface="Times New Roman"/>
              </a:rPr>
              <a:t>break	</a:t>
            </a:r>
            <a:r>
              <a:rPr sz="800" i="1" spc="75" dirty="0">
                <a:solidFill>
                  <a:srgbClr val="009600"/>
                </a:solidFill>
                <a:latin typeface="Times New Roman"/>
                <a:cs typeface="Times New Roman"/>
              </a:rPr>
              <a:t># </a:t>
            </a:r>
            <a:r>
              <a:rPr sz="800" i="1" spc="95" dirty="0">
                <a:solidFill>
                  <a:srgbClr val="009600"/>
                </a:solidFill>
                <a:latin typeface="Times New Roman"/>
                <a:cs typeface="Times New Roman"/>
              </a:rPr>
              <a:t>stop</a:t>
            </a:r>
            <a:r>
              <a:rPr sz="800" i="1" spc="70" dirty="0">
                <a:solidFill>
                  <a:srgbClr val="009600"/>
                </a:solidFill>
                <a:latin typeface="Times New Roman"/>
                <a:cs typeface="Times New Roman"/>
              </a:rPr>
              <a:t> </a:t>
            </a:r>
            <a:r>
              <a:rPr sz="800" i="1" spc="225" dirty="0">
                <a:solidFill>
                  <a:srgbClr val="009600"/>
                </a:solidFill>
                <a:latin typeface="Times New Roman"/>
                <a:cs typeface="Times New Roman"/>
              </a:rPr>
              <a:t>if</a:t>
            </a:r>
            <a:r>
              <a:rPr sz="800" i="1" spc="60" dirty="0">
                <a:solidFill>
                  <a:srgbClr val="009600"/>
                </a:solidFill>
                <a:latin typeface="Times New Roman"/>
                <a:cs typeface="Times New Roman"/>
              </a:rPr>
              <a:t> </a:t>
            </a:r>
            <a:r>
              <a:rPr sz="800" i="1" spc="120" dirty="0">
                <a:solidFill>
                  <a:srgbClr val="009600"/>
                </a:solidFill>
                <a:latin typeface="Times New Roman"/>
                <a:cs typeface="Times New Roman"/>
              </a:rPr>
              <a:t>client</a:t>
            </a:r>
            <a:r>
              <a:rPr sz="800" i="1" spc="50" dirty="0">
                <a:solidFill>
                  <a:srgbClr val="009600"/>
                </a:solidFill>
                <a:latin typeface="Times New Roman"/>
                <a:cs typeface="Times New Roman"/>
              </a:rPr>
              <a:t> </a:t>
            </a:r>
            <a:r>
              <a:rPr sz="800" i="1" spc="60" dirty="0">
                <a:solidFill>
                  <a:srgbClr val="009600"/>
                </a:solidFill>
                <a:latin typeface="Times New Roman"/>
                <a:cs typeface="Times New Roman"/>
              </a:rPr>
              <a:t>stopped</a:t>
            </a:r>
            <a:endParaRPr sz="800">
              <a:latin typeface="Times New Roman"/>
              <a:cs typeface="Times New Roman"/>
            </a:endParaRPr>
          </a:p>
          <a:p>
            <a:pPr marL="50800">
              <a:lnSpc>
                <a:spcPts val="905"/>
              </a:lnSpc>
              <a:tabLst>
                <a:tab pos="264795" algn="l"/>
              </a:tabLst>
            </a:pPr>
            <a:r>
              <a:rPr sz="600" spc="55" dirty="0">
                <a:latin typeface="Times New Roman"/>
                <a:cs typeface="Times New Roman"/>
              </a:rPr>
              <a:t>7	</a:t>
            </a:r>
            <a:r>
              <a:rPr sz="800" spc="65" dirty="0">
                <a:latin typeface="Times New Roman"/>
                <a:cs typeface="Times New Roman"/>
              </a:rPr>
              <a:t>conn.send(</a:t>
            </a:r>
            <a:r>
              <a:rPr sz="800" b="1" spc="65" dirty="0">
                <a:solidFill>
                  <a:srgbClr val="FF0059"/>
                </a:solidFill>
                <a:latin typeface="Times New Roman"/>
                <a:cs typeface="Times New Roman"/>
              </a:rPr>
              <a:t>str</a:t>
            </a:r>
            <a:r>
              <a:rPr sz="800" spc="65" dirty="0">
                <a:latin typeface="Times New Roman"/>
                <a:cs typeface="Times New Roman"/>
              </a:rPr>
              <a:t>(data)+</a:t>
            </a:r>
            <a:r>
              <a:rPr sz="800" spc="65" dirty="0">
                <a:solidFill>
                  <a:srgbClr val="FA0000"/>
                </a:solidFill>
                <a:latin typeface="Times New Roman"/>
                <a:cs typeface="Times New Roman"/>
              </a:rPr>
              <a:t>"</a:t>
            </a:r>
            <a:r>
              <a:rPr sz="1200" spc="97" baseline="-10416" dirty="0">
                <a:solidFill>
                  <a:srgbClr val="FA0000"/>
                </a:solidFill>
                <a:latin typeface="Times New Roman"/>
                <a:cs typeface="Times New Roman"/>
              </a:rPr>
              <a:t>*</a:t>
            </a:r>
            <a:r>
              <a:rPr sz="800" spc="65" dirty="0">
                <a:solidFill>
                  <a:srgbClr val="FA0000"/>
                </a:solidFill>
                <a:latin typeface="Times New Roman"/>
                <a:cs typeface="Times New Roman"/>
              </a:rPr>
              <a:t>"</a:t>
            </a:r>
            <a:r>
              <a:rPr sz="800" spc="65" dirty="0">
                <a:latin typeface="Times New Roman"/>
                <a:cs typeface="Times New Roman"/>
              </a:rPr>
              <a:t>)</a:t>
            </a:r>
            <a:r>
              <a:rPr sz="800" spc="110"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return</a:t>
            </a:r>
            <a:r>
              <a:rPr sz="800" i="1" spc="60" dirty="0">
                <a:solidFill>
                  <a:srgbClr val="009600"/>
                </a:solidFill>
                <a:latin typeface="Times New Roman"/>
                <a:cs typeface="Times New Roman"/>
              </a:rPr>
              <a:t> </a:t>
            </a:r>
            <a:r>
              <a:rPr sz="800" i="1" spc="105" dirty="0">
                <a:solidFill>
                  <a:srgbClr val="009600"/>
                </a:solidFill>
                <a:latin typeface="Times New Roman"/>
                <a:cs typeface="Times New Roman"/>
              </a:rPr>
              <a:t>sent</a:t>
            </a:r>
            <a:r>
              <a:rPr sz="800" i="1" spc="65" dirty="0">
                <a:solidFill>
                  <a:srgbClr val="009600"/>
                </a:solidFill>
                <a:latin typeface="Times New Roman"/>
                <a:cs typeface="Times New Roman"/>
              </a:rPr>
              <a:t> </a:t>
            </a:r>
            <a:r>
              <a:rPr sz="800" i="1" spc="70" dirty="0">
                <a:solidFill>
                  <a:srgbClr val="009600"/>
                </a:solidFill>
                <a:latin typeface="Times New Roman"/>
                <a:cs typeface="Times New Roman"/>
              </a:rPr>
              <a:t>data </a:t>
            </a:r>
            <a:r>
              <a:rPr sz="800" i="1" spc="95" dirty="0">
                <a:solidFill>
                  <a:srgbClr val="009600"/>
                </a:solidFill>
                <a:latin typeface="Times New Roman"/>
                <a:cs typeface="Times New Roman"/>
              </a:rPr>
              <a:t>plus</a:t>
            </a:r>
            <a:r>
              <a:rPr sz="800" i="1" spc="75" dirty="0">
                <a:solidFill>
                  <a:srgbClr val="009600"/>
                </a:solidFill>
                <a:latin typeface="Times New Roman"/>
                <a:cs typeface="Times New Roman"/>
              </a:rPr>
              <a:t> </a:t>
            </a:r>
            <a:r>
              <a:rPr sz="800" i="1" spc="50" dirty="0">
                <a:solidFill>
                  <a:srgbClr val="009600"/>
                </a:solidFill>
                <a:latin typeface="Times New Roman"/>
                <a:cs typeface="Times New Roman"/>
              </a:rPr>
              <a:t>an</a:t>
            </a:r>
            <a:r>
              <a:rPr sz="800" i="1" spc="80" dirty="0">
                <a:solidFill>
                  <a:srgbClr val="009600"/>
                </a:solidFill>
                <a:latin typeface="Times New Roman"/>
                <a:cs typeface="Times New Roman"/>
              </a:rPr>
              <a:t> "</a:t>
            </a:r>
            <a:r>
              <a:rPr sz="1200" i="1" spc="120" baseline="-10416" dirty="0">
                <a:solidFill>
                  <a:srgbClr val="009600"/>
                </a:solidFill>
                <a:latin typeface="Times New Roman"/>
                <a:cs typeface="Times New Roman"/>
              </a:rPr>
              <a:t>*</a:t>
            </a:r>
            <a:r>
              <a:rPr sz="800" i="1" spc="80" dirty="0">
                <a:solidFill>
                  <a:srgbClr val="009600"/>
                </a:solidFill>
                <a:latin typeface="Times New Roman"/>
                <a:cs typeface="Times New Roman"/>
              </a:rPr>
              <a:t>"</a:t>
            </a:r>
            <a:endParaRPr sz="800">
              <a:latin typeface="Times New Roman"/>
              <a:cs typeface="Times New Roman"/>
            </a:endParaRPr>
          </a:p>
        </p:txBody>
      </p:sp>
      <p:sp>
        <p:nvSpPr>
          <p:cNvPr id="8" name="object 8"/>
          <p:cNvSpPr txBox="1"/>
          <p:nvPr/>
        </p:nvSpPr>
        <p:spPr>
          <a:xfrm>
            <a:off x="263652" y="1538800"/>
            <a:ext cx="3568700" cy="819785"/>
          </a:xfrm>
          <a:prstGeom prst="rect">
            <a:avLst/>
          </a:prstGeom>
        </p:spPr>
        <p:txBody>
          <a:bodyPr vert="horz" wrap="square" lIns="0" tIns="78105" rIns="0" bIns="0" rtlCol="0">
            <a:spAutoFit/>
          </a:bodyPr>
          <a:lstStyle/>
          <a:p>
            <a:pPr marL="50800">
              <a:lnSpc>
                <a:spcPct val="100000"/>
              </a:lnSpc>
              <a:spcBef>
                <a:spcPts val="615"/>
              </a:spcBef>
              <a:tabLst>
                <a:tab pos="1533525" algn="l"/>
              </a:tabLst>
            </a:pPr>
            <a:r>
              <a:rPr sz="600" spc="55" dirty="0">
                <a:latin typeface="Times New Roman"/>
                <a:cs typeface="Times New Roman"/>
              </a:rPr>
              <a:t>8 </a:t>
            </a:r>
            <a:r>
              <a:rPr sz="600" spc="195" dirty="0">
                <a:latin typeface="Times New Roman"/>
                <a:cs typeface="Times New Roman"/>
              </a:rPr>
              <a:t> </a:t>
            </a:r>
            <a:r>
              <a:rPr sz="800" spc="75" dirty="0">
                <a:latin typeface="Times New Roman"/>
                <a:cs typeface="Times New Roman"/>
              </a:rPr>
              <a:t>conn.close()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90" dirty="0">
                <a:solidFill>
                  <a:srgbClr val="009600"/>
                </a:solidFill>
                <a:latin typeface="Times New Roman"/>
                <a:cs typeface="Times New Roman"/>
              </a:rPr>
              <a:t>close</a:t>
            </a:r>
            <a:r>
              <a:rPr sz="800" i="1" spc="6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5" dirty="0">
                <a:solidFill>
                  <a:srgbClr val="009600"/>
                </a:solidFill>
                <a:latin typeface="Times New Roman"/>
                <a:cs typeface="Times New Roman"/>
              </a:rPr>
              <a:t> connection</a:t>
            </a:r>
            <a:endParaRPr sz="800">
              <a:latin typeface="Times New Roman"/>
              <a:cs typeface="Times New Roman"/>
            </a:endParaRPr>
          </a:p>
          <a:p>
            <a:pPr>
              <a:lnSpc>
                <a:spcPct val="100000"/>
              </a:lnSpc>
              <a:spcBef>
                <a:spcPts val="25"/>
              </a:spcBef>
            </a:pPr>
            <a:endParaRPr sz="650">
              <a:latin typeface="Times New Roman"/>
              <a:cs typeface="Times New Roman"/>
            </a:endParaRPr>
          </a:p>
          <a:p>
            <a:pPr marL="95885">
              <a:lnSpc>
                <a:spcPts val="1390"/>
              </a:lnSpc>
            </a:pPr>
            <a:r>
              <a:rPr sz="1200" spc="-5" dirty="0">
                <a:solidFill>
                  <a:srgbClr val="3333B2"/>
                </a:solidFill>
                <a:latin typeface="Arial"/>
                <a:cs typeface="Arial"/>
              </a:rPr>
              <a:t>Client</a:t>
            </a:r>
            <a:endParaRPr sz="1200">
              <a:latin typeface="Arial"/>
              <a:cs typeface="Arial"/>
            </a:endParaRPr>
          </a:p>
          <a:p>
            <a:pPr marL="50800">
              <a:lnSpc>
                <a:spcPts val="855"/>
              </a:lnSpc>
            </a:pPr>
            <a:r>
              <a:rPr sz="600" spc="55" dirty="0">
                <a:latin typeface="Times New Roman"/>
                <a:cs typeface="Times New Roman"/>
              </a:rPr>
              <a:t>1 </a:t>
            </a:r>
            <a:r>
              <a:rPr sz="600" spc="160" dirty="0">
                <a:latin typeface="Times New Roman"/>
                <a:cs typeface="Times New Roman"/>
              </a:rPr>
              <a:t> </a:t>
            </a:r>
            <a:r>
              <a:rPr sz="800" b="1" spc="5" dirty="0">
                <a:solidFill>
                  <a:srgbClr val="FF0059"/>
                </a:solidFill>
                <a:latin typeface="Times New Roman"/>
                <a:cs typeface="Times New Roman"/>
              </a:rPr>
              <a:t>from</a:t>
            </a:r>
            <a:r>
              <a:rPr sz="800" b="1" spc="60" dirty="0">
                <a:solidFill>
                  <a:srgbClr val="FF0059"/>
                </a:solidFill>
                <a:latin typeface="Times New Roman"/>
                <a:cs typeface="Times New Roman"/>
              </a:rPr>
              <a:t> </a:t>
            </a:r>
            <a:r>
              <a:rPr sz="800" spc="75" dirty="0">
                <a:latin typeface="Times New Roman"/>
                <a:cs typeface="Times New Roman"/>
              </a:rPr>
              <a:t>socket </a:t>
            </a:r>
            <a:r>
              <a:rPr sz="800" spc="170" dirty="0">
                <a:latin typeface="Times New Roman"/>
                <a:cs typeface="Times New Roman"/>
              </a:rPr>
              <a:t> </a:t>
            </a:r>
            <a:r>
              <a:rPr sz="800" b="1" spc="25" dirty="0">
                <a:solidFill>
                  <a:srgbClr val="FF0059"/>
                </a:solidFill>
                <a:latin typeface="Times New Roman"/>
                <a:cs typeface="Times New Roman"/>
              </a:rPr>
              <a:t>import</a:t>
            </a:r>
            <a:r>
              <a:rPr sz="800" b="1" spc="85" dirty="0">
                <a:solidFill>
                  <a:srgbClr val="FF0059"/>
                </a:solidFill>
                <a:latin typeface="Times New Roman"/>
                <a:cs typeface="Times New Roman"/>
              </a:rPr>
              <a:t> </a:t>
            </a:r>
            <a:r>
              <a:rPr sz="1200" spc="112" baseline="-10416" dirty="0">
                <a:latin typeface="Times New Roman"/>
                <a:cs typeface="Times New Roman"/>
              </a:rPr>
              <a:t>*</a:t>
            </a:r>
            <a:endParaRPr sz="1200" baseline="-10416">
              <a:latin typeface="Times New Roman"/>
              <a:cs typeface="Times New Roman"/>
            </a:endParaRPr>
          </a:p>
          <a:p>
            <a:pPr marL="50800">
              <a:lnSpc>
                <a:spcPts val="850"/>
              </a:lnSpc>
            </a:pPr>
            <a:r>
              <a:rPr sz="600" spc="55" dirty="0">
                <a:latin typeface="Times New Roman"/>
                <a:cs typeface="Times New Roman"/>
              </a:rPr>
              <a:t>2 </a:t>
            </a:r>
            <a:r>
              <a:rPr sz="600" spc="200" dirty="0">
                <a:latin typeface="Times New Roman"/>
                <a:cs typeface="Times New Roman"/>
              </a:rPr>
              <a:t> </a:t>
            </a:r>
            <a:r>
              <a:rPr sz="800" spc="165" dirty="0">
                <a:latin typeface="Times New Roman"/>
                <a:cs typeface="Times New Roman"/>
              </a:rPr>
              <a:t>s</a:t>
            </a:r>
            <a:r>
              <a:rPr sz="800" spc="120" dirty="0">
                <a:latin typeface="Times New Roman"/>
                <a:cs typeface="Times New Roman"/>
              </a:rPr>
              <a:t> </a:t>
            </a:r>
            <a:r>
              <a:rPr sz="800" spc="25" dirty="0">
                <a:latin typeface="Times New Roman"/>
                <a:cs typeface="Times New Roman"/>
              </a:rPr>
              <a:t>=</a:t>
            </a:r>
            <a:r>
              <a:rPr sz="800" spc="90" dirty="0">
                <a:latin typeface="Times New Roman"/>
                <a:cs typeface="Times New Roman"/>
              </a:rPr>
              <a:t> </a:t>
            </a:r>
            <a:r>
              <a:rPr sz="800" spc="15" dirty="0">
                <a:latin typeface="Times New Roman"/>
                <a:cs typeface="Times New Roman"/>
              </a:rPr>
              <a:t>socket(AF_INET,</a:t>
            </a:r>
            <a:r>
              <a:rPr sz="800" spc="85" dirty="0">
                <a:latin typeface="Times New Roman"/>
                <a:cs typeface="Times New Roman"/>
              </a:rPr>
              <a:t> </a:t>
            </a:r>
            <a:r>
              <a:rPr sz="800" spc="-100" dirty="0">
                <a:latin typeface="Times New Roman"/>
                <a:cs typeface="Times New Roman"/>
              </a:rPr>
              <a:t>SOCK_STREAM)</a:t>
            </a:r>
            <a:endParaRPr sz="800">
              <a:latin typeface="Times New Roman"/>
              <a:cs typeface="Times New Roman"/>
            </a:endParaRPr>
          </a:p>
          <a:p>
            <a:pPr marL="50800">
              <a:lnSpc>
                <a:spcPts val="905"/>
              </a:lnSpc>
            </a:pPr>
            <a:r>
              <a:rPr sz="600" spc="55" dirty="0">
                <a:latin typeface="Times New Roman"/>
                <a:cs typeface="Times New Roman"/>
              </a:rPr>
              <a:t>3 </a:t>
            </a:r>
            <a:r>
              <a:rPr sz="600" spc="200" dirty="0">
                <a:latin typeface="Times New Roman"/>
                <a:cs typeface="Times New Roman"/>
              </a:rPr>
              <a:t> </a:t>
            </a:r>
            <a:r>
              <a:rPr sz="800" spc="35" dirty="0">
                <a:latin typeface="Times New Roman"/>
                <a:cs typeface="Times New Roman"/>
              </a:rPr>
              <a:t>s.connect((HOST,</a:t>
            </a:r>
            <a:r>
              <a:rPr sz="800" spc="95" dirty="0">
                <a:latin typeface="Times New Roman"/>
                <a:cs typeface="Times New Roman"/>
              </a:rPr>
              <a:t> </a:t>
            </a:r>
            <a:r>
              <a:rPr sz="800" spc="-15" dirty="0">
                <a:latin typeface="Times New Roman"/>
                <a:cs typeface="Times New Roman"/>
              </a:rPr>
              <a:t>PORT))</a:t>
            </a:r>
            <a:r>
              <a:rPr sz="800" spc="105" dirty="0">
                <a:latin typeface="Times New Roman"/>
                <a:cs typeface="Times New Roman"/>
              </a:rPr>
              <a:t>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60" dirty="0">
                <a:solidFill>
                  <a:srgbClr val="009600"/>
                </a:solidFill>
                <a:latin typeface="Times New Roman"/>
                <a:cs typeface="Times New Roman"/>
              </a:rPr>
              <a:t>connect</a:t>
            </a:r>
            <a:r>
              <a:rPr sz="800" i="1" spc="80" dirty="0">
                <a:solidFill>
                  <a:srgbClr val="009600"/>
                </a:solidFill>
                <a:latin typeface="Times New Roman"/>
                <a:cs typeface="Times New Roman"/>
              </a:rPr>
              <a:t> </a:t>
            </a:r>
            <a:r>
              <a:rPr sz="800" i="1" spc="135" dirty="0">
                <a:solidFill>
                  <a:srgbClr val="009600"/>
                </a:solidFill>
                <a:latin typeface="Times New Roman"/>
                <a:cs typeface="Times New Roman"/>
              </a:rPr>
              <a:t>to</a:t>
            </a:r>
            <a:r>
              <a:rPr sz="800" i="1" spc="75" dirty="0">
                <a:solidFill>
                  <a:srgbClr val="009600"/>
                </a:solidFill>
                <a:latin typeface="Times New Roman"/>
                <a:cs typeface="Times New Roman"/>
              </a:rPr>
              <a:t> </a:t>
            </a:r>
            <a:r>
              <a:rPr sz="800" i="1" spc="85" dirty="0">
                <a:solidFill>
                  <a:srgbClr val="009600"/>
                </a:solidFill>
                <a:latin typeface="Times New Roman"/>
                <a:cs typeface="Times New Roman"/>
              </a:rPr>
              <a:t>server</a:t>
            </a:r>
            <a:r>
              <a:rPr sz="800" i="1" spc="90" dirty="0">
                <a:solidFill>
                  <a:srgbClr val="009600"/>
                </a:solidFill>
                <a:latin typeface="Times New Roman"/>
                <a:cs typeface="Times New Roman"/>
              </a:rPr>
              <a:t> </a:t>
            </a:r>
            <a:r>
              <a:rPr sz="800" i="1" spc="80" dirty="0">
                <a:solidFill>
                  <a:srgbClr val="009600"/>
                </a:solidFill>
                <a:latin typeface="Times New Roman"/>
                <a:cs typeface="Times New Roman"/>
              </a:rPr>
              <a:t>(block</a:t>
            </a:r>
            <a:r>
              <a:rPr sz="800" i="1" spc="65" dirty="0">
                <a:solidFill>
                  <a:srgbClr val="009600"/>
                </a:solidFill>
                <a:latin typeface="Times New Roman"/>
                <a:cs typeface="Times New Roman"/>
              </a:rPr>
              <a:t> </a:t>
            </a:r>
            <a:r>
              <a:rPr sz="800" i="1" spc="125" dirty="0">
                <a:solidFill>
                  <a:srgbClr val="009600"/>
                </a:solidFill>
                <a:latin typeface="Times New Roman"/>
                <a:cs typeface="Times New Roman"/>
              </a:rPr>
              <a:t>until</a:t>
            </a:r>
            <a:r>
              <a:rPr sz="800" i="1" spc="65" dirty="0">
                <a:solidFill>
                  <a:srgbClr val="009600"/>
                </a:solidFill>
                <a:latin typeface="Times New Roman"/>
                <a:cs typeface="Times New Roman"/>
              </a:rPr>
              <a:t> </a:t>
            </a:r>
            <a:r>
              <a:rPr sz="800" i="1" spc="60" dirty="0">
                <a:solidFill>
                  <a:srgbClr val="009600"/>
                </a:solidFill>
                <a:latin typeface="Times New Roman"/>
                <a:cs typeface="Times New Roman"/>
              </a:rPr>
              <a:t>accepted)</a:t>
            </a:r>
            <a:endParaRPr sz="800">
              <a:latin typeface="Times New Roman"/>
              <a:cs typeface="Times New Roman"/>
            </a:endParaRPr>
          </a:p>
        </p:txBody>
      </p:sp>
      <p:sp>
        <p:nvSpPr>
          <p:cNvPr id="9" name="object 9"/>
          <p:cNvSpPr txBox="1"/>
          <p:nvPr/>
        </p:nvSpPr>
        <p:spPr>
          <a:xfrm>
            <a:off x="301752" y="2319526"/>
            <a:ext cx="1265555" cy="471805"/>
          </a:xfrm>
          <a:prstGeom prst="rect">
            <a:avLst/>
          </a:prstGeom>
        </p:spPr>
        <p:txBody>
          <a:bodyPr vert="horz" wrap="square" lIns="0" tIns="12065" rIns="0" bIns="0" rtlCol="0">
            <a:spAutoFit/>
          </a:bodyPr>
          <a:lstStyle/>
          <a:p>
            <a:pPr marL="12700">
              <a:lnSpc>
                <a:spcPts val="905"/>
              </a:lnSpc>
              <a:spcBef>
                <a:spcPts val="95"/>
              </a:spcBef>
            </a:pPr>
            <a:r>
              <a:rPr sz="600" spc="55" dirty="0">
                <a:latin typeface="Times New Roman"/>
                <a:cs typeface="Times New Roman"/>
              </a:rPr>
              <a:t>4 </a:t>
            </a:r>
            <a:r>
              <a:rPr sz="600" spc="170" dirty="0">
                <a:latin typeface="Times New Roman"/>
                <a:cs typeface="Times New Roman"/>
              </a:rPr>
              <a:t> </a:t>
            </a:r>
            <a:r>
              <a:rPr sz="800" spc="80" dirty="0">
                <a:latin typeface="Times New Roman"/>
                <a:cs typeface="Times New Roman"/>
              </a:rPr>
              <a:t>s.send(</a:t>
            </a:r>
            <a:r>
              <a:rPr sz="800" spc="80" dirty="0">
                <a:solidFill>
                  <a:srgbClr val="FA0000"/>
                </a:solidFill>
                <a:latin typeface="Times New Roman"/>
                <a:cs typeface="Times New Roman"/>
              </a:rPr>
              <a:t>’Hello, </a:t>
            </a:r>
            <a:r>
              <a:rPr sz="800" spc="65" dirty="0">
                <a:solidFill>
                  <a:srgbClr val="FA0000"/>
                </a:solidFill>
                <a:latin typeface="Times New Roman"/>
                <a:cs typeface="Times New Roman"/>
              </a:rPr>
              <a:t>world’</a:t>
            </a:r>
            <a:r>
              <a:rPr sz="800" spc="65" dirty="0">
                <a:latin typeface="Times New Roman"/>
                <a:cs typeface="Times New Roman"/>
              </a:rPr>
              <a:t>)</a:t>
            </a:r>
            <a:endParaRPr sz="800">
              <a:latin typeface="Times New Roman"/>
              <a:cs typeface="Times New Roman"/>
            </a:endParaRPr>
          </a:p>
          <a:p>
            <a:pPr marL="12700">
              <a:lnSpc>
                <a:spcPts val="850"/>
              </a:lnSpc>
            </a:pPr>
            <a:r>
              <a:rPr sz="600" spc="55" dirty="0">
                <a:latin typeface="Times New Roman"/>
                <a:cs typeface="Times New Roman"/>
              </a:rPr>
              <a:t>5 </a:t>
            </a:r>
            <a:r>
              <a:rPr sz="600" spc="140" dirty="0">
                <a:latin typeface="Times New Roman"/>
                <a:cs typeface="Times New Roman"/>
              </a:rPr>
              <a:t> </a:t>
            </a:r>
            <a:r>
              <a:rPr sz="800" spc="95" dirty="0">
                <a:latin typeface="Times New Roman"/>
                <a:cs typeface="Times New Roman"/>
              </a:rPr>
              <a:t>data</a:t>
            </a:r>
            <a:r>
              <a:rPr sz="800" spc="75" dirty="0">
                <a:latin typeface="Times New Roman"/>
                <a:cs typeface="Times New Roman"/>
              </a:rPr>
              <a:t> </a:t>
            </a:r>
            <a:r>
              <a:rPr sz="800" spc="25" dirty="0">
                <a:latin typeface="Times New Roman"/>
                <a:cs typeface="Times New Roman"/>
              </a:rPr>
              <a:t>=</a:t>
            </a:r>
            <a:r>
              <a:rPr sz="800" spc="100" dirty="0">
                <a:latin typeface="Times New Roman"/>
                <a:cs typeface="Times New Roman"/>
              </a:rPr>
              <a:t> </a:t>
            </a:r>
            <a:r>
              <a:rPr sz="800" spc="70" dirty="0">
                <a:latin typeface="Times New Roman"/>
                <a:cs typeface="Times New Roman"/>
              </a:rPr>
              <a:t>s.recv(1024)</a:t>
            </a:r>
            <a:endParaRPr sz="800">
              <a:latin typeface="Times New Roman"/>
              <a:cs typeface="Times New Roman"/>
            </a:endParaRPr>
          </a:p>
          <a:p>
            <a:pPr marL="12700">
              <a:lnSpc>
                <a:spcPts val="850"/>
              </a:lnSpc>
            </a:pPr>
            <a:r>
              <a:rPr sz="600" spc="55" dirty="0">
                <a:latin typeface="Times New Roman"/>
                <a:cs typeface="Times New Roman"/>
              </a:rPr>
              <a:t>6 </a:t>
            </a:r>
            <a:r>
              <a:rPr sz="600" spc="125" dirty="0">
                <a:latin typeface="Times New Roman"/>
                <a:cs typeface="Times New Roman"/>
              </a:rPr>
              <a:t> </a:t>
            </a:r>
            <a:r>
              <a:rPr sz="800" b="1" spc="75" dirty="0">
                <a:solidFill>
                  <a:srgbClr val="FF0059"/>
                </a:solidFill>
                <a:latin typeface="Times New Roman"/>
                <a:cs typeface="Times New Roman"/>
              </a:rPr>
              <a:t>print</a:t>
            </a:r>
            <a:r>
              <a:rPr sz="800" b="1" spc="40" dirty="0">
                <a:solidFill>
                  <a:srgbClr val="FF0059"/>
                </a:solidFill>
                <a:latin typeface="Times New Roman"/>
                <a:cs typeface="Times New Roman"/>
              </a:rPr>
              <a:t> </a:t>
            </a:r>
            <a:r>
              <a:rPr sz="800" spc="95" dirty="0">
                <a:latin typeface="Times New Roman"/>
                <a:cs typeface="Times New Roman"/>
              </a:rPr>
              <a:t>data</a:t>
            </a:r>
            <a:endParaRPr sz="800">
              <a:latin typeface="Times New Roman"/>
              <a:cs typeface="Times New Roman"/>
            </a:endParaRPr>
          </a:p>
          <a:p>
            <a:pPr marL="12700">
              <a:lnSpc>
                <a:spcPts val="905"/>
              </a:lnSpc>
            </a:pPr>
            <a:r>
              <a:rPr sz="600" spc="55" dirty="0">
                <a:latin typeface="Times New Roman"/>
                <a:cs typeface="Times New Roman"/>
              </a:rPr>
              <a:t>7 </a:t>
            </a:r>
            <a:r>
              <a:rPr sz="600" spc="145" dirty="0">
                <a:latin typeface="Times New Roman"/>
                <a:cs typeface="Times New Roman"/>
              </a:rPr>
              <a:t> </a:t>
            </a:r>
            <a:r>
              <a:rPr sz="800" spc="105" dirty="0">
                <a:latin typeface="Times New Roman"/>
                <a:cs typeface="Times New Roman"/>
              </a:rPr>
              <a:t>s.close()</a:t>
            </a:r>
            <a:endParaRPr sz="800">
              <a:latin typeface="Times New Roman"/>
              <a:cs typeface="Times New Roman"/>
            </a:endParaRPr>
          </a:p>
        </p:txBody>
      </p:sp>
      <p:sp>
        <p:nvSpPr>
          <p:cNvPr id="10" name="object 10"/>
          <p:cNvSpPr txBox="1"/>
          <p:nvPr/>
        </p:nvSpPr>
        <p:spPr>
          <a:xfrm>
            <a:off x="1632800" y="2319526"/>
            <a:ext cx="1153160" cy="471805"/>
          </a:xfrm>
          <a:prstGeom prst="rect">
            <a:avLst/>
          </a:prstGeom>
        </p:spPr>
        <p:txBody>
          <a:bodyPr vert="horz" wrap="square" lIns="0" tIns="12065" rIns="0" bIns="0" rtlCol="0">
            <a:spAutoFit/>
          </a:bodyPr>
          <a:lstStyle/>
          <a:p>
            <a:pPr marL="12700">
              <a:lnSpc>
                <a:spcPts val="905"/>
              </a:lnSpc>
              <a:spcBef>
                <a:spcPts val="95"/>
              </a:spcBef>
            </a:pPr>
            <a:r>
              <a:rPr sz="800" i="1" spc="75" dirty="0">
                <a:solidFill>
                  <a:srgbClr val="009600"/>
                </a:solidFill>
                <a:latin typeface="Times New Roman"/>
                <a:cs typeface="Times New Roman"/>
              </a:rPr>
              <a:t># </a:t>
            </a:r>
            <a:r>
              <a:rPr sz="800" i="1" spc="60" dirty="0">
                <a:solidFill>
                  <a:srgbClr val="009600"/>
                </a:solidFill>
                <a:latin typeface="Times New Roman"/>
                <a:cs typeface="Times New Roman"/>
              </a:rPr>
              <a:t>send</a:t>
            </a:r>
            <a:r>
              <a:rPr sz="800" i="1" spc="55" dirty="0">
                <a:solidFill>
                  <a:srgbClr val="009600"/>
                </a:solidFill>
                <a:latin typeface="Times New Roman"/>
                <a:cs typeface="Times New Roman"/>
              </a:rPr>
              <a:t> </a:t>
            </a:r>
            <a:r>
              <a:rPr sz="800" i="1" spc="15" dirty="0">
                <a:solidFill>
                  <a:srgbClr val="009600"/>
                </a:solidFill>
                <a:latin typeface="Times New Roman"/>
                <a:cs typeface="Times New Roman"/>
              </a:rPr>
              <a:t>some</a:t>
            </a:r>
            <a:r>
              <a:rPr sz="800" i="1" spc="55" dirty="0">
                <a:solidFill>
                  <a:srgbClr val="009600"/>
                </a:solidFill>
                <a:latin typeface="Times New Roman"/>
                <a:cs typeface="Times New Roman"/>
              </a:rPr>
              <a:t> </a:t>
            </a:r>
            <a:r>
              <a:rPr sz="800" i="1" spc="70" dirty="0">
                <a:solidFill>
                  <a:srgbClr val="009600"/>
                </a:solidFill>
                <a:latin typeface="Times New Roman"/>
                <a:cs typeface="Times New Roman"/>
              </a:rPr>
              <a:t>data</a:t>
            </a:r>
            <a:endParaRPr sz="800">
              <a:latin typeface="Times New Roman"/>
              <a:cs typeface="Times New Roman"/>
            </a:endParaRPr>
          </a:p>
          <a:p>
            <a:pPr marL="12700" marR="5080">
              <a:lnSpc>
                <a:spcPts val="850"/>
              </a:lnSpc>
              <a:spcBef>
                <a:spcPts val="65"/>
              </a:spcBef>
            </a:pPr>
            <a:r>
              <a:rPr sz="800" i="1" spc="75" dirty="0">
                <a:solidFill>
                  <a:srgbClr val="009600"/>
                </a:solidFill>
                <a:latin typeface="Times New Roman"/>
                <a:cs typeface="Times New Roman"/>
              </a:rPr>
              <a:t>#</a:t>
            </a:r>
            <a:r>
              <a:rPr sz="800" i="1" spc="60" dirty="0">
                <a:solidFill>
                  <a:srgbClr val="009600"/>
                </a:solidFill>
                <a:latin typeface="Times New Roman"/>
                <a:cs typeface="Times New Roman"/>
              </a:rPr>
              <a:t> </a:t>
            </a:r>
            <a:r>
              <a:rPr sz="800" i="1" spc="85" dirty="0">
                <a:solidFill>
                  <a:srgbClr val="009600"/>
                </a:solidFill>
                <a:latin typeface="Times New Roman"/>
                <a:cs typeface="Times New Roman"/>
              </a:rPr>
              <a:t>receive</a:t>
            </a:r>
            <a:r>
              <a:rPr sz="800" i="1" spc="4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0" dirty="0">
                <a:solidFill>
                  <a:srgbClr val="009600"/>
                </a:solidFill>
                <a:latin typeface="Times New Roman"/>
                <a:cs typeface="Times New Roman"/>
              </a:rPr>
              <a:t> </a:t>
            </a:r>
            <a:r>
              <a:rPr sz="800" i="1" spc="55" dirty="0">
                <a:solidFill>
                  <a:srgbClr val="009600"/>
                </a:solidFill>
                <a:latin typeface="Times New Roman"/>
                <a:cs typeface="Times New Roman"/>
              </a:rPr>
              <a:t>response </a:t>
            </a:r>
            <a:r>
              <a:rPr sz="800" i="1" spc="-185"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110" dirty="0">
                <a:solidFill>
                  <a:srgbClr val="009600"/>
                </a:solidFill>
                <a:latin typeface="Times New Roman"/>
                <a:cs typeface="Times New Roman"/>
              </a:rPr>
              <a:t>print</a:t>
            </a:r>
            <a:r>
              <a:rPr sz="800" i="1" spc="60"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60" dirty="0">
                <a:solidFill>
                  <a:srgbClr val="009600"/>
                </a:solidFill>
                <a:latin typeface="Times New Roman"/>
                <a:cs typeface="Times New Roman"/>
              </a:rPr>
              <a:t> </a:t>
            </a:r>
            <a:r>
              <a:rPr sz="800" i="1" spc="114" dirty="0">
                <a:solidFill>
                  <a:srgbClr val="009600"/>
                </a:solidFill>
                <a:latin typeface="Times New Roman"/>
                <a:cs typeface="Times New Roman"/>
              </a:rPr>
              <a:t>result</a:t>
            </a:r>
            <a:endParaRPr sz="800">
              <a:latin typeface="Times New Roman"/>
              <a:cs typeface="Times New Roman"/>
            </a:endParaRPr>
          </a:p>
          <a:p>
            <a:pPr marL="12700">
              <a:lnSpc>
                <a:spcPts val="844"/>
              </a:lnSpc>
            </a:pP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90" dirty="0">
                <a:solidFill>
                  <a:srgbClr val="009600"/>
                </a:solidFill>
                <a:latin typeface="Times New Roman"/>
                <a:cs typeface="Times New Roman"/>
              </a:rPr>
              <a:t>close</a:t>
            </a:r>
            <a:r>
              <a:rPr sz="800" i="1" spc="65" dirty="0">
                <a:solidFill>
                  <a:srgbClr val="009600"/>
                </a:solidFill>
                <a:latin typeface="Times New Roman"/>
                <a:cs typeface="Times New Roman"/>
              </a:rPr>
              <a:t> </a:t>
            </a:r>
            <a:r>
              <a:rPr sz="800" i="1" spc="110" dirty="0">
                <a:solidFill>
                  <a:srgbClr val="009600"/>
                </a:solidFill>
                <a:latin typeface="Times New Roman"/>
                <a:cs typeface="Times New Roman"/>
              </a:rPr>
              <a:t>the</a:t>
            </a:r>
            <a:r>
              <a:rPr sz="800" i="1" spc="55" dirty="0">
                <a:solidFill>
                  <a:srgbClr val="009600"/>
                </a:solidFill>
                <a:latin typeface="Times New Roman"/>
                <a:cs typeface="Times New Roman"/>
              </a:rPr>
              <a:t> connection</a:t>
            </a:r>
            <a:endParaRPr sz="800">
              <a:latin typeface="Times New Roman"/>
              <a:cs typeface="Times New Roman"/>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813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Application l</a:t>
            </a:r>
            <a:r>
              <a:rPr sz="600" spc="-25" dirty="0">
                <a:solidFill>
                  <a:srgbClr val="3333B2"/>
                </a:solidFill>
                <a:latin typeface="Arial"/>
                <a:cs typeface="Arial"/>
                <a:hlinkClick r:id="rId3" action="ppaction://hlinksldjump"/>
              </a:rPr>
              <a:t>a</a:t>
            </a:r>
            <a:r>
              <a:rPr sz="600" spc="-20" dirty="0">
                <a:solidFill>
                  <a:srgbClr val="3333B2"/>
                </a:solidFill>
                <a:latin typeface="Arial"/>
                <a:cs typeface="Arial"/>
                <a:hlinkClick r:id="rId3" action="ppaction://hlinksldjump"/>
              </a:rPr>
              <a:t>y</a:t>
            </a:r>
            <a:r>
              <a:rPr sz="600" spc="-5" dirty="0">
                <a:solidFill>
                  <a:srgbClr val="3333B2"/>
                </a:solidFill>
                <a:latin typeface="Arial"/>
                <a:cs typeface="Arial"/>
                <a:hlinkClick r:id="rId3" action="ppaction://hlinksldjump"/>
              </a:rPr>
              <a:t>e</a:t>
            </a:r>
            <a:r>
              <a:rPr sz="600"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ing</a:t>
            </a:r>
            <a:endParaRPr sz="600">
              <a:latin typeface="Arial"/>
              <a:cs typeface="Arial"/>
            </a:endParaRPr>
          </a:p>
        </p:txBody>
      </p:sp>
      <p:sp>
        <p:nvSpPr>
          <p:cNvPr id="7" name="object 7"/>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Architectural</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Layered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95300" y="188846"/>
            <a:ext cx="1659889"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Application</a:t>
            </a:r>
            <a:r>
              <a:rPr sz="1400" spc="-45" dirty="0">
                <a:solidFill>
                  <a:srgbClr val="3333B2"/>
                </a:solidFill>
                <a:latin typeface="Arial"/>
                <a:cs typeface="Arial"/>
              </a:rPr>
              <a:t> </a:t>
            </a:r>
            <a:r>
              <a:rPr sz="1400" spc="5" dirty="0">
                <a:solidFill>
                  <a:srgbClr val="3333B2"/>
                </a:solidFill>
                <a:latin typeface="Arial"/>
                <a:cs typeface="Arial"/>
              </a:rPr>
              <a:t>Layering</a:t>
            </a:r>
            <a:endParaRPr sz="1400" dirty="0">
              <a:latin typeface="Arial"/>
              <a:cs typeface="Arial"/>
            </a:endParaRPr>
          </a:p>
        </p:txBody>
      </p:sp>
      <p:sp>
        <p:nvSpPr>
          <p:cNvPr id="5" name="object 5"/>
          <p:cNvSpPr txBox="1"/>
          <p:nvPr/>
        </p:nvSpPr>
        <p:spPr>
          <a:xfrm>
            <a:off x="317195" y="816048"/>
            <a:ext cx="3971290" cy="1218565"/>
          </a:xfrm>
          <a:prstGeom prst="rect">
            <a:avLst/>
          </a:prstGeom>
        </p:spPr>
        <p:txBody>
          <a:bodyPr vert="horz" wrap="square" lIns="0" tIns="12065" rIns="0" bIns="0" rtlCol="0">
            <a:spAutoFit/>
          </a:bodyPr>
          <a:lstStyle/>
          <a:p>
            <a:pPr marL="38100">
              <a:lnSpc>
                <a:spcPct val="100000"/>
              </a:lnSpc>
              <a:spcBef>
                <a:spcPts val="95"/>
              </a:spcBef>
            </a:pPr>
            <a:r>
              <a:rPr sz="1200" spc="-20" dirty="0">
                <a:solidFill>
                  <a:srgbClr val="3333B2"/>
                </a:solidFill>
                <a:latin typeface="Arial"/>
                <a:cs typeface="Arial"/>
              </a:rPr>
              <a:t>Traditional</a:t>
            </a:r>
            <a:r>
              <a:rPr sz="1200" spc="-15" dirty="0">
                <a:solidFill>
                  <a:srgbClr val="3333B2"/>
                </a:solidFill>
                <a:latin typeface="Arial"/>
                <a:cs typeface="Arial"/>
              </a:rPr>
              <a:t> </a:t>
            </a:r>
            <a:r>
              <a:rPr sz="1200" spc="-10" dirty="0">
                <a:solidFill>
                  <a:srgbClr val="3333B2"/>
                </a:solidFill>
                <a:latin typeface="Arial"/>
                <a:cs typeface="Arial"/>
              </a:rPr>
              <a:t>three-layered view</a:t>
            </a:r>
            <a:endParaRPr sz="1200" dirty="0">
              <a:latin typeface="Arial"/>
              <a:cs typeface="Arial"/>
            </a:endParaRPr>
          </a:p>
          <a:p>
            <a:pPr marL="319405" marR="30480" indent="-168275">
              <a:lnSpc>
                <a:spcPct val="100000"/>
              </a:lnSpc>
              <a:spcBef>
                <a:spcPts val="780"/>
              </a:spcBef>
              <a:buClr>
                <a:srgbClr val="3333B2"/>
              </a:buClr>
              <a:buChar char="►"/>
              <a:tabLst>
                <a:tab pos="320040" algn="l"/>
              </a:tabLst>
            </a:pPr>
            <a:r>
              <a:rPr sz="1000" spc="-15" dirty="0">
                <a:solidFill>
                  <a:srgbClr val="0000FA"/>
                </a:solidFill>
                <a:latin typeface="Arial"/>
                <a:cs typeface="Arial"/>
              </a:rPr>
              <a:t>Application-interface</a:t>
            </a:r>
            <a:r>
              <a:rPr sz="1000" spc="5" dirty="0">
                <a:solidFill>
                  <a:srgbClr val="0000FA"/>
                </a:solidFill>
                <a:latin typeface="Arial"/>
                <a:cs typeface="Arial"/>
              </a:rPr>
              <a:t> </a:t>
            </a:r>
            <a:r>
              <a:rPr sz="1000" spc="-25" dirty="0">
                <a:solidFill>
                  <a:srgbClr val="0000FA"/>
                </a:solidFill>
                <a:latin typeface="Arial"/>
                <a:cs typeface="Arial"/>
              </a:rPr>
              <a:t>layer</a:t>
            </a:r>
            <a:r>
              <a:rPr sz="1000" spc="5" dirty="0">
                <a:solidFill>
                  <a:srgbClr val="0000FA"/>
                </a:solidFill>
                <a:latin typeface="Arial"/>
                <a:cs typeface="Arial"/>
              </a:rPr>
              <a:t> </a:t>
            </a:r>
            <a:r>
              <a:rPr sz="1000" spc="-15" dirty="0">
                <a:latin typeface="Arial"/>
                <a:cs typeface="Arial"/>
              </a:rPr>
              <a:t>contains</a:t>
            </a:r>
            <a:r>
              <a:rPr sz="1000" spc="10" dirty="0">
                <a:latin typeface="Arial"/>
                <a:cs typeface="Arial"/>
              </a:rPr>
              <a:t> </a:t>
            </a:r>
            <a:r>
              <a:rPr sz="1000" spc="-15" dirty="0">
                <a:latin typeface="Arial"/>
                <a:cs typeface="Arial"/>
              </a:rPr>
              <a:t>units</a:t>
            </a:r>
            <a:r>
              <a:rPr sz="1000" spc="5" dirty="0">
                <a:latin typeface="Arial"/>
                <a:cs typeface="Arial"/>
              </a:rPr>
              <a:t> </a:t>
            </a:r>
            <a:r>
              <a:rPr sz="1000" spc="-25" dirty="0">
                <a:latin typeface="Arial"/>
                <a:cs typeface="Arial"/>
              </a:rPr>
              <a:t>for</a:t>
            </a:r>
            <a:r>
              <a:rPr sz="1000" spc="5" dirty="0">
                <a:latin typeface="Arial"/>
                <a:cs typeface="Arial"/>
              </a:rPr>
              <a:t> </a:t>
            </a:r>
            <a:r>
              <a:rPr sz="1000" spc="-15" dirty="0">
                <a:latin typeface="Arial"/>
                <a:cs typeface="Arial"/>
              </a:rPr>
              <a:t>interfacing</a:t>
            </a:r>
            <a:r>
              <a:rPr sz="1000" spc="10"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users</a:t>
            </a:r>
            <a:r>
              <a:rPr sz="1000" spc="5" dirty="0">
                <a:latin typeface="Arial"/>
                <a:cs typeface="Arial"/>
              </a:rPr>
              <a:t> </a:t>
            </a:r>
            <a:r>
              <a:rPr sz="1000" spc="-15" dirty="0">
                <a:latin typeface="Arial"/>
                <a:cs typeface="Arial"/>
              </a:rPr>
              <a:t>or </a:t>
            </a:r>
            <a:r>
              <a:rPr sz="1000" spc="-260" dirty="0">
                <a:latin typeface="Arial"/>
                <a:cs typeface="Arial"/>
              </a:rPr>
              <a:t> </a:t>
            </a:r>
            <a:r>
              <a:rPr sz="1000" spc="-5" dirty="0">
                <a:latin typeface="Arial"/>
                <a:cs typeface="Arial"/>
              </a:rPr>
              <a:t>external</a:t>
            </a:r>
            <a:r>
              <a:rPr sz="1000" spc="-10" dirty="0">
                <a:latin typeface="Arial"/>
                <a:cs typeface="Arial"/>
              </a:rPr>
              <a:t> </a:t>
            </a:r>
            <a:r>
              <a:rPr sz="1000" spc="-5" dirty="0">
                <a:latin typeface="Arial"/>
                <a:cs typeface="Arial"/>
              </a:rPr>
              <a:t>applications</a:t>
            </a:r>
            <a:endParaRPr sz="1000" dirty="0">
              <a:latin typeface="Arial"/>
              <a:cs typeface="Arial"/>
            </a:endParaRPr>
          </a:p>
          <a:p>
            <a:pPr marL="314960" marR="226060" indent="-163195">
              <a:lnSpc>
                <a:spcPts val="1200"/>
              </a:lnSpc>
              <a:spcBef>
                <a:spcPts val="30"/>
              </a:spcBef>
              <a:buClr>
                <a:srgbClr val="3333B2"/>
              </a:buClr>
              <a:buChar char="►"/>
              <a:tabLst>
                <a:tab pos="320040" algn="l"/>
              </a:tabLst>
            </a:pPr>
            <a:r>
              <a:rPr sz="1000" spc="-5" dirty="0">
                <a:solidFill>
                  <a:srgbClr val="0000FA"/>
                </a:solidFill>
                <a:latin typeface="Arial"/>
                <a:cs typeface="Arial"/>
              </a:rPr>
              <a:t>Processing</a:t>
            </a:r>
            <a:r>
              <a:rPr sz="1000" dirty="0">
                <a:solidFill>
                  <a:srgbClr val="0000FA"/>
                </a:solidFill>
                <a:latin typeface="Arial"/>
                <a:cs typeface="Arial"/>
              </a:rPr>
              <a:t> </a:t>
            </a:r>
            <a:r>
              <a:rPr sz="1000" spc="-15" dirty="0">
                <a:solidFill>
                  <a:srgbClr val="0000FA"/>
                </a:solidFill>
                <a:latin typeface="Arial"/>
                <a:cs typeface="Arial"/>
              </a:rPr>
              <a:t>layer</a:t>
            </a:r>
            <a:r>
              <a:rPr sz="1000" spc="5" dirty="0">
                <a:solidFill>
                  <a:srgbClr val="0000FA"/>
                </a:solidFill>
                <a:latin typeface="Arial"/>
                <a:cs typeface="Arial"/>
              </a:rPr>
              <a:t> </a:t>
            </a:r>
            <a:r>
              <a:rPr sz="1000" spc="-5" dirty="0">
                <a:latin typeface="Arial"/>
                <a:cs typeface="Arial"/>
              </a:rPr>
              <a:t>contains</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functions</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i.e., </a:t>
            </a:r>
            <a:r>
              <a:rPr sz="1000" spc="-265" dirty="0">
                <a:latin typeface="Arial"/>
                <a:cs typeface="Arial"/>
              </a:rPr>
              <a:t> </a:t>
            </a:r>
            <a:r>
              <a:rPr sz="1000" spc="-5" dirty="0">
                <a:latin typeface="Arial"/>
                <a:cs typeface="Arial"/>
              </a:rPr>
              <a:t>without</a:t>
            </a:r>
            <a:r>
              <a:rPr sz="1000" spc="-10" dirty="0">
                <a:latin typeface="Arial"/>
                <a:cs typeface="Arial"/>
              </a:rPr>
              <a:t> </a:t>
            </a:r>
            <a:r>
              <a:rPr sz="1000" spc="-5" dirty="0">
                <a:latin typeface="Arial"/>
                <a:cs typeface="Arial"/>
              </a:rPr>
              <a:t>specific data</a:t>
            </a:r>
            <a:endParaRPr sz="1000" dirty="0">
              <a:latin typeface="Arial"/>
              <a:cs typeface="Arial"/>
            </a:endParaRPr>
          </a:p>
          <a:p>
            <a:pPr marL="319405" indent="-168275">
              <a:lnSpc>
                <a:spcPts val="1150"/>
              </a:lnSpc>
              <a:buClr>
                <a:srgbClr val="3333B2"/>
              </a:buClr>
              <a:buChar char="►"/>
              <a:tabLst>
                <a:tab pos="320040" algn="l"/>
              </a:tabLst>
            </a:pPr>
            <a:r>
              <a:rPr sz="1000" spc="-5" dirty="0">
                <a:solidFill>
                  <a:srgbClr val="0000FA"/>
                </a:solidFill>
                <a:latin typeface="Arial"/>
                <a:cs typeface="Arial"/>
              </a:rPr>
              <a:t>Data </a:t>
            </a:r>
            <a:r>
              <a:rPr sz="1000" spc="-15" dirty="0">
                <a:solidFill>
                  <a:srgbClr val="0000FA"/>
                </a:solidFill>
                <a:latin typeface="Arial"/>
                <a:cs typeface="Arial"/>
              </a:rPr>
              <a:t>layer</a:t>
            </a:r>
            <a:r>
              <a:rPr sz="1000" dirty="0">
                <a:solidFill>
                  <a:srgbClr val="0000FA"/>
                </a:solidFill>
                <a:latin typeface="Arial"/>
                <a:cs typeface="Arial"/>
              </a:rPr>
              <a:t> </a:t>
            </a:r>
            <a:r>
              <a:rPr sz="1000" spc="-5" dirty="0">
                <a:latin typeface="Arial"/>
                <a:cs typeface="Arial"/>
              </a:rPr>
              <a:t>contains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wants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manipulate</a:t>
            </a:r>
            <a:endParaRPr sz="1000" dirty="0">
              <a:latin typeface="Arial"/>
              <a:cs typeface="Arial"/>
            </a:endParaRPr>
          </a:p>
          <a:p>
            <a:pPr marL="319405">
              <a:lnSpc>
                <a:spcPts val="1200"/>
              </a:lnSpc>
            </a:pPr>
            <a:r>
              <a:rPr sz="1000" spc="-5" dirty="0">
                <a:latin typeface="Arial"/>
                <a:cs typeface="Arial"/>
              </a:rPr>
              <a:t>through</a:t>
            </a:r>
            <a:r>
              <a:rPr sz="1000" spc="-10" dirty="0">
                <a:latin typeface="Arial"/>
                <a:cs typeface="Arial"/>
              </a:rPr>
              <a:t> </a:t>
            </a:r>
            <a:r>
              <a:rPr sz="1000" spc="-5" dirty="0">
                <a:latin typeface="Arial"/>
                <a:cs typeface="Arial"/>
              </a:rPr>
              <a:t>the application components</a:t>
            </a:r>
            <a:endParaRPr sz="1000" dirty="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813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Application l</a:t>
            </a:r>
            <a:r>
              <a:rPr sz="600" spc="-25" dirty="0">
                <a:solidFill>
                  <a:srgbClr val="3333B2"/>
                </a:solidFill>
                <a:latin typeface="Arial"/>
                <a:cs typeface="Arial"/>
                <a:hlinkClick r:id="rId3" action="ppaction://hlinksldjump"/>
              </a:rPr>
              <a:t>a</a:t>
            </a:r>
            <a:r>
              <a:rPr sz="600" spc="-20" dirty="0">
                <a:solidFill>
                  <a:srgbClr val="3333B2"/>
                </a:solidFill>
                <a:latin typeface="Arial"/>
                <a:cs typeface="Arial"/>
                <a:hlinkClick r:id="rId3" action="ppaction://hlinksldjump"/>
              </a:rPr>
              <a:t>y</a:t>
            </a:r>
            <a:r>
              <a:rPr sz="600" spc="-5" dirty="0">
                <a:solidFill>
                  <a:srgbClr val="3333B2"/>
                </a:solidFill>
                <a:latin typeface="Arial"/>
                <a:cs typeface="Arial"/>
                <a:hlinkClick r:id="rId3" action="ppaction://hlinksldjump"/>
              </a:rPr>
              <a:t>e</a:t>
            </a:r>
            <a:r>
              <a:rPr sz="600"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ing</a:t>
            </a:r>
            <a:endParaRPr sz="600">
              <a:latin typeface="Arial"/>
              <a:cs typeface="Arial"/>
            </a:endParaRPr>
          </a:p>
        </p:txBody>
      </p:sp>
      <p:sp>
        <p:nvSpPr>
          <p:cNvPr id="7" name="object 7"/>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Architectural</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Layered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95300" y="188846"/>
            <a:ext cx="1659889"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Application</a:t>
            </a:r>
            <a:r>
              <a:rPr sz="1400" spc="-45" dirty="0">
                <a:solidFill>
                  <a:srgbClr val="3333B2"/>
                </a:solidFill>
                <a:latin typeface="Arial"/>
                <a:cs typeface="Arial"/>
              </a:rPr>
              <a:t> </a:t>
            </a:r>
            <a:r>
              <a:rPr sz="1400" spc="5" dirty="0">
                <a:solidFill>
                  <a:srgbClr val="3333B2"/>
                </a:solidFill>
                <a:latin typeface="Arial"/>
                <a:cs typeface="Arial"/>
              </a:rPr>
              <a:t>Layering</a:t>
            </a:r>
            <a:endParaRPr sz="1400" dirty="0">
              <a:latin typeface="Arial"/>
              <a:cs typeface="Arial"/>
            </a:endParaRPr>
          </a:p>
        </p:txBody>
      </p:sp>
      <p:sp>
        <p:nvSpPr>
          <p:cNvPr id="5" name="object 5"/>
          <p:cNvSpPr txBox="1"/>
          <p:nvPr/>
        </p:nvSpPr>
        <p:spPr>
          <a:xfrm>
            <a:off x="304495" y="816048"/>
            <a:ext cx="3996690" cy="1890395"/>
          </a:xfrm>
          <a:prstGeom prst="rect">
            <a:avLst/>
          </a:prstGeom>
        </p:spPr>
        <p:txBody>
          <a:bodyPr vert="horz" wrap="square" lIns="0" tIns="12065" rIns="0" bIns="0" rtlCol="0">
            <a:spAutoFit/>
          </a:bodyPr>
          <a:lstStyle/>
          <a:p>
            <a:pPr marL="50800">
              <a:lnSpc>
                <a:spcPct val="100000"/>
              </a:lnSpc>
              <a:spcBef>
                <a:spcPts val="95"/>
              </a:spcBef>
            </a:pPr>
            <a:r>
              <a:rPr sz="1200" spc="-20" dirty="0">
                <a:solidFill>
                  <a:srgbClr val="3333B2"/>
                </a:solidFill>
                <a:latin typeface="Arial"/>
                <a:cs typeface="Arial"/>
              </a:rPr>
              <a:t>Traditional</a:t>
            </a:r>
            <a:r>
              <a:rPr sz="1200" spc="-15" dirty="0">
                <a:solidFill>
                  <a:srgbClr val="3333B2"/>
                </a:solidFill>
                <a:latin typeface="Arial"/>
                <a:cs typeface="Arial"/>
              </a:rPr>
              <a:t> </a:t>
            </a:r>
            <a:r>
              <a:rPr sz="1200" spc="-10" dirty="0">
                <a:solidFill>
                  <a:srgbClr val="3333B2"/>
                </a:solidFill>
                <a:latin typeface="Arial"/>
                <a:cs typeface="Arial"/>
              </a:rPr>
              <a:t>three-layered view</a:t>
            </a:r>
            <a:endParaRPr sz="1200" dirty="0">
              <a:latin typeface="Arial"/>
              <a:cs typeface="Arial"/>
            </a:endParaRPr>
          </a:p>
          <a:p>
            <a:pPr marL="332105" marR="43180" indent="-168275">
              <a:lnSpc>
                <a:spcPct val="100000"/>
              </a:lnSpc>
              <a:spcBef>
                <a:spcPts val="780"/>
              </a:spcBef>
              <a:buClr>
                <a:srgbClr val="3333B2"/>
              </a:buClr>
              <a:buChar char="►"/>
              <a:tabLst>
                <a:tab pos="332740" algn="l"/>
              </a:tabLst>
            </a:pPr>
            <a:r>
              <a:rPr sz="1000" spc="-15" dirty="0">
                <a:solidFill>
                  <a:srgbClr val="0000FA"/>
                </a:solidFill>
                <a:latin typeface="Arial"/>
                <a:cs typeface="Arial"/>
              </a:rPr>
              <a:t>Application-interface</a:t>
            </a:r>
            <a:r>
              <a:rPr sz="1000" spc="5" dirty="0">
                <a:solidFill>
                  <a:srgbClr val="0000FA"/>
                </a:solidFill>
                <a:latin typeface="Arial"/>
                <a:cs typeface="Arial"/>
              </a:rPr>
              <a:t> </a:t>
            </a:r>
            <a:r>
              <a:rPr sz="1000" spc="-25" dirty="0">
                <a:solidFill>
                  <a:srgbClr val="0000FA"/>
                </a:solidFill>
                <a:latin typeface="Arial"/>
                <a:cs typeface="Arial"/>
              </a:rPr>
              <a:t>layer</a:t>
            </a:r>
            <a:r>
              <a:rPr sz="1000" spc="5" dirty="0">
                <a:solidFill>
                  <a:srgbClr val="0000FA"/>
                </a:solidFill>
                <a:latin typeface="Arial"/>
                <a:cs typeface="Arial"/>
              </a:rPr>
              <a:t> </a:t>
            </a:r>
            <a:r>
              <a:rPr sz="1000" spc="-15" dirty="0">
                <a:latin typeface="Arial"/>
                <a:cs typeface="Arial"/>
              </a:rPr>
              <a:t>contains</a:t>
            </a:r>
            <a:r>
              <a:rPr sz="1000" spc="10" dirty="0">
                <a:latin typeface="Arial"/>
                <a:cs typeface="Arial"/>
              </a:rPr>
              <a:t> </a:t>
            </a:r>
            <a:r>
              <a:rPr sz="1000" spc="-15" dirty="0">
                <a:latin typeface="Arial"/>
                <a:cs typeface="Arial"/>
              </a:rPr>
              <a:t>units</a:t>
            </a:r>
            <a:r>
              <a:rPr sz="1000" spc="5" dirty="0">
                <a:latin typeface="Arial"/>
                <a:cs typeface="Arial"/>
              </a:rPr>
              <a:t> </a:t>
            </a:r>
            <a:r>
              <a:rPr sz="1000" spc="-25" dirty="0">
                <a:latin typeface="Arial"/>
                <a:cs typeface="Arial"/>
              </a:rPr>
              <a:t>for</a:t>
            </a:r>
            <a:r>
              <a:rPr sz="1000" spc="5" dirty="0">
                <a:latin typeface="Arial"/>
                <a:cs typeface="Arial"/>
              </a:rPr>
              <a:t> </a:t>
            </a:r>
            <a:r>
              <a:rPr sz="1000" spc="-15" dirty="0">
                <a:latin typeface="Arial"/>
                <a:cs typeface="Arial"/>
              </a:rPr>
              <a:t>interfacing</a:t>
            </a:r>
            <a:r>
              <a:rPr sz="1000" spc="10"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users</a:t>
            </a:r>
            <a:r>
              <a:rPr sz="1000" spc="5" dirty="0">
                <a:latin typeface="Arial"/>
                <a:cs typeface="Arial"/>
              </a:rPr>
              <a:t> </a:t>
            </a:r>
            <a:r>
              <a:rPr sz="1000" spc="-15" dirty="0">
                <a:latin typeface="Arial"/>
                <a:cs typeface="Arial"/>
              </a:rPr>
              <a:t>or </a:t>
            </a:r>
            <a:r>
              <a:rPr sz="1000" spc="-260" dirty="0">
                <a:latin typeface="Arial"/>
                <a:cs typeface="Arial"/>
              </a:rPr>
              <a:t> </a:t>
            </a:r>
            <a:r>
              <a:rPr sz="1000" spc="-5" dirty="0">
                <a:latin typeface="Arial"/>
                <a:cs typeface="Arial"/>
              </a:rPr>
              <a:t>external</a:t>
            </a:r>
            <a:r>
              <a:rPr sz="1000" spc="-10" dirty="0">
                <a:latin typeface="Arial"/>
                <a:cs typeface="Arial"/>
              </a:rPr>
              <a:t> </a:t>
            </a:r>
            <a:r>
              <a:rPr sz="1000" spc="-5" dirty="0">
                <a:latin typeface="Arial"/>
                <a:cs typeface="Arial"/>
              </a:rPr>
              <a:t>applications</a:t>
            </a:r>
            <a:endParaRPr sz="1000" dirty="0">
              <a:latin typeface="Arial"/>
              <a:cs typeface="Arial"/>
            </a:endParaRPr>
          </a:p>
          <a:p>
            <a:pPr marL="327660" marR="238760" indent="-163195">
              <a:lnSpc>
                <a:spcPts val="1200"/>
              </a:lnSpc>
              <a:spcBef>
                <a:spcPts val="30"/>
              </a:spcBef>
              <a:buClr>
                <a:srgbClr val="3333B2"/>
              </a:buClr>
              <a:buChar char="►"/>
              <a:tabLst>
                <a:tab pos="332740" algn="l"/>
              </a:tabLst>
            </a:pPr>
            <a:r>
              <a:rPr sz="1000" spc="-5" dirty="0">
                <a:solidFill>
                  <a:srgbClr val="0000FA"/>
                </a:solidFill>
                <a:latin typeface="Arial"/>
                <a:cs typeface="Arial"/>
              </a:rPr>
              <a:t>Processing</a:t>
            </a:r>
            <a:r>
              <a:rPr sz="1000" dirty="0">
                <a:solidFill>
                  <a:srgbClr val="0000FA"/>
                </a:solidFill>
                <a:latin typeface="Arial"/>
                <a:cs typeface="Arial"/>
              </a:rPr>
              <a:t> </a:t>
            </a:r>
            <a:r>
              <a:rPr sz="1000" spc="-15" dirty="0">
                <a:solidFill>
                  <a:srgbClr val="0000FA"/>
                </a:solidFill>
                <a:latin typeface="Arial"/>
                <a:cs typeface="Arial"/>
              </a:rPr>
              <a:t>layer</a:t>
            </a:r>
            <a:r>
              <a:rPr sz="1000" spc="5" dirty="0">
                <a:solidFill>
                  <a:srgbClr val="0000FA"/>
                </a:solidFill>
                <a:latin typeface="Arial"/>
                <a:cs typeface="Arial"/>
              </a:rPr>
              <a:t> </a:t>
            </a:r>
            <a:r>
              <a:rPr sz="1000" spc="-5" dirty="0">
                <a:latin typeface="Arial"/>
                <a:cs typeface="Arial"/>
              </a:rPr>
              <a:t>contains</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functions</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i.e., </a:t>
            </a:r>
            <a:r>
              <a:rPr sz="1000" spc="-265" dirty="0">
                <a:latin typeface="Arial"/>
                <a:cs typeface="Arial"/>
              </a:rPr>
              <a:t> </a:t>
            </a:r>
            <a:r>
              <a:rPr sz="1000" spc="-5" dirty="0">
                <a:latin typeface="Arial"/>
                <a:cs typeface="Arial"/>
              </a:rPr>
              <a:t>without</a:t>
            </a:r>
            <a:r>
              <a:rPr sz="1000" spc="-10" dirty="0">
                <a:latin typeface="Arial"/>
                <a:cs typeface="Arial"/>
              </a:rPr>
              <a:t> </a:t>
            </a:r>
            <a:r>
              <a:rPr sz="1000" spc="-5" dirty="0">
                <a:latin typeface="Arial"/>
                <a:cs typeface="Arial"/>
              </a:rPr>
              <a:t>specific data</a:t>
            </a:r>
            <a:endParaRPr sz="1000" dirty="0">
              <a:latin typeface="Arial"/>
              <a:cs typeface="Arial"/>
            </a:endParaRPr>
          </a:p>
          <a:p>
            <a:pPr marL="332105" indent="-168275">
              <a:lnSpc>
                <a:spcPts val="1150"/>
              </a:lnSpc>
              <a:buClr>
                <a:srgbClr val="3333B2"/>
              </a:buClr>
              <a:buChar char="►"/>
              <a:tabLst>
                <a:tab pos="332740" algn="l"/>
              </a:tabLst>
            </a:pPr>
            <a:r>
              <a:rPr sz="1000" spc="-5" dirty="0">
                <a:solidFill>
                  <a:srgbClr val="0000FA"/>
                </a:solidFill>
                <a:latin typeface="Arial"/>
                <a:cs typeface="Arial"/>
              </a:rPr>
              <a:t>Data </a:t>
            </a:r>
            <a:r>
              <a:rPr sz="1000" spc="-15" dirty="0">
                <a:solidFill>
                  <a:srgbClr val="0000FA"/>
                </a:solidFill>
                <a:latin typeface="Arial"/>
                <a:cs typeface="Arial"/>
              </a:rPr>
              <a:t>layer</a:t>
            </a:r>
            <a:r>
              <a:rPr sz="1000" dirty="0">
                <a:solidFill>
                  <a:srgbClr val="0000FA"/>
                </a:solidFill>
                <a:latin typeface="Arial"/>
                <a:cs typeface="Arial"/>
              </a:rPr>
              <a:t> </a:t>
            </a:r>
            <a:r>
              <a:rPr sz="1000" spc="-5" dirty="0">
                <a:latin typeface="Arial"/>
                <a:cs typeface="Arial"/>
              </a:rPr>
              <a:t>contains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wants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manipulate</a:t>
            </a:r>
            <a:endParaRPr sz="1000" dirty="0">
              <a:latin typeface="Arial"/>
              <a:cs typeface="Arial"/>
            </a:endParaRPr>
          </a:p>
          <a:p>
            <a:pPr marL="332105">
              <a:lnSpc>
                <a:spcPts val="1200"/>
              </a:lnSpc>
            </a:pPr>
            <a:r>
              <a:rPr sz="1000" spc="-5" dirty="0">
                <a:latin typeface="Arial"/>
                <a:cs typeface="Arial"/>
              </a:rPr>
              <a:t>through</a:t>
            </a:r>
            <a:r>
              <a:rPr sz="1000" spc="-10" dirty="0">
                <a:latin typeface="Arial"/>
                <a:cs typeface="Arial"/>
              </a:rPr>
              <a:t> </a:t>
            </a:r>
            <a:r>
              <a:rPr sz="1000" spc="-5" dirty="0">
                <a:latin typeface="Arial"/>
                <a:cs typeface="Arial"/>
              </a:rPr>
              <a:t>the application components</a:t>
            </a:r>
            <a:endParaRPr sz="1000" dirty="0">
              <a:latin typeface="Arial"/>
              <a:cs typeface="Arial"/>
            </a:endParaRPr>
          </a:p>
          <a:p>
            <a:pPr>
              <a:lnSpc>
                <a:spcPct val="100000"/>
              </a:lnSpc>
              <a:spcBef>
                <a:spcPts val="15"/>
              </a:spcBef>
            </a:pPr>
            <a:endParaRPr sz="1300" dirty="0">
              <a:latin typeface="Arial"/>
              <a:cs typeface="Arial"/>
            </a:endParaRPr>
          </a:p>
          <a:p>
            <a:pPr marL="55244">
              <a:lnSpc>
                <a:spcPts val="1410"/>
              </a:lnSpc>
            </a:pPr>
            <a:r>
              <a:rPr sz="1200" spc="-5" dirty="0">
                <a:solidFill>
                  <a:srgbClr val="FA0000"/>
                </a:solidFill>
                <a:latin typeface="Arial"/>
                <a:cs typeface="Arial"/>
              </a:rPr>
              <a:t>Observation</a:t>
            </a:r>
            <a:endParaRPr sz="1200" dirty="0">
              <a:latin typeface="Arial"/>
              <a:cs typeface="Arial"/>
            </a:endParaRPr>
          </a:p>
          <a:p>
            <a:pPr marL="55244" marR="124460" indent="-4445">
              <a:lnSpc>
                <a:spcPts val="1200"/>
              </a:lnSpc>
              <a:spcBef>
                <a:spcPts val="15"/>
              </a:spcBef>
            </a:pPr>
            <a:r>
              <a:rPr sz="1000" spc="-5" dirty="0">
                <a:latin typeface="Arial"/>
                <a:cs typeface="Arial"/>
              </a:rPr>
              <a:t>This</a:t>
            </a:r>
            <a:r>
              <a:rPr sz="1000" dirty="0">
                <a:latin typeface="Arial"/>
                <a:cs typeface="Arial"/>
              </a:rPr>
              <a:t> </a:t>
            </a:r>
            <a:r>
              <a:rPr sz="1000" spc="-10" dirty="0">
                <a:latin typeface="Arial"/>
                <a:cs typeface="Arial"/>
              </a:rPr>
              <a:t>layering</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found</a:t>
            </a:r>
            <a:r>
              <a:rPr sz="1000" dirty="0">
                <a:latin typeface="Arial"/>
                <a:cs typeface="Arial"/>
              </a:rPr>
              <a:t> </a:t>
            </a:r>
            <a:r>
              <a:rPr sz="1000" spc="-5" dirty="0">
                <a:latin typeface="Arial"/>
                <a:cs typeface="Arial"/>
              </a:rPr>
              <a:t>in</a:t>
            </a:r>
            <a:r>
              <a:rPr sz="1000" spc="5" dirty="0">
                <a:latin typeface="Arial"/>
                <a:cs typeface="Arial"/>
              </a:rPr>
              <a:t> </a:t>
            </a:r>
            <a:r>
              <a:rPr sz="1000" spc="-10" dirty="0">
                <a:latin typeface="Arial"/>
                <a:cs typeface="Arial"/>
              </a:rPr>
              <a:t>many</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information</a:t>
            </a:r>
            <a:r>
              <a:rPr sz="1000" dirty="0">
                <a:latin typeface="Arial"/>
                <a:cs typeface="Arial"/>
              </a:rPr>
              <a:t> </a:t>
            </a:r>
            <a:r>
              <a:rPr sz="1000" spc="-5" dirty="0">
                <a:latin typeface="Arial"/>
                <a:cs typeface="Arial"/>
              </a:rPr>
              <a:t>systems,</a:t>
            </a:r>
            <a:r>
              <a:rPr sz="1000" spc="5" dirty="0">
                <a:latin typeface="Arial"/>
                <a:cs typeface="Arial"/>
              </a:rPr>
              <a:t> </a:t>
            </a:r>
            <a:r>
              <a:rPr sz="1000" spc="-5" dirty="0">
                <a:latin typeface="Arial"/>
                <a:cs typeface="Arial"/>
              </a:rPr>
              <a:t>using </a:t>
            </a:r>
            <a:r>
              <a:rPr sz="1000" spc="-265" dirty="0">
                <a:latin typeface="Arial"/>
                <a:cs typeface="Arial"/>
              </a:rPr>
              <a:t> </a:t>
            </a:r>
            <a:r>
              <a:rPr sz="1000" spc="-5" dirty="0">
                <a:latin typeface="Arial"/>
                <a:cs typeface="Arial"/>
              </a:rPr>
              <a:t>traditional database</a:t>
            </a:r>
            <a:r>
              <a:rPr sz="1000" dirty="0">
                <a:latin typeface="Arial"/>
                <a:cs typeface="Arial"/>
              </a:rPr>
              <a:t> </a:t>
            </a:r>
            <a:r>
              <a:rPr sz="1000" spc="-5" dirty="0">
                <a:latin typeface="Arial"/>
                <a:cs typeface="Arial"/>
              </a:rPr>
              <a:t>technology</a:t>
            </a:r>
            <a:r>
              <a:rPr sz="1000" dirty="0">
                <a:latin typeface="Arial"/>
                <a:cs typeface="Arial"/>
              </a:rPr>
              <a:t> </a:t>
            </a:r>
            <a:r>
              <a:rPr sz="1000" spc="-5" dirty="0">
                <a:latin typeface="Arial"/>
                <a:cs typeface="Arial"/>
              </a:rPr>
              <a:t>and accompanying</a:t>
            </a:r>
            <a:r>
              <a:rPr sz="1000" dirty="0">
                <a:latin typeface="Arial"/>
                <a:cs typeface="Arial"/>
              </a:rPr>
              <a:t> </a:t>
            </a:r>
            <a:r>
              <a:rPr sz="1000" spc="-5" dirty="0">
                <a:latin typeface="Arial"/>
                <a:cs typeface="Arial"/>
              </a:rPr>
              <a:t>applications.</a:t>
            </a:r>
            <a:endParaRPr sz="1000" dirty="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789769" y="716"/>
            <a:ext cx="75184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Layered</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4" name="object 4"/>
          <p:cNvSpPr txBox="1"/>
          <p:nvPr/>
        </p:nvSpPr>
        <p:spPr>
          <a:xfrm>
            <a:off x="95300" y="188846"/>
            <a:ext cx="2524125" cy="71755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Application</a:t>
            </a:r>
            <a:r>
              <a:rPr sz="1400" spc="-25" dirty="0">
                <a:solidFill>
                  <a:srgbClr val="3333B2"/>
                </a:solidFill>
                <a:latin typeface="Arial"/>
                <a:cs typeface="Arial"/>
              </a:rPr>
              <a:t> </a:t>
            </a:r>
            <a:r>
              <a:rPr sz="1400" spc="5" dirty="0">
                <a:solidFill>
                  <a:srgbClr val="3333B2"/>
                </a:solidFill>
                <a:latin typeface="Arial"/>
                <a:cs typeface="Arial"/>
              </a:rPr>
              <a:t>Layering</a:t>
            </a:r>
            <a:endParaRPr sz="1400">
              <a:latin typeface="Arial"/>
              <a:cs typeface="Arial"/>
            </a:endParaRPr>
          </a:p>
          <a:p>
            <a:pPr>
              <a:lnSpc>
                <a:spcPct val="100000"/>
              </a:lnSpc>
              <a:spcBef>
                <a:spcPts val="50"/>
              </a:spcBef>
            </a:pPr>
            <a:endParaRPr sz="1950">
              <a:latin typeface="Arial"/>
              <a:cs typeface="Arial"/>
            </a:endParaRPr>
          </a:p>
          <a:p>
            <a:pPr marL="264160">
              <a:lnSpc>
                <a:spcPct val="100000"/>
              </a:lnSpc>
            </a:pPr>
            <a:r>
              <a:rPr sz="1200" spc="-5" dirty="0">
                <a:solidFill>
                  <a:srgbClr val="3333B2"/>
                </a:solidFill>
                <a:latin typeface="Arial"/>
                <a:cs typeface="Arial"/>
              </a:rPr>
              <a:t>Example:</a:t>
            </a:r>
            <a:r>
              <a:rPr sz="1200" spc="65" dirty="0">
                <a:solidFill>
                  <a:srgbClr val="3333B2"/>
                </a:solidFill>
                <a:latin typeface="Arial"/>
                <a:cs typeface="Arial"/>
              </a:rPr>
              <a:t> </a:t>
            </a:r>
            <a:r>
              <a:rPr sz="1200" spc="-5" dirty="0">
                <a:solidFill>
                  <a:srgbClr val="3333B2"/>
                </a:solidFill>
                <a:latin typeface="Arial"/>
                <a:cs typeface="Arial"/>
              </a:rPr>
              <a:t>a</a:t>
            </a:r>
            <a:r>
              <a:rPr sz="1200" spc="-10" dirty="0">
                <a:solidFill>
                  <a:srgbClr val="3333B2"/>
                </a:solidFill>
                <a:latin typeface="Arial"/>
                <a:cs typeface="Arial"/>
              </a:rPr>
              <a:t> </a:t>
            </a:r>
            <a:r>
              <a:rPr sz="1200" spc="-5" dirty="0">
                <a:solidFill>
                  <a:srgbClr val="3333B2"/>
                </a:solidFill>
                <a:latin typeface="Arial"/>
                <a:cs typeface="Arial"/>
              </a:rPr>
              <a:t>simple</a:t>
            </a:r>
            <a:r>
              <a:rPr sz="1200" spc="-15" dirty="0">
                <a:solidFill>
                  <a:srgbClr val="3333B2"/>
                </a:solidFill>
                <a:latin typeface="Arial"/>
                <a:cs typeface="Arial"/>
              </a:rPr>
              <a:t> </a:t>
            </a:r>
            <a:r>
              <a:rPr sz="1200" spc="-5" dirty="0">
                <a:solidFill>
                  <a:srgbClr val="3333B2"/>
                </a:solidFill>
                <a:latin typeface="Arial"/>
                <a:cs typeface="Arial"/>
              </a:rPr>
              <a:t>search</a:t>
            </a:r>
            <a:r>
              <a:rPr sz="1200" spc="-10" dirty="0">
                <a:solidFill>
                  <a:srgbClr val="3333B2"/>
                </a:solidFill>
                <a:latin typeface="Arial"/>
                <a:cs typeface="Arial"/>
              </a:rPr>
              <a:t> </a:t>
            </a:r>
            <a:r>
              <a:rPr sz="1200" spc="-5" dirty="0">
                <a:solidFill>
                  <a:srgbClr val="3333B2"/>
                </a:solidFill>
                <a:latin typeface="Arial"/>
                <a:cs typeface="Arial"/>
              </a:rPr>
              <a:t>engine</a:t>
            </a:r>
            <a:endParaRPr sz="1200">
              <a:latin typeface="Arial"/>
              <a:cs typeface="Arial"/>
            </a:endParaRPr>
          </a:p>
        </p:txBody>
      </p:sp>
      <p:sp>
        <p:nvSpPr>
          <p:cNvPr id="5" name="object 5"/>
          <p:cNvSpPr txBox="1"/>
          <p:nvPr/>
        </p:nvSpPr>
        <p:spPr>
          <a:xfrm>
            <a:off x="949245" y="2497764"/>
            <a:ext cx="625475" cy="223520"/>
          </a:xfrm>
          <a:prstGeom prst="rect">
            <a:avLst/>
          </a:prstGeom>
        </p:spPr>
        <p:txBody>
          <a:bodyPr vert="horz" wrap="square" lIns="0" tIns="19685" rIns="0" bIns="0" rtlCol="0">
            <a:spAutoFit/>
          </a:bodyPr>
          <a:lstStyle/>
          <a:p>
            <a:pPr marL="12700" marR="5080" indent="229870">
              <a:lnSpc>
                <a:spcPts val="760"/>
              </a:lnSpc>
              <a:spcBef>
                <a:spcPts val="155"/>
              </a:spcBef>
            </a:pPr>
            <a:r>
              <a:rPr sz="650" spc="5" dirty="0">
                <a:solidFill>
                  <a:srgbClr val="231F20"/>
                </a:solidFill>
                <a:latin typeface="Arial"/>
                <a:cs typeface="Arial"/>
              </a:rPr>
              <a:t>Database  with</a:t>
            </a:r>
            <a:r>
              <a:rPr sz="650" spc="-35" dirty="0">
                <a:solidFill>
                  <a:srgbClr val="231F20"/>
                </a:solidFill>
                <a:latin typeface="Arial"/>
                <a:cs typeface="Arial"/>
              </a:rPr>
              <a:t> </a:t>
            </a:r>
            <a:r>
              <a:rPr sz="650" spc="5" dirty="0">
                <a:solidFill>
                  <a:srgbClr val="231F20"/>
                </a:solidFill>
                <a:latin typeface="Arial"/>
                <a:cs typeface="Arial"/>
              </a:rPr>
              <a:t>Web</a:t>
            </a:r>
            <a:r>
              <a:rPr sz="650" spc="-35" dirty="0">
                <a:solidFill>
                  <a:srgbClr val="231F20"/>
                </a:solidFill>
                <a:latin typeface="Arial"/>
                <a:cs typeface="Arial"/>
              </a:rPr>
              <a:t> </a:t>
            </a:r>
            <a:r>
              <a:rPr sz="650" spc="5" dirty="0">
                <a:solidFill>
                  <a:srgbClr val="231F20"/>
                </a:solidFill>
                <a:latin typeface="Arial"/>
                <a:cs typeface="Arial"/>
              </a:rPr>
              <a:t>pages</a:t>
            </a:r>
            <a:endParaRPr sz="650">
              <a:latin typeface="Arial"/>
              <a:cs typeface="Arial"/>
            </a:endParaRPr>
          </a:p>
        </p:txBody>
      </p:sp>
      <p:sp>
        <p:nvSpPr>
          <p:cNvPr id="6" name="object 6"/>
          <p:cNvSpPr txBox="1"/>
          <p:nvPr/>
        </p:nvSpPr>
        <p:spPr>
          <a:xfrm>
            <a:off x="1248096" y="1786538"/>
            <a:ext cx="509270" cy="254635"/>
          </a:xfrm>
          <a:prstGeom prst="rect">
            <a:avLst/>
          </a:prstGeom>
          <a:ln w="5270">
            <a:solidFill>
              <a:srgbClr val="231F20"/>
            </a:solidFill>
          </a:ln>
        </p:spPr>
        <p:txBody>
          <a:bodyPr vert="horz" wrap="square" lIns="0" tIns="45720" rIns="0" bIns="0" rtlCol="0">
            <a:spAutoFit/>
          </a:bodyPr>
          <a:lstStyle/>
          <a:p>
            <a:pPr marL="79375" marR="60960" indent="65405">
              <a:lnSpc>
                <a:spcPts val="740"/>
              </a:lnSpc>
              <a:spcBef>
                <a:spcPts val="360"/>
              </a:spcBef>
            </a:pPr>
            <a:r>
              <a:rPr sz="650" spc="5" dirty="0">
                <a:solidFill>
                  <a:srgbClr val="231F20"/>
                </a:solidFill>
                <a:latin typeface="Arial"/>
                <a:cs typeface="Arial"/>
              </a:rPr>
              <a:t>Query </a:t>
            </a:r>
            <a:r>
              <a:rPr sz="650" spc="10" dirty="0">
                <a:solidFill>
                  <a:srgbClr val="231F20"/>
                </a:solidFill>
                <a:latin typeface="Arial"/>
                <a:cs typeface="Arial"/>
              </a:rPr>
              <a:t> </a:t>
            </a:r>
            <a:r>
              <a:rPr sz="650" spc="5" dirty="0">
                <a:solidFill>
                  <a:srgbClr val="231F20"/>
                </a:solidFill>
                <a:latin typeface="Arial"/>
                <a:cs typeface="Arial"/>
              </a:rPr>
              <a:t>generator</a:t>
            </a:r>
            <a:endParaRPr sz="650">
              <a:latin typeface="Arial"/>
              <a:cs typeface="Arial"/>
            </a:endParaRPr>
          </a:p>
        </p:txBody>
      </p:sp>
      <p:sp>
        <p:nvSpPr>
          <p:cNvPr id="7" name="object 7"/>
          <p:cNvSpPr txBox="1"/>
          <p:nvPr/>
        </p:nvSpPr>
        <p:spPr>
          <a:xfrm>
            <a:off x="2064862" y="1988073"/>
            <a:ext cx="509270" cy="254635"/>
          </a:xfrm>
          <a:prstGeom prst="rect">
            <a:avLst/>
          </a:prstGeom>
          <a:ln w="5270">
            <a:solidFill>
              <a:srgbClr val="231F20"/>
            </a:solidFill>
          </a:ln>
        </p:spPr>
        <p:txBody>
          <a:bodyPr vert="horz" wrap="square" lIns="0" tIns="31115" rIns="0" bIns="0" rtlCol="0">
            <a:spAutoFit/>
          </a:bodyPr>
          <a:lstStyle/>
          <a:p>
            <a:pPr marL="87630" marR="66675" indent="22225">
              <a:lnSpc>
                <a:spcPct val="100000"/>
              </a:lnSpc>
              <a:spcBef>
                <a:spcPts val="245"/>
              </a:spcBef>
            </a:pPr>
            <a:r>
              <a:rPr sz="650" spc="5" dirty="0">
                <a:solidFill>
                  <a:srgbClr val="231F20"/>
                </a:solidFill>
                <a:latin typeface="Arial"/>
                <a:cs typeface="Arial"/>
              </a:rPr>
              <a:t>Ranking </a:t>
            </a:r>
            <a:r>
              <a:rPr sz="650" spc="-170" dirty="0">
                <a:solidFill>
                  <a:srgbClr val="231F20"/>
                </a:solidFill>
                <a:latin typeface="Arial"/>
                <a:cs typeface="Arial"/>
              </a:rPr>
              <a:t> </a:t>
            </a:r>
            <a:r>
              <a:rPr sz="650" spc="5" dirty="0">
                <a:solidFill>
                  <a:srgbClr val="231F20"/>
                </a:solidFill>
                <a:latin typeface="Arial"/>
                <a:cs typeface="Arial"/>
              </a:rPr>
              <a:t>algorithm</a:t>
            </a:r>
            <a:endParaRPr sz="650">
              <a:latin typeface="Arial"/>
              <a:cs typeface="Arial"/>
            </a:endParaRPr>
          </a:p>
        </p:txBody>
      </p:sp>
      <p:sp>
        <p:nvSpPr>
          <p:cNvPr id="8" name="object 8"/>
          <p:cNvSpPr txBox="1"/>
          <p:nvPr/>
        </p:nvSpPr>
        <p:spPr>
          <a:xfrm>
            <a:off x="2075466" y="1584999"/>
            <a:ext cx="509270" cy="254635"/>
          </a:xfrm>
          <a:prstGeom prst="rect">
            <a:avLst/>
          </a:prstGeom>
          <a:ln w="5270">
            <a:solidFill>
              <a:srgbClr val="231F20"/>
            </a:solidFill>
          </a:ln>
        </p:spPr>
        <p:txBody>
          <a:bodyPr vert="horz" wrap="square" lIns="0" tIns="30480" rIns="0" bIns="0" rtlCol="0">
            <a:spAutoFit/>
          </a:bodyPr>
          <a:lstStyle/>
          <a:p>
            <a:pPr marL="41275" algn="ctr">
              <a:lnSpc>
                <a:spcPts val="760"/>
              </a:lnSpc>
              <a:spcBef>
                <a:spcPts val="240"/>
              </a:spcBef>
            </a:pPr>
            <a:r>
              <a:rPr sz="650" spc="20" dirty="0">
                <a:solidFill>
                  <a:srgbClr val="231F20"/>
                </a:solidFill>
                <a:latin typeface="Arial"/>
                <a:cs typeface="Arial"/>
              </a:rPr>
              <a:t>HTML</a:t>
            </a:r>
            <a:endParaRPr sz="650">
              <a:latin typeface="Arial"/>
              <a:cs typeface="Arial"/>
            </a:endParaRPr>
          </a:p>
          <a:p>
            <a:pPr marL="29209" algn="ctr">
              <a:lnSpc>
                <a:spcPts val="760"/>
              </a:lnSpc>
            </a:pPr>
            <a:r>
              <a:rPr sz="650" spc="5" dirty="0">
                <a:solidFill>
                  <a:srgbClr val="231F20"/>
                </a:solidFill>
                <a:latin typeface="Arial"/>
                <a:cs typeface="Arial"/>
              </a:rPr>
              <a:t>generator</a:t>
            </a:r>
            <a:endParaRPr sz="650">
              <a:latin typeface="Arial"/>
              <a:cs typeface="Arial"/>
            </a:endParaRPr>
          </a:p>
        </p:txBody>
      </p:sp>
      <p:sp>
        <p:nvSpPr>
          <p:cNvPr id="9" name="object 9"/>
          <p:cNvSpPr txBox="1"/>
          <p:nvPr/>
        </p:nvSpPr>
        <p:spPr>
          <a:xfrm>
            <a:off x="1523888" y="1075844"/>
            <a:ext cx="795655" cy="222885"/>
          </a:xfrm>
          <a:prstGeom prst="rect">
            <a:avLst/>
          </a:prstGeom>
          <a:ln w="5270">
            <a:solidFill>
              <a:srgbClr val="231F20"/>
            </a:solidFill>
          </a:ln>
        </p:spPr>
        <p:txBody>
          <a:bodyPr vert="horz" wrap="square" lIns="0" tIns="61594" rIns="0" bIns="0" rtlCol="0">
            <a:spAutoFit/>
          </a:bodyPr>
          <a:lstStyle/>
          <a:p>
            <a:pPr marL="147955">
              <a:lnSpc>
                <a:spcPct val="100000"/>
              </a:lnSpc>
              <a:spcBef>
                <a:spcPts val="484"/>
              </a:spcBef>
            </a:pPr>
            <a:r>
              <a:rPr sz="650" spc="5" dirty="0">
                <a:solidFill>
                  <a:srgbClr val="231F20"/>
                </a:solidFill>
                <a:latin typeface="Arial"/>
                <a:cs typeface="Arial"/>
              </a:rPr>
              <a:t>User</a:t>
            </a:r>
            <a:r>
              <a:rPr sz="650" spc="-40" dirty="0">
                <a:solidFill>
                  <a:srgbClr val="231F20"/>
                </a:solidFill>
                <a:latin typeface="Arial"/>
                <a:cs typeface="Arial"/>
              </a:rPr>
              <a:t> </a:t>
            </a:r>
            <a:r>
              <a:rPr sz="650" spc="5" dirty="0">
                <a:solidFill>
                  <a:srgbClr val="231F20"/>
                </a:solidFill>
                <a:latin typeface="Arial"/>
                <a:cs typeface="Arial"/>
              </a:rPr>
              <a:t>interface</a:t>
            </a:r>
            <a:endParaRPr sz="650">
              <a:latin typeface="Arial"/>
              <a:cs typeface="Arial"/>
            </a:endParaRPr>
          </a:p>
        </p:txBody>
      </p:sp>
      <p:sp>
        <p:nvSpPr>
          <p:cNvPr id="10" name="object 10"/>
          <p:cNvSpPr txBox="1"/>
          <p:nvPr/>
        </p:nvSpPr>
        <p:spPr>
          <a:xfrm>
            <a:off x="649078" y="1467702"/>
            <a:ext cx="7848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Keyword</a:t>
            </a:r>
            <a:r>
              <a:rPr sz="650" spc="-45" dirty="0">
                <a:solidFill>
                  <a:srgbClr val="231F20"/>
                </a:solidFill>
                <a:latin typeface="Arial"/>
                <a:cs typeface="Arial"/>
              </a:rPr>
              <a:t> </a:t>
            </a:r>
            <a:r>
              <a:rPr sz="650" spc="5" dirty="0">
                <a:solidFill>
                  <a:srgbClr val="231F20"/>
                </a:solidFill>
                <a:latin typeface="Arial"/>
                <a:cs typeface="Arial"/>
              </a:rPr>
              <a:t>expression</a:t>
            </a:r>
            <a:endParaRPr sz="650">
              <a:latin typeface="Arial"/>
              <a:cs typeface="Arial"/>
            </a:endParaRPr>
          </a:p>
        </p:txBody>
      </p:sp>
      <p:sp>
        <p:nvSpPr>
          <p:cNvPr id="11" name="object 11"/>
          <p:cNvSpPr txBox="1"/>
          <p:nvPr/>
        </p:nvSpPr>
        <p:spPr>
          <a:xfrm>
            <a:off x="792592" y="2112503"/>
            <a:ext cx="6864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Database</a:t>
            </a:r>
            <a:r>
              <a:rPr sz="650" spc="-45" dirty="0">
                <a:solidFill>
                  <a:srgbClr val="231F20"/>
                </a:solidFill>
                <a:latin typeface="Arial"/>
                <a:cs typeface="Arial"/>
              </a:rPr>
              <a:t> </a:t>
            </a:r>
            <a:r>
              <a:rPr sz="650" spc="5" dirty="0">
                <a:solidFill>
                  <a:srgbClr val="231F20"/>
                </a:solidFill>
                <a:latin typeface="Arial"/>
                <a:cs typeface="Arial"/>
              </a:rPr>
              <a:t>queries</a:t>
            </a:r>
            <a:endParaRPr sz="650">
              <a:latin typeface="Arial"/>
              <a:cs typeface="Arial"/>
            </a:endParaRPr>
          </a:p>
        </p:txBody>
      </p:sp>
      <p:sp>
        <p:nvSpPr>
          <p:cNvPr id="12" name="object 12"/>
          <p:cNvSpPr txBox="1"/>
          <p:nvPr/>
        </p:nvSpPr>
        <p:spPr>
          <a:xfrm>
            <a:off x="2205371" y="2342655"/>
            <a:ext cx="838835" cy="212090"/>
          </a:xfrm>
          <a:prstGeom prst="rect">
            <a:avLst/>
          </a:prstGeom>
        </p:spPr>
        <p:txBody>
          <a:bodyPr vert="horz" wrap="square" lIns="0" tIns="13970" rIns="0" bIns="0" rtlCol="0">
            <a:spAutoFit/>
          </a:bodyPr>
          <a:lstStyle/>
          <a:p>
            <a:pPr marL="12700">
              <a:lnSpc>
                <a:spcPts val="725"/>
              </a:lnSpc>
              <a:spcBef>
                <a:spcPts val="110"/>
              </a:spcBef>
            </a:pPr>
            <a:r>
              <a:rPr sz="650" spc="5" dirty="0">
                <a:solidFill>
                  <a:srgbClr val="231F20"/>
                </a:solidFill>
                <a:latin typeface="Arial"/>
                <a:cs typeface="Arial"/>
              </a:rPr>
              <a:t>Web</a:t>
            </a:r>
            <a:r>
              <a:rPr sz="650" spc="-20" dirty="0">
                <a:solidFill>
                  <a:srgbClr val="231F20"/>
                </a:solidFill>
                <a:latin typeface="Arial"/>
                <a:cs typeface="Arial"/>
              </a:rPr>
              <a:t> </a:t>
            </a:r>
            <a:r>
              <a:rPr sz="650" spc="5" dirty="0">
                <a:solidFill>
                  <a:srgbClr val="231F20"/>
                </a:solidFill>
                <a:latin typeface="Arial"/>
                <a:cs typeface="Arial"/>
              </a:rPr>
              <a:t>page</a:t>
            </a:r>
            <a:r>
              <a:rPr sz="650" spc="-15" dirty="0">
                <a:solidFill>
                  <a:srgbClr val="231F20"/>
                </a:solidFill>
                <a:latin typeface="Arial"/>
                <a:cs typeface="Arial"/>
              </a:rPr>
              <a:t> </a:t>
            </a:r>
            <a:r>
              <a:rPr sz="650" dirty="0">
                <a:solidFill>
                  <a:srgbClr val="231F20"/>
                </a:solidFill>
                <a:latin typeface="Arial"/>
                <a:cs typeface="Arial"/>
              </a:rPr>
              <a:t>titles</a:t>
            </a:r>
            <a:endParaRPr sz="650">
              <a:latin typeface="Arial"/>
              <a:cs typeface="Arial"/>
            </a:endParaRPr>
          </a:p>
          <a:p>
            <a:pPr marL="19685">
              <a:lnSpc>
                <a:spcPts val="725"/>
              </a:lnSpc>
            </a:pPr>
            <a:r>
              <a:rPr sz="650" spc="5" dirty="0">
                <a:solidFill>
                  <a:srgbClr val="231F20"/>
                </a:solidFill>
                <a:latin typeface="Arial"/>
                <a:cs typeface="Arial"/>
              </a:rPr>
              <a:t>with</a:t>
            </a:r>
            <a:r>
              <a:rPr sz="650" spc="-45" dirty="0">
                <a:solidFill>
                  <a:srgbClr val="231F20"/>
                </a:solidFill>
                <a:latin typeface="Arial"/>
                <a:cs typeface="Arial"/>
              </a:rPr>
              <a:t> </a:t>
            </a:r>
            <a:r>
              <a:rPr sz="650" spc="5" dirty="0">
                <a:solidFill>
                  <a:srgbClr val="231F20"/>
                </a:solidFill>
                <a:latin typeface="Arial"/>
                <a:cs typeface="Arial"/>
              </a:rPr>
              <a:t>meta-information</a:t>
            </a:r>
            <a:endParaRPr sz="650">
              <a:latin typeface="Arial"/>
              <a:cs typeface="Arial"/>
            </a:endParaRPr>
          </a:p>
        </p:txBody>
      </p:sp>
      <p:sp>
        <p:nvSpPr>
          <p:cNvPr id="13" name="object 13"/>
          <p:cNvSpPr txBox="1"/>
          <p:nvPr/>
        </p:nvSpPr>
        <p:spPr>
          <a:xfrm>
            <a:off x="2690623" y="1825462"/>
            <a:ext cx="50355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Ranked </a:t>
            </a:r>
            <a:r>
              <a:rPr sz="650" dirty="0">
                <a:solidFill>
                  <a:srgbClr val="231F20"/>
                </a:solidFill>
                <a:latin typeface="Arial"/>
                <a:cs typeface="Arial"/>
              </a:rPr>
              <a:t>list </a:t>
            </a:r>
            <a:r>
              <a:rPr sz="650" spc="5" dirty="0">
                <a:solidFill>
                  <a:srgbClr val="231F20"/>
                </a:solidFill>
                <a:latin typeface="Arial"/>
                <a:cs typeface="Arial"/>
              </a:rPr>
              <a:t> of</a:t>
            </a:r>
            <a:r>
              <a:rPr sz="650" spc="-30" dirty="0">
                <a:solidFill>
                  <a:srgbClr val="231F20"/>
                </a:solidFill>
                <a:latin typeface="Arial"/>
                <a:cs typeface="Arial"/>
              </a:rPr>
              <a:t> </a:t>
            </a:r>
            <a:r>
              <a:rPr sz="650" spc="5" dirty="0">
                <a:solidFill>
                  <a:srgbClr val="231F20"/>
                </a:solidFill>
                <a:latin typeface="Arial"/>
                <a:cs typeface="Arial"/>
              </a:rPr>
              <a:t>page</a:t>
            </a:r>
            <a:r>
              <a:rPr sz="650" spc="-30" dirty="0">
                <a:solidFill>
                  <a:srgbClr val="231F20"/>
                </a:solidFill>
                <a:latin typeface="Arial"/>
                <a:cs typeface="Arial"/>
              </a:rPr>
              <a:t> </a:t>
            </a:r>
            <a:r>
              <a:rPr sz="650" dirty="0">
                <a:solidFill>
                  <a:srgbClr val="231F20"/>
                </a:solidFill>
                <a:latin typeface="Arial"/>
                <a:cs typeface="Arial"/>
              </a:rPr>
              <a:t>titles</a:t>
            </a:r>
            <a:endParaRPr sz="650">
              <a:latin typeface="Arial"/>
              <a:cs typeface="Arial"/>
            </a:endParaRPr>
          </a:p>
        </p:txBody>
      </p:sp>
      <p:sp>
        <p:nvSpPr>
          <p:cNvPr id="14" name="object 14"/>
          <p:cNvSpPr txBox="1"/>
          <p:nvPr/>
        </p:nvSpPr>
        <p:spPr>
          <a:xfrm>
            <a:off x="2317125" y="1347383"/>
            <a:ext cx="536575" cy="220979"/>
          </a:xfrm>
          <a:prstGeom prst="rect">
            <a:avLst/>
          </a:prstGeom>
        </p:spPr>
        <p:txBody>
          <a:bodyPr vert="horz" wrap="square" lIns="0" tIns="21590" rIns="0" bIns="0" rtlCol="0">
            <a:spAutoFit/>
          </a:bodyPr>
          <a:lstStyle/>
          <a:p>
            <a:pPr marL="12700" marR="5080" indent="1270">
              <a:lnSpc>
                <a:spcPts val="740"/>
              </a:lnSpc>
              <a:spcBef>
                <a:spcPts val="170"/>
              </a:spcBef>
            </a:pPr>
            <a:r>
              <a:rPr sz="650" spc="20" dirty="0">
                <a:solidFill>
                  <a:srgbClr val="231F20"/>
                </a:solidFill>
                <a:latin typeface="Arial"/>
                <a:cs typeface="Arial"/>
              </a:rPr>
              <a:t>HTML </a:t>
            </a:r>
            <a:r>
              <a:rPr sz="650" spc="5" dirty="0">
                <a:solidFill>
                  <a:srgbClr val="231F20"/>
                </a:solidFill>
                <a:latin typeface="Arial"/>
                <a:cs typeface="Arial"/>
              </a:rPr>
              <a:t>page </a:t>
            </a:r>
            <a:r>
              <a:rPr sz="650" spc="10" dirty="0">
                <a:solidFill>
                  <a:srgbClr val="231F20"/>
                </a:solidFill>
                <a:latin typeface="Arial"/>
                <a:cs typeface="Arial"/>
              </a:rPr>
              <a:t> </a:t>
            </a:r>
            <a:r>
              <a:rPr sz="650" spc="5" dirty="0">
                <a:solidFill>
                  <a:srgbClr val="231F20"/>
                </a:solidFill>
                <a:latin typeface="Arial"/>
                <a:cs typeface="Arial"/>
              </a:rPr>
              <a:t>containing</a:t>
            </a:r>
            <a:r>
              <a:rPr sz="650" dirty="0">
                <a:solidFill>
                  <a:srgbClr val="231F20"/>
                </a:solidFill>
                <a:latin typeface="Arial"/>
                <a:cs typeface="Arial"/>
              </a:rPr>
              <a:t> list</a:t>
            </a:r>
            <a:endParaRPr sz="650">
              <a:latin typeface="Arial"/>
              <a:cs typeface="Arial"/>
            </a:endParaRPr>
          </a:p>
        </p:txBody>
      </p:sp>
      <p:sp>
        <p:nvSpPr>
          <p:cNvPr id="15" name="object 15"/>
          <p:cNvSpPr txBox="1"/>
          <p:nvPr/>
        </p:nvSpPr>
        <p:spPr>
          <a:xfrm>
            <a:off x="3407739" y="1705945"/>
            <a:ext cx="44259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Processing  level</a:t>
            </a:r>
            <a:endParaRPr sz="650">
              <a:latin typeface="Arial"/>
              <a:cs typeface="Arial"/>
            </a:endParaRPr>
          </a:p>
        </p:txBody>
      </p:sp>
      <p:sp>
        <p:nvSpPr>
          <p:cNvPr id="16" name="object 16"/>
          <p:cNvSpPr txBox="1"/>
          <p:nvPr/>
        </p:nvSpPr>
        <p:spPr>
          <a:xfrm>
            <a:off x="3407739" y="1063525"/>
            <a:ext cx="55499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User-interface  level</a:t>
            </a:r>
            <a:endParaRPr sz="650">
              <a:latin typeface="Arial"/>
              <a:cs typeface="Arial"/>
            </a:endParaRPr>
          </a:p>
        </p:txBody>
      </p:sp>
      <p:sp>
        <p:nvSpPr>
          <p:cNvPr id="17" name="object 17"/>
          <p:cNvSpPr txBox="1"/>
          <p:nvPr/>
        </p:nvSpPr>
        <p:spPr>
          <a:xfrm>
            <a:off x="3407739" y="2482830"/>
            <a:ext cx="4006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 level</a:t>
            </a:r>
            <a:endParaRPr sz="650">
              <a:latin typeface="Arial"/>
              <a:cs typeface="Arial"/>
            </a:endParaRPr>
          </a:p>
        </p:txBody>
      </p:sp>
      <p:grpSp>
        <p:nvGrpSpPr>
          <p:cNvPr id="18" name="object 18"/>
          <p:cNvGrpSpPr/>
          <p:nvPr/>
        </p:nvGrpSpPr>
        <p:grpSpPr>
          <a:xfrm>
            <a:off x="2266353" y="1839572"/>
            <a:ext cx="384810" cy="148590"/>
            <a:chOff x="2266353" y="1839572"/>
            <a:chExt cx="384810" cy="148590"/>
          </a:xfrm>
        </p:grpSpPr>
        <p:sp>
          <p:nvSpPr>
            <p:cNvPr id="19" name="object 19"/>
            <p:cNvSpPr/>
            <p:nvPr/>
          </p:nvSpPr>
          <p:spPr>
            <a:xfrm>
              <a:off x="2298229" y="1876952"/>
              <a:ext cx="0" cy="111125"/>
            </a:xfrm>
            <a:custGeom>
              <a:avLst/>
              <a:gdLst/>
              <a:ahLst/>
              <a:cxnLst/>
              <a:rect l="l" t="t" r="r" b="b"/>
              <a:pathLst>
                <a:path h="111125">
                  <a:moveTo>
                    <a:pt x="0" y="111121"/>
                  </a:moveTo>
                  <a:lnTo>
                    <a:pt x="0" y="0"/>
                  </a:lnTo>
                </a:path>
              </a:pathLst>
            </a:custGeom>
            <a:ln w="5270">
              <a:solidFill>
                <a:srgbClr val="231F20"/>
              </a:solidFill>
            </a:ln>
          </p:spPr>
          <p:txBody>
            <a:bodyPr wrap="square" lIns="0" tIns="0" rIns="0" bIns="0" rtlCol="0"/>
            <a:lstStyle/>
            <a:p>
              <a:endParaRPr/>
            </a:p>
          </p:txBody>
        </p:sp>
        <p:sp>
          <p:nvSpPr>
            <p:cNvPr id="20" name="object 20"/>
            <p:cNvSpPr/>
            <p:nvPr/>
          </p:nvSpPr>
          <p:spPr>
            <a:xfrm>
              <a:off x="2266353" y="1839572"/>
              <a:ext cx="64135" cy="74930"/>
            </a:xfrm>
            <a:custGeom>
              <a:avLst/>
              <a:gdLst/>
              <a:ahLst/>
              <a:cxnLst/>
              <a:rect l="l" t="t" r="r" b="b"/>
              <a:pathLst>
                <a:path w="64135" h="74930">
                  <a:moveTo>
                    <a:pt x="31875" y="0"/>
                  </a:moveTo>
                  <a:lnTo>
                    <a:pt x="0" y="74376"/>
                  </a:lnTo>
                  <a:lnTo>
                    <a:pt x="15937" y="68398"/>
                  </a:lnTo>
                  <a:lnTo>
                    <a:pt x="31875" y="66405"/>
                  </a:lnTo>
                  <a:lnTo>
                    <a:pt x="47813" y="68398"/>
                  </a:lnTo>
                  <a:lnTo>
                    <a:pt x="63751" y="74376"/>
                  </a:lnTo>
                  <a:lnTo>
                    <a:pt x="31875" y="0"/>
                  </a:lnTo>
                  <a:close/>
                </a:path>
              </a:pathLst>
            </a:custGeom>
            <a:solidFill>
              <a:srgbClr val="231F20"/>
            </a:solidFill>
          </p:spPr>
          <p:txBody>
            <a:bodyPr wrap="square" lIns="0" tIns="0" rIns="0" bIns="0" rtlCol="0"/>
            <a:lstStyle/>
            <a:p>
              <a:endParaRPr/>
            </a:p>
          </p:txBody>
        </p:sp>
        <p:sp>
          <p:nvSpPr>
            <p:cNvPr id="21" name="object 21"/>
            <p:cNvSpPr/>
            <p:nvPr/>
          </p:nvSpPr>
          <p:spPr>
            <a:xfrm>
              <a:off x="2301234" y="1931078"/>
              <a:ext cx="347345" cy="4445"/>
            </a:xfrm>
            <a:custGeom>
              <a:avLst/>
              <a:gdLst/>
              <a:ahLst/>
              <a:cxnLst/>
              <a:rect l="l" t="t" r="r" b="b"/>
              <a:pathLst>
                <a:path w="347344" h="4444">
                  <a:moveTo>
                    <a:pt x="347030" y="3961"/>
                  </a:moveTo>
                  <a:lnTo>
                    <a:pt x="0" y="0"/>
                  </a:lnTo>
                </a:path>
              </a:pathLst>
            </a:custGeom>
            <a:ln w="5270">
              <a:solidFill>
                <a:srgbClr val="231F20"/>
              </a:solidFill>
            </a:ln>
          </p:spPr>
          <p:txBody>
            <a:bodyPr wrap="square" lIns="0" tIns="0" rIns="0" bIns="0" rtlCol="0"/>
            <a:lstStyle/>
            <a:p>
              <a:endParaRPr/>
            </a:p>
          </p:txBody>
        </p:sp>
      </p:grpSp>
      <p:grpSp>
        <p:nvGrpSpPr>
          <p:cNvPr id="22" name="object 22"/>
          <p:cNvGrpSpPr/>
          <p:nvPr/>
        </p:nvGrpSpPr>
        <p:grpSpPr>
          <a:xfrm>
            <a:off x="1195058" y="1023460"/>
            <a:ext cx="2168525" cy="1731010"/>
            <a:chOff x="1195058" y="1023460"/>
            <a:chExt cx="2168525" cy="1731010"/>
          </a:xfrm>
        </p:grpSpPr>
        <p:sp>
          <p:nvSpPr>
            <p:cNvPr id="23" name="object 23"/>
            <p:cNvSpPr/>
            <p:nvPr/>
          </p:nvSpPr>
          <p:spPr>
            <a:xfrm>
              <a:off x="1640567" y="2529053"/>
              <a:ext cx="509270" cy="222885"/>
            </a:xfrm>
            <a:custGeom>
              <a:avLst/>
              <a:gdLst/>
              <a:ahLst/>
              <a:cxnLst/>
              <a:rect l="l" t="t" r="r" b="b"/>
              <a:pathLst>
                <a:path w="509269" h="222885">
                  <a:moveTo>
                    <a:pt x="509150" y="0"/>
                  </a:moveTo>
                  <a:lnTo>
                    <a:pt x="0" y="0"/>
                  </a:lnTo>
                  <a:lnTo>
                    <a:pt x="58" y="42825"/>
                  </a:lnTo>
                  <a:lnTo>
                    <a:pt x="349" y="163369"/>
                  </a:lnTo>
                  <a:lnTo>
                    <a:pt x="57578" y="200443"/>
                  </a:lnTo>
                  <a:lnTo>
                    <a:pt x="112942" y="211352"/>
                  </a:lnTo>
                  <a:lnTo>
                    <a:pt x="171533" y="218196"/>
                  </a:lnTo>
                  <a:lnTo>
                    <a:pt x="222396" y="221741"/>
                  </a:lnTo>
                  <a:lnTo>
                    <a:pt x="254574" y="222752"/>
                  </a:lnTo>
                  <a:lnTo>
                    <a:pt x="319831" y="221007"/>
                  </a:lnTo>
                  <a:lnTo>
                    <a:pt x="379943" y="215861"/>
                  </a:lnTo>
                  <a:lnTo>
                    <a:pt x="431884" y="207450"/>
                  </a:lnTo>
                  <a:lnTo>
                    <a:pt x="472628" y="195911"/>
                  </a:lnTo>
                  <a:lnTo>
                    <a:pt x="508412" y="163990"/>
                  </a:lnTo>
                  <a:lnTo>
                    <a:pt x="508514" y="137891"/>
                  </a:lnTo>
                  <a:lnTo>
                    <a:pt x="509150" y="0"/>
                  </a:lnTo>
                  <a:close/>
                </a:path>
              </a:pathLst>
            </a:custGeom>
            <a:solidFill>
              <a:srgbClr val="BCBEC0"/>
            </a:solidFill>
          </p:spPr>
          <p:txBody>
            <a:bodyPr wrap="square" lIns="0" tIns="0" rIns="0" bIns="0" rtlCol="0"/>
            <a:lstStyle/>
            <a:p>
              <a:endParaRPr/>
            </a:p>
          </p:txBody>
        </p:sp>
        <p:sp>
          <p:nvSpPr>
            <p:cNvPr id="24" name="object 24"/>
            <p:cNvSpPr/>
            <p:nvPr/>
          </p:nvSpPr>
          <p:spPr>
            <a:xfrm>
              <a:off x="1640567" y="2529053"/>
              <a:ext cx="509270" cy="222885"/>
            </a:xfrm>
            <a:custGeom>
              <a:avLst/>
              <a:gdLst/>
              <a:ahLst/>
              <a:cxnLst/>
              <a:rect l="l" t="t" r="r" b="b"/>
              <a:pathLst>
                <a:path w="509269" h="222885">
                  <a:moveTo>
                    <a:pt x="0" y="0"/>
                  </a:moveTo>
                  <a:lnTo>
                    <a:pt x="509150" y="0"/>
                  </a:lnTo>
                  <a:lnTo>
                    <a:pt x="509030" y="26081"/>
                  </a:lnTo>
                  <a:lnTo>
                    <a:pt x="508769" y="81983"/>
                  </a:lnTo>
                  <a:lnTo>
                    <a:pt x="508514" y="137891"/>
                  </a:lnTo>
                  <a:lnTo>
                    <a:pt x="499146" y="181379"/>
                  </a:lnTo>
                  <a:lnTo>
                    <a:pt x="431884" y="207450"/>
                  </a:lnTo>
                  <a:lnTo>
                    <a:pt x="379943" y="215861"/>
                  </a:lnTo>
                  <a:lnTo>
                    <a:pt x="319831" y="221007"/>
                  </a:lnTo>
                  <a:lnTo>
                    <a:pt x="254574" y="222752"/>
                  </a:lnTo>
                  <a:lnTo>
                    <a:pt x="222396" y="221741"/>
                  </a:lnTo>
                  <a:lnTo>
                    <a:pt x="171533" y="218196"/>
                  </a:lnTo>
                  <a:lnTo>
                    <a:pt x="112942" y="211352"/>
                  </a:lnTo>
                  <a:lnTo>
                    <a:pt x="57578" y="200443"/>
                  </a:lnTo>
                  <a:lnTo>
                    <a:pt x="16395" y="184704"/>
                  </a:lnTo>
                  <a:lnTo>
                    <a:pt x="307" y="142007"/>
                  </a:lnTo>
                  <a:lnTo>
                    <a:pt x="185" y="95993"/>
                  </a:lnTo>
                  <a:lnTo>
                    <a:pt x="58" y="42825"/>
                  </a:lnTo>
                  <a:lnTo>
                    <a:pt x="0" y="0"/>
                  </a:lnTo>
                  <a:close/>
                </a:path>
              </a:pathLst>
            </a:custGeom>
            <a:ln w="5270">
              <a:solidFill>
                <a:srgbClr val="231F20"/>
              </a:solidFill>
            </a:ln>
          </p:spPr>
          <p:txBody>
            <a:bodyPr wrap="square" lIns="0" tIns="0" rIns="0" bIns="0" rtlCol="0"/>
            <a:lstStyle/>
            <a:p>
              <a:endParaRPr/>
            </a:p>
          </p:txBody>
        </p:sp>
        <p:sp>
          <p:nvSpPr>
            <p:cNvPr id="25" name="object 25"/>
            <p:cNvSpPr/>
            <p:nvPr/>
          </p:nvSpPr>
          <p:spPr>
            <a:xfrm>
              <a:off x="1640567" y="2465407"/>
              <a:ext cx="509270" cy="116839"/>
            </a:xfrm>
            <a:custGeom>
              <a:avLst/>
              <a:gdLst/>
              <a:ahLst/>
              <a:cxnLst/>
              <a:rect l="l" t="t" r="r" b="b"/>
              <a:pathLst>
                <a:path w="509269" h="116839">
                  <a:moveTo>
                    <a:pt x="254574" y="0"/>
                  </a:moveTo>
                  <a:lnTo>
                    <a:pt x="187031" y="2090"/>
                  </a:lnTo>
                  <a:lnTo>
                    <a:pt x="126255" y="7984"/>
                  </a:lnTo>
                  <a:lnTo>
                    <a:pt x="74706" y="17120"/>
                  </a:lnTo>
                  <a:lnTo>
                    <a:pt x="34841" y="28934"/>
                  </a:lnTo>
                  <a:lnTo>
                    <a:pt x="0" y="58342"/>
                  </a:lnTo>
                  <a:lnTo>
                    <a:pt x="9120" y="73821"/>
                  </a:lnTo>
                  <a:lnTo>
                    <a:pt x="74706" y="99561"/>
                  </a:lnTo>
                  <a:lnTo>
                    <a:pt x="126255" y="108696"/>
                  </a:lnTo>
                  <a:lnTo>
                    <a:pt x="187031" y="114590"/>
                  </a:lnTo>
                  <a:lnTo>
                    <a:pt x="254574" y="116680"/>
                  </a:lnTo>
                  <a:lnTo>
                    <a:pt x="322121" y="114590"/>
                  </a:lnTo>
                  <a:lnTo>
                    <a:pt x="382898" y="108696"/>
                  </a:lnTo>
                  <a:lnTo>
                    <a:pt x="434447" y="99561"/>
                  </a:lnTo>
                  <a:lnTo>
                    <a:pt x="474310" y="87748"/>
                  </a:lnTo>
                  <a:lnTo>
                    <a:pt x="509150" y="58342"/>
                  </a:lnTo>
                  <a:lnTo>
                    <a:pt x="500030" y="42862"/>
                  </a:lnTo>
                  <a:lnTo>
                    <a:pt x="434447" y="17120"/>
                  </a:lnTo>
                  <a:lnTo>
                    <a:pt x="382898" y="7984"/>
                  </a:lnTo>
                  <a:lnTo>
                    <a:pt x="322121" y="2090"/>
                  </a:lnTo>
                  <a:lnTo>
                    <a:pt x="254574" y="0"/>
                  </a:lnTo>
                  <a:close/>
                </a:path>
              </a:pathLst>
            </a:custGeom>
            <a:solidFill>
              <a:srgbClr val="FFFFFF"/>
            </a:solidFill>
          </p:spPr>
          <p:txBody>
            <a:bodyPr wrap="square" lIns="0" tIns="0" rIns="0" bIns="0" rtlCol="0"/>
            <a:lstStyle/>
            <a:p>
              <a:endParaRPr/>
            </a:p>
          </p:txBody>
        </p:sp>
        <p:sp>
          <p:nvSpPr>
            <p:cNvPr id="26" name="object 26"/>
            <p:cNvSpPr/>
            <p:nvPr/>
          </p:nvSpPr>
          <p:spPr>
            <a:xfrm>
              <a:off x="1640567" y="2465407"/>
              <a:ext cx="509270" cy="116839"/>
            </a:xfrm>
            <a:custGeom>
              <a:avLst/>
              <a:gdLst/>
              <a:ahLst/>
              <a:cxnLst/>
              <a:rect l="l" t="t" r="r" b="b"/>
              <a:pathLst>
                <a:path w="509269" h="116839">
                  <a:moveTo>
                    <a:pt x="254574" y="0"/>
                  </a:moveTo>
                  <a:lnTo>
                    <a:pt x="322121" y="2090"/>
                  </a:lnTo>
                  <a:lnTo>
                    <a:pt x="382898" y="7984"/>
                  </a:lnTo>
                  <a:lnTo>
                    <a:pt x="434447" y="17120"/>
                  </a:lnTo>
                  <a:lnTo>
                    <a:pt x="474310" y="28934"/>
                  </a:lnTo>
                  <a:lnTo>
                    <a:pt x="509150" y="58342"/>
                  </a:lnTo>
                  <a:lnTo>
                    <a:pt x="500030" y="73821"/>
                  </a:lnTo>
                  <a:lnTo>
                    <a:pt x="434447" y="99561"/>
                  </a:lnTo>
                  <a:lnTo>
                    <a:pt x="382898" y="108696"/>
                  </a:lnTo>
                  <a:lnTo>
                    <a:pt x="322121" y="114590"/>
                  </a:lnTo>
                  <a:lnTo>
                    <a:pt x="254574" y="116680"/>
                  </a:lnTo>
                  <a:lnTo>
                    <a:pt x="187031" y="114590"/>
                  </a:lnTo>
                  <a:lnTo>
                    <a:pt x="126255" y="108696"/>
                  </a:lnTo>
                  <a:lnTo>
                    <a:pt x="74706" y="99561"/>
                  </a:lnTo>
                  <a:lnTo>
                    <a:pt x="34841" y="87748"/>
                  </a:lnTo>
                  <a:lnTo>
                    <a:pt x="0" y="58342"/>
                  </a:lnTo>
                  <a:lnTo>
                    <a:pt x="9120" y="42862"/>
                  </a:lnTo>
                  <a:lnTo>
                    <a:pt x="74706" y="17120"/>
                  </a:lnTo>
                  <a:lnTo>
                    <a:pt x="126255" y="7984"/>
                  </a:lnTo>
                  <a:lnTo>
                    <a:pt x="187031" y="2090"/>
                  </a:lnTo>
                  <a:lnTo>
                    <a:pt x="254574" y="0"/>
                  </a:lnTo>
                  <a:close/>
                </a:path>
              </a:pathLst>
            </a:custGeom>
            <a:ln w="5270">
              <a:solidFill>
                <a:srgbClr val="231F20"/>
              </a:solidFill>
            </a:ln>
          </p:spPr>
          <p:txBody>
            <a:bodyPr wrap="square" lIns="0" tIns="0" rIns="0" bIns="0" rtlCol="0"/>
            <a:lstStyle/>
            <a:p>
              <a:endParaRPr/>
            </a:p>
          </p:txBody>
        </p:sp>
        <p:sp>
          <p:nvSpPr>
            <p:cNvPr id="27" name="object 27"/>
            <p:cNvSpPr/>
            <p:nvPr/>
          </p:nvSpPr>
          <p:spPr>
            <a:xfrm>
              <a:off x="1523888" y="2051718"/>
              <a:ext cx="235585" cy="435609"/>
            </a:xfrm>
            <a:custGeom>
              <a:avLst/>
              <a:gdLst/>
              <a:ahLst/>
              <a:cxnLst/>
              <a:rect l="l" t="t" r="r" b="b"/>
              <a:pathLst>
                <a:path w="235585" h="435610">
                  <a:moveTo>
                    <a:pt x="0" y="0"/>
                  </a:moveTo>
                  <a:lnTo>
                    <a:pt x="235380" y="435487"/>
                  </a:lnTo>
                </a:path>
              </a:pathLst>
            </a:custGeom>
            <a:ln w="5270">
              <a:solidFill>
                <a:srgbClr val="231F20"/>
              </a:solidFill>
            </a:ln>
          </p:spPr>
          <p:txBody>
            <a:bodyPr wrap="square" lIns="0" tIns="0" rIns="0" bIns="0" rtlCol="0"/>
            <a:lstStyle/>
            <a:p>
              <a:endParaRPr/>
            </a:p>
          </p:txBody>
        </p:sp>
        <p:sp>
          <p:nvSpPr>
            <p:cNvPr id="28" name="object 28"/>
            <p:cNvSpPr/>
            <p:nvPr/>
          </p:nvSpPr>
          <p:spPr>
            <a:xfrm>
              <a:off x="1713637" y="2439500"/>
              <a:ext cx="63500" cy="80645"/>
            </a:xfrm>
            <a:custGeom>
              <a:avLst/>
              <a:gdLst/>
              <a:ahLst/>
              <a:cxnLst/>
              <a:rect l="l" t="t" r="r" b="b"/>
              <a:pathLst>
                <a:path w="63500" h="80644">
                  <a:moveTo>
                    <a:pt x="56087" y="0"/>
                  </a:moveTo>
                  <a:lnTo>
                    <a:pt x="44904" y="12835"/>
                  </a:lnTo>
                  <a:lnTo>
                    <a:pt x="31830" y="22166"/>
                  </a:lnTo>
                  <a:lnTo>
                    <a:pt x="16862" y="27992"/>
                  </a:lnTo>
                  <a:lnTo>
                    <a:pt x="0" y="30313"/>
                  </a:lnTo>
                  <a:lnTo>
                    <a:pt x="63403" y="80589"/>
                  </a:lnTo>
                  <a:lnTo>
                    <a:pt x="56087" y="0"/>
                  </a:lnTo>
                  <a:close/>
                </a:path>
              </a:pathLst>
            </a:custGeom>
            <a:solidFill>
              <a:srgbClr val="231F20"/>
            </a:solidFill>
          </p:spPr>
          <p:txBody>
            <a:bodyPr wrap="square" lIns="0" tIns="0" rIns="0" bIns="0" rtlCol="0"/>
            <a:lstStyle/>
            <a:p>
              <a:endParaRPr/>
            </a:p>
          </p:txBody>
        </p:sp>
        <p:sp>
          <p:nvSpPr>
            <p:cNvPr id="29" name="object 29"/>
            <p:cNvSpPr/>
            <p:nvPr/>
          </p:nvSpPr>
          <p:spPr>
            <a:xfrm>
              <a:off x="2011830" y="2269081"/>
              <a:ext cx="249554" cy="249554"/>
            </a:xfrm>
            <a:custGeom>
              <a:avLst/>
              <a:gdLst/>
              <a:ahLst/>
              <a:cxnLst/>
              <a:rect l="l" t="t" r="r" b="b"/>
              <a:pathLst>
                <a:path w="249555" h="249555">
                  <a:moveTo>
                    <a:pt x="0" y="249365"/>
                  </a:moveTo>
                  <a:lnTo>
                    <a:pt x="249357" y="0"/>
                  </a:lnTo>
                </a:path>
              </a:pathLst>
            </a:custGeom>
            <a:ln w="5270">
              <a:solidFill>
                <a:srgbClr val="231F20"/>
              </a:solidFill>
            </a:ln>
          </p:spPr>
          <p:txBody>
            <a:bodyPr wrap="square" lIns="0" tIns="0" rIns="0" bIns="0" rtlCol="0"/>
            <a:lstStyle/>
            <a:p>
              <a:endParaRPr/>
            </a:p>
          </p:txBody>
        </p:sp>
        <p:pic>
          <p:nvPicPr>
            <p:cNvPr id="30" name="object 30"/>
            <p:cNvPicPr/>
            <p:nvPr/>
          </p:nvPicPr>
          <p:blipFill>
            <a:blip r:embed="rId5" cstate="print"/>
            <a:stretch>
              <a:fillRect/>
            </a:stretch>
          </p:blipFill>
          <p:spPr>
            <a:xfrm>
              <a:off x="2212489" y="2242651"/>
              <a:ext cx="75125" cy="75133"/>
            </a:xfrm>
            <a:prstGeom prst="rect">
              <a:avLst/>
            </a:prstGeom>
          </p:spPr>
        </p:pic>
        <p:sp>
          <p:nvSpPr>
            <p:cNvPr id="31" name="object 31"/>
            <p:cNvSpPr/>
            <p:nvPr/>
          </p:nvSpPr>
          <p:spPr>
            <a:xfrm>
              <a:off x="1195058" y="2295689"/>
              <a:ext cx="2046605" cy="0"/>
            </a:xfrm>
            <a:custGeom>
              <a:avLst/>
              <a:gdLst/>
              <a:ahLst/>
              <a:cxnLst/>
              <a:rect l="l" t="t" r="r" b="b"/>
              <a:pathLst>
                <a:path w="2046605">
                  <a:moveTo>
                    <a:pt x="0" y="0"/>
                  </a:moveTo>
                  <a:lnTo>
                    <a:pt x="2046106" y="0"/>
                  </a:lnTo>
                </a:path>
              </a:pathLst>
            </a:custGeom>
            <a:ln w="5270">
              <a:solidFill>
                <a:srgbClr val="231F20"/>
              </a:solidFill>
              <a:prstDash val="lgDash"/>
            </a:ln>
          </p:spPr>
          <p:txBody>
            <a:bodyPr wrap="square" lIns="0" tIns="0" rIns="0" bIns="0" rtlCol="0"/>
            <a:lstStyle/>
            <a:p>
              <a:endParaRPr/>
            </a:p>
          </p:txBody>
        </p:sp>
        <p:sp>
          <p:nvSpPr>
            <p:cNvPr id="32" name="object 32"/>
            <p:cNvSpPr/>
            <p:nvPr/>
          </p:nvSpPr>
          <p:spPr>
            <a:xfrm>
              <a:off x="1515010" y="1298601"/>
              <a:ext cx="158750" cy="452755"/>
            </a:xfrm>
            <a:custGeom>
              <a:avLst/>
              <a:gdLst/>
              <a:ahLst/>
              <a:cxnLst/>
              <a:rect l="l" t="t" r="r" b="b"/>
              <a:pathLst>
                <a:path w="158750" h="452755">
                  <a:moveTo>
                    <a:pt x="158283" y="0"/>
                  </a:moveTo>
                  <a:lnTo>
                    <a:pt x="0" y="452657"/>
                  </a:lnTo>
                </a:path>
              </a:pathLst>
            </a:custGeom>
            <a:ln w="5270">
              <a:solidFill>
                <a:srgbClr val="231F20"/>
              </a:solidFill>
            </a:ln>
          </p:spPr>
          <p:txBody>
            <a:bodyPr wrap="square" lIns="0" tIns="0" rIns="0" bIns="0" rtlCol="0"/>
            <a:lstStyle/>
            <a:p>
              <a:endParaRPr/>
            </a:p>
          </p:txBody>
        </p:sp>
        <p:sp>
          <p:nvSpPr>
            <p:cNvPr id="33" name="object 33"/>
            <p:cNvSpPr/>
            <p:nvPr/>
          </p:nvSpPr>
          <p:spPr>
            <a:xfrm>
              <a:off x="1497131" y="1705809"/>
              <a:ext cx="60325" cy="81280"/>
            </a:xfrm>
            <a:custGeom>
              <a:avLst/>
              <a:gdLst/>
              <a:ahLst/>
              <a:cxnLst/>
              <a:rect l="l" t="t" r="r" b="b"/>
              <a:pathLst>
                <a:path w="60325" h="81280">
                  <a:moveTo>
                    <a:pt x="0" y="0"/>
                  </a:moveTo>
                  <a:lnTo>
                    <a:pt x="5542" y="80729"/>
                  </a:lnTo>
                  <a:lnTo>
                    <a:pt x="60178" y="21040"/>
                  </a:lnTo>
                  <a:lnTo>
                    <a:pt x="43161" y="21423"/>
                  </a:lnTo>
                  <a:lnTo>
                    <a:pt x="27459" y="18044"/>
                  </a:lnTo>
                  <a:lnTo>
                    <a:pt x="13072" y="10903"/>
                  </a:lnTo>
                  <a:lnTo>
                    <a:pt x="0" y="0"/>
                  </a:lnTo>
                  <a:close/>
                </a:path>
              </a:pathLst>
            </a:custGeom>
            <a:solidFill>
              <a:srgbClr val="231F20"/>
            </a:solidFill>
          </p:spPr>
          <p:txBody>
            <a:bodyPr wrap="square" lIns="0" tIns="0" rIns="0" bIns="0" rtlCol="0"/>
            <a:lstStyle/>
            <a:p>
              <a:endParaRPr/>
            </a:p>
          </p:txBody>
        </p:sp>
        <p:sp>
          <p:nvSpPr>
            <p:cNvPr id="34" name="object 34"/>
            <p:cNvSpPr/>
            <p:nvPr/>
          </p:nvSpPr>
          <p:spPr>
            <a:xfrm>
              <a:off x="2137816" y="1330224"/>
              <a:ext cx="160655" cy="255270"/>
            </a:xfrm>
            <a:custGeom>
              <a:avLst/>
              <a:gdLst/>
              <a:ahLst/>
              <a:cxnLst/>
              <a:rect l="l" t="t" r="r" b="b"/>
              <a:pathLst>
                <a:path w="160655" h="255269">
                  <a:moveTo>
                    <a:pt x="160412" y="254775"/>
                  </a:moveTo>
                  <a:lnTo>
                    <a:pt x="0" y="0"/>
                  </a:lnTo>
                </a:path>
              </a:pathLst>
            </a:custGeom>
            <a:ln w="5270">
              <a:solidFill>
                <a:srgbClr val="231F20"/>
              </a:solidFill>
            </a:ln>
          </p:spPr>
          <p:txBody>
            <a:bodyPr wrap="square" lIns="0" tIns="0" rIns="0" bIns="0" rtlCol="0"/>
            <a:lstStyle/>
            <a:p>
              <a:endParaRPr/>
            </a:p>
          </p:txBody>
        </p:sp>
        <p:pic>
          <p:nvPicPr>
            <p:cNvPr id="35" name="object 35"/>
            <p:cNvPicPr/>
            <p:nvPr/>
          </p:nvPicPr>
          <p:blipFill>
            <a:blip r:embed="rId6" cstate="print"/>
            <a:stretch>
              <a:fillRect/>
            </a:stretch>
          </p:blipFill>
          <p:spPr>
            <a:xfrm>
              <a:off x="2117905" y="1298601"/>
              <a:ext cx="66598" cy="79921"/>
            </a:xfrm>
            <a:prstGeom prst="rect">
              <a:avLst/>
            </a:prstGeom>
          </p:spPr>
        </p:pic>
        <p:sp>
          <p:nvSpPr>
            <p:cNvPr id="36" name="object 36"/>
            <p:cNvSpPr/>
            <p:nvPr/>
          </p:nvSpPr>
          <p:spPr>
            <a:xfrm>
              <a:off x="1195058" y="1330414"/>
              <a:ext cx="2046605" cy="0"/>
            </a:xfrm>
            <a:custGeom>
              <a:avLst/>
              <a:gdLst/>
              <a:ahLst/>
              <a:cxnLst/>
              <a:rect l="l" t="t" r="r" b="b"/>
              <a:pathLst>
                <a:path w="2046605">
                  <a:moveTo>
                    <a:pt x="0" y="0"/>
                  </a:moveTo>
                  <a:lnTo>
                    <a:pt x="2046106" y="0"/>
                  </a:lnTo>
                </a:path>
              </a:pathLst>
            </a:custGeom>
            <a:ln w="5270">
              <a:solidFill>
                <a:srgbClr val="231F20"/>
              </a:solidFill>
              <a:prstDash val="lgDash"/>
            </a:ln>
          </p:spPr>
          <p:txBody>
            <a:bodyPr wrap="square" lIns="0" tIns="0" rIns="0" bIns="0" rtlCol="0"/>
            <a:lstStyle/>
            <a:p>
              <a:endParaRPr/>
            </a:p>
          </p:txBody>
        </p:sp>
        <p:pic>
          <p:nvPicPr>
            <p:cNvPr id="37" name="object 37"/>
            <p:cNvPicPr/>
            <p:nvPr/>
          </p:nvPicPr>
          <p:blipFill>
            <a:blip r:embed="rId7" cstate="print"/>
            <a:stretch>
              <a:fillRect/>
            </a:stretch>
          </p:blipFill>
          <p:spPr>
            <a:xfrm>
              <a:off x="3268402" y="1023460"/>
              <a:ext cx="94911" cy="304065"/>
            </a:xfrm>
            <a:prstGeom prst="rect">
              <a:avLst/>
            </a:prstGeom>
          </p:spPr>
        </p:pic>
        <p:sp>
          <p:nvSpPr>
            <p:cNvPr id="38" name="object 38"/>
            <p:cNvSpPr/>
            <p:nvPr/>
          </p:nvSpPr>
          <p:spPr>
            <a:xfrm>
              <a:off x="3271037" y="1339827"/>
              <a:ext cx="90170" cy="941705"/>
            </a:xfrm>
            <a:custGeom>
              <a:avLst/>
              <a:gdLst/>
              <a:ahLst/>
              <a:cxnLst/>
              <a:rect l="l" t="t" r="r" b="b"/>
              <a:pathLst>
                <a:path w="90170" h="941705">
                  <a:moveTo>
                    <a:pt x="0" y="0"/>
                  </a:moveTo>
                  <a:lnTo>
                    <a:pt x="28427" y="34860"/>
                  </a:lnTo>
                  <a:lnTo>
                    <a:pt x="36066" y="73533"/>
                  </a:lnTo>
                  <a:lnTo>
                    <a:pt x="40670" y="122011"/>
                  </a:lnTo>
                  <a:lnTo>
                    <a:pt x="43251" y="177025"/>
                  </a:lnTo>
                  <a:lnTo>
                    <a:pt x="44820" y="235307"/>
                  </a:lnTo>
                  <a:lnTo>
                    <a:pt x="46389" y="293589"/>
                  </a:lnTo>
                  <a:lnTo>
                    <a:pt x="48970" y="348603"/>
                  </a:lnTo>
                  <a:lnTo>
                    <a:pt x="53574" y="397081"/>
                  </a:lnTo>
                  <a:lnTo>
                    <a:pt x="61212" y="435754"/>
                  </a:lnTo>
                  <a:lnTo>
                    <a:pt x="72897" y="461354"/>
                  </a:lnTo>
                  <a:lnTo>
                    <a:pt x="89640" y="470614"/>
                  </a:lnTo>
                </a:path>
                <a:path w="90170" h="941705">
                  <a:moveTo>
                    <a:pt x="0" y="941220"/>
                  </a:moveTo>
                  <a:lnTo>
                    <a:pt x="28427" y="906360"/>
                  </a:lnTo>
                  <a:lnTo>
                    <a:pt x="36066" y="867688"/>
                  </a:lnTo>
                  <a:lnTo>
                    <a:pt x="40670" y="819211"/>
                  </a:lnTo>
                  <a:lnTo>
                    <a:pt x="43251" y="764198"/>
                  </a:lnTo>
                  <a:lnTo>
                    <a:pt x="44820" y="705917"/>
                  </a:lnTo>
                  <a:lnTo>
                    <a:pt x="46389" y="647636"/>
                  </a:lnTo>
                  <a:lnTo>
                    <a:pt x="48970" y="592623"/>
                  </a:lnTo>
                  <a:lnTo>
                    <a:pt x="53574" y="544146"/>
                  </a:lnTo>
                  <a:lnTo>
                    <a:pt x="61212" y="505474"/>
                  </a:lnTo>
                  <a:lnTo>
                    <a:pt x="72897" y="479874"/>
                  </a:lnTo>
                  <a:lnTo>
                    <a:pt x="89640" y="470614"/>
                  </a:lnTo>
                </a:path>
              </a:pathLst>
            </a:custGeom>
            <a:ln w="5270">
              <a:solidFill>
                <a:srgbClr val="231F20"/>
              </a:solidFill>
            </a:ln>
          </p:spPr>
          <p:txBody>
            <a:bodyPr wrap="square" lIns="0" tIns="0" rIns="0" bIns="0" rtlCol="0"/>
            <a:lstStyle/>
            <a:p>
              <a:endParaRPr/>
            </a:p>
          </p:txBody>
        </p:sp>
        <p:pic>
          <p:nvPicPr>
            <p:cNvPr id="39" name="object 39"/>
            <p:cNvPicPr/>
            <p:nvPr/>
          </p:nvPicPr>
          <p:blipFill>
            <a:blip r:embed="rId8" cstate="print"/>
            <a:stretch>
              <a:fillRect/>
            </a:stretch>
          </p:blipFill>
          <p:spPr>
            <a:xfrm>
              <a:off x="3268402" y="2308292"/>
              <a:ext cx="94911" cy="438530"/>
            </a:xfrm>
            <a:prstGeom prst="rect">
              <a:avLst/>
            </a:prstGeom>
          </p:spPr>
        </p:pic>
      </p:grpSp>
      <p:sp>
        <p:nvSpPr>
          <p:cNvPr id="40" name="object 40"/>
          <p:cNvSpPr txBox="1"/>
          <p:nvPr/>
        </p:nvSpPr>
        <p:spPr>
          <a:xfrm>
            <a:off x="66713" y="3331252"/>
            <a:ext cx="6813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9" action="ppaction://hlinksldjump"/>
              </a:rPr>
              <a:t>Application l</a:t>
            </a:r>
            <a:r>
              <a:rPr sz="600" spc="-25" dirty="0">
                <a:solidFill>
                  <a:srgbClr val="3333B2"/>
                </a:solidFill>
                <a:latin typeface="Arial"/>
                <a:cs typeface="Arial"/>
                <a:hlinkClick r:id="rId9" action="ppaction://hlinksldjump"/>
              </a:rPr>
              <a:t>a</a:t>
            </a:r>
            <a:r>
              <a:rPr sz="600" spc="-20" dirty="0">
                <a:solidFill>
                  <a:srgbClr val="3333B2"/>
                </a:solidFill>
                <a:latin typeface="Arial"/>
                <a:cs typeface="Arial"/>
                <a:hlinkClick r:id="rId9" action="ppaction://hlinksldjump"/>
              </a:rPr>
              <a:t>y</a:t>
            </a:r>
            <a:r>
              <a:rPr sz="600" spc="-5" dirty="0">
                <a:solidFill>
                  <a:srgbClr val="3333B2"/>
                </a:solidFill>
                <a:latin typeface="Arial"/>
                <a:cs typeface="Arial"/>
                <a:hlinkClick r:id="rId9" action="ppaction://hlinksldjump"/>
              </a:rPr>
              <a:t>e</a:t>
            </a:r>
            <a:r>
              <a:rPr sz="600" dirty="0">
                <a:solidFill>
                  <a:srgbClr val="3333B2"/>
                </a:solidFill>
                <a:latin typeface="Arial"/>
                <a:cs typeface="Arial"/>
                <a:hlinkClick r:id="rId9" action="ppaction://hlinksldjump"/>
              </a:rPr>
              <a:t>r</a:t>
            </a:r>
            <a:r>
              <a:rPr sz="600" spc="-5" dirty="0">
                <a:solidFill>
                  <a:srgbClr val="3333B2"/>
                </a:solidFill>
                <a:latin typeface="Arial"/>
                <a:cs typeface="Arial"/>
                <a:hlinkClick r:id="rId9" action="ppaction://hlinksldjump"/>
              </a:rPr>
              <a:t>ing</a:t>
            </a:r>
            <a:endParaRPr sz="600">
              <a:latin typeface="Arial"/>
              <a:cs typeface="Arial"/>
            </a:endParaRPr>
          </a:p>
        </p:txBody>
      </p:sp>
      <p:sp>
        <p:nvSpPr>
          <p:cNvPr id="41" name="object 41"/>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42260"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Object-based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and</a:t>
            </a:r>
            <a:r>
              <a:rPr sz="600" dirty="0">
                <a:solidFill>
                  <a:srgbClr val="262685"/>
                </a:solidFill>
                <a:latin typeface="Arial"/>
                <a:cs typeface="Arial"/>
                <a:hlinkClick r:id="rId4" action="ppaction://hlinksldjump"/>
              </a:rPr>
              <a:t> service-oriented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3" name="object 3"/>
          <p:cNvSpPr txBox="1">
            <a:spLocks noGrp="1"/>
          </p:cNvSpPr>
          <p:nvPr>
            <p:ph type="title"/>
          </p:nvPr>
        </p:nvSpPr>
        <p:spPr>
          <a:xfrm>
            <a:off x="95300" y="188846"/>
            <a:ext cx="1534795" cy="244475"/>
          </a:xfrm>
          <a:prstGeom prst="rect">
            <a:avLst/>
          </a:prstGeom>
        </p:spPr>
        <p:txBody>
          <a:bodyPr vert="horz" wrap="square" lIns="0" tIns="17145" rIns="0" bIns="0" rtlCol="0">
            <a:spAutoFit/>
          </a:bodyPr>
          <a:lstStyle/>
          <a:p>
            <a:pPr marL="12700">
              <a:lnSpc>
                <a:spcPct val="100000"/>
              </a:lnSpc>
              <a:spcBef>
                <a:spcPts val="135"/>
              </a:spcBef>
            </a:pPr>
            <a:r>
              <a:rPr spc="15" dirty="0"/>
              <a:t>Object-based</a:t>
            </a:r>
            <a:r>
              <a:rPr spc="-50" dirty="0"/>
              <a:t> </a:t>
            </a:r>
            <a:r>
              <a:rPr spc="10" dirty="0"/>
              <a:t>style</a:t>
            </a:r>
          </a:p>
        </p:txBody>
      </p:sp>
      <p:sp>
        <p:nvSpPr>
          <p:cNvPr id="4" name="object 4"/>
          <p:cNvSpPr txBox="1"/>
          <p:nvPr/>
        </p:nvSpPr>
        <p:spPr>
          <a:xfrm>
            <a:off x="347294" y="600745"/>
            <a:ext cx="3891915" cy="6572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12700" marR="5080">
              <a:lnSpc>
                <a:spcPts val="1200"/>
              </a:lnSpc>
              <a:spcBef>
                <a:spcPts val="10"/>
              </a:spcBef>
            </a:pPr>
            <a:r>
              <a:rPr sz="1000" spc="-5" dirty="0">
                <a:latin typeface="Arial"/>
                <a:cs typeface="Arial"/>
              </a:rPr>
              <a:t>Components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objects,</a:t>
            </a:r>
            <a:r>
              <a:rPr sz="1000" spc="5" dirty="0">
                <a:latin typeface="Arial"/>
                <a:cs typeface="Arial"/>
              </a:rPr>
              <a:t> </a:t>
            </a:r>
            <a:r>
              <a:rPr sz="1000" spc="-5" dirty="0">
                <a:latin typeface="Arial"/>
                <a:cs typeface="Arial"/>
              </a:rPr>
              <a:t>connected</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other</a:t>
            </a:r>
            <a:r>
              <a:rPr sz="1000" spc="5" dirty="0">
                <a:latin typeface="Arial"/>
                <a:cs typeface="Arial"/>
              </a:rPr>
              <a:t> </a:t>
            </a:r>
            <a:r>
              <a:rPr sz="1000" spc="-5" dirty="0">
                <a:latin typeface="Arial"/>
                <a:cs typeface="Arial"/>
              </a:rPr>
              <a:t>through</a:t>
            </a:r>
            <a:r>
              <a:rPr sz="1000" dirty="0">
                <a:latin typeface="Arial"/>
                <a:cs typeface="Arial"/>
              </a:rPr>
              <a:t> </a:t>
            </a:r>
            <a:r>
              <a:rPr sz="1000" spc="-5" dirty="0">
                <a:latin typeface="Arial"/>
                <a:cs typeface="Arial"/>
              </a:rPr>
              <a:t>procedure </a:t>
            </a:r>
            <a:r>
              <a:rPr sz="1000" spc="-260" dirty="0">
                <a:latin typeface="Arial"/>
                <a:cs typeface="Arial"/>
              </a:rPr>
              <a:t> </a:t>
            </a:r>
            <a:r>
              <a:rPr sz="1000" spc="-5" dirty="0">
                <a:latin typeface="Arial"/>
                <a:cs typeface="Arial"/>
              </a:rPr>
              <a:t>calls.</a:t>
            </a:r>
            <a:r>
              <a:rPr sz="1000" spc="60" dirty="0">
                <a:latin typeface="Arial"/>
                <a:cs typeface="Arial"/>
              </a:rPr>
              <a:t> </a:t>
            </a:r>
            <a:r>
              <a:rPr sz="1000" spc="-5" dirty="0">
                <a:latin typeface="Arial"/>
                <a:cs typeface="Arial"/>
              </a:rPr>
              <a:t>Objects </a:t>
            </a:r>
            <a:r>
              <a:rPr sz="1000" spc="-15" dirty="0">
                <a:latin typeface="Arial"/>
                <a:cs typeface="Arial"/>
              </a:rPr>
              <a:t>may</a:t>
            </a:r>
            <a:r>
              <a:rPr sz="1000" dirty="0">
                <a:latin typeface="Arial"/>
                <a:cs typeface="Arial"/>
              </a:rPr>
              <a:t> </a:t>
            </a:r>
            <a:r>
              <a:rPr sz="1000" spc="-5" dirty="0">
                <a:latin typeface="Arial"/>
                <a:cs typeface="Arial"/>
              </a:rPr>
              <a:t>be placed</a:t>
            </a:r>
            <a:r>
              <a:rPr sz="1000" dirty="0">
                <a:latin typeface="Arial"/>
                <a:cs typeface="Arial"/>
              </a:rPr>
              <a:t> </a:t>
            </a:r>
            <a:r>
              <a:rPr sz="1000" spc="-5" dirty="0">
                <a:latin typeface="Arial"/>
                <a:cs typeface="Arial"/>
              </a:rPr>
              <a:t>on different</a:t>
            </a:r>
            <a:r>
              <a:rPr sz="1000" dirty="0">
                <a:latin typeface="Arial"/>
                <a:cs typeface="Arial"/>
              </a:rPr>
              <a:t> </a:t>
            </a:r>
            <a:r>
              <a:rPr sz="1000" spc="-5" dirty="0">
                <a:latin typeface="Arial"/>
                <a:cs typeface="Arial"/>
              </a:rPr>
              <a:t>machines; calls can</a:t>
            </a:r>
            <a:r>
              <a:rPr sz="1000" dirty="0">
                <a:latin typeface="Arial"/>
                <a:cs typeface="Arial"/>
              </a:rPr>
              <a:t> </a:t>
            </a:r>
            <a:r>
              <a:rPr sz="1000" spc="-5" dirty="0">
                <a:latin typeface="Arial"/>
                <a:cs typeface="Arial"/>
              </a:rPr>
              <a:t>thus </a:t>
            </a:r>
            <a:r>
              <a:rPr sz="1000" dirty="0">
                <a:latin typeface="Arial"/>
                <a:cs typeface="Arial"/>
              </a:rPr>
              <a:t> </a:t>
            </a:r>
            <a:r>
              <a:rPr sz="1000" spc="-15" dirty="0">
                <a:latin typeface="Arial"/>
                <a:cs typeface="Arial"/>
              </a:rPr>
              <a:t>execute</a:t>
            </a:r>
            <a:r>
              <a:rPr sz="1000" spc="-10" dirty="0">
                <a:latin typeface="Arial"/>
                <a:cs typeface="Arial"/>
              </a:rPr>
              <a:t> </a:t>
            </a:r>
            <a:r>
              <a:rPr sz="1000" spc="-5" dirty="0">
                <a:latin typeface="Arial"/>
                <a:cs typeface="Arial"/>
              </a:rPr>
              <a:t>across a network.</a:t>
            </a:r>
            <a:endParaRPr sz="1000" dirty="0">
              <a:latin typeface="Arial"/>
              <a:cs typeface="Arial"/>
            </a:endParaRPr>
          </a:p>
        </p:txBody>
      </p:sp>
      <p:sp>
        <p:nvSpPr>
          <p:cNvPr id="5" name="object 5"/>
          <p:cNvSpPr/>
          <p:nvPr/>
        </p:nvSpPr>
        <p:spPr>
          <a:xfrm>
            <a:off x="1101328" y="1528791"/>
            <a:ext cx="418465" cy="179705"/>
          </a:xfrm>
          <a:custGeom>
            <a:avLst/>
            <a:gdLst/>
            <a:ahLst/>
            <a:cxnLst/>
            <a:rect l="l" t="t" r="r" b="b"/>
            <a:pathLst>
              <a:path w="418465" h="179705">
                <a:moveTo>
                  <a:pt x="59757" y="0"/>
                </a:moveTo>
                <a:lnTo>
                  <a:pt x="358558" y="0"/>
                </a:lnTo>
                <a:lnTo>
                  <a:pt x="381762" y="4715"/>
                </a:lnTo>
                <a:lnTo>
                  <a:pt x="400763" y="17554"/>
                </a:lnTo>
                <a:lnTo>
                  <a:pt x="413602" y="36557"/>
                </a:lnTo>
                <a:lnTo>
                  <a:pt x="418317" y="59763"/>
                </a:lnTo>
                <a:lnTo>
                  <a:pt x="418317" y="119521"/>
                </a:lnTo>
                <a:lnTo>
                  <a:pt x="413602" y="142724"/>
                </a:lnTo>
                <a:lnTo>
                  <a:pt x="400763" y="161725"/>
                </a:lnTo>
                <a:lnTo>
                  <a:pt x="381762" y="174564"/>
                </a:lnTo>
                <a:lnTo>
                  <a:pt x="358558" y="179280"/>
                </a:lnTo>
                <a:lnTo>
                  <a:pt x="59757" y="179280"/>
                </a:lnTo>
                <a:lnTo>
                  <a:pt x="36555" y="174564"/>
                </a:lnTo>
                <a:lnTo>
                  <a:pt x="17553" y="161725"/>
                </a:lnTo>
                <a:lnTo>
                  <a:pt x="4715" y="142724"/>
                </a:lnTo>
                <a:lnTo>
                  <a:pt x="0" y="119521"/>
                </a:lnTo>
                <a:lnTo>
                  <a:pt x="0" y="59763"/>
                </a:lnTo>
                <a:lnTo>
                  <a:pt x="4715" y="36557"/>
                </a:lnTo>
                <a:lnTo>
                  <a:pt x="17553" y="17554"/>
                </a:lnTo>
                <a:lnTo>
                  <a:pt x="36555" y="4715"/>
                </a:lnTo>
                <a:lnTo>
                  <a:pt x="59757" y="0"/>
                </a:lnTo>
                <a:close/>
              </a:path>
            </a:pathLst>
          </a:custGeom>
          <a:ln w="5976">
            <a:solidFill>
              <a:srgbClr val="231F20"/>
            </a:solidFill>
          </a:ln>
        </p:spPr>
        <p:txBody>
          <a:bodyPr wrap="square" lIns="0" tIns="0" rIns="0" bIns="0" rtlCol="0"/>
          <a:lstStyle/>
          <a:p>
            <a:endParaRPr/>
          </a:p>
        </p:txBody>
      </p:sp>
      <p:sp>
        <p:nvSpPr>
          <p:cNvPr id="6" name="object 6"/>
          <p:cNvSpPr txBox="1"/>
          <p:nvPr/>
        </p:nvSpPr>
        <p:spPr>
          <a:xfrm>
            <a:off x="1161039" y="1545979"/>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sp>
        <p:nvSpPr>
          <p:cNvPr id="7" name="object 7"/>
          <p:cNvSpPr/>
          <p:nvPr/>
        </p:nvSpPr>
        <p:spPr>
          <a:xfrm>
            <a:off x="443964" y="1887351"/>
            <a:ext cx="418465" cy="179705"/>
          </a:xfrm>
          <a:custGeom>
            <a:avLst/>
            <a:gdLst/>
            <a:ahLst/>
            <a:cxnLst/>
            <a:rect l="l" t="t" r="r" b="b"/>
            <a:pathLst>
              <a:path w="418465" h="179705">
                <a:moveTo>
                  <a:pt x="59762" y="0"/>
                </a:moveTo>
                <a:lnTo>
                  <a:pt x="358562" y="0"/>
                </a:lnTo>
                <a:lnTo>
                  <a:pt x="381765" y="4715"/>
                </a:lnTo>
                <a:lnTo>
                  <a:pt x="400766" y="17556"/>
                </a:lnTo>
                <a:lnTo>
                  <a:pt x="413605" y="36558"/>
                </a:lnTo>
                <a:lnTo>
                  <a:pt x="418320" y="59762"/>
                </a:lnTo>
                <a:lnTo>
                  <a:pt x="418320" y="119520"/>
                </a:lnTo>
                <a:lnTo>
                  <a:pt x="413605" y="142725"/>
                </a:lnTo>
                <a:lnTo>
                  <a:pt x="400766" y="161728"/>
                </a:lnTo>
                <a:lnTo>
                  <a:pt x="381765" y="174567"/>
                </a:lnTo>
                <a:lnTo>
                  <a:pt x="358562" y="179283"/>
                </a:lnTo>
                <a:lnTo>
                  <a:pt x="59762" y="179283"/>
                </a:lnTo>
                <a:lnTo>
                  <a:pt x="36557" y="174567"/>
                </a:lnTo>
                <a:lnTo>
                  <a:pt x="17554" y="161728"/>
                </a:lnTo>
                <a:lnTo>
                  <a:pt x="4715" y="142725"/>
                </a:lnTo>
                <a:lnTo>
                  <a:pt x="0" y="119520"/>
                </a:lnTo>
                <a:lnTo>
                  <a:pt x="0" y="59762"/>
                </a:lnTo>
                <a:lnTo>
                  <a:pt x="4715" y="36558"/>
                </a:lnTo>
                <a:lnTo>
                  <a:pt x="17554" y="17556"/>
                </a:lnTo>
                <a:lnTo>
                  <a:pt x="36557" y="4715"/>
                </a:lnTo>
                <a:lnTo>
                  <a:pt x="59762" y="0"/>
                </a:lnTo>
                <a:close/>
              </a:path>
            </a:pathLst>
          </a:custGeom>
          <a:ln w="5976">
            <a:solidFill>
              <a:srgbClr val="231F20"/>
            </a:solidFill>
          </a:ln>
        </p:spPr>
        <p:txBody>
          <a:bodyPr wrap="square" lIns="0" tIns="0" rIns="0" bIns="0" rtlCol="0"/>
          <a:lstStyle/>
          <a:p>
            <a:endParaRPr/>
          </a:p>
        </p:txBody>
      </p:sp>
      <p:sp>
        <p:nvSpPr>
          <p:cNvPr id="8" name="object 8"/>
          <p:cNvSpPr txBox="1"/>
          <p:nvPr/>
        </p:nvSpPr>
        <p:spPr>
          <a:xfrm>
            <a:off x="503680" y="1904537"/>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sp>
        <p:nvSpPr>
          <p:cNvPr id="9" name="object 9"/>
          <p:cNvSpPr/>
          <p:nvPr/>
        </p:nvSpPr>
        <p:spPr>
          <a:xfrm>
            <a:off x="922044" y="2186154"/>
            <a:ext cx="418465" cy="179705"/>
          </a:xfrm>
          <a:custGeom>
            <a:avLst/>
            <a:gdLst/>
            <a:ahLst/>
            <a:cxnLst/>
            <a:rect l="l" t="t" r="r" b="b"/>
            <a:pathLst>
              <a:path w="418465" h="179705">
                <a:moveTo>
                  <a:pt x="59762" y="0"/>
                </a:moveTo>
                <a:lnTo>
                  <a:pt x="358562" y="0"/>
                </a:lnTo>
                <a:lnTo>
                  <a:pt x="381765" y="4714"/>
                </a:lnTo>
                <a:lnTo>
                  <a:pt x="400766" y="17552"/>
                </a:lnTo>
                <a:lnTo>
                  <a:pt x="413605" y="36554"/>
                </a:lnTo>
                <a:lnTo>
                  <a:pt x="418320" y="59759"/>
                </a:lnTo>
                <a:lnTo>
                  <a:pt x="418320" y="119517"/>
                </a:lnTo>
                <a:lnTo>
                  <a:pt x="413605" y="142722"/>
                </a:lnTo>
                <a:lnTo>
                  <a:pt x="400766" y="161725"/>
                </a:lnTo>
                <a:lnTo>
                  <a:pt x="381765" y="174564"/>
                </a:lnTo>
                <a:lnTo>
                  <a:pt x="358562" y="179279"/>
                </a:lnTo>
                <a:lnTo>
                  <a:pt x="59762" y="179279"/>
                </a:lnTo>
                <a:lnTo>
                  <a:pt x="36556" y="174564"/>
                </a:lnTo>
                <a:lnTo>
                  <a:pt x="17554" y="161725"/>
                </a:lnTo>
                <a:lnTo>
                  <a:pt x="4715" y="142722"/>
                </a:lnTo>
                <a:lnTo>
                  <a:pt x="0" y="119517"/>
                </a:lnTo>
                <a:lnTo>
                  <a:pt x="0" y="59759"/>
                </a:lnTo>
                <a:lnTo>
                  <a:pt x="4715" y="36554"/>
                </a:lnTo>
                <a:lnTo>
                  <a:pt x="17554" y="17552"/>
                </a:lnTo>
                <a:lnTo>
                  <a:pt x="36556" y="4714"/>
                </a:lnTo>
                <a:lnTo>
                  <a:pt x="59762" y="0"/>
                </a:lnTo>
                <a:close/>
              </a:path>
            </a:pathLst>
          </a:custGeom>
          <a:ln w="5976">
            <a:solidFill>
              <a:srgbClr val="231F20"/>
            </a:solidFill>
          </a:ln>
        </p:spPr>
        <p:txBody>
          <a:bodyPr wrap="square" lIns="0" tIns="0" rIns="0" bIns="0" rtlCol="0"/>
          <a:lstStyle/>
          <a:p>
            <a:endParaRPr/>
          </a:p>
        </p:txBody>
      </p:sp>
      <p:sp>
        <p:nvSpPr>
          <p:cNvPr id="10" name="object 10"/>
          <p:cNvSpPr txBox="1"/>
          <p:nvPr/>
        </p:nvSpPr>
        <p:spPr>
          <a:xfrm>
            <a:off x="981760" y="2203338"/>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sp>
        <p:nvSpPr>
          <p:cNvPr id="11" name="object 11"/>
          <p:cNvSpPr/>
          <p:nvPr/>
        </p:nvSpPr>
        <p:spPr>
          <a:xfrm>
            <a:off x="1702099" y="2065984"/>
            <a:ext cx="418465" cy="179705"/>
          </a:xfrm>
          <a:custGeom>
            <a:avLst/>
            <a:gdLst/>
            <a:ahLst/>
            <a:cxnLst/>
            <a:rect l="l" t="t" r="r" b="b"/>
            <a:pathLst>
              <a:path w="418464" h="179705">
                <a:moveTo>
                  <a:pt x="59756" y="0"/>
                </a:moveTo>
                <a:lnTo>
                  <a:pt x="358562" y="0"/>
                </a:lnTo>
                <a:lnTo>
                  <a:pt x="381765" y="4715"/>
                </a:lnTo>
                <a:lnTo>
                  <a:pt x="400766" y="17554"/>
                </a:lnTo>
                <a:lnTo>
                  <a:pt x="413604" y="36556"/>
                </a:lnTo>
                <a:lnTo>
                  <a:pt x="418319" y="59762"/>
                </a:lnTo>
                <a:lnTo>
                  <a:pt x="418319" y="119520"/>
                </a:lnTo>
                <a:lnTo>
                  <a:pt x="413604" y="142723"/>
                </a:lnTo>
                <a:lnTo>
                  <a:pt x="400766" y="161724"/>
                </a:lnTo>
                <a:lnTo>
                  <a:pt x="381765" y="174563"/>
                </a:lnTo>
                <a:lnTo>
                  <a:pt x="358562" y="179279"/>
                </a:lnTo>
                <a:lnTo>
                  <a:pt x="59756" y="179279"/>
                </a:lnTo>
                <a:lnTo>
                  <a:pt x="36554" y="174563"/>
                </a:lnTo>
                <a:lnTo>
                  <a:pt x="17553" y="161724"/>
                </a:lnTo>
                <a:lnTo>
                  <a:pt x="4715" y="142723"/>
                </a:lnTo>
                <a:lnTo>
                  <a:pt x="0" y="119520"/>
                </a:lnTo>
                <a:lnTo>
                  <a:pt x="0" y="59762"/>
                </a:lnTo>
                <a:lnTo>
                  <a:pt x="4715" y="36556"/>
                </a:lnTo>
                <a:lnTo>
                  <a:pt x="17553" y="17554"/>
                </a:lnTo>
                <a:lnTo>
                  <a:pt x="36554" y="4715"/>
                </a:lnTo>
                <a:lnTo>
                  <a:pt x="59756" y="0"/>
                </a:lnTo>
                <a:close/>
              </a:path>
            </a:pathLst>
          </a:custGeom>
          <a:ln w="5976">
            <a:solidFill>
              <a:srgbClr val="231F20"/>
            </a:solidFill>
          </a:ln>
        </p:spPr>
        <p:txBody>
          <a:bodyPr wrap="square" lIns="0" tIns="0" rIns="0" bIns="0" rtlCol="0"/>
          <a:lstStyle/>
          <a:p>
            <a:endParaRPr/>
          </a:p>
        </p:txBody>
      </p:sp>
      <p:sp>
        <p:nvSpPr>
          <p:cNvPr id="12" name="object 12"/>
          <p:cNvSpPr txBox="1"/>
          <p:nvPr/>
        </p:nvSpPr>
        <p:spPr>
          <a:xfrm>
            <a:off x="1761805" y="2083170"/>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sp>
        <p:nvSpPr>
          <p:cNvPr id="13" name="object 13"/>
          <p:cNvSpPr/>
          <p:nvPr/>
        </p:nvSpPr>
        <p:spPr>
          <a:xfrm>
            <a:off x="1881380" y="1528145"/>
            <a:ext cx="418465" cy="179705"/>
          </a:xfrm>
          <a:custGeom>
            <a:avLst/>
            <a:gdLst/>
            <a:ahLst/>
            <a:cxnLst/>
            <a:rect l="l" t="t" r="r" b="b"/>
            <a:pathLst>
              <a:path w="418464" h="179705">
                <a:moveTo>
                  <a:pt x="59756" y="0"/>
                </a:moveTo>
                <a:lnTo>
                  <a:pt x="358552" y="0"/>
                </a:lnTo>
                <a:lnTo>
                  <a:pt x="381756" y="4715"/>
                </a:lnTo>
                <a:lnTo>
                  <a:pt x="400760" y="17554"/>
                </a:lnTo>
                <a:lnTo>
                  <a:pt x="413602" y="36555"/>
                </a:lnTo>
                <a:lnTo>
                  <a:pt x="418319" y="59759"/>
                </a:lnTo>
                <a:lnTo>
                  <a:pt x="418319" y="119521"/>
                </a:lnTo>
                <a:lnTo>
                  <a:pt x="413602" y="142724"/>
                </a:lnTo>
                <a:lnTo>
                  <a:pt x="400760" y="161725"/>
                </a:lnTo>
                <a:lnTo>
                  <a:pt x="381756" y="174563"/>
                </a:lnTo>
                <a:lnTo>
                  <a:pt x="358552" y="179279"/>
                </a:lnTo>
                <a:lnTo>
                  <a:pt x="59756" y="179279"/>
                </a:lnTo>
                <a:lnTo>
                  <a:pt x="36554" y="174563"/>
                </a:lnTo>
                <a:lnTo>
                  <a:pt x="17553" y="161725"/>
                </a:lnTo>
                <a:lnTo>
                  <a:pt x="4715" y="142724"/>
                </a:lnTo>
                <a:lnTo>
                  <a:pt x="0" y="119521"/>
                </a:lnTo>
                <a:lnTo>
                  <a:pt x="0" y="59759"/>
                </a:lnTo>
                <a:lnTo>
                  <a:pt x="4715" y="36555"/>
                </a:lnTo>
                <a:lnTo>
                  <a:pt x="17553" y="17554"/>
                </a:lnTo>
                <a:lnTo>
                  <a:pt x="36554" y="4715"/>
                </a:lnTo>
                <a:lnTo>
                  <a:pt x="59756" y="0"/>
                </a:lnTo>
                <a:close/>
              </a:path>
            </a:pathLst>
          </a:custGeom>
          <a:ln w="5976">
            <a:solidFill>
              <a:srgbClr val="231F20"/>
            </a:solidFill>
          </a:ln>
        </p:spPr>
        <p:txBody>
          <a:bodyPr wrap="square" lIns="0" tIns="0" rIns="0" bIns="0" rtlCol="0"/>
          <a:lstStyle/>
          <a:p>
            <a:endParaRPr/>
          </a:p>
        </p:txBody>
      </p:sp>
      <p:sp>
        <p:nvSpPr>
          <p:cNvPr id="14" name="object 14"/>
          <p:cNvSpPr txBox="1"/>
          <p:nvPr/>
        </p:nvSpPr>
        <p:spPr>
          <a:xfrm>
            <a:off x="1941087" y="1545329"/>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grpSp>
        <p:nvGrpSpPr>
          <p:cNvPr id="15" name="object 15"/>
          <p:cNvGrpSpPr/>
          <p:nvPr/>
        </p:nvGrpSpPr>
        <p:grpSpPr>
          <a:xfrm>
            <a:off x="614675" y="1568717"/>
            <a:ext cx="1571625" cy="714375"/>
            <a:chOff x="614675" y="1568717"/>
            <a:chExt cx="1571625" cy="714375"/>
          </a:xfrm>
        </p:grpSpPr>
        <p:sp>
          <p:nvSpPr>
            <p:cNvPr id="16" name="object 16"/>
            <p:cNvSpPr/>
            <p:nvPr/>
          </p:nvSpPr>
          <p:spPr>
            <a:xfrm>
              <a:off x="1557023" y="1618431"/>
              <a:ext cx="324485" cy="0"/>
            </a:xfrm>
            <a:custGeom>
              <a:avLst/>
              <a:gdLst/>
              <a:ahLst/>
              <a:cxnLst/>
              <a:rect l="l" t="t" r="r" b="b"/>
              <a:pathLst>
                <a:path w="324485">
                  <a:moveTo>
                    <a:pt x="324357" y="0"/>
                  </a:moveTo>
                  <a:lnTo>
                    <a:pt x="0" y="0"/>
                  </a:lnTo>
                </a:path>
              </a:pathLst>
            </a:custGeom>
            <a:ln w="5976">
              <a:solidFill>
                <a:srgbClr val="231F20"/>
              </a:solidFill>
            </a:ln>
          </p:spPr>
          <p:txBody>
            <a:bodyPr wrap="square" lIns="0" tIns="0" rIns="0" bIns="0" rtlCol="0"/>
            <a:lstStyle/>
            <a:p>
              <a:endParaRPr/>
            </a:p>
          </p:txBody>
        </p:sp>
        <p:pic>
          <p:nvPicPr>
            <p:cNvPr id="17" name="object 17"/>
            <p:cNvPicPr/>
            <p:nvPr/>
          </p:nvPicPr>
          <p:blipFill>
            <a:blip r:embed="rId5" cstate="print"/>
            <a:stretch>
              <a:fillRect/>
            </a:stretch>
          </p:blipFill>
          <p:spPr>
            <a:xfrm>
              <a:off x="1519645" y="1586557"/>
              <a:ext cx="74377" cy="63753"/>
            </a:xfrm>
            <a:prstGeom prst="rect">
              <a:avLst/>
            </a:prstGeom>
          </p:spPr>
        </p:pic>
        <p:sp>
          <p:nvSpPr>
            <p:cNvPr id="18" name="object 18"/>
            <p:cNvSpPr/>
            <p:nvPr/>
          </p:nvSpPr>
          <p:spPr>
            <a:xfrm>
              <a:off x="630281" y="1571705"/>
              <a:ext cx="473709" cy="292100"/>
            </a:xfrm>
            <a:custGeom>
              <a:avLst/>
              <a:gdLst/>
              <a:ahLst/>
              <a:cxnLst/>
              <a:rect l="l" t="t" r="r" b="b"/>
              <a:pathLst>
                <a:path w="473709" h="292100">
                  <a:moveTo>
                    <a:pt x="473475" y="0"/>
                  </a:moveTo>
                  <a:lnTo>
                    <a:pt x="256338" y="45623"/>
                  </a:lnTo>
                  <a:lnTo>
                    <a:pt x="109487" y="145994"/>
                  </a:lnTo>
                  <a:lnTo>
                    <a:pt x="26261" y="246366"/>
                  </a:lnTo>
                  <a:lnTo>
                    <a:pt x="0" y="291989"/>
                  </a:lnTo>
                </a:path>
              </a:pathLst>
            </a:custGeom>
            <a:ln w="5976">
              <a:solidFill>
                <a:srgbClr val="231F20"/>
              </a:solidFill>
            </a:ln>
          </p:spPr>
          <p:txBody>
            <a:bodyPr wrap="square" lIns="0" tIns="0" rIns="0" bIns="0" rtlCol="0"/>
            <a:lstStyle/>
            <a:p>
              <a:endParaRPr/>
            </a:p>
          </p:txBody>
        </p:sp>
        <p:sp>
          <p:nvSpPr>
            <p:cNvPr id="19" name="object 19"/>
            <p:cNvSpPr/>
            <p:nvPr/>
          </p:nvSpPr>
          <p:spPr>
            <a:xfrm>
              <a:off x="614675" y="1816767"/>
              <a:ext cx="60325" cy="81280"/>
            </a:xfrm>
            <a:custGeom>
              <a:avLst/>
              <a:gdLst/>
              <a:ahLst/>
              <a:cxnLst/>
              <a:rect l="l" t="t" r="r" b="b"/>
              <a:pathLst>
                <a:path w="60325" h="81280">
                  <a:moveTo>
                    <a:pt x="2087" y="0"/>
                  </a:moveTo>
                  <a:lnTo>
                    <a:pt x="0" y="80893"/>
                  </a:lnTo>
                  <a:lnTo>
                    <a:pt x="60014" y="26616"/>
                  </a:lnTo>
                  <a:lnTo>
                    <a:pt x="43036" y="25394"/>
                  </a:lnTo>
                  <a:lnTo>
                    <a:pt x="27723" y="20551"/>
                  </a:lnTo>
                  <a:lnTo>
                    <a:pt x="14073" y="12086"/>
                  </a:lnTo>
                  <a:lnTo>
                    <a:pt x="2087" y="0"/>
                  </a:lnTo>
                  <a:close/>
                </a:path>
              </a:pathLst>
            </a:custGeom>
            <a:solidFill>
              <a:srgbClr val="231F20"/>
            </a:solidFill>
          </p:spPr>
          <p:txBody>
            <a:bodyPr wrap="square" lIns="0" tIns="0" rIns="0" bIns="0" rtlCol="0"/>
            <a:lstStyle/>
            <a:p>
              <a:endParaRPr/>
            </a:p>
          </p:txBody>
        </p:sp>
        <p:sp>
          <p:nvSpPr>
            <p:cNvPr id="20" name="object 20"/>
            <p:cNvSpPr/>
            <p:nvPr/>
          </p:nvSpPr>
          <p:spPr>
            <a:xfrm>
              <a:off x="718137" y="1667817"/>
              <a:ext cx="356870" cy="219710"/>
            </a:xfrm>
            <a:custGeom>
              <a:avLst/>
              <a:gdLst/>
              <a:ahLst/>
              <a:cxnLst/>
              <a:rect l="l" t="t" r="r" b="b"/>
              <a:pathLst>
                <a:path w="356869" h="219710">
                  <a:moveTo>
                    <a:pt x="0" y="219533"/>
                  </a:moveTo>
                  <a:lnTo>
                    <a:pt x="115307" y="97159"/>
                  </a:lnTo>
                  <a:lnTo>
                    <a:pt x="231249" y="31481"/>
                  </a:lnTo>
                  <a:lnTo>
                    <a:pt x="320704" y="4944"/>
                  </a:lnTo>
                  <a:lnTo>
                    <a:pt x="356549" y="0"/>
                  </a:lnTo>
                </a:path>
              </a:pathLst>
            </a:custGeom>
            <a:ln w="5976">
              <a:solidFill>
                <a:srgbClr val="231F20"/>
              </a:solidFill>
            </a:ln>
          </p:spPr>
          <p:txBody>
            <a:bodyPr wrap="square" lIns="0" tIns="0" rIns="0" bIns="0" rtlCol="0"/>
            <a:lstStyle/>
            <a:p>
              <a:endParaRPr/>
            </a:p>
          </p:txBody>
        </p:sp>
        <p:pic>
          <p:nvPicPr>
            <p:cNvPr id="21" name="object 21"/>
            <p:cNvPicPr/>
            <p:nvPr/>
          </p:nvPicPr>
          <p:blipFill>
            <a:blip r:embed="rId6" cstate="print"/>
            <a:stretch>
              <a:fillRect/>
            </a:stretch>
          </p:blipFill>
          <p:spPr>
            <a:xfrm>
              <a:off x="1036142" y="1637829"/>
              <a:ext cx="75878" cy="63673"/>
            </a:xfrm>
            <a:prstGeom prst="rect">
              <a:avLst/>
            </a:prstGeom>
          </p:spPr>
        </p:pic>
        <p:pic>
          <p:nvPicPr>
            <p:cNvPr id="22" name="object 22"/>
            <p:cNvPicPr/>
            <p:nvPr/>
          </p:nvPicPr>
          <p:blipFill>
            <a:blip r:embed="rId7" cstate="print"/>
            <a:stretch>
              <a:fillRect/>
            </a:stretch>
          </p:blipFill>
          <p:spPr>
            <a:xfrm>
              <a:off x="683006" y="2066634"/>
              <a:ext cx="242026" cy="182267"/>
            </a:xfrm>
            <a:prstGeom prst="rect">
              <a:avLst/>
            </a:prstGeom>
          </p:spPr>
        </p:pic>
        <p:sp>
          <p:nvSpPr>
            <p:cNvPr id="23" name="object 23"/>
            <p:cNvSpPr/>
            <p:nvPr/>
          </p:nvSpPr>
          <p:spPr>
            <a:xfrm>
              <a:off x="1171318" y="1708071"/>
              <a:ext cx="109855" cy="441959"/>
            </a:xfrm>
            <a:custGeom>
              <a:avLst/>
              <a:gdLst/>
              <a:ahLst/>
              <a:cxnLst/>
              <a:rect l="l" t="t" r="r" b="b"/>
              <a:pathLst>
                <a:path w="109855" h="441960">
                  <a:moveTo>
                    <a:pt x="109289" y="0"/>
                  </a:moveTo>
                  <a:lnTo>
                    <a:pt x="0" y="441799"/>
                  </a:lnTo>
                </a:path>
              </a:pathLst>
            </a:custGeom>
            <a:ln w="5976">
              <a:solidFill>
                <a:srgbClr val="231F20"/>
              </a:solidFill>
            </a:ln>
          </p:spPr>
          <p:txBody>
            <a:bodyPr wrap="square" lIns="0" tIns="0" rIns="0" bIns="0" rtlCol="0"/>
            <a:lstStyle/>
            <a:p>
              <a:endParaRPr/>
            </a:p>
          </p:txBody>
        </p:sp>
        <p:sp>
          <p:nvSpPr>
            <p:cNvPr id="24" name="object 24"/>
            <p:cNvSpPr/>
            <p:nvPr/>
          </p:nvSpPr>
          <p:spPr>
            <a:xfrm>
              <a:off x="1149260" y="2106299"/>
              <a:ext cx="62230" cy="80010"/>
            </a:xfrm>
            <a:custGeom>
              <a:avLst/>
              <a:gdLst/>
              <a:ahLst/>
              <a:cxnLst/>
              <a:rect l="l" t="t" r="r" b="b"/>
              <a:pathLst>
                <a:path w="62230" h="80010">
                  <a:moveTo>
                    <a:pt x="0" y="0"/>
                  </a:moveTo>
                  <a:lnTo>
                    <a:pt x="13082" y="79855"/>
                  </a:lnTo>
                  <a:lnTo>
                    <a:pt x="61887" y="15308"/>
                  </a:lnTo>
                  <a:lnTo>
                    <a:pt x="44979" y="17281"/>
                  </a:lnTo>
                  <a:lnTo>
                    <a:pt x="29029" y="15388"/>
                  </a:lnTo>
                  <a:lnTo>
                    <a:pt x="14036" y="9628"/>
                  </a:lnTo>
                  <a:lnTo>
                    <a:pt x="0" y="0"/>
                  </a:lnTo>
                  <a:close/>
                </a:path>
              </a:pathLst>
            </a:custGeom>
            <a:solidFill>
              <a:srgbClr val="231F20"/>
            </a:solidFill>
          </p:spPr>
          <p:txBody>
            <a:bodyPr wrap="square" lIns="0" tIns="0" rIns="0" bIns="0" rtlCol="0"/>
            <a:lstStyle/>
            <a:p>
              <a:endParaRPr/>
            </a:p>
          </p:txBody>
        </p:sp>
        <p:sp>
          <p:nvSpPr>
            <p:cNvPr id="25" name="object 25"/>
            <p:cNvSpPr/>
            <p:nvPr/>
          </p:nvSpPr>
          <p:spPr>
            <a:xfrm>
              <a:off x="1375880" y="2156274"/>
              <a:ext cx="328930" cy="107950"/>
            </a:xfrm>
            <a:custGeom>
              <a:avLst/>
              <a:gdLst/>
              <a:ahLst/>
              <a:cxnLst/>
              <a:rect l="l" t="t" r="r" b="b"/>
              <a:pathLst>
                <a:path w="328930" h="107950">
                  <a:moveTo>
                    <a:pt x="328886" y="0"/>
                  </a:moveTo>
                  <a:lnTo>
                    <a:pt x="0" y="107872"/>
                  </a:lnTo>
                </a:path>
              </a:pathLst>
            </a:custGeom>
            <a:ln w="5976">
              <a:solidFill>
                <a:srgbClr val="231F20"/>
              </a:solidFill>
            </a:ln>
          </p:spPr>
          <p:txBody>
            <a:bodyPr wrap="square" lIns="0" tIns="0" rIns="0" bIns="0" rtlCol="0"/>
            <a:lstStyle/>
            <a:p>
              <a:endParaRPr/>
            </a:p>
          </p:txBody>
        </p:sp>
        <p:sp>
          <p:nvSpPr>
            <p:cNvPr id="26" name="object 26"/>
            <p:cNvSpPr/>
            <p:nvPr/>
          </p:nvSpPr>
          <p:spPr>
            <a:xfrm>
              <a:off x="1340365" y="2222324"/>
              <a:ext cx="80645" cy="60960"/>
            </a:xfrm>
            <a:custGeom>
              <a:avLst/>
              <a:gdLst/>
              <a:ahLst/>
              <a:cxnLst/>
              <a:rect l="l" t="t" r="r" b="b"/>
              <a:pathLst>
                <a:path w="80644" h="60960">
                  <a:moveTo>
                    <a:pt x="60742" y="0"/>
                  </a:moveTo>
                  <a:lnTo>
                    <a:pt x="0" y="53470"/>
                  </a:lnTo>
                  <a:lnTo>
                    <a:pt x="80605" y="60577"/>
                  </a:lnTo>
                  <a:lnTo>
                    <a:pt x="69961" y="47295"/>
                  </a:lnTo>
                  <a:lnTo>
                    <a:pt x="63102" y="32771"/>
                  </a:lnTo>
                  <a:lnTo>
                    <a:pt x="60029" y="17006"/>
                  </a:lnTo>
                  <a:lnTo>
                    <a:pt x="60742" y="0"/>
                  </a:lnTo>
                  <a:close/>
                </a:path>
              </a:pathLst>
            </a:custGeom>
            <a:solidFill>
              <a:srgbClr val="231F20"/>
            </a:solidFill>
          </p:spPr>
          <p:txBody>
            <a:bodyPr wrap="square" lIns="0" tIns="0" rIns="0" bIns="0" rtlCol="0"/>
            <a:lstStyle/>
            <a:p>
              <a:endParaRPr/>
            </a:p>
          </p:txBody>
        </p:sp>
        <p:sp>
          <p:nvSpPr>
            <p:cNvPr id="27" name="object 27"/>
            <p:cNvSpPr/>
            <p:nvPr/>
          </p:nvSpPr>
          <p:spPr>
            <a:xfrm>
              <a:off x="1821613" y="1740855"/>
              <a:ext cx="162560" cy="325755"/>
            </a:xfrm>
            <a:custGeom>
              <a:avLst/>
              <a:gdLst/>
              <a:ahLst/>
              <a:cxnLst/>
              <a:rect l="l" t="t" r="r" b="b"/>
              <a:pathLst>
                <a:path w="162560" h="325755">
                  <a:moveTo>
                    <a:pt x="0" y="325128"/>
                  </a:moveTo>
                  <a:lnTo>
                    <a:pt x="162563" y="0"/>
                  </a:lnTo>
                </a:path>
              </a:pathLst>
            </a:custGeom>
            <a:ln w="5976">
              <a:solidFill>
                <a:srgbClr val="231F20"/>
              </a:solidFill>
            </a:ln>
          </p:spPr>
          <p:txBody>
            <a:bodyPr wrap="square" lIns="0" tIns="0" rIns="0" bIns="0" rtlCol="0"/>
            <a:lstStyle/>
            <a:p>
              <a:endParaRPr/>
            </a:p>
          </p:txBody>
        </p:sp>
        <p:sp>
          <p:nvSpPr>
            <p:cNvPr id="28" name="object 28"/>
            <p:cNvSpPr/>
            <p:nvPr/>
          </p:nvSpPr>
          <p:spPr>
            <a:xfrm>
              <a:off x="1939124" y="1707424"/>
              <a:ext cx="62230" cy="81280"/>
            </a:xfrm>
            <a:custGeom>
              <a:avLst/>
              <a:gdLst/>
              <a:ahLst/>
              <a:cxnLst/>
              <a:rect l="l" t="t" r="r" b="b"/>
              <a:pathLst>
                <a:path w="62230" h="81280">
                  <a:moveTo>
                    <a:pt x="61770" y="0"/>
                  </a:moveTo>
                  <a:lnTo>
                    <a:pt x="0" y="52268"/>
                  </a:lnTo>
                  <a:lnTo>
                    <a:pt x="16928" y="54050"/>
                  </a:lnTo>
                  <a:lnTo>
                    <a:pt x="32073" y="59396"/>
                  </a:lnTo>
                  <a:lnTo>
                    <a:pt x="45436" y="68305"/>
                  </a:lnTo>
                  <a:lnTo>
                    <a:pt x="57016" y="80778"/>
                  </a:lnTo>
                  <a:lnTo>
                    <a:pt x="61770" y="0"/>
                  </a:lnTo>
                  <a:close/>
                </a:path>
              </a:pathLst>
            </a:custGeom>
            <a:solidFill>
              <a:srgbClr val="231F20"/>
            </a:solidFill>
          </p:spPr>
          <p:txBody>
            <a:bodyPr wrap="square" lIns="0" tIns="0" rIns="0" bIns="0" rtlCol="0"/>
            <a:lstStyle/>
            <a:p>
              <a:endParaRPr/>
            </a:p>
          </p:txBody>
        </p:sp>
        <p:sp>
          <p:nvSpPr>
            <p:cNvPr id="29" name="object 29"/>
            <p:cNvSpPr/>
            <p:nvPr/>
          </p:nvSpPr>
          <p:spPr>
            <a:xfrm>
              <a:off x="2017823" y="1707424"/>
              <a:ext cx="165735" cy="325755"/>
            </a:xfrm>
            <a:custGeom>
              <a:avLst/>
              <a:gdLst/>
              <a:ahLst/>
              <a:cxnLst/>
              <a:rect l="l" t="t" r="r" b="b"/>
              <a:pathLst>
                <a:path w="165735" h="325755">
                  <a:moveTo>
                    <a:pt x="165219" y="0"/>
                  </a:moveTo>
                  <a:lnTo>
                    <a:pt x="0" y="325235"/>
                  </a:lnTo>
                </a:path>
              </a:pathLst>
            </a:custGeom>
            <a:ln w="5976">
              <a:solidFill>
                <a:srgbClr val="231F20"/>
              </a:solidFill>
            </a:ln>
          </p:spPr>
          <p:txBody>
            <a:bodyPr wrap="square" lIns="0" tIns="0" rIns="0" bIns="0" rtlCol="0"/>
            <a:lstStyle/>
            <a:p>
              <a:endParaRPr/>
            </a:p>
          </p:txBody>
        </p:sp>
        <p:sp>
          <p:nvSpPr>
            <p:cNvPr id="30" name="object 30"/>
            <p:cNvSpPr/>
            <p:nvPr/>
          </p:nvSpPr>
          <p:spPr>
            <a:xfrm>
              <a:off x="2000894" y="1985238"/>
              <a:ext cx="62230" cy="81280"/>
            </a:xfrm>
            <a:custGeom>
              <a:avLst/>
              <a:gdLst/>
              <a:ahLst/>
              <a:cxnLst/>
              <a:rect l="l" t="t" r="r" b="b"/>
              <a:pathLst>
                <a:path w="62230" h="81280">
                  <a:moveTo>
                    <a:pt x="5270" y="0"/>
                  </a:moveTo>
                  <a:lnTo>
                    <a:pt x="0" y="80746"/>
                  </a:lnTo>
                  <a:lnTo>
                    <a:pt x="62107" y="28872"/>
                  </a:lnTo>
                  <a:lnTo>
                    <a:pt x="45191" y="26981"/>
                  </a:lnTo>
                  <a:lnTo>
                    <a:pt x="30080" y="21538"/>
                  </a:lnTo>
                  <a:lnTo>
                    <a:pt x="16773" y="12544"/>
                  </a:lnTo>
                  <a:lnTo>
                    <a:pt x="5270" y="0"/>
                  </a:lnTo>
                  <a:close/>
                </a:path>
              </a:pathLst>
            </a:custGeom>
            <a:solidFill>
              <a:srgbClr val="231F20"/>
            </a:solidFill>
          </p:spPr>
          <p:txBody>
            <a:bodyPr wrap="square" lIns="0" tIns="0" rIns="0" bIns="0" rtlCol="0"/>
            <a:lstStyle/>
            <a:p>
              <a:endParaRPr/>
            </a:p>
          </p:txBody>
        </p:sp>
      </p:grpSp>
      <p:sp>
        <p:nvSpPr>
          <p:cNvPr id="31" name="object 31"/>
          <p:cNvSpPr txBox="1"/>
          <p:nvPr/>
        </p:nvSpPr>
        <p:spPr>
          <a:xfrm>
            <a:off x="1267516" y="1858239"/>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Method call</a:t>
            </a:r>
            <a:endParaRPr sz="650">
              <a:latin typeface="Arial"/>
              <a:cs typeface="Arial"/>
            </a:endParaRPr>
          </a:p>
        </p:txBody>
      </p:sp>
      <p:grpSp>
        <p:nvGrpSpPr>
          <p:cNvPr id="32" name="object 32"/>
          <p:cNvGrpSpPr/>
          <p:nvPr/>
        </p:nvGrpSpPr>
        <p:grpSpPr>
          <a:xfrm>
            <a:off x="2621909" y="1638084"/>
            <a:ext cx="902969" cy="629920"/>
            <a:chOff x="2621909" y="1638084"/>
            <a:chExt cx="902969" cy="629920"/>
          </a:xfrm>
        </p:grpSpPr>
        <p:sp>
          <p:nvSpPr>
            <p:cNvPr id="33" name="object 33"/>
            <p:cNvSpPr/>
            <p:nvPr/>
          </p:nvSpPr>
          <p:spPr>
            <a:xfrm>
              <a:off x="2625084" y="1641259"/>
              <a:ext cx="896619" cy="598170"/>
            </a:xfrm>
            <a:custGeom>
              <a:avLst/>
              <a:gdLst/>
              <a:ahLst/>
              <a:cxnLst/>
              <a:rect l="l" t="t" r="r" b="b"/>
              <a:pathLst>
                <a:path w="896620" h="598169">
                  <a:moveTo>
                    <a:pt x="119516" y="0"/>
                  </a:moveTo>
                  <a:lnTo>
                    <a:pt x="776879" y="0"/>
                  </a:lnTo>
                  <a:lnTo>
                    <a:pt x="823285" y="9430"/>
                  </a:lnTo>
                  <a:lnTo>
                    <a:pt x="861288" y="35108"/>
                  </a:lnTo>
                  <a:lnTo>
                    <a:pt x="886966" y="73111"/>
                  </a:lnTo>
                  <a:lnTo>
                    <a:pt x="896396" y="119517"/>
                  </a:lnTo>
                  <a:lnTo>
                    <a:pt x="896396" y="478079"/>
                  </a:lnTo>
                  <a:lnTo>
                    <a:pt x="886966" y="524485"/>
                  </a:lnTo>
                  <a:lnTo>
                    <a:pt x="861288" y="562489"/>
                  </a:lnTo>
                  <a:lnTo>
                    <a:pt x="823285" y="588168"/>
                  </a:lnTo>
                  <a:lnTo>
                    <a:pt x="776879" y="597599"/>
                  </a:lnTo>
                  <a:lnTo>
                    <a:pt x="119516" y="597599"/>
                  </a:lnTo>
                  <a:lnTo>
                    <a:pt x="73111" y="588168"/>
                  </a:lnTo>
                  <a:lnTo>
                    <a:pt x="35108" y="562489"/>
                  </a:lnTo>
                  <a:lnTo>
                    <a:pt x="9430" y="524485"/>
                  </a:lnTo>
                  <a:lnTo>
                    <a:pt x="0" y="478079"/>
                  </a:lnTo>
                  <a:lnTo>
                    <a:pt x="0" y="119517"/>
                  </a:lnTo>
                  <a:lnTo>
                    <a:pt x="9430" y="73111"/>
                  </a:lnTo>
                  <a:lnTo>
                    <a:pt x="35108" y="35108"/>
                  </a:lnTo>
                  <a:lnTo>
                    <a:pt x="73111" y="9430"/>
                  </a:lnTo>
                  <a:lnTo>
                    <a:pt x="119516" y="0"/>
                  </a:lnTo>
                  <a:close/>
                </a:path>
              </a:pathLst>
            </a:custGeom>
            <a:ln w="5976">
              <a:solidFill>
                <a:srgbClr val="231F20"/>
              </a:solidFill>
            </a:ln>
          </p:spPr>
          <p:txBody>
            <a:bodyPr wrap="square" lIns="0" tIns="0" rIns="0" bIns="0" rtlCol="0"/>
            <a:lstStyle/>
            <a:p>
              <a:endParaRPr/>
            </a:p>
          </p:txBody>
        </p:sp>
        <p:sp>
          <p:nvSpPr>
            <p:cNvPr id="34" name="object 34"/>
            <p:cNvSpPr/>
            <p:nvPr/>
          </p:nvSpPr>
          <p:spPr>
            <a:xfrm>
              <a:off x="2804363" y="1701017"/>
              <a:ext cx="537845" cy="120014"/>
            </a:xfrm>
            <a:custGeom>
              <a:avLst/>
              <a:gdLst/>
              <a:ahLst/>
              <a:cxnLst/>
              <a:rect l="l" t="t" r="r" b="b"/>
              <a:pathLst>
                <a:path w="537845" h="120014">
                  <a:moveTo>
                    <a:pt x="537837" y="0"/>
                  </a:moveTo>
                  <a:lnTo>
                    <a:pt x="0" y="0"/>
                  </a:lnTo>
                  <a:lnTo>
                    <a:pt x="0" y="119521"/>
                  </a:lnTo>
                  <a:lnTo>
                    <a:pt x="537837" y="119521"/>
                  </a:lnTo>
                  <a:lnTo>
                    <a:pt x="537837" y="0"/>
                  </a:lnTo>
                  <a:close/>
                </a:path>
              </a:pathLst>
            </a:custGeom>
            <a:solidFill>
              <a:srgbClr val="BCBEC0"/>
            </a:solidFill>
          </p:spPr>
          <p:txBody>
            <a:bodyPr wrap="square" lIns="0" tIns="0" rIns="0" bIns="0" rtlCol="0"/>
            <a:lstStyle/>
            <a:p>
              <a:endParaRPr/>
            </a:p>
          </p:txBody>
        </p:sp>
        <p:sp>
          <p:nvSpPr>
            <p:cNvPr id="35" name="object 35"/>
            <p:cNvSpPr/>
            <p:nvPr/>
          </p:nvSpPr>
          <p:spPr>
            <a:xfrm>
              <a:off x="2744601" y="1701017"/>
              <a:ext cx="657860" cy="358775"/>
            </a:xfrm>
            <a:custGeom>
              <a:avLst/>
              <a:gdLst/>
              <a:ahLst/>
              <a:cxnLst/>
              <a:rect l="l" t="t" r="r" b="b"/>
              <a:pathLst>
                <a:path w="657860" h="358775">
                  <a:moveTo>
                    <a:pt x="59762" y="119521"/>
                  </a:moveTo>
                  <a:lnTo>
                    <a:pt x="597599" y="119521"/>
                  </a:lnTo>
                  <a:lnTo>
                    <a:pt x="597599" y="0"/>
                  </a:lnTo>
                  <a:lnTo>
                    <a:pt x="59762" y="0"/>
                  </a:lnTo>
                  <a:lnTo>
                    <a:pt x="59762" y="119521"/>
                  </a:lnTo>
                  <a:close/>
                </a:path>
                <a:path w="657860" h="358775">
                  <a:moveTo>
                    <a:pt x="0" y="358558"/>
                  </a:moveTo>
                  <a:lnTo>
                    <a:pt x="119521" y="358558"/>
                  </a:lnTo>
                  <a:lnTo>
                    <a:pt x="119521" y="239037"/>
                  </a:lnTo>
                  <a:lnTo>
                    <a:pt x="0" y="239037"/>
                  </a:lnTo>
                  <a:lnTo>
                    <a:pt x="0" y="358558"/>
                  </a:lnTo>
                  <a:close/>
                </a:path>
                <a:path w="657860" h="358775">
                  <a:moveTo>
                    <a:pt x="537841" y="358558"/>
                  </a:moveTo>
                  <a:lnTo>
                    <a:pt x="657363" y="358558"/>
                  </a:lnTo>
                  <a:lnTo>
                    <a:pt x="657363" y="239037"/>
                  </a:lnTo>
                  <a:lnTo>
                    <a:pt x="537841" y="239037"/>
                  </a:lnTo>
                  <a:lnTo>
                    <a:pt x="537841" y="358558"/>
                  </a:lnTo>
                  <a:close/>
                </a:path>
                <a:path w="657860" h="358775">
                  <a:moveTo>
                    <a:pt x="179279" y="358558"/>
                  </a:moveTo>
                  <a:lnTo>
                    <a:pt x="298800" y="358558"/>
                  </a:lnTo>
                  <a:lnTo>
                    <a:pt x="298800" y="239037"/>
                  </a:lnTo>
                  <a:lnTo>
                    <a:pt x="179279" y="239037"/>
                  </a:lnTo>
                  <a:lnTo>
                    <a:pt x="179279" y="358558"/>
                  </a:lnTo>
                  <a:close/>
                </a:path>
                <a:path w="657860" h="358775">
                  <a:moveTo>
                    <a:pt x="358562" y="358558"/>
                  </a:moveTo>
                  <a:lnTo>
                    <a:pt x="478079" y="358558"/>
                  </a:lnTo>
                  <a:lnTo>
                    <a:pt x="478079" y="239037"/>
                  </a:lnTo>
                  <a:lnTo>
                    <a:pt x="358562" y="239037"/>
                  </a:lnTo>
                  <a:lnTo>
                    <a:pt x="358562" y="358558"/>
                  </a:lnTo>
                  <a:close/>
                </a:path>
              </a:pathLst>
            </a:custGeom>
            <a:ln w="5976">
              <a:solidFill>
                <a:srgbClr val="231F20"/>
              </a:solidFill>
            </a:ln>
          </p:spPr>
          <p:txBody>
            <a:bodyPr wrap="square" lIns="0" tIns="0" rIns="0" bIns="0" rtlCol="0"/>
            <a:lstStyle/>
            <a:p>
              <a:endParaRPr/>
            </a:p>
          </p:txBody>
        </p:sp>
        <p:sp>
          <p:nvSpPr>
            <p:cNvPr id="36" name="object 36"/>
            <p:cNvSpPr/>
            <p:nvPr/>
          </p:nvSpPr>
          <p:spPr>
            <a:xfrm>
              <a:off x="2804363" y="2213294"/>
              <a:ext cx="537210" cy="51435"/>
            </a:xfrm>
            <a:custGeom>
              <a:avLst/>
              <a:gdLst/>
              <a:ahLst/>
              <a:cxnLst/>
              <a:rect l="l" t="t" r="r" b="b"/>
              <a:pathLst>
                <a:path w="537210" h="51435">
                  <a:moveTo>
                    <a:pt x="536833" y="0"/>
                  </a:moveTo>
                  <a:lnTo>
                    <a:pt x="0" y="0"/>
                  </a:lnTo>
                  <a:lnTo>
                    <a:pt x="0" y="51333"/>
                  </a:lnTo>
                  <a:lnTo>
                    <a:pt x="536833" y="51333"/>
                  </a:lnTo>
                  <a:lnTo>
                    <a:pt x="536833" y="0"/>
                  </a:lnTo>
                  <a:close/>
                </a:path>
              </a:pathLst>
            </a:custGeom>
            <a:solidFill>
              <a:srgbClr val="FFFFFF"/>
            </a:solidFill>
          </p:spPr>
          <p:txBody>
            <a:bodyPr wrap="square" lIns="0" tIns="0" rIns="0" bIns="0" rtlCol="0"/>
            <a:lstStyle/>
            <a:p>
              <a:endParaRPr/>
            </a:p>
          </p:txBody>
        </p:sp>
        <p:sp>
          <p:nvSpPr>
            <p:cNvPr id="37" name="object 37"/>
            <p:cNvSpPr/>
            <p:nvPr/>
          </p:nvSpPr>
          <p:spPr>
            <a:xfrm>
              <a:off x="2804363" y="2213294"/>
              <a:ext cx="537210" cy="51435"/>
            </a:xfrm>
            <a:custGeom>
              <a:avLst/>
              <a:gdLst/>
              <a:ahLst/>
              <a:cxnLst/>
              <a:rect l="l" t="t" r="r" b="b"/>
              <a:pathLst>
                <a:path w="537210" h="51435">
                  <a:moveTo>
                    <a:pt x="0" y="51333"/>
                  </a:moveTo>
                  <a:lnTo>
                    <a:pt x="536833" y="51333"/>
                  </a:lnTo>
                  <a:lnTo>
                    <a:pt x="536833" y="0"/>
                  </a:lnTo>
                  <a:lnTo>
                    <a:pt x="0" y="0"/>
                  </a:lnTo>
                  <a:lnTo>
                    <a:pt x="0" y="51333"/>
                  </a:lnTo>
                  <a:close/>
                </a:path>
              </a:pathLst>
            </a:custGeom>
            <a:ln w="5976">
              <a:solidFill>
                <a:srgbClr val="231F20"/>
              </a:solidFill>
            </a:ln>
          </p:spPr>
          <p:txBody>
            <a:bodyPr wrap="square" lIns="0" tIns="0" rIns="0" bIns="0" rtlCol="0"/>
            <a:lstStyle/>
            <a:p>
              <a:endParaRPr/>
            </a:p>
          </p:txBody>
        </p:sp>
      </p:grpSp>
      <p:sp>
        <p:nvSpPr>
          <p:cNvPr id="38" name="object 38"/>
          <p:cNvSpPr txBox="1"/>
          <p:nvPr/>
        </p:nvSpPr>
        <p:spPr>
          <a:xfrm>
            <a:off x="2682873" y="1458670"/>
            <a:ext cx="2228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State</a:t>
            </a:r>
            <a:endParaRPr sz="650">
              <a:latin typeface="Arial"/>
              <a:cs typeface="Arial"/>
            </a:endParaRPr>
          </a:p>
        </p:txBody>
      </p:sp>
      <p:sp>
        <p:nvSpPr>
          <p:cNvPr id="39" name="object 39"/>
          <p:cNvSpPr txBox="1"/>
          <p:nvPr/>
        </p:nvSpPr>
        <p:spPr>
          <a:xfrm>
            <a:off x="3617531" y="1782168"/>
            <a:ext cx="3067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Method</a:t>
            </a:r>
            <a:endParaRPr sz="650">
              <a:latin typeface="Arial"/>
              <a:cs typeface="Arial"/>
            </a:endParaRPr>
          </a:p>
        </p:txBody>
      </p:sp>
      <p:sp>
        <p:nvSpPr>
          <p:cNvPr id="40" name="object 40"/>
          <p:cNvSpPr txBox="1"/>
          <p:nvPr/>
        </p:nvSpPr>
        <p:spPr>
          <a:xfrm>
            <a:off x="2911181" y="2270657"/>
            <a:ext cx="3536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Interface</a:t>
            </a:r>
            <a:endParaRPr sz="650">
              <a:latin typeface="Arial"/>
              <a:cs typeface="Arial"/>
            </a:endParaRPr>
          </a:p>
        </p:txBody>
      </p:sp>
      <p:sp>
        <p:nvSpPr>
          <p:cNvPr id="41" name="object 41"/>
          <p:cNvSpPr/>
          <p:nvPr/>
        </p:nvSpPr>
        <p:spPr>
          <a:xfrm>
            <a:off x="2864123" y="1581496"/>
            <a:ext cx="735330" cy="418465"/>
          </a:xfrm>
          <a:custGeom>
            <a:avLst/>
            <a:gdLst/>
            <a:ahLst/>
            <a:cxnLst/>
            <a:rect l="l" t="t" r="r" b="b"/>
            <a:pathLst>
              <a:path w="735329" h="418464">
                <a:moveTo>
                  <a:pt x="0" y="0"/>
                </a:moveTo>
                <a:lnTo>
                  <a:pt x="119520" y="119521"/>
                </a:lnTo>
              </a:path>
              <a:path w="735329" h="418464">
                <a:moveTo>
                  <a:pt x="735086" y="278266"/>
                </a:moveTo>
                <a:lnTo>
                  <a:pt x="537841" y="418321"/>
                </a:lnTo>
              </a:path>
            </a:pathLst>
          </a:custGeom>
          <a:ln w="5976">
            <a:solidFill>
              <a:srgbClr val="231F20"/>
            </a:solidFill>
          </a:ln>
        </p:spPr>
        <p:txBody>
          <a:bodyPr wrap="square" lIns="0" tIns="0" rIns="0" bIns="0" rtlCol="0"/>
          <a:lstStyle/>
          <a:p>
            <a:endParaRPr/>
          </a:p>
        </p:txBody>
      </p:sp>
      <p:sp>
        <p:nvSpPr>
          <p:cNvPr id="42" name="object 42"/>
          <p:cNvSpPr txBox="1"/>
          <p:nvPr/>
        </p:nvSpPr>
        <p:spPr>
          <a:xfrm>
            <a:off x="342747" y="2467848"/>
            <a:ext cx="3838575" cy="561340"/>
          </a:xfrm>
          <a:prstGeom prst="rect">
            <a:avLst/>
          </a:prstGeom>
        </p:spPr>
        <p:txBody>
          <a:bodyPr vert="horz" wrap="square" lIns="0" tIns="39370" rIns="0" bIns="0" rtlCol="0">
            <a:spAutoFit/>
          </a:bodyPr>
          <a:lstStyle/>
          <a:p>
            <a:pPr marL="17145">
              <a:lnSpc>
                <a:spcPct val="100000"/>
              </a:lnSpc>
              <a:spcBef>
                <a:spcPts val="310"/>
              </a:spcBef>
            </a:pPr>
            <a:r>
              <a:rPr sz="1200" spc="-5" dirty="0">
                <a:solidFill>
                  <a:srgbClr val="3333B2"/>
                </a:solidFill>
                <a:latin typeface="Arial"/>
                <a:cs typeface="Arial"/>
              </a:rPr>
              <a:t>Encapsulation</a:t>
            </a:r>
            <a:endParaRPr sz="1200" dirty="0">
              <a:latin typeface="Arial"/>
              <a:cs typeface="Arial"/>
            </a:endParaRPr>
          </a:p>
          <a:p>
            <a:pPr marL="12700" marR="5080" indent="4445">
              <a:lnSpc>
                <a:spcPct val="100000"/>
              </a:lnSpc>
              <a:spcBef>
                <a:spcPts val="175"/>
              </a:spcBef>
            </a:pPr>
            <a:r>
              <a:rPr sz="1000" spc="-5" dirty="0">
                <a:latin typeface="Arial"/>
                <a:cs typeface="Arial"/>
              </a:rPr>
              <a:t>Objects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said</a:t>
            </a:r>
            <a:r>
              <a:rPr sz="1000" dirty="0">
                <a:latin typeface="Arial"/>
                <a:cs typeface="Arial"/>
              </a:rPr>
              <a:t> </a:t>
            </a:r>
            <a:r>
              <a:rPr sz="1000" spc="-5" dirty="0">
                <a:latin typeface="Arial"/>
                <a:cs typeface="Arial"/>
              </a:rPr>
              <a:t>to</a:t>
            </a:r>
            <a:r>
              <a:rPr sz="1000" spc="5" dirty="0">
                <a:latin typeface="Arial"/>
                <a:cs typeface="Arial"/>
              </a:rPr>
              <a:t> </a:t>
            </a:r>
            <a:r>
              <a:rPr sz="1000" spc="-5" dirty="0">
                <a:solidFill>
                  <a:srgbClr val="FA0000"/>
                </a:solidFill>
                <a:latin typeface="Arial"/>
                <a:cs typeface="Arial"/>
              </a:rPr>
              <a:t>encapsulate</a:t>
            </a:r>
            <a:r>
              <a:rPr sz="1000" dirty="0">
                <a:solidFill>
                  <a:srgbClr val="FA0000"/>
                </a:solidFill>
                <a:latin typeface="Arial"/>
                <a:cs typeface="Arial"/>
              </a:rPr>
              <a:t> </a:t>
            </a:r>
            <a:r>
              <a:rPr sz="1000" spc="-5" dirty="0">
                <a:solidFill>
                  <a:srgbClr val="FA0000"/>
                </a:solidFill>
                <a:latin typeface="Arial"/>
                <a:cs typeface="Arial"/>
              </a:rPr>
              <a:t>data</a:t>
            </a:r>
            <a:r>
              <a:rPr sz="1000" dirty="0">
                <a:solidFill>
                  <a:srgbClr val="FA0000"/>
                </a:solidFill>
                <a:latin typeface="Arial"/>
                <a:cs typeface="Arial"/>
              </a:rPr>
              <a:t> </a:t>
            </a:r>
            <a:r>
              <a:rPr sz="1000" spc="-5" dirty="0">
                <a:latin typeface="Arial"/>
                <a:cs typeface="Arial"/>
              </a:rPr>
              <a:t>and</a:t>
            </a:r>
            <a:r>
              <a:rPr sz="1000" dirty="0">
                <a:latin typeface="Arial"/>
                <a:cs typeface="Arial"/>
              </a:rPr>
              <a:t> </a:t>
            </a:r>
            <a:r>
              <a:rPr sz="1000" spc="-10" dirty="0">
                <a:latin typeface="Arial"/>
                <a:cs typeface="Arial"/>
              </a:rPr>
              <a:t>offer</a:t>
            </a:r>
            <a:r>
              <a:rPr sz="1000" dirty="0">
                <a:latin typeface="Arial"/>
                <a:cs typeface="Arial"/>
              </a:rPr>
              <a:t> </a:t>
            </a:r>
            <a:r>
              <a:rPr sz="1000" spc="-5" dirty="0">
                <a:solidFill>
                  <a:srgbClr val="FA0000"/>
                </a:solidFill>
                <a:latin typeface="Arial"/>
                <a:cs typeface="Arial"/>
              </a:rPr>
              <a:t>methods</a:t>
            </a:r>
            <a:r>
              <a:rPr sz="1000" spc="5" dirty="0">
                <a:solidFill>
                  <a:srgbClr val="FA0000"/>
                </a:solidFill>
                <a:latin typeface="Arial"/>
                <a:cs typeface="Arial"/>
              </a:rPr>
              <a:t> </a:t>
            </a:r>
            <a:r>
              <a:rPr sz="1000" spc="-5" dirty="0">
                <a:solidFill>
                  <a:srgbClr val="FA0000"/>
                </a:solidFill>
                <a:latin typeface="Arial"/>
                <a:cs typeface="Arial"/>
              </a:rPr>
              <a:t>on</a:t>
            </a:r>
            <a:r>
              <a:rPr sz="1000" dirty="0">
                <a:solidFill>
                  <a:srgbClr val="FA0000"/>
                </a:solidFill>
                <a:latin typeface="Arial"/>
                <a:cs typeface="Arial"/>
              </a:rPr>
              <a:t> </a:t>
            </a:r>
            <a:r>
              <a:rPr sz="1000" spc="-5" dirty="0">
                <a:solidFill>
                  <a:srgbClr val="FA0000"/>
                </a:solidFill>
                <a:latin typeface="Arial"/>
                <a:cs typeface="Arial"/>
              </a:rPr>
              <a:t>that</a:t>
            </a:r>
            <a:r>
              <a:rPr sz="1000" dirty="0">
                <a:solidFill>
                  <a:srgbClr val="FA0000"/>
                </a:solidFill>
                <a:latin typeface="Arial"/>
                <a:cs typeface="Arial"/>
              </a:rPr>
              <a:t> </a:t>
            </a:r>
            <a:r>
              <a:rPr sz="1000" spc="-5" dirty="0">
                <a:solidFill>
                  <a:srgbClr val="FA0000"/>
                </a:solidFill>
                <a:latin typeface="Arial"/>
                <a:cs typeface="Arial"/>
              </a:rPr>
              <a:t>data </a:t>
            </a:r>
            <a:r>
              <a:rPr sz="1000" spc="-260" dirty="0">
                <a:solidFill>
                  <a:srgbClr val="FA0000"/>
                </a:solidFill>
                <a:latin typeface="Arial"/>
                <a:cs typeface="Arial"/>
              </a:rPr>
              <a:t> </a:t>
            </a:r>
            <a:r>
              <a:rPr sz="1000" spc="-5" dirty="0">
                <a:latin typeface="Arial"/>
                <a:cs typeface="Arial"/>
              </a:rPr>
              <a:t>without </a:t>
            </a:r>
            <a:r>
              <a:rPr sz="1000" spc="-10" dirty="0">
                <a:latin typeface="Arial"/>
                <a:cs typeface="Arial"/>
              </a:rPr>
              <a:t>revealing</a:t>
            </a:r>
            <a:r>
              <a:rPr sz="1000" spc="-5" dirty="0">
                <a:latin typeface="Arial"/>
                <a:cs typeface="Arial"/>
              </a:rPr>
              <a:t> the </a:t>
            </a:r>
            <a:r>
              <a:rPr sz="1000" dirty="0">
                <a:latin typeface="Arial"/>
                <a:cs typeface="Arial"/>
              </a:rPr>
              <a:t>internal</a:t>
            </a:r>
            <a:r>
              <a:rPr sz="1000" spc="-5" dirty="0">
                <a:latin typeface="Arial"/>
                <a:cs typeface="Arial"/>
              </a:rPr>
              <a:t> implementation.</a:t>
            </a:r>
            <a:endParaRPr sz="1000" dirty="0">
              <a:latin typeface="Arial"/>
              <a:cs typeface="Arial"/>
            </a:endParaRPr>
          </a:p>
        </p:txBody>
      </p:sp>
      <p:sp>
        <p:nvSpPr>
          <p:cNvPr id="43" name="object 4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8</a:t>
            </a:r>
            <a:r>
              <a:rPr spc="-40" dirty="0"/>
              <a:t> </a:t>
            </a:r>
            <a:r>
              <a:rPr spc="-5" dirty="0"/>
              <a:t>/</a:t>
            </a:r>
            <a:r>
              <a:rPr spc="-35" dirty="0"/>
              <a:t> </a:t>
            </a:r>
            <a:r>
              <a:rPr spc="-5" dirty="0"/>
              <a:t>36</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9</a:t>
            </a:r>
            <a:r>
              <a:rPr spc="-40" dirty="0"/>
              <a:t> </a:t>
            </a:r>
            <a:r>
              <a:rPr spc="-5" dirty="0"/>
              <a:t>/</a:t>
            </a:r>
            <a:r>
              <a:rPr spc="-35" dirty="0"/>
              <a:t> </a:t>
            </a:r>
            <a:r>
              <a:rPr spc="-5" dirty="0"/>
              <a:t>36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48685"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Resource-based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3" name="object 3"/>
          <p:cNvSpPr txBox="1">
            <a:spLocks noGrp="1"/>
          </p:cNvSpPr>
          <p:nvPr>
            <p:ph type="title"/>
          </p:nvPr>
        </p:nvSpPr>
        <p:spPr>
          <a:xfrm>
            <a:off x="95300" y="188846"/>
            <a:ext cx="1797685" cy="244475"/>
          </a:xfrm>
          <a:prstGeom prst="rect">
            <a:avLst/>
          </a:prstGeom>
        </p:spPr>
        <p:txBody>
          <a:bodyPr vert="horz" wrap="square" lIns="0" tIns="17145" rIns="0" bIns="0" rtlCol="0">
            <a:spAutoFit/>
          </a:bodyPr>
          <a:lstStyle/>
          <a:p>
            <a:pPr marL="12700">
              <a:lnSpc>
                <a:spcPct val="100000"/>
              </a:lnSpc>
              <a:spcBef>
                <a:spcPts val="135"/>
              </a:spcBef>
            </a:pPr>
            <a:r>
              <a:rPr spc="15" dirty="0"/>
              <a:t>RESTful</a:t>
            </a:r>
            <a:r>
              <a:rPr spc="-70" dirty="0"/>
              <a:t> </a:t>
            </a:r>
            <a:r>
              <a:rPr spc="15" dirty="0"/>
              <a:t>architectures</a:t>
            </a:r>
          </a:p>
        </p:txBody>
      </p:sp>
      <p:sp>
        <p:nvSpPr>
          <p:cNvPr id="4" name="object 4"/>
          <p:cNvSpPr txBox="1"/>
          <p:nvPr/>
        </p:nvSpPr>
        <p:spPr>
          <a:xfrm>
            <a:off x="343128" y="430184"/>
            <a:ext cx="3917950" cy="183007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16510" marR="210185" indent="-4445">
              <a:lnSpc>
                <a:spcPts val="1200"/>
              </a:lnSpc>
              <a:spcBef>
                <a:spcPts val="10"/>
              </a:spcBef>
            </a:pPr>
            <a:r>
              <a:rPr sz="1000" spc="-10" dirty="0">
                <a:latin typeface="Arial"/>
                <a:cs typeface="Arial"/>
              </a:rPr>
              <a:t>View</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distributed</a:t>
            </a:r>
            <a:r>
              <a:rPr sz="1000" spc="5"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collection</a:t>
            </a:r>
            <a:r>
              <a:rPr sz="1000"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resources,</a:t>
            </a:r>
            <a:r>
              <a:rPr sz="1000" dirty="0">
                <a:latin typeface="Arial"/>
                <a:cs typeface="Arial"/>
              </a:rPr>
              <a:t> </a:t>
            </a:r>
            <a:r>
              <a:rPr sz="1000" spc="-5" dirty="0">
                <a:latin typeface="Arial"/>
                <a:cs typeface="Arial"/>
              </a:rPr>
              <a:t>individually </a:t>
            </a:r>
            <a:r>
              <a:rPr sz="1000" spc="-260" dirty="0">
                <a:latin typeface="Arial"/>
                <a:cs typeface="Arial"/>
              </a:rPr>
              <a:t> </a:t>
            </a:r>
            <a:r>
              <a:rPr sz="1000" spc="-5" dirty="0">
                <a:latin typeface="Arial"/>
                <a:cs typeface="Arial"/>
              </a:rPr>
              <a:t>managed </a:t>
            </a:r>
            <a:r>
              <a:rPr sz="1000" spc="-15" dirty="0">
                <a:latin typeface="Arial"/>
                <a:cs typeface="Arial"/>
              </a:rPr>
              <a:t>by</a:t>
            </a:r>
            <a:r>
              <a:rPr sz="1000" spc="-5" dirty="0">
                <a:latin typeface="Arial"/>
                <a:cs typeface="Arial"/>
              </a:rPr>
              <a:t> components.</a:t>
            </a:r>
            <a:r>
              <a:rPr sz="1000" spc="65" dirty="0">
                <a:latin typeface="Arial"/>
                <a:cs typeface="Arial"/>
              </a:rPr>
              <a:t> </a:t>
            </a:r>
            <a:r>
              <a:rPr sz="1000" spc="-5" dirty="0">
                <a:latin typeface="Arial"/>
                <a:cs typeface="Arial"/>
              </a:rPr>
              <a:t>Resources </a:t>
            </a:r>
            <a:r>
              <a:rPr sz="1000" spc="-15" dirty="0">
                <a:latin typeface="Arial"/>
                <a:cs typeface="Arial"/>
              </a:rPr>
              <a:t>may</a:t>
            </a:r>
            <a:r>
              <a:rPr sz="1000" dirty="0">
                <a:latin typeface="Arial"/>
                <a:cs typeface="Arial"/>
              </a:rPr>
              <a:t> </a:t>
            </a:r>
            <a:r>
              <a:rPr sz="1000" spc="-5" dirty="0">
                <a:latin typeface="Arial"/>
                <a:cs typeface="Arial"/>
              </a:rPr>
              <a:t>be added, </a:t>
            </a:r>
            <a:r>
              <a:rPr sz="1000" spc="-10" dirty="0">
                <a:latin typeface="Arial"/>
                <a:cs typeface="Arial"/>
              </a:rPr>
              <a:t>removed, </a:t>
            </a:r>
            <a:r>
              <a:rPr sz="1000" spc="-5" dirty="0">
                <a:latin typeface="Arial"/>
                <a:cs typeface="Arial"/>
              </a:rPr>
              <a:t> </a:t>
            </a:r>
            <a:r>
              <a:rPr sz="1000" spc="-10" dirty="0">
                <a:latin typeface="Arial"/>
                <a:cs typeface="Arial"/>
              </a:rPr>
              <a:t>retrieved,</a:t>
            </a:r>
            <a:r>
              <a:rPr sz="1000" spc="-5" dirty="0">
                <a:latin typeface="Arial"/>
                <a:cs typeface="Arial"/>
              </a:rPr>
              <a:t> and modified </a:t>
            </a:r>
            <a:r>
              <a:rPr sz="1000" spc="-15" dirty="0">
                <a:latin typeface="Arial"/>
                <a:cs typeface="Arial"/>
              </a:rPr>
              <a:t>by</a:t>
            </a:r>
            <a:r>
              <a:rPr sz="1000" spc="-5" dirty="0">
                <a:latin typeface="Arial"/>
                <a:cs typeface="Arial"/>
              </a:rPr>
              <a:t> (remote) applications.</a:t>
            </a:r>
            <a:endParaRPr sz="1000" dirty="0">
              <a:latin typeface="Arial"/>
              <a:cs typeface="Arial"/>
            </a:endParaRPr>
          </a:p>
          <a:p>
            <a:pPr marL="294005" indent="-175895">
              <a:lnSpc>
                <a:spcPts val="1200"/>
              </a:lnSpc>
              <a:spcBef>
                <a:spcPts val="545"/>
              </a:spcBef>
              <a:buClr>
                <a:srgbClr val="3333B2"/>
              </a:buClr>
              <a:buAutoNum type="arabicPeriod"/>
              <a:tabLst>
                <a:tab pos="294640" algn="l"/>
              </a:tabLst>
            </a:pPr>
            <a:r>
              <a:rPr sz="1000" spc="-5" dirty="0">
                <a:latin typeface="Arial"/>
                <a:cs typeface="Arial"/>
              </a:rPr>
              <a:t>Resources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identified</a:t>
            </a:r>
            <a:r>
              <a:rPr sz="1000" dirty="0">
                <a:latin typeface="Arial"/>
                <a:cs typeface="Arial"/>
              </a:rPr>
              <a:t> </a:t>
            </a:r>
            <a:r>
              <a:rPr sz="1000" spc="-5" dirty="0">
                <a:latin typeface="Arial"/>
                <a:cs typeface="Arial"/>
              </a:rPr>
              <a:t>through</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single</a:t>
            </a:r>
            <a:r>
              <a:rPr sz="1000" dirty="0">
                <a:latin typeface="Arial"/>
                <a:cs typeface="Arial"/>
              </a:rPr>
              <a:t> </a:t>
            </a:r>
            <a:r>
              <a:rPr sz="1000" spc="-5" dirty="0">
                <a:latin typeface="Arial"/>
                <a:cs typeface="Arial"/>
              </a:rPr>
              <a:t>naming</a:t>
            </a:r>
            <a:r>
              <a:rPr sz="1000" dirty="0">
                <a:latin typeface="Arial"/>
                <a:cs typeface="Arial"/>
              </a:rPr>
              <a:t> </a:t>
            </a:r>
            <a:r>
              <a:rPr sz="1000" spc="-5" dirty="0">
                <a:latin typeface="Arial"/>
                <a:cs typeface="Arial"/>
              </a:rPr>
              <a:t>scheme</a:t>
            </a:r>
            <a:endParaRPr sz="1000" dirty="0">
              <a:latin typeface="Arial"/>
              <a:cs typeface="Arial"/>
            </a:endParaRPr>
          </a:p>
          <a:p>
            <a:pPr marL="294005" indent="-175895">
              <a:lnSpc>
                <a:spcPts val="1195"/>
              </a:lnSpc>
              <a:buClr>
                <a:srgbClr val="3333B2"/>
              </a:buClr>
              <a:buAutoNum type="arabicPeriod"/>
              <a:tabLst>
                <a:tab pos="294640" algn="l"/>
              </a:tabLst>
            </a:pPr>
            <a:r>
              <a:rPr sz="1000" spc="-5" dirty="0">
                <a:latin typeface="Arial"/>
                <a:cs typeface="Arial"/>
              </a:rPr>
              <a:t>All</a:t>
            </a:r>
            <a:r>
              <a:rPr sz="1000" spc="-15" dirty="0">
                <a:latin typeface="Arial"/>
                <a:cs typeface="Arial"/>
              </a:rPr>
              <a:t> </a:t>
            </a:r>
            <a:r>
              <a:rPr sz="1000" dirty="0">
                <a:latin typeface="Arial"/>
                <a:cs typeface="Arial"/>
              </a:rPr>
              <a:t>services</a:t>
            </a:r>
            <a:r>
              <a:rPr sz="1000" spc="-10" dirty="0">
                <a:latin typeface="Arial"/>
                <a:cs typeface="Arial"/>
              </a:rPr>
              <a:t> offer</a:t>
            </a:r>
            <a:r>
              <a:rPr sz="1000" spc="-1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same</a:t>
            </a:r>
            <a:r>
              <a:rPr sz="1000" spc="-15" dirty="0">
                <a:latin typeface="Arial"/>
                <a:cs typeface="Arial"/>
              </a:rPr>
              <a:t> </a:t>
            </a:r>
            <a:r>
              <a:rPr sz="1000" spc="-5" dirty="0">
                <a:latin typeface="Arial"/>
                <a:cs typeface="Arial"/>
              </a:rPr>
              <a:t>interface</a:t>
            </a:r>
            <a:endParaRPr sz="1000" dirty="0">
              <a:latin typeface="Arial"/>
              <a:cs typeface="Arial"/>
            </a:endParaRPr>
          </a:p>
          <a:p>
            <a:pPr marL="294005" indent="-175895">
              <a:lnSpc>
                <a:spcPts val="1195"/>
              </a:lnSpc>
              <a:buClr>
                <a:srgbClr val="3333B2"/>
              </a:buClr>
              <a:buAutoNum type="arabicPeriod"/>
              <a:tabLst>
                <a:tab pos="294640" algn="l"/>
              </a:tabLst>
            </a:pPr>
            <a:r>
              <a:rPr sz="1000" spc="-5" dirty="0">
                <a:latin typeface="Arial"/>
                <a:cs typeface="Arial"/>
              </a:rPr>
              <a:t>Messages</a:t>
            </a:r>
            <a:r>
              <a:rPr sz="1000" dirty="0">
                <a:latin typeface="Arial"/>
                <a:cs typeface="Arial"/>
              </a:rPr>
              <a:t> </a:t>
            </a:r>
            <a:r>
              <a:rPr sz="1000" spc="-5" dirty="0">
                <a:latin typeface="Arial"/>
                <a:cs typeface="Arial"/>
              </a:rPr>
              <a:t>sent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a</a:t>
            </a:r>
            <a:r>
              <a:rPr sz="1000" spc="5" dirty="0">
                <a:latin typeface="Arial"/>
                <a:cs typeface="Arial"/>
              </a:rPr>
              <a:t> </a:t>
            </a:r>
            <a:r>
              <a:rPr sz="1000" dirty="0">
                <a:latin typeface="Arial"/>
                <a:cs typeface="Arial"/>
              </a:rPr>
              <a:t>service </a:t>
            </a:r>
            <a:r>
              <a:rPr sz="1000" spc="-5" dirty="0">
                <a:latin typeface="Arial"/>
                <a:cs typeface="Arial"/>
              </a:rPr>
              <a:t>are</a:t>
            </a:r>
            <a:r>
              <a:rPr sz="1000" dirty="0">
                <a:latin typeface="Arial"/>
                <a:cs typeface="Arial"/>
              </a:rPr>
              <a:t> </a:t>
            </a:r>
            <a:r>
              <a:rPr sz="1000" spc="-5" dirty="0">
                <a:latin typeface="Arial"/>
                <a:cs typeface="Arial"/>
              </a:rPr>
              <a:t>fully</a:t>
            </a:r>
            <a:r>
              <a:rPr sz="1000" dirty="0">
                <a:latin typeface="Arial"/>
                <a:cs typeface="Arial"/>
              </a:rPr>
              <a:t> </a:t>
            </a:r>
            <a:r>
              <a:rPr sz="1000" spc="-5" dirty="0">
                <a:latin typeface="Arial"/>
                <a:cs typeface="Arial"/>
              </a:rPr>
              <a:t>self-described</a:t>
            </a:r>
            <a:endParaRPr sz="1000" dirty="0">
              <a:latin typeface="Arial"/>
              <a:cs typeface="Arial"/>
            </a:endParaRPr>
          </a:p>
          <a:p>
            <a:pPr marL="293370" marR="5080" indent="-175260">
              <a:lnSpc>
                <a:spcPts val="1200"/>
              </a:lnSpc>
              <a:spcBef>
                <a:spcPts val="40"/>
              </a:spcBef>
              <a:buClr>
                <a:srgbClr val="3333B2"/>
              </a:buClr>
              <a:buAutoNum type="arabicPeriod"/>
              <a:tabLst>
                <a:tab pos="294005" algn="l"/>
              </a:tabLst>
            </a:pPr>
            <a:r>
              <a:rPr sz="1000" spc="-5" dirty="0">
                <a:latin typeface="Arial"/>
                <a:cs typeface="Arial"/>
              </a:rPr>
              <a:t>After </a:t>
            </a:r>
            <a:r>
              <a:rPr sz="1000" spc="-10" dirty="0">
                <a:latin typeface="Arial"/>
                <a:cs typeface="Arial"/>
              </a:rPr>
              <a:t>executing</a:t>
            </a:r>
            <a:r>
              <a:rPr sz="1000" spc="-5" dirty="0">
                <a:latin typeface="Arial"/>
                <a:cs typeface="Arial"/>
              </a:rPr>
              <a:t> an</a:t>
            </a:r>
            <a:r>
              <a:rPr sz="1000" dirty="0">
                <a:latin typeface="Arial"/>
                <a:cs typeface="Arial"/>
              </a:rPr>
              <a:t> </a:t>
            </a:r>
            <a:r>
              <a:rPr sz="1000" spc="-5" dirty="0">
                <a:latin typeface="Arial"/>
                <a:cs typeface="Arial"/>
              </a:rPr>
              <a:t>operation at a</a:t>
            </a:r>
            <a:r>
              <a:rPr sz="1000" dirty="0">
                <a:latin typeface="Arial"/>
                <a:cs typeface="Arial"/>
              </a:rPr>
              <a:t> </a:t>
            </a:r>
            <a:r>
              <a:rPr sz="1000" spc="-5" dirty="0">
                <a:latin typeface="Arial"/>
                <a:cs typeface="Arial"/>
              </a:rPr>
              <a:t>service, that component</a:t>
            </a:r>
            <a:r>
              <a:rPr sz="1000" dirty="0">
                <a:latin typeface="Arial"/>
                <a:cs typeface="Arial"/>
              </a:rPr>
              <a:t> </a:t>
            </a:r>
            <a:r>
              <a:rPr sz="1000" spc="-10" dirty="0">
                <a:latin typeface="Arial"/>
                <a:cs typeface="Arial"/>
              </a:rPr>
              <a:t>forgets </a:t>
            </a:r>
            <a:r>
              <a:rPr sz="1000" spc="-265" dirty="0">
                <a:latin typeface="Arial"/>
                <a:cs typeface="Arial"/>
              </a:rPr>
              <a:t> </a:t>
            </a:r>
            <a:r>
              <a:rPr sz="1000" spc="-5" dirty="0">
                <a:latin typeface="Arial"/>
                <a:cs typeface="Arial"/>
              </a:rPr>
              <a:t>everything</a:t>
            </a:r>
            <a:r>
              <a:rPr sz="1000" spc="-10" dirty="0">
                <a:latin typeface="Arial"/>
                <a:cs typeface="Arial"/>
              </a:rPr>
              <a:t> </a:t>
            </a:r>
            <a:r>
              <a:rPr sz="1000" spc="-5" dirty="0">
                <a:latin typeface="Arial"/>
                <a:cs typeface="Arial"/>
              </a:rPr>
              <a:t>about the caller</a:t>
            </a:r>
            <a:endParaRPr sz="1000" dirty="0">
              <a:latin typeface="Arial"/>
              <a:cs typeface="Arial"/>
            </a:endParaRPr>
          </a:p>
          <a:p>
            <a:pPr>
              <a:lnSpc>
                <a:spcPct val="100000"/>
              </a:lnSpc>
              <a:spcBef>
                <a:spcPts val="25"/>
              </a:spcBef>
            </a:pPr>
            <a:endParaRPr sz="1000" dirty="0">
              <a:latin typeface="Arial"/>
              <a:cs typeface="Arial"/>
            </a:endParaRPr>
          </a:p>
          <a:p>
            <a:pPr marL="16510">
              <a:lnSpc>
                <a:spcPct val="100000"/>
              </a:lnSpc>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operations</a:t>
            </a:r>
            <a:endParaRPr sz="1200" dirty="0">
              <a:latin typeface="Arial"/>
              <a:cs typeface="Arial"/>
            </a:endParaRPr>
          </a:p>
        </p:txBody>
      </p:sp>
      <p:graphicFrame>
        <p:nvGraphicFramePr>
          <p:cNvPr id="5" name="object 5"/>
          <p:cNvGraphicFramePr>
            <a:graphicFrameLocks noGrp="1"/>
          </p:cNvGraphicFramePr>
          <p:nvPr/>
        </p:nvGraphicFramePr>
        <p:xfrm>
          <a:off x="672706" y="2371280"/>
          <a:ext cx="3257550" cy="760095"/>
        </p:xfrm>
        <a:graphic>
          <a:graphicData uri="http://schemas.openxmlformats.org/drawingml/2006/table">
            <a:tbl>
              <a:tblPr firstRow="1" bandRow="1">
                <a:tableStyleId>{2D5ABB26-0587-4C30-8999-92F81FD0307C}</a:tableStyleId>
              </a:tblPr>
              <a:tblGrid>
                <a:gridCol w="635000">
                  <a:extLst>
                    <a:ext uri="{9D8B030D-6E8A-4147-A177-3AD203B41FA5}">
                      <a16:colId xmlns:a16="http://schemas.microsoft.com/office/drawing/2014/main" val="20000"/>
                    </a:ext>
                  </a:extLst>
                </a:gridCol>
                <a:gridCol w="2622550">
                  <a:extLst>
                    <a:ext uri="{9D8B030D-6E8A-4147-A177-3AD203B41FA5}">
                      <a16:colId xmlns:a16="http://schemas.microsoft.com/office/drawing/2014/main" val="20001"/>
                    </a:ext>
                  </a:extLst>
                </a:gridCol>
              </a:tblGrid>
              <a:tr h="156210">
                <a:tc>
                  <a:txBody>
                    <a:bodyPr/>
                    <a:lstStyle/>
                    <a:p>
                      <a:pPr marL="78105">
                        <a:lnSpc>
                          <a:spcPct val="100000"/>
                        </a:lnSpc>
                        <a:spcBef>
                          <a:spcPts val="15"/>
                        </a:spcBef>
                      </a:pPr>
                      <a:r>
                        <a:rPr sz="800" b="1" spc="-5" dirty="0">
                          <a:latin typeface="Arial"/>
                          <a:cs typeface="Arial"/>
                        </a:rPr>
                        <a:t>Operation</a:t>
                      </a:r>
                      <a:endParaRPr sz="800" dirty="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5"/>
                        </a:spcBef>
                      </a:pPr>
                      <a:r>
                        <a:rPr sz="800" b="1" spc="-5" dirty="0">
                          <a:latin typeface="Arial"/>
                          <a:cs typeface="Arial"/>
                        </a:rPr>
                        <a:t>Description</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210">
                <a:tc>
                  <a:txBody>
                    <a:bodyPr/>
                    <a:lstStyle/>
                    <a:p>
                      <a:pPr marL="73025">
                        <a:lnSpc>
                          <a:spcPct val="100000"/>
                        </a:lnSpc>
                        <a:spcBef>
                          <a:spcPts val="70"/>
                        </a:spcBef>
                      </a:pPr>
                      <a:r>
                        <a:rPr sz="800" spc="-80" dirty="0">
                          <a:latin typeface="Times New Roman"/>
                          <a:cs typeface="Times New Roman"/>
                        </a:rPr>
                        <a:t>PUT</a:t>
                      </a:r>
                      <a:endParaRPr sz="800" dirty="0">
                        <a:latin typeface="Times New Roman"/>
                        <a:cs typeface="Times New Roman"/>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0"/>
                        </a:spcBef>
                      </a:pPr>
                      <a:r>
                        <a:rPr sz="800" spc="-5" dirty="0">
                          <a:latin typeface="Arial"/>
                          <a:cs typeface="Arial"/>
                        </a:rPr>
                        <a:t>Create</a:t>
                      </a:r>
                      <a:r>
                        <a:rPr sz="800" spc="-20" dirty="0">
                          <a:latin typeface="Arial"/>
                          <a:cs typeface="Arial"/>
                        </a:rPr>
                        <a:t> </a:t>
                      </a:r>
                      <a:r>
                        <a:rPr sz="800" spc="-5" dirty="0">
                          <a:latin typeface="Arial"/>
                          <a:cs typeface="Arial"/>
                        </a:rPr>
                        <a:t>a</a:t>
                      </a:r>
                      <a:r>
                        <a:rPr sz="800" spc="-15" dirty="0">
                          <a:latin typeface="Arial"/>
                          <a:cs typeface="Arial"/>
                        </a:rPr>
                        <a:t> </a:t>
                      </a:r>
                      <a:r>
                        <a:rPr sz="800" spc="-10" dirty="0">
                          <a:latin typeface="Arial"/>
                          <a:cs typeface="Arial"/>
                        </a:rPr>
                        <a:t>new</a:t>
                      </a:r>
                      <a:r>
                        <a:rPr sz="800" spc="-15" dirty="0">
                          <a:latin typeface="Arial"/>
                          <a:cs typeface="Arial"/>
                        </a:rPr>
                        <a:t> </a:t>
                      </a:r>
                      <a:r>
                        <a:rPr sz="800" spc="-5" dirty="0">
                          <a:latin typeface="Arial"/>
                          <a:cs typeface="Arial"/>
                        </a:rPr>
                        <a:t>resource</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49225">
                <a:tc>
                  <a:txBody>
                    <a:bodyPr/>
                    <a:lstStyle/>
                    <a:p>
                      <a:pPr marL="73025">
                        <a:lnSpc>
                          <a:spcPct val="100000"/>
                        </a:lnSpc>
                        <a:spcBef>
                          <a:spcPts val="15"/>
                        </a:spcBef>
                      </a:pPr>
                      <a:r>
                        <a:rPr sz="800" spc="-95" dirty="0">
                          <a:latin typeface="Times New Roman"/>
                          <a:cs typeface="Times New Roman"/>
                        </a:rPr>
                        <a:t>GET</a:t>
                      </a:r>
                      <a:endParaRPr sz="800">
                        <a:latin typeface="Times New Roman"/>
                        <a:cs typeface="Times New Roman"/>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5"/>
                        </a:spcBef>
                      </a:pPr>
                      <a:r>
                        <a:rPr sz="800" spc="-10" dirty="0">
                          <a:latin typeface="Arial"/>
                          <a:cs typeface="Arial"/>
                        </a:rPr>
                        <a:t>Retrieve</a:t>
                      </a:r>
                      <a:r>
                        <a:rPr sz="800" dirty="0">
                          <a:latin typeface="Arial"/>
                          <a:cs typeface="Arial"/>
                        </a:rPr>
                        <a:t> </a:t>
                      </a:r>
                      <a:r>
                        <a:rPr sz="800" spc="-5" dirty="0">
                          <a:latin typeface="Arial"/>
                          <a:cs typeface="Arial"/>
                        </a:rPr>
                        <a:t>the</a:t>
                      </a:r>
                      <a:r>
                        <a:rPr sz="800" spc="5" dirty="0">
                          <a:latin typeface="Arial"/>
                          <a:cs typeface="Arial"/>
                        </a:rPr>
                        <a:t> </a:t>
                      </a:r>
                      <a:r>
                        <a:rPr sz="800" spc="-5" dirty="0">
                          <a:latin typeface="Arial"/>
                          <a:cs typeface="Arial"/>
                        </a:rPr>
                        <a:t>state</a:t>
                      </a:r>
                      <a:r>
                        <a:rPr sz="800" dirty="0">
                          <a:latin typeface="Arial"/>
                          <a:cs typeface="Arial"/>
                        </a:rPr>
                        <a:t> </a:t>
                      </a:r>
                      <a:r>
                        <a:rPr sz="800" spc="-5" dirty="0">
                          <a:latin typeface="Arial"/>
                          <a:cs typeface="Arial"/>
                        </a:rPr>
                        <a:t>of</a:t>
                      </a:r>
                      <a:r>
                        <a:rPr sz="800" spc="5" dirty="0">
                          <a:latin typeface="Arial"/>
                          <a:cs typeface="Arial"/>
                        </a:rPr>
                        <a:t> </a:t>
                      </a:r>
                      <a:r>
                        <a:rPr sz="800" spc="-5" dirty="0">
                          <a:latin typeface="Arial"/>
                          <a:cs typeface="Arial"/>
                        </a:rPr>
                        <a:t>a</a:t>
                      </a:r>
                      <a:r>
                        <a:rPr sz="800" dirty="0">
                          <a:latin typeface="Arial"/>
                          <a:cs typeface="Arial"/>
                        </a:rPr>
                        <a:t> </a:t>
                      </a:r>
                      <a:r>
                        <a:rPr sz="800" spc="-5" dirty="0">
                          <a:latin typeface="Arial"/>
                          <a:cs typeface="Arial"/>
                        </a:rPr>
                        <a:t>resource</a:t>
                      </a:r>
                      <a:r>
                        <a:rPr sz="800" spc="5" dirty="0">
                          <a:latin typeface="Arial"/>
                          <a:cs typeface="Arial"/>
                        </a:rPr>
                        <a:t> </a:t>
                      </a:r>
                      <a:r>
                        <a:rPr sz="800" spc="-5" dirty="0">
                          <a:latin typeface="Arial"/>
                          <a:cs typeface="Arial"/>
                        </a:rPr>
                        <a:t>in</a:t>
                      </a:r>
                      <a:r>
                        <a:rPr sz="800" dirty="0">
                          <a:latin typeface="Arial"/>
                          <a:cs typeface="Arial"/>
                        </a:rPr>
                        <a:t> </a:t>
                      </a:r>
                      <a:r>
                        <a:rPr sz="800" spc="-5" dirty="0">
                          <a:latin typeface="Arial"/>
                          <a:cs typeface="Arial"/>
                        </a:rPr>
                        <a:t>some</a:t>
                      </a:r>
                      <a:r>
                        <a:rPr sz="800" spc="5" dirty="0">
                          <a:latin typeface="Arial"/>
                          <a:cs typeface="Arial"/>
                        </a:rPr>
                        <a:t> </a:t>
                      </a:r>
                      <a:r>
                        <a:rPr sz="800" spc="-5" dirty="0">
                          <a:latin typeface="Arial"/>
                          <a:cs typeface="Arial"/>
                        </a:rPr>
                        <a:t>representation</a:t>
                      </a:r>
                      <a:endParaRPr sz="800" dirty="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49225">
                <a:tc>
                  <a:txBody>
                    <a:bodyPr/>
                    <a:lstStyle/>
                    <a:p>
                      <a:pPr marL="73025">
                        <a:lnSpc>
                          <a:spcPct val="100000"/>
                        </a:lnSpc>
                        <a:spcBef>
                          <a:spcPts val="15"/>
                        </a:spcBef>
                      </a:pPr>
                      <a:r>
                        <a:rPr sz="800" spc="-95" dirty="0">
                          <a:latin typeface="Times New Roman"/>
                          <a:cs typeface="Times New Roman"/>
                        </a:rPr>
                        <a:t>DELETE</a:t>
                      </a:r>
                      <a:endParaRPr sz="800">
                        <a:latin typeface="Times New Roman"/>
                        <a:cs typeface="Times New Roman"/>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5"/>
                        </a:spcBef>
                      </a:pPr>
                      <a:r>
                        <a:rPr sz="800" spc="-5" dirty="0">
                          <a:latin typeface="Arial"/>
                          <a:cs typeface="Arial"/>
                        </a:rPr>
                        <a:t>Delete</a:t>
                      </a:r>
                      <a:r>
                        <a:rPr sz="800" spc="-20" dirty="0">
                          <a:latin typeface="Arial"/>
                          <a:cs typeface="Arial"/>
                        </a:rPr>
                        <a:t> </a:t>
                      </a:r>
                      <a:r>
                        <a:rPr sz="800" spc="-5" dirty="0">
                          <a:latin typeface="Arial"/>
                          <a:cs typeface="Arial"/>
                        </a:rPr>
                        <a:t>a</a:t>
                      </a:r>
                      <a:r>
                        <a:rPr sz="800" spc="-20" dirty="0">
                          <a:latin typeface="Arial"/>
                          <a:cs typeface="Arial"/>
                        </a:rPr>
                        <a:t> </a:t>
                      </a:r>
                      <a:r>
                        <a:rPr sz="800" spc="-5" dirty="0">
                          <a:latin typeface="Arial"/>
                          <a:cs typeface="Arial"/>
                        </a:rPr>
                        <a:t>resource</a:t>
                      </a:r>
                      <a:endParaRPr sz="800" dirty="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49225">
                <a:tc>
                  <a:txBody>
                    <a:bodyPr/>
                    <a:lstStyle/>
                    <a:p>
                      <a:pPr marL="73025">
                        <a:lnSpc>
                          <a:spcPct val="100000"/>
                        </a:lnSpc>
                        <a:spcBef>
                          <a:spcPts val="15"/>
                        </a:spcBef>
                      </a:pPr>
                      <a:r>
                        <a:rPr sz="800" spc="-75" dirty="0">
                          <a:latin typeface="Times New Roman"/>
                          <a:cs typeface="Times New Roman"/>
                        </a:rPr>
                        <a:t>POST</a:t>
                      </a:r>
                      <a:endParaRPr sz="800">
                        <a:latin typeface="Times New Roman"/>
                        <a:cs typeface="Times New Roman"/>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5"/>
                        </a:spcBef>
                      </a:pPr>
                      <a:r>
                        <a:rPr sz="800" spc="-5" dirty="0">
                          <a:latin typeface="Arial"/>
                          <a:cs typeface="Arial"/>
                        </a:rPr>
                        <a:t>Modify a resource </a:t>
                      </a:r>
                      <a:r>
                        <a:rPr sz="800" spc="-15" dirty="0">
                          <a:latin typeface="Arial"/>
                          <a:cs typeface="Arial"/>
                        </a:rPr>
                        <a:t>by</a:t>
                      </a:r>
                      <a:r>
                        <a:rPr sz="800" spc="-5" dirty="0">
                          <a:latin typeface="Arial"/>
                          <a:cs typeface="Arial"/>
                        </a:rPr>
                        <a:t> transferring a </a:t>
                      </a:r>
                      <a:r>
                        <a:rPr sz="800" spc="-10" dirty="0">
                          <a:latin typeface="Arial"/>
                          <a:cs typeface="Arial"/>
                        </a:rPr>
                        <a:t>new</a:t>
                      </a:r>
                      <a:r>
                        <a:rPr sz="800" spc="-5" dirty="0">
                          <a:latin typeface="Arial"/>
                          <a:cs typeface="Arial"/>
                        </a:rPr>
                        <a:t> state</a:t>
                      </a:r>
                      <a:endParaRPr sz="800" dirty="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10</a:t>
            </a:r>
            <a:r>
              <a:rPr spc="-40" dirty="0"/>
              <a:t> </a:t>
            </a:r>
            <a:r>
              <a:rPr spc="-5" dirty="0"/>
              <a:t>/</a:t>
            </a:r>
            <a:r>
              <a:rPr spc="-35" dirty="0"/>
              <a:t> </a:t>
            </a:r>
            <a:r>
              <a:rPr spc="-5" dirty="0"/>
              <a:t>36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48685"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Resource-based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3" name="object 3"/>
          <p:cNvSpPr txBox="1">
            <a:spLocks noGrp="1"/>
          </p:cNvSpPr>
          <p:nvPr>
            <p:ph type="title"/>
          </p:nvPr>
        </p:nvSpPr>
        <p:spPr>
          <a:xfrm>
            <a:off x="95300" y="188846"/>
            <a:ext cx="3593465" cy="244475"/>
          </a:xfrm>
          <a:prstGeom prst="rect">
            <a:avLst/>
          </a:prstGeom>
        </p:spPr>
        <p:txBody>
          <a:bodyPr vert="horz" wrap="square" lIns="0" tIns="17145" rIns="0" bIns="0" rtlCol="0">
            <a:spAutoFit/>
          </a:bodyPr>
          <a:lstStyle/>
          <a:p>
            <a:pPr marL="12700">
              <a:lnSpc>
                <a:spcPct val="100000"/>
              </a:lnSpc>
              <a:spcBef>
                <a:spcPts val="135"/>
              </a:spcBef>
            </a:pPr>
            <a:r>
              <a:rPr spc="15" dirty="0"/>
              <a:t>Example:</a:t>
            </a:r>
            <a:r>
              <a:rPr spc="90" dirty="0"/>
              <a:t> </a:t>
            </a:r>
            <a:r>
              <a:rPr spc="5" dirty="0"/>
              <a:t>Amazon’s</a:t>
            </a:r>
            <a:r>
              <a:rPr spc="-5" dirty="0"/>
              <a:t> </a:t>
            </a:r>
            <a:r>
              <a:rPr spc="15" dirty="0"/>
              <a:t>Simple</a:t>
            </a:r>
            <a:r>
              <a:rPr spc="-5" dirty="0"/>
              <a:t> </a:t>
            </a:r>
            <a:r>
              <a:rPr spc="15" dirty="0"/>
              <a:t>Storage</a:t>
            </a:r>
            <a:r>
              <a:rPr dirty="0"/>
              <a:t> </a:t>
            </a:r>
            <a:r>
              <a:rPr spc="20" dirty="0"/>
              <a:t>Service</a:t>
            </a:r>
          </a:p>
        </p:txBody>
      </p:sp>
      <p:sp>
        <p:nvSpPr>
          <p:cNvPr id="4" name="object 4"/>
          <p:cNvSpPr txBox="1"/>
          <p:nvPr/>
        </p:nvSpPr>
        <p:spPr>
          <a:xfrm>
            <a:off x="304495" y="728266"/>
            <a:ext cx="3886200" cy="2033905"/>
          </a:xfrm>
          <a:prstGeom prst="rect">
            <a:avLst/>
          </a:prstGeom>
        </p:spPr>
        <p:txBody>
          <a:bodyPr vert="horz" wrap="square" lIns="0" tIns="12065" rIns="0" bIns="0" rtlCol="0">
            <a:spAutoFit/>
          </a:bodyPr>
          <a:lstStyle/>
          <a:p>
            <a:pPr marL="55244">
              <a:lnSpc>
                <a:spcPts val="1410"/>
              </a:lnSpc>
              <a:spcBef>
                <a:spcPts val="95"/>
              </a:spcBef>
            </a:pPr>
            <a:r>
              <a:rPr sz="1200" spc="-5" dirty="0">
                <a:solidFill>
                  <a:srgbClr val="3333B2"/>
                </a:solidFill>
                <a:latin typeface="Arial"/>
                <a:cs typeface="Arial"/>
              </a:rPr>
              <a:t>Essence</a:t>
            </a:r>
            <a:endParaRPr sz="1200">
              <a:latin typeface="Arial"/>
              <a:cs typeface="Arial"/>
            </a:endParaRPr>
          </a:p>
          <a:p>
            <a:pPr marL="55244" marR="17780" algn="just">
              <a:lnSpc>
                <a:spcPts val="1200"/>
              </a:lnSpc>
              <a:spcBef>
                <a:spcPts val="10"/>
              </a:spcBef>
            </a:pPr>
            <a:r>
              <a:rPr sz="1000" spc="-5" dirty="0">
                <a:solidFill>
                  <a:srgbClr val="FA0000"/>
                </a:solidFill>
                <a:latin typeface="Arial"/>
                <a:cs typeface="Arial"/>
              </a:rPr>
              <a:t>Objects </a:t>
            </a:r>
            <a:r>
              <a:rPr sz="1000" spc="-5" dirty="0">
                <a:latin typeface="Arial"/>
                <a:cs typeface="Arial"/>
              </a:rPr>
              <a:t>(i.e., files) are placed into </a:t>
            </a:r>
            <a:r>
              <a:rPr sz="1000" spc="-15" dirty="0">
                <a:solidFill>
                  <a:srgbClr val="FA0000"/>
                </a:solidFill>
                <a:latin typeface="Arial"/>
                <a:cs typeface="Arial"/>
              </a:rPr>
              <a:t>buckets </a:t>
            </a:r>
            <a:r>
              <a:rPr sz="1000" spc="-5" dirty="0">
                <a:latin typeface="Arial"/>
                <a:cs typeface="Arial"/>
              </a:rPr>
              <a:t>(i.e., directories). </a:t>
            </a:r>
            <a:r>
              <a:rPr sz="1000" spc="-10" dirty="0">
                <a:latin typeface="Arial"/>
                <a:cs typeface="Arial"/>
              </a:rPr>
              <a:t>Buckets </a:t>
            </a:r>
            <a:r>
              <a:rPr sz="1000" spc="-265" dirty="0">
                <a:latin typeface="Arial"/>
                <a:cs typeface="Arial"/>
              </a:rPr>
              <a:t> </a:t>
            </a:r>
            <a:r>
              <a:rPr sz="1000" spc="-5" dirty="0">
                <a:latin typeface="Arial"/>
                <a:cs typeface="Arial"/>
              </a:rPr>
              <a:t>cannot be placed into </a:t>
            </a:r>
            <a:r>
              <a:rPr sz="1000" spc="-15" dirty="0">
                <a:latin typeface="Arial"/>
                <a:cs typeface="Arial"/>
              </a:rPr>
              <a:t>buckets. </a:t>
            </a:r>
            <a:r>
              <a:rPr sz="1000" spc="-5" dirty="0">
                <a:latin typeface="Arial"/>
                <a:cs typeface="Arial"/>
              </a:rPr>
              <a:t>Operations on </a:t>
            </a:r>
            <a:r>
              <a:rPr sz="1000" dirty="0">
                <a:latin typeface="Times New Roman"/>
                <a:cs typeface="Times New Roman"/>
              </a:rPr>
              <a:t>ObjectName </a:t>
            </a:r>
            <a:r>
              <a:rPr sz="1000" spc="-5" dirty="0">
                <a:latin typeface="Arial"/>
                <a:cs typeface="Arial"/>
              </a:rPr>
              <a:t>in </a:t>
            </a:r>
            <a:r>
              <a:rPr sz="1000" spc="-15" dirty="0">
                <a:latin typeface="Arial"/>
                <a:cs typeface="Arial"/>
              </a:rPr>
              <a:t>bucket </a:t>
            </a:r>
            <a:r>
              <a:rPr sz="1000" spc="-10" dirty="0">
                <a:latin typeface="Arial"/>
                <a:cs typeface="Arial"/>
              </a:rPr>
              <a:t> </a:t>
            </a:r>
            <a:r>
              <a:rPr sz="1000" spc="-170" dirty="0">
                <a:latin typeface="Times New Roman"/>
                <a:cs typeface="Times New Roman"/>
              </a:rPr>
              <a:t>B</a:t>
            </a:r>
            <a:r>
              <a:rPr sz="1000" spc="-5" dirty="0">
                <a:latin typeface="Times New Roman"/>
                <a:cs typeface="Times New Roman"/>
              </a:rPr>
              <a:t>u</a:t>
            </a:r>
            <a:r>
              <a:rPr sz="1000" spc="50" dirty="0">
                <a:latin typeface="Times New Roman"/>
                <a:cs typeface="Times New Roman"/>
              </a:rPr>
              <a:t>c</a:t>
            </a:r>
            <a:r>
              <a:rPr sz="1000" spc="-5" dirty="0">
                <a:latin typeface="Times New Roman"/>
                <a:cs typeface="Times New Roman"/>
              </a:rPr>
              <a:t>k</a:t>
            </a:r>
            <a:r>
              <a:rPr sz="1000" spc="50" dirty="0">
                <a:latin typeface="Times New Roman"/>
                <a:cs typeface="Times New Roman"/>
              </a:rPr>
              <a:t>e</a:t>
            </a:r>
            <a:r>
              <a:rPr sz="1000" spc="215" dirty="0">
                <a:latin typeface="Times New Roman"/>
                <a:cs typeface="Times New Roman"/>
              </a:rPr>
              <a:t>t</a:t>
            </a:r>
            <a:r>
              <a:rPr sz="1000" spc="-225" dirty="0">
                <a:latin typeface="Times New Roman"/>
                <a:cs typeface="Times New Roman"/>
              </a:rPr>
              <a:t>N</a:t>
            </a:r>
            <a:r>
              <a:rPr sz="1000" spc="50" dirty="0">
                <a:latin typeface="Times New Roman"/>
                <a:cs typeface="Times New Roman"/>
              </a:rPr>
              <a:t>a</a:t>
            </a:r>
            <a:r>
              <a:rPr sz="1000" spc="-285" dirty="0">
                <a:latin typeface="Times New Roman"/>
                <a:cs typeface="Times New Roman"/>
              </a:rPr>
              <a:t>m</a:t>
            </a:r>
            <a:r>
              <a:rPr sz="1000" spc="150" dirty="0">
                <a:latin typeface="Times New Roman"/>
                <a:cs typeface="Times New Roman"/>
              </a:rPr>
              <a:t>e</a:t>
            </a:r>
            <a:r>
              <a:rPr sz="1000" spc="-55" dirty="0">
                <a:latin typeface="Times New Roman"/>
                <a:cs typeface="Times New Roman"/>
              </a:rPr>
              <a:t> </a:t>
            </a:r>
            <a:r>
              <a:rPr sz="1000" spc="-5" dirty="0">
                <a:latin typeface="Arial"/>
                <a:cs typeface="Arial"/>
              </a:rPr>
              <a:t>require the </a:t>
            </a:r>
            <a:r>
              <a:rPr sz="1000" spc="-35" dirty="0">
                <a:latin typeface="Arial"/>
                <a:cs typeface="Arial"/>
              </a:rPr>
              <a:t>f</a:t>
            </a:r>
            <a:r>
              <a:rPr sz="1000" spc="-5" dirty="0">
                <a:latin typeface="Arial"/>
                <a:cs typeface="Arial"/>
              </a:rPr>
              <a:t>oll</a:t>
            </a:r>
            <a:r>
              <a:rPr sz="1000" spc="-20" dirty="0">
                <a:latin typeface="Arial"/>
                <a:cs typeface="Arial"/>
              </a:rPr>
              <a:t>o</a:t>
            </a:r>
            <a:r>
              <a:rPr sz="1000" spc="-5" dirty="0">
                <a:latin typeface="Arial"/>
                <a:cs typeface="Arial"/>
              </a:rPr>
              <a:t>wing identifie</a:t>
            </a:r>
            <a:r>
              <a:rPr sz="1000" spc="20" dirty="0">
                <a:latin typeface="Arial"/>
                <a:cs typeface="Arial"/>
              </a:rPr>
              <a:t>r</a:t>
            </a:r>
            <a:r>
              <a:rPr sz="1000" spc="-5" dirty="0">
                <a:latin typeface="Arial"/>
                <a:cs typeface="Arial"/>
              </a:rPr>
              <a:t>:</a:t>
            </a:r>
            <a:endParaRPr sz="1000">
              <a:latin typeface="Arial"/>
              <a:cs typeface="Arial"/>
            </a:endParaRPr>
          </a:p>
          <a:p>
            <a:pPr marL="106680" algn="ctr">
              <a:lnSpc>
                <a:spcPct val="100000"/>
              </a:lnSpc>
              <a:spcBef>
                <a:spcPts val="844"/>
              </a:spcBef>
            </a:pPr>
            <a:r>
              <a:rPr sz="1000" spc="30" dirty="0">
                <a:latin typeface="Times New Roman"/>
                <a:cs typeface="Times New Roman"/>
                <a:hlinkClick r:id="rId5"/>
              </a:rPr>
              <a:t>http://BucketName.s3.amazonaws.com/ObjectName</a:t>
            </a:r>
            <a:endParaRPr sz="1000">
              <a:latin typeface="Times New Roman"/>
              <a:cs typeface="Times New Roman"/>
            </a:endParaRPr>
          </a:p>
          <a:p>
            <a:pPr>
              <a:lnSpc>
                <a:spcPct val="100000"/>
              </a:lnSpc>
            </a:pPr>
            <a:endParaRPr sz="1000">
              <a:latin typeface="Times New Roman"/>
              <a:cs typeface="Times New Roman"/>
            </a:endParaRPr>
          </a:p>
          <a:p>
            <a:pPr marL="50800">
              <a:lnSpc>
                <a:spcPct val="100000"/>
              </a:lnSpc>
              <a:spcBef>
                <a:spcPts val="595"/>
              </a:spcBef>
            </a:pPr>
            <a:r>
              <a:rPr sz="1200" spc="-25" dirty="0">
                <a:solidFill>
                  <a:srgbClr val="007C00"/>
                </a:solidFill>
                <a:latin typeface="Arial"/>
                <a:cs typeface="Arial"/>
              </a:rPr>
              <a:t>Typical</a:t>
            </a:r>
            <a:r>
              <a:rPr sz="1200" spc="-40" dirty="0">
                <a:solidFill>
                  <a:srgbClr val="007C00"/>
                </a:solidFill>
                <a:latin typeface="Arial"/>
                <a:cs typeface="Arial"/>
              </a:rPr>
              <a:t> </a:t>
            </a:r>
            <a:r>
              <a:rPr sz="1200" spc="-5" dirty="0">
                <a:solidFill>
                  <a:srgbClr val="007C00"/>
                </a:solidFill>
                <a:latin typeface="Arial"/>
                <a:cs typeface="Arial"/>
              </a:rPr>
              <a:t>operations</a:t>
            </a:r>
            <a:endParaRPr sz="1200">
              <a:latin typeface="Arial"/>
              <a:cs typeface="Arial"/>
            </a:endParaRPr>
          </a:p>
          <a:p>
            <a:pPr marL="50800">
              <a:lnSpc>
                <a:spcPct val="100000"/>
              </a:lnSpc>
              <a:spcBef>
                <a:spcPts val="180"/>
              </a:spcBef>
            </a:pPr>
            <a:r>
              <a:rPr sz="1000" spc="-5" dirty="0">
                <a:latin typeface="Arial"/>
                <a:cs typeface="Arial"/>
              </a:rPr>
              <a:t>All</a:t>
            </a:r>
            <a:r>
              <a:rPr sz="1000" dirty="0">
                <a:latin typeface="Arial"/>
                <a:cs typeface="Arial"/>
              </a:rPr>
              <a:t> </a:t>
            </a:r>
            <a:r>
              <a:rPr sz="1000" spc="-5" dirty="0">
                <a:latin typeface="Arial"/>
                <a:cs typeface="Arial"/>
              </a:rPr>
              <a:t>operations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carried</a:t>
            </a:r>
            <a:r>
              <a:rPr sz="1000" dirty="0">
                <a:latin typeface="Arial"/>
                <a:cs typeface="Arial"/>
              </a:rPr>
              <a:t> </a:t>
            </a:r>
            <a:r>
              <a:rPr sz="1000" spc="-5" dirty="0">
                <a:latin typeface="Arial"/>
                <a:cs typeface="Arial"/>
              </a:rPr>
              <a:t>out</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HTTP</a:t>
            </a:r>
            <a:r>
              <a:rPr sz="1000" dirty="0">
                <a:latin typeface="Arial"/>
                <a:cs typeface="Arial"/>
              </a:rPr>
              <a:t> </a:t>
            </a:r>
            <a:r>
              <a:rPr sz="1000" spc="-5" dirty="0">
                <a:latin typeface="Arial"/>
                <a:cs typeface="Arial"/>
              </a:rPr>
              <a:t>requests:</a:t>
            </a:r>
            <a:endParaRPr sz="1000">
              <a:latin typeface="Arial"/>
              <a:cs typeface="Arial"/>
            </a:endParaRPr>
          </a:p>
          <a:p>
            <a:pPr marL="332105" indent="-168275">
              <a:lnSpc>
                <a:spcPts val="1200"/>
              </a:lnSpc>
              <a:spcBef>
                <a:spcPts val="595"/>
              </a:spcBef>
              <a:buClr>
                <a:srgbClr val="007C00"/>
              </a:buClr>
              <a:buChar char="►"/>
              <a:tabLst>
                <a:tab pos="332740" algn="l"/>
              </a:tabLst>
            </a:pPr>
            <a:r>
              <a:rPr sz="1000" spc="-5" dirty="0">
                <a:latin typeface="Arial"/>
                <a:cs typeface="Arial"/>
              </a:rPr>
              <a:t>Create a</a:t>
            </a:r>
            <a:r>
              <a:rPr sz="1000" dirty="0">
                <a:latin typeface="Arial"/>
                <a:cs typeface="Arial"/>
              </a:rPr>
              <a:t> </a:t>
            </a:r>
            <a:r>
              <a:rPr sz="1000" spc="-10" dirty="0">
                <a:latin typeface="Arial"/>
                <a:cs typeface="Arial"/>
              </a:rPr>
              <a:t>bucket/object:</a:t>
            </a:r>
            <a:r>
              <a:rPr sz="1000" spc="215" dirty="0">
                <a:latin typeface="Arial"/>
                <a:cs typeface="Arial"/>
              </a:rPr>
              <a:t> </a:t>
            </a:r>
            <a:r>
              <a:rPr sz="1000" spc="-90" dirty="0">
                <a:latin typeface="Times New Roman"/>
                <a:cs typeface="Times New Roman"/>
              </a:rPr>
              <a:t>PUT</a:t>
            </a:r>
            <a:r>
              <a:rPr sz="1000" spc="-90" dirty="0">
                <a:latin typeface="Arial"/>
                <a:cs typeface="Arial"/>
              </a:rPr>
              <a:t>,</a:t>
            </a:r>
            <a:r>
              <a:rPr sz="1000" dirty="0">
                <a:latin typeface="Arial"/>
                <a:cs typeface="Arial"/>
              </a:rPr>
              <a:t> </a:t>
            </a:r>
            <a:r>
              <a:rPr sz="1000" spc="-5" dirty="0">
                <a:latin typeface="Arial"/>
                <a:cs typeface="Arial"/>
              </a:rPr>
              <a:t>along</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 URI</a:t>
            </a:r>
            <a:endParaRPr sz="1000">
              <a:latin typeface="Arial"/>
              <a:cs typeface="Arial"/>
            </a:endParaRPr>
          </a:p>
          <a:p>
            <a:pPr marL="332105" indent="-168275">
              <a:lnSpc>
                <a:spcPts val="1195"/>
              </a:lnSpc>
              <a:buClr>
                <a:srgbClr val="007C00"/>
              </a:buClr>
              <a:buChar char="►"/>
              <a:tabLst>
                <a:tab pos="332740" algn="l"/>
              </a:tabLst>
            </a:pPr>
            <a:r>
              <a:rPr sz="1000" spc="-5" dirty="0">
                <a:latin typeface="Arial"/>
                <a:cs typeface="Arial"/>
              </a:rPr>
              <a:t>Listing objects:</a:t>
            </a:r>
            <a:r>
              <a:rPr sz="1000" dirty="0">
                <a:latin typeface="Arial"/>
                <a:cs typeface="Arial"/>
              </a:rPr>
              <a:t> </a:t>
            </a:r>
            <a:r>
              <a:rPr sz="1000" spc="-70" dirty="0">
                <a:latin typeface="Arial"/>
                <a:cs typeface="Arial"/>
              </a:rPr>
              <a:t> </a:t>
            </a:r>
            <a:r>
              <a:rPr sz="1000" spc="-225" dirty="0">
                <a:latin typeface="Times New Roman"/>
                <a:cs typeface="Times New Roman"/>
              </a:rPr>
              <a:t>G</a:t>
            </a:r>
            <a:r>
              <a:rPr sz="1000" spc="-114" dirty="0">
                <a:latin typeface="Times New Roman"/>
                <a:cs typeface="Times New Roman"/>
              </a:rPr>
              <a:t>E</a:t>
            </a:r>
            <a:r>
              <a:rPr sz="1000" spc="-15" dirty="0">
                <a:latin typeface="Times New Roman"/>
                <a:cs typeface="Times New Roman"/>
              </a:rPr>
              <a:t>T</a:t>
            </a:r>
            <a:r>
              <a:rPr sz="1000" spc="-55" dirty="0">
                <a:latin typeface="Times New Roman"/>
                <a:cs typeface="Times New Roman"/>
              </a:rPr>
              <a:t> </a:t>
            </a:r>
            <a:r>
              <a:rPr sz="1000" spc="-5" dirty="0">
                <a:latin typeface="Arial"/>
                <a:cs typeface="Arial"/>
              </a:rPr>
              <a:t>on a </a:t>
            </a:r>
            <a:r>
              <a:rPr sz="1000" spc="-25" dirty="0">
                <a:latin typeface="Arial"/>
                <a:cs typeface="Arial"/>
              </a:rPr>
              <a:t>b</a:t>
            </a:r>
            <a:r>
              <a:rPr sz="1000" spc="-5" dirty="0">
                <a:latin typeface="Arial"/>
                <a:cs typeface="Arial"/>
              </a:rPr>
              <a:t>u</a:t>
            </a:r>
            <a:r>
              <a:rPr sz="1000" spc="-25" dirty="0">
                <a:latin typeface="Arial"/>
                <a:cs typeface="Arial"/>
              </a:rPr>
              <a:t>ck</a:t>
            </a:r>
            <a:r>
              <a:rPr sz="1000" spc="-5" dirty="0">
                <a:latin typeface="Arial"/>
                <a:cs typeface="Arial"/>
              </a:rPr>
              <a:t>et name</a:t>
            </a:r>
            <a:endParaRPr sz="1000">
              <a:latin typeface="Arial"/>
              <a:cs typeface="Arial"/>
            </a:endParaRPr>
          </a:p>
          <a:p>
            <a:pPr marL="332105" indent="-168275">
              <a:lnSpc>
                <a:spcPts val="1200"/>
              </a:lnSpc>
              <a:buClr>
                <a:srgbClr val="007C00"/>
              </a:buClr>
              <a:buChar char="►"/>
              <a:tabLst>
                <a:tab pos="332740" algn="l"/>
              </a:tabLst>
            </a:pPr>
            <a:r>
              <a:rPr sz="1000" spc="-5" dirty="0">
                <a:latin typeface="Arial"/>
                <a:cs typeface="Arial"/>
              </a:rPr>
              <a:t>Reading an object:</a:t>
            </a:r>
            <a:r>
              <a:rPr sz="1000" dirty="0">
                <a:latin typeface="Arial"/>
                <a:cs typeface="Arial"/>
              </a:rPr>
              <a:t> </a:t>
            </a:r>
            <a:r>
              <a:rPr sz="1000" spc="-70" dirty="0">
                <a:latin typeface="Arial"/>
                <a:cs typeface="Arial"/>
              </a:rPr>
              <a:t> </a:t>
            </a:r>
            <a:r>
              <a:rPr sz="1000" spc="-225" dirty="0">
                <a:latin typeface="Times New Roman"/>
                <a:cs typeface="Times New Roman"/>
              </a:rPr>
              <a:t>G</a:t>
            </a:r>
            <a:r>
              <a:rPr sz="1000" spc="-114" dirty="0">
                <a:latin typeface="Times New Roman"/>
                <a:cs typeface="Times New Roman"/>
              </a:rPr>
              <a:t>E</a:t>
            </a:r>
            <a:r>
              <a:rPr sz="1000" spc="-15" dirty="0">
                <a:latin typeface="Times New Roman"/>
                <a:cs typeface="Times New Roman"/>
              </a:rPr>
              <a:t>T</a:t>
            </a:r>
            <a:r>
              <a:rPr sz="1000" spc="-55" dirty="0">
                <a:latin typeface="Times New Roman"/>
                <a:cs typeface="Times New Roman"/>
              </a:rPr>
              <a:t> </a:t>
            </a:r>
            <a:r>
              <a:rPr sz="1000" spc="-5" dirty="0">
                <a:latin typeface="Arial"/>
                <a:cs typeface="Arial"/>
              </a:rPr>
              <a:t>on a full URI</a:t>
            </a:r>
            <a:endParaRPr sz="10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11</a:t>
            </a:r>
            <a:r>
              <a:rPr spc="-40" dirty="0"/>
              <a:t> </a:t>
            </a:r>
            <a:r>
              <a:rPr spc="-5" dirty="0"/>
              <a:t>/</a:t>
            </a:r>
            <a:r>
              <a:rPr spc="-35" dirty="0"/>
              <a:t> </a:t>
            </a:r>
            <a:r>
              <a:rPr spc="-5" dirty="0"/>
              <a:t>36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48685"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Resource-based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architectures</a:t>
            </a:r>
            <a:endParaRPr sz="600">
              <a:latin typeface="Arial"/>
              <a:cs typeface="Arial"/>
            </a:endParaRPr>
          </a:p>
        </p:txBody>
      </p:sp>
      <p:sp>
        <p:nvSpPr>
          <p:cNvPr id="3" name="object 3"/>
          <p:cNvSpPr txBox="1">
            <a:spLocks noGrp="1"/>
          </p:cNvSpPr>
          <p:nvPr>
            <p:ph type="title"/>
          </p:nvPr>
        </p:nvSpPr>
        <p:spPr>
          <a:xfrm>
            <a:off x="95300" y="188846"/>
            <a:ext cx="1103630" cy="244475"/>
          </a:xfrm>
          <a:prstGeom prst="rect">
            <a:avLst/>
          </a:prstGeom>
        </p:spPr>
        <p:txBody>
          <a:bodyPr vert="horz" wrap="square" lIns="0" tIns="17145" rIns="0" bIns="0" rtlCol="0">
            <a:spAutoFit/>
          </a:bodyPr>
          <a:lstStyle/>
          <a:p>
            <a:pPr marL="12700">
              <a:lnSpc>
                <a:spcPct val="100000"/>
              </a:lnSpc>
              <a:spcBef>
                <a:spcPts val="135"/>
              </a:spcBef>
            </a:pPr>
            <a:r>
              <a:rPr spc="20" dirty="0"/>
              <a:t>On</a:t>
            </a:r>
            <a:r>
              <a:rPr spc="-65" dirty="0"/>
              <a:t> </a:t>
            </a:r>
            <a:r>
              <a:rPr spc="10" dirty="0"/>
              <a:t>interfaces</a:t>
            </a:r>
          </a:p>
        </p:txBody>
      </p:sp>
      <p:sp>
        <p:nvSpPr>
          <p:cNvPr id="4" name="object 4"/>
          <p:cNvSpPr txBox="1"/>
          <p:nvPr/>
        </p:nvSpPr>
        <p:spPr>
          <a:xfrm>
            <a:off x="342290" y="505914"/>
            <a:ext cx="3837304" cy="927735"/>
          </a:xfrm>
          <a:prstGeom prst="rect">
            <a:avLst/>
          </a:prstGeom>
        </p:spPr>
        <p:txBody>
          <a:bodyPr vert="horz" wrap="square" lIns="0" tIns="12065" rIns="0" bIns="0" rtlCol="0">
            <a:spAutoFit/>
          </a:bodyPr>
          <a:lstStyle/>
          <a:p>
            <a:pPr marL="17145">
              <a:lnSpc>
                <a:spcPts val="1410"/>
              </a:lnSpc>
              <a:spcBef>
                <a:spcPts val="95"/>
              </a:spcBef>
            </a:pPr>
            <a:r>
              <a:rPr sz="1200" spc="-5" dirty="0">
                <a:solidFill>
                  <a:srgbClr val="FA0000"/>
                </a:solidFill>
                <a:latin typeface="Arial"/>
                <a:cs typeface="Arial"/>
              </a:rPr>
              <a:t>Issue</a:t>
            </a:r>
            <a:endParaRPr sz="1200">
              <a:latin typeface="Arial"/>
              <a:cs typeface="Arial"/>
            </a:endParaRPr>
          </a:p>
          <a:p>
            <a:pPr marL="17145" marR="5080">
              <a:lnSpc>
                <a:spcPts val="1200"/>
              </a:lnSpc>
              <a:spcBef>
                <a:spcPts val="10"/>
              </a:spcBef>
            </a:pPr>
            <a:r>
              <a:rPr sz="1000" spc="-10" dirty="0">
                <a:latin typeface="Arial"/>
                <a:cs typeface="Arial"/>
              </a:rPr>
              <a:t>Many</a:t>
            </a:r>
            <a:r>
              <a:rPr sz="1000" spc="-5" dirty="0">
                <a:latin typeface="Arial"/>
                <a:cs typeface="Arial"/>
              </a:rPr>
              <a:t> people</a:t>
            </a:r>
            <a:r>
              <a:rPr sz="1000" dirty="0">
                <a:latin typeface="Arial"/>
                <a:cs typeface="Arial"/>
              </a:rPr>
              <a:t> </a:t>
            </a:r>
            <a:r>
              <a:rPr sz="1000" spc="-10" dirty="0">
                <a:latin typeface="Arial"/>
                <a:cs typeface="Arial"/>
              </a:rPr>
              <a:t>like</a:t>
            </a:r>
            <a:r>
              <a:rPr sz="1000" spc="-5" dirty="0">
                <a:latin typeface="Arial"/>
                <a:cs typeface="Arial"/>
              </a:rPr>
              <a:t> RESTful</a:t>
            </a:r>
            <a:r>
              <a:rPr sz="1000" dirty="0">
                <a:latin typeface="Arial"/>
                <a:cs typeface="Arial"/>
              </a:rPr>
              <a:t> </a:t>
            </a:r>
            <a:r>
              <a:rPr sz="1000" spc="-5" dirty="0">
                <a:latin typeface="Arial"/>
                <a:cs typeface="Arial"/>
              </a:rPr>
              <a:t>approaches because</a:t>
            </a:r>
            <a:r>
              <a:rPr sz="1000" dirty="0">
                <a:latin typeface="Arial"/>
                <a:cs typeface="Arial"/>
              </a:rPr>
              <a:t> </a:t>
            </a:r>
            <a:r>
              <a:rPr sz="1000" spc="-5" dirty="0">
                <a:latin typeface="Arial"/>
                <a:cs typeface="Arial"/>
              </a:rPr>
              <a:t>the interface</a:t>
            </a:r>
            <a:r>
              <a:rPr sz="1000" dirty="0">
                <a:latin typeface="Arial"/>
                <a:cs typeface="Arial"/>
              </a:rPr>
              <a:t> </a:t>
            </a:r>
            <a:r>
              <a:rPr sz="1000" spc="-5" dirty="0">
                <a:latin typeface="Arial"/>
                <a:cs typeface="Arial"/>
              </a:rPr>
              <a:t>to a </a:t>
            </a:r>
            <a:r>
              <a:rPr sz="1000" dirty="0">
                <a:latin typeface="Arial"/>
                <a:cs typeface="Arial"/>
              </a:rPr>
              <a:t> service</a:t>
            </a:r>
            <a:r>
              <a:rPr sz="1000" spc="-5" dirty="0">
                <a:latin typeface="Arial"/>
                <a:cs typeface="Arial"/>
              </a:rPr>
              <a:t> is so</a:t>
            </a:r>
            <a:r>
              <a:rPr sz="1000" dirty="0">
                <a:latin typeface="Arial"/>
                <a:cs typeface="Arial"/>
              </a:rPr>
              <a:t> </a:t>
            </a:r>
            <a:r>
              <a:rPr sz="1000" spc="-5" dirty="0">
                <a:latin typeface="Arial"/>
                <a:cs typeface="Arial"/>
              </a:rPr>
              <a:t>simple.</a:t>
            </a:r>
            <a:r>
              <a:rPr sz="1000" spc="6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catch is</a:t>
            </a:r>
            <a:r>
              <a:rPr sz="1000" dirty="0">
                <a:latin typeface="Arial"/>
                <a:cs typeface="Arial"/>
              </a:rPr>
              <a:t> </a:t>
            </a:r>
            <a:r>
              <a:rPr sz="1000" spc="-5" dirty="0">
                <a:latin typeface="Arial"/>
                <a:cs typeface="Arial"/>
              </a:rPr>
              <a:t>that much</a:t>
            </a:r>
            <a:r>
              <a:rPr sz="1000" dirty="0">
                <a:latin typeface="Arial"/>
                <a:cs typeface="Arial"/>
              </a:rPr>
              <a:t> </a:t>
            </a:r>
            <a:r>
              <a:rPr sz="1000" spc="-5" dirty="0">
                <a:latin typeface="Arial"/>
                <a:cs typeface="Arial"/>
              </a:rPr>
              <a:t>needs to</a:t>
            </a:r>
            <a:r>
              <a:rPr sz="1000" dirty="0">
                <a:latin typeface="Arial"/>
                <a:cs typeface="Arial"/>
              </a:rPr>
              <a:t> </a:t>
            </a:r>
            <a:r>
              <a:rPr sz="1000" spc="-5" dirty="0">
                <a:latin typeface="Arial"/>
                <a:cs typeface="Arial"/>
              </a:rPr>
              <a:t>be done</a:t>
            </a:r>
            <a:r>
              <a:rPr sz="1000" dirty="0">
                <a:latin typeface="Arial"/>
                <a:cs typeface="Arial"/>
              </a:rPr>
              <a:t> </a:t>
            </a:r>
            <a:r>
              <a:rPr sz="1000" spc="-5" dirty="0">
                <a:latin typeface="Arial"/>
                <a:cs typeface="Arial"/>
              </a:rPr>
              <a:t>in the </a:t>
            </a:r>
            <a:r>
              <a:rPr sz="1000" spc="-260" dirty="0">
                <a:latin typeface="Arial"/>
                <a:cs typeface="Arial"/>
              </a:rPr>
              <a:t> </a:t>
            </a:r>
            <a:r>
              <a:rPr sz="1000" spc="-5" dirty="0">
                <a:solidFill>
                  <a:srgbClr val="0000FA"/>
                </a:solidFill>
                <a:latin typeface="Arial"/>
                <a:cs typeface="Arial"/>
              </a:rPr>
              <a:t>parameter</a:t>
            </a:r>
            <a:r>
              <a:rPr sz="1000" spc="-10" dirty="0">
                <a:solidFill>
                  <a:srgbClr val="0000FA"/>
                </a:solidFill>
                <a:latin typeface="Arial"/>
                <a:cs typeface="Arial"/>
              </a:rPr>
              <a:t> </a:t>
            </a:r>
            <a:r>
              <a:rPr sz="1000" spc="-5" dirty="0">
                <a:solidFill>
                  <a:srgbClr val="0000FA"/>
                </a:solidFill>
                <a:latin typeface="Arial"/>
                <a:cs typeface="Arial"/>
              </a:rPr>
              <a:t>space</a:t>
            </a:r>
            <a:r>
              <a:rPr sz="1000" spc="-5" dirty="0">
                <a:latin typeface="Arial"/>
                <a:cs typeface="Arial"/>
              </a:rPr>
              <a:t>.</a:t>
            </a:r>
            <a:endParaRPr sz="1000">
              <a:latin typeface="Arial"/>
              <a:cs typeface="Arial"/>
            </a:endParaRPr>
          </a:p>
          <a:p>
            <a:pPr marL="12700">
              <a:lnSpc>
                <a:spcPct val="100000"/>
              </a:lnSpc>
              <a:spcBef>
                <a:spcPts val="645"/>
              </a:spcBef>
            </a:pPr>
            <a:r>
              <a:rPr sz="1200" spc="-10" dirty="0">
                <a:solidFill>
                  <a:srgbClr val="3333B2"/>
                </a:solidFill>
                <a:latin typeface="Arial"/>
                <a:cs typeface="Arial"/>
              </a:rPr>
              <a:t>Amazon</a:t>
            </a:r>
            <a:r>
              <a:rPr sz="1200" spc="-15" dirty="0">
                <a:solidFill>
                  <a:srgbClr val="3333B2"/>
                </a:solidFill>
                <a:latin typeface="Arial"/>
                <a:cs typeface="Arial"/>
              </a:rPr>
              <a:t> </a:t>
            </a:r>
            <a:r>
              <a:rPr sz="1200" spc="-5" dirty="0">
                <a:solidFill>
                  <a:srgbClr val="3333B2"/>
                </a:solidFill>
                <a:latin typeface="Arial"/>
                <a:cs typeface="Arial"/>
              </a:rPr>
              <a:t>S3</a:t>
            </a:r>
            <a:r>
              <a:rPr sz="1200" spc="-15" dirty="0">
                <a:solidFill>
                  <a:srgbClr val="3333B2"/>
                </a:solidFill>
                <a:latin typeface="Arial"/>
                <a:cs typeface="Arial"/>
              </a:rPr>
              <a:t> </a:t>
            </a:r>
            <a:r>
              <a:rPr sz="1200" spc="-10" dirty="0">
                <a:solidFill>
                  <a:srgbClr val="3333B2"/>
                </a:solidFill>
                <a:latin typeface="Arial"/>
                <a:cs typeface="Arial"/>
              </a:rPr>
              <a:t>SOAP</a:t>
            </a:r>
            <a:r>
              <a:rPr sz="1200" spc="-15" dirty="0">
                <a:solidFill>
                  <a:srgbClr val="3333B2"/>
                </a:solidFill>
                <a:latin typeface="Arial"/>
                <a:cs typeface="Arial"/>
              </a:rPr>
              <a:t> </a:t>
            </a:r>
            <a:r>
              <a:rPr sz="1200" spc="-10" dirty="0">
                <a:solidFill>
                  <a:srgbClr val="3333B2"/>
                </a:solidFill>
                <a:latin typeface="Arial"/>
                <a:cs typeface="Arial"/>
              </a:rPr>
              <a:t>interface</a:t>
            </a:r>
            <a:endParaRPr sz="1200">
              <a:latin typeface="Arial"/>
              <a:cs typeface="Arial"/>
            </a:endParaRPr>
          </a:p>
        </p:txBody>
      </p:sp>
      <p:graphicFrame>
        <p:nvGraphicFramePr>
          <p:cNvPr id="5" name="object 5"/>
          <p:cNvGraphicFramePr>
            <a:graphicFrameLocks noGrp="1"/>
          </p:cNvGraphicFramePr>
          <p:nvPr/>
        </p:nvGraphicFramePr>
        <p:xfrm>
          <a:off x="589406" y="1515389"/>
          <a:ext cx="3423920" cy="1525905"/>
        </p:xfrm>
        <a:graphic>
          <a:graphicData uri="http://schemas.openxmlformats.org/drawingml/2006/table">
            <a:tbl>
              <a:tblPr firstRow="1" bandRow="1">
                <a:tableStyleId>{2D5ABB26-0587-4C30-8999-92F81FD0307C}</a:tableStyleId>
              </a:tblPr>
              <a:tblGrid>
                <a:gridCol w="1711960">
                  <a:extLst>
                    <a:ext uri="{9D8B030D-6E8A-4147-A177-3AD203B41FA5}">
                      <a16:colId xmlns:a16="http://schemas.microsoft.com/office/drawing/2014/main" val="20000"/>
                    </a:ext>
                  </a:extLst>
                </a:gridCol>
                <a:gridCol w="1711960">
                  <a:extLst>
                    <a:ext uri="{9D8B030D-6E8A-4147-A177-3AD203B41FA5}">
                      <a16:colId xmlns:a16="http://schemas.microsoft.com/office/drawing/2014/main" val="20001"/>
                    </a:ext>
                  </a:extLst>
                </a:gridCol>
              </a:tblGrid>
              <a:tr h="178435">
                <a:tc>
                  <a:txBody>
                    <a:bodyPr/>
                    <a:lstStyle/>
                    <a:p>
                      <a:pPr marL="78105">
                        <a:lnSpc>
                          <a:spcPct val="100000"/>
                        </a:lnSpc>
                        <a:spcBef>
                          <a:spcPts val="40"/>
                        </a:spcBef>
                      </a:pPr>
                      <a:r>
                        <a:rPr sz="900" b="1" spc="-10" dirty="0">
                          <a:latin typeface="Arial"/>
                          <a:cs typeface="Arial"/>
                        </a:rPr>
                        <a:t>Bucket</a:t>
                      </a:r>
                      <a:r>
                        <a:rPr sz="900" b="1" spc="-25" dirty="0">
                          <a:latin typeface="Arial"/>
                          <a:cs typeface="Arial"/>
                        </a:rPr>
                        <a:t> </a:t>
                      </a:r>
                      <a:r>
                        <a:rPr sz="900" b="1" spc="-5" dirty="0">
                          <a:latin typeface="Arial"/>
                          <a:cs typeface="Arial"/>
                        </a:rPr>
                        <a:t>operations</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40"/>
                        </a:spcBef>
                      </a:pPr>
                      <a:r>
                        <a:rPr sz="900" b="1" spc="-5" dirty="0">
                          <a:latin typeface="Arial"/>
                          <a:cs typeface="Arial"/>
                        </a:rPr>
                        <a:t>Object</a:t>
                      </a:r>
                      <a:r>
                        <a:rPr sz="900" b="1" spc="-30" dirty="0">
                          <a:latin typeface="Arial"/>
                          <a:cs typeface="Arial"/>
                        </a:rPr>
                        <a:t> </a:t>
                      </a:r>
                      <a:r>
                        <a:rPr sz="900" b="1" spc="-5" dirty="0">
                          <a:latin typeface="Arial"/>
                          <a:cs typeface="Arial"/>
                        </a:rPr>
                        <a:t>operations</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77165">
                <a:tc>
                  <a:txBody>
                    <a:bodyPr/>
                    <a:lstStyle/>
                    <a:p>
                      <a:pPr marL="72390">
                        <a:lnSpc>
                          <a:spcPct val="100000"/>
                        </a:lnSpc>
                        <a:spcBef>
                          <a:spcPts val="95"/>
                        </a:spcBef>
                      </a:pPr>
                      <a:r>
                        <a:rPr sz="900" spc="30" dirty="0">
                          <a:latin typeface="Times New Roman"/>
                          <a:cs typeface="Times New Roman"/>
                        </a:rPr>
                        <a:t>ListAllMyBuckets</a:t>
                      </a:r>
                      <a:endParaRPr sz="900">
                        <a:latin typeface="Times New Roman"/>
                        <a:cs typeface="Times New Roman"/>
                      </a:endParaRPr>
                    </a:p>
                  </a:txBody>
                  <a:tcPr marL="0" marR="0" marT="12065"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2390">
                        <a:lnSpc>
                          <a:spcPct val="100000"/>
                        </a:lnSpc>
                        <a:spcBef>
                          <a:spcPts val="95"/>
                        </a:spcBef>
                      </a:pPr>
                      <a:r>
                        <a:rPr sz="900" spc="70" dirty="0">
                          <a:latin typeface="Times New Roman"/>
                          <a:cs typeface="Times New Roman"/>
                        </a:rPr>
                        <a:t>PutObjectInline</a:t>
                      </a:r>
                      <a:endParaRPr sz="900">
                        <a:latin typeface="Times New Roman"/>
                        <a:cs typeface="Times New Roman"/>
                      </a:endParaRPr>
                    </a:p>
                  </a:txBody>
                  <a:tcPr marL="0" marR="0" marT="12065" marB="0">
                    <a:lnL w="6350">
                      <a:solidFill>
                        <a:srgbClr val="000000"/>
                      </a:solidFill>
                      <a:prstDash val="solid"/>
                    </a:lnL>
                    <a:lnR w="63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167005">
                <a:tc>
                  <a:txBody>
                    <a:bodyPr/>
                    <a:lstStyle/>
                    <a:p>
                      <a:pPr marL="72390">
                        <a:lnSpc>
                          <a:spcPct val="100000"/>
                        </a:lnSpc>
                        <a:spcBef>
                          <a:spcPts val="15"/>
                        </a:spcBef>
                      </a:pPr>
                      <a:r>
                        <a:rPr sz="900" spc="45" dirty="0">
                          <a:latin typeface="Times New Roman"/>
                          <a:cs typeface="Times New Roman"/>
                        </a:rPr>
                        <a:t>CreateBucket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55" dirty="0">
                          <a:latin typeface="Times New Roman"/>
                          <a:cs typeface="Times New Roman"/>
                        </a:rPr>
                        <a:t>PutObject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67005">
                <a:tc>
                  <a:txBody>
                    <a:bodyPr/>
                    <a:lstStyle/>
                    <a:p>
                      <a:pPr marL="72390">
                        <a:lnSpc>
                          <a:spcPct val="100000"/>
                        </a:lnSpc>
                        <a:spcBef>
                          <a:spcPts val="15"/>
                        </a:spcBef>
                      </a:pPr>
                      <a:r>
                        <a:rPr sz="900" spc="45" dirty="0">
                          <a:latin typeface="Times New Roman"/>
                          <a:cs typeface="Times New Roman"/>
                        </a:rPr>
                        <a:t>DeleteBucket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20" dirty="0">
                          <a:latin typeface="Times New Roman"/>
                          <a:cs typeface="Times New Roman"/>
                        </a:rPr>
                        <a:t>CopyObject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67005">
                <a:tc>
                  <a:txBody>
                    <a:bodyPr/>
                    <a:lstStyle/>
                    <a:p>
                      <a:pPr marL="72390">
                        <a:lnSpc>
                          <a:spcPct val="100000"/>
                        </a:lnSpc>
                        <a:spcBef>
                          <a:spcPts val="15"/>
                        </a:spcBef>
                      </a:pPr>
                      <a:r>
                        <a:rPr sz="900" spc="60" dirty="0">
                          <a:latin typeface="Times New Roman"/>
                          <a:cs typeface="Times New Roman"/>
                        </a:rPr>
                        <a:t>ListBucket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45" dirty="0">
                          <a:latin typeface="Times New Roman"/>
                          <a:cs typeface="Times New Roman"/>
                        </a:rPr>
                        <a:t>GetObject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67005">
                <a:tc>
                  <a:txBody>
                    <a:bodyPr/>
                    <a:lstStyle/>
                    <a:p>
                      <a:pPr marL="72390">
                        <a:lnSpc>
                          <a:spcPct val="100000"/>
                        </a:lnSpc>
                        <a:spcBef>
                          <a:spcPts val="15"/>
                        </a:spcBef>
                      </a:pPr>
                      <a:r>
                        <a:rPr sz="900" spc="40" dirty="0">
                          <a:latin typeface="Times New Roman"/>
                          <a:cs typeface="Times New Roman"/>
                        </a:rPr>
                        <a:t>GetBucketAccessControlPolicy</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35" dirty="0">
                          <a:latin typeface="Times New Roman"/>
                          <a:cs typeface="Times New Roman"/>
                        </a:rPr>
                        <a:t>GetObjectExtended</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67005">
                <a:tc>
                  <a:txBody>
                    <a:bodyPr/>
                    <a:lstStyle/>
                    <a:p>
                      <a:pPr marL="72390">
                        <a:lnSpc>
                          <a:spcPct val="100000"/>
                        </a:lnSpc>
                        <a:spcBef>
                          <a:spcPts val="15"/>
                        </a:spcBef>
                      </a:pPr>
                      <a:r>
                        <a:rPr sz="900" spc="45" dirty="0">
                          <a:latin typeface="Times New Roman"/>
                          <a:cs typeface="Times New Roman"/>
                        </a:rPr>
                        <a:t>SetBucketAccessControlPolicy</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55" dirty="0">
                          <a:latin typeface="Times New Roman"/>
                          <a:cs typeface="Times New Roman"/>
                        </a:rPr>
                        <a:t>DeleteObject</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67005">
                <a:tc>
                  <a:txBody>
                    <a:bodyPr/>
                    <a:lstStyle/>
                    <a:p>
                      <a:pPr marL="72390">
                        <a:lnSpc>
                          <a:spcPct val="100000"/>
                        </a:lnSpc>
                        <a:spcBef>
                          <a:spcPts val="15"/>
                        </a:spcBef>
                      </a:pPr>
                      <a:r>
                        <a:rPr sz="900" spc="35" dirty="0">
                          <a:latin typeface="Times New Roman"/>
                          <a:cs typeface="Times New Roman"/>
                        </a:rPr>
                        <a:t>GetBucketLoggingStatus</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tc>
                  <a:txBody>
                    <a:bodyPr/>
                    <a:lstStyle/>
                    <a:p>
                      <a:pPr marL="72390">
                        <a:lnSpc>
                          <a:spcPct val="100000"/>
                        </a:lnSpc>
                        <a:spcBef>
                          <a:spcPts val="15"/>
                        </a:spcBef>
                      </a:pPr>
                      <a:r>
                        <a:rPr sz="900" spc="45" dirty="0">
                          <a:latin typeface="Times New Roman"/>
                          <a:cs typeface="Times New Roman"/>
                        </a:rPr>
                        <a:t>GetObjectAccessControlPolicy</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68275">
                <a:tc>
                  <a:txBody>
                    <a:bodyPr/>
                    <a:lstStyle/>
                    <a:p>
                      <a:pPr marL="72390">
                        <a:lnSpc>
                          <a:spcPct val="100000"/>
                        </a:lnSpc>
                        <a:spcBef>
                          <a:spcPts val="15"/>
                        </a:spcBef>
                      </a:pPr>
                      <a:r>
                        <a:rPr sz="900" spc="45" dirty="0">
                          <a:latin typeface="Times New Roman"/>
                          <a:cs typeface="Times New Roman"/>
                        </a:rPr>
                        <a:t>SetBucketLoggingStatus</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2390">
                        <a:lnSpc>
                          <a:spcPct val="100000"/>
                        </a:lnSpc>
                        <a:spcBef>
                          <a:spcPts val="15"/>
                        </a:spcBef>
                      </a:pPr>
                      <a:r>
                        <a:rPr sz="900" spc="50" dirty="0">
                          <a:latin typeface="Times New Roman"/>
                          <a:cs typeface="Times New Roman"/>
                        </a:rPr>
                        <a:t>SetObjectAccessControlPolicy</a:t>
                      </a:r>
                      <a:endParaRPr sz="900">
                        <a:latin typeface="Times New Roman"/>
                        <a:cs typeface="Times New Roman"/>
                      </a:endParaRPr>
                    </a:p>
                  </a:txBody>
                  <a:tcPr marL="0" marR="0" marT="1905"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503332" y="716"/>
            <a:ext cx="10382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Resource-based architectures</a:t>
            </a:r>
            <a:endParaRPr sz="600">
              <a:latin typeface="Arial"/>
              <a:cs typeface="Arial"/>
            </a:endParaRPr>
          </a:p>
        </p:txBody>
      </p:sp>
      <p:sp>
        <p:nvSpPr>
          <p:cNvPr id="4" name="object 4"/>
          <p:cNvSpPr txBox="1"/>
          <p:nvPr/>
        </p:nvSpPr>
        <p:spPr>
          <a:xfrm>
            <a:off x="95300" y="188846"/>
            <a:ext cx="4072254" cy="105219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On</a:t>
            </a:r>
            <a:r>
              <a:rPr sz="1400" spc="-40" dirty="0">
                <a:solidFill>
                  <a:srgbClr val="3333B2"/>
                </a:solidFill>
                <a:latin typeface="Arial"/>
                <a:cs typeface="Arial"/>
              </a:rPr>
              <a:t> </a:t>
            </a:r>
            <a:r>
              <a:rPr sz="1400" spc="10" dirty="0">
                <a:solidFill>
                  <a:srgbClr val="3333B2"/>
                </a:solidFill>
                <a:latin typeface="Arial"/>
                <a:cs typeface="Arial"/>
              </a:rPr>
              <a:t>interfaces</a:t>
            </a:r>
            <a:endParaRPr sz="1400">
              <a:latin typeface="Arial"/>
              <a:cs typeface="Arial"/>
            </a:endParaRPr>
          </a:p>
          <a:p>
            <a:pPr>
              <a:lnSpc>
                <a:spcPct val="100000"/>
              </a:lnSpc>
            </a:pPr>
            <a:endParaRPr sz="2050">
              <a:latin typeface="Arial"/>
              <a:cs typeface="Arial"/>
            </a:endParaRPr>
          </a:p>
          <a:p>
            <a:pPr marL="264160">
              <a:lnSpc>
                <a:spcPct val="100000"/>
              </a:lnSpc>
            </a:pPr>
            <a:r>
              <a:rPr sz="1200" spc="-5" dirty="0">
                <a:solidFill>
                  <a:srgbClr val="3333B2"/>
                </a:solidFill>
                <a:latin typeface="Arial"/>
                <a:cs typeface="Arial"/>
              </a:rPr>
              <a:t>Simplifications</a:t>
            </a:r>
            <a:endParaRPr sz="1200">
              <a:latin typeface="Arial"/>
              <a:cs typeface="Arial"/>
            </a:endParaRPr>
          </a:p>
          <a:p>
            <a:pPr marL="264160" marR="5080" indent="-4445">
              <a:lnSpc>
                <a:spcPct val="100000"/>
              </a:lnSpc>
              <a:spcBef>
                <a:spcPts val="175"/>
              </a:spcBef>
            </a:pPr>
            <a:r>
              <a:rPr sz="1000" spc="-5" dirty="0">
                <a:latin typeface="Arial"/>
                <a:cs typeface="Arial"/>
              </a:rPr>
              <a:t>Assume an interface</a:t>
            </a:r>
            <a:r>
              <a:rPr sz="1000" spc="210" dirty="0">
                <a:latin typeface="Arial"/>
                <a:cs typeface="Arial"/>
              </a:rPr>
              <a:t> </a:t>
            </a:r>
            <a:r>
              <a:rPr sz="1000" spc="70" dirty="0">
                <a:latin typeface="Times New Roman"/>
                <a:cs typeface="Times New Roman"/>
              </a:rPr>
              <a:t>bucket</a:t>
            </a:r>
            <a:r>
              <a:rPr sz="1000" spc="-55" dirty="0">
                <a:latin typeface="Times New Roman"/>
                <a:cs typeface="Times New Roman"/>
              </a:rPr>
              <a:t> </a:t>
            </a:r>
            <a:r>
              <a:rPr sz="1000" spc="-5" dirty="0">
                <a:latin typeface="Arial"/>
                <a:cs typeface="Arial"/>
              </a:rPr>
              <a:t>offering</a:t>
            </a:r>
            <a:r>
              <a:rPr sz="1000" dirty="0">
                <a:latin typeface="Arial"/>
                <a:cs typeface="Arial"/>
              </a:rPr>
              <a:t> </a:t>
            </a:r>
            <a:r>
              <a:rPr sz="1000" spc="-5" dirty="0">
                <a:latin typeface="Arial"/>
                <a:cs typeface="Arial"/>
              </a:rPr>
              <a:t>an operation</a:t>
            </a:r>
            <a:r>
              <a:rPr sz="1000" spc="210" dirty="0">
                <a:latin typeface="Arial"/>
                <a:cs typeface="Arial"/>
              </a:rPr>
              <a:t> </a:t>
            </a:r>
            <a:r>
              <a:rPr sz="1000" spc="90" dirty="0">
                <a:latin typeface="Times New Roman"/>
                <a:cs typeface="Times New Roman"/>
              </a:rPr>
              <a:t>create</a:t>
            </a:r>
            <a:r>
              <a:rPr sz="1000" spc="90" dirty="0">
                <a:latin typeface="Arial"/>
                <a:cs typeface="Arial"/>
              </a:rPr>
              <a:t>,</a:t>
            </a:r>
            <a:r>
              <a:rPr sz="1000" spc="-5" dirty="0">
                <a:latin typeface="Arial"/>
                <a:cs typeface="Arial"/>
              </a:rPr>
              <a:t> requiring </a:t>
            </a:r>
            <a:r>
              <a:rPr sz="1000" spc="-26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input</a:t>
            </a:r>
            <a:r>
              <a:rPr sz="1000" dirty="0">
                <a:latin typeface="Arial"/>
                <a:cs typeface="Arial"/>
              </a:rPr>
              <a:t> string </a:t>
            </a:r>
            <a:r>
              <a:rPr sz="1000" spc="-5" dirty="0">
                <a:latin typeface="Arial"/>
                <a:cs typeface="Arial"/>
              </a:rPr>
              <a:t>such</a:t>
            </a:r>
            <a:r>
              <a:rPr sz="1000" dirty="0">
                <a:latin typeface="Arial"/>
                <a:cs typeface="Arial"/>
              </a:rPr>
              <a:t> </a:t>
            </a:r>
            <a:r>
              <a:rPr sz="1000" spc="-5" dirty="0">
                <a:latin typeface="Arial"/>
                <a:cs typeface="Arial"/>
              </a:rPr>
              <a:t>as</a:t>
            </a:r>
            <a:r>
              <a:rPr sz="1000" spc="215" dirty="0">
                <a:latin typeface="Arial"/>
                <a:cs typeface="Arial"/>
              </a:rPr>
              <a:t> </a:t>
            </a:r>
            <a:r>
              <a:rPr sz="1000" spc="5" dirty="0">
                <a:latin typeface="Times New Roman"/>
                <a:cs typeface="Times New Roman"/>
              </a:rPr>
              <a:t>mybucket</a:t>
            </a:r>
            <a:r>
              <a:rPr sz="1000" spc="5" dirty="0">
                <a:latin typeface="Arial"/>
                <a:cs typeface="Arial"/>
              </a:rPr>
              <a:t>,</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creating</a:t>
            </a:r>
            <a:r>
              <a:rPr sz="1000" dirty="0">
                <a:latin typeface="Arial"/>
                <a:cs typeface="Arial"/>
              </a:rPr>
              <a:t> </a:t>
            </a:r>
            <a:r>
              <a:rPr sz="1000" spc="-5" dirty="0">
                <a:latin typeface="Arial"/>
                <a:cs typeface="Arial"/>
              </a:rPr>
              <a:t>a</a:t>
            </a:r>
            <a:r>
              <a:rPr sz="1000" dirty="0">
                <a:latin typeface="Arial"/>
                <a:cs typeface="Arial"/>
              </a:rPr>
              <a:t> </a:t>
            </a:r>
            <a:r>
              <a:rPr sz="1000" spc="-15" dirty="0">
                <a:latin typeface="Arial"/>
                <a:cs typeface="Arial"/>
              </a:rPr>
              <a:t>bucket</a:t>
            </a:r>
            <a:r>
              <a:rPr sz="1000" dirty="0">
                <a:latin typeface="Arial"/>
                <a:cs typeface="Arial"/>
              </a:rPr>
              <a:t> </a:t>
            </a:r>
            <a:r>
              <a:rPr sz="1000" spc="-20" dirty="0">
                <a:latin typeface="Arial"/>
                <a:cs typeface="Arial"/>
              </a:rPr>
              <a:t>“mybucket.”</a:t>
            </a:r>
            <a:endParaRPr sz="10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503332" y="716"/>
            <a:ext cx="10382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Resource-based architectures</a:t>
            </a:r>
            <a:endParaRPr sz="600">
              <a:latin typeface="Arial"/>
              <a:cs typeface="Arial"/>
            </a:endParaRPr>
          </a:p>
        </p:txBody>
      </p:sp>
      <p:sp>
        <p:nvSpPr>
          <p:cNvPr id="4" name="object 4"/>
          <p:cNvSpPr txBox="1"/>
          <p:nvPr/>
        </p:nvSpPr>
        <p:spPr>
          <a:xfrm>
            <a:off x="95300" y="188846"/>
            <a:ext cx="4072254" cy="1640839"/>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On</a:t>
            </a:r>
            <a:r>
              <a:rPr sz="1400" spc="-40" dirty="0">
                <a:solidFill>
                  <a:srgbClr val="3333B2"/>
                </a:solidFill>
                <a:latin typeface="Arial"/>
                <a:cs typeface="Arial"/>
              </a:rPr>
              <a:t> </a:t>
            </a:r>
            <a:r>
              <a:rPr sz="1400" spc="10" dirty="0">
                <a:solidFill>
                  <a:srgbClr val="3333B2"/>
                </a:solidFill>
                <a:latin typeface="Arial"/>
                <a:cs typeface="Arial"/>
              </a:rPr>
              <a:t>interfaces</a:t>
            </a:r>
            <a:endParaRPr sz="1400" dirty="0">
              <a:latin typeface="Arial"/>
              <a:cs typeface="Arial"/>
            </a:endParaRPr>
          </a:p>
          <a:p>
            <a:pPr>
              <a:lnSpc>
                <a:spcPct val="100000"/>
              </a:lnSpc>
            </a:pPr>
            <a:endParaRPr sz="2050" dirty="0">
              <a:latin typeface="Arial"/>
              <a:cs typeface="Arial"/>
            </a:endParaRPr>
          </a:p>
          <a:p>
            <a:pPr marL="264160">
              <a:lnSpc>
                <a:spcPct val="100000"/>
              </a:lnSpc>
            </a:pPr>
            <a:r>
              <a:rPr sz="1200" spc="-5" dirty="0">
                <a:solidFill>
                  <a:srgbClr val="3333B2"/>
                </a:solidFill>
                <a:latin typeface="Arial"/>
                <a:cs typeface="Arial"/>
              </a:rPr>
              <a:t>Simplifications</a:t>
            </a:r>
            <a:endParaRPr sz="1200" dirty="0">
              <a:latin typeface="Arial"/>
              <a:cs typeface="Arial"/>
            </a:endParaRPr>
          </a:p>
          <a:p>
            <a:pPr marL="264160" marR="5080" indent="-4445">
              <a:lnSpc>
                <a:spcPct val="100000"/>
              </a:lnSpc>
              <a:spcBef>
                <a:spcPts val="175"/>
              </a:spcBef>
            </a:pPr>
            <a:r>
              <a:rPr sz="1000" spc="-5" dirty="0">
                <a:latin typeface="Arial"/>
                <a:cs typeface="Arial"/>
              </a:rPr>
              <a:t>Assume an interface</a:t>
            </a:r>
            <a:r>
              <a:rPr sz="1000" spc="210" dirty="0">
                <a:latin typeface="Arial"/>
                <a:cs typeface="Arial"/>
              </a:rPr>
              <a:t> </a:t>
            </a:r>
            <a:r>
              <a:rPr sz="1000" spc="70" dirty="0">
                <a:latin typeface="Times New Roman"/>
                <a:cs typeface="Times New Roman"/>
              </a:rPr>
              <a:t>bucket</a:t>
            </a:r>
            <a:r>
              <a:rPr sz="1000" spc="-55" dirty="0">
                <a:latin typeface="Times New Roman"/>
                <a:cs typeface="Times New Roman"/>
              </a:rPr>
              <a:t> </a:t>
            </a:r>
            <a:r>
              <a:rPr sz="1000" spc="-5" dirty="0">
                <a:latin typeface="Arial"/>
                <a:cs typeface="Arial"/>
              </a:rPr>
              <a:t>offering</a:t>
            </a:r>
            <a:r>
              <a:rPr sz="1000" dirty="0">
                <a:latin typeface="Arial"/>
                <a:cs typeface="Arial"/>
              </a:rPr>
              <a:t> </a:t>
            </a:r>
            <a:r>
              <a:rPr sz="1000" spc="-5" dirty="0">
                <a:latin typeface="Arial"/>
                <a:cs typeface="Arial"/>
              </a:rPr>
              <a:t>an operation</a:t>
            </a:r>
            <a:r>
              <a:rPr sz="1000" spc="210" dirty="0">
                <a:latin typeface="Arial"/>
                <a:cs typeface="Arial"/>
              </a:rPr>
              <a:t> </a:t>
            </a:r>
            <a:r>
              <a:rPr sz="1000" spc="90" dirty="0">
                <a:latin typeface="Times New Roman"/>
                <a:cs typeface="Times New Roman"/>
              </a:rPr>
              <a:t>create</a:t>
            </a:r>
            <a:r>
              <a:rPr sz="1000" spc="90" dirty="0">
                <a:latin typeface="Arial"/>
                <a:cs typeface="Arial"/>
              </a:rPr>
              <a:t>,</a:t>
            </a:r>
            <a:r>
              <a:rPr sz="1000" spc="-5" dirty="0">
                <a:latin typeface="Arial"/>
                <a:cs typeface="Arial"/>
              </a:rPr>
              <a:t> requiring </a:t>
            </a:r>
            <a:r>
              <a:rPr sz="1000" spc="-26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input</a:t>
            </a:r>
            <a:r>
              <a:rPr sz="1000" dirty="0">
                <a:latin typeface="Arial"/>
                <a:cs typeface="Arial"/>
              </a:rPr>
              <a:t> string </a:t>
            </a:r>
            <a:r>
              <a:rPr sz="1000" spc="-5" dirty="0">
                <a:latin typeface="Arial"/>
                <a:cs typeface="Arial"/>
              </a:rPr>
              <a:t>such</a:t>
            </a:r>
            <a:r>
              <a:rPr sz="1000" dirty="0">
                <a:latin typeface="Arial"/>
                <a:cs typeface="Arial"/>
              </a:rPr>
              <a:t> </a:t>
            </a:r>
            <a:r>
              <a:rPr sz="1000" spc="-5" dirty="0">
                <a:latin typeface="Arial"/>
                <a:cs typeface="Arial"/>
              </a:rPr>
              <a:t>as</a:t>
            </a:r>
            <a:r>
              <a:rPr sz="1000" spc="215" dirty="0">
                <a:latin typeface="Arial"/>
                <a:cs typeface="Arial"/>
              </a:rPr>
              <a:t> </a:t>
            </a:r>
            <a:r>
              <a:rPr sz="1000" spc="5" dirty="0">
                <a:latin typeface="Times New Roman"/>
                <a:cs typeface="Times New Roman"/>
              </a:rPr>
              <a:t>mybucket</a:t>
            </a:r>
            <a:r>
              <a:rPr sz="1000" spc="5" dirty="0">
                <a:latin typeface="Arial"/>
                <a:cs typeface="Arial"/>
              </a:rPr>
              <a:t>,</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creating</a:t>
            </a:r>
            <a:r>
              <a:rPr sz="1000" dirty="0">
                <a:latin typeface="Arial"/>
                <a:cs typeface="Arial"/>
              </a:rPr>
              <a:t> </a:t>
            </a:r>
            <a:r>
              <a:rPr sz="1000" spc="-5" dirty="0">
                <a:latin typeface="Arial"/>
                <a:cs typeface="Arial"/>
              </a:rPr>
              <a:t>a</a:t>
            </a:r>
            <a:r>
              <a:rPr sz="1000" dirty="0">
                <a:latin typeface="Arial"/>
                <a:cs typeface="Arial"/>
              </a:rPr>
              <a:t> </a:t>
            </a:r>
            <a:r>
              <a:rPr sz="1000" spc="-15" dirty="0">
                <a:latin typeface="Arial"/>
                <a:cs typeface="Arial"/>
              </a:rPr>
              <a:t>bucket</a:t>
            </a:r>
            <a:r>
              <a:rPr sz="1000" dirty="0">
                <a:latin typeface="Arial"/>
                <a:cs typeface="Arial"/>
              </a:rPr>
              <a:t> </a:t>
            </a:r>
            <a:r>
              <a:rPr sz="1000" spc="-20" dirty="0">
                <a:latin typeface="Arial"/>
                <a:cs typeface="Arial"/>
              </a:rPr>
              <a:t>“mybucket.”</a:t>
            </a:r>
            <a:endParaRPr sz="1000" dirty="0">
              <a:latin typeface="Arial"/>
              <a:cs typeface="Arial"/>
            </a:endParaRPr>
          </a:p>
          <a:p>
            <a:pPr marL="264160">
              <a:lnSpc>
                <a:spcPct val="100000"/>
              </a:lnSpc>
              <a:spcBef>
                <a:spcPts val="685"/>
              </a:spcBef>
            </a:pPr>
            <a:r>
              <a:rPr sz="1200" spc="-10" dirty="0">
                <a:solidFill>
                  <a:srgbClr val="007C00"/>
                </a:solidFill>
                <a:latin typeface="Arial"/>
                <a:cs typeface="Arial"/>
              </a:rPr>
              <a:t>SOAP</a:t>
            </a:r>
            <a:endParaRPr sz="1200" dirty="0">
              <a:latin typeface="Arial"/>
              <a:cs typeface="Arial"/>
            </a:endParaRPr>
          </a:p>
          <a:p>
            <a:pPr marL="541655" marR="1927860" indent="-6350">
              <a:lnSpc>
                <a:spcPct val="100000"/>
              </a:lnSpc>
              <a:spcBef>
                <a:spcPts val="110"/>
              </a:spcBef>
            </a:pPr>
            <a:r>
              <a:rPr sz="1000" i="1" spc="65" dirty="0">
                <a:latin typeface="Times New Roman"/>
                <a:cs typeface="Times New Roman"/>
              </a:rPr>
              <a:t>import</a:t>
            </a:r>
            <a:r>
              <a:rPr sz="1000" i="1" spc="70" dirty="0">
                <a:latin typeface="Times New Roman"/>
                <a:cs typeface="Times New Roman"/>
              </a:rPr>
              <a:t> </a:t>
            </a:r>
            <a:r>
              <a:rPr sz="1000" i="1" spc="75" dirty="0">
                <a:latin typeface="Times New Roman"/>
                <a:cs typeface="Times New Roman"/>
              </a:rPr>
              <a:t>bucket </a:t>
            </a:r>
            <a:r>
              <a:rPr sz="1000" i="1" spc="80" dirty="0">
                <a:latin typeface="Times New Roman"/>
                <a:cs typeface="Times New Roman"/>
              </a:rPr>
              <a:t> </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245" dirty="0">
                <a:latin typeface="Times New Roman"/>
                <a:cs typeface="Times New Roman"/>
              </a:rPr>
              <a:t>.</a:t>
            </a:r>
            <a:r>
              <a:rPr sz="1000" i="1" spc="50" dirty="0">
                <a:latin typeface="Times New Roman"/>
                <a:cs typeface="Times New Roman"/>
              </a:rPr>
              <a:t>c</a:t>
            </a:r>
            <a:r>
              <a:rPr sz="1000" i="1" spc="105" dirty="0">
                <a:latin typeface="Times New Roman"/>
                <a:cs typeface="Times New Roman"/>
              </a:rPr>
              <a:t>r</a:t>
            </a:r>
            <a:r>
              <a:rPr sz="1000" i="1" spc="50" dirty="0">
                <a:latin typeface="Times New Roman"/>
                <a:cs typeface="Times New Roman"/>
              </a:rPr>
              <a:t>e</a:t>
            </a:r>
            <a:r>
              <a:rPr sz="1000" i="1" spc="-5" dirty="0">
                <a:latin typeface="Times New Roman"/>
                <a:cs typeface="Times New Roman"/>
              </a:rPr>
              <a:t>a</a:t>
            </a:r>
            <a:r>
              <a:rPr sz="1000" i="1" spc="215" dirty="0">
                <a:latin typeface="Times New Roman"/>
                <a:cs typeface="Times New Roman"/>
              </a:rPr>
              <a:t>t</a:t>
            </a:r>
            <a:r>
              <a:rPr sz="1000" i="1" spc="50" dirty="0">
                <a:latin typeface="Times New Roman"/>
                <a:cs typeface="Times New Roman"/>
              </a:rPr>
              <a:t>e</a:t>
            </a:r>
            <a:r>
              <a:rPr sz="1000" i="1" spc="160" dirty="0">
                <a:latin typeface="Times New Roman"/>
                <a:cs typeface="Times New Roman"/>
              </a:rPr>
              <a:t>(</a:t>
            </a:r>
            <a:r>
              <a:rPr sz="1000" i="1" spc="75" dirty="0">
                <a:latin typeface="Times New Roman"/>
                <a:cs typeface="Times New Roman"/>
              </a:rPr>
              <a:t>"</a:t>
            </a:r>
            <a:r>
              <a:rPr sz="1000" i="1" spc="-225" dirty="0">
                <a:latin typeface="Times New Roman"/>
                <a:cs typeface="Times New Roman"/>
              </a:rPr>
              <a:t>m</a:t>
            </a:r>
            <a:r>
              <a:rPr sz="1000" i="1" spc="50" dirty="0">
                <a:latin typeface="Times New Roman"/>
                <a:cs typeface="Times New Roman"/>
              </a:rPr>
              <a:t>y</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75" dirty="0">
                <a:latin typeface="Times New Roman"/>
                <a:cs typeface="Times New Roman"/>
              </a:rPr>
              <a:t>"</a:t>
            </a:r>
            <a:r>
              <a:rPr sz="1000" i="1" spc="260" dirty="0">
                <a:latin typeface="Times New Roman"/>
                <a:cs typeface="Times New Roman"/>
              </a:rPr>
              <a:t>)</a:t>
            </a:r>
            <a:endParaRPr sz="1000" dirty="0">
              <a:latin typeface="Times New Roman"/>
              <a:cs typeface="Times New Roman"/>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503332" y="716"/>
            <a:ext cx="10382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Resource-based architectures</a:t>
            </a:r>
            <a:endParaRPr sz="600">
              <a:latin typeface="Arial"/>
              <a:cs typeface="Arial"/>
            </a:endParaRPr>
          </a:p>
        </p:txBody>
      </p:sp>
      <p:sp>
        <p:nvSpPr>
          <p:cNvPr id="4" name="object 4"/>
          <p:cNvSpPr txBox="1"/>
          <p:nvPr/>
        </p:nvSpPr>
        <p:spPr>
          <a:xfrm>
            <a:off x="95300" y="188846"/>
            <a:ext cx="4072254" cy="2169160"/>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On</a:t>
            </a:r>
            <a:r>
              <a:rPr sz="1400" spc="-40" dirty="0">
                <a:solidFill>
                  <a:srgbClr val="3333B2"/>
                </a:solidFill>
                <a:latin typeface="Arial"/>
                <a:cs typeface="Arial"/>
              </a:rPr>
              <a:t> </a:t>
            </a:r>
            <a:r>
              <a:rPr sz="1400" spc="10" dirty="0">
                <a:solidFill>
                  <a:srgbClr val="3333B2"/>
                </a:solidFill>
                <a:latin typeface="Arial"/>
                <a:cs typeface="Arial"/>
              </a:rPr>
              <a:t>interfaces</a:t>
            </a:r>
            <a:endParaRPr sz="1400" dirty="0">
              <a:latin typeface="Arial"/>
              <a:cs typeface="Arial"/>
            </a:endParaRPr>
          </a:p>
          <a:p>
            <a:pPr>
              <a:lnSpc>
                <a:spcPct val="100000"/>
              </a:lnSpc>
            </a:pPr>
            <a:endParaRPr sz="2050" dirty="0">
              <a:latin typeface="Arial"/>
              <a:cs typeface="Arial"/>
            </a:endParaRPr>
          </a:p>
          <a:p>
            <a:pPr marL="264160">
              <a:lnSpc>
                <a:spcPct val="100000"/>
              </a:lnSpc>
            </a:pPr>
            <a:r>
              <a:rPr sz="1200" spc="-5" dirty="0">
                <a:solidFill>
                  <a:srgbClr val="3333B2"/>
                </a:solidFill>
                <a:latin typeface="Arial"/>
                <a:cs typeface="Arial"/>
              </a:rPr>
              <a:t>Simplifications</a:t>
            </a:r>
            <a:endParaRPr sz="1200" dirty="0">
              <a:latin typeface="Arial"/>
              <a:cs typeface="Arial"/>
            </a:endParaRPr>
          </a:p>
          <a:p>
            <a:pPr marL="264160" marR="5080" indent="-4445">
              <a:lnSpc>
                <a:spcPct val="100000"/>
              </a:lnSpc>
              <a:spcBef>
                <a:spcPts val="175"/>
              </a:spcBef>
            </a:pPr>
            <a:r>
              <a:rPr sz="1000" spc="-5" dirty="0">
                <a:latin typeface="Arial"/>
                <a:cs typeface="Arial"/>
              </a:rPr>
              <a:t>Assume an interface</a:t>
            </a:r>
            <a:r>
              <a:rPr sz="1000" spc="210" dirty="0">
                <a:latin typeface="Arial"/>
                <a:cs typeface="Arial"/>
              </a:rPr>
              <a:t> </a:t>
            </a:r>
            <a:r>
              <a:rPr sz="1000" spc="70" dirty="0">
                <a:latin typeface="Times New Roman"/>
                <a:cs typeface="Times New Roman"/>
              </a:rPr>
              <a:t>bucket</a:t>
            </a:r>
            <a:r>
              <a:rPr sz="1000" spc="-55" dirty="0">
                <a:latin typeface="Times New Roman"/>
                <a:cs typeface="Times New Roman"/>
              </a:rPr>
              <a:t> </a:t>
            </a:r>
            <a:r>
              <a:rPr sz="1000" spc="-5" dirty="0">
                <a:latin typeface="Arial"/>
                <a:cs typeface="Arial"/>
              </a:rPr>
              <a:t>offering</a:t>
            </a:r>
            <a:r>
              <a:rPr sz="1000" dirty="0">
                <a:latin typeface="Arial"/>
                <a:cs typeface="Arial"/>
              </a:rPr>
              <a:t> </a:t>
            </a:r>
            <a:r>
              <a:rPr sz="1000" spc="-5" dirty="0">
                <a:latin typeface="Arial"/>
                <a:cs typeface="Arial"/>
              </a:rPr>
              <a:t>an operation</a:t>
            </a:r>
            <a:r>
              <a:rPr sz="1000" spc="210" dirty="0">
                <a:latin typeface="Arial"/>
                <a:cs typeface="Arial"/>
              </a:rPr>
              <a:t> </a:t>
            </a:r>
            <a:r>
              <a:rPr sz="1000" spc="90" dirty="0">
                <a:latin typeface="Times New Roman"/>
                <a:cs typeface="Times New Roman"/>
              </a:rPr>
              <a:t>create</a:t>
            </a:r>
            <a:r>
              <a:rPr sz="1000" spc="90" dirty="0">
                <a:latin typeface="Arial"/>
                <a:cs typeface="Arial"/>
              </a:rPr>
              <a:t>,</a:t>
            </a:r>
            <a:r>
              <a:rPr sz="1000" spc="-5" dirty="0">
                <a:latin typeface="Arial"/>
                <a:cs typeface="Arial"/>
              </a:rPr>
              <a:t> requiring </a:t>
            </a:r>
            <a:r>
              <a:rPr sz="1000" spc="-26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input</a:t>
            </a:r>
            <a:r>
              <a:rPr sz="1000" dirty="0">
                <a:latin typeface="Arial"/>
                <a:cs typeface="Arial"/>
              </a:rPr>
              <a:t> string </a:t>
            </a:r>
            <a:r>
              <a:rPr sz="1000" spc="-5" dirty="0">
                <a:latin typeface="Arial"/>
                <a:cs typeface="Arial"/>
              </a:rPr>
              <a:t>such</a:t>
            </a:r>
            <a:r>
              <a:rPr sz="1000" dirty="0">
                <a:latin typeface="Arial"/>
                <a:cs typeface="Arial"/>
              </a:rPr>
              <a:t> </a:t>
            </a:r>
            <a:r>
              <a:rPr sz="1000" spc="-5" dirty="0">
                <a:latin typeface="Arial"/>
                <a:cs typeface="Arial"/>
              </a:rPr>
              <a:t>as</a:t>
            </a:r>
            <a:r>
              <a:rPr sz="1000" spc="215" dirty="0">
                <a:latin typeface="Arial"/>
                <a:cs typeface="Arial"/>
              </a:rPr>
              <a:t> </a:t>
            </a:r>
            <a:r>
              <a:rPr sz="1000" spc="5" dirty="0">
                <a:latin typeface="Times New Roman"/>
                <a:cs typeface="Times New Roman"/>
              </a:rPr>
              <a:t>mybucket</a:t>
            </a:r>
            <a:r>
              <a:rPr sz="1000" spc="5" dirty="0">
                <a:latin typeface="Arial"/>
                <a:cs typeface="Arial"/>
              </a:rPr>
              <a:t>,</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creating</a:t>
            </a:r>
            <a:r>
              <a:rPr sz="1000" dirty="0">
                <a:latin typeface="Arial"/>
                <a:cs typeface="Arial"/>
              </a:rPr>
              <a:t> </a:t>
            </a:r>
            <a:r>
              <a:rPr sz="1000" spc="-5" dirty="0">
                <a:latin typeface="Arial"/>
                <a:cs typeface="Arial"/>
              </a:rPr>
              <a:t>a</a:t>
            </a:r>
            <a:r>
              <a:rPr sz="1000" dirty="0">
                <a:latin typeface="Arial"/>
                <a:cs typeface="Arial"/>
              </a:rPr>
              <a:t> </a:t>
            </a:r>
            <a:r>
              <a:rPr sz="1000" spc="-15" dirty="0">
                <a:latin typeface="Arial"/>
                <a:cs typeface="Arial"/>
              </a:rPr>
              <a:t>bucket</a:t>
            </a:r>
            <a:r>
              <a:rPr sz="1000" dirty="0">
                <a:latin typeface="Arial"/>
                <a:cs typeface="Arial"/>
              </a:rPr>
              <a:t> </a:t>
            </a:r>
            <a:r>
              <a:rPr sz="1000" spc="-20" dirty="0">
                <a:latin typeface="Arial"/>
                <a:cs typeface="Arial"/>
              </a:rPr>
              <a:t>“mybucket.”</a:t>
            </a:r>
            <a:endParaRPr sz="1000" dirty="0">
              <a:latin typeface="Arial"/>
              <a:cs typeface="Arial"/>
            </a:endParaRPr>
          </a:p>
          <a:p>
            <a:pPr marL="264160">
              <a:lnSpc>
                <a:spcPct val="100000"/>
              </a:lnSpc>
              <a:spcBef>
                <a:spcPts val="685"/>
              </a:spcBef>
            </a:pPr>
            <a:r>
              <a:rPr sz="1200" spc="-10" dirty="0">
                <a:solidFill>
                  <a:srgbClr val="007C00"/>
                </a:solidFill>
                <a:latin typeface="Arial"/>
                <a:cs typeface="Arial"/>
              </a:rPr>
              <a:t>SOAP</a:t>
            </a:r>
            <a:endParaRPr sz="1200" dirty="0">
              <a:latin typeface="Arial"/>
              <a:cs typeface="Arial"/>
            </a:endParaRPr>
          </a:p>
          <a:p>
            <a:pPr marL="541655" marR="1927860" indent="-6350">
              <a:lnSpc>
                <a:spcPct val="100000"/>
              </a:lnSpc>
              <a:spcBef>
                <a:spcPts val="110"/>
              </a:spcBef>
            </a:pPr>
            <a:r>
              <a:rPr sz="1000" i="1" spc="65" dirty="0">
                <a:latin typeface="Times New Roman"/>
                <a:cs typeface="Times New Roman"/>
              </a:rPr>
              <a:t>import</a:t>
            </a:r>
            <a:r>
              <a:rPr sz="1000" i="1" spc="70" dirty="0">
                <a:latin typeface="Times New Roman"/>
                <a:cs typeface="Times New Roman"/>
              </a:rPr>
              <a:t> </a:t>
            </a:r>
            <a:r>
              <a:rPr sz="1000" i="1" spc="75" dirty="0">
                <a:latin typeface="Times New Roman"/>
                <a:cs typeface="Times New Roman"/>
              </a:rPr>
              <a:t>bucket </a:t>
            </a:r>
            <a:r>
              <a:rPr sz="1000" i="1" spc="80" dirty="0">
                <a:latin typeface="Times New Roman"/>
                <a:cs typeface="Times New Roman"/>
              </a:rPr>
              <a:t> </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245" dirty="0">
                <a:latin typeface="Times New Roman"/>
                <a:cs typeface="Times New Roman"/>
              </a:rPr>
              <a:t>.</a:t>
            </a:r>
            <a:r>
              <a:rPr sz="1000" i="1" spc="50" dirty="0">
                <a:latin typeface="Times New Roman"/>
                <a:cs typeface="Times New Roman"/>
              </a:rPr>
              <a:t>c</a:t>
            </a:r>
            <a:r>
              <a:rPr sz="1000" i="1" spc="105" dirty="0">
                <a:latin typeface="Times New Roman"/>
                <a:cs typeface="Times New Roman"/>
              </a:rPr>
              <a:t>r</a:t>
            </a:r>
            <a:r>
              <a:rPr sz="1000" i="1" spc="50" dirty="0">
                <a:latin typeface="Times New Roman"/>
                <a:cs typeface="Times New Roman"/>
              </a:rPr>
              <a:t>e</a:t>
            </a:r>
            <a:r>
              <a:rPr sz="1000" i="1" spc="-5" dirty="0">
                <a:latin typeface="Times New Roman"/>
                <a:cs typeface="Times New Roman"/>
              </a:rPr>
              <a:t>a</a:t>
            </a:r>
            <a:r>
              <a:rPr sz="1000" i="1" spc="215" dirty="0">
                <a:latin typeface="Times New Roman"/>
                <a:cs typeface="Times New Roman"/>
              </a:rPr>
              <a:t>t</a:t>
            </a:r>
            <a:r>
              <a:rPr sz="1000" i="1" spc="50" dirty="0">
                <a:latin typeface="Times New Roman"/>
                <a:cs typeface="Times New Roman"/>
              </a:rPr>
              <a:t>e</a:t>
            </a:r>
            <a:r>
              <a:rPr sz="1000" i="1" spc="160" dirty="0">
                <a:latin typeface="Times New Roman"/>
                <a:cs typeface="Times New Roman"/>
              </a:rPr>
              <a:t>(</a:t>
            </a:r>
            <a:r>
              <a:rPr sz="1000" i="1" spc="75" dirty="0">
                <a:latin typeface="Times New Roman"/>
                <a:cs typeface="Times New Roman"/>
              </a:rPr>
              <a:t>"</a:t>
            </a:r>
            <a:r>
              <a:rPr sz="1000" i="1" spc="-225" dirty="0">
                <a:latin typeface="Times New Roman"/>
                <a:cs typeface="Times New Roman"/>
              </a:rPr>
              <a:t>m</a:t>
            </a:r>
            <a:r>
              <a:rPr sz="1000" i="1" spc="50" dirty="0">
                <a:latin typeface="Times New Roman"/>
                <a:cs typeface="Times New Roman"/>
              </a:rPr>
              <a:t>y</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75" dirty="0">
                <a:latin typeface="Times New Roman"/>
                <a:cs typeface="Times New Roman"/>
              </a:rPr>
              <a:t>"</a:t>
            </a:r>
            <a:r>
              <a:rPr sz="1000" i="1" spc="260" dirty="0">
                <a:latin typeface="Times New Roman"/>
                <a:cs typeface="Times New Roman"/>
              </a:rPr>
              <a:t>)</a:t>
            </a:r>
            <a:endParaRPr sz="1000" dirty="0">
              <a:latin typeface="Times New Roman"/>
              <a:cs typeface="Times New Roman"/>
            </a:endParaRPr>
          </a:p>
          <a:p>
            <a:pPr>
              <a:lnSpc>
                <a:spcPct val="100000"/>
              </a:lnSpc>
            </a:pPr>
            <a:endParaRPr sz="1250" dirty="0">
              <a:latin typeface="Times New Roman"/>
              <a:cs typeface="Times New Roman"/>
            </a:endParaRPr>
          </a:p>
          <a:p>
            <a:pPr marL="264160">
              <a:lnSpc>
                <a:spcPct val="100000"/>
              </a:lnSpc>
            </a:pPr>
            <a:r>
              <a:rPr sz="1200" spc="-5" dirty="0">
                <a:solidFill>
                  <a:srgbClr val="007C00"/>
                </a:solidFill>
                <a:latin typeface="Arial"/>
                <a:cs typeface="Arial"/>
              </a:rPr>
              <a:t>RESTful</a:t>
            </a:r>
            <a:endParaRPr sz="1200" dirty="0">
              <a:latin typeface="Arial"/>
              <a:cs typeface="Arial"/>
            </a:endParaRPr>
          </a:p>
          <a:p>
            <a:pPr marL="535305">
              <a:lnSpc>
                <a:spcPct val="100000"/>
              </a:lnSpc>
              <a:spcBef>
                <a:spcPts val="80"/>
              </a:spcBef>
            </a:pPr>
            <a:r>
              <a:rPr sz="1000" i="1" spc="-100" dirty="0">
                <a:latin typeface="Times New Roman"/>
                <a:cs typeface="Times New Roman"/>
              </a:rPr>
              <a:t>PUT</a:t>
            </a:r>
            <a:r>
              <a:rPr sz="1000" i="1" spc="10" dirty="0">
                <a:latin typeface="Times New Roman"/>
                <a:cs typeface="Times New Roman"/>
              </a:rPr>
              <a:t> </a:t>
            </a:r>
            <a:r>
              <a:rPr sz="1000" i="1" spc="65" dirty="0">
                <a:latin typeface="Times New Roman"/>
                <a:cs typeface="Times New Roman"/>
              </a:rPr>
              <a:t>"</a:t>
            </a:r>
            <a:r>
              <a:rPr sz="1000" i="1" spc="65" dirty="0">
                <a:latin typeface="Times New Roman"/>
                <a:cs typeface="Times New Roman"/>
                <a:hlinkClick r:id="rId5"/>
              </a:rPr>
              <a:t>http://mybucket.s3.amazonsws.com/</a:t>
            </a:r>
            <a:r>
              <a:rPr sz="1000" i="1" spc="65" dirty="0">
                <a:latin typeface="Times New Roman"/>
                <a:cs typeface="Times New Roman"/>
              </a:rPr>
              <a:t>"</a:t>
            </a:r>
            <a:endParaRPr sz="1000" dirty="0">
              <a:latin typeface="Times New Roman"/>
              <a:cs typeface="Times New Roman"/>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503332" y="716"/>
            <a:ext cx="10382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Resource-based architectures</a:t>
            </a:r>
            <a:endParaRPr sz="600">
              <a:latin typeface="Arial"/>
              <a:cs typeface="Arial"/>
            </a:endParaRPr>
          </a:p>
        </p:txBody>
      </p:sp>
      <p:sp>
        <p:nvSpPr>
          <p:cNvPr id="4" name="object 4"/>
          <p:cNvSpPr txBox="1"/>
          <p:nvPr/>
        </p:nvSpPr>
        <p:spPr>
          <a:xfrm>
            <a:off x="95300" y="188846"/>
            <a:ext cx="4072254" cy="26828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On</a:t>
            </a:r>
            <a:r>
              <a:rPr sz="1400" spc="-40" dirty="0">
                <a:solidFill>
                  <a:srgbClr val="3333B2"/>
                </a:solidFill>
                <a:latin typeface="Arial"/>
                <a:cs typeface="Arial"/>
              </a:rPr>
              <a:t> </a:t>
            </a:r>
            <a:r>
              <a:rPr sz="1400" spc="10" dirty="0">
                <a:solidFill>
                  <a:srgbClr val="3333B2"/>
                </a:solidFill>
                <a:latin typeface="Arial"/>
                <a:cs typeface="Arial"/>
              </a:rPr>
              <a:t>interfaces</a:t>
            </a:r>
            <a:endParaRPr sz="1400">
              <a:latin typeface="Arial"/>
              <a:cs typeface="Arial"/>
            </a:endParaRPr>
          </a:p>
          <a:p>
            <a:pPr>
              <a:lnSpc>
                <a:spcPct val="100000"/>
              </a:lnSpc>
            </a:pPr>
            <a:endParaRPr sz="2050">
              <a:latin typeface="Arial"/>
              <a:cs typeface="Arial"/>
            </a:endParaRPr>
          </a:p>
          <a:p>
            <a:pPr marL="264160">
              <a:lnSpc>
                <a:spcPct val="100000"/>
              </a:lnSpc>
            </a:pPr>
            <a:r>
              <a:rPr sz="1200" spc="-5" dirty="0">
                <a:solidFill>
                  <a:srgbClr val="3333B2"/>
                </a:solidFill>
                <a:latin typeface="Arial"/>
                <a:cs typeface="Arial"/>
              </a:rPr>
              <a:t>Simplifications</a:t>
            </a:r>
            <a:endParaRPr sz="1200">
              <a:latin typeface="Arial"/>
              <a:cs typeface="Arial"/>
            </a:endParaRPr>
          </a:p>
          <a:p>
            <a:pPr marL="264160" marR="5080" indent="-4445">
              <a:lnSpc>
                <a:spcPct val="100000"/>
              </a:lnSpc>
              <a:spcBef>
                <a:spcPts val="175"/>
              </a:spcBef>
            </a:pPr>
            <a:r>
              <a:rPr sz="1000" spc="-5" dirty="0">
                <a:latin typeface="Arial"/>
                <a:cs typeface="Arial"/>
              </a:rPr>
              <a:t>Assume an interface</a:t>
            </a:r>
            <a:r>
              <a:rPr sz="1000" spc="210" dirty="0">
                <a:latin typeface="Arial"/>
                <a:cs typeface="Arial"/>
              </a:rPr>
              <a:t> </a:t>
            </a:r>
            <a:r>
              <a:rPr sz="1000" spc="70" dirty="0">
                <a:latin typeface="Times New Roman"/>
                <a:cs typeface="Times New Roman"/>
              </a:rPr>
              <a:t>bucket</a:t>
            </a:r>
            <a:r>
              <a:rPr sz="1000" spc="-55" dirty="0">
                <a:latin typeface="Times New Roman"/>
                <a:cs typeface="Times New Roman"/>
              </a:rPr>
              <a:t> </a:t>
            </a:r>
            <a:r>
              <a:rPr sz="1000" spc="-5" dirty="0">
                <a:latin typeface="Arial"/>
                <a:cs typeface="Arial"/>
              </a:rPr>
              <a:t>offering</a:t>
            </a:r>
            <a:r>
              <a:rPr sz="1000" dirty="0">
                <a:latin typeface="Arial"/>
                <a:cs typeface="Arial"/>
              </a:rPr>
              <a:t> </a:t>
            </a:r>
            <a:r>
              <a:rPr sz="1000" spc="-5" dirty="0">
                <a:latin typeface="Arial"/>
                <a:cs typeface="Arial"/>
              </a:rPr>
              <a:t>an operation</a:t>
            </a:r>
            <a:r>
              <a:rPr sz="1000" spc="210" dirty="0">
                <a:latin typeface="Arial"/>
                <a:cs typeface="Arial"/>
              </a:rPr>
              <a:t> </a:t>
            </a:r>
            <a:r>
              <a:rPr sz="1000" spc="90" dirty="0">
                <a:latin typeface="Times New Roman"/>
                <a:cs typeface="Times New Roman"/>
              </a:rPr>
              <a:t>create</a:t>
            </a:r>
            <a:r>
              <a:rPr sz="1000" spc="90" dirty="0">
                <a:latin typeface="Arial"/>
                <a:cs typeface="Arial"/>
              </a:rPr>
              <a:t>,</a:t>
            </a:r>
            <a:r>
              <a:rPr sz="1000" spc="-5" dirty="0">
                <a:latin typeface="Arial"/>
                <a:cs typeface="Arial"/>
              </a:rPr>
              <a:t> requiring </a:t>
            </a:r>
            <a:r>
              <a:rPr sz="1000" spc="-26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input</a:t>
            </a:r>
            <a:r>
              <a:rPr sz="1000" dirty="0">
                <a:latin typeface="Arial"/>
                <a:cs typeface="Arial"/>
              </a:rPr>
              <a:t> string </a:t>
            </a:r>
            <a:r>
              <a:rPr sz="1000" spc="-5" dirty="0">
                <a:latin typeface="Arial"/>
                <a:cs typeface="Arial"/>
              </a:rPr>
              <a:t>such</a:t>
            </a:r>
            <a:r>
              <a:rPr sz="1000" dirty="0">
                <a:latin typeface="Arial"/>
                <a:cs typeface="Arial"/>
              </a:rPr>
              <a:t> </a:t>
            </a:r>
            <a:r>
              <a:rPr sz="1000" spc="-5" dirty="0">
                <a:latin typeface="Arial"/>
                <a:cs typeface="Arial"/>
              </a:rPr>
              <a:t>as</a:t>
            </a:r>
            <a:r>
              <a:rPr sz="1000" spc="215" dirty="0">
                <a:latin typeface="Arial"/>
                <a:cs typeface="Arial"/>
              </a:rPr>
              <a:t> </a:t>
            </a:r>
            <a:r>
              <a:rPr sz="1000" spc="5" dirty="0">
                <a:latin typeface="Times New Roman"/>
                <a:cs typeface="Times New Roman"/>
              </a:rPr>
              <a:t>mybucket</a:t>
            </a:r>
            <a:r>
              <a:rPr sz="1000" spc="5" dirty="0">
                <a:latin typeface="Arial"/>
                <a:cs typeface="Arial"/>
              </a:rPr>
              <a:t>,</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creating</a:t>
            </a:r>
            <a:r>
              <a:rPr sz="1000" dirty="0">
                <a:latin typeface="Arial"/>
                <a:cs typeface="Arial"/>
              </a:rPr>
              <a:t> </a:t>
            </a:r>
            <a:r>
              <a:rPr sz="1000" spc="-5" dirty="0">
                <a:latin typeface="Arial"/>
                <a:cs typeface="Arial"/>
              </a:rPr>
              <a:t>a</a:t>
            </a:r>
            <a:r>
              <a:rPr sz="1000" dirty="0">
                <a:latin typeface="Arial"/>
                <a:cs typeface="Arial"/>
              </a:rPr>
              <a:t> </a:t>
            </a:r>
            <a:r>
              <a:rPr sz="1000" spc="-15" dirty="0">
                <a:latin typeface="Arial"/>
                <a:cs typeface="Arial"/>
              </a:rPr>
              <a:t>bucket</a:t>
            </a:r>
            <a:r>
              <a:rPr sz="1000" dirty="0">
                <a:latin typeface="Arial"/>
                <a:cs typeface="Arial"/>
              </a:rPr>
              <a:t> </a:t>
            </a:r>
            <a:r>
              <a:rPr sz="1000" spc="-20" dirty="0">
                <a:latin typeface="Arial"/>
                <a:cs typeface="Arial"/>
              </a:rPr>
              <a:t>“mybucket.”</a:t>
            </a:r>
            <a:endParaRPr sz="1000">
              <a:latin typeface="Arial"/>
              <a:cs typeface="Arial"/>
            </a:endParaRPr>
          </a:p>
          <a:p>
            <a:pPr marL="264160">
              <a:lnSpc>
                <a:spcPct val="100000"/>
              </a:lnSpc>
              <a:spcBef>
                <a:spcPts val="685"/>
              </a:spcBef>
            </a:pPr>
            <a:r>
              <a:rPr sz="1200" spc="-10" dirty="0">
                <a:solidFill>
                  <a:srgbClr val="007C00"/>
                </a:solidFill>
                <a:latin typeface="Arial"/>
                <a:cs typeface="Arial"/>
              </a:rPr>
              <a:t>SOAP</a:t>
            </a:r>
            <a:endParaRPr sz="1200">
              <a:latin typeface="Arial"/>
              <a:cs typeface="Arial"/>
            </a:endParaRPr>
          </a:p>
          <a:p>
            <a:pPr marL="541655" marR="1927860" indent="-6350">
              <a:lnSpc>
                <a:spcPct val="100000"/>
              </a:lnSpc>
              <a:spcBef>
                <a:spcPts val="110"/>
              </a:spcBef>
            </a:pPr>
            <a:r>
              <a:rPr sz="1000" i="1" spc="65" dirty="0">
                <a:latin typeface="Times New Roman"/>
                <a:cs typeface="Times New Roman"/>
              </a:rPr>
              <a:t>import</a:t>
            </a:r>
            <a:r>
              <a:rPr sz="1000" i="1" spc="70" dirty="0">
                <a:latin typeface="Times New Roman"/>
                <a:cs typeface="Times New Roman"/>
              </a:rPr>
              <a:t> </a:t>
            </a:r>
            <a:r>
              <a:rPr sz="1000" i="1" spc="75" dirty="0">
                <a:latin typeface="Times New Roman"/>
                <a:cs typeface="Times New Roman"/>
              </a:rPr>
              <a:t>bucket </a:t>
            </a:r>
            <a:r>
              <a:rPr sz="1000" i="1" spc="80" dirty="0">
                <a:latin typeface="Times New Roman"/>
                <a:cs typeface="Times New Roman"/>
              </a:rPr>
              <a:t> </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245" dirty="0">
                <a:latin typeface="Times New Roman"/>
                <a:cs typeface="Times New Roman"/>
              </a:rPr>
              <a:t>.</a:t>
            </a:r>
            <a:r>
              <a:rPr sz="1000" i="1" spc="50" dirty="0">
                <a:latin typeface="Times New Roman"/>
                <a:cs typeface="Times New Roman"/>
              </a:rPr>
              <a:t>c</a:t>
            </a:r>
            <a:r>
              <a:rPr sz="1000" i="1" spc="105" dirty="0">
                <a:latin typeface="Times New Roman"/>
                <a:cs typeface="Times New Roman"/>
              </a:rPr>
              <a:t>r</a:t>
            </a:r>
            <a:r>
              <a:rPr sz="1000" i="1" spc="50" dirty="0">
                <a:latin typeface="Times New Roman"/>
                <a:cs typeface="Times New Roman"/>
              </a:rPr>
              <a:t>e</a:t>
            </a:r>
            <a:r>
              <a:rPr sz="1000" i="1" spc="-5" dirty="0">
                <a:latin typeface="Times New Roman"/>
                <a:cs typeface="Times New Roman"/>
              </a:rPr>
              <a:t>a</a:t>
            </a:r>
            <a:r>
              <a:rPr sz="1000" i="1" spc="215" dirty="0">
                <a:latin typeface="Times New Roman"/>
                <a:cs typeface="Times New Roman"/>
              </a:rPr>
              <a:t>t</a:t>
            </a:r>
            <a:r>
              <a:rPr sz="1000" i="1" spc="50" dirty="0">
                <a:latin typeface="Times New Roman"/>
                <a:cs typeface="Times New Roman"/>
              </a:rPr>
              <a:t>e</a:t>
            </a:r>
            <a:r>
              <a:rPr sz="1000" i="1" spc="160" dirty="0">
                <a:latin typeface="Times New Roman"/>
                <a:cs typeface="Times New Roman"/>
              </a:rPr>
              <a:t>(</a:t>
            </a:r>
            <a:r>
              <a:rPr sz="1000" i="1" spc="75" dirty="0">
                <a:latin typeface="Times New Roman"/>
                <a:cs typeface="Times New Roman"/>
              </a:rPr>
              <a:t>"</a:t>
            </a:r>
            <a:r>
              <a:rPr sz="1000" i="1" spc="-225" dirty="0">
                <a:latin typeface="Times New Roman"/>
                <a:cs typeface="Times New Roman"/>
              </a:rPr>
              <a:t>m</a:t>
            </a:r>
            <a:r>
              <a:rPr sz="1000" i="1" spc="50" dirty="0">
                <a:latin typeface="Times New Roman"/>
                <a:cs typeface="Times New Roman"/>
              </a:rPr>
              <a:t>y</a:t>
            </a:r>
            <a:r>
              <a:rPr sz="1000" i="1" spc="-5" dirty="0">
                <a:latin typeface="Times New Roman"/>
                <a:cs typeface="Times New Roman"/>
              </a:rPr>
              <a:t>bu</a:t>
            </a:r>
            <a:r>
              <a:rPr sz="1000" i="1" spc="50" dirty="0">
                <a:latin typeface="Times New Roman"/>
                <a:cs typeface="Times New Roman"/>
              </a:rPr>
              <a:t>cke</a:t>
            </a:r>
            <a:r>
              <a:rPr sz="1000" i="1" spc="215" dirty="0">
                <a:latin typeface="Times New Roman"/>
                <a:cs typeface="Times New Roman"/>
              </a:rPr>
              <a:t>t</a:t>
            </a:r>
            <a:r>
              <a:rPr sz="1000" i="1" spc="75" dirty="0">
                <a:latin typeface="Times New Roman"/>
                <a:cs typeface="Times New Roman"/>
              </a:rPr>
              <a:t>"</a:t>
            </a:r>
            <a:r>
              <a:rPr sz="1000" i="1" spc="260" dirty="0">
                <a:latin typeface="Times New Roman"/>
                <a:cs typeface="Times New Roman"/>
              </a:rPr>
              <a:t>)</a:t>
            </a:r>
            <a:endParaRPr sz="1000">
              <a:latin typeface="Times New Roman"/>
              <a:cs typeface="Times New Roman"/>
            </a:endParaRPr>
          </a:p>
          <a:p>
            <a:pPr>
              <a:lnSpc>
                <a:spcPct val="100000"/>
              </a:lnSpc>
            </a:pPr>
            <a:endParaRPr sz="1250">
              <a:latin typeface="Times New Roman"/>
              <a:cs typeface="Times New Roman"/>
            </a:endParaRPr>
          </a:p>
          <a:p>
            <a:pPr marL="264160">
              <a:lnSpc>
                <a:spcPct val="100000"/>
              </a:lnSpc>
            </a:pPr>
            <a:r>
              <a:rPr sz="1200" spc="-5" dirty="0">
                <a:solidFill>
                  <a:srgbClr val="007C00"/>
                </a:solidFill>
                <a:latin typeface="Arial"/>
                <a:cs typeface="Arial"/>
              </a:rPr>
              <a:t>RESTful</a:t>
            </a:r>
            <a:endParaRPr sz="1200">
              <a:latin typeface="Arial"/>
              <a:cs typeface="Arial"/>
            </a:endParaRPr>
          </a:p>
          <a:p>
            <a:pPr marL="535305">
              <a:lnSpc>
                <a:spcPct val="100000"/>
              </a:lnSpc>
              <a:spcBef>
                <a:spcPts val="80"/>
              </a:spcBef>
            </a:pPr>
            <a:r>
              <a:rPr sz="1000" i="1" spc="-100" dirty="0">
                <a:latin typeface="Times New Roman"/>
                <a:cs typeface="Times New Roman"/>
              </a:rPr>
              <a:t>PUT</a:t>
            </a:r>
            <a:r>
              <a:rPr sz="1000" i="1" spc="10" dirty="0">
                <a:latin typeface="Times New Roman"/>
                <a:cs typeface="Times New Roman"/>
              </a:rPr>
              <a:t> </a:t>
            </a:r>
            <a:r>
              <a:rPr sz="1000" i="1" spc="65" dirty="0">
                <a:latin typeface="Times New Roman"/>
                <a:cs typeface="Times New Roman"/>
              </a:rPr>
              <a:t>"</a:t>
            </a:r>
            <a:r>
              <a:rPr sz="1000" i="1" spc="65" dirty="0">
                <a:latin typeface="Times New Roman"/>
                <a:cs typeface="Times New Roman"/>
                <a:hlinkClick r:id="rId5"/>
              </a:rPr>
              <a:t>http://mybucket.s3.amazonsws.com/</a:t>
            </a:r>
            <a:r>
              <a:rPr sz="1000" i="1" spc="65" dirty="0">
                <a:latin typeface="Times New Roman"/>
                <a:cs typeface="Times New Roman"/>
              </a:rPr>
              <a:t>"</a:t>
            </a:r>
            <a:endParaRPr sz="1000">
              <a:latin typeface="Times New Roman"/>
              <a:cs typeface="Times New Roman"/>
            </a:endParaRPr>
          </a:p>
          <a:p>
            <a:pPr>
              <a:lnSpc>
                <a:spcPct val="100000"/>
              </a:lnSpc>
              <a:spcBef>
                <a:spcPts val="5"/>
              </a:spcBef>
            </a:pPr>
            <a:endParaRPr sz="1250">
              <a:latin typeface="Times New Roman"/>
              <a:cs typeface="Times New Roman"/>
            </a:endParaRPr>
          </a:p>
          <a:p>
            <a:pPr marL="264160">
              <a:lnSpc>
                <a:spcPts val="1420"/>
              </a:lnSpc>
              <a:spcBef>
                <a:spcPts val="5"/>
              </a:spcBef>
            </a:pPr>
            <a:r>
              <a:rPr sz="1200" spc="-5" dirty="0">
                <a:solidFill>
                  <a:srgbClr val="3333B2"/>
                </a:solidFill>
                <a:latin typeface="Arial"/>
                <a:cs typeface="Arial"/>
              </a:rPr>
              <a:t>Conclusions</a:t>
            </a:r>
            <a:endParaRPr sz="1200">
              <a:latin typeface="Arial"/>
              <a:cs typeface="Arial"/>
            </a:endParaRPr>
          </a:p>
          <a:p>
            <a:pPr marL="260350">
              <a:lnSpc>
                <a:spcPts val="1180"/>
              </a:lnSpc>
            </a:pPr>
            <a:r>
              <a:rPr sz="1000" spc="-5" dirty="0">
                <a:latin typeface="Arial"/>
                <a:cs typeface="Arial"/>
              </a:rPr>
              <a:t>Are</a:t>
            </a:r>
            <a:r>
              <a:rPr sz="1000" spc="-15" dirty="0">
                <a:latin typeface="Arial"/>
                <a:cs typeface="Arial"/>
              </a:rPr>
              <a:t> </a:t>
            </a:r>
            <a:r>
              <a:rPr sz="1000" spc="-5" dirty="0">
                <a:latin typeface="Arial"/>
                <a:cs typeface="Arial"/>
              </a:rPr>
              <a:t>there</a:t>
            </a:r>
            <a:r>
              <a:rPr sz="1000" spc="-15" dirty="0">
                <a:latin typeface="Arial"/>
                <a:cs typeface="Arial"/>
              </a:rPr>
              <a:t> </a:t>
            </a:r>
            <a:r>
              <a:rPr sz="1000" spc="-10" dirty="0">
                <a:latin typeface="Arial"/>
                <a:cs typeface="Arial"/>
              </a:rPr>
              <a:t>any</a:t>
            </a:r>
            <a:r>
              <a:rPr sz="1000" spc="-15" dirty="0">
                <a:latin typeface="Arial"/>
                <a:cs typeface="Arial"/>
              </a:rPr>
              <a:t> </a:t>
            </a:r>
            <a:r>
              <a:rPr sz="1000" spc="-5" dirty="0">
                <a:latin typeface="Arial"/>
                <a:cs typeface="Arial"/>
              </a:rPr>
              <a:t>to</a:t>
            </a:r>
            <a:r>
              <a:rPr sz="1000" spc="-15" dirty="0">
                <a:latin typeface="Arial"/>
                <a:cs typeface="Arial"/>
              </a:rPr>
              <a:t> </a:t>
            </a:r>
            <a:r>
              <a:rPr sz="1000" spc="-10" dirty="0">
                <a:latin typeface="Arial"/>
                <a:cs typeface="Arial"/>
              </a:rPr>
              <a:t>draw?</a:t>
            </a:r>
            <a:endParaRPr sz="10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461579" y="716"/>
            <a:ext cx="10801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Publish-subscribe architectures</a:t>
            </a:r>
            <a:endParaRPr sz="600">
              <a:latin typeface="Arial"/>
              <a:cs typeface="Arial"/>
            </a:endParaRPr>
          </a:p>
        </p:txBody>
      </p:sp>
      <p:sp>
        <p:nvSpPr>
          <p:cNvPr id="4" name="object 4"/>
          <p:cNvSpPr txBox="1"/>
          <p:nvPr/>
        </p:nvSpPr>
        <p:spPr>
          <a:xfrm>
            <a:off x="95300" y="162640"/>
            <a:ext cx="2510155" cy="474345"/>
          </a:xfrm>
          <a:prstGeom prst="rect">
            <a:avLst/>
          </a:prstGeom>
        </p:spPr>
        <p:txBody>
          <a:bodyPr vert="horz" wrap="square" lIns="0" tIns="43180" rIns="0" bIns="0" rtlCol="0">
            <a:spAutoFit/>
          </a:bodyPr>
          <a:lstStyle/>
          <a:p>
            <a:pPr marL="12700">
              <a:lnSpc>
                <a:spcPct val="100000"/>
              </a:lnSpc>
              <a:spcBef>
                <a:spcPts val="340"/>
              </a:spcBef>
            </a:pPr>
            <a:r>
              <a:rPr sz="1400" spc="15" dirty="0">
                <a:solidFill>
                  <a:srgbClr val="3333B2"/>
                </a:solidFill>
                <a:latin typeface="Arial"/>
                <a:cs typeface="Arial"/>
              </a:rPr>
              <a:t>Coordination</a:t>
            </a:r>
            <a:endParaRPr sz="1400">
              <a:latin typeface="Arial"/>
              <a:cs typeface="Arial"/>
            </a:endParaRPr>
          </a:p>
          <a:p>
            <a:pPr marL="259715">
              <a:lnSpc>
                <a:spcPct val="100000"/>
              </a:lnSpc>
              <a:spcBef>
                <a:spcPts val="175"/>
              </a:spcBef>
            </a:pPr>
            <a:r>
              <a:rPr sz="1200" spc="-25" dirty="0">
                <a:solidFill>
                  <a:srgbClr val="3333B2"/>
                </a:solidFill>
                <a:latin typeface="Arial"/>
                <a:cs typeface="Arial"/>
              </a:rPr>
              <a:t>Temporal</a:t>
            </a:r>
            <a:r>
              <a:rPr sz="1200" spc="-10" dirty="0">
                <a:solidFill>
                  <a:srgbClr val="3333B2"/>
                </a:solidFill>
                <a:latin typeface="Arial"/>
                <a:cs typeface="Arial"/>
              </a:rPr>
              <a:t> </a:t>
            </a:r>
            <a:r>
              <a:rPr sz="1200" spc="-5" dirty="0">
                <a:solidFill>
                  <a:srgbClr val="3333B2"/>
                </a:solidFill>
                <a:latin typeface="Arial"/>
                <a:cs typeface="Arial"/>
              </a:rPr>
              <a:t>and </a:t>
            </a:r>
            <a:r>
              <a:rPr sz="1200" spc="-10" dirty="0">
                <a:solidFill>
                  <a:srgbClr val="3333B2"/>
                </a:solidFill>
                <a:latin typeface="Arial"/>
                <a:cs typeface="Arial"/>
              </a:rPr>
              <a:t>referential</a:t>
            </a:r>
            <a:r>
              <a:rPr sz="1200" spc="-5" dirty="0">
                <a:solidFill>
                  <a:srgbClr val="3333B2"/>
                </a:solidFill>
                <a:latin typeface="Arial"/>
                <a:cs typeface="Arial"/>
              </a:rPr>
              <a:t> coupling</a:t>
            </a:r>
            <a:endParaRPr sz="1200">
              <a:latin typeface="Arial"/>
              <a:cs typeface="Arial"/>
            </a:endParaRPr>
          </a:p>
        </p:txBody>
      </p:sp>
      <p:graphicFrame>
        <p:nvGraphicFramePr>
          <p:cNvPr id="5" name="object 5"/>
          <p:cNvGraphicFramePr>
            <a:graphicFrameLocks noGrp="1"/>
          </p:cNvGraphicFramePr>
          <p:nvPr/>
        </p:nvGraphicFramePr>
        <p:xfrm>
          <a:off x="1119911" y="750277"/>
          <a:ext cx="2362835" cy="863600"/>
        </p:xfrm>
        <a:graphic>
          <a:graphicData uri="http://schemas.openxmlformats.org/drawingml/2006/table">
            <a:tbl>
              <a:tblPr firstRow="1" bandRow="1">
                <a:tableStyleId>{2D5ABB26-0587-4C30-8999-92F81FD0307C}</a:tableStyleId>
              </a:tblPr>
              <a:tblGrid>
                <a:gridCol w="844550">
                  <a:extLst>
                    <a:ext uri="{9D8B030D-6E8A-4147-A177-3AD203B41FA5}">
                      <a16:colId xmlns:a16="http://schemas.microsoft.com/office/drawing/2014/main" val="20000"/>
                    </a:ext>
                  </a:extLst>
                </a:gridCol>
                <a:gridCol w="762635">
                  <a:extLst>
                    <a:ext uri="{9D8B030D-6E8A-4147-A177-3AD203B41FA5}">
                      <a16:colId xmlns:a16="http://schemas.microsoft.com/office/drawing/2014/main" val="20001"/>
                    </a:ext>
                  </a:extLst>
                </a:gridCol>
                <a:gridCol w="755650">
                  <a:extLst>
                    <a:ext uri="{9D8B030D-6E8A-4147-A177-3AD203B41FA5}">
                      <a16:colId xmlns:a16="http://schemas.microsoft.com/office/drawing/2014/main" val="20002"/>
                    </a:ext>
                  </a:extLst>
                </a:gridCol>
              </a:tblGrid>
              <a:tr h="290195">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19050">
                      <a:solidFill>
                        <a:srgbClr val="000000"/>
                      </a:solidFill>
                      <a:prstDash val="solid"/>
                    </a:lnB>
                  </a:tcPr>
                </a:tc>
                <a:tc>
                  <a:txBody>
                    <a:bodyPr/>
                    <a:lstStyle/>
                    <a:p>
                      <a:pPr marL="6350" algn="ctr">
                        <a:lnSpc>
                          <a:spcPts val="965"/>
                        </a:lnSpc>
                      </a:pPr>
                      <a:r>
                        <a:rPr sz="900" b="1" spc="-10" dirty="0">
                          <a:latin typeface="Arial"/>
                          <a:cs typeface="Arial"/>
                        </a:rPr>
                        <a:t>Temporally</a:t>
                      </a:r>
                      <a:endParaRPr sz="900">
                        <a:latin typeface="Arial"/>
                        <a:cs typeface="Arial"/>
                      </a:endParaRPr>
                    </a:p>
                    <a:p>
                      <a:pPr marL="6350" algn="ctr">
                        <a:lnSpc>
                          <a:spcPct val="100000"/>
                        </a:lnSpc>
                        <a:spcBef>
                          <a:spcPts val="15"/>
                        </a:spcBef>
                      </a:pPr>
                      <a:r>
                        <a:rPr sz="900" b="1" spc="-5" dirty="0">
                          <a:latin typeface="Arial"/>
                          <a:cs typeface="Arial"/>
                        </a:rPr>
                        <a:t>coupled</a:t>
                      </a:r>
                      <a:endParaRPr sz="9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965"/>
                        </a:lnSpc>
                      </a:pPr>
                      <a:r>
                        <a:rPr sz="900" b="1" spc="-10" dirty="0">
                          <a:latin typeface="Arial"/>
                          <a:cs typeface="Arial"/>
                        </a:rPr>
                        <a:t>Temporally</a:t>
                      </a:r>
                      <a:endParaRPr sz="900">
                        <a:latin typeface="Arial"/>
                        <a:cs typeface="Arial"/>
                      </a:endParaRPr>
                    </a:p>
                    <a:p>
                      <a:pPr marL="92710">
                        <a:lnSpc>
                          <a:spcPct val="100000"/>
                        </a:lnSpc>
                        <a:spcBef>
                          <a:spcPts val="15"/>
                        </a:spcBef>
                      </a:pPr>
                      <a:r>
                        <a:rPr sz="900" b="1" spc="-5" dirty="0">
                          <a:latin typeface="Arial"/>
                          <a:cs typeface="Arial"/>
                        </a:rPr>
                        <a:t>decoupled</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290195">
                <a:tc>
                  <a:txBody>
                    <a:bodyPr/>
                    <a:lstStyle/>
                    <a:p>
                      <a:pPr marR="77470" algn="r">
                        <a:lnSpc>
                          <a:spcPts val="1019"/>
                        </a:lnSpc>
                      </a:pPr>
                      <a:r>
                        <a:rPr sz="900" b="1" spc="-5" dirty="0">
                          <a:latin typeface="Arial"/>
                          <a:cs typeface="Arial"/>
                        </a:rPr>
                        <a:t>Referentially</a:t>
                      </a:r>
                      <a:endParaRPr sz="900">
                        <a:latin typeface="Arial"/>
                        <a:cs typeface="Arial"/>
                      </a:endParaRPr>
                    </a:p>
                    <a:p>
                      <a:pPr marR="77470" algn="r">
                        <a:lnSpc>
                          <a:spcPct val="100000"/>
                        </a:lnSpc>
                        <a:spcBef>
                          <a:spcPts val="15"/>
                        </a:spcBef>
                      </a:pPr>
                      <a:r>
                        <a:rPr sz="900" b="1" spc="-5" dirty="0">
                          <a:latin typeface="Arial"/>
                          <a:cs typeface="Arial"/>
                        </a:rPr>
                        <a:t>coupled</a:t>
                      </a:r>
                      <a:endParaRPr sz="900">
                        <a:latin typeface="Arial"/>
                        <a:cs typeface="Arial"/>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6350">
                      <a:solidFill>
                        <a:srgbClr val="000000"/>
                      </a:solidFill>
                      <a:prstDash val="solid"/>
                    </a:lnB>
                  </a:tcPr>
                </a:tc>
                <a:tc>
                  <a:txBody>
                    <a:bodyPr/>
                    <a:lstStyle/>
                    <a:p>
                      <a:pPr marL="236220">
                        <a:lnSpc>
                          <a:spcPts val="1019"/>
                        </a:lnSpc>
                      </a:pPr>
                      <a:r>
                        <a:rPr sz="900" spc="-5" dirty="0">
                          <a:latin typeface="Arial"/>
                          <a:cs typeface="Arial"/>
                        </a:rPr>
                        <a:t>Direct</a:t>
                      </a:r>
                      <a:endParaRPr sz="900">
                        <a:latin typeface="Arial"/>
                        <a:cs typeface="Arial"/>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182880">
                        <a:lnSpc>
                          <a:spcPts val="1019"/>
                        </a:lnSpc>
                      </a:pPr>
                      <a:r>
                        <a:rPr sz="900" spc="-10" dirty="0">
                          <a:latin typeface="Arial"/>
                          <a:cs typeface="Arial"/>
                        </a:rPr>
                        <a:t>Mailbox</a:t>
                      </a:r>
                      <a:endParaRPr sz="9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83210">
                <a:tc>
                  <a:txBody>
                    <a:bodyPr/>
                    <a:lstStyle/>
                    <a:p>
                      <a:pPr marR="77470" algn="r">
                        <a:lnSpc>
                          <a:spcPts val="965"/>
                        </a:lnSpc>
                      </a:pPr>
                      <a:r>
                        <a:rPr sz="900" b="1" spc="-5" dirty="0">
                          <a:latin typeface="Arial"/>
                          <a:cs typeface="Arial"/>
                        </a:rPr>
                        <a:t>Referentially</a:t>
                      </a:r>
                      <a:endParaRPr sz="900">
                        <a:latin typeface="Arial"/>
                        <a:cs typeface="Arial"/>
                      </a:endParaRPr>
                    </a:p>
                    <a:p>
                      <a:pPr marR="77470" algn="r">
                        <a:lnSpc>
                          <a:spcPct val="100000"/>
                        </a:lnSpc>
                        <a:spcBef>
                          <a:spcPts val="15"/>
                        </a:spcBef>
                      </a:pPr>
                      <a:r>
                        <a:rPr sz="900" b="1" spc="-5" dirty="0">
                          <a:latin typeface="Arial"/>
                          <a:cs typeface="Arial"/>
                        </a:rPr>
                        <a:t>decoupled</a:t>
                      </a:r>
                      <a:endParaRPr sz="900">
                        <a:latin typeface="Arial"/>
                        <a:cs typeface="Arial"/>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6350">
                      <a:solidFill>
                        <a:srgbClr val="000000"/>
                      </a:solidFill>
                      <a:prstDash val="solid"/>
                    </a:lnB>
                  </a:tcPr>
                </a:tc>
                <a:tc>
                  <a:txBody>
                    <a:bodyPr/>
                    <a:lstStyle/>
                    <a:p>
                      <a:pPr marL="221615">
                        <a:lnSpc>
                          <a:spcPts val="965"/>
                        </a:lnSpc>
                      </a:pPr>
                      <a:r>
                        <a:rPr sz="900" spc="-10" dirty="0">
                          <a:latin typeface="Arial"/>
                          <a:cs typeface="Arial"/>
                        </a:rPr>
                        <a:t>Event-</a:t>
                      </a:r>
                      <a:endParaRPr sz="900">
                        <a:latin typeface="Arial"/>
                        <a:cs typeface="Arial"/>
                      </a:endParaRPr>
                    </a:p>
                    <a:p>
                      <a:pPr marL="229235">
                        <a:lnSpc>
                          <a:spcPct val="100000"/>
                        </a:lnSpc>
                        <a:spcBef>
                          <a:spcPts val="15"/>
                        </a:spcBef>
                      </a:pPr>
                      <a:r>
                        <a:rPr sz="900" spc="-5" dirty="0">
                          <a:latin typeface="Arial"/>
                          <a:cs typeface="Arial"/>
                        </a:rPr>
                        <a:t>based</a:t>
                      </a:r>
                      <a:endParaRPr sz="9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65"/>
                        </a:lnSpc>
                      </a:pPr>
                      <a:r>
                        <a:rPr sz="900" spc="-5" dirty="0">
                          <a:latin typeface="Arial"/>
                          <a:cs typeface="Arial"/>
                        </a:rPr>
                        <a:t>Shared</a:t>
                      </a:r>
                      <a:endParaRPr sz="900">
                        <a:latin typeface="Arial"/>
                        <a:cs typeface="Arial"/>
                      </a:endParaRPr>
                    </a:p>
                    <a:p>
                      <a:pPr algn="ctr">
                        <a:lnSpc>
                          <a:spcPct val="100000"/>
                        </a:lnSpc>
                        <a:spcBef>
                          <a:spcPts val="15"/>
                        </a:spcBef>
                      </a:pPr>
                      <a:r>
                        <a:rPr sz="900" spc="-5" dirty="0">
                          <a:latin typeface="Arial"/>
                          <a:cs typeface="Arial"/>
                        </a:rPr>
                        <a:t>data</a:t>
                      </a:r>
                      <a:r>
                        <a:rPr sz="900" spc="-40" dirty="0">
                          <a:latin typeface="Arial"/>
                          <a:cs typeface="Arial"/>
                        </a:rPr>
                        <a:t> </a:t>
                      </a:r>
                      <a:r>
                        <a:rPr sz="900" spc="-5" dirty="0">
                          <a:latin typeface="Arial"/>
                          <a:cs typeface="Arial"/>
                        </a:rPr>
                        <a:t>space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347294" y="1796590"/>
            <a:ext cx="248666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Event-based </a:t>
            </a:r>
            <a:r>
              <a:rPr sz="1200" spc="-5" dirty="0">
                <a:solidFill>
                  <a:srgbClr val="3333B2"/>
                </a:solidFill>
                <a:latin typeface="Arial"/>
                <a:cs typeface="Arial"/>
              </a:rPr>
              <a:t>and Shared data space</a:t>
            </a:r>
            <a:endParaRPr sz="1200">
              <a:latin typeface="Arial"/>
              <a:cs typeface="Arial"/>
            </a:endParaRPr>
          </a:p>
        </p:txBody>
      </p:sp>
      <p:sp>
        <p:nvSpPr>
          <p:cNvPr id="7" name="object 7"/>
          <p:cNvSpPr txBox="1"/>
          <p:nvPr/>
        </p:nvSpPr>
        <p:spPr>
          <a:xfrm>
            <a:off x="548587" y="2478649"/>
            <a:ext cx="4006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Subscribe</a:t>
            </a:r>
            <a:endParaRPr sz="650">
              <a:latin typeface="Arial"/>
              <a:cs typeface="Arial"/>
            </a:endParaRPr>
          </a:p>
        </p:txBody>
      </p:sp>
      <p:grpSp>
        <p:nvGrpSpPr>
          <p:cNvPr id="8" name="object 8"/>
          <p:cNvGrpSpPr/>
          <p:nvPr/>
        </p:nvGrpSpPr>
        <p:grpSpPr>
          <a:xfrm>
            <a:off x="929090" y="2437724"/>
            <a:ext cx="815975" cy="257175"/>
            <a:chOff x="929090" y="2437724"/>
            <a:chExt cx="815975" cy="257175"/>
          </a:xfrm>
        </p:grpSpPr>
        <p:sp>
          <p:nvSpPr>
            <p:cNvPr id="9" name="object 9"/>
            <p:cNvSpPr/>
            <p:nvPr/>
          </p:nvSpPr>
          <p:spPr>
            <a:xfrm>
              <a:off x="960964" y="2440582"/>
              <a:ext cx="0" cy="216535"/>
            </a:xfrm>
            <a:custGeom>
              <a:avLst/>
              <a:gdLst/>
              <a:ahLst/>
              <a:cxnLst/>
              <a:rect l="l" t="t" r="r" b="b"/>
              <a:pathLst>
                <a:path h="216535">
                  <a:moveTo>
                    <a:pt x="0" y="0"/>
                  </a:moveTo>
                  <a:lnTo>
                    <a:pt x="0" y="216535"/>
                  </a:lnTo>
                </a:path>
              </a:pathLst>
            </a:custGeom>
            <a:ln w="5270">
              <a:solidFill>
                <a:srgbClr val="231F20"/>
              </a:solidFill>
              <a:prstDash val="lgDash"/>
            </a:ln>
          </p:spPr>
          <p:txBody>
            <a:bodyPr wrap="square" lIns="0" tIns="0" rIns="0" bIns="0" rtlCol="0"/>
            <a:lstStyle/>
            <a:p>
              <a:endParaRPr/>
            </a:p>
          </p:txBody>
        </p:sp>
        <p:sp>
          <p:nvSpPr>
            <p:cNvPr id="10" name="object 10"/>
            <p:cNvSpPr/>
            <p:nvPr/>
          </p:nvSpPr>
          <p:spPr>
            <a:xfrm>
              <a:off x="929090" y="2620120"/>
              <a:ext cx="64135" cy="74930"/>
            </a:xfrm>
            <a:custGeom>
              <a:avLst/>
              <a:gdLst/>
              <a:ahLst/>
              <a:cxnLst/>
              <a:rect l="l" t="t" r="r" b="b"/>
              <a:pathLst>
                <a:path w="64134" h="74930">
                  <a:moveTo>
                    <a:pt x="63747" y="0"/>
                  </a:moveTo>
                  <a:lnTo>
                    <a:pt x="47812" y="5976"/>
                  </a:lnTo>
                  <a:lnTo>
                    <a:pt x="31875" y="7968"/>
                  </a:lnTo>
                  <a:lnTo>
                    <a:pt x="15937" y="5976"/>
                  </a:lnTo>
                  <a:lnTo>
                    <a:pt x="0" y="0"/>
                  </a:lnTo>
                  <a:lnTo>
                    <a:pt x="31873" y="74376"/>
                  </a:lnTo>
                  <a:lnTo>
                    <a:pt x="63747" y="0"/>
                  </a:lnTo>
                  <a:close/>
                </a:path>
              </a:pathLst>
            </a:custGeom>
            <a:solidFill>
              <a:srgbClr val="231F20"/>
            </a:solidFill>
          </p:spPr>
          <p:txBody>
            <a:bodyPr wrap="square" lIns="0" tIns="0" rIns="0" bIns="0" rtlCol="0"/>
            <a:lstStyle/>
            <a:p>
              <a:endParaRPr/>
            </a:p>
          </p:txBody>
        </p:sp>
        <p:sp>
          <p:nvSpPr>
            <p:cNvPr id="11" name="object 11"/>
            <p:cNvSpPr/>
            <p:nvPr/>
          </p:nvSpPr>
          <p:spPr>
            <a:xfrm>
              <a:off x="1712588" y="2440582"/>
              <a:ext cx="0" cy="216535"/>
            </a:xfrm>
            <a:custGeom>
              <a:avLst/>
              <a:gdLst/>
              <a:ahLst/>
              <a:cxnLst/>
              <a:rect l="l" t="t" r="r" b="b"/>
              <a:pathLst>
                <a:path h="216535">
                  <a:moveTo>
                    <a:pt x="0" y="0"/>
                  </a:moveTo>
                  <a:lnTo>
                    <a:pt x="0" y="216535"/>
                  </a:lnTo>
                </a:path>
              </a:pathLst>
            </a:custGeom>
            <a:ln w="5270">
              <a:solidFill>
                <a:srgbClr val="231F20"/>
              </a:solidFill>
              <a:prstDash val="lgDash"/>
            </a:ln>
          </p:spPr>
          <p:txBody>
            <a:bodyPr wrap="square" lIns="0" tIns="0" rIns="0" bIns="0" rtlCol="0"/>
            <a:lstStyle/>
            <a:p>
              <a:endParaRPr/>
            </a:p>
          </p:txBody>
        </p:sp>
        <p:sp>
          <p:nvSpPr>
            <p:cNvPr id="12" name="object 12"/>
            <p:cNvSpPr/>
            <p:nvPr/>
          </p:nvSpPr>
          <p:spPr>
            <a:xfrm>
              <a:off x="1680712" y="2620120"/>
              <a:ext cx="64135" cy="74930"/>
            </a:xfrm>
            <a:custGeom>
              <a:avLst/>
              <a:gdLst/>
              <a:ahLst/>
              <a:cxnLst/>
              <a:rect l="l" t="t" r="r" b="b"/>
              <a:pathLst>
                <a:path w="64135" h="74930">
                  <a:moveTo>
                    <a:pt x="63751" y="0"/>
                  </a:moveTo>
                  <a:lnTo>
                    <a:pt x="47813" y="5976"/>
                  </a:lnTo>
                  <a:lnTo>
                    <a:pt x="31875" y="7968"/>
                  </a:lnTo>
                  <a:lnTo>
                    <a:pt x="15937" y="5976"/>
                  </a:lnTo>
                  <a:lnTo>
                    <a:pt x="0" y="0"/>
                  </a:lnTo>
                  <a:lnTo>
                    <a:pt x="31875" y="74376"/>
                  </a:lnTo>
                  <a:lnTo>
                    <a:pt x="63751" y="0"/>
                  </a:lnTo>
                  <a:close/>
                </a:path>
              </a:pathLst>
            </a:custGeom>
            <a:solidFill>
              <a:srgbClr val="231F20"/>
            </a:solidFill>
          </p:spPr>
          <p:txBody>
            <a:bodyPr wrap="square" lIns="0" tIns="0" rIns="0" bIns="0" rtlCol="0"/>
            <a:lstStyle/>
            <a:p>
              <a:endParaRPr/>
            </a:p>
          </p:txBody>
        </p:sp>
      </p:grpSp>
      <p:sp>
        <p:nvSpPr>
          <p:cNvPr id="13" name="object 13"/>
          <p:cNvSpPr txBox="1"/>
          <p:nvPr/>
        </p:nvSpPr>
        <p:spPr>
          <a:xfrm>
            <a:off x="753706" y="2250844"/>
            <a:ext cx="531495" cy="189865"/>
          </a:xfrm>
          <a:prstGeom prst="rect">
            <a:avLst/>
          </a:prstGeom>
          <a:ln w="5270">
            <a:solidFill>
              <a:srgbClr val="231F20"/>
            </a:solidFill>
          </a:ln>
        </p:spPr>
        <p:txBody>
          <a:bodyPr vert="horz" wrap="square" lIns="0" tIns="31115" rIns="0" bIns="0" rtlCol="0">
            <a:spAutoFit/>
          </a:bodyPr>
          <a:lstStyle/>
          <a:p>
            <a:pPr marL="47625">
              <a:lnSpc>
                <a:spcPct val="100000"/>
              </a:lnSpc>
              <a:spcBef>
                <a:spcPts val="245"/>
              </a:spcBef>
            </a:pPr>
            <a:r>
              <a:rPr sz="650" spc="5" dirty="0">
                <a:solidFill>
                  <a:srgbClr val="231F20"/>
                </a:solidFill>
                <a:latin typeface="Arial"/>
                <a:cs typeface="Arial"/>
              </a:rPr>
              <a:t>Component</a:t>
            </a:r>
            <a:endParaRPr sz="650">
              <a:latin typeface="Arial"/>
              <a:cs typeface="Arial"/>
            </a:endParaRPr>
          </a:p>
        </p:txBody>
      </p:sp>
      <p:sp>
        <p:nvSpPr>
          <p:cNvPr id="14" name="object 14"/>
          <p:cNvSpPr txBox="1"/>
          <p:nvPr/>
        </p:nvSpPr>
        <p:spPr>
          <a:xfrm>
            <a:off x="1512658" y="2250844"/>
            <a:ext cx="531495" cy="189865"/>
          </a:xfrm>
          <a:prstGeom prst="rect">
            <a:avLst/>
          </a:prstGeom>
          <a:ln w="5270">
            <a:solidFill>
              <a:srgbClr val="231F20"/>
            </a:solidFill>
          </a:ln>
        </p:spPr>
        <p:txBody>
          <a:bodyPr vert="horz" wrap="square" lIns="0" tIns="31115" rIns="0" bIns="0" rtlCol="0">
            <a:spAutoFit/>
          </a:bodyPr>
          <a:lstStyle/>
          <a:p>
            <a:pPr marL="47625">
              <a:lnSpc>
                <a:spcPct val="100000"/>
              </a:lnSpc>
              <a:spcBef>
                <a:spcPts val="245"/>
              </a:spcBef>
            </a:pPr>
            <a:r>
              <a:rPr sz="650" spc="5" dirty="0">
                <a:solidFill>
                  <a:srgbClr val="231F20"/>
                </a:solidFill>
                <a:latin typeface="Arial"/>
                <a:cs typeface="Arial"/>
              </a:rPr>
              <a:t>Component</a:t>
            </a:r>
            <a:endParaRPr sz="650">
              <a:latin typeface="Arial"/>
              <a:cs typeface="Arial"/>
            </a:endParaRPr>
          </a:p>
        </p:txBody>
      </p:sp>
      <p:grpSp>
        <p:nvGrpSpPr>
          <p:cNvPr id="15" name="object 15"/>
          <p:cNvGrpSpPr/>
          <p:nvPr/>
        </p:nvGrpSpPr>
        <p:grpSpPr>
          <a:xfrm>
            <a:off x="718534" y="2440582"/>
            <a:ext cx="1377950" cy="442595"/>
            <a:chOff x="718534" y="2440582"/>
            <a:chExt cx="1377950" cy="442595"/>
          </a:xfrm>
        </p:grpSpPr>
        <p:sp>
          <p:nvSpPr>
            <p:cNvPr id="16" name="object 16"/>
            <p:cNvSpPr/>
            <p:nvPr/>
          </p:nvSpPr>
          <p:spPr>
            <a:xfrm>
              <a:off x="721169" y="2483347"/>
              <a:ext cx="1372235" cy="363220"/>
            </a:xfrm>
            <a:custGeom>
              <a:avLst/>
              <a:gdLst/>
              <a:ahLst/>
              <a:cxnLst/>
              <a:rect l="l" t="t" r="r" b="b"/>
              <a:pathLst>
                <a:path w="1372235" h="363219">
                  <a:moveTo>
                    <a:pt x="116300" y="211149"/>
                  </a:moveTo>
                  <a:lnTo>
                    <a:pt x="116300" y="173202"/>
                  </a:lnTo>
                  <a:lnTo>
                    <a:pt x="0" y="270179"/>
                  </a:lnTo>
                  <a:lnTo>
                    <a:pt x="116300" y="362940"/>
                  </a:lnTo>
                  <a:lnTo>
                    <a:pt x="116300" y="324992"/>
                  </a:lnTo>
                  <a:lnTo>
                    <a:pt x="1254733" y="324992"/>
                  </a:lnTo>
                  <a:lnTo>
                    <a:pt x="1254733" y="362940"/>
                  </a:lnTo>
                  <a:lnTo>
                    <a:pt x="1372086" y="270179"/>
                  </a:lnTo>
                  <a:lnTo>
                    <a:pt x="1254733" y="173202"/>
                  </a:lnTo>
                  <a:lnTo>
                    <a:pt x="1254733" y="211149"/>
                  </a:lnTo>
                  <a:lnTo>
                    <a:pt x="116300" y="211149"/>
                  </a:lnTo>
                  <a:close/>
                </a:path>
                <a:path w="1372235" h="363219">
                  <a:moveTo>
                    <a:pt x="1140879" y="0"/>
                  </a:moveTo>
                  <a:lnTo>
                    <a:pt x="1140879" y="216535"/>
                  </a:lnTo>
                </a:path>
              </a:pathLst>
            </a:custGeom>
            <a:ln w="5270">
              <a:solidFill>
                <a:srgbClr val="231F20"/>
              </a:solidFill>
            </a:ln>
          </p:spPr>
          <p:txBody>
            <a:bodyPr wrap="square" lIns="0" tIns="0" rIns="0" bIns="0" rtlCol="0"/>
            <a:lstStyle/>
            <a:p>
              <a:endParaRPr/>
            </a:p>
          </p:txBody>
        </p:sp>
        <p:sp>
          <p:nvSpPr>
            <p:cNvPr id="17" name="object 17"/>
            <p:cNvSpPr/>
            <p:nvPr/>
          </p:nvSpPr>
          <p:spPr>
            <a:xfrm>
              <a:off x="1830173" y="2445968"/>
              <a:ext cx="64135" cy="74930"/>
            </a:xfrm>
            <a:custGeom>
              <a:avLst/>
              <a:gdLst/>
              <a:ahLst/>
              <a:cxnLst/>
              <a:rect l="l" t="t" r="r" b="b"/>
              <a:pathLst>
                <a:path w="64135" h="74930">
                  <a:moveTo>
                    <a:pt x="31875" y="0"/>
                  </a:moveTo>
                  <a:lnTo>
                    <a:pt x="0" y="74375"/>
                  </a:lnTo>
                  <a:lnTo>
                    <a:pt x="15937" y="68399"/>
                  </a:lnTo>
                  <a:lnTo>
                    <a:pt x="31875" y="66407"/>
                  </a:lnTo>
                  <a:lnTo>
                    <a:pt x="47813" y="68399"/>
                  </a:lnTo>
                  <a:lnTo>
                    <a:pt x="63751" y="74375"/>
                  </a:lnTo>
                  <a:lnTo>
                    <a:pt x="31875" y="0"/>
                  </a:lnTo>
                  <a:close/>
                </a:path>
              </a:pathLst>
            </a:custGeom>
            <a:solidFill>
              <a:srgbClr val="231F20"/>
            </a:solidFill>
          </p:spPr>
          <p:txBody>
            <a:bodyPr wrap="square" lIns="0" tIns="0" rIns="0" bIns="0" rtlCol="0"/>
            <a:lstStyle/>
            <a:p>
              <a:endParaRPr/>
            </a:p>
          </p:txBody>
        </p:sp>
        <p:sp>
          <p:nvSpPr>
            <p:cNvPr id="18" name="object 18"/>
            <p:cNvSpPr/>
            <p:nvPr/>
          </p:nvSpPr>
          <p:spPr>
            <a:xfrm>
              <a:off x="1111602" y="2477961"/>
              <a:ext cx="0" cy="216535"/>
            </a:xfrm>
            <a:custGeom>
              <a:avLst/>
              <a:gdLst/>
              <a:ahLst/>
              <a:cxnLst/>
              <a:rect l="l" t="t" r="r" b="b"/>
              <a:pathLst>
                <a:path h="216535">
                  <a:moveTo>
                    <a:pt x="0" y="0"/>
                  </a:moveTo>
                  <a:lnTo>
                    <a:pt x="0" y="216535"/>
                  </a:lnTo>
                </a:path>
              </a:pathLst>
            </a:custGeom>
            <a:ln w="5270">
              <a:solidFill>
                <a:srgbClr val="231F20"/>
              </a:solidFill>
            </a:ln>
          </p:spPr>
          <p:txBody>
            <a:bodyPr wrap="square" lIns="0" tIns="0" rIns="0" bIns="0" rtlCol="0"/>
            <a:lstStyle/>
            <a:p>
              <a:endParaRPr/>
            </a:p>
          </p:txBody>
        </p:sp>
        <p:sp>
          <p:nvSpPr>
            <p:cNvPr id="19" name="object 19"/>
            <p:cNvSpPr/>
            <p:nvPr/>
          </p:nvSpPr>
          <p:spPr>
            <a:xfrm>
              <a:off x="1079715" y="2440584"/>
              <a:ext cx="359410" cy="442595"/>
            </a:xfrm>
            <a:custGeom>
              <a:avLst/>
              <a:gdLst/>
              <a:ahLst/>
              <a:cxnLst/>
              <a:rect l="l" t="t" r="r" b="b"/>
              <a:pathLst>
                <a:path w="359409" h="442594">
                  <a:moveTo>
                    <a:pt x="63754" y="74383"/>
                  </a:moveTo>
                  <a:lnTo>
                    <a:pt x="31877" y="0"/>
                  </a:lnTo>
                  <a:lnTo>
                    <a:pt x="0" y="74383"/>
                  </a:lnTo>
                  <a:lnTo>
                    <a:pt x="15938" y="68402"/>
                  </a:lnTo>
                  <a:lnTo>
                    <a:pt x="31877" y="66408"/>
                  </a:lnTo>
                  <a:lnTo>
                    <a:pt x="47815" y="68402"/>
                  </a:lnTo>
                  <a:lnTo>
                    <a:pt x="63754" y="74383"/>
                  </a:lnTo>
                  <a:close/>
                </a:path>
                <a:path w="359409" h="442594">
                  <a:moveTo>
                    <a:pt x="358838" y="442137"/>
                  </a:moveTo>
                  <a:lnTo>
                    <a:pt x="326961" y="367766"/>
                  </a:lnTo>
                  <a:lnTo>
                    <a:pt x="295084" y="442137"/>
                  </a:lnTo>
                  <a:lnTo>
                    <a:pt x="311023" y="436156"/>
                  </a:lnTo>
                  <a:lnTo>
                    <a:pt x="326961" y="434174"/>
                  </a:lnTo>
                  <a:lnTo>
                    <a:pt x="342900" y="436156"/>
                  </a:lnTo>
                  <a:lnTo>
                    <a:pt x="358838" y="442137"/>
                  </a:lnTo>
                  <a:close/>
                </a:path>
              </a:pathLst>
            </a:custGeom>
            <a:solidFill>
              <a:srgbClr val="231F20"/>
            </a:solidFill>
          </p:spPr>
          <p:txBody>
            <a:bodyPr wrap="square" lIns="0" tIns="0" rIns="0" bIns="0" rtlCol="0"/>
            <a:lstStyle/>
            <a:p>
              <a:endParaRPr/>
            </a:p>
          </p:txBody>
        </p:sp>
      </p:grpSp>
      <p:graphicFrame>
        <p:nvGraphicFramePr>
          <p:cNvPr id="20" name="object 20"/>
          <p:cNvGraphicFramePr>
            <a:graphicFrameLocks noGrp="1"/>
          </p:cNvGraphicFramePr>
          <p:nvPr/>
        </p:nvGraphicFramePr>
        <p:xfrm>
          <a:off x="1138416" y="2845719"/>
          <a:ext cx="586105" cy="378460"/>
        </p:xfrm>
        <a:graphic>
          <a:graphicData uri="http://schemas.openxmlformats.org/drawingml/2006/table">
            <a:tbl>
              <a:tblPr firstRow="1" bandRow="1">
                <a:tableStyleId>{2D5ABB26-0587-4C30-8999-92F81FD0307C}</a:tableStyleId>
              </a:tblPr>
              <a:tblGrid>
                <a:gridCol w="265430">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tblGrid>
              <a:tr h="189230">
                <a:tc>
                  <a:txBody>
                    <a:bodyPr/>
                    <a:lstStyle/>
                    <a:p>
                      <a:pPr>
                        <a:lnSpc>
                          <a:spcPct val="100000"/>
                        </a:lnSpc>
                      </a:pPr>
                      <a:endParaRPr sz="800">
                        <a:latin typeface="Times New Roman"/>
                        <a:cs typeface="Times New Roman"/>
                      </a:endParaRPr>
                    </a:p>
                  </a:txBody>
                  <a:tcPr marL="0" marR="0" marT="0" marB="0">
                    <a:lnR w="6350">
                      <a:solidFill>
                        <a:srgbClr val="231F20"/>
                      </a:solidFill>
                      <a:prstDash val="solid"/>
                    </a:lnR>
                    <a:lnB w="6350">
                      <a:solidFill>
                        <a:srgbClr val="231F20"/>
                      </a:solidFill>
                      <a:prstDash val="solid"/>
                    </a:lnB>
                  </a:tcPr>
                </a:tc>
                <a:tc>
                  <a:txBody>
                    <a:bodyPr/>
                    <a:lstStyle/>
                    <a:p>
                      <a:pPr marL="88900">
                        <a:lnSpc>
                          <a:spcPct val="100000"/>
                        </a:lnSpc>
                        <a:spcBef>
                          <a:spcPts val="250"/>
                        </a:spcBef>
                      </a:pPr>
                      <a:r>
                        <a:rPr sz="650" dirty="0">
                          <a:solidFill>
                            <a:srgbClr val="231F20"/>
                          </a:solidFill>
                          <a:latin typeface="Arial"/>
                          <a:cs typeface="Arial"/>
                        </a:rPr>
                        <a:t>Publis</a:t>
                      </a:r>
                      <a:endParaRPr sz="650">
                        <a:latin typeface="Arial"/>
                        <a:cs typeface="Arial"/>
                      </a:endParaRPr>
                    </a:p>
                  </a:txBody>
                  <a:tcPr marL="0" marR="0" marT="31750" marB="0">
                    <a:lnL w="6350">
                      <a:solidFill>
                        <a:srgbClr val="231F20"/>
                      </a:solidFill>
                      <a:prstDash val="solid"/>
                    </a:lnL>
                    <a:lnB w="6350">
                      <a:solidFill>
                        <a:srgbClr val="231F20"/>
                      </a:solidFill>
                      <a:prstDash val="solid"/>
                    </a:lnB>
                  </a:tcPr>
                </a:tc>
                <a:extLst>
                  <a:ext uri="{0D108BD9-81ED-4DB2-BD59-A6C34878D82A}">
                    <a16:rowId xmlns:a16="http://schemas.microsoft.com/office/drawing/2014/main" val="10000"/>
                  </a:ext>
                </a:extLst>
              </a:tr>
              <a:tr h="189230">
                <a:tc gridSpan="2">
                  <a:txBody>
                    <a:bodyPr/>
                    <a:lstStyle/>
                    <a:p>
                      <a:pPr marL="51435" marR="48895">
                        <a:lnSpc>
                          <a:spcPct val="100000"/>
                        </a:lnSpc>
                        <a:spcBef>
                          <a:spcPts val="210"/>
                        </a:spcBef>
                      </a:pPr>
                      <a:r>
                        <a:rPr sz="650" spc="5" dirty="0">
                          <a:solidFill>
                            <a:srgbClr val="231F20"/>
                          </a:solidFill>
                          <a:latin typeface="Arial"/>
                          <a:cs typeface="Arial"/>
                        </a:rPr>
                        <a:t>Component</a:t>
                      </a:r>
                      <a:endParaRPr sz="650">
                        <a:latin typeface="Arial"/>
                        <a:cs typeface="Arial"/>
                      </a:endParaRPr>
                    </a:p>
                  </a:txBody>
                  <a:tcPr marL="0" marR="0" marT="2667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21" name="object 21"/>
          <p:cNvSpPr txBox="1"/>
          <p:nvPr/>
        </p:nvSpPr>
        <p:spPr>
          <a:xfrm>
            <a:off x="1205288" y="2684080"/>
            <a:ext cx="580390" cy="30607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Event</a:t>
            </a:r>
            <a:r>
              <a:rPr sz="650" spc="-40" dirty="0">
                <a:solidFill>
                  <a:srgbClr val="231F20"/>
                </a:solidFill>
                <a:latin typeface="Arial"/>
                <a:cs typeface="Arial"/>
              </a:rPr>
              <a:t> </a:t>
            </a:r>
            <a:r>
              <a:rPr sz="650" spc="5" dirty="0">
                <a:solidFill>
                  <a:srgbClr val="231F20"/>
                </a:solidFill>
                <a:latin typeface="Arial"/>
                <a:cs typeface="Arial"/>
              </a:rPr>
              <a:t>bus</a:t>
            </a:r>
            <a:endParaRPr sz="650">
              <a:latin typeface="Arial"/>
              <a:cs typeface="Arial"/>
            </a:endParaRPr>
          </a:p>
          <a:p>
            <a:pPr>
              <a:lnSpc>
                <a:spcPct val="100000"/>
              </a:lnSpc>
            </a:pPr>
            <a:endParaRPr sz="550">
              <a:latin typeface="Arial"/>
              <a:cs typeface="Arial"/>
            </a:endParaRPr>
          </a:p>
          <a:p>
            <a:pPr marR="5080" algn="r">
              <a:lnSpc>
                <a:spcPct val="100000"/>
              </a:lnSpc>
            </a:pPr>
            <a:r>
              <a:rPr sz="650" spc="5" dirty="0">
                <a:solidFill>
                  <a:srgbClr val="231F20"/>
                </a:solidFill>
                <a:latin typeface="Arial"/>
                <a:cs typeface="Arial"/>
              </a:rPr>
              <a:t>h</a:t>
            </a:r>
            <a:endParaRPr sz="650">
              <a:latin typeface="Arial"/>
              <a:cs typeface="Arial"/>
            </a:endParaRPr>
          </a:p>
        </p:txBody>
      </p:sp>
      <p:sp>
        <p:nvSpPr>
          <p:cNvPr id="22" name="object 22"/>
          <p:cNvSpPr txBox="1"/>
          <p:nvPr/>
        </p:nvSpPr>
        <p:spPr>
          <a:xfrm>
            <a:off x="1913375" y="2444285"/>
            <a:ext cx="44259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Notification  delivery</a:t>
            </a:r>
            <a:endParaRPr sz="650">
              <a:latin typeface="Arial"/>
              <a:cs typeface="Arial"/>
            </a:endParaRPr>
          </a:p>
        </p:txBody>
      </p:sp>
      <p:sp>
        <p:nvSpPr>
          <p:cNvPr id="23" name="object 23"/>
          <p:cNvSpPr/>
          <p:nvPr/>
        </p:nvSpPr>
        <p:spPr>
          <a:xfrm>
            <a:off x="2503266" y="2696292"/>
            <a:ext cx="1372235" cy="189865"/>
          </a:xfrm>
          <a:custGeom>
            <a:avLst/>
            <a:gdLst/>
            <a:ahLst/>
            <a:cxnLst/>
            <a:rect l="l" t="t" r="r" b="b"/>
            <a:pathLst>
              <a:path w="1372235" h="189864">
                <a:moveTo>
                  <a:pt x="116300" y="37947"/>
                </a:moveTo>
                <a:lnTo>
                  <a:pt x="116300" y="0"/>
                </a:lnTo>
                <a:lnTo>
                  <a:pt x="0" y="96977"/>
                </a:lnTo>
                <a:lnTo>
                  <a:pt x="116300" y="189737"/>
                </a:lnTo>
                <a:lnTo>
                  <a:pt x="116300" y="151790"/>
                </a:lnTo>
                <a:lnTo>
                  <a:pt x="1254725" y="151790"/>
                </a:lnTo>
                <a:lnTo>
                  <a:pt x="1254725" y="189737"/>
                </a:lnTo>
                <a:lnTo>
                  <a:pt x="1372088" y="96977"/>
                </a:lnTo>
                <a:lnTo>
                  <a:pt x="1254725" y="0"/>
                </a:lnTo>
                <a:lnTo>
                  <a:pt x="1254725" y="37947"/>
                </a:lnTo>
                <a:lnTo>
                  <a:pt x="116300" y="37947"/>
                </a:lnTo>
                <a:close/>
              </a:path>
            </a:pathLst>
          </a:custGeom>
          <a:ln w="5270">
            <a:solidFill>
              <a:srgbClr val="231F20"/>
            </a:solidFill>
          </a:ln>
        </p:spPr>
        <p:txBody>
          <a:bodyPr wrap="square" lIns="0" tIns="0" rIns="0" bIns="0" rtlCol="0"/>
          <a:lstStyle/>
          <a:p>
            <a:endParaRPr/>
          </a:p>
        </p:txBody>
      </p:sp>
      <p:sp>
        <p:nvSpPr>
          <p:cNvPr id="24" name="object 24"/>
          <p:cNvSpPr txBox="1"/>
          <p:nvPr/>
        </p:nvSpPr>
        <p:spPr>
          <a:xfrm>
            <a:off x="3075295" y="2519072"/>
            <a:ext cx="4006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Subscribe</a:t>
            </a:r>
            <a:endParaRPr sz="650">
              <a:latin typeface="Arial"/>
              <a:cs typeface="Arial"/>
            </a:endParaRPr>
          </a:p>
        </p:txBody>
      </p:sp>
      <p:sp>
        <p:nvSpPr>
          <p:cNvPr id="25" name="object 25"/>
          <p:cNvSpPr txBox="1"/>
          <p:nvPr/>
        </p:nvSpPr>
        <p:spPr>
          <a:xfrm>
            <a:off x="3664883" y="2490821"/>
            <a:ext cx="31623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Data </a:t>
            </a:r>
            <a:r>
              <a:rPr sz="650" spc="10" dirty="0">
                <a:solidFill>
                  <a:srgbClr val="231F20"/>
                </a:solidFill>
                <a:latin typeface="Arial"/>
                <a:cs typeface="Arial"/>
              </a:rPr>
              <a:t> </a:t>
            </a:r>
            <a:r>
              <a:rPr sz="650" spc="5" dirty="0">
                <a:solidFill>
                  <a:srgbClr val="231F20"/>
                </a:solidFill>
                <a:latin typeface="Arial"/>
                <a:cs typeface="Arial"/>
              </a:rPr>
              <a:t>delivery</a:t>
            </a:r>
            <a:endParaRPr sz="650">
              <a:latin typeface="Arial"/>
              <a:cs typeface="Arial"/>
            </a:endParaRPr>
          </a:p>
        </p:txBody>
      </p:sp>
      <p:sp>
        <p:nvSpPr>
          <p:cNvPr id="26" name="object 26"/>
          <p:cNvSpPr txBox="1"/>
          <p:nvPr/>
        </p:nvSpPr>
        <p:spPr>
          <a:xfrm>
            <a:off x="2501346" y="2519928"/>
            <a:ext cx="3022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Publish</a:t>
            </a:r>
            <a:endParaRPr sz="650">
              <a:latin typeface="Arial"/>
              <a:cs typeface="Arial"/>
            </a:endParaRPr>
          </a:p>
        </p:txBody>
      </p:sp>
      <p:grpSp>
        <p:nvGrpSpPr>
          <p:cNvPr id="27" name="object 27"/>
          <p:cNvGrpSpPr/>
          <p:nvPr/>
        </p:nvGrpSpPr>
        <p:grpSpPr>
          <a:xfrm>
            <a:off x="2799209" y="2434974"/>
            <a:ext cx="842644" cy="762635"/>
            <a:chOff x="2799209" y="2434974"/>
            <a:chExt cx="842644" cy="762635"/>
          </a:xfrm>
        </p:grpSpPr>
        <p:sp>
          <p:nvSpPr>
            <p:cNvPr id="28" name="object 28"/>
            <p:cNvSpPr/>
            <p:nvPr/>
          </p:nvSpPr>
          <p:spPr>
            <a:xfrm>
              <a:off x="2897002" y="2995978"/>
              <a:ext cx="647065" cy="198755"/>
            </a:xfrm>
            <a:custGeom>
              <a:avLst/>
              <a:gdLst/>
              <a:ahLst/>
              <a:cxnLst/>
              <a:rect l="l" t="t" r="r" b="b"/>
              <a:pathLst>
                <a:path w="647064" h="198755">
                  <a:moveTo>
                    <a:pt x="0" y="0"/>
                  </a:moveTo>
                  <a:lnTo>
                    <a:pt x="1000" y="158493"/>
                  </a:lnTo>
                  <a:lnTo>
                    <a:pt x="68361" y="184245"/>
                  </a:lnTo>
                  <a:lnTo>
                    <a:pt x="114534" y="189943"/>
                  </a:lnTo>
                  <a:lnTo>
                    <a:pt x="168736" y="194190"/>
                  </a:lnTo>
                  <a:lnTo>
                    <a:pt x="228669" y="196981"/>
                  </a:lnTo>
                  <a:lnTo>
                    <a:pt x="292035" y="198312"/>
                  </a:lnTo>
                  <a:lnTo>
                    <a:pt x="356535" y="198179"/>
                  </a:lnTo>
                  <a:lnTo>
                    <a:pt x="419872" y="196576"/>
                  </a:lnTo>
                  <a:lnTo>
                    <a:pt x="479748" y="193499"/>
                  </a:lnTo>
                  <a:lnTo>
                    <a:pt x="533864" y="188944"/>
                  </a:lnTo>
                  <a:lnTo>
                    <a:pt x="579922" y="182906"/>
                  </a:lnTo>
                  <a:lnTo>
                    <a:pt x="638672" y="166361"/>
                  </a:lnTo>
                  <a:lnTo>
                    <a:pt x="646768" y="155845"/>
                  </a:lnTo>
                  <a:lnTo>
                    <a:pt x="644766" y="2116"/>
                  </a:lnTo>
                  <a:lnTo>
                    <a:pt x="0" y="0"/>
                  </a:lnTo>
                  <a:close/>
                </a:path>
              </a:pathLst>
            </a:custGeom>
            <a:solidFill>
              <a:srgbClr val="BCBEC0"/>
            </a:solidFill>
          </p:spPr>
          <p:txBody>
            <a:bodyPr wrap="square" lIns="0" tIns="0" rIns="0" bIns="0" rtlCol="0"/>
            <a:lstStyle/>
            <a:p>
              <a:endParaRPr/>
            </a:p>
          </p:txBody>
        </p:sp>
        <p:sp>
          <p:nvSpPr>
            <p:cNvPr id="29" name="object 29"/>
            <p:cNvSpPr/>
            <p:nvPr/>
          </p:nvSpPr>
          <p:spPr>
            <a:xfrm>
              <a:off x="2897002" y="2995978"/>
              <a:ext cx="647065" cy="198755"/>
            </a:xfrm>
            <a:custGeom>
              <a:avLst/>
              <a:gdLst/>
              <a:ahLst/>
              <a:cxnLst/>
              <a:rect l="l" t="t" r="r" b="b"/>
              <a:pathLst>
                <a:path w="647064" h="198755">
                  <a:moveTo>
                    <a:pt x="0" y="0"/>
                  </a:moveTo>
                  <a:lnTo>
                    <a:pt x="1000" y="158493"/>
                  </a:lnTo>
                  <a:lnTo>
                    <a:pt x="68361" y="184245"/>
                  </a:lnTo>
                  <a:lnTo>
                    <a:pt x="114534" y="189943"/>
                  </a:lnTo>
                  <a:lnTo>
                    <a:pt x="168736" y="194190"/>
                  </a:lnTo>
                  <a:lnTo>
                    <a:pt x="228669" y="196981"/>
                  </a:lnTo>
                  <a:lnTo>
                    <a:pt x="292035" y="198312"/>
                  </a:lnTo>
                  <a:lnTo>
                    <a:pt x="356535" y="198179"/>
                  </a:lnTo>
                  <a:lnTo>
                    <a:pt x="419872" y="196576"/>
                  </a:lnTo>
                  <a:lnTo>
                    <a:pt x="479748" y="193499"/>
                  </a:lnTo>
                  <a:lnTo>
                    <a:pt x="533864" y="188944"/>
                  </a:lnTo>
                  <a:lnTo>
                    <a:pt x="579922" y="182906"/>
                  </a:lnTo>
                  <a:lnTo>
                    <a:pt x="638672" y="166361"/>
                  </a:lnTo>
                  <a:lnTo>
                    <a:pt x="646768" y="155845"/>
                  </a:lnTo>
                  <a:lnTo>
                    <a:pt x="644766" y="2116"/>
                  </a:lnTo>
                  <a:lnTo>
                    <a:pt x="0" y="0"/>
                  </a:lnTo>
                  <a:close/>
                </a:path>
              </a:pathLst>
            </a:custGeom>
            <a:ln w="5976">
              <a:solidFill>
                <a:srgbClr val="231F20"/>
              </a:solidFill>
            </a:ln>
          </p:spPr>
          <p:txBody>
            <a:bodyPr wrap="square" lIns="0" tIns="0" rIns="0" bIns="0" rtlCol="0"/>
            <a:lstStyle/>
            <a:p>
              <a:endParaRPr/>
            </a:p>
          </p:txBody>
        </p:sp>
        <p:sp>
          <p:nvSpPr>
            <p:cNvPr id="30" name="object 30"/>
            <p:cNvSpPr/>
            <p:nvPr/>
          </p:nvSpPr>
          <p:spPr>
            <a:xfrm>
              <a:off x="2897002" y="2969267"/>
              <a:ext cx="645795" cy="53975"/>
            </a:xfrm>
            <a:custGeom>
              <a:avLst/>
              <a:gdLst/>
              <a:ahLst/>
              <a:cxnLst/>
              <a:rect l="l" t="t" r="r" b="b"/>
              <a:pathLst>
                <a:path w="645795" h="53975">
                  <a:moveTo>
                    <a:pt x="322883" y="0"/>
                  </a:moveTo>
                  <a:lnTo>
                    <a:pt x="248849" y="705"/>
                  </a:lnTo>
                  <a:lnTo>
                    <a:pt x="180887" y="2714"/>
                  </a:lnTo>
                  <a:lnTo>
                    <a:pt x="120936" y="5867"/>
                  </a:lnTo>
                  <a:lnTo>
                    <a:pt x="70933" y="10004"/>
                  </a:lnTo>
                  <a:lnTo>
                    <a:pt x="32818" y="14963"/>
                  </a:lnTo>
                  <a:lnTo>
                    <a:pt x="0" y="26710"/>
                  </a:lnTo>
                  <a:lnTo>
                    <a:pt x="8527" y="32834"/>
                  </a:lnTo>
                  <a:lnTo>
                    <a:pt x="70933" y="43414"/>
                  </a:lnTo>
                  <a:lnTo>
                    <a:pt x="120936" y="47550"/>
                  </a:lnTo>
                  <a:lnTo>
                    <a:pt x="180887" y="50702"/>
                  </a:lnTo>
                  <a:lnTo>
                    <a:pt x="248849" y="52712"/>
                  </a:lnTo>
                  <a:lnTo>
                    <a:pt x="322883" y="53417"/>
                  </a:lnTo>
                  <a:lnTo>
                    <a:pt x="396917" y="52712"/>
                  </a:lnTo>
                  <a:lnTo>
                    <a:pt x="464879" y="50702"/>
                  </a:lnTo>
                  <a:lnTo>
                    <a:pt x="524831" y="47550"/>
                  </a:lnTo>
                  <a:lnTo>
                    <a:pt x="574833" y="43414"/>
                  </a:lnTo>
                  <a:lnTo>
                    <a:pt x="612949" y="38455"/>
                  </a:lnTo>
                  <a:lnTo>
                    <a:pt x="645767" y="26710"/>
                  </a:lnTo>
                  <a:lnTo>
                    <a:pt x="637240" y="20585"/>
                  </a:lnTo>
                  <a:lnTo>
                    <a:pt x="574833" y="10004"/>
                  </a:lnTo>
                  <a:lnTo>
                    <a:pt x="524831" y="5867"/>
                  </a:lnTo>
                  <a:lnTo>
                    <a:pt x="464879" y="2714"/>
                  </a:lnTo>
                  <a:lnTo>
                    <a:pt x="396917" y="705"/>
                  </a:lnTo>
                  <a:lnTo>
                    <a:pt x="322883" y="0"/>
                  </a:lnTo>
                  <a:close/>
                </a:path>
              </a:pathLst>
            </a:custGeom>
            <a:solidFill>
              <a:srgbClr val="FFFFFF"/>
            </a:solidFill>
          </p:spPr>
          <p:txBody>
            <a:bodyPr wrap="square" lIns="0" tIns="0" rIns="0" bIns="0" rtlCol="0"/>
            <a:lstStyle/>
            <a:p>
              <a:endParaRPr/>
            </a:p>
          </p:txBody>
        </p:sp>
        <p:sp>
          <p:nvSpPr>
            <p:cNvPr id="31" name="object 31"/>
            <p:cNvSpPr/>
            <p:nvPr/>
          </p:nvSpPr>
          <p:spPr>
            <a:xfrm>
              <a:off x="2802066" y="2736632"/>
              <a:ext cx="741045" cy="286385"/>
            </a:xfrm>
            <a:custGeom>
              <a:avLst/>
              <a:gdLst/>
              <a:ahLst/>
              <a:cxnLst/>
              <a:rect l="l" t="t" r="r" b="b"/>
              <a:pathLst>
                <a:path w="741045" h="286385">
                  <a:moveTo>
                    <a:pt x="417818" y="232634"/>
                  </a:moveTo>
                  <a:lnTo>
                    <a:pt x="491853" y="233339"/>
                  </a:lnTo>
                  <a:lnTo>
                    <a:pt x="559815" y="235349"/>
                  </a:lnTo>
                  <a:lnTo>
                    <a:pt x="619766" y="238502"/>
                  </a:lnTo>
                  <a:lnTo>
                    <a:pt x="669769" y="242638"/>
                  </a:lnTo>
                  <a:lnTo>
                    <a:pt x="707885" y="247598"/>
                  </a:lnTo>
                  <a:lnTo>
                    <a:pt x="740703" y="259345"/>
                  </a:lnTo>
                  <a:lnTo>
                    <a:pt x="732175" y="265468"/>
                  </a:lnTo>
                  <a:lnTo>
                    <a:pt x="669769" y="276048"/>
                  </a:lnTo>
                  <a:lnTo>
                    <a:pt x="619766" y="280184"/>
                  </a:lnTo>
                  <a:lnTo>
                    <a:pt x="559815" y="283337"/>
                  </a:lnTo>
                  <a:lnTo>
                    <a:pt x="491853" y="285346"/>
                  </a:lnTo>
                  <a:lnTo>
                    <a:pt x="417818" y="286052"/>
                  </a:lnTo>
                  <a:lnTo>
                    <a:pt x="343784" y="285346"/>
                  </a:lnTo>
                  <a:lnTo>
                    <a:pt x="275822" y="283337"/>
                  </a:lnTo>
                  <a:lnTo>
                    <a:pt x="215871" y="280184"/>
                  </a:lnTo>
                  <a:lnTo>
                    <a:pt x="165869" y="276048"/>
                  </a:lnTo>
                  <a:lnTo>
                    <a:pt x="127753" y="271090"/>
                  </a:lnTo>
                  <a:lnTo>
                    <a:pt x="94935" y="259345"/>
                  </a:lnTo>
                  <a:lnTo>
                    <a:pt x="103462" y="253220"/>
                  </a:lnTo>
                  <a:lnTo>
                    <a:pt x="165869" y="242638"/>
                  </a:lnTo>
                  <a:lnTo>
                    <a:pt x="215871" y="238502"/>
                  </a:lnTo>
                  <a:lnTo>
                    <a:pt x="275822" y="235349"/>
                  </a:lnTo>
                  <a:lnTo>
                    <a:pt x="343784" y="233339"/>
                  </a:lnTo>
                  <a:lnTo>
                    <a:pt x="417818" y="232634"/>
                  </a:lnTo>
                  <a:close/>
                </a:path>
                <a:path w="741045" h="286385">
                  <a:moveTo>
                    <a:pt x="4" y="0"/>
                  </a:moveTo>
                  <a:lnTo>
                    <a:pt x="0" y="57139"/>
                  </a:lnTo>
                  <a:lnTo>
                    <a:pt x="239042" y="57139"/>
                  </a:lnTo>
                  <a:lnTo>
                    <a:pt x="239042" y="222044"/>
                  </a:lnTo>
                </a:path>
              </a:pathLst>
            </a:custGeom>
            <a:ln w="5270">
              <a:solidFill>
                <a:srgbClr val="231F20"/>
              </a:solidFill>
            </a:ln>
          </p:spPr>
          <p:txBody>
            <a:bodyPr wrap="square" lIns="0" tIns="0" rIns="0" bIns="0" rtlCol="0"/>
            <a:lstStyle/>
            <a:p>
              <a:endParaRPr/>
            </a:p>
          </p:txBody>
        </p:sp>
        <p:sp>
          <p:nvSpPr>
            <p:cNvPr id="32" name="object 32"/>
            <p:cNvSpPr/>
            <p:nvPr/>
          </p:nvSpPr>
          <p:spPr>
            <a:xfrm>
              <a:off x="3009230" y="2921676"/>
              <a:ext cx="64135" cy="74930"/>
            </a:xfrm>
            <a:custGeom>
              <a:avLst/>
              <a:gdLst/>
              <a:ahLst/>
              <a:cxnLst/>
              <a:rect l="l" t="t" r="r" b="b"/>
              <a:pathLst>
                <a:path w="64135" h="74930">
                  <a:moveTo>
                    <a:pt x="63753" y="0"/>
                  </a:moveTo>
                  <a:lnTo>
                    <a:pt x="47815" y="5977"/>
                  </a:lnTo>
                  <a:lnTo>
                    <a:pt x="31876" y="7970"/>
                  </a:lnTo>
                  <a:lnTo>
                    <a:pt x="15938" y="5977"/>
                  </a:lnTo>
                  <a:lnTo>
                    <a:pt x="0" y="0"/>
                  </a:lnTo>
                  <a:lnTo>
                    <a:pt x="31879" y="74379"/>
                  </a:lnTo>
                  <a:lnTo>
                    <a:pt x="63753" y="0"/>
                  </a:lnTo>
                  <a:close/>
                </a:path>
              </a:pathLst>
            </a:custGeom>
            <a:solidFill>
              <a:srgbClr val="231F20"/>
            </a:solidFill>
          </p:spPr>
          <p:txBody>
            <a:bodyPr wrap="square" lIns="0" tIns="0" rIns="0" bIns="0" rtlCol="0"/>
            <a:lstStyle/>
            <a:p>
              <a:endParaRPr/>
            </a:p>
          </p:txBody>
        </p:sp>
        <p:sp>
          <p:nvSpPr>
            <p:cNvPr id="33" name="object 33"/>
            <p:cNvSpPr/>
            <p:nvPr/>
          </p:nvSpPr>
          <p:spPr>
            <a:xfrm>
              <a:off x="3369777" y="2736632"/>
              <a:ext cx="269240" cy="260985"/>
            </a:xfrm>
            <a:custGeom>
              <a:avLst/>
              <a:gdLst/>
              <a:ahLst/>
              <a:cxnLst/>
              <a:rect l="l" t="t" r="r" b="b"/>
              <a:pathLst>
                <a:path w="269239" h="260985">
                  <a:moveTo>
                    <a:pt x="268932" y="0"/>
                  </a:moveTo>
                  <a:lnTo>
                    <a:pt x="268932" y="89639"/>
                  </a:lnTo>
                  <a:lnTo>
                    <a:pt x="8" y="89639"/>
                  </a:lnTo>
                  <a:lnTo>
                    <a:pt x="0" y="260893"/>
                  </a:lnTo>
                </a:path>
              </a:pathLst>
            </a:custGeom>
            <a:ln w="5270">
              <a:solidFill>
                <a:srgbClr val="231F20"/>
              </a:solidFill>
            </a:ln>
          </p:spPr>
          <p:txBody>
            <a:bodyPr wrap="square" lIns="0" tIns="0" rIns="0" bIns="0" rtlCol="0"/>
            <a:lstStyle/>
            <a:p>
              <a:endParaRPr/>
            </a:p>
          </p:txBody>
        </p:sp>
        <p:sp>
          <p:nvSpPr>
            <p:cNvPr id="34" name="object 34"/>
            <p:cNvSpPr/>
            <p:nvPr/>
          </p:nvSpPr>
          <p:spPr>
            <a:xfrm>
              <a:off x="3279606" y="2736632"/>
              <a:ext cx="210185" cy="223520"/>
            </a:xfrm>
            <a:custGeom>
              <a:avLst/>
              <a:gdLst/>
              <a:ahLst/>
              <a:cxnLst/>
              <a:rect l="l" t="t" r="r" b="b"/>
              <a:pathLst>
                <a:path w="210185" h="223519">
                  <a:moveTo>
                    <a:pt x="209700" y="0"/>
                  </a:moveTo>
                  <a:lnTo>
                    <a:pt x="209700" y="29876"/>
                  </a:lnTo>
                  <a:lnTo>
                    <a:pt x="539" y="29876"/>
                  </a:lnTo>
                  <a:lnTo>
                    <a:pt x="0" y="223221"/>
                  </a:lnTo>
                </a:path>
              </a:pathLst>
            </a:custGeom>
            <a:ln w="5270">
              <a:solidFill>
                <a:srgbClr val="231F20"/>
              </a:solidFill>
              <a:prstDash val="lgDash"/>
            </a:ln>
          </p:spPr>
          <p:txBody>
            <a:bodyPr wrap="square" lIns="0" tIns="0" rIns="0" bIns="0" rtlCol="0"/>
            <a:lstStyle/>
            <a:p>
              <a:endParaRPr/>
            </a:p>
          </p:txBody>
        </p:sp>
        <p:sp>
          <p:nvSpPr>
            <p:cNvPr id="35" name="object 35"/>
            <p:cNvSpPr/>
            <p:nvPr/>
          </p:nvSpPr>
          <p:spPr>
            <a:xfrm>
              <a:off x="3247836" y="2922767"/>
              <a:ext cx="64135" cy="74930"/>
            </a:xfrm>
            <a:custGeom>
              <a:avLst/>
              <a:gdLst/>
              <a:ahLst/>
              <a:cxnLst/>
              <a:rect l="l" t="t" r="r" b="b"/>
              <a:pathLst>
                <a:path w="64135" h="74930">
                  <a:moveTo>
                    <a:pt x="0" y="0"/>
                  </a:moveTo>
                  <a:lnTo>
                    <a:pt x="31672" y="74465"/>
                  </a:lnTo>
                  <a:lnTo>
                    <a:pt x="63751" y="177"/>
                  </a:lnTo>
                  <a:lnTo>
                    <a:pt x="47797" y="6108"/>
                  </a:lnTo>
                  <a:lnTo>
                    <a:pt x="31854" y="8055"/>
                  </a:lnTo>
                  <a:lnTo>
                    <a:pt x="15921" y="6019"/>
                  </a:lnTo>
                  <a:lnTo>
                    <a:pt x="0" y="0"/>
                  </a:lnTo>
                  <a:close/>
                </a:path>
              </a:pathLst>
            </a:custGeom>
            <a:solidFill>
              <a:srgbClr val="231F20"/>
            </a:solidFill>
          </p:spPr>
          <p:txBody>
            <a:bodyPr wrap="square" lIns="0" tIns="0" rIns="0" bIns="0" rtlCol="0"/>
            <a:lstStyle/>
            <a:p>
              <a:endParaRPr/>
            </a:p>
          </p:txBody>
        </p:sp>
        <p:sp>
          <p:nvSpPr>
            <p:cNvPr id="36" name="object 36"/>
            <p:cNvSpPr/>
            <p:nvPr/>
          </p:nvSpPr>
          <p:spPr>
            <a:xfrm>
              <a:off x="3489307" y="2437832"/>
              <a:ext cx="0" cy="261620"/>
            </a:xfrm>
            <a:custGeom>
              <a:avLst/>
              <a:gdLst/>
              <a:ahLst/>
              <a:cxnLst/>
              <a:rect l="l" t="t" r="r" b="b"/>
              <a:pathLst>
                <a:path h="261619">
                  <a:moveTo>
                    <a:pt x="0" y="0"/>
                  </a:moveTo>
                  <a:lnTo>
                    <a:pt x="0" y="261421"/>
                  </a:lnTo>
                </a:path>
              </a:pathLst>
            </a:custGeom>
            <a:ln w="5270">
              <a:solidFill>
                <a:srgbClr val="231F20"/>
              </a:solidFill>
              <a:prstDash val="lgDash"/>
            </a:ln>
          </p:spPr>
          <p:txBody>
            <a:bodyPr wrap="square" lIns="0" tIns="0" rIns="0" bIns="0" rtlCol="0"/>
            <a:lstStyle/>
            <a:p>
              <a:endParaRPr/>
            </a:p>
          </p:txBody>
        </p:sp>
        <p:pic>
          <p:nvPicPr>
            <p:cNvPr id="37" name="object 37"/>
            <p:cNvPicPr/>
            <p:nvPr/>
          </p:nvPicPr>
          <p:blipFill>
            <a:blip r:embed="rId5" cstate="print"/>
            <a:stretch>
              <a:fillRect/>
            </a:stretch>
          </p:blipFill>
          <p:spPr>
            <a:xfrm>
              <a:off x="3457433" y="2662252"/>
              <a:ext cx="63747" cy="74380"/>
            </a:xfrm>
            <a:prstGeom prst="rect">
              <a:avLst/>
            </a:prstGeom>
          </p:spPr>
        </p:pic>
      </p:grpSp>
      <p:sp>
        <p:nvSpPr>
          <p:cNvPr id="38" name="object 38"/>
          <p:cNvSpPr txBox="1"/>
          <p:nvPr/>
        </p:nvSpPr>
        <p:spPr>
          <a:xfrm>
            <a:off x="2559096" y="2250601"/>
            <a:ext cx="506730" cy="189865"/>
          </a:xfrm>
          <a:prstGeom prst="rect">
            <a:avLst/>
          </a:prstGeom>
          <a:ln w="5270">
            <a:solidFill>
              <a:srgbClr val="231F20"/>
            </a:solidFill>
          </a:ln>
        </p:spPr>
        <p:txBody>
          <a:bodyPr vert="horz" wrap="square" lIns="0" tIns="31115" rIns="0" bIns="0" rtlCol="0">
            <a:spAutoFit/>
          </a:bodyPr>
          <a:lstStyle/>
          <a:p>
            <a:pPr marL="47625">
              <a:lnSpc>
                <a:spcPct val="100000"/>
              </a:lnSpc>
              <a:spcBef>
                <a:spcPts val="245"/>
              </a:spcBef>
            </a:pPr>
            <a:r>
              <a:rPr sz="650" spc="5" dirty="0">
                <a:solidFill>
                  <a:srgbClr val="231F20"/>
                </a:solidFill>
                <a:latin typeface="Arial"/>
                <a:cs typeface="Arial"/>
              </a:rPr>
              <a:t>Component</a:t>
            </a:r>
            <a:endParaRPr sz="650">
              <a:latin typeface="Arial"/>
              <a:cs typeface="Arial"/>
            </a:endParaRPr>
          </a:p>
        </p:txBody>
      </p:sp>
      <p:sp>
        <p:nvSpPr>
          <p:cNvPr id="39" name="object 39"/>
          <p:cNvSpPr txBox="1"/>
          <p:nvPr/>
        </p:nvSpPr>
        <p:spPr>
          <a:xfrm>
            <a:off x="3298962" y="2250601"/>
            <a:ext cx="550545" cy="189865"/>
          </a:xfrm>
          <a:prstGeom prst="rect">
            <a:avLst/>
          </a:prstGeom>
          <a:ln w="5270">
            <a:solidFill>
              <a:srgbClr val="231F20"/>
            </a:solidFill>
          </a:ln>
        </p:spPr>
        <p:txBody>
          <a:bodyPr vert="horz" wrap="square" lIns="0" tIns="31115" rIns="0" bIns="0" rtlCol="0">
            <a:spAutoFit/>
          </a:bodyPr>
          <a:lstStyle/>
          <a:p>
            <a:pPr marL="66675">
              <a:lnSpc>
                <a:spcPct val="100000"/>
              </a:lnSpc>
              <a:spcBef>
                <a:spcPts val="245"/>
              </a:spcBef>
            </a:pPr>
            <a:r>
              <a:rPr sz="650" spc="5" dirty="0">
                <a:solidFill>
                  <a:srgbClr val="231F20"/>
                </a:solidFill>
                <a:latin typeface="Arial"/>
                <a:cs typeface="Arial"/>
              </a:rPr>
              <a:t>Component</a:t>
            </a:r>
            <a:endParaRPr sz="650">
              <a:latin typeface="Arial"/>
              <a:cs typeface="Arial"/>
            </a:endParaRPr>
          </a:p>
        </p:txBody>
      </p:sp>
      <p:grpSp>
        <p:nvGrpSpPr>
          <p:cNvPr id="40" name="object 40"/>
          <p:cNvGrpSpPr/>
          <p:nvPr/>
        </p:nvGrpSpPr>
        <p:grpSpPr>
          <a:xfrm>
            <a:off x="2770196" y="2437832"/>
            <a:ext cx="900430" cy="299085"/>
            <a:chOff x="2770196" y="2437832"/>
            <a:chExt cx="900430" cy="299085"/>
          </a:xfrm>
        </p:grpSpPr>
        <p:sp>
          <p:nvSpPr>
            <p:cNvPr id="41" name="object 41"/>
            <p:cNvSpPr/>
            <p:nvPr/>
          </p:nvSpPr>
          <p:spPr>
            <a:xfrm>
              <a:off x="2802070" y="2442135"/>
              <a:ext cx="0" cy="257175"/>
            </a:xfrm>
            <a:custGeom>
              <a:avLst/>
              <a:gdLst/>
              <a:ahLst/>
              <a:cxnLst/>
              <a:rect l="l" t="t" r="r" b="b"/>
              <a:pathLst>
                <a:path h="257175">
                  <a:moveTo>
                    <a:pt x="0" y="0"/>
                  </a:moveTo>
                  <a:lnTo>
                    <a:pt x="0" y="257118"/>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5" cstate="print"/>
            <a:stretch>
              <a:fillRect/>
            </a:stretch>
          </p:blipFill>
          <p:spPr>
            <a:xfrm>
              <a:off x="2770196" y="2662252"/>
              <a:ext cx="63751" cy="74380"/>
            </a:xfrm>
            <a:prstGeom prst="rect">
              <a:avLst/>
            </a:prstGeom>
          </p:spPr>
        </p:pic>
        <p:sp>
          <p:nvSpPr>
            <p:cNvPr id="43" name="object 43"/>
            <p:cNvSpPr/>
            <p:nvPr/>
          </p:nvSpPr>
          <p:spPr>
            <a:xfrm>
              <a:off x="3638688" y="2475211"/>
              <a:ext cx="635" cy="254635"/>
            </a:xfrm>
            <a:custGeom>
              <a:avLst/>
              <a:gdLst/>
              <a:ahLst/>
              <a:cxnLst/>
              <a:rect l="l" t="t" r="r" b="b"/>
              <a:pathLst>
                <a:path w="635" h="254635">
                  <a:moveTo>
                    <a:pt x="21" y="254482"/>
                  </a:moveTo>
                  <a:lnTo>
                    <a:pt x="0" y="0"/>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6" cstate="print"/>
            <a:stretch>
              <a:fillRect/>
            </a:stretch>
          </p:blipFill>
          <p:spPr>
            <a:xfrm>
              <a:off x="3606823" y="2437832"/>
              <a:ext cx="63751" cy="74379"/>
            </a:xfrm>
            <a:prstGeom prst="rect">
              <a:avLst/>
            </a:prstGeom>
          </p:spPr>
        </p:pic>
      </p:grpSp>
      <p:sp>
        <p:nvSpPr>
          <p:cNvPr id="45" name="object 45"/>
          <p:cNvSpPr txBox="1"/>
          <p:nvPr/>
        </p:nvSpPr>
        <p:spPr>
          <a:xfrm>
            <a:off x="2666062" y="3189570"/>
            <a:ext cx="11785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Shared</a:t>
            </a:r>
            <a:r>
              <a:rPr sz="650" spc="-20" dirty="0">
                <a:solidFill>
                  <a:srgbClr val="231F20"/>
                </a:solidFill>
                <a:latin typeface="Arial"/>
                <a:cs typeface="Arial"/>
              </a:rPr>
              <a:t> </a:t>
            </a:r>
            <a:r>
              <a:rPr sz="650" spc="5" dirty="0">
                <a:solidFill>
                  <a:srgbClr val="231F20"/>
                </a:solidFill>
                <a:latin typeface="Arial"/>
                <a:cs typeface="Arial"/>
              </a:rPr>
              <a:t>(persistent)</a:t>
            </a:r>
            <a:r>
              <a:rPr sz="650" spc="-15" dirty="0">
                <a:solidFill>
                  <a:srgbClr val="231F20"/>
                </a:solidFill>
                <a:latin typeface="Arial"/>
                <a:cs typeface="Arial"/>
              </a:rPr>
              <a:t> </a:t>
            </a:r>
            <a:r>
              <a:rPr sz="650" spc="5" dirty="0">
                <a:solidFill>
                  <a:srgbClr val="231F20"/>
                </a:solidFill>
                <a:latin typeface="Arial"/>
                <a:cs typeface="Arial"/>
              </a:rPr>
              <a:t>data</a:t>
            </a:r>
            <a:r>
              <a:rPr sz="650" spc="-15"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p:txBody>
      </p:sp>
      <p:sp>
        <p:nvSpPr>
          <p:cNvPr id="46" name="object 4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13</a:t>
            </a:r>
            <a:r>
              <a:rPr spc="-40" dirty="0"/>
              <a:t> </a:t>
            </a:r>
            <a:r>
              <a:rPr spc="-5" dirty="0"/>
              <a:t>/</a:t>
            </a:r>
            <a:r>
              <a:rPr spc="-35" dirty="0"/>
              <a:t> </a:t>
            </a:r>
            <a:r>
              <a:rPr spc="-5" dirty="0"/>
              <a:t>36</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36</a:t>
            </a: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461579" y="716"/>
            <a:ext cx="10801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Publish-subscribe architectures</a:t>
            </a:r>
            <a:endParaRPr sz="600">
              <a:latin typeface="Arial"/>
              <a:cs typeface="Arial"/>
            </a:endParaRPr>
          </a:p>
        </p:txBody>
      </p:sp>
      <p:sp>
        <p:nvSpPr>
          <p:cNvPr id="4" name="object 4"/>
          <p:cNvSpPr txBox="1"/>
          <p:nvPr/>
        </p:nvSpPr>
        <p:spPr>
          <a:xfrm>
            <a:off x="95300" y="188846"/>
            <a:ext cx="227584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90" dirty="0">
                <a:solidFill>
                  <a:srgbClr val="3333B2"/>
                </a:solidFill>
                <a:latin typeface="Arial"/>
                <a:cs typeface="Arial"/>
              </a:rPr>
              <a:t> </a:t>
            </a:r>
            <a:r>
              <a:rPr sz="1400" spc="15" dirty="0">
                <a:solidFill>
                  <a:srgbClr val="3333B2"/>
                </a:solidFill>
                <a:latin typeface="Arial"/>
                <a:cs typeface="Arial"/>
              </a:rPr>
              <a:t>Linda</a:t>
            </a:r>
            <a:r>
              <a:rPr sz="1400" spc="-5" dirty="0">
                <a:solidFill>
                  <a:srgbClr val="3333B2"/>
                </a:solidFill>
                <a:latin typeface="Arial"/>
                <a:cs typeface="Arial"/>
              </a:rPr>
              <a:t> </a:t>
            </a:r>
            <a:r>
              <a:rPr sz="1400" spc="10" dirty="0">
                <a:solidFill>
                  <a:srgbClr val="3333B2"/>
                </a:solidFill>
                <a:latin typeface="Arial"/>
                <a:cs typeface="Arial"/>
              </a:rPr>
              <a:t>tuple</a:t>
            </a:r>
            <a:r>
              <a:rPr sz="1400" dirty="0">
                <a:solidFill>
                  <a:srgbClr val="3333B2"/>
                </a:solidFill>
                <a:latin typeface="Arial"/>
                <a:cs typeface="Arial"/>
              </a:rPr>
              <a:t> </a:t>
            </a:r>
            <a:r>
              <a:rPr sz="1400" spc="15" dirty="0">
                <a:solidFill>
                  <a:srgbClr val="3333B2"/>
                </a:solidFill>
                <a:latin typeface="Arial"/>
                <a:cs typeface="Arial"/>
              </a:rPr>
              <a:t>space</a:t>
            </a:r>
            <a:endParaRPr sz="1400">
              <a:latin typeface="Arial"/>
              <a:cs typeface="Arial"/>
            </a:endParaRPr>
          </a:p>
        </p:txBody>
      </p:sp>
      <p:sp>
        <p:nvSpPr>
          <p:cNvPr id="5" name="object 5"/>
          <p:cNvSpPr txBox="1"/>
          <p:nvPr/>
        </p:nvSpPr>
        <p:spPr>
          <a:xfrm>
            <a:off x="279095" y="817090"/>
            <a:ext cx="4044315" cy="1811655"/>
          </a:xfrm>
          <a:prstGeom prst="rect">
            <a:avLst/>
          </a:prstGeom>
        </p:spPr>
        <p:txBody>
          <a:bodyPr vert="horz" wrap="square" lIns="0" tIns="12065" rIns="0" bIns="0" rtlCol="0">
            <a:spAutoFit/>
          </a:bodyPr>
          <a:lstStyle/>
          <a:p>
            <a:pPr marL="76200">
              <a:lnSpc>
                <a:spcPct val="100000"/>
              </a:lnSpc>
              <a:spcBef>
                <a:spcPts val="95"/>
              </a:spcBef>
            </a:pPr>
            <a:r>
              <a:rPr sz="1200" spc="-5" dirty="0">
                <a:solidFill>
                  <a:srgbClr val="3333B2"/>
                </a:solidFill>
                <a:latin typeface="Arial"/>
                <a:cs typeface="Arial"/>
              </a:rPr>
              <a:t>Three</a:t>
            </a:r>
            <a:r>
              <a:rPr sz="1200" spc="-25" dirty="0">
                <a:solidFill>
                  <a:srgbClr val="3333B2"/>
                </a:solidFill>
                <a:latin typeface="Arial"/>
                <a:cs typeface="Arial"/>
              </a:rPr>
              <a:t> </a:t>
            </a:r>
            <a:r>
              <a:rPr sz="1200" spc="-5" dirty="0">
                <a:solidFill>
                  <a:srgbClr val="3333B2"/>
                </a:solidFill>
                <a:latin typeface="Arial"/>
                <a:cs typeface="Arial"/>
              </a:rPr>
              <a:t>simple</a:t>
            </a:r>
            <a:r>
              <a:rPr sz="1200" spc="-25" dirty="0">
                <a:solidFill>
                  <a:srgbClr val="3333B2"/>
                </a:solidFill>
                <a:latin typeface="Arial"/>
                <a:cs typeface="Arial"/>
              </a:rPr>
              <a:t> </a:t>
            </a:r>
            <a:r>
              <a:rPr sz="1200" spc="-5" dirty="0">
                <a:solidFill>
                  <a:srgbClr val="3333B2"/>
                </a:solidFill>
                <a:latin typeface="Arial"/>
                <a:cs typeface="Arial"/>
              </a:rPr>
              <a:t>operations</a:t>
            </a:r>
            <a:endParaRPr sz="1200">
              <a:latin typeface="Arial"/>
              <a:cs typeface="Arial"/>
            </a:endParaRPr>
          </a:p>
          <a:p>
            <a:pPr marL="351155" indent="-161925">
              <a:lnSpc>
                <a:spcPts val="1200"/>
              </a:lnSpc>
              <a:spcBef>
                <a:spcPts val="770"/>
              </a:spcBef>
              <a:buClr>
                <a:srgbClr val="3333B2"/>
              </a:buClr>
              <a:buFont typeface="Arial"/>
              <a:buChar char="►"/>
              <a:tabLst>
                <a:tab pos="351790" algn="l"/>
              </a:tabLst>
            </a:pPr>
            <a:r>
              <a:rPr sz="1000" spc="135" dirty="0">
                <a:latin typeface="Times New Roman"/>
                <a:cs typeface="Times New Roman"/>
              </a:rPr>
              <a:t>in(t)</a:t>
            </a:r>
            <a:r>
              <a:rPr sz="1000" spc="135" dirty="0">
                <a:latin typeface="Arial"/>
                <a:cs typeface="Arial"/>
              </a:rPr>
              <a:t>:</a:t>
            </a:r>
            <a:r>
              <a:rPr sz="1000" spc="55" dirty="0">
                <a:latin typeface="Arial"/>
                <a:cs typeface="Arial"/>
              </a:rPr>
              <a:t> </a:t>
            </a:r>
            <a:r>
              <a:rPr sz="1000" spc="-10" dirty="0">
                <a:latin typeface="Arial"/>
                <a:cs typeface="Arial"/>
              </a:rPr>
              <a:t>remove</a:t>
            </a:r>
            <a:r>
              <a:rPr sz="1000" spc="-5" dirty="0">
                <a:latin typeface="Arial"/>
                <a:cs typeface="Arial"/>
              </a:rPr>
              <a:t> a</a:t>
            </a:r>
            <a:r>
              <a:rPr sz="1000" spc="-10" dirty="0">
                <a:latin typeface="Arial"/>
                <a:cs typeface="Arial"/>
              </a:rPr>
              <a:t> </a:t>
            </a:r>
            <a:r>
              <a:rPr sz="1000" spc="-5" dirty="0">
                <a:latin typeface="Arial"/>
                <a:cs typeface="Arial"/>
              </a:rPr>
              <a:t>tuple matching template</a:t>
            </a:r>
            <a:r>
              <a:rPr sz="1000" spc="204" dirty="0">
                <a:latin typeface="Arial"/>
                <a:cs typeface="Arial"/>
              </a:rPr>
              <a:t> </a:t>
            </a:r>
            <a:r>
              <a:rPr sz="1000" spc="315" dirty="0">
                <a:latin typeface="Times New Roman"/>
                <a:cs typeface="Times New Roman"/>
              </a:rPr>
              <a:t>t</a:t>
            </a:r>
            <a:endParaRPr sz="1000">
              <a:latin typeface="Times New Roman"/>
              <a:cs typeface="Times New Roman"/>
            </a:endParaRPr>
          </a:p>
          <a:p>
            <a:pPr marL="351155" indent="-161925">
              <a:lnSpc>
                <a:spcPts val="1195"/>
              </a:lnSpc>
              <a:buClr>
                <a:srgbClr val="3333B2"/>
              </a:buClr>
              <a:buFont typeface="Arial"/>
              <a:buChar char="►"/>
              <a:tabLst>
                <a:tab pos="351790" algn="l"/>
              </a:tabLst>
            </a:pPr>
            <a:r>
              <a:rPr sz="1000" spc="125" dirty="0">
                <a:latin typeface="Times New Roman"/>
                <a:cs typeface="Times New Roman"/>
              </a:rPr>
              <a:t>rd(t)</a:t>
            </a:r>
            <a:r>
              <a:rPr sz="1000" spc="125" dirty="0">
                <a:latin typeface="Arial"/>
                <a:cs typeface="Arial"/>
              </a:rPr>
              <a:t>:</a:t>
            </a:r>
            <a:r>
              <a:rPr sz="1000" spc="60" dirty="0">
                <a:latin typeface="Arial"/>
                <a:cs typeface="Arial"/>
              </a:rPr>
              <a:t> </a:t>
            </a:r>
            <a:r>
              <a:rPr sz="1000" spc="-5" dirty="0">
                <a:latin typeface="Arial"/>
                <a:cs typeface="Arial"/>
              </a:rPr>
              <a:t>obtain </a:t>
            </a:r>
            <a:r>
              <a:rPr sz="1000" spc="-10" dirty="0">
                <a:latin typeface="Arial"/>
                <a:cs typeface="Arial"/>
              </a:rPr>
              <a:t>copy</a:t>
            </a:r>
            <a:r>
              <a:rPr sz="1000" spc="-5" dirty="0">
                <a:latin typeface="Arial"/>
                <a:cs typeface="Arial"/>
              </a:rPr>
              <a:t> of</a:t>
            </a:r>
            <a:r>
              <a:rPr sz="1000" dirty="0">
                <a:latin typeface="Arial"/>
                <a:cs typeface="Arial"/>
              </a:rPr>
              <a:t> </a:t>
            </a:r>
            <a:r>
              <a:rPr sz="1000" spc="-5" dirty="0">
                <a:latin typeface="Arial"/>
                <a:cs typeface="Arial"/>
              </a:rPr>
              <a:t>a tuple matching template</a:t>
            </a:r>
            <a:r>
              <a:rPr sz="1000" spc="210" dirty="0">
                <a:latin typeface="Arial"/>
                <a:cs typeface="Arial"/>
              </a:rPr>
              <a:t> </a:t>
            </a:r>
            <a:r>
              <a:rPr sz="1000" spc="315" dirty="0">
                <a:latin typeface="Times New Roman"/>
                <a:cs typeface="Times New Roman"/>
              </a:rPr>
              <a:t>t</a:t>
            </a:r>
            <a:endParaRPr sz="1000">
              <a:latin typeface="Times New Roman"/>
              <a:cs typeface="Times New Roman"/>
            </a:endParaRPr>
          </a:p>
          <a:p>
            <a:pPr marL="351155" indent="-161925">
              <a:lnSpc>
                <a:spcPts val="1200"/>
              </a:lnSpc>
              <a:buClr>
                <a:srgbClr val="3333B2"/>
              </a:buClr>
              <a:buFont typeface="Arial"/>
              <a:buChar char="►"/>
              <a:tabLst>
                <a:tab pos="351790" algn="l"/>
              </a:tabLst>
            </a:pPr>
            <a:r>
              <a:rPr sz="1000" spc="114" dirty="0">
                <a:latin typeface="Times New Roman"/>
                <a:cs typeface="Times New Roman"/>
              </a:rPr>
              <a:t>out(t)</a:t>
            </a:r>
            <a:r>
              <a:rPr sz="1000" spc="114" dirty="0">
                <a:latin typeface="Arial"/>
                <a:cs typeface="Arial"/>
              </a:rPr>
              <a:t>:</a:t>
            </a:r>
            <a:r>
              <a:rPr sz="1000" spc="55" dirty="0">
                <a:latin typeface="Arial"/>
                <a:cs typeface="Arial"/>
              </a:rPr>
              <a:t> </a:t>
            </a:r>
            <a:r>
              <a:rPr sz="1000" spc="-5" dirty="0">
                <a:latin typeface="Arial"/>
                <a:cs typeface="Arial"/>
              </a:rPr>
              <a:t>add tuple</a:t>
            </a:r>
            <a:r>
              <a:rPr sz="1000" spc="204" dirty="0">
                <a:latin typeface="Arial"/>
                <a:cs typeface="Arial"/>
              </a:rPr>
              <a:t> </a:t>
            </a:r>
            <a:r>
              <a:rPr sz="1000" spc="315" dirty="0">
                <a:latin typeface="Times New Roman"/>
                <a:cs typeface="Times New Roman"/>
              </a:rPr>
              <a:t>t</a:t>
            </a:r>
            <a:r>
              <a:rPr sz="1000" spc="-55" dirty="0">
                <a:latin typeface="Times New Roman"/>
                <a:cs typeface="Times New Roman"/>
              </a:rPr>
              <a:t> </a:t>
            </a:r>
            <a:r>
              <a:rPr sz="1000" spc="-5" dirty="0">
                <a:latin typeface="Arial"/>
                <a:cs typeface="Arial"/>
              </a:rPr>
              <a:t>to</a:t>
            </a:r>
            <a:r>
              <a:rPr sz="1000" spc="-10" dirty="0">
                <a:latin typeface="Arial"/>
                <a:cs typeface="Arial"/>
              </a:rPr>
              <a:t> </a:t>
            </a:r>
            <a:r>
              <a:rPr sz="1000" spc="-5" dirty="0">
                <a:latin typeface="Arial"/>
                <a:cs typeface="Arial"/>
              </a:rPr>
              <a:t>the tuple space</a:t>
            </a:r>
            <a:endParaRPr sz="1000">
              <a:latin typeface="Arial"/>
              <a:cs typeface="Arial"/>
            </a:endParaRPr>
          </a:p>
          <a:p>
            <a:pPr>
              <a:lnSpc>
                <a:spcPct val="100000"/>
              </a:lnSpc>
              <a:spcBef>
                <a:spcPts val="5"/>
              </a:spcBef>
              <a:buClr>
                <a:srgbClr val="3333B2"/>
              </a:buClr>
              <a:buFont typeface="Arial"/>
              <a:buChar char="►"/>
            </a:pPr>
            <a:endParaRPr sz="1300">
              <a:latin typeface="Arial"/>
              <a:cs typeface="Arial"/>
            </a:endParaRPr>
          </a:p>
          <a:p>
            <a:pPr marL="80645">
              <a:lnSpc>
                <a:spcPct val="100000"/>
              </a:lnSpc>
            </a:pPr>
            <a:r>
              <a:rPr sz="1200" spc="-5" dirty="0">
                <a:solidFill>
                  <a:srgbClr val="3333B2"/>
                </a:solidFill>
                <a:latin typeface="Arial"/>
                <a:cs typeface="Arial"/>
              </a:rPr>
              <a:t>More</a:t>
            </a:r>
            <a:r>
              <a:rPr sz="1200" spc="-40" dirty="0">
                <a:solidFill>
                  <a:srgbClr val="3333B2"/>
                </a:solidFill>
                <a:latin typeface="Arial"/>
                <a:cs typeface="Arial"/>
              </a:rPr>
              <a:t> </a:t>
            </a:r>
            <a:r>
              <a:rPr sz="1200" spc="-5" dirty="0">
                <a:solidFill>
                  <a:srgbClr val="3333B2"/>
                </a:solidFill>
                <a:latin typeface="Arial"/>
                <a:cs typeface="Arial"/>
              </a:rPr>
              <a:t>details</a:t>
            </a:r>
            <a:endParaRPr sz="1200">
              <a:latin typeface="Arial"/>
              <a:cs typeface="Arial"/>
            </a:endParaRPr>
          </a:p>
          <a:p>
            <a:pPr marL="357505" indent="-168275">
              <a:lnSpc>
                <a:spcPts val="1200"/>
              </a:lnSpc>
              <a:spcBef>
                <a:spcPts val="540"/>
              </a:spcBef>
              <a:buClr>
                <a:srgbClr val="3333B2"/>
              </a:buClr>
              <a:buChar char="►"/>
              <a:tabLst>
                <a:tab pos="358140" algn="l"/>
              </a:tabLst>
            </a:pPr>
            <a:r>
              <a:rPr sz="1000" spc="-10" dirty="0">
                <a:latin typeface="Arial"/>
                <a:cs typeface="Arial"/>
              </a:rPr>
              <a:t>Calling</a:t>
            </a:r>
            <a:r>
              <a:rPr sz="1000" spc="215" dirty="0">
                <a:latin typeface="Arial"/>
                <a:cs typeface="Arial"/>
              </a:rPr>
              <a:t> </a:t>
            </a:r>
            <a:r>
              <a:rPr sz="1000" spc="140" dirty="0">
                <a:latin typeface="Times New Roman"/>
                <a:cs typeface="Times New Roman"/>
              </a:rPr>
              <a:t>out(t)</a:t>
            </a:r>
            <a:r>
              <a:rPr sz="1000" spc="-50" dirty="0">
                <a:latin typeface="Times New Roman"/>
                <a:cs typeface="Times New Roman"/>
              </a:rPr>
              <a:t> </a:t>
            </a:r>
            <a:r>
              <a:rPr sz="1000" spc="-10" dirty="0">
                <a:latin typeface="Arial"/>
                <a:cs typeface="Arial"/>
              </a:rPr>
              <a:t>twice</a:t>
            </a:r>
            <a:r>
              <a:rPr sz="1000" dirty="0">
                <a:latin typeface="Arial"/>
                <a:cs typeface="Arial"/>
              </a:rPr>
              <a:t> </a:t>
            </a:r>
            <a:r>
              <a:rPr sz="1000" spc="-10" dirty="0">
                <a:latin typeface="Arial"/>
                <a:cs typeface="Arial"/>
              </a:rPr>
              <a:t>in</a:t>
            </a:r>
            <a:r>
              <a:rPr sz="1000" dirty="0">
                <a:latin typeface="Arial"/>
                <a:cs typeface="Arial"/>
              </a:rPr>
              <a:t> </a:t>
            </a:r>
            <a:r>
              <a:rPr sz="1000" spc="-10" dirty="0">
                <a:latin typeface="Arial"/>
                <a:cs typeface="Arial"/>
              </a:rPr>
              <a:t>a</a:t>
            </a:r>
            <a:r>
              <a:rPr sz="1000" dirty="0">
                <a:latin typeface="Arial"/>
                <a:cs typeface="Arial"/>
              </a:rPr>
              <a:t> </a:t>
            </a:r>
            <a:r>
              <a:rPr sz="1000" spc="-25" dirty="0">
                <a:latin typeface="Arial"/>
                <a:cs typeface="Arial"/>
              </a:rPr>
              <a:t>row,</a:t>
            </a:r>
            <a:r>
              <a:rPr sz="1000" dirty="0">
                <a:latin typeface="Arial"/>
                <a:cs typeface="Arial"/>
              </a:rPr>
              <a:t> </a:t>
            </a:r>
            <a:r>
              <a:rPr sz="1000" spc="-10" dirty="0">
                <a:latin typeface="Arial"/>
                <a:cs typeface="Arial"/>
              </a:rPr>
              <a:t>leads</a:t>
            </a:r>
            <a:r>
              <a:rPr sz="1000" spc="5" dirty="0">
                <a:latin typeface="Arial"/>
                <a:cs typeface="Arial"/>
              </a:rPr>
              <a:t> </a:t>
            </a:r>
            <a:r>
              <a:rPr sz="1000" spc="-10" dirty="0">
                <a:latin typeface="Arial"/>
                <a:cs typeface="Arial"/>
              </a:rPr>
              <a:t>to</a:t>
            </a:r>
            <a:r>
              <a:rPr sz="1000" dirty="0">
                <a:latin typeface="Arial"/>
                <a:cs typeface="Arial"/>
              </a:rPr>
              <a:t> </a:t>
            </a:r>
            <a:r>
              <a:rPr sz="1000" spc="-5" dirty="0">
                <a:latin typeface="Arial"/>
                <a:cs typeface="Arial"/>
              </a:rPr>
              <a:t>storing</a:t>
            </a:r>
            <a:r>
              <a:rPr sz="1000" dirty="0">
                <a:latin typeface="Arial"/>
                <a:cs typeface="Arial"/>
              </a:rPr>
              <a:t> </a:t>
            </a:r>
            <a:r>
              <a:rPr sz="1000" spc="-10" dirty="0">
                <a:solidFill>
                  <a:srgbClr val="FA0000"/>
                </a:solidFill>
                <a:latin typeface="Arial"/>
                <a:cs typeface="Arial"/>
              </a:rPr>
              <a:t>two</a:t>
            </a:r>
            <a:r>
              <a:rPr sz="1000" dirty="0">
                <a:solidFill>
                  <a:srgbClr val="FA0000"/>
                </a:solidFill>
                <a:latin typeface="Arial"/>
                <a:cs typeface="Arial"/>
              </a:rPr>
              <a:t> </a:t>
            </a:r>
            <a:r>
              <a:rPr sz="1000" spc="-10" dirty="0">
                <a:latin typeface="Arial"/>
                <a:cs typeface="Arial"/>
              </a:rPr>
              <a:t>copies</a:t>
            </a:r>
            <a:r>
              <a:rPr sz="1000"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tuple</a:t>
            </a:r>
            <a:endParaRPr sz="1000">
              <a:latin typeface="Arial"/>
              <a:cs typeface="Arial"/>
            </a:endParaRPr>
          </a:p>
          <a:p>
            <a:pPr marL="357505" indent="-168275">
              <a:lnSpc>
                <a:spcPts val="1195"/>
              </a:lnSpc>
              <a:buClr>
                <a:srgbClr val="3333B2"/>
              </a:buClr>
              <a:buFont typeface="Arial"/>
              <a:buChar char="►"/>
              <a:tabLst>
                <a:tab pos="358140" algn="l"/>
              </a:tabLst>
            </a:pPr>
            <a:r>
              <a:rPr sz="1000" spc="315" dirty="0">
                <a:latin typeface="Times New Roman"/>
                <a:cs typeface="Times New Roman"/>
              </a:rPr>
              <a:t>t</a:t>
            </a:r>
            <a:r>
              <a:rPr sz="1000" spc="-60" dirty="0">
                <a:latin typeface="Times New Roman"/>
                <a:cs typeface="Times New Roman"/>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a tuple space is modeled as a </a:t>
            </a:r>
            <a:r>
              <a:rPr sz="1000" spc="-5" dirty="0">
                <a:solidFill>
                  <a:srgbClr val="0000FA"/>
                </a:solidFill>
                <a:latin typeface="Arial"/>
                <a:cs typeface="Arial"/>
              </a:rPr>
              <a:t>multiset</a:t>
            </a:r>
            <a:r>
              <a:rPr sz="1000" spc="-5" dirty="0">
                <a:latin typeface="Arial"/>
                <a:cs typeface="Arial"/>
              </a:rPr>
              <a:t>.</a:t>
            </a:r>
            <a:endParaRPr sz="1000">
              <a:latin typeface="Arial"/>
              <a:cs typeface="Arial"/>
            </a:endParaRPr>
          </a:p>
          <a:p>
            <a:pPr marL="357505" marR="67310">
              <a:lnSpc>
                <a:spcPts val="1200"/>
              </a:lnSpc>
              <a:spcBef>
                <a:spcPts val="40"/>
              </a:spcBef>
            </a:pPr>
            <a:r>
              <a:rPr sz="1000" spc="-15" dirty="0">
                <a:latin typeface="Arial"/>
                <a:cs typeface="Arial"/>
              </a:rPr>
              <a:t>Both</a:t>
            </a:r>
            <a:r>
              <a:rPr sz="1000" spc="215" dirty="0">
                <a:latin typeface="Arial"/>
                <a:cs typeface="Arial"/>
              </a:rPr>
              <a:t> </a:t>
            </a:r>
            <a:r>
              <a:rPr sz="1000" spc="155" dirty="0">
                <a:latin typeface="Times New Roman"/>
                <a:cs typeface="Times New Roman"/>
              </a:rPr>
              <a:t>in</a:t>
            </a:r>
            <a:r>
              <a:rPr sz="1000" spc="-50" dirty="0">
                <a:latin typeface="Times New Roman"/>
                <a:cs typeface="Times New Roman"/>
              </a:rPr>
              <a:t> </a:t>
            </a:r>
            <a:r>
              <a:rPr sz="1000" spc="-15" dirty="0">
                <a:latin typeface="Arial"/>
                <a:cs typeface="Arial"/>
              </a:rPr>
              <a:t>and</a:t>
            </a:r>
            <a:r>
              <a:rPr sz="1000" spc="220" dirty="0">
                <a:latin typeface="Arial"/>
                <a:cs typeface="Arial"/>
              </a:rPr>
              <a:t> </a:t>
            </a:r>
            <a:r>
              <a:rPr sz="1000" spc="130" dirty="0">
                <a:latin typeface="Times New Roman"/>
                <a:cs typeface="Times New Roman"/>
              </a:rPr>
              <a:t>rd</a:t>
            </a:r>
            <a:r>
              <a:rPr sz="1000" spc="-50" dirty="0">
                <a:latin typeface="Times New Roman"/>
                <a:cs typeface="Times New Roman"/>
              </a:rPr>
              <a:t> </a:t>
            </a:r>
            <a:r>
              <a:rPr sz="1000" spc="-15" dirty="0">
                <a:latin typeface="Arial"/>
                <a:cs typeface="Arial"/>
              </a:rPr>
              <a:t>are</a:t>
            </a:r>
            <a:r>
              <a:rPr sz="1000" dirty="0">
                <a:latin typeface="Arial"/>
                <a:cs typeface="Arial"/>
              </a:rPr>
              <a:t> </a:t>
            </a:r>
            <a:r>
              <a:rPr sz="1000" spc="-20" dirty="0">
                <a:solidFill>
                  <a:srgbClr val="0000FA"/>
                </a:solidFill>
                <a:latin typeface="Arial"/>
                <a:cs typeface="Arial"/>
              </a:rPr>
              <a:t>blocking</a:t>
            </a:r>
            <a:r>
              <a:rPr sz="1000" dirty="0">
                <a:solidFill>
                  <a:srgbClr val="0000FA"/>
                </a:solidFill>
                <a:latin typeface="Arial"/>
                <a:cs typeface="Arial"/>
              </a:rPr>
              <a:t> </a:t>
            </a:r>
            <a:r>
              <a:rPr sz="1000" spc="-15" dirty="0">
                <a:latin typeface="Arial"/>
                <a:cs typeface="Arial"/>
              </a:rPr>
              <a:t>operations:</a:t>
            </a:r>
            <a:r>
              <a:rPr sz="1000" spc="70" dirty="0">
                <a:latin typeface="Arial"/>
                <a:cs typeface="Arial"/>
              </a:rPr>
              <a:t> </a:t>
            </a:r>
            <a:r>
              <a:rPr sz="1000" spc="-15" dirty="0">
                <a:latin typeface="Arial"/>
                <a:cs typeface="Arial"/>
              </a:rPr>
              <a:t>the</a:t>
            </a:r>
            <a:r>
              <a:rPr sz="1000" dirty="0">
                <a:latin typeface="Arial"/>
                <a:cs typeface="Arial"/>
              </a:rPr>
              <a:t> </a:t>
            </a:r>
            <a:r>
              <a:rPr sz="1000" spc="-10" dirty="0">
                <a:latin typeface="Arial"/>
                <a:cs typeface="Arial"/>
              </a:rPr>
              <a:t>caller</a:t>
            </a:r>
            <a:r>
              <a:rPr sz="1000" dirty="0">
                <a:latin typeface="Arial"/>
                <a:cs typeface="Arial"/>
              </a:rPr>
              <a:t> </a:t>
            </a:r>
            <a:r>
              <a:rPr sz="1000" spc="-10" dirty="0">
                <a:latin typeface="Arial"/>
                <a:cs typeface="Arial"/>
              </a:rPr>
              <a:t>will</a:t>
            </a:r>
            <a:r>
              <a:rPr sz="1000" spc="5" dirty="0">
                <a:latin typeface="Arial"/>
                <a:cs typeface="Arial"/>
              </a:rPr>
              <a:t> </a:t>
            </a:r>
            <a:r>
              <a:rPr sz="1000" spc="-15" dirty="0">
                <a:latin typeface="Arial"/>
                <a:cs typeface="Arial"/>
              </a:rPr>
              <a:t>be</a:t>
            </a:r>
            <a:r>
              <a:rPr sz="1000" dirty="0">
                <a:latin typeface="Arial"/>
                <a:cs typeface="Arial"/>
              </a:rPr>
              <a:t> </a:t>
            </a:r>
            <a:r>
              <a:rPr sz="1000" spc="-25" dirty="0">
                <a:latin typeface="Arial"/>
                <a:cs typeface="Arial"/>
              </a:rPr>
              <a:t>blocked </a:t>
            </a:r>
            <a:r>
              <a:rPr sz="1000" spc="-265" dirty="0">
                <a:latin typeface="Arial"/>
                <a:cs typeface="Arial"/>
              </a:rPr>
              <a:t> </a:t>
            </a:r>
            <a:r>
              <a:rPr sz="1000" spc="-5" dirty="0">
                <a:latin typeface="Arial"/>
                <a:cs typeface="Arial"/>
              </a:rPr>
              <a:t>until a matching tuple is </a:t>
            </a:r>
            <a:r>
              <a:rPr sz="1000" spc="-10" dirty="0">
                <a:latin typeface="Arial"/>
                <a:cs typeface="Arial"/>
              </a:rPr>
              <a:t>found,</a:t>
            </a:r>
            <a:r>
              <a:rPr sz="1000" dirty="0">
                <a:latin typeface="Arial"/>
                <a:cs typeface="Arial"/>
              </a:rPr>
              <a:t> </a:t>
            </a:r>
            <a:r>
              <a:rPr sz="1000" spc="-5" dirty="0">
                <a:latin typeface="Arial"/>
                <a:cs typeface="Arial"/>
              </a:rPr>
              <a:t>or has become </a:t>
            </a:r>
            <a:r>
              <a:rPr sz="1000" spc="-10" dirty="0">
                <a:latin typeface="Arial"/>
                <a:cs typeface="Arial"/>
              </a:rPr>
              <a:t>available.</a:t>
            </a:r>
            <a:endParaRPr sz="10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15</a:t>
            </a:r>
            <a:r>
              <a:rPr spc="-40" dirty="0"/>
              <a:t> </a:t>
            </a:r>
            <a:r>
              <a:rPr spc="-5" dirty="0"/>
              <a:t>/</a:t>
            </a:r>
            <a:r>
              <a:rPr spc="-35" dirty="0"/>
              <a:t> </a:t>
            </a:r>
            <a:r>
              <a:rPr spc="-5" dirty="0"/>
              <a:t>36</a:t>
            </a:r>
          </a:p>
        </p:txBody>
      </p:sp>
      <p:sp>
        <p:nvSpPr>
          <p:cNvPr id="2" name="object 2"/>
          <p:cNvSpPr txBox="1"/>
          <p:nvPr/>
        </p:nvSpPr>
        <p:spPr>
          <a:xfrm>
            <a:off x="66713" y="716"/>
            <a:ext cx="11658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Architectural</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styles</a:t>
            </a:r>
            <a:endParaRPr sz="600">
              <a:latin typeface="Arial"/>
              <a:cs typeface="Arial"/>
            </a:endParaRPr>
          </a:p>
        </p:txBody>
      </p:sp>
      <p:sp>
        <p:nvSpPr>
          <p:cNvPr id="3" name="object 3"/>
          <p:cNvSpPr txBox="1"/>
          <p:nvPr/>
        </p:nvSpPr>
        <p:spPr>
          <a:xfrm>
            <a:off x="3461579" y="716"/>
            <a:ext cx="10801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Publish-subscribe architectures</a:t>
            </a:r>
            <a:endParaRPr sz="600">
              <a:latin typeface="Arial"/>
              <a:cs typeface="Arial"/>
            </a:endParaRPr>
          </a:p>
        </p:txBody>
      </p:sp>
      <p:sp>
        <p:nvSpPr>
          <p:cNvPr id="4" name="object 4"/>
          <p:cNvSpPr txBox="1"/>
          <p:nvPr/>
        </p:nvSpPr>
        <p:spPr>
          <a:xfrm>
            <a:off x="95300" y="188846"/>
            <a:ext cx="227584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90" dirty="0">
                <a:solidFill>
                  <a:srgbClr val="3333B2"/>
                </a:solidFill>
                <a:latin typeface="Arial"/>
                <a:cs typeface="Arial"/>
              </a:rPr>
              <a:t> </a:t>
            </a:r>
            <a:r>
              <a:rPr sz="1400" spc="15" dirty="0">
                <a:solidFill>
                  <a:srgbClr val="3333B2"/>
                </a:solidFill>
                <a:latin typeface="Arial"/>
                <a:cs typeface="Arial"/>
              </a:rPr>
              <a:t>Linda</a:t>
            </a:r>
            <a:r>
              <a:rPr sz="1400" spc="-5" dirty="0">
                <a:solidFill>
                  <a:srgbClr val="3333B2"/>
                </a:solidFill>
                <a:latin typeface="Arial"/>
                <a:cs typeface="Arial"/>
              </a:rPr>
              <a:t> </a:t>
            </a:r>
            <a:r>
              <a:rPr sz="1400" spc="10" dirty="0">
                <a:solidFill>
                  <a:srgbClr val="3333B2"/>
                </a:solidFill>
                <a:latin typeface="Arial"/>
                <a:cs typeface="Arial"/>
              </a:rPr>
              <a:t>tuple</a:t>
            </a:r>
            <a:r>
              <a:rPr sz="1400" dirty="0">
                <a:solidFill>
                  <a:srgbClr val="3333B2"/>
                </a:solidFill>
                <a:latin typeface="Arial"/>
                <a:cs typeface="Arial"/>
              </a:rPr>
              <a:t> </a:t>
            </a:r>
            <a:r>
              <a:rPr sz="1400" spc="15" dirty="0">
                <a:solidFill>
                  <a:srgbClr val="3333B2"/>
                </a:solidFill>
                <a:latin typeface="Arial"/>
                <a:cs typeface="Arial"/>
              </a:rPr>
              <a:t>space</a:t>
            </a:r>
            <a:endParaRPr sz="1400">
              <a:latin typeface="Arial"/>
              <a:cs typeface="Arial"/>
            </a:endParaRPr>
          </a:p>
        </p:txBody>
      </p:sp>
      <p:sp>
        <p:nvSpPr>
          <p:cNvPr id="5" name="object 5"/>
          <p:cNvSpPr txBox="1"/>
          <p:nvPr/>
        </p:nvSpPr>
        <p:spPr>
          <a:xfrm>
            <a:off x="301752" y="654199"/>
            <a:ext cx="3443604" cy="2285365"/>
          </a:xfrm>
          <a:prstGeom prst="rect">
            <a:avLst/>
          </a:prstGeom>
        </p:spPr>
        <p:txBody>
          <a:bodyPr vert="horz" wrap="square" lIns="0" tIns="12065" rIns="0" bIns="0" rtlCol="0">
            <a:spAutoFit/>
          </a:bodyPr>
          <a:lstStyle/>
          <a:p>
            <a:pPr marL="57785">
              <a:lnSpc>
                <a:spcPts val="1390"/>
              </a:lnSpc>
              <a:spcBef>
                <a:spcPts val="95"/>
              </a:spcBef>
            </a:pPr>
            <a:r>
              <a:rPr sz="1200" spc="-5" dirty="0">
                <a:solidFill>
                  <a:srgbClr val="3333B2"/>
                </a:solidFill>
                <a:latin typeface="Arial"/>
                <a:cs typeface="Arial"/>
              </a:rPr>
              <a:t>Bob</a:t>
            </a:r>
            <a:endParaRPr sz="1200">
              <a:latin typeface="Arial"/>
              <a:cs typeface="Arial"/>
            </a:endParaRPr>
          </a:p>
          <a:p>
            <a:pPr marL="12700">
              <a:lnSpc>
                <a:spcPts val="910"/>
              </a:lnSpc>
            </a:pPr>
            <a:r>
              <a:rPr sz="600" spc="55" dirty="0">
                <a:latin typeface="Times New Roman"/>
                <a:cs typeface="Times New Roman"/>
              </a:rPr>
              <a:t>1 </a:t>
            </a:r>
            <a:r>
              <a:rPr sz="600" spc="220" dirty="0">
                <a:latin typeface="Times New Roman"/>
                <a:cs typeface="Times New Roman"/>
              </a:rPr>
              <a:t> </a:t>
            </a:r>
            <a:r>
              <a:rPr sz="800" spc="70" dirty="0">
                <a:latin typeface="Times New Roman"/>
                <a:cs typeface="Times New Roman"/>
              </a:rPr>
              <a:t>blog</a:t>
            </a:r>
            <a:r>
              <a:rPr sz="800" spc="12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60" dirty="0">
                <a:latin typeface="Times New Roman"/>
                <a:cs typeface="Times New Roman"/>
              </a:rPr>
              <a:t>linda.universe._rd((</a:t>
            </a:r>
            <a:r>
              <a:rPr sz="800" spc="60" dirty="0">
                <a:solidFill>
                  <a:srgbClr val="FA0000"/>
                </a:solidFill>
                <a:latin typeface="Times New Roman"/>
                <a:cs typeface="Times New Roman"/>
              </a:rPr>
              <a:t>"MicroBlog"</a:t>
            </a:r>
            <a:r>
              <a:rPr sz="800" spc="60" dirty="0">
                <a:latin typeface="Times New Roman"/>
                <a:cs typeface="Times New Roman"/>
              </a:rPr>
              <a:t>,linda.TupleSpace))[1]</a:t>
            </a:r>
            <a:endParaRPr sz="800">
              <a:latin typeface="Times New Roman"/>
              <a:cs typeface="Times New Roman"/>
            </a:endParaRPr>
          </a:p>
          <a:p>
            <a:pPr marL="12700">
              <a:lnSpc>
                <a:spcPts val="685"/>
              </a:lnSpc>
              <a:spcBef>
                <a:spcPts val="90"/>
              </a:spcBef>
            </a:pPr>
            <a:r>
              <a:rPr sz="600" spc="55" dirty="0">
                <a:latin typeface="Times New Roman"/>
                <a:cs typeface="Times New Roman"/>
              </a:rPr>
              <a:t>2</a:t>
            </a:r>
            <a:endParaRPr sz="600">
              <a:latin typeface="Times New Roman"/>
              <a:cs typeface="Times New Roman"/>
            </a:endParaRPr>
          </a:p>
          <a:p>
            <a:pPr marL="12700">
              <a:lnSpc>
                <a:spcPts val="869"/>
              </a:lnSpc>
            </a:pPr>
            <a:r>
              <a:rPr sz="600" spc="55" dirty="0">
                <a:latin typeface="Times New Roman"/>
                <a:cs typeface="Times New Roman"/>
              </a:rPr>
              <a:t>3 </a:t>
            </a:r>
            <a:r>
              <a:rPr sz="600" spc="165" dirty="0">
                <a:latin typeface="Times New Roman"/>
                <a:cs typeface="Times New Roman"/>
              </a:rPr>
              <a:t> </a:t>
            </a:r>
            <a:r>
              <a:rPr sz="800" spc="80" dirty="0">
                <a:latin typeface="Times New Roman"/>
                <a:cs typeface="Times New Roman"/>
              </a:rPr>
              <a:t>blog._out((</a:t>
            </a:r>
            <a:r>
              <a:rPr sz="800" spc="80" dirty="0">
                <a:solidFill>
                  <a:srgbClr val="FA0000"/>
                </a:solidFill>
                <a:latin typeface="Times New Roman"/>
                <a:cs typeface="Times New Roman"/>
              </a:rPr>
              <a:t>"bob"</a:t>
            </a:r>
            <a:r>
              <a:rPr sz="800" spc="80" dirty="0">
                <a:latin typeface="Times New Roman"/>
                <a:cs typeface="Times New Roman"/>
              </a:rPr>
              <a:t>,</a:t>
            </a:r>
            <a:r>
              <a:rPr sz="800" spc="80" dirty="0">
                <a:solidFill>
                  <a:srgbClr val="FA0000"/>
                </a:solidFill>
                <a:latin typeface="Times New Roman"/>
                <a:cs typeface="Times New Roman"/>
              </a:rPr>
              <a:t>"distsys"</a:t>
            </a:r>
            <a:r>
              <a:rPr sz="800" spc="80" dirty="0">
                <a:latin typeface="Times New Roman"/>
                <a:cs typeface="Times New Roman"/>
              </a:rPr>
              <a:t>,</a:t>
            </a:r>
            <a:r>
              <a:rPr sz="800" spc="80" dirty="0">
                <a:solidFill>
                  <a:srgbClr val="FA0000"/>
                </a:solidFill>
                <a:latin typeface="Times New Roman"/>
                <a:cs typeface="Times New Roman"/>
              </a:rPr>
              <a:t>"I</a:t>
            </a:r>
            <a:r>
              <a:rPr sz="800" spc="105" dirty="0">
                <a:solidFill>
                  <a:srgbClr val="FA0000"/>
                </a:solidFill>
                <a:latin typeface="Times New Roman"/>
                <a:cs typeface="Times New Roman"/>
              </a:rPr>
              <a:t> </a:t>
            </a:r>
            <a:r>
              <a:rPr sz="800" spc="-40" dirty="0">
                <a:solidFill>
                  <a:srgbClr val="FA0000"/>
                </a:solidFill>
                <a:latin typeface="Times New Roman"/>
                <a:cs typeface="Times New Roman"/>
              </a:rPr>
              <a:t>am</a:t>
            </a:r>
            <a:r>
              <a:rPr sz="800" spc="65" dirty="0">
                <a:solidFill>
                  <a:srgbClr val="FA0000"/>
                </a:solidFill>
                <a:latin typeface="Times New Roman"/>
                <a:cs typeface="Times New Roman"/>
              </a:rPr>
              <a:t> studying</a:t>
            </a:r>
            <a:r>
              <a:rPr sz="800" spc="60" dirty="0">
                <a:solidFill>
                  <a:srgbClr val="FA0000"/>
                </a:solidFill>
                <a:latin typeface="Times New Roman"/>
                <a:cs typeface="Times New Roman"/>
              </a:rPr>
              <a:t> </a:t>
            </a:r>
            <a:r>
              <a:rPr sz="800" spc="50" dirty="0">
                <a:solidFill>
                  <a:srgbClr val="FA0000"/>
                </a:solidFill>
                <a:latin typeface="Times New Roman"/>
                <a:cs typeface="Times New Roman"/>
              </a:rPr>
              <a:t>chap</a:t>
            </a:r>
            <a:r>
              <a:rPr sz="800" spc="85" dirty="0">
                <a:solidFill>
                  <a:srgbClr val="FA0000"/>
                </a:solidFill>
                <a:latin typeface="Times New Roman"/>
                <a:cs typeface="Times New Roman"/>
              </a:rPr>
              <a:t> </a:t>
            </a:r>
            <a:r>
              <a:rPr sz="800" spc="105" dirty="0">
                <a:solidFill>
                  <a:srgbClr val="FA0000"/>
                </a:solidFill>
                <a:latin typeface="Times New Roman"/>
                <a:cs typeface="Times New Roman"/>
              </a:rPr>
              <a:t>2"</a:t>
            </a:r>
            <a:r>
              <a:rPr sz="800" spc="105" dirty="0">
                <a:latin typeface="Times New Roman"/>
                <a:cs typeface="Times New Roman"/>
              </a:rPr>
              <a:t>))</a:t>
            </a:r>
            <a:endParaRPr sz="800">
              <a:latin typeface="Times New Roman"/>
              <a:cs typeface="Times New Roman"/>
            </a:endParaRPr>
          </a:p>
          <a:p>
            <a:pPr marL="12700">
              <a:lnSpc>
                <a:spcPts val="850"/>
              </a:lnSpc>
            </a:pPr>
            <a:r>
              <a:rPr sz="600" spc="55" dirty="0">
                <a:latin typeface="Times New Roman"/>
                <a:cs typeface="Times New Roman"/>
              </a:rPr>
              <a:t>4 </a:t>
            </a:r>
            <a:r>
              <a:rPr sz="600" spc="180" dirty="0">
                <a:latin typeface="Times New Roman"/>
                <a:cs typeface="Times New Roman"/>
              </a:rPr>
              <a:t> </a:t>
            </a:r>
            <a:r>
              <a:rPr sz="800" spc="70" dirty="0">
                <a:latin typeface="Times New Roman"/>
                <a:cs typeface="Times New Roman"/>
              </a:rPr>
              <a:t>blog._out((</a:t>
            </a:r>
            <a:r>
              <a:rPr sz="800" spc="70" dirty="0">
                <a:solidFill>
                  <a:srgbClr val="FA0000"/>
                </a:solidFill>
                <a:latin typeface="Times New Roman"/>
                <a:cs typeface="Times New Roman"/>
              </a:rPr>
              <a:t>"bob"</a:t>
            </a:r>
            <a:r>
              <a:rPr sz="800" spc="70" dirty="0">
                <a:latin typeface="Times New Roman"/>
                <a:cs typeface="Times New Roman"/>
              </a:rPr>
              <a:t>,</a:t>
            </a:r>
            <a:r>
              <a:rPr sz="800" spc="70" dirty="0">
                <a:solidFill>
                  <a:srgbClr val="FA0000"/>
                </a:solidFill>
                <a:latin typeface="Times New Roman"/>
                <a:cs typeface="Times New Roman"/>
              </a:rPr>
              <a:t>"distsys"</a:t>
            </a:r>
            <a:r>
              <a:rPr sz="800" spc="70" dirty="0">
                <a:latin typeface="Times New Roman"/>
                <a:cs typeface="Times New Roman"/>
              </a:rPr>
              <a:t>,</a:t>
            </a:r>
            <a:r>
              <a:rPr sz="800" spc="70" dirty="0">
                <a:solidFill>
                  <a:srgbClr val="FA0000"/>
                </a:solidFill>
                <a:latin typeface="Times New Roman"/>
                <a:cs typeface="Times New Roman"/>
              </a:rPr>
              <a:t>"The </a:t>
            </a:r>
            <a:r>
              <a:rPr sz="800" spc="100" dirty="0">
                <a:solidFill>
                  <a:srgbClr val="FA0000"/>
                </a:solidFill>
                <a:latin typeface="Times New Roman"/>
                <a:cs typeface="Times New Roman"/>
              </a:rPr>
              <a:t>linda</a:t>
            </a:r>
            <a:r>
              <a:rPr sz="800" spc="65" dirty="0">
                <a:solidFill>
                  <a:srgbClr val="FA0000"/>
                </a:solidFill>
                <a:latin typeface="Times New Roman"/>
                <a:cs typeface="Times New Roman"/>
              </a:rPr>
              <a:t> </a:t>
            </a:r>
            <a:r>
              <a:rPr sz="800" spc="40" dirty="0">
                <a:solidFill>
                  <a:srgbClr val="FA0000"/>
                </a:solidFill>
                <a:latin typeface="Times New Roman"/>
                <a:cs typeface="Times New Roman"/>
              </a:rPr>
              <a:t>example’s</a:t>
            </a:r>
            <a:r>
              <a:rPr sz="800" spc="90" dirty="0">
                <a:solidFill>
                  <a:srgbClr val="FA0000"/>
                </a:solidFill>
                <a:latin typeface="Times New Roman"/>
                <a:cs typeface="Times New Roman"/>
              </a:rPr>
              <a:t> </a:t>
            </a:r>
            <a:r>
              <a:rPr sz="800" spc="105" dirty="0">
                <a:solidFill>
                  <a:srgbClr val="FA0000"/>
                </a:solidFill>
                <a:latin typeface="Times New Roman"/>
                <a:cs typeface="Times New Roman"/>
              </a:rPr>
              <a:t>pretty</a:t>
            </a:r>
            <a:r>
              <a:rPr sz="800" spc="65" dirty="0">
                <a:solidFill>
                  <a:srgbClr val="FA0000"/>
                </a:solidFill>
                <a:latin typeface="Times New Roman"/>
                <a:cs typeface="Times New Roman"/>
              </a:rPr>
              <a:t> </a:t>
            </a:r>
            <a:r>
              <a:rPr sz="800" spc="75" dirty="0">
                <a:solidFill>
                  <a:srgbClr val="FA0000"/>
                </a:solidFill>
                <a:latin typeface="Times New Roman"/>
                <a:cs typeface="Times New Roman"/>
              </a:rPr>
              <a:t>simple"</a:t>
            </a:r>
            <a:r>
              <a:rPr sz="800" spc="75" dirty="0">
                <a:latin typeface="Times New Roman"/>
                <a:cs typeface="Times New Roman"/>
              </a:rPr>
              <a:t>))</a:t>
            </a:r>
            <a:endParaRPr sz="800">
              <a:latin typeface="Times New Roman"/>
              <a:cs typeface="Times New Roman"/>
            </a:endParaRPr>
          </a:p>
          <a:p>
            <a:pPr marL="12700">
              <a:lnSpc>
                <a:spcPts val="905"/>
              </a:lnSpc>
            </a:pPr>
            <a:r>
              <a:rPr sz="600" spc="55" dirty="0">
                <a:latin typeface="Times New Roman"/>
                <a:cs typeface="Times New Roman"/>
              </a:rPr>
              <a:t>5 </a:t>
            </a:r>
            <a:r>
              <a:rPr sz="600" spc="135" dirty="0">
                <a:latin typeface="Times New Roman"/>
                <a:cs typeface="Times New Roman"/>
              </a:rPr>
              <a:t> </a:t>
            </a:r>
            <a:r>
              <a:rPr sz="800" spc="65" dirty="0">
                <a:latin typeface="Times New Roman"/>
                <a:cs typeface="Times New Roman"/>
              </a:rPr>
              <a:t>blog._out((</a:t>
            </a:r>
            <a:r>
              <a:rPr sz="800" spc="65" dirty="0">
                <a:solidFill>
                  <a:srgbClr val="FA0000"/>
                </a:solidFill>
                <a:latin typeface="Times New Roman"/>
                <a:cs typeface="Times New Roman"/>
              </a:rPr>
              <a:t>"bob"</a:t>
            </a:r>
            <a:r>
              <a:rPr sz="800" spc="65" dirty="0">
                <a:latin typeface="Times New Roman"/>
                <a:cs typeface="Times New Roman"/>
              </a:rPr>
              <a:t>,</a:t>
            </a:r>
            <a:r>
              <a:rPr sz="800" spc="65" dirty="0">
                <a:solidFill>
                  <a:srgbClr val="FA0000"/>
                </a:solidFill>
                <a:latin typeface="Times New Roman"/>
                <a:cs typeface="Times New Roman"/>
              </a:rPr>
              <a:t>"gtcn"</a:t>
            </a:r>
            <a:r>
              <a:rPr sz="800" spc="65" dirty="0">
                <a:latin typeface="Times New Roman"/>
                <a:cs typeface="Times New Roman"/>
              </a:rPr>
              <a:t>,</a:t>
            </a:r>
            <a:r>
              <a:rPr sz="800" spc="65" dirty="0">
                <a:solidFill>
                  <a:srgbClr val="FA0000"/>
                </a:solidFill>
                <a:latin typeface="Times New Roman"/>
                <a:cs typeface="Times New Roman"/>
              </a:rPr>
              <a:t>"Cool</a:t>
            </a:r>
            <a:r>
              <a:rPr sz="800" spc="50" dirty="0">
                <a:solidFill>
                  <a:srgbClr val="FA0000"/>
                </a:solidFill>
                <a:latin typeface="Times New Roman"/>
                <a:cs typeface="Times New Roman"/>
              </a:rPr>
              <a:t> </a:t>
            </a:r>
            <a:r>
              <a:rPr sz="800" spc="70" dirty="0">
                <a:solidFill>
                  <a:srgbClr val="FA0000"/>
                </a:solidFill>
                <a:latin typeface="Times New Roman"/>
                <a:cs typeface="Times New Roman"/>
              </a:rPr>
              <a:t>book!"</a:t>
            </a:r>
            <a:r>
              <a:rPr sz="800" spc="70" dirty="0">
                <a:latin typeface="Times New Roman"/>
                <a:cs typeface="Times New Roman"/>
              </a:rPr>
              <a:t>))</a:t>
            </a:r>
            <a:endParaRPr sz="800">
              <a:latin typeface="Times New Roman"/>
              <a:cs typeface="Times New Roman"/>
            </a:endParaRPr>
          </a:p>
          <a:p>
            <a:pPr>
              <a:lnSpc>
                <a:spcPct val="100000"/>
              </a:lnSpc>
              <a:spcBef>
                <a:spcPts val="10"/>
              </a:spcBef>
            </a:pPr>
            <a:endParaRPr sz="650">
              <a:latin typeface="Times New Roman"/>
              <a:cs typeface="Times New Roman"/>
            </a:endParaRPr>
          </a:p>
          <a:p>
            <a:pPr marL="52705">
              <a:lnSpc>
                <a:spcPts val="1390"/>
              </a:lnSpc>
            </a:pPr>
            <a:r>
              <a:rPr sz="1200" spc="-5" dirty="0">
                <a:solidFill>
                  <a:srgbClr val="3333B2"/>
                </a:solidFill>
                <a:latin typeface="Arial"/>
                <a:cs typeface="Arial"/>
              </a:rPr>
              <a:t>Alice</a:t>
            </a:r>
            <a:endParaRPr sz="1200">
              <a:latin typeface="Arial"/>
              <a:cs typeface="Arial"/>
            </a:endParaRPr>
          </a:p>
          <a:p>
            <a:pPr marL="12700">
              <a:lnSpc>
                <a:spcPts val="910"/>
              </a:lnSpc>
            </a:pPr>
            <a:r>
              <a:rPr sz="600" spc="55" dirty="0">
                <a:latin typeface="Times New Roman"/>
                <a:cs typeface="Times New Roman"/>
              </a:rPr>
              <a:t>1 </a:t>
            </a:r>
            <a:r>
              <a:rPr sz="600" spc="220" dirty="0">
                <a:latin typeface="Times New Roman"/>
                <a:cs typeface="Times New Roman"/>
              </a:rPr>
              <a:t> </a:t>
            </a:r>
            <a:r>
              <a:rPr sz="800" spc="70" dirty="0">
                <a:latin typeface="Times New Roman"/>
                <a:cs typeface="Times New Roman"/>
              </a:rPr>
              <a:t>blog</a:t>
            </a:r>
            <a:r>
              <a:rPr sz="800" spc="12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60" dirty="0">
                <a:latin typeface="Times New Roman"/>
                <a:cs typeface="Times New Roman"/>
              </a:rPr>
              <a:t>linda.universe._rd((</a:t>
            </a:r>
            <a:r>
              <a:rPr sz="800" spc="60" dirty="0">
                <a:solidFill>
                  <a:srgbClr val="FA0000"/>
                </a:solidFill>
                <a:latin typeface="Times New Roman"/>
                <a:cs typeface="Times New Roman"/>
              </a:rPr>
              <a:t>"MicroBlog"</a:t>
            </a:r>
            <a:r>
              <a:rPr sz="800" spc="60" dirty="0">
                <a:latin typeface="Times New Roman"/>
                <a:cs typeface="Times New Roman"/>
              </a:rPr>
              <a:t>,linda.TupleSpace))[1]</a:t>
            </a:r>
            <a:endParaRPr sz="800">
              <a:latin typeface="Times New Roman"/>
              <a:cs typeface="Times New Roman"/>
            </a:endParaRPr>
          </a:p>
          <a:p>
            <a:pPr marL="12700">
              <a:lnSpc>
                <a:spcPts val="685"/>
              </a:lnSpc>
              <a:spcBef>
                <a:spcPts val="90"/>
              </a:spcBef>
            </a:pPr>
            <a:r>
              <a:rPr sz="600" spc="55" dirty="0">
                <a:latin typeface="Times New Roman"/>
                <a:cs typeface="Times New Roman"/>
              </a:rPr>
              <a:t>2</a:t>
            </a:r>
            <a:endParaRPr sz="600">
              <a:latin typeface="Times New Roman"/>
              <a:cs typeface="Times New Roman"/>
            </a:endParaRPr>
          </a:p>
          <a:p>
            <a:pPr marL="12700">
              <a:lnSpc>
                <a:spcPts val="869"/>
              </a:lnSpc>
            </a:pPr>
            <a:r>
              <a:rPr sz="600" spc="55" dirty="0">
                <a:latin typeface="Times New Roman"/>
                <a:cs typeface="Times New Roman"/>
              </a:rPr>
              <a:t>3 </a:t>
            </a:r>
            <a:r>
              <a:rPr sz="600" spc="175" dirty="0">
                <a:latin typeface="Times New Roman"/>
                <a:cs typeface="Times New Roman"/>
              </a:rPr>
              <a:t> </a:t>
            </a:r>
            <a:r>
              <a:rPr sz="800" spc="80" dirty="0">
                <a:latin typeface="Times New Roman"/>
                <a:cs typeface="Times New Roman"/>
              </a:rPr>
              <a:t>blog._out((</a:t>
            </a:r>
            <a:r>
              <a:rPr sz="800" spc="80" dirty="0">
                <a:solidFill>
                  <a:srgbClr val="FA0000"/>
                </a:solidFill>
                <a:latin typeface="Times New Roman"/>
                <a:cs typeface="Times New Roman"/>
              </a:rPr>
              <a:t>"alice"</a:t>
            </a:r>
            <a:r>
              <a:rPr sz="800" spc="80" dirty="0">
                <a:latin typeface="Times New Roman"/>
                <a:cs typeface="Times New Roman"/>
              </a:rPr>
              <a:t>,</a:t>
            </a:r>
            <a:r>
              <a:rPr sz="800" spc="80" dirty="0">
                <a:solidFill>
                  <a:srgbClr val="FA0000"/>
                </a:solidFill>
                <a:latin typeface="Times New Roman"/>
                <a:cs typeface="Times New Roman"/>
              </a:rPr>
              <a:t>"gtcn"</a:t>
            </a:r>
            <a:r>
              <a:rPr sz="800" spc="80" dirty="0">
                <a:latin typeface="Times New Roman"/>
                <a:cs typeface="Times New Roman"/>
              </a:rPr>
              <a:t>,</a:t>
            </a:r>
            <a:r>
              <a:rPr sz="800" spc="80" dirty="0">
                <a:solidFill>
                  <a:srgbClr val="FA0000"/>
                </a:solidFill>
                <a:latin typeface="Times New Roman"/>
                <a:cs typeface="Times New Roman"/>
              </a:rPr>
              <a:t>"This</a:t>
            </a:r>
            <a:r>
              <a:rPr sz="800" spc="70" dirty="0">
                <a:solidFill>
                  <a:srgbClr val="FA0000"/>
                </a:solidFill>
                <a:latin typeface="Times New Roman"/>
                <a:cs typeface="Times New Roman"/>
              </a:rPr>
              <a:t> </a:t>
            </a:r>
            <a:r>
              <a:rPr sz="800" spc="55" dirty="0">
                <a:solidFill>
                  <a:srgbClr val="FA0000"/>
                </a:solidFill>
                <a:latin typeface="Times New Roman"/>
                <a:cs typeface="Times New Roman"/>
              </a:rPr>
              <a:t>graph</a:t>
            </a:r>
            <a:r>
              <a:rPr sz="800" spc="60" dirty="0">
                <a:solidFill>
                  <a:srgbClr val="FA0000"/>
                </a:solidFill>
                <a:latin typeface="Times New Roman"/>
                <a:cs typeface="Times New Roman"/>
              </a:rPr>
              <a:t> </a:t>
            </a:r>
            <a:r>
              <a:rPr sz="800" spc="75" dirty="0">
                <a:solidFill>
                  <a:srgbClr val="FA0000"/>
                </a:solidFill>
                <a:latin typeface="Times New Roman"/>
                <a:cs typeface="Times New Roman"/>
              </a:rPr>
              <a:t>theory</a:t>
            </a:r>
            <a:r>
              <a:rPr sz="800" spc="65" dirty="0">
                <a:solidFill>
                  <a:srgbClr val="FA0000"/>
                </a:solidFill>
                <a:latin typeface="Times New Roman"/>
                <a:cs typeface="Times New Roman"/>
              </a:rPr>
              <a:t> </a:t>
            </a:r>
            <a:r>
              <a:rPr sz="800" spc="125" dirty="0">
                <a:solidFill>
                  <a:srgbClr val="FA0000"/>
                </a:solidFill>
                <a:latin typeface="Times New Roman"/>
                <a:cs typeface="Times New Roman"/>
              </a:rPr>
              <a:t>stuff</a:t>
            </a:r>
            <a:r>
              <a:rPr sz="800" spc="75" dirty="0">
                <a:solidFill>
                  <a:srgbClr val="FA0000"/>
                </a:solidFill>
                <a:latin typeface="Times New Roman"/>
                <a:cs typeface="Times New Roman"/>
              </a:rPr>
              <a:t> </a:t>
            </a:r>
            <a:r>
              <a:rPr sz="800" spc="180" dirty="0">
                <a:solidFill>
                  <a:srgbClr val="FA0000"/>
                </a:solidFill>
                <a:latin typeface="Times New Roman"/>
                <a:cs typeface="Times New Roman"/>
              </a:rPr>
              <a:t>is</a:t>
            </a:r>
            <a:r>
              <a:rPr sz="800" spc="90" dirty="0">
                <a:solidFill>
                  <a:srgbClr val="FA0000"/>
                </a:solidFill>
                <a:latin typeface="Times New Roman"/>
                <a:cs typeface="Times New Roman"/>
              </a:rPr>
              <a:t> </a:t>
            </a:r>
            <a:r>
              <a:rPr sz="800" spc="95" dirty="0">
                <a:solidFill>
                  <a:srgbClr val="FA0000"/>
                </a:solidFill>
                <a:latin typeface="Times New Roman"/>
                <a:cs typeface="Times New Roman"/>
              </a:rPr>
              <a:t>not</a:t>
            </a:r>
            <a:r>
              <a:rPr sz="800" spc="75" dirty="0">
                <a:solidFill>
                  <a:srgbClr val="FA0000"/>
                </a:solidFill>
                <a:latin typeface="Times New Roman"/>
                <a:cs typeface="Times New Roman"/>
              </a:rPr>
              <a:t> </a:t>
            </a:r>
            <a:r>
              <a:rPr sz="800" spc="85" dirty="0">
                <a:solidFill>
                  <a:srgbClr val="FA0000"/>
                </a:solidFill>
                <a:latin typeface="Times New Roman"/>
                <a:cs typeface="Times New Roman"/>
              </a:rPr>
              <a:t>easy"</a:t>
            </a:r>
            <a:r>
              <a:rPr sz="800" spc="85" dirty="0">
                <a:latin typeface="Times New Roman"/>
                <a:cs typeface="Times New Roman"/>
              </a:rPr>
              <a:t>))</a:t>
            </a:r>
            <a:endParaRPr sz="800">
              <a:latin typeface="Times New Roman"/>
              <a:cs typeface="Times New Roman"/>
            </a:endParaRPr>
          </a:p>
          <a:p>
            <a:pPr marL="12700">
              <a:lnSpc>
                <a:spcPts val="905"/>
              </a:lnSpc>
            </a:pPr>
            <a:r>
              <a:rPr sz="600" spc="55" dirty="0">
                <a:latin typeface="Times New Roman"/>
                <a:cs typeface="Times New Roman"/>
              </a:rPr>
              <a:t>4 </a:t>
            </a:r>
            <a:r>
              <a:rPr sz="600" spc="180" dirty="0">
                <a:latin typeface="Times New Roman"/>
                <a:cs typeface="Times New Roman"/>
              </a:rPr>
              <a:t> </a:t>
            </a:r>
            <a:r>
              <a:rPr sz="800" spc="90" dirty="0">
                <a:latin typeface="Times New Roman"/>
                <a:cs typeface="Times New Roman"/>
              </a:rPr>
              <a:t>blog._out((</a:t>
            </a:r>
            <a:r>
              <a:rPr sz="800" spc="90" dirty="0">
                <a:solidFill>
                  <a:srgbClr val="FA0000"/>
                </a:solidFill>
                <a:latin typeface="Times New Roman"/>
                <a:cs typeface="Times New Roman"/>
              </a:rPr>
              <a:t>"alice"</a:t>
            </a:r>
            <a:r>
              <a:rPr sz="800" spc="90" dirty="0">
                <a:latin typeface="Times New Roman"/>
                <a:cs typeface="Times New Roman"/>
              </a:rPr>
              <a:t>,</a:t>
            </a:r>
            <a:r>
              <a:rPr sz="800" spc="90" dirty="0">
                <a:solidFill>
                  <a:srgbClr val="FA0000"/>
                </a:solidFill>
                <a:latin typeface="Times New Roman"/>
                <a:cs typeface="Times New Roman"/>
              </a:rPr>
              <a:t>"distsys"</a:t>
            </a:r>
            <a:r>
              <a:rPr sz="800" spc="90" dirty="0">
                <a:latin typeface="Times New Roman"/>
                <a:cs typeface="Times New Roman"/>
              </a:rPr>
              <a:t>,</a:t>
            </a:r>
            <a:r>
              <a:rPr sz="800" spc="90" dirty="0">
                <a:solidFill>
                  <a:srgbClr val="FA0000"/>
                </a:solidFill>
                <a:latin typeface="Times New Roman"/>
                <a:cs typeface="Times New Roman"/>
              </a:rPr>
              <a:t>"I</a:t>
            </a:r>
            <a:r>
              <a:rPr sz="800" spc="95" dirty="0">
                <a:solidFill>
                  <a:srgbClr val="FA0000"/>
                </a:solidFill>
                <a:latin typeface="Times New Roman"/>
                <a:cs typeface="Times New Roman"/>
              </a:rPr>
              <a:t> </a:t>
            </a:r>
            <a:r>
              <a:rPr sz="800" spc="125" dirty="0">
                <a:solidFill>
                  <a:srgbClr val="FA0000"/>
                </a:solidFill>
                <a:latin typeface="Times New Roman"/>
                <a:cs typeface="Times New Roman"/>
              </a:rPr>
              <a:t>like</a:t>
            </a:r>
            <a:r>
              <a:rPr sz="800" spc="65" dirty="0">
                <a:solidFill>
                  <a:srgbClr val="FA0000"/>
                </a:solidFill>
                <a:latin typeface="Times New Roman"/>
                <a:cs typeface="Times New Roman"/>
              </a:rPr>
              <a:t> </a:t>
            </a:r>
            <a:r>
              <a:rPr sz="800" spc="50" dirty="0">
                <a:solidFill>
                  <a:srgbClr val="FA0000"/>
                </a:solidFill>
                <a:latin typeface="Times New Roman"/>
                <a:cs typeface="Times New Roman"/>
              </a:rPr>
              <a:t>systems</a:t>
            </a:r>
            <a:r>
              <a:rPr sz="800" spc="65" dirty="0">
                <a:solidFill>
                  <a:srgbClr val="FA0000"/>
                </a:solidFill>
                <a:latin typeface="Times New Roman"/>
                <a:cs typeface="Times New Roman"/>
              </a:rPr>
              <a:t> </a:t>
            </a:r>
            <a:r>
              <a:rPr sz="800" spc="15" dirty="0">
                <a:solidFill>
                  <a:srgbClr val="FA0000"/>
                </a:solidFill>
                <a:latin typeface="Times New Roman"/>
                <a:cs typeface="Times New Roman"/>
              </a:rPr>
              <a:t>more</a:t>
            </a:r>
            <a:r>
              <a:rPr sz="800" spc="75" dirty="0">
                <a:solidFill>
                  <a:srgbClr val="FA0000"/>
                </a:solidFill>
                <a:latin typeface="Times New Roman"/>
                <a:cs typeface="Times New Roman"/>
              </a:rPr>
              <a:t> </a:t>
            </a:r>
            <a:r>
              <a:rPr sz="800" spc="85" dirty="0">
                <a:solidFill>
                  <a:srgbClr val="FA0000"/>
                </a:solidFill>
                <a:latin typeface="Times New Roman"/>
                <a:cs typeface="Times New Roman"/>
              </a:rPr>
              <a:t>than</a:t>
            </a:r>
            <a:r>
              <a:rPr sz="800" spc="65" dirty="0">
                <a:solidFill>
                  <a:srgbClr val="FA0000"/>
                </a:solidFill>
                <a:latin typeface="Times New Roman"/>
                <a:cs typeface="Times New Roman"/>
              </a:rPr>
              <a:t> </a:t>
            </a:r>
            <a:r>
              <a:rPr sz="800" spc="75" dirty="0">
                <a:solidFill>
                  <a:srgbClr val="FA0000"/>
                </a:solidFill>
                <a:latin typeface="Times New Roman"/>
                <a:cs typeface="Times New Roman"/>
              </a:rPr>
              <a:t>graphs"</a:t>
            </a:r>
            <a:r>
              <a:rPr sz="800" spc="75" dirty="0">
                <a:latin typeface="Times New Roman"/>
                <a:cs typeface="Times New Roman"/>
              </a:rPr>
              <a:t>))</a:t>
            </a:r>
            <a:endParaRPr sz="800">
              <a:latin typeface="Times New Roman"/>
              <a:cs typeface="Times New Roman"/>
            </a:endParaRPr>
          </a:p>
          <a:p>
            <a:pPr>
              <a:lnSpc>
                <a:spcPct val="100000"/>
              </a:lnSpc>
              <a:spcBef>
                <a:spcPts val="25"/>
              </a:spcBef>
            </a:pPr>
            <a:endParaRPr sz="650">
              <a:latin typeface="Times New Roman"/>
              <a:cs typeface="Times New Roman"/>
            </a:endParaRPr>
          </a:p>
          <a:p>
            <a:pPr marL="57785">
              <a:lnSpc>
                <a:spcPts val="1390"/>
              </a:lnSpc>
            </a:pPr>
            <a:r>
              <a:rPr sz="1200" spc="-10" dirty="0">
                <a:solidFill>
                  <a:srgbClr val="3333B2"/>
                </a:solidFill>
                <a:latin typeface="Arial"/>
                <a:cs typeface="Arial"/>
              </a:rPr>
              <a:t>Chuck</a:t>
            </a:r>
            <a:endParaRPr sz="1200">
              <a:latin typeface="Arial"/>
              <a:cs typeface="Arial"/>
            </a:endParaRPr>
          </a:p>
          <a:p>
            <a:pPr marL="12700">
              <a:lnSpc>
                <a:spcPts val="910"/>
              </a:lnSpc>
            </a:pPr>
            <a:r>
              <a:rPr sz="600" spc="55" dirty="0">
                <a:latin typeface="Times New Roman"/>
                <a:cs typeface="Times New Roman"/>
              </a:rPr>
              <a:t>1 </a:t>
            </a:r>
            <a:r>
              <a:rPr sz="600" spc="220" dirty="0">
                <a:latin typeface="Times New Roman"/>
                <a:cs typeface="Times New Roman"/>
              </a:rPr>
              <a:t> </a:t>
            </a:r>
            <a:r>
              <a:rPr sz="800" spc="70" dirty="0">
                <a:latin typeface="Times New Roman"/>
                <a:cs typeface="Times New Roman"/>
              </a:rPr>
              <a:t>blog</a:t>
            </a:r>
            <a:r>
              <a:rPr sz="800" spc="120" dirty="0">
                <a:latin typeface="Times New Roman"/>
                <a:cs typeface="Times New Roman"/>
              </a:rPr>
              <a:t> </a:t>
            </a:r>
            <a:r>
              <a:rPr sz="800" spc="25" dirty="0">
                <a:latin typeface="Times New Roman"/>
                <a:cs typeface="Times New Roman"/>
              </a:rPr>
              <a:t>=</a:t>
            </a:r>
            <a:r>
              <a:rPr sz="800" spc="114" dirty="0">
                <a:latin typeface="Times New Roman"/>
                <a:cs typeface="Times New Roman"/>
              </a:rPr>
              <a:t> </a:t>
            </a:r>
            <a:r>
              <a:rPr sz="800" spc="60" dirty="0">
                <a:latin typeface="Times New Roman"/>
                <a:cs typeface="Times New Roman"/>
              </a:rPr>
              <a:t>linda.universe._rd((</a:t>
            </a:r>
            <a:r>
              <a:rPr sz="800" spc="60" dirty="0">
                <a:solidFill>
                  <a:srgbClr val="FA0000"/>
                </a:solidFill>
                <a:latin typeface="Times New Roman"/>
                <a:cs typeface="Times New Roman"/>
              </a:rPr>
              <a:t>"MicroBlog"</a:t>
            </a:r>
            <a:r>
              <a:rPr sz="800" spc="60" dirty="0">
                <a:latin typeface="Times New Roman"/>
                <a:cs typeface="Times New Roman"/>
              </a:rPr>
              <a:t>,linda.TupleSpace))[1]</a:t>
            </a:r>
            <a:endParaRPr sz="800">
              <a:latin typeface="Times New Roman"/>
              <a:cs typeface="Times New Roman"/>
            </a:endParaRPr>
          </a:p>
          <a:p>
            <a:pPr marL="12700">
              <a:lnSpc>
                <a:spcPts val="685"/>
              </a:lnSpc>
              <a:spcBef>
                <a:spcPts val="95"/>
              </a:spcBef>
            </a:pPr>
            <a:r>
              <a:rPr sz="600" spc="55" dirty="0">
                <a:latin typeface="Times New Roman"/>
                <a:cs typeface="Times New Roman"/>
              </a:rPr>
              <a:t>2</a:t>
            </a:r>
            <a:endParaRPr sz="600">
              <a:latin typeface="Times New Roman"/>
              <a:cs typeface="Times New Roman"/>
            </a:endParaRPr>
          </a:p>
          <a:p>
            <a:pPr marL="12700">
              <a:lnSpc>
                <a:spcPts val="869"/>
              </a:lnSpc>
            </a:pPr>
            <a:r>
              <a:rPr sz="600" spc="55" dirty="0">
                <a:latin typeface="Times New Roman"/>
                <a:cs typeface="Times New Roman"/>
              </a:rPr>
              <a:t>3 </a:t>
            </a:r>
            <a:r>
              <a:rPr sz="600" spc="155" dirty="0">
                <a:latin typeface="Times New Roman"/>
                <a:cs typeface="Times New Roman"/>
              </a:rPr>
              <a:t> </a:t>
            </a:r>
            <a:r>
              <a:rPr sz="800" spc="135" dirty="0">
                <a:latin typeface="Times New Roman"/>
                <a:cs typeface="Times New Roman"/>
              </a:rPr>
              <a:t>t1</a:t>
            </a:r>
            <a:r>
              <a:rPr sz="800" spc="90" dirty="0">
                <a:latin typeface="Times New Roman"/>
                <a:cs typeface="Times New Roman"/>
              </a:rPr>
              <a:t> </a:t>
            </a:r>
            <a:r>
              <a:rPr sz="800" spc="25" dirty="0">
                <a:latin typeface="Times New Roman"/>
                <a:cs typeface="Times New Roman"/>
              </a:rPr>
              <a:t>=</a:t>
            </a:r>
            <a:r>
              <a:rPr sz="800" spc="75" dirty="0">
                <a:latin typeface="Times New Roman"/>
                <a:cs typeface="Times New Roman"/>
              </a:rPr>
              <a:t> </a:t>
            </a:r>
            <a:r>
              <a:rPr sz="800" spc="85" dirty="0">
                <a:latin typeface="Times New Roman"/>
                <a:cs typeface="Times New Roman"/>
              </a:rPr>
              <a:t>blog._rd((</a:t>
            </a:r>
            <a:r>
              <a:rPr sz="800" spc="85" dirty="0">
                <a:solidFill>
                  <a:srgbClr val="FA0000"/>
                </a:solidFill>
                <a:latin typeface="Times New Roman"/>
                <a:cs typeface="Times New Roman"/>
              </a:rPr>
              <a:t>"bob"</a:t>
            </a:r>
            <a:r>
              <a:rPr sz="800" spc="85" dirty="0">
                <a:latin typeface="Times New Roman"/>
                <a:cs typeface="Times New Roman"/>
              </a:rPr>
              <a:t>,</a:t>
            </a:r>
            <a:r>
              <a:rPr sz="800" spc="85" dirty="0">
                <a:solidFill>
                  <a:srgbClr val="FA0000"/>
                </a:solidFill>
                <a:latin typeface="Times New Roman"/>
                <a:cs typeface="Times New Roman"/>
              </a:rPr>
              <a:t>"distsys"</a:t>
            </a:r>
            <a:r>
              <a:rPr sz="800" spc="85" dirty="0">
                <a:latin typeface="Times New Roman"/>
                <a:cs typeface="Times New Roman"/>
              </a:rPr>
              <a:t>,</a:t>
            </a:r>
            <a:r>
              <a:rPr sz="800" b="1" spc="85" dirty="0">
                <a:solidFill>
                  <a:srgbClr val="FF0059"/>
                </a:solidFill>
                <a:latin typeface="Times New Roman"/>
                <a:cs typeface="Times New Roman"/>
              </a:rPr>
              <a:t>str</a:t>
            </a:r>
            <a:r>
              <a:rPr sz="800" spc="85" dirty="0">
                <a:latin typeface="Times New Roman"/>
                <a:cs typeface="Times New Roman"/>
              </a:rPr>
              <a:t>))</a:t>
            </a:r>
            <a:endParaRPr sz="800">
              <a:latin typeface="Times New Roman"/>
              <a:cs typeface="Times New Roman"/>
            </a:endParaRPr>
          </a:p>
          <a:p>
            <a:pPr marL="12700">
              <a:lnSpc>
                <a:spcPts val="850"/>
              </a:lnSpc>
            </a:pPr>
            <a:r>
              <a:rPr sz="600" spc="55" dirty="0">
                <a:latin typeface="Times New Roman"/>
                <a:cs typeface="Times New Roman"/>
              </a:rPr>
              <a:t>4 </a:t>
            </a:r>
            <a:r>
              <a:rPr sz="600" spc="165" dirty="0">
                <a:latin typeface="Times New Roman"/>
                <a:cs typeface="Times New Roman"/>
              </a:rPr>
              <a:t> </a:t>
            </a:r>
            <a:r>
              <a:rPr sz="800" spc="135" dirty="0">
                <a:latin typeface="Times New Roman"/>
                <a:cs typeface="Times New Roman"/>
              </a:rPr>
              <a:t>t2</a:t>
            </a:r>
            <a:r>
              <a:rPr sz="800" spc="90" dirty="0">
                <a:latin typeface="Times New Roman"/>
                <a:cs typeface="Times New Roman"/>
              </a:rPr>
              <a:t> </a:t>
            </a:r>
            <a:r>
              <a:rPr sz="800" spc="25" dirty="0">
                <a:latin typeface="Times New Roman"/>
                <a:cs typeface="Times New Roman"/>
              </a:rPr>
              <a:t>=</a:t>
            </a:r>
            <a:r>
              <a:rPr sz="800" spc="80" dirty="0">
                <a:latin typeface="Times New Roman"/>
                <a:cs typeface="Times New Roman"/>
              </a:rPr>
              <a:t> </a:t>
            </a:r>
            <a:r>
              <a:rPr sz="800" spc="90" dirty="0">
                <a:latin typeface="Times New Roman"/>
                <a:cs typeface="Times New Roman"/>
              </a:rPr>
              <a:t>blog._rd((</a:t>
            </a:r>
            <a:r>
              <a:rPr sz="800" spc="90" dirty="0">
                <a:solidFill>
                  <a:srgbClr val="FA0000"/>
                </a:solidFill>
                <a:latin typeface="Times New Roman"/>
                <a:cs typeface="Times New Roman"/>
              </a:rPr>
              <a:t>"alice"</a:t>
            </a:r>
            <a:r>
              <a:rPr sz="800" spc="90" dirty="0">
                <a:latin typeface="Times New Roman"/>
                <a:cs typeface="Times New Roman"/>
              </a:rPr>
              <a:t>,</a:t>
            </a:r>
            <a:r>
              <a:rPr sz="800" spc="90" dirty="0">
                <a:solidFill>
                  <a:srgbClr val="FA0000"/>
                </a:solidFill>
                <a:latin typeface="Times New Roman"/>
                <a:cs typeface="Times New Roman"/>
              </a:rPr>
              <a:t>"gtcn"</a:t>
            </a:r>
            <a:r>
              <a:rPr sz="800" spc="90" dirty="0">
                <a:latin typeface="Times New Roman"/>
                <a:cs typeface="Times New Roman"/>
              </a:rPr>
              <a:t>,</a:t>
            </a:r>
            <a:r>
              <a:rPr sz="800" b="1" spc="90" dirty="0">
                <a:solidFill>
                  <a:srgbClr val="FF0059"/>
                </a:solidFill>
                <a:latin typeface="Times New Roman"/>
                <a:cs typeface="Times New Roman"/>
              </a:rPr>
              <a:t>str</a:t>
            </a:r>
            <a:r>
              <a:rPr sz="800" spc="90" dirty="0">
                <a:latin typeface="Times New Roman"/>
                <a:cs typeface="Times New Roman"/>
              </a:rPr>
              <a:t>))</a:t>
            </a:r>
            <a:endParaRPr sz="800">
              <a:latin typeface="Times New Roman"/>
              <a:cs typeface="Times New Roman"/>
            </a:endParaRPr>
          </a:p>
          <a:p>
            <a:pPr marL="12700">
              <a:lnSpc>
                <a:spcPts val="905"/>
              </a:lnSpc>
            </a:pPr>
            <a:r>
              <a:rPr sz="600" spc="55" dirty="0">
                <a:latin typeface="Times New Roman"/>
                <a:cs typeface="Times New Roman"/>
              </a:rPr>
              <a:t>5 </a:t>
            </a:r>
            <a:r>
              <a:rPr sz="600" spc="160" dirty="0">
                <a:latin typeface="Times New Roman"/>
                <a:cs typeface="Times New Roman"/>
              </a:rPr>
              <a:t> </a:t>
            </a:r>
            <a:r>
              <a:rPr sz="800" spc="135" dirty="0">
                <a:latin typeface="Times New Roman"/>
                <a:cs typeface="Times New Roman"/>
              </a:rPr>
              <a:t>t3</a:t>
            </a:r>
            <a:r>
              <a:rPr sz="800" spc="90" dirty="0">
                <a:latin typeface="Times New Roman"/>
                <a:cs typeface="Times New Roman"/>
              </a:rPr>
              <a:t> </a:t>
            </a:r>
            <a:r>
              <a:rPr sz="800" spc="25" dirty="0">
                <a:latin typeface="Times New Roman"/>
                <a:cs typeface="Times New Roman"/>
              </a:rPr>
              <a:t>=</a:t>
            </a:r>
            <a:r>
              <a:rPr sz="800" spc="80" dirty="0">
                <a:latin typeface="Times New Roman"/>
                <a:cs typeface="Times New Roman"/>
              </a:rPr>
              <a:t> blog._rd((</a:t>
            </a:r>
            <a:r>
              <a:rPr sz="800" spc="80" dirty="0">
                <a:solidFill>
                  <a:srgbClr val="FA0000"/>
                </a:solidFill>
                <a:latin typeface="Times New Roman"/>
                <a:cs typeface="Times New Roman"/>
              </a:rPr>
              <a:t>"bob"</a:t>
            </a:r>
            <a:r>
              <a:rPr sz="800" spc="80" dirty="0">
                <a:latin typeface="Times New Roman"/>
                <a:cs typeface="Times New Roman"/>
              </a:rPr>
              <a:t>,</a:t>
            </a:r>
            <a:r>
              <a:rPr sz="800" spc="80" dirty="0">
                <a:solidFill>
                  <a:srgbClr val="FA0000"/>
                </a:solidFill>
                <a:latin typeface="Times New Roman"/>
                <a:cs typeface="Times New Roman"/>
              </a:rPr>
              <a:t>"gtcn"</a:t>
            </a:r>
            <a:r>
              <a:rPr sz="800" spc="80" dirty="0">
                <a:latin typeface="Times New Roman"/>
                <a:cs typeface="Times New Roman"/>
              </a:rPr>
              <a:t>,</a:t>
            </a:r>
            <a:r>
              <a:rPr sz="800" b="1" spc="80" dirty="0">
                <a:solidFill>
                  <a:srgbClr val="FF0059"/>
                </a:solidFill>
                <a:latin typeface="Times New Roman"/>
                <a:cs typeface="Times New Roman"/>
              </a:rPr>
              <a:t>str</a:t>
            </a:r>
            <a:r>
              <a:rPr sz="800" spc="80" dirty="0">
                <a:latin typeface="Times New Roman"/>
                <a:cs typeface="Times New Roman"/>
              </a:rPr>
              <a:t>))</a:t>
            </a:r>
            <a:endParaRPr sz="800">
              <a:latin typeface="Times New Roman"/>
              <a:cs typeface="Times New Roman"/>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16</a:t>
            </a:r>
            <a:r>
              <a:rPr spc="-40" dirty="0"/>
              <a:t> </a:t>
            </a:r>
            <a:r>
              <a:rPr spc="-5" dirty="0"/>
              <a:t>/</a:t>
            </a:r>
            <a:r>
              <a:rPr spc="-35" dirty="0"/>
              <a:t> </a:t>
            </a:r>
            <a:r>
              <a:rPr spc="-5" dirty="0"/>
              <a:t>36</a:t>
            </a:r>
          </a:p>
        </p:txBody>
      </p:sp>
      <p:sp>
        <p:nvSpPr>
          <p:cNvPr id="2" name="object 2"/>
          <p:cNvSpPr txBox="1"/>
          <p:nvPr/>
        </p:nvSpPr>
        <p:spPr>
          <a:xfrm>
            <a:off x="66713" y="716"/>
            <a:ext cx="13493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Middleware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organization</a:t>
            </a:r>
            <a:endParaRPr sz="600">
              <a:latin typeface="Arial"/>
              <a:cs typeface="Arial"/>
            </a:endParaRPr>
          </a:p>
        </p:txBody>
      </p:sp>
      <p:sp>
        <p:nvSpPr>
          <p:cNvPr id="3" name="object 3"/>
          <p:cNvSpPr txBox="1"/>
          <p:nvPr/>
        </p:nvSpPr>
        <p:spPr>
          <a:xfrm>
            <a:off x="4187634" y="716"/>
            <a:ext cx="3536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W</a:t>
            </a:r>
            <a:r>
              <a:rPr sz="600" spc="-15" dirty="0">
                <a:solidFill>
                  <a:srgbClr val="262685"/>
                </a:solidFill>
                <a:latin typeface="Arial"/>
                <a:cs typeface="Arial"/>
                <a:hlinkClick r:id="rId4" action="ppaction://hlinksldjump"/>
              </a:rPr>
              <a:t>r</a:t>
            </a:r>
            <a:r>
              <a:rPr sz="600" spc="-5" dirty="0">
                <a:solidFill>
                  <a:srgbClr val="262685"/>
                </a:solidFill>
                <a:latin typeface="Arial"/>
                <a:cs typeface="Arial"/>
                <a:hlinkClick r:id="rId4" action="ppaction://hlinksldjump"/>
              </a:rPr>
              <a:t>appers</a:t>
            </a:r>
            <a:endParaRPr sz="600">
              <a:latin typeface="Arial"/>
              <a:cs typeface="Arial"/>
            </a:endParaRPr>
          </a:p>
        </p:txBody>
      </p:sp>
      <p:sp>
        <p:nvSpPr>
          <p:cNvPr id="4" name="object 4"/>
          <p:cNvSpPr txBox="1"/>
          <p:nvPr/>
        </p:nvSpPr>
        <p:spPr>
          <a:xfrm>
            <a:off x="95300" y="188846"/>
            <a:ext cx="267843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Using</a:t>
            </a:r>
            <a:r>
              <a:rPr sz="1400" spc="-5" dirty="0">
                <a:solidFill>
                  <a:srgbClr val="3333B2"/>
                </a:solidFill>
                <a:latin typeface="Arial"/>
                <a:cs typeface="Arial"/>
              </a:rPr>
              <a:t> </a:t>
            </a:r>
            <a:r>
              <a:rPr sz="1400" spc="15" dirty="0">
                <a:solidFill>
                  <a:srgbClr val="3333B2"/>
                </a:solidFill>
                <a:latin typeface="Arial"/>
                <a:cs typeface="Arial"/>
              </a:rPr>
              <a:t>legacy</a:t>
            </a:r>
            <a:r>
              <a:rPr sz="1400" spc="-5" dirty="0">
                <a:solidFill>
                  <a:srgbClr val="3333B2"/>
                </a:solidFill>
                <a:latin typeface="Arial"/>
                <a:cs typeface="Arial"/>
              </a:rPr>
              <a:t> </a:t>
            </a:r>
            <a:r>
              <a:rPr sz="1400" spc="10" dirty="0">
                <a:solidFill>
                  <a:srgbClr val="3333B2"/>
                </a:solidFill>
                <a:latin typeface="Arial"/>
                <a:cs typeface="Arial"/>
              </a:rPr>
              <a:t>to</a:t>
            </a:r>
            <a:r>
              <a:rPr sz="1400" dirty="0">
                <a:solidFill>
                  <a:srgbClr val="3333B2"/>
                </a:solidFill>
                <a:latin typeface="Arial"/>
                <a:cs typeface="Arial"/>
              </a:rPr>
              <a:t> </a:t>
            </a:r>
            <a:r>
              <a:rPr sz="1400" spc="5" dirty="0">
                <a:solidFill>
                  <a:srgbClr val="3333B2"/>
                </a:solidFill>
                <a:latin typeface="Arial"/>
                <a:cs typeface="Arial"/>
              </a:rPr>
              <a:t>build</a:t>
            </a:r>
            <a:r>
              <a:rPr sz="1400" spc="-5" dirty="0">
                <a:solidFill>
                  <a:srgbClr val="3333B2"/>
                </a:solidFill>
                <a:latin typeface="Arial"/>
                <a:cs typeface="Arial"/>
              </a:rPr>
              <a:t> </a:t>
            </a:r>
            <a:r>
              <a:rPr sz="1400" spc="10" dirty="0">
                <a:solidFill>
                  <a:srgbClr val="3333B2"/>
                </a:solidFill>
                <a:latin typeface="Arial"/>
                <a:cs typeface="Arial"/>
              </a:rPr>
              <a:t>middleware</a:t>
            </a:r>
            <a:endParaRPr sz="1400" dirty="0">
              <a:latin typeface="Arial"/>
              <a:cs typeface="Arial"/>
            </a:endParaRPr>
          </a:p>
        </p:txBody>
      </p:sp>
      <p:sp>
        <p:nvSpPr>
          <p:cNvPr id="5" name="object 5"/>
          <p:cNvSpPr txBox="1"/>
          <p:nvPr/>
        </p:nvSpPr>
        <p:spPr>
          <a:xfrm>
            <a:off x="343128" y="1082939"/>
            <a:ext cx="3776345" cy="1224915"/>
          </a:xfrm>
          <a:prstGeom prst="rect">
            <a:avLst/>
          </a:prstGeom>
        </p:spPr>
        <p:txBody>
          <a:bodyPr vert="horz" wrap="square" lIns="0" tIns="12065" rIns="0" bIns="0" rtlCol="0">
            <a:spAutoFit/>
          </a:bodyPr>
          <a:lstStyle/>
          <a:p>
            <a:pPr marL="16510">
              <a:lnSpc>
                <a:spcPts val="1410"/>
              </a:lnSpc>
              <a:spcBef>
                <a:spcPts val="95"/>
              </a:spcBef>
            </a:pPr>
            <a:r>
              <a:rPr sz="1200" spc="-10" dirty="0">
                <a:solidFill>
                  <a:srgbClr val="3333B2"/>
                </a:solidFill>
                <a:latin typeface="Arial"/>
                <a:cs typeface="Arial"/>
              </a:rPr>
              <a:t>Problem</a:t>
            </a:r>
            <a:endParaRPr sz="1200" dirty="0">
              <a:latin typeface="Arial"/>
              <a:cs typeface="Arial"/>
            </a:endParaRPr>
          </a:p>
          <a:p>
            <a:pPr marL="16510" marR="146050" indent="-4445">
              <a:lnSpc>
                <a:spcPts val="1200"/>
              </a:lnSpc>
              <a:spcBef>
                <a:spcPts val="10"/>
              </a:spcBef>
            </a:pPr>
            <a:r>
              <a:rPr sz="1000" spc="-5" dirty="0">
                <a:latin typeface="Arial"/>
                <a:cs typeface="Arial"/>
              </a:rPr>
              <a:t>The interfaces </a:t>
            </a:r>
            <a:r>
              <a:rPr sz="1000" spc="-10" dirty="0">
                <a:latin typeface="Arial"/>
                <a:cs typeface="Arial"/>
              </a:rPr>
              <a:t>offered</a:t>
            </a:r>
            <a:r>
              <a:rPr sz="1000" dirty="0">
                <a:latin typeface="Arial"/>
                <a:cs typeface="Arial"/>
              </a:rPr>
              <a:t> </a:t>
            </a:r>
            <a:r>
              <a:rPr sz="1000" spc="-15" dirty="0">
                <a:latin typeface="Arial"/>
                <a:cs typeface="Arial"/>
              </a:rPr>
              <a:t>by</a:t>
            </a:r>
            <a:r>
              <a:rPr sz="1000" spc="-5" dirty="0">
                <a:latin typeface="Arial"/>
                <a:cs typeface="Arial"/>
              </a:rPr>
              <a:t> a</a:t>
            </a:r>
            <a:r>
              <a:rPr sz="1000" dirty="0">
                <a:latin typeface="Arial"/>
                <a:cs typeface="Arial"/>
              </a:rPr>
              <a:t> </a:t>
            </a:r>
            <a:r>
              <a:rPr sz="1000" spc="-5" dirty="0">
                <a:latin typeface="Arial"/>
                <a:cs typeface="Arial"/>
              </a:rPr>
              <a:t>legacy component</a:t>
            </a:r>
            <a:r>
              <a:rPr sz="1000" dirty="0">
                <a:latin typeface="Arial"/>
                <a:cs typeface="Arial"/>
              </a:rPr>
              <a:t> </a:t>
            </a:r>
            <a:r>
              <a:rPr sz="1000" spc="-5" dirty="0">
                <a:latin typeface="Arial"/>
                <a:cs typeface="Arial"/>
              </a:rPr>
              <a:t>are most</a:t>
            </a:r>
            <a:r>
              <a:rPr sz="1000" dirty="0">
                <a:latin typeface="Arial"/>
                <a:cs typeface="Arial"/>
              </a:rPr>
              <a:t> </a:t>
            </a:r>
            <a:r>
              <a:rPr sz="1000" spc="-5" dirty="0">
                <a:latin typeface="Arial"/>
                <a:cs typeface="Arial"/>
              </a:rPr>
              <a:t>likely not </a:t>
            </a:r>
            <a:r>
              <a:rPr sz="1000" spc="-260" dirty="0">
                <a:latin typeface="Arial"/>
                <a:cs typeface="Arial"/>
              </a:rPr>
              <a:t> </a:t>
            </a:r>
            <a:r>
              <a:rPr sz="1000" spc="-5" dirty="0">
                <a:latin typeface="Arial"/>
                <a:cs typeface="Arial"/>
              </a:rPr>
              <a:t>suitable</a:t>
            </a:r>
            <a:r>
              <a:rPr sz="1000" spc="-10" dirty="0">
                <a:latin typeface="Arial"/>
                <a:cs typeface="Arial"/>
              </a:rPr>
              <a:t> </a:t>
            </a:r>
            <a:r>
              <a:rPr sz="1000" spc="-15" dirty="0">
                <a:latin typeface="Arial"/>
                <a:cs typeface="Arial"/>
              </a:rPr>
              <a:t>for</a:t>
            </a:r>
            <a:r>
              <a:rPr sz="1000" spc="-5" dirty="0">
                <a:latin typeface="Arial"/>
                <a:cs typeface="Arial"/>
              </a:rPr>
              <a:t> all applications.</a:t>
            </a:r>
            <a:endParaRPr sz="1000" dirty="0">
              <a:latin typeface="Arial"/>
              <a:cs typeface="Arial"/>
            </a:endParaRPr>
          </a:p>
          <a:p>
            <a:pPr marL="16510">
              <a:lnSpc>
                <a:spcPts val="1410"/>
              </a:lnSpc>
              <a:spcBef>
                <a:spcPts val="650"/>
              </a:spcBef>
            </a:pPr>
            <a:r>
              <a:rPr sz="1200" spc="-5" dirty="0">
                <a:solidFill>
                  <a:srgbClr val="3333B2"/>
                </a:solidFill>
                <a:latin typeface="Arial"/>
                <a:cs typeface="Arial"/>
              </a:rPr>
              <a:t>Solution</a:t>
            </a:r>
            <a:endParaRPr sz="1200" dirty="0">
              <a:latin typeface="Arial"/>
              <a:cs typeface="Arial"/>
            </a:endParaRPr>
          </a:p>
          <a:p>
            <a:pPr marL="16510" marR="5080" indent="-4445">
              <a:lnSpc>
                <a:spcPts val="1200"/>
              </a:lnSpc>
              <a:spcBef>
                <a:spcPts val="10"/>
              </a:spcBef>
            </a:pPr>
            <a:r>
              <a:rPr sz="1000" spc="-5" dirty="0">
                <a:latin typeface="Arial"/>
                <a:cs typeface="Arial"/>
              </a:rPr>
              <a:t>A </a:t>
            </a:r>
            <a:r>
              <a:rPr sz="1000" spc="-5" dirty="0">
                <a:solidFill>
                  <a:srgbClr val="FA0000"/>
                </a:solidFill>
                <a:latin typeface="Arial"/>
                <a:cs typeface="Arial"/>
              </a:rPr>
              <a:t>wrapper </a:t>
            </a:r>
            <a:r>
              <a:rPr sz="1000" spc="-5" dirty="0">
                <a:latin typeface="Arial"/>
                <a:cs typeface="Arial"/>
              </a:rPr>
              <a:t>or </a:t>
            </a:r>
            <a:r>
              <a:rPr sz="1000" spc="-5" dirty="0">
                <a:solidFill>
                  <a:srgbClr val="FA0000"/>
                </a:solidFill>
                <a:latin typeface="Arial"/>
                <a:cs typeface="Arial"/>
              </a:rPr>
              <a:t>adapter </a:t>
            </a:r>
            <a:r>
              <a:rPr sz="1000" spc="-10" dirty="0">
                <a:latin typeface="Arial"/>
                <a:cs typeface="Arial"/>
              </a:rPr>
              <a:t>offers</a:t>
            </a:r>
            <a:r>
              <a:rPr sz="1000" spc="-5" dirty="0">
                <a:latin typeface="Arial"/>
                <a:cs typeface="Arial"/>
              </a:rPr>
              <a:t> an interface acceptable to a</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application.</a:t>
            </a:r>
            <a:r>
              <a:rPr sz="1000" spc="65" dirty="0">
                <a:latin typeface="Arial"/>
                <a:cs typeface="Arial"/>
              </a:rPr>
              <a:t> </a:t>
            </a:r>
            <a:r>
              <a:rPr sz="1000" spc="-5" dirty="0">
                <a:latin typeface="Arial"/>
                <a:cs typeface="Arial"/>
              </a:rPr>
              <a:t>Its</a:t>
            </a:r>
            <a:r>
              <a:rPr sz="1000" dirty="0">
                <a:latin typeface="Arial"/>
                <a:cs typeface="Arial"/>
              </a:rPr>
              <a:t> </a:t>
            </a:r>
            <a:r>
              <a:rPr sz="1000" spc="-5" dirty="0">
                <a:latin typeface="Arial"/>
                <a:cs typeface="Arial"/>
              </a:rPr>
              <a:t>functions</a:t>
            </a:r>
            <a:r>
              <a:rPr sz="1000" spc="5"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transformed</a:t>
            </a:r>
            <a:r>
              <a:rPr sz="1000" dirty="0">
                <a:latin typeface="Arial"/>
                <a:cs typeface="Arial"/>
              </a:rPr>
              <a:t> </a:t>
            </a:r>
            <a:r>
              <a:rPr sz="1000" spc="-5" dirty="0">
                <a:latin typeface="Arial"/>
                <a:cs typeface="Arial"/>
              </a:rPr>
              <a:t>into</a:t>
            </a:r>
            <a:r>
              <a:rPr sz="1000" dirty="0">
                <a:latin typeface="Arial"/>
                <a:cs typeface="Arial"/>
              </a:rPr>
              <a:t> </a:t>
            </a:r>
            <a:r>
              <a:rPr sz="1000" spc="-5" dirty="0">
                <a:latin typeface="Arial"/>
                <a:cs typeface="Arial"/>
              </a:rPr>
              <a:t>those</a:t>
            </a:r>
            <a:r>
              <a:rPr sz="1000" spc="5" dirty="0">
                <a:latin typeface="Arial"/>
                <a:cs typeface="Arial"/>
              </a:rPr>
              <a:t> </a:t>
            </a:r>
            <a:r>
              <a:rPr sz="1000" spc="-10" dirty="0">
                <a:latin typeface="Arial"/>
                <a:cs typeface="Arial"/>
              </a:rPr>
              <a:t>available</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the </a:t>
            </a:r>
            <a:r>
              <a:rPr sz="1000" spc="-260" dirty="0">
                <a:latin typeface="Arial"/>
                <a:cs typeface="Arial"/>
              </a:rPr>
              <a:t> </a:t>
            </a:r>
            <a:r>
              <a:rPr sz="1000" spc="-5" dirty="0">
                <a:latin typeface="Arial"/>
                <a:cs typeface="Arial"/>
              </a:rPr>
              <a:t>component.</a:t>
            </a:r>
            <a:endParaRPr sz="1000" dirty="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493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Middleware organization</a:t>
            </a:r>
            <a:endParaRPr sz="600">
              <a:latin typeface="Arial"/>
              <a:cs typeface="Arial"/>
            </a:endParaRPr>
          </a:p>
        </p:txBody>
      </p:sp>
      <p:sp>
        <p:nvSpPr>
          <p:cNvPr id="3" name="object 3"/>
          <p:cNvSpPr txBox="1"/>
          <p:nvPr/>
        </p:nvSpPr>
        <p:spPr>
          <a:xfrm>
            <a:off x="4187634" y="716"/>
            <a:ext cx="3536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W</a:t>
            </a:r>
            <a:r>
              <a:rPr sz="600" spc="-15" dirty="0">
                <a:solidFill>
                  <a:srgbClr val="262685"/>
                </a:solidFill>
                <a:latin typeface="Arial"/>
                <a:cs typeface="Arial"/>
                <a:hlinkClick r:id="rId4" action="ppaction://hlinksldjump"/>
              </a:rPr>
              <a:t>r</a:t>
            </a:r>
            <a:r>
              <a:rPr sz="600" spc="-5" dirty="0">
                <a:solidFill>
                  <a:srgbClr val="262685"/>
                </a:solidFill>
                <a:latin typeface="Arial"/>
                <a:cs typeface="Arial"/>
                <a:hlinkClick r:id="rId4" action="ppaction://hlinksldjump"/>
              </a:rPr>
              <a:t>appers</a:t>
            </a:r>
            <a:endParaRPr sz="600">
              <a:latin typeface="Arial"/>
              <a:cs typeface="Arial"/>
            </a:endParaRPr>
          </a:p>
        </p:txBody>
      </p:sp>
      <p:sp>
        <p:nvSpPr>
          <p:cNvPr id="4" name="object 4"/>
          <p:cNvSpPr txBox="1"/>
          <p:nvPr/>
        </p:nvSpPr>
        <p:spPr>
          <a:xfrm>
            <a:off x="912769" y="1454664"/>
            <a:ext cx="4381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grpSp>
        <p:nvGrpSpPr>
          <p:cNvPr id="5" name="object 5"/>
          <p:cNvGrpSpPr/>
          <p:nvPr/>
        </p:nvGrpSpPr>
        <p:grpSpPr>
          <a:xfrm>
            <a:off x="1340805" y="1091930"/>
            <a:ext cx="723265" cy="778510"/>
            <a:chOff x="1340805" y="1091930"/>
            <a:chExt cx="723265" cy="778510"/>
          </a:xfrm>
        </p:grpSpPr>
        <p:sp>
          <p:nvSpPr>
            <p:cNvPr id="6" name="object 6"/>
            <p:cNvSpPr/>
            <p:nvPr/>
          </p:nvSpPr>
          <p:spPr>
            <a:xfrm>
              <a:off x="1433302" y="1180005"/>
              <a:ext cx="537845" cy="598170"/>
            </a:xfrm>
            <a:custGeom>
              <a:avLst/>
              <a:gdLst/>
              <a:ahLst/>
              <a:cxnLst/>
              <a:rect l="l" t="t" r="r" b="b"/>
              <a:pathLst>
                <a:path w="537844" h="598169">
                  <a:moveTo>
                    <a:pt x="59757" y="89639"/>
                  </a:moveTo>
                  <a:lnTo>
                    <a:pt x="507960" y="0"/>
                  </a:lnTo>
                </a:path>
                <a:path w="537844" h="598169">
                  <a:moveTo>
                    <a:pt x="0" y="567719"/>
                  </a:moveTo>
                  <a:lnTo>
                    <a:pt x="537841" y="597600"/>
                  </a:lnTo>
                </a:path>
                <a:path w="537844" h="598169">
                  <a:moveTo>
                    <a:pt x="507960" y="0"/>
                  </a:moveTo>
                  <a:lnTo>
                    <a:pt x="0" y="567719"/>
                  </a:lnTo>
                </a:path>
                <a:path w="537844" h="598169">
                  <a:moveTo>
                    <a:pt x="59757" y="89639"/>
                  </a:moveTo>
                  <a:lnTo>
                    <a:pt x="537841" y="597600"/>
                  </a:lnTo>
                </a:path>
                <a:path w="537844" h="598169">
                  <a:moveTo>
                    <a:pt x="507960" y="0"/>
                  </a:moveTo>
                  <a:lnTo>
                    <a:pt x="537841" y="597600"/>
                  </a:lnTo>
                </a:path>
                <a:path w="537844" h="598169">
                  <a:moveTo>
                    <a:pt x="59757" y="89639"/>
                  </a:moveTo>
                  <a:lnTo>
                    <a:pt x="0" y="567719"/>
                  </a:lnTo>
                </a:path>
              </a:pathLst>
            </a:custGeom>
            <a:ln w="5270">
              <a:solidFill>
                <a:srgbClr val="231F20"/>
              </a:solidFill>
            </a:ln>
          </p:spPr>
          <p:txBody>
            <a:bodyPr wrap="square" lIns="0" tIns="0" rIns="0" bIns="0" rtlCol="0"/>
            <a:lstStyle/>
            <a:p>
              <a:endParaRPr/>
            </a:p>
          </p:txBody>
        </p:sp>
        <p:sp>
          <p:nvSpPr>
            <p:cNvPr id="7" name="object 7"/>
            <p:cNvSpPr/>
            <p:nvPr/>
          </p:nvSpPr>
          <p:spPr>
            <a:xfrm>
              <a:off x="1343663" y="1658083"/>
              <a:ext cx="179705" cy="179705"/>
            </a:xfrm>
            <a:custGeom>
              <a:avLst/>
              <a:gdLst/>
              <a:ahLst/>
              <a:cxnLst/>
              <a:rect l="l" t="t" r="r" b="b"/>
              <a:pathLst>
                <a:path w="179705" h="179705">
                  <a:moveTo>
                    <a:pt x="89639" y="0"/>
                  </a:moveTo>
                  <a:lnTo>
                    <a:pt x="54751" y="7045"/>
                  </a:lnTo>
                  <a:lnTo>
                    <a:pt x="26258" y="26257"/>
                  </a:lnTo>
                  <a:lnTo>
                    <a:pt x="7045" y="54750"/>
                  </a:lnTo>
                  <a:lnTo>
                    <a:pt x="0" y="89640"/>
                  </a:lnTo>
                  <a:lnTo>
                    <a:pt x="7045" y="124528"/>
                  </a:lnTo>
                  <a:lnTo>
                    <a:pt x="26258" y="153021"/>
                  </a:lnTo>
                  <a:lnTo>
                    <a:pt x="54751" y="172234"/>
                  </a:lnTo>
                  <a:lnTo>
                    <a:pt x="89639" y="179279"/>
                  </a:lnTo>
                  <a:lnTo>
                    <a:pt x="124527" y="172234"/>
                  </a:lnTo>
                  <a:lnTo>
                    <a:pt x="153020" y="153021"/>
                  </a:lnTo>
                  <a:lnTo>
                    <a:pt x="172233" y="124528"/>
                  </a:lnTo>
                  <a:lnTo>
                    <a:pt x="179279" y="89640"/>
                  </a:lnTo>
                  <a:lnTo>
                    <a:pt x="172233" y="54750"/>
                  </a:lnTo>
                  <a:lnTo>
                    <a:pt x="153020" y="26257"/>
                  </a:lnTo>
                  <a:lnTo>
                    <a:pt x="124527" y="7045"/>
                  </a:lnTo>
                  <a:lnTo>
                    <a:pt x="89639" y="0"/>
                  </a:lnTo>
                  <a:close/>
                </a:path>
              </a:pathLst>
            </a:custGeom>
            <a:solidFill>
              <a:srgbClr val="FFFFFF"/>
            </a:solidFill>
          </p:spPr>
          <p:txBody>
            <a:bodyPr wrap="square" lIns="0" tIns="0" rIns="0" bIns="0" rtlCol="0"/>
            <a:lstStyle/>
            <a:p>
              <a:endParaRPr/>
            </a:p>
          </p:txBody>
        </p:sp>
        <p:sp>
          <p:nvSpPr>
            <p:cNvPr id="8" name="object 8"/>
            <p:cNvSpPr/>
            <p:nvPr/>
          </p:nvSpPr>
          <p:spPr>
            <a:xfrm>
              <a:off x="1343663" y="1658083"/>
              <a:ext cx="179705" cy="179705"/>
            </a:xfrm>
            <a:custGeom>
              <a:avLst/>
              <a:gdLst/>
              <a:ahLst/>
              <a:cxnLst/>
              <a:rect l="l" t="t" r="r" b="b"/>
              <a:pathLst>
                <a:path w="179705" h="179705">
                  <a:moveTo>
                    <a:pt x="89639" y="0"/>
                  </a:moveTo>
                  <a:lnTo>
                    <a:pt x="124527" y="7045"/>
                  </a:lnTo>
                  <a:lnTo>
                    <a:pt x="153020" y="26257"/>
                  </a:lnTo>
                  <a:lnTo>
                    <a:pt x="172233" y="54750"/>
                  </a:lnTo>
                  <a:lnTo>
                    <a:pt x="179279" y="89640"/>
                  </a:lnTo>
                  <a:lnTo>
                    <a:pt x="172233" y="124528"/>
                  </a:lnTo>
                  <a:lnTo>
                    <a:pt x="153020" y="153021"/>
                  </a:lnTo>
                  <a:lnTo>
                    <a:pt x="124527" y="172234"/>
                  </a:lnTo>
                  <a:lnTo>
                    <a:pt x="89639" y="179279"/>
                  </a:lnTo>
                  <a:lnTo>
                    <a:pt x="54751" y="172234"/>
                  </a:lnTo>
                  <a:lnTo>
                    <a:pt x="26258" y="153021"/>
                  </a:lnTo>
                  <a:lnTo>
                    <a:pt x="7045" y="124528"/>
                  </a:lnTo>
                  <a:lnTo>
                    <a:pt x="0" y="89640"/>
                  </a:lnTo>
                  <a:lnTo>
                    <a:pt x="7045" y="54750"/>
                  </a:lnTo>
                  <a:lnTo>
                    <a:pt x="26258" y="26257"/>
                  </a:lnTo>
                  <a:lnTo>
                    <a:pt x="54751" y="7045"/>
                  </a:lnTo>
                  <a:lnTo>
                    <a:pt x="89639" y="0"/>
                  </a:lnTo>
                  <a:close/>
                </a:path>
              </a:pathLst>
            </a:custGeom>
            <a:ln w="5270">
              <a:solidFill>
                <a:srgbClr val="231F20"/>
              </a:solidFill>
            </a:ln>
          </p:spPr>
          <p:txBody>
            <a:bodyPr wrap="square" lIns="0" tIns="0" rIns="0" bIns="0" rtlCol="0"/>
            <a:lstStyle/>
            <a:p>
              <a:endParaRPr/>
            </a:p>
          </p:txBody>
        </p:sp>
        <p:sp>
          <p:nvSpPr>
            <p:cNvPr id="9" name="object 9"/>
            <p:cNvSpPr/>
            <p:nvPr/>
          </p:nvSpPr>
          <p:spPr>
            <a:xfrm>
              <a:off x="1881500" y="1687961"/>
              <a:ext cx="179705" cy="179705"/>
            </a:xfrm>
            <a:custGeom>
              <a:avLst/>
              <a:gdLst/>
              <a:ahLst/>
              <a:cxnLst/>
              <a:rect l="l" t="t" r="r" b="b"/>
              <a:pathLst>
                <a:path w="179705" h="179705">
                  <a:moveTo>
                    <a:pt x="89643" y="0"/>
                  </a:moveTo>
                  <a:lnTo>
                    <a:pt x="54753" y="7045"/>
                  </a:lnTo>
                  <a:lnTo>
                    <a:pt x="26258" y="26258"/>
                  </a:lnTo>
                  <a:lnTo>
                    <a:pt x="7045" y="54753"/>
                  </a:lnTo>
                  <a:lnTo>
                    <a:pt x="0" y="89644"/>
                  </a:lnTo>
                  <a:lnTo>
                    <a:pt x="7045" y="124531"/>
                  </a:lnTo>
                  <a:lnTo>
                    <a:pt x="26258" y="153025"/>
                  </a:lnTo>
                  <a:lnTo>
                    <a:pt x="54753" y="172238"/>
                  </a:lnTo>
                  <a:lnTo>
                    <a:pt x="89643" y="179283"/>
                  </a:lnTo>
                  <a:lnTo>
                    <a:pt x="124533" y="172238"/>
                  </a:lnTo>
                  <a:lnTo>
                    <a:pt x="153026" y="153025"/>
                  </a:lnTo>
                  <a:lnTo>
                    <a:pt x="172239" y="124531"/>
                  </a:lnTo>
                  <a:lnTo>
                    <a:pt x="179284" y="89644"/>
                  </a:lnTo>
                  <a:lnTo>
                    <a:pt x="172239" y="54753"/>
                  </a:lnTo>
                  <a:lnTo>
                    <a:pt x="153026" y="26258"/>
                  </a:lnTo>
                  <a:lnTo>
                    <a:pt x="124533" y="7045"/>
                  </a:lnTo>
                  <a:lnTo>
                    <a:pt x="89643" y="0"/>
                  </a:lnTo>
                  <a:close/>
                </a:path>
              </a:pathLst>
            </a:custGeom>
            <a:solidFill>
              <a:srgbClr val="FFFFFF"/>
            </a:solidFill>
          </p:spPr>
          <p:txBody>
            <a:bodyPr wrap="square" lIns="0" tIns="0" rIns="0" bIns="0" rtlCol="0"/>
            <a:lstStyle/>
            <a:p>
              <a:endParaRPr/>
            </a:p>
          </p:txBody>
        </p:sp>
        <p:sp>
          <p:nvSpPr>
            <p:cNvPr id="10" name="object 10"/>
            <p:cNvSpPr/>
            <p:nvPr/>
          </p:nvSpPr>
          <p:spPr>
            <a:xfrm>
              <a:off x="1881500" y="1687961"/>
              <a:ext cx="179705" cy="179705"/>
            </a:xfrm>
            <a:custGeom>
              <a:avLst/>
              <a:gdLst/>
              <a:ahLst/>
              <a:cxnLst/>
              <a:rect l="l" t="t" r="r" b="b"/>
              <a:pathLst>
                <a:path w="179705" h="179705">
                  <a:moveTo>
                    <a:pt x="89643" y="0"/>
                  </a:moveTo>
                  <a:lnTo>
                    <a:pt x="124533" y="7045"/>
                  </a:lnTo>
                  <a:lnTo>
                    <a:pt x="153026" y="26258"/>
                  </a:lnTo>
                  <a:lnTo>
                    <a:pt x="172239" y="54753"/>
                  </a:lnTo>
                  <a:lnTo>
                    <a:pt x="179284" y="89644"/>
                  </a:lnTo>
                  <a:lnTo>
                    <a:pt x="172239" y="124531"/>
                  </a:lnTo>
                  <a:lnTo>
                    <a:pt x="153026" y="153025"/>
                  </a:lnTo>
                  <a:lnTo>
                    <a:pt x="124533" y="172238"/>
                  </a:lnTo>
                  <a:lnTo>
                    <a:pt x="89643" y="179283"/>
                  </a:lnTo>
                  <a:lnTo>
                    <a:pt x="54753" y="172238"/>
                  </a:lnTo>
                  <a:lnTo>
                    <a:pt x="26258" y="153025"/>
                  </a:lnTo>
                  <a:lnTo>
                    <a:pt x="7045" y="124531"/>
                  </a:lnTo>
                  <a:lnTo>
                    <a:pt x="0" y="89644"/>
                  </a:lnTo>
                  <a:lnTo>
                    <a:pt x="7045" y="54753"/>
                  </a:lnTo>
                  <a:lnTo>
                    <a:pt x="26258" y="26258"/>
                  </a:lnTo>
                  <a:lnTo>
                    <a:pt x="54753" y="7045"/>
                  </a:lnTo>
                  <a:lnTo>
                    <a:pt x="89643" y="0"/>
                  </a:lnTo>
                  <a:close/>
                </a:path>
              </a:pathLst>
            </a:custGeom>
            <a:ln w="5270">
              <a:solidFill>
                <a:srgbClr val="231F20"/>
              </a:solidFill>
            </a:ln>
          </p:spPr>
          <p:txBody>
            <a:bodyPr wrap="square" lIns="0" tIns="0" rIns="0" bIns="0" rtlCol="0"/>
            <a:lstStyle/>
            <a:p>
              <a:endParaRPr/>
            </a:p>
          </p:txBody>
        </p:sp>
        <p:sp>
          <p:nvSpPr>
            <p:cNvPr id="11" name="object 11"/>
            <p:cNvSpPr/>
            <p:nvPr/>
          </p:nvSpPr>
          <p:spPr>
            <a:xfrm>
              <a:off x="1853307" y="1094787"/>
              <a:ext cx="179705" cy="179705"/>
            </a:xfrm>
            <a:custGeom>
              <a:avLst/>
              <a:gdLst/>
              <a:ahLst/>
              <a:cxnLst/>
              <a:rect l="l" t="t" r="r" b="b"/>
              <a:pathLst>
                <a:path w="179705" h="179705">
                  <a:moveTo>
                    <a:pt x="89639" y="0"/>
                  </a:moveTo>
                  <a:lnTo>
                    <a:pt x="54751" y="7045"/>
                  </a:lnTo>
                  <a:lnTo>
                    <a:pt x="26258" y="26256"/>
                  </a:lnTo>
                  <a:lnTo>
                    <a:pt x="7045" y="54749"/>
                  </a:lnTo>
                  <a:lnTo>
                    <a:pt x="0" y="89639"/>
                  </a:lnTo>
                  <a:lnTo>
                    <a:pt x="7045" y="124527"/>
                  </a:lnTo>
                  <a:lnTo>
                    <a:pt x="26258" y="153020"/>
                  </a:lnTo>
                  <a:lnTo>
                    <a:pt x="54751" y="172233"/>
                  </a:lnTo>
                  <a:lnTo>
                    <a:pt x="89639" y="179279"/>
                  </a:lnTo>
                  <a:lnTo>
                    <a:pt x="124528" y="172233"/>
                  </a:lnTo>
                  <a:lnTo>
                    <a:pt x="153022" y="153020"/>
                  </a:lnTo>
                  <a:lnTo>
                    <a:pt x="172234" y="124527"/>
                  </a:lnTo>
                  <a:lnTo>
                    <a:pt x="179280" y="89639"/>
                  </a:lnTo>
                  <a:lnTo>
                    <a:pt x="172234" y="54749"/>
                  </a:lnTo>
                  <a:lnTo>
                    <a:pt x="153022" y="26256"/>
                  </a:lnTo>
                  <a:lnTo>
                    <a:pt x="124528" y="7045"/>
                  </a:lnTo>
                  <a:lnTo>
                    <a:pt x="89639" y="0"/>
                  </a:lnTo>
                  <a:close/>
                </a:path>
              </a:pathLst>
            </a:custGeom>
            <a:solidFill>
              <a:srgbClr val="FFFFFF"/>
            </a:solidFill>
          </p:spPr>
          <p:txBody>
            <a:bodyPr wrap="square" lIns="0" tIns="0" rIns="0" bIns="0" rtlCol="0"/>
            <a:lstStyle/>
            <a:p>
              <a:endParaRPr/>
            </a:p>
          </p:txBody>
        </p:sp>
        <p:sp>
          <p:nvSpPr>
            <p:cNvPr id="12" name="object 12"/>
            <p:cNvSpPr/>
            <p:nvPr/>
          </p:nvSpPr>
          <p:spPr>
            <a:xfrm>
              <a:off x="1853307" y="1094787"/>
              <a:ext cx="179705" cy="179705"/>
            </a:xfrm>
            <a:custGeom>
              <a:avLst/>
              <a:gdLst/>
              <a:ahLst/>
              <a:cxnLst/>
              <a:rect l="l" t="t" r="r" b="b"/>
              <a:pathLst>
                <a:path w="179705" h="179705">
                  <a:moveTo>
                    <a:pt x="89639" y="0"/>
                  </a:moveTo>
                  <a:lnTo>
                    <a:pt x="124528" y="7045"/>
                  </a:lnTo>
                  <a:lnTo>
                    <a:pt x="153022" y="26256"/>
                  </a:lnTo>
                  <a:lnTo>
                    <a:pt x="172234" y="54749"/>
                  </a:lnTo>
                  <a:lnTo>
                    <a:pt x="179280" y="89639"/>
                  </a:lnTo>
                  <a:lnTo>
                    <a:pt x="172234" y="124527"/>
                  </a:lnTo>
                  <a:lnTo>
                    <a:pt x="153022" y="153020"/>
                  </a:lnTo>
                  <a:lnTo>
                    <a:pt x="124528" y="172233"/>
                  </a:lnTo>
                  <a:lnTo>
                    <a:pt x="89639" y="179279"/>
                  </a:lnTo>
                  <a:lnTo>
                    <a:pt x="54751" y="172233"/>
                  </a:lnTo>
                  <a:lnTo>
                    <a:pt x="26258" y="153020"/>
                  </a:lnTo>
                  <a:lnTo>
                    <a:pt x="7045" y="124527"/>
                  </a:lnTo>
                  <a:lnTo>
                    <a:pt x="0" y="89639"/>
                  </a:lnTo>
                  <a:lnTo>
                    <a:pt x="7045" y="54749"/>
                  </a:lnTo>
                  <a:lnTo>
                    <a:pt x="26258" y="26256"/>
                  </a:lnTo>
                  <a:lnTo>
                    <a:pt x="54751" y="7045"/>
                  </a:lnTo>
                  <a:lnTo>
                    <a:pt x="89639" y="0"/>
                  </a:lnTo>
                  <a:close/>
                </a:path>
              </a:pathLst>
            </a:custGeom>
            <a:ln w="5270">
              <a:solidFill>
                <a:srgbClr val="231F20"/>
              </a:solidFill>
            </a:ln>
          </p:spPr>
          <p:txBody>
            <a:bodyPr wrap="square" lIns="0" tIns="0" rIns="0" bIns="0" rtlCol="0"/>
            <a:lstStyle/>
            <a:p>
              <a:endParaRPr/>
            </a:p>
          </p:txBody>
        </p:sp>
        <p:sp>
          <p:nvSpPr>
            <p:cNvPr id="13" name="object 13"/>
            <p:cNvSpPr/>
            <p:nvPr/>
          </p:nvSpPr>
          <p:spPr>
            <a:xfrm>
              <a:off x="1403421" y="1180005"/>
              <a:ext cx="179705" cy="179705"/>
            </a:xfrm>
            <a:custGeom>
              <a:avLst/>
              <a:gdLst/>
              <a:ahLst/>
              <a:cxnLst/>
              <a:rect l="l" t="t" r="r" b="b"/>
              <a:pathLst>
                <a:path w="179705" h="179705">
                  <a:moveTo>
                    <a:pt x="89639" y="0"/>
                  </a:moveTo>
                  <a:lnTo>
                    <a:pt x="54751" y="7045"/>
                  </a:lnTo>
                  <a:lnTo>
                    <a:pt x="26258" y="26256"/>
                  </a:lnTo>
                  <a:lnTo>
                    <a:pt x="7045" y="54749"/>
                  </a:lnTo>
                  <a:lnTo>
                    <a:pt x="0" y="89639"/>
                  </a:lnTo>
                  <a:lnTo>
                    <a:pt x="7045" y="124527"/>
                  </a:lnTo>
                  <a:lnTo>
                    <a:pt x="26258" y="153020"/>
                  </a:lnTo>
                  <a:lnTo>
                    <a:pt x="54751" y="172233"/>
                  </a:lnTo>
                  <a:lnTo>
                    <a:pt x="89639" y="179279"/>
                  </a:lnTo>
                  <a:lnTo>
                    <a:pt x="124529" y="172233"/>
                  </a:lnTo>
                  <a:lnTo>
                    <a:pt x="153024" y="153020"/>
                  </a:lnTo>
                  <a:lnTo>
                    <a:pt x="172237" y="124527"/>
                  </a:lnTo>
                  <a:lnTo>
                    <a:pt x="179283" y="89639"/>
                  </a:lnTo>
                  <a:lnTo>
                    <a:pt x="172237" y="54749"/>
                  </a:lnTo>
                  <a:lnTo>
                    <a:pt x="153024" y="26256"/>
                  </a:lnTo>
                  <a:lnTo>
                    <a:pt x="124529" y="7045"/>
                  </a:lnTo>
                  <a:lnTo>
                    <a:pt x="89639" y="0"/>
                  </a:lnTo>
                  <a:close/>
                </a:path>
              </a:pathLst>
            </a:custGeom>
            <a:solidFill>
              <a:srgbClr val="FFFFFF"/>
            </a:solidFill>
          </p:spPr>
          <p:txBody>
            <a:bodyPr wrap="square" lIns="0" tIns="0" rIns="0" bIns="0" rtlCol="0"/>
            <a:lstStyle/>
            <a:p>
              <a:endParaRPr/>
            </a:p>
          </p:txBody>
        </p:sp>
        <p:sp>
          <p:nvSpPr>
            <p:cNvPr id="14" name="object 14"/>
            <p:cNvSpPr/>
            <p:nvPr/>
          </p:nvSpPr>
          <p:spPr>
            <a:xfrm>
              <a:off x="1403421" y="1180005"/>
              <a:ext cx="179705" cy="179705"/>
            </a:xfrm>
            <a:custGeom>
              <a:avLst/>
              <a:gdLst/>
              <a:ahLst/>
              <a:cxnLst/>
              <a:rect l="l" t="t" r="r" b="b"/>
              <a:pathLst>
                <a:path w="179705" h="179705">
                  <a:moveTo>
                    <a:pt x="89639" y="0"/>
                  </a:moveTo>
                  <a:lnTo>
                    <a:pt x="124529" y="7045"/>
                  </a:lnTo>
                  <a:lnTo>
                    <a:pt x="153024" y="26256"/>
                  </a:lnTo>
                  <a:lnTo>
                    <a:pt x="172237" y="54749"/>
                  </a:lnTo>
                  <a:lnTo>
                    <a:pt x="179283" y="89639"/>
                  </a:lnTo>
                  <a:lnTo>
                    <a:pt x="172237" y="124527"/>
                  </a:lnTo>
                  <a:lnTo>
                    <a:pt x="153024" y="153020"/>
                  </a:lnTo>
                  <a:lnTo>
                    <a:pt x="124529" y="172233"/>
                  </a:lnTo>
                  <a:lnTo>
                    <a:pt x="89639" y="179279"/>
                  </a:lnTo>
                  <a:lnTo>
                    <a:pt x="54751" y="172233"/>
                  </a:lnTo>
                  <a:lnTo>
                    <a:pt x="26258" y="153020"/>
                  </a:lnTo>
                  <a:lnTo>
                    <a:pt x="7045" y="124527"/>
                  </a:lnTo>
                  <a:lnTo>
                    <a:pt x="0" y="89639"/>
                  </a:lnTo>
                  <a:lnTo>
                    <a:pt x="7045" y="54749"/>
                  </a:lnTo>
                  <a:lnTo>
                    <a:pt x="26258" y="26256"/>
                  </a:lnTo>
                  <a:lnTo>
                    <a:pt x="54751" y="7045"/>
                  </a:lnTo>
                  <a:lnTo>
                    <a:pt x="89639" y="0"/>
                  </a:lnTo>
                  <a:close/>
                </a:path>
              </a:pathLst>
            </a:custGeom>
            <a:ln w="5270">
              <a:solidFill>
                <a:srgbClr val="231F20"/>
              </a:solidFill>
            </a:ln>
          </p:spPr>
          <p:txBody>
            <a:bodyPr wrap="square" lIns="0" tIns="0" rIns="0" bIns="0" rtlCol="0"/>
            <a:lstStyle/>
            <a:p>
              <a:endParaRPr/>
            </a:p>
          </p:txBody>
        </p:sp>
        <p:sp>
          <p:nvSpPr>
            <p:cNvPr id="15" name="object 15"/>
            <p:cNvSpPr/>
            <p:nvPr/>
          </p:nvSpPr>
          <p:spPr>
            <a:xfrm>
              <a:off x="1408559" y="1166013"/>
              <a:ext cx="592455" cy="641985"/>
            </a:xfrm>
            <a:custGeom>
              <a:avLst/>
              <a:gdLst/>
              <a:ahLst/>
              <a:cxnLst/>
              <a:rect l="l" t="t" r="r" b="b"/>
              <a:pathLst>
                <a:path w="592455" h="641985">
                  <a:moveTo>
                    <a:pt x="195045" y="45112"/>
                  </a:moveTo>
                  <a:lnTo>
                    <a:pt x="207505" y="115445"/>
                  </a:lnTo>
                </a:path>
                <a:path w="592455" h="641985">
                  <a:moveTo>
                    <a:pt x="502822" y="137341"/>
                  </a:moveTo>
                  <a:lnTo>
                    <a:pt x="574148" y="133508"/>
                  </a:lnTo>
                </a:path>
                <a:path w="592455" h="641985">
                  <a:moveTo>
                    <a:pt x="521137" y="492070"/>
                  </a:moveTo>
                  <a:lnTo>
                    <a:pt x="592457" y="488238"/>
                  </a:lnTo>
                </a:path>
                <a:path w="592455" h="641985">
                  <a:moveTo>
                    <a:pt x="139330" y="213265"/>
                  </a:moveTo>
                  <a:lnTo>
                    <a:pt x="194913" y="168409"/>
                  </a:lnTo>
                </a:path>
                <a:path w="592455" h="641985">
                  <a:moveTo>
                    <a:pt x="455610" y="546905"/>
                  </a:moveTo>
                  <a:lnTo>
                    <a:pt x="510085" y="500710"/>
                  </a:lnTo>
                </a:path>
                <a:path w="592455" h="641985">
                  <a:moveTo>
                    <a:pt x="411634" y="0"/>
                  </a:moveTo>
                  <a:lnTo>
                    <a:pt x="424093" y="70332"/>
                  </a:lnTo>
                </a:path>
                <a:path w="592455" h="641985">
                  <a:moveTo>
                    <a:pt x="443063" y="641469"/>
                  </a:moveTo>
                  <a:lnTo>
                    <a:pt x="447288" y="570168"/>
                  </a:lnTo>
                </a:path>
                <a:path w="592455" h="641985">
                  <a:moveTo>
                    <a:pt x="144263" y="623129"/>
                  </a:moveTo>
                  <a:lnTo>
                    <a:pt x="148487" y="551829"/>
                  </a:lnTo>
                </a:path>
                <a:path w="592455" h="641985">
                  <a:moveTo>
                    <a:pt x="130835" y="520165"/>
                  </a:moveTo>
                  <a:lnTo>
                    <a:pt x="79461" y="470544"/>
                  </a:lnTo>
                </a:path>
                <a:path w="592455" h="641985">
                  <a:moveTo>
                    <a:pt x="71015" y="466542"/>
                  </a:moveTo>
                  <a:lnTo>
                    <a:pt x="0" y="458928"/>
                  </a:lnTo>
                </a:path>
                <a:path w="592455" h="641985">
                  <a:moveTo>
                    <a:pt x="34459" y="218103"/>
                  </a:moveTo>
                  <a:lnTo>
                    <a:pt x="105414" y="226322"/>
                  </a:lnTo>
                </a:path>
                <a:path w="592455" h="641985">
                  <a:moveTo>
                    <a:pt x="428685" y="79712"/>
                  </a:moveTo>
                  <a:lnTo>
                    <a:pt x="481950" y="127299"/>
                  </a:lnTo>
                </a:path>
              </a:pathLst>
            </a:custGeom>
            <a:ln w="21083">
              <a:solidFill>
                <a:srgbClr val="A7A9AC"/>
              </a:solidFill>
            </a:ln>
          </p:spPr>
          <p:txBody>
            <a:bodyPr wrap="square" lIns="0" tIns="0" rIns="0" bIns="0" rtlCol="0"/>
            <a:lstStyle/>
            <a:p>
              <a:endParaRPr/>
            </a:p>
          </p:txBody>
        </p:sp>
      </p:grpSp>
      <p:sp>
        <p:nvSpPr>
          <p:cNvPr id="16" name="object 16"/>
          <p:cNvSpPr txBox="1"/>
          <p:nvPr/>
        </p:nvSpPr>
        <p:spPr>
          <a:xfrm>
            <a:off x="95300" y="188846"/>
            <a:ext cx="3044825" cy="90360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Organizing</a:t>
            </a:r>
            <a:r>
              <a:rPr sz="1400" spc="-35" dirty="0">
                <a:solidFill>
                  <a:srgbClr val="3333B2"/>
                </a:solidFill>
                <a:latin typeface="Arial"/>
                <a:cs typeface="Arial"/>
              </a:rPr>
              <a:t> </a:t>
            </a:r>
            <a:r>
              <a:rPr sz="1400" spc="15" dirty="0">
                <a:solidFill>
                  <a:srgbClr val="3333B2"/>
                </a:solidFill>
                <a:latin typeface="Arial"/>
                <a:cs typeface="Arial"/>
              </a:rPr>
              <a:t>wrappers</a:t>
            </a:r>
            <a:endParaRPr sz="1400" dirty="0">
              <a:latin typeface="Arial"/>
              <a:cs typeface="Arial"/>
            </a:endParaRPr>
          </a:p>
          <a:p>
            <a:pPr>
              <a:lnSpc>
                <a:spcPct val="100000"/>
              </a:lnSpc>
              <a:spcBef>
                <a:spcPts val="15"/>
              </a:spcBef>
            </a:pPr>
            <a:endParaRPr sz="1850" dirty="0">
              <a:latin typeface="Arial"/>
              <a:cs typeface="Arial"/>
            </a:endParaRPr>
          </a:p>
          <a:p>
            <a:pPr marL="259715">
              <a:lnSpc>
                <a:spcPct val="100000"/>
              </a:lnSpc>
            </a:pPr>
            <a:r>
              <a:rPr sz="1200" spc="-60" dirty="0">
                <a:solidFill>
                  <a:srgbClr val="3333B2"/>
                </a:solidFill>
                <a:latin typeface="Arial"/>
                <a:cs typeface="Arial"/>
              </a:rPr>
              <a:t>Two</a:t>
            </a:r>
            <a:r>
              <a:rPr sz="1200" spc="-5" dirty="0">
                <a:solidFill>
                  <a:srgbClr val="3333B2"/>
                </a:solidFill>
                <a:latin typeface="Arial"/>
                <a:cs typeface="Arial"/>
              </a:rPr>
              <a:t> solutions:</a:t>
            </a:r>
            <a:r>
              <a:rPr sz="1200" spc="75" dirty="0">
                <a:solidFill>
                  <a:srgbClr val="3333B2"/>
                </a:solidFill>
                <a:latin typeface="Arial"/>
                <a:cs typeface="Arial"/>
              </a:rPr>
              <a:t> </a:t>
            </a:r>
            <a:r>
              <a:rPr sz="1200" spc="-5" dirty="0">
                <a:solidFill>
                  <a:srgbClr val="3333B2"/>
                </a:solidFill>
                <a:latin typeface="Arial"/>
                <a:cs typeface="Arial"/>
              </a:rPr>
              <a:t>1-on-1 or through</a:t>
            </a:r>
            <a:r>
              <a:rPr sz="1200" dirty="0">
                <a:solidFill>
                  <a:srgbClr val="3333B2"/>
                </a:solidFill>
                <a:latin typeface="Arial"/>
                <a:cs typeface="Arial"/>
              </a:rPr>
              <a:t> </a:t>
            </a:r>
            <a:r>
              <a:rPr sz="1200" spc="-5" dirty="0">
                <a:solidFill>
                  <a:srgbClr val="3333B2"/>
                </a:solidFill>
                <a:latin typeface="Arial"/>
                <a:cs typeface="Arial"/>
              </a:rPr>
              <a:t>a </a:t>
            </a:r>
            <a:r>
              <a:rPr sz="1200" spc="-10" dirty="0">
                <a:solidFill>
                  <a:srgbClr val="3333B2"/>
                </a:solidFill>
                <a:latin typeface="Arial"/>
                <a:cs typeface="Arial"/>
              </a:rPr>
              <a:t>broker</a:t>
            </a:r>
            <a:endParaRPr sz="1200" dirty="0">
              <a:latin typeface="Arial"/>
              <a:cs typeface="Arial"/>
            </a:endParaRPr>
          </a:p>
          <a:p>
            <a:pPr marL="113030" algn="ctr">
              <a:lnSpc>
                <a:spcPct val="100000"/>
              </a:lnSpc>
              <a:spcBef>
                <a:spcPts val="830"/>
              </a:spcBef>
            </a:pPr>
            <a:r>
              <a:rPr sz="650" spc="5" dirty="0">
                <a:solidFill>
                  <a:srgbClr val="231F20"/>
                </a:solidFill>
                <a:latin typeface="Arial"/>
                <a:cs typeface="Arial"/>
              </a:rPr>
              <a:t>Wrapper</a:t>
            </a:r>
            <a:endParaRPr sz="650" dirty="0">
              <a:latin typeface="Arial"/>
              <a:cs typeface="Arial"/>
            </a:endParaRPr>
          </a:p>
        </p:txBody>
      </p:sp>
      <p:sp>
        <p:nvSpPr>
          <p:cNvPr id="17" name="object 17"/>
          <p:cNvSpPr/>
          <p:nvPr/>
        </p:nvSpPr>
        <p:spPr>
          <a:xfrm>
            <a:off x="1194264" y="1090364"/>
            <a:ext cx="448309" cy="614045"/>
          </a:xfrm>
          <a:custGeom>
            <a:avLst/>
            <a:gdLst/>
            <a:ahLst/>
            <a:cxnLst/>
            <a:rect l="l" t="t" r="r" b="b"/>
            <a:pathLst>
              <a:path w="448310" h="614044">
                <a:moveTo>
                  <a:pt x="0" y="507957"/>
                </a:moveTo>
                <a:lnTo>
                  <a:pt x="158881" y="613881"/>
                </a:lnTo>
              </a:path>
              <a:path w="448310" h="614044">
                <a:moveTo>
                  <a:pt x="448199" y="0"/>
                </a:moveTo>
                <a:lnTo>
                  <a:pt x="418317" y="119517"/>
                </a:lnTo>
              </a:path>
            </a:pathLst>
          </a:custGeom>
          <a:ln w="5270">
            <a:solidFill>
              <a:srgbClr val="231F20"/>
            </a:solidFill>
          </a:ln>
        </p:spPr>
        <p:txBody>
          <a:bodyPr wrap="square" lIns="0" tIns="0" rIns="0" bIns="0" rtlCol="0"/>
          <a:lstStyle/>
          <a:p>
            <a:endParaRPr/>
          </a:p>
        </p:txBody>
      </p:sp>
      <p:grpSp>
        <p:nvGrpSpPr>
          <p:cNvPr id="18" name="object 18"/>
          <p:cNvGrpSpPr/>
          <p:nvPr/>
        </p:nvGrpSpPr>
        <p:grpSpPr>
          <a:xfrm>
            <a:off x="2953942" y="1087227"/>
            <a:ext cx="723265" cy="778510"/>
            <a:chOff x="2953942" y="1087227"/>
            <a:chExt cx="723265" cy="778510"/>
          </a:xfrm>
        </p:grpSpPr>
        <p:sp>
          <p:nvSpPr>
            <p:cNvPr id="19" name="object 19"/>
            <p:cNvSpPr/>
            <p:nvPr/>
          </p:nvSpPr>
          <p:spPr>
            <a:xfrm>
              <a:off x="3048209" y="1174692"/>
              <a:ext cx="537845" cy="598170"/>
            </a:xfrm>
            <a:custGeom>
              <a:avLst/>
              <a:gdLst/>
              <a:ahLst/>
              <a:cxnLst/>
              <a:rect l="l" t="t" r="r" b="b"/>
              <a:pathLst>
                <a:path w="537845" h="598169">
                  <a:moveTo>
                    <a:pt x="0" y="567719"/>
                  </a:moveTo>
                  <a:lnTo>
                    <a:pt x="298800" y="328677"/>
                  </a:lnTo>
                </a:path>
                <a:path w="537845" h="598169">
                  <a:moveTo>
                    <a:pt x="59759" y="89640"/>
                  </a:moveTo>
                  <a:lnTo>
                    <a:pt x="298800" y="328677"/>
                  </a:lnTo>
                </a:path>
                <a:path w="537845" h="598169">
                  <a:moveTo>
                    <a:pt x="507961" y="0"/>
                  </a:moveTo>
                  <a:lnTo>
                    <a:pt x="298800" y="328677"/>
                  </a:lnTo>
                </a:path>
                <a:path w="537845" h="598169">
                  <a:moveTo>
                    <a:pt x="537838" y="597596"/>
                  </a:moveTo>
                  <a:lnTo>
                    <a:pt x="298800" y="328677"/>
                  </a:lnTo>
                </a:path>
              </a:pathLst>
            </a:custGeom>
            <a:ln w="5270">
              <a:solidFill>
                <a:srgbClr val="231F20"/>
              </a:solidFill>
            </a:ln>
          </p:spPr>
          <p:txBody>
            <a:bodyPr wrap="square" lIns="0" tIns="0" rIns="0" bIns="0" rtlCol="0"/>
            <a:lstStyle/>
            <a:p>
              <a:endParaRPr/>
            </a:p>
          </p:txBody>
        </p:sp>
        <p:sp>
          <p:nvSpPr>
            <p:cNvPr id="20" name="object 20"/>
            <p:cNvSpPr/>
            <p:nvPr/>
          </p:nvSpPr>
          <p:spPr>
            <a:xfrm>
              <a:off x="2956800" y="1653382"/>
              <a:ext cx="179705" cy="179705"/>
            </a:xfrm>
            <a:custGeom>
              <a:avLst/>
              <a:gdLst/>
              <a:ahLst/>
              <a:cxnLst/>
              <a:rect l="l" t="t" r="r" b="b"/>
              <a:pathLst>
                <a:path w="179705" h="179705">
                  <a:moveTo>
                    <a:pt x="89639" y="0"/>
                  </a:moveTo>
                  <a:lnTo>
                    <a:pt x="54751" y="7045"/>
                  </a:lnTo>
                  <a:lnTo>
                    <a:pt x="26258" y="26256"/>
                  </a:lnTo>
                  <a:lnTo>
                    <a:pt x="7045" y="54749"/>
                  </a:lnTo>
                  <a:lnTo>
                    <a:pt x="0" y="89639"/>
                  </a:lnTo>
                  <a:lnTo>
                    <a:pt x="7045" y="124527"/>
                  </a:lnTo>
                  <a:lnTo>
                    <a:pt x="26258" y="153020"/>
                  </a:lnTo>
                  <a:lnTo>
                    <a:pt x="54751" y="172233"/>
                  </a:lnTo>
                  <a:lnTo>
                    <a:pt x="89639" y="179278"/>
                  </a:lnTo>
                  <a:lnTo>
                    <a:pt x="124529" y="172233"/>
                  </a:lnTo>
                  <a:lnTo>
                    <a:pt x="153022" y="153020"/>
                  </a:lnTo>
                  <a:lnTo>
                    <a:pt x="172234" y="124527"/>
                  </a:lnTo>
                  <a:lnTo>
                    <a:pt x="179279" y="89639"/>
                  </a:lnTo>
                  <a:lnTo>
                    <a:pt x="172234" y="54749"/>
                  </a:lnTo>
                  <a:lnTo>
                    <a:pt x="153022" y="26256"/>
                  </a:lnTo>
                  <a:lnTo>
                    <a:pt x="124529" y="7045"/>
                  </a:lnTo>
                  <a:lnTo>
                    <a:pt x="89639" y="0"/>
                  </a:lnTo>
                  <a:close/>
                </a:path>
              </a:pathLst>
            </a:custGeom>
            <a:solidFill>
              <a:srgbClr val="FFFFFF"/>
            </a:solidFill>
          </p:spPr>
          <p:txBody>
            <a:bodyPr wrap="square" lIns="0" tIns="0" rIns="0" bIns="0" rtlCol="0"/>
            <a:lstStyle/>
            <a:p>
              <a:endParaRPr/>
            </a:p>
          </p:txBody>
        </p:sp>
        <p:sp>
          <p:nvSpPr>
            <p:cNvPr id="21" name="object 21"/>
            <p:cNvSpPr/>
            <p:nvPr/>
          </p:nvSpPr>
          <p:spPr>
            <a:xfrm>
              <a:off x="2956800" y="1653382"/>
              <a:ext cx="179705" cy="179705"/>
            </a:xfrm>
            <a:custGeom>
              <a:avLst/>
              <a:gdLst/>
              <a:ahLst/>
              <a:cxnLst/>
              <a:rect l="l" t="t" r="r" b="b"/>
              <a:pathLst>
                <a:path w="179705" h="179705">
                  <a:moveTo>
                    <a:pt x="89639" y="0"/>
                  </a:moveTo>
                  <a:lnTo>
                    <a:pt x="124529" y="7045"/>
                  </a:lnTo>
                  <a:lnTo>
                    <a:pt x="153022" y="26256"/>
                  </a:lnTo>
                  <a:lnTo>
                    <a:pt x="172234" y="54749"/>
                  </a:lnTo>
                  <a:lnTo>
                    <a:pt x="179279" y="89639"/>
                  </a:lnTo>
                  <a:lnTo>
                    <a:pt x="172234" y="124527"/>
                  </a:lnTo>
                  <a:lnTo>
                    <a:pt x="153022" y="153020"/>
                  </a:lnTo>
                  <a:lnTo>
                    <a:pt x="124529" y="172233"/>
                  </a:lnTo>
                  <a:lnTo>
                    <a:pt x="89639" y="179278"/>
                  </a:lnTo>
                  <a:lnTo>
                    <a:pt x="54751" y="172233"/>
                  </a:lnTo>
                  <a:lnTo>
                    <a:pt x="26258" y="153020"/>
                  </a:lnTo>
                  <a:lnTo>
                    <a:pt x="7045" y="124527"/>
                  </a:lnTo>
                  <a:lnTo>
                    <a:pt x="0" y="89639"/>
                  </a:lnTo>
                  <a:lnTo>
                    <a:pt x="7045" y="54749"/>
                  </a:lnTo>
                  <a:lnTo>
                    <a:pt x="26258" y="26256"/>
                  </a:lnTo>
                  <a:lnTo>
                    <a:pt x="54751" y="7045"/>
                  </a:lnTo>
                  <a:lnTo>
                    <a:pt x="89639" y="0"/>
                  </a:lnTo>
                  <a:close/>
                </a:path>
              </a:pathLst>
            </a:custGeom>
            <a:ln w="5270">
              <a:solidFill>
                <a:srgbClr val="231F20"/>
              </a:solidFill>
            </a:ln>
          </p:spPr>
          <p:txBody>
            <a:bodyPr wrap="square" lIns="0" tIns="0" rIns="0" bIns="0" rtlCol="0"/>
            <a:lstStyle/>
            <a:p>
              <a:endParaRPr/>
            </a:p>
          </p:txBody>
        </p:sp>
        <p:sp>
          <p:nvSpPr>
            <p:cNvPr id="22" name="object 22"/>
            <p:cNvSpPr/>
            <p:nvPr/>
          </p:nvSpPr>
          <p:spPr>
            <a:xfrm>
              <a:off x="3494641" y="1683258"/>
              <a:ext cx="179705" cy="179705"/>
            </a:xfrm>
            <a:custGeom>
              <a:avLst/>
              <a:gdLst/>
              <a:ahLst/>
              <a:cxnLst/>
              <a:rect l="l" t="t" r="r" b="b"/>
              <a:pathLst>
                <a:path w="179704" h="179705">
                  <a:moveTo>
                    <a:pt x="89639" y="0"/>
                  </a:moveTo>
                  <a:lnTo>
                    <a:pt x="54749" y="7045"/>
                  </a:lnTo>
                  <a:lnTo>
                    <a:pt x="26256" y="26258"/>
                  </a:lnTo>
                  <a:lnTo>
                    <a:pt x="7045" y="54753"/>
                  </a:lnTo>
                  <a:lnTo>
                    <a:pt x="0" y="89644"/>
                  </a:lnTo>
                  <a:lnTo>
                    <a:pt x="7045" y="124532"/>
                  </a:lnTo>
                  <a:lnTo>
                    <a:pt x="26256" y="153025"/>
                  </a:lnTo>
                  <a:lnTo>
                    <a:pt x="54749" y="172238"/>
                  </a:lnTo>
                  <a:lnTo>
                    <a:pt x="89639" y="179283"/>
                  </a:lnTo>
                  <a:lnTo>
                    <a:pt x="124527" y="172238"/>
                  </a:lnTo>
                  <a:lnTo>
                    <a:pt x="153020" y="153025"/>
                  </a:lnTo>
                  <a:lnTo>
                    <a:pt x="172233" y="124532"/>
                  </a:lnTo>
                  <a:lnTo>
                    <a:pt x="179279" y="89644"/>
                  </a:lnTo>
                  <a:lnTo>
                    <a:pt x="172233" y="54753"/>
                  </a:lnTo>
                  <a:lnTo>
                    <a:pt x="153020" y="26258"/>
                  </a:lnTo>
                  <a:lnTo>
                    <a:pt x="124527" y="7045"/>
                  </a:lnTo>
                  <a:lnTo>
                    <a:pt x="89639" y="0"/>
                  </a:lnTo>
                  <a:close/>
                </a:path>
              </a:pathLst>
            </a:custGeom>
            <a:solidFill>
              <a:srgbClr val="FFFFFF"/>
            </a:solidFill>
          </p:spPr>
          <p:txBody>
            <a:bodyPr wrap="square" lIns="0" tIns="0" rIns="0" bIns="0" rtlCol="0"/>
            <a:lstStyle/>
            <a:p>
              <a:endParaRPr/>
            </a:p>
          </p:txBody>
        </p:sp>
        <p:sp>
          <p:nvSpPr>
            <p:cNvPr id="23" name="object 23"/>
            <p:cNvSpPr/>
            <p:nvPr/>
          </p:nvSpPr>
          <p:spPr>
            <a:xfrm>
              <a:off x="3494641" y="1683258"/>
              <a:ext cx="179705" cy="179705"/>
            </a:xfrm>
            <a:custGeom>
              <a:avLst/>
              <a:gdLst/>
              <a:ahLst/>
              <a:cxnLst/>
              <a:rect l="l" t="t" r="r" b="b"/>
              <a:pathLst>
                <a:path w="179704" h="179705">
                  <a:moveTo>
                    <a:pt x="89639" y="0"/>
                  </a:moveTo>
                  <a:lnTo>
                    <a:pt x="124527" y="7045"/>
                  </a:lnTo>
                  <a:lnTo>
                    <a:pt x="153020" y="26258"/>
                  </a:lnTo>
                  <a:lnTo>
                    <a:pt x="172233" y="54753"/>
                  </a:lnTo>
                  <a:lnTo>
                    <a:pt x="179279" y="89644"/>
                  </a:lnTo>
                  <a:lnTo>
                    <a:pt x="172233" y="124532"/>
                  </a:lnTo>
                  <a:lnTo>
                    <a:pt x="153020" y="153025"/>
                  </a:lnTo>
                  <a:lnTo>
                    <a:pt x="124527" y="172238"/>
                  </a:lnTo>
                  <a:lnTo>
                    <a:pt x="89639" y="179283"/>
                  </a:lnTo>
                  <a:lnTo>
                    <a:pt x="54749" y="172238"/>
                  </a:lnTo>
                  <a:lnTo>
                    <a:pt x="26256" y="153025"/>
                  </a:lnTo>
                  <a:lnTo>
                    <a:pt x="7045" y="124532"/>
                  </a:lnTo>
                  <a:lnTo>
                    <a:pt x="0" y="89644"/>
                  </a:lnTo>
                  <a:lnTo>
                    <a:pt x="7045" y="54753"/>
                  </a:lnTo>
                  <a:lnTo>
                    <a:pt x="26256" y="26258"/>
                  </a:lnTo>
                  <a:lnTo>
                    <a:pt x="54749" y="7045"/>
                  </a:lnTo>
                  <a:lnTo>
                    <a:pt x="89639" y="0"/>
                  </a:lnTo>
                  <a:close/>
                </a:path>
              </a:pathLst>
            </a:custGeom>
            <a:ln w="5270">
              <a:solidFill>
                <a:srgbClr val="231F20"/>
              </a:solidFill>
            </a:ln>
          </p:spPr>
          <p:txBody>
            <a:bodyPr wrap="square" lIns="0" tIns="0" rIns="0" bIns="0" rtlCol="0"/>
            <a:lstStyle/>
            <a:p>
              <a:endParaRPr/>
            </a:p>
          </p:txBody>
        </p:sp>
        <p:sp>
          <p:nvSpPr>
            <p:cNvPr id="24" name="object 24"/>
            <p:cNvSpPr/>
            <p:nvPr/>
          </p:nvSpPr>
          <p:spPr>
            <a:xfrm>
              <a:off x="3466444" y="1090085"/>
              <a:ext cx="179705" cy="179705"/>
            </a:xfrm>
            <a:custGeom>
              <a:avLst/>
              <a:gdLst/>
              <a:ahLst/>
              <a:cxnLst/>
              <a:rect l="l" t="t" r="r" b="b"/>
              <a:pathLst>
                <a:path w="179704" h="179705">
                  <a:moveTo>
                    <a:pt x="89639" y="0"/>
                  </a:moveTo>
                  <a:lnTo>
                    <a:pt x="54751" y="7045"/>
                  </a:lnTo>
                  <a:lnTo>
                    <a:pt x="26258" y="26256"/>
                  </a:lnTo>
                  <a:lnTo>
                    <a:pt x="7045" y="54749"/>
                  </a:lnTo>
                  <a:lnTo>
                    <a:pt x="0" y="89639"/>
                  </a:lnTo>
                  <a:lnTo>
                    <a:pt x="7045" y="124527"/>
                  </a:lnTo>
                  <a:lnTo>
                    <a:pt x="26258" y="153020"/>
                  </a:lnTo>
                  <a:lnTo>
                    <a:pt x="54751" y="172233"/>
                  </a:lnTo>
                  <a:lnTo>
                    <a:pt x="89639" y="179279"/>
                  </a:lnTo>
                  <a:lnTo>
                    <a:pt x="124529" y="172233"/>
                  </a:lnTo>
                  <a:lnTo>
                    <a:pt x="153024" y="153020"/>
                  </a:lnTo>
                  <a:lnTo>
                    <a:pt x="172237" y="124527"/>
                  </a:lnTo>
                  <a:lnTo>
                    <a:pt x="179283" y="89639"/>
                  </a:lnTo>
                  <a:lnTo>
                    <a:pt x="172237" y="54749"/>
                  </a:lnTo>
                  <a:lnTo>
                    <a:pt x="153024" y="26256"/>
                  </a:lnTo>
                  <a:lnTo>
                    <a:pt x="124529" y="7045"/>
                  </a:lnTo>
                  <a:lnTo>
                    <a:pt x="89639" y="0"/>
                  </a:lnTo>
                  <a:close/>
                </a:path>
              </a:pathLst>
            </a:custGeom>
            <a:solidFill>
              <a:srgbClr val="FFFFFF"/>
            </a:solidFill>
          </p:spPr>
          <p:txBody>
            <a:bodyPr wrap="square" lIns="0" tIns="0" rIns="0" bIns="0" rtlCol="0"/>
            <a:lstStyle/>
            <a:p>
              <a:endParaRPr/>
            </a:p>
          </p:txBody>
        </p:sp>
        <p:sp>
          <p:nvSpPr>
            <p:cNvPr id="25" name="object 25"/>
            <p:cNvSpPr/>
            <p:nvPr/>
          </p:nvSpPr>
          <p:spPr>
            <a:xfrm>
              <a:off x="3466444" y="1090085"/>
              <a:ext cx="179705" cy="179705"/>
            </a:xfrm>
            <a:custGeom>
              <a:avLst/>
              <a:gdLst/>
              <a:ahLst/>
              <a:cxnLst/>
              <a:rect l="l" t="t" r="r" b="b"/>
              <a:pathLst>
                <a:path w="179704" h="179705">
                  <a:moveTo>
                    <a:pt x="89639" y="0"/>
                  </a:moveTo>
                  <a:lnTo>
                    <a:pt x="124529" y="7045"/>
                  </a:lnTo>
                  <a:lnTo>
                    <a:pt x="153024" y="26256"/>
                  </a:lnTo>
                  <a:lnTo>
                    <a:pt x="172237" y="54749"/>
                  </a:lnTo>
                  <a:lnTo>
                    <a:pt x="179283" y="89639"/>
                  </a:lnTo>
                  <a:lnTo>
                    <a:pt x="172237" y="124527"/>
                  </a:lnTo>
                  <a:lnTo>
                    <a:pt x="153024" y="153020"/>
                  </a:lnTo>
                  <a:lnTo>
                    <a:pt x="124529" y="172233"/>
                  </a:lnTo>
                  <a:lnTo>
                    <a:pt x="89639" y="179279"/>
                  </a:lnTo>
                  <a:lnTo>
                    <a:pt x="54751" y="172233"/>
                  </a:lnTo>
                  <a:lnTo>
                    <a:pt x="26258" y="153020"/>
                  </a:lnTo>
                  <a:lnTo>
                    <a:pt x="7045" y="124527"/>
                  </a:lnTo>
                  <a:lnTo>
                    <a:pt x="0" y="89639"/>
                  </a:lnTo>
                  <a:lnTo>
                    <a:pt x="7045" y="54749"/>
                  </a:lnTo>
                  <a:lnTo>
                    <a:pt x="26258" y="26256"/>
                  </a:lnTo>
                  <a:lnTo>
                    <a:pt x="54751" y="7045"/>
                  </a:lnTo>
                  <a:lnTo>
                    <a:pt x="89639" y="0"/>
                  </a:lnTo>
                  <a:close/>
                </a:path>
              </a:pathLst>
            </a:custGeom>
            <a:ln w="5270">
              <a:solidFill>
                <a:srgbClr val="231F20"/>
              </a:solidFill>
            </a:ln>
          </p:spPr>
          <p:txBody>
            <a:bodyPr wrap="square" lIns="0" tIns="0" rIns="0" bIns="0" rtlCol="0"/>
            <a:lstStyle/>
            <a:p>
              <a:endParaRPr/>
            </a:p>
          </p:txBody>
        </p:sp>
        <p:sp>
          <p:nvSpPr>
            <p:cNvPr id="26" name="object 26"/>
            <p:cNvSpPr/>
            <p:nvPr/>
          </p:nvSpPr>
          <p:spPr>
            <a:xfrm>
              <a:off x="3016562" y="1175302"/>
              <a:ext cx="179705" cy="179705"/>
            </a:xfrm>
            <a:custGeom>
              <a:avLst/>
              <a:gdLst/>
              <a:ahLst/>
              <a:cxnLst/>
              <a:rect l="l" t="t" r="r" b="b"/>
              <a:pathLst>
                <a:path w="179705" h="179705">
                  <a:moveTo>
                    <a:pt x="89639" y="0"/>
                  </a:moveTo>
                  <a:lnTo>
                    <a:pt x="54749" y="7045"/>
                  </a:lnTo>
                  <a:lnTo>
                    <a:pt x="26256" y="26256"/>
                  </a:lnTo>
                  <a:lnTo>
                    <a:pt x="7045" y="54749"/>
                  </a:lnTo>
                  <a:lnTo>
                    <a:pt x="0" y="89639"/>
                  </a:lnTo>
                  <a:lnTo>
                    <a:pt x="7045" y="124527"/>
                  </a:lnTo>
                  <a:lnTo>
                    <a:pt x="26256" y="153020"/>
                  </a:lnTo>
                  <a:lnTo>
                    <a:pt x="54749" y="172233"/>
                  </a:lnTo>
                  <a:lnTo>
                    <a:pt x="89639" y="179279"/>
                  </a:lnTo>
                  <a:lnTo>
                    <a:pt x="124527" y="172233"/>
                  </a:lnTo>
                  <a:lnTo>
                    <a:pt x="153020" y="153020"/>
                  </a:lnTo>
                  <a:lnTo>
                    <a:pt x="172233" y="124527"/>
                  </a:lnTo>
                  <a:lnTo>
                    <a:pt x="179279" y="89639"/>
                  </a:lnTo>
                  <a:lnTo>
                    <a:pt x="172233" y="54749"/>
                  </a:lnTo>
                  <a:lnTo>
                    <a:pt x="153020" y="26256"/>
                  </a:lnTo>
                  <a:lnTo>
                    <a:pt x="124527" y="7045"/>
                  </a:lnTo>
                  <a:lnTo>
                    <a:pt x="89639" y="0"/>
                  </a:lnTo>
                  <a:close/>
                </a:path>
              </a:pathLst>
            </a:custGeom>
            <a:solidFill>
              <a:srgbClr val="FFFFFF"/>
            </a:solidFill>
          </p:spPr>
          <p:txBody>
            <a:bodyPr wrap="square" lIns="0" tIns="0" rIns="0" bIns="0" rtlCol="0"/>
            <a:lstStyle/>
            <a:p>
              <a:endParaRPr/>
            </a:p>
          </p:txBody>
        </p:sp>
        <p:sp>
          <p:nvSpPr>
            <p:cNvPr id="27" name="object 27"/>
            <p:cNvSpPr/>
            <p:nvPr/>
          </p:nvSpPr>
          <p:spPr>
            <a:xfrm>
              <a:off x="3016562" y="1175302"/>
              <a:ext cx="179705" cy="179705"/>
            </a:xfrm>
            <a:custGeom>
              <a:avLst/>
              <a:gdLst/>
              <a:ahLst/>
              <a:cxnLst/>
              <a:rect l="l" t="t" r="r" b="b"/>
              <a:pathLst>
                <a:path w="179705" h="179705">
                  <a:moveTo>
                    <a:pt x="89639" y="0"/>
                  </a:moveTo>
                  <a:lnTo>
                    <a:pt x="124527" y="7045"/>
                  </a:lnTo>
                  <a:lnTo>
                    <a:pt x="153020" y="26256"/>
                  </a:lnTo>
                  <a:lnTo>
                    <a:pt x="172233" y="54749"/>
                  </a:lnTo>
                  <a:lnTo>
                    <a:pt x="179279" y="89639"/>
                  </a:lnTo>
                  <a:lnTo>
                    <a:pt x="172233" y="124527"/>
                  </a:lnTo>
                  <a:lnTo>
                    <a:pt x="153020" y="153020"/>
                  </a:lnTo>
                  <a:lnTo>
                    <a:pt x="124527" y="172233"/>
                  </a:lnTo>
                  <a:lnTo>
                    <a:pt x="89639" y="179279"/>
                  </a:lnTo>
                  <a:lnTo>
                    <a:pt x="54749" y="172233"/>
                  </a:lnTo>
                  <a:lnTo>
                    <a:pt x="26256" y="153020"/>
                  </a:lnTo>
                  <a:lnTo>
                    <a:pt x="7045" y="124527"/>
                  </a:lnTo>
                  <a:lnTo>
                    <a:pt x="0" y="89639"/>
                  </a:lnTo>
                  <a:lnTo>
                    <a:pt x="7045" y="54749"/>
                  </a:lnTo>
                  <a:lnTo>
                    <a:pt x="26256" y="26256"/>
                  </a:lnTo>
                  <a:lnTo>
                    <a:pt x="54749" y="7045"/>
                  </a:lnTo>
                  <a:lnTo>
                    <a:pt x="89639" y="0"/>
                  </a:lnTo>
                  <a:close/>
                </a:path>
              </a:pathLst>
            </a:custGeom>
            <a:ln w="5270">
              <a:solidFill>
                <a:srgbClr val="231F20"/>
              </a:solidFill>
            </a:ln>
          </p:spPr>
          <p:txBody>
            <a:bodyPr wrap="square" lIns="0" tIns="0" rIns="0" bIns="0" rtlCol="0"/>
            <a:lstStyle/>
            <a:p>
              <a:endParaRPr/>
            </a:p>
          </p:txBody>
        </p:sp>
        <p:sp>
          <p:nvSpPr>
            <p:cNvPr id="28" name="object 28"/>
            <p:cNvSpPr/>
            <p:nvPr/>
          </p:nvSpPr>
          <p:spPr>
            <a:xfrm>
              <a:off x="3113526" y="1257695"/>
              <a:ext cx="418465" cy="450850"/>
            </a:xfrm>
            <a:custGeom>
              <a:avLst/>
              <a:gdLst/>
              <a:ahLst/>
              <a:cxnLst/>
              <a:rect l="l" t="t" r="r" b="b"/>
              <a:pathLst>
                <a:path w="418464" h="450850">
                  <a:moveTo>
                    <a:pt x="53717" y="116869"/>
                  </a:moveTo>
                  <a:lnTo>
                    <a:pt x="104919" y="67071"/>
                  </a:lnTo>
                </a:path>
                <a:path w="418464" h="450850">
                  <a:moveTo>
                    <a:pt x="122523" y="185916"/>
                  </a:moveTo>
                  <a:lnTo>
                    <a:pt x="173725" y="136118"/>
                  </a:lnTo>
                </a:path>
                <a:path w="418464" h="450850">
                  <a:moveTo>
                    <a:pt x="363780" y="450520"/>
                  </a:moveTo>
                  <a:lnTo>
                    <a:pt x="418259" y="404325"/>
                  </a:lnTo>
                </a:path>
                <a:path w="418464" h="450850">
                  <a:moveTo>
                    <a:pt x="281148" y="353345"/>
                  </a:moveTo>
                  <a:lnTo>
                    <a:pt x="335624" y="307149"/>
                  </a:lnTo>
                </a:path>
                <a:path w="418464" h="450850">
                  <a:moveTo>
                    <a:pt x="45890" y="441041"/>
                  </a:moveTo>
                  <a:lnTo>
                    <a:pt x="0" y="386306"/>
                  </a:lnTo>
                </a:path>
                <a:path w="418464" h="450850">
                  <a:moveTo>
                    <a:pt x="166914" y="349458"/>
                  </a:moveTo>
                  <a:lnTo>
                    <a:pt x="121028" y="294723"/>
                  </a:lnTo>
                </a:path>
                <a:path w="418464" h="450850">
                  <a:moveTo>
                    <a:pt x="346910" y="0"/>
                  </a:moveTo>
                  <a:lnTo>
                    <a:pt x="406689" y="39095"/>
                  </a:lnTo>
                </a:path>
                <a:path w="418464" h="450850">
                  <a:moveTo>
                    <a:pt x="263364" y="126153"/>
                  </a:moveTo>
                  <a:lnTo>
                    <a:pt x="323139" y="165250"/>
                  </a:lnTo>
                </a:path>
              </a:pathLst>
            </a:custGeom>
            <a:ln w="21083">
              <a:solidFill>
                <a:srgbClr val="A7A9AC"/>
              </a:solidFill>
            </a:ln>
          </p:spPr>
          <p:txBody>
            <a:bodyPr wrap="square" lIns="0" tIns="0" rIns="0" bIns="0" rtlCol="0"/>
            <a:lstStyle/>
            <a:p>
              <a:endParaRPr/>
            </a:p>
          </p:txBody>
        </p:sp>
        <p:sp>
          <p:nvSpPr>
            <p:cNvPr id="29" name="object 29"/>
            <p:cNvSpPr/>
            <p:nvPr/>
          </p:nvSpPr>
          <p:spPr>
            <a:xfrm>
              <a:off x="3254899" y="1414830"/>
              <a:ext cx="179705" cy="179705"/>
            </a:xfrm>
            <a:custGeom>
              <a:avLst/>
              <a:gdLst/>
              <a:ahLst/>
              <a:cxnLst/>
              <a:rect l="l" t="t" r="r" b="b"/>
              <a:pathLst>
                <a:path w="179704" h="179705">
                  <a:moveTo>
                    <a:pt x="89643" y="0"/>
                  </a:moveTo>
                  <a:lnTo>
                    <a:pt x="54753" y="7045"/>
                  </a:lnTo>
                  <a:lnTo>
                    <a:pt x="26258" y="26258"/>
                  </a:lnTo>
                  <a:lnTo>
                    <a:pt x="7045" y="54751"/>
                  </a:lnTo>
                  <a:lnTo>
                    <a:pt x="0" y="89639"/>
                  </a:lnTo>
                  <a:lnTo>
                    <a:pt x="7045" y="124529"/>
                  </a:lnTo>
                  <a:lnTo>
                    <a:pt x="26258" y="153022"/>
                  </a:lnTo>
                  <a:lnTo>
                    <a:pt x="54753" y="172234"/>
                  </a:lnTo>
                  <a:lnTo>
                    <a:pt x="89643" y="179279"/>
                  </a:lnTo>
                  <a:lnTo>
                    <a:pt x="124531" y="172234"/>
                  </a:lnTo>
                  <a:lnTo>
                    <a:pt x="153025" y="153022"/>
                  </a:lnTo>
                  <a:lnTo>
                    <a:pt x="172237" y="124529"/>
                  </a:lnTo>
                  <a:lnTo>
                    <a:pt x="179283" y="89639"/>
                  </a:lnTo>
                  <a:lnTo>
                    <a:pt x="172237" y="54751"/>
                  </a:lnTo>
                  <a:lnTo>
                    <a:pt x="153025" y="26258"/>
                  </a:lnTo>
                  <a:lnTo>
                    <a:pt x="124531" y="7045"/>
                  </a:lnTo>
                  <a:lnTo>
                    <a:pt x="89643" y="0"/>
                  </a:lnTo>
                  <a:close/>
                </a:path>
              </a:pathLst>
            </a:custGeom>
            <a:solidFill>
              <a:srgbClr val="D1D3D4"/>
            </a:solidFill>
          </p:spPr>
          <p:txBody>
            <a:bodyPr wrap="square" lIns="0" tIns="0" rIns="0" bIns="0" rtlCol="0"/>
            <a:lstStyle/>
            <a:p>
              <a:endParaRPr/>
            </a:p>
          </p:txBody>
        </p:sp>
        <p:sp>
          <p:nvSpPr>
            <p:cNvPr id="30" name="object 30"/>
            <p:cNvSpPr/>
            <p:nvPr/>
          </p:nvSpPr>
          <p:spPr>
            <a:xfrm>
              <a:off x="3254899" y="1414830"/>
              <a:ext cx="179705" cy="179705"/>
            </a:xfrm>
            <a:custGeom>
              <a:avLst/>
              <a:gdLst/>
              <a:ahLst/>
              <a:cxnLst/>
              <a:rect l="l" t="t" r="r" b="b"/>
              <a:pathLst>
                <a:path w="179704" h="179705">
                  <a:moveTo>
                    <a:pt x="89643" y="0"/>
                  </a:moveTo>
                  <a:lnTo>
                    <a:pt x="124531" y="7045"/>
                  </a:lnTo>
                  <a:lnTo>
                    <a:pt x="153025" y="26258"/>
                  </a:lnTo>
                  <a:lnTo>
                    <a:pt x="172237" y="54751"/>
                  </a:lnTo>
                  <a:lnTo>
                    <a:pt x="179283" y="89639"/>
                  </a:lnTo>
                  <a:lnTo>
                    <a:pt x="172237" y="124529"/>
                  </a:lnTo>
                  <a:lnTo>
                    <a:pt x="153025" y="153022"/>
                  </a:lnTo>
                  <a:lnTo>
                    <a:pt x="124531" y="172234"/>
                  </a:lnTo>
                  <a:lnTo>
                    <a:pt x="89643" y="179279"/>
                  </a:lnTo>
                  <a:lnTo>
                    <a:pt x="54753" y="172234"/>
                  </a:lnTo>
                  <a:lnTo>
                    <a:pt x="26258" y="153022"/>
                  </a:lnTo>
                  <a:lnTo>
                    <a:pt x="7045" y="124529"/>
                  </a:lnTo>
                  <a:lnTo>
                    <a:pt x="0" y="89639"/>
                  </a:lnTo>
                  <a:lnTo>
                    <a:pt x="7045" y="54751"/>
                  </a:lnTo>
                  <a:lnTo>
                    <a:pt x="26258" y="26258"/>
                  </a:lnTo>
                  <a:lnTo>
                    <a:pt x="54753" y="7045"/>
                  </a:lnTo>
                  <a:lnTo>
                    <a:pt x="89643" y="0"/>
                  </a:lnTo>
                  <a:close/>
                </a:path>
              </a:pathLst>
            </a:custGeom>
            <a:ln w="5270">
              <a:solidFill>
                <a:srgbClr val="231F20"/>
              </a:solidFill>
            </a:ln>
          </p:spPr>
          <p:txBody>
            <a:bodyPr wrap="square" lIns="0" tIns="0" rIns="0" bIns="0" rtlCol="0"/>
            <a:lstStyle/>
            <a:p>
              <a:endParaRPr/>
            </a:p>
          </p:txBody>
        </p:sp>
      </p:grpSp>
      <p:sp>
        <p:nvSpPr>
          <p:cNvPr id="31" name="object 31"/>
          <p:cNvSpPr txBox="1"/>
          <p:nvPr/>
        </p:nvSpPr>
        <p:spPr>
          <a:xfrm>
            <a:off x="2785984" y="1435241"/>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Broker</a:t>
            </a:r>
            <a:endParaRPr sz="650">
              <a:latin typeface="Arial"/>
              <a:cs typeface="Arial"/>
            </a:endParaRPr>
          </a:p>
        </p:txBody>
      </p:sp>
      <p:sp>
        <p:nvSpPr>
          <p:cNvPr id="32" name="object 32"/>
          <p:cNvSpPr/>
          <p:nvPr/>
        </p:nvSpPr>
        <p:spPr>
          <a:xfrm>
            <a:off x="3078091" y="1503370"/>
            <a:ext cx="179705" cy="0"/>
          </a:xfrm>
          <a:custGeom>
            <a:avLst/>
            <a:gdLst/>
            <a:ahLst/>
            <a:cxnLst/>
            <a:rect l="l" t="t" r="r" b="b"/>
            <a:pathLst>
              <a:path w="179704">
                <a:moveTo>
                  <a:pt x="0" y="0"/>
                </a:moveTo>
                <a:lnTo>
                  <a:pt x="179283" y="4"/>
                </a:lnTo>
              </a:path>
            </a:pathLst>
          </a:custGeom>
          <a:ln w="5270">
            <a:solidFill>
              <a:srgbClr val="231F20"/>
            </a:solidFill>
          </a:ln>
        </p:spPr>
        <p:txBody>
          <a:bodyPr wrap="square" lIns="0" tIns="0" rIns="0" bIns="0" rtlCol="0"/>
          <a:lstStyle/>
          <a:p>
            <a:endParaRPr/>
          </a:p>
        </p:txBody>
      </p:sp>
      <p:sp>
        <p:nvSpPr>
          <p:cNvPr id="33" name="object 33"/>
          <p:cNvSpPr txBox="1"/>
          <p:nvPr/>
        </p:nvSpPr>
        <p:spPr>
          <a:xfrm>
            <a:off x="321894" y="2145002"/>
            <a:ext cx="2997835" cy="687070"/>
          </a:xfrm>
          <a:prstGeom prst="rect">
            <a:avLst/>
          </a:prstGeom>
        </p:spPr>
        <p:txBody>
          <a:bodyPr vert="horz" wrap="square" lIns="0" tIns="12065" rIns="0" bIns="0" rtlCol="0">
            <a:spAutoFit/>
          </a:bodyPr>
          <a:lstStyle/>
          <a:p>
            <a:pPr marL="38100">
              <a:lnSpc>
                <a:spcPct val="100000"/>
              </a:lnSpc>
              <a:spcBef>
                <a:spcPts val="95"/>
              </a:spcBef>
            </a:pPr>
            <a:r>
              <a:rPr sz="1200" spc="-10" dirty="0">
                <a:solidFill>
                  <a:srgbClr val="3333B2"/>
                </a:solidFill>
                <a:latin typeface="Arial"/>
                <a:cs typeface="Arial"/>
              </a:rPr>
              <a:t>Complexity </a:t>
            </a:r>
            <a:r>
              <a:rPr sz="1200" spc="-5" dirty="0">
                <a:solidFill>
                  <a:srgbClr val="3333B2"/>
                </a:solidFill>
                <a:latin typeface="Arial"/>
                <a:cs typeface="Arial"/>
              </a:rPr>
              <a:t>with</a:t>
            </a:r>
            <a:r>
              <a:rPr sz="1200" spc="-10" dirty="0">
                <a:solidFill>
                  <a:srgbClr val="3333B2"/>
                </a:solidFill>
                <a:latin typeface="Arial"/>
                <a:cs typeface="Arial"/>
              </a:rPr>
              <a:t> </a:t>
            </a:r>
            <a:r>
              <a:rPr sz="1200" i="1" spc="-5" dirty="0">
                <a:solidFill>
                  <a:srgbClr val="3333B2"/>
                </a:solidFill>
                <a:latin typeface="Arial"/>
                <a:cs typeface="Arial"/>
              </a:rPr>
              <a:t>N</a:t>
            </a:r>
            <a:r>
              <a:rPr sz="1200" i="1" spc="85" dirty="0">
                <a:solidFill>
                  <a:srgbClr val="3333B2"/>
                </a:solidFill>
                <a:latin typeface="Arial"/>
                <a:cs typeface="Arial"/>
              </a:rPr>
              <a:t> </a:t>
            </a:r>
            <a:r>
              <a:rPr sz="1200" spc="-5" dirty="0">
                <a:solidFill>
                  <a:srgbClr val="3333B2"/>
                </a:solidFill>
                <a:latin typeface="Arial"/>
                <a:cs typeface="Arial"/>
              </a:rPr>
              <a:t>applications</a:t>
            </a:r>
            <a:endParaRPr sz="1200" dirty="0">
              <a:latin typeface="Arial"/>
              <a:cs typeface="Arial"/>
            </a:endParaRPr>
          </a:p>
          <a:p>
            <a:pPr marL="314960" indent="-168275">
              <a:lnSpc>
                <a:spcPct val="100000"/>
              </a:lnSpc>
              <a:spcBef>
                <a:spcPts val="780"/>
              </a:spcBef>
              <a:buClr>
                <a:srgbClr val="3333B2"/>
              </a:buClr>
              <a:buChar char="►"/>
              <a:tabLst>
                <a:tab pos="315595" algn="l"/>
              </a:tabLst>
            </a:pPr>
            <a:r>
              <a:rPr sz="1000" spc="-5" dirty="0">
                <a:solidFill>
                  <a:srgbClr val="0000FA"/>
                </a:solidFill>
                <a:latin typeface="Arial"/>
                <a:cs typeface="Arial"/>
              </a:rPr>
              <a:t>1-on-1</a:t>
            </a:r>
            <a:r>
              <a:rPr sz="1000" spc="-5" dirty="0">
                <a:latin typeface="Arial"/>
                <a:cs typeface="Arial"/>
              </a:rPr>
              <a:t>:</a:t>
            </a:r>
            <a:r>
              <a:rPr sz="1000" spc="60" dirty="0">
                <a:latin typeface="Arial"/>
                <a:cs typeface="Arial"/>
              </a:rPr>
              <a:t> </a:t>
            </a:r>
            <a:r>
              <a:rPr sz="1000" spc="-5" dirty="0">
                <a:latin typeface="Arial"/>
                <a:cs typeface="Arial"/>
              </a:rPr>
              <a:t>requires </a:t>
            </a:r>
            <a:r>
              <a:rPr sz="1000" i="1" spc="-5" dirty="0">
                <a:latin typeface="Arial"/>
                <a:cs typeface="Arial"/>
              </a:rPr>
              <a:t>N</a:t>
            </a:r>
            <a:r>
              <a:rPr sz="1000" i="1" spc="-65" dirty="0">
                <a:latin typeface="Arial"/>
                <a:cs typeface="Arial"/>
              </a:rPr>
              <a:t> </a:t>
            </a:r>
            <a:r>
              <a:rPr sz="1000" i="1" spc="-30" dirty="0">
                <a:latin typeface="メイリオ"/>
                <a:cs typeface="メイリオ"/>
              </a:rPr>
              <a:t>×</a:t>
            </a:r>
            <a:r>
              <a:rPr sz="1000" i="1" spc="-204" dirty="0">
                <a:latin typeface="メイリオ"/>
                <a:cs typeface="メイリオ"/>
              </a:rPr>
              <a:t> </a:t>
            </a:r>
            <a:r>
              <a:rPr sz="1000" spc="50" dirty="0">
                <a:latin typeface="Arial"/>
                <a:cs typeface="Arial"/>
              </a:rPr>
              <a:t>(</a:t>
            </a:r>
            <a:r>
              <a:rPr sz="1000" i="1" spc="-5" dirty="0">
                <a:latin typeface="Arial"/>
                <a:cs typeface="Arial"/>
              </a:rPr>
              <a:t>N</a:t>
            </a:r>
            <a:r>
              <a:rPr sz="1000" i="1" spc="-65"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30" dirty="0">
                <a:latin typeface="Arial"/>
                <a:cs typeface="Arial"/>
              </a:rPr>
              <a:t>O</a:t>
            </a:r>
            <a:r>
              <a:rPr sz="1000" spc="50" dirty="0">
                <a:latin typeface="Arial"/>
                <a:cs typeface="Arial"/>
              </a:rPr>
              <a:t>(</a:t>
            </a:r>
            <a:r>
              <a:rPr sz="1000" i="1" spc="70" dirty="0">
                <a:latin typeface="Arial"/>
                <a:cs typeface="Arial"/>
              </a:rPr>
              <a:t>N</a:t>
            </a:r>
            <a:r>
              <a:rPr sz="1050" spc="97" baseline="27777" dirty="0">
                <a:latin typeface="Arial"/>
                <a:cs typeface="Arial"/>
              </a:rPr>
              <a:t>2</a:t>
            </a:r>
            <a:r>
              <a:rPr sz="1000" spc="50" dirty="0">
                <a:latin typeface="Arial"/>
                <a:cs typeface="Arial"/>
              </a:rPr>
              <a:t>)</a:t>
            </a:r>
            <a:r>
              <a:rPr sz="1000" dirty="0">
                <a:latin typeface="Arial"/>
                <a:cs typeface="Arial"/>
              </a:rPr>
              <a:t> </a:t>
            </a:r>
            <a:r>
              <a:rPr sz="1000" spc="-5" dirty="0">
                <a:latin typeface="Arial"/>
                <a:cs typeface="Arial"/>
              </a:rPr>
              <a:t>w</a:t>
            </a:r>
            <a:r>
              <a:rPr sz="1000" spc="-15" dirty="0">
                <a:latin typeface="Arial"/>
                <a:cs typeface="Arial"/>
              </a:rPr>
              <a:t>r</a:t>
            </a:r>
            <a:r>
              <a:rPr sz="1000" spc="-5" dirty="0">
                <a:latin typeface="Arial"/>
                <a:cs typeface="Arial"/>
              </a:rPr>
              <a:t>appers</a:t>
            </a:r>
            <a:endParaRPr sz="1000" dirty="0">
              <a:latin typeface="Arial"/>
              <a:cs typeface="Arial"/>
            </a:endParaRPr>
          </a:p>
          <a:p>
            <a:pPr marL="314960" indent="-168275">
              <a:lnSpc>
                <a:spcPct val="100000"/>
              </a:lnSpc>
              <a:spcBef>
                <a:spcPts val="590"/>
              </a:spcBef>
              <a:buClr>
                <a:srgbClr val="3333B2"/>
              </a:buClr>
              <a:buChar char="►"/>
              <a:tabLst>
                <a:tab pos="315595" algn="l"/>
              </a:tabLst>
            </a:pPr>
            <a:r>
              <a:rPr sz="1000" spc="-5" dirty="0">
                <a:solidFill>
                  <a:srgbClr val="0000FA"/>
                </a:solidFill>
                <a:latin typeface="Arial"/>
                <a:cs typeface="Arial"/>
              </a:rPr>
              <a:t>broker</a:t>
            </a:r>
            <a:r>
              <a:rPr sz="1000" spc="-5" dirty="0">
                <a:latin typeface="Arial"/>
                <a:cs typeface="Arial"/>
              </a:rPr>
              <a:t>:</a:t>
            </a:r>
            <a:r>
              <a:rPr sz="1000" spc="50" dirty="0">
                <a:latin typeface="Arial"/>
                <a:cs typeface="Arial"/>
              </a:rPr>
              <a:t> </a:t>
            </a:r>
            <a:r>
              <a:rPr sz="1000" spc="-5" dirty="0">
                <a:latin typeface="Arial"/>
                <a:cs typeface="Arial"/>
              </a:rPr>
              <a:t>requires</a:t>
            </a:r>
            <a:r>
              <a:rPr sz="1000" spc="-10" dirty="0">
                <a:latin typeface="Arial"/>
                <a:cs typeface="Arial"/>
              </a:rPr>
              <a:t> 2</a:t>
            </a:r>
            <a:r>
              <a:rPr sz="1000" i="1" spc="-10" dirty="0">
                <a:latin typeface="Arial"/>
                <a:cs typeface="Arial"/>
              </a:rPr>
              <a:t>N</a:t>
            </a:r>
            <a:r>
              <a:rPr sz="1000" i="1" spc="15" dirty="0">
                <a:latin typeface="Arial"/>
                <a:cs typeface="Arial"/>
              </a:rPr>
              <a:t> </a:t>
            </a:r>
            <a:r>
              <a:rPr sz="1000" spc="190" dirty="0">
                <a:latin typeface="Arial"/>
                <a:cs typeface="Arial"/>
              </a:rPr>
              <a:t>=</a:t>
            </a:r>
            <a:r>
              <a:rPr sz="1000" spc="-65" dirty="0">
                <a:latin typeface="Arial"/>
                <a:cs typeface="Arial"/>
              </a:rPr>
              <a:t> </a:t>
            </a:r>
            <a:r>
              <a:rPr sz="1000" i="1" spc="50" dirty="0">
                <a:latin typeface="Arial"/>
                <a:cs typeface="Arial"/>
              </a:rPr>
              <a:t>O</a:t>
            </a:r>
            <a:r>
              <a:rPr sz="1000" spc="50" dirty="0">
                <a:latin typeface="Arial"/>
                <a:cs typeface="Arial"/>
              </a:rPr>
              <a:t>(</a:t>
            </a:r>
            <a:r>
              <a:rPr sz="1000" i="1" spc="50" dirty="0">
                <a:latin typeface="Arial"/>
                <a:cs typeface="Arial"/>
              </a:rPr>
              <a:t>N</a:t>
            </a:r>
            <a:r>
              <a:rPr sz="1000" spc="50" dirty="0">
                <a:latin typeface="Arial"/>
                <a:cs typeface="Arial"/>
              </a:rPr>
              <a:t>)</a:t>
            </a:r>
            <a:r>
              <a:rPr sz="1000" spc="-5" dirty="0">
                <a:latin typeface="Arial"/>
                <a:cs typeface="Arial"/>
              </a:rPr>
              <a:t> wrappers</a:t>
            </a:r>
            <a:endParaRPr sz="1000" dirty="0">
              <a:latin typeface="Arial"/>
              <a:cs typeface="Arial"/>
            </a:endParaRPr>
          </a:p>
        </p:txBody>
      </p:sp>
      <p:sp>
        <p:nvSpPr>
          <p:cNvPr id="34" name="object 3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17</a:t>
            </a:r>
            <a:r>
              <a:rPr spc="-40" dirty="0"/>
              <a:t> </a:t>
            </a:r>
            <a:r>
              <a:rPr spc="-5" dirty="0"/>
              <a:t>/</a:t>
            </a:r>
            <a:r>
              <a:rPr spc="-35" dirty="0"/>
              <a:t> </a:t>
            </a:r>
            <a:r>
              <a:rPr spc="-5" dirty="0"/>
              <a:t>36</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18</a:t>
            </a:r>
            <a:r>
              <a:rPr spc="-40" dirty="0"/>
              <a:t> </a:t>
            </a:r>
            <a:r>
              <a:rPr spc="-5" dirty="0"/>
              <a:t>/</a:t>
            </a:r>
            <a:r>
              <a:rPr spc="-35" dirty="0"/>
              <a:t> </a:t>
            </a:r>
            <a:r>
              <a:rPr spc="-5" dirty="0"/>
              <a:t>36</a:t>
            </a:r>
          </a:p>
        </p:txBody>
      </p:sp>
      <p:sp>
        <p:nvSpPr>
          <p:cNvPr id="2" name="object 2"/>
          <p:cNvSpPr txBox="1"/>
          <p:nvPr/>
        </p:nvSpPr>
        <p:spPr>
          <a:xfrm>
            <a:off x="66713" y="716"/>
            <a:ext cx="13493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Middleware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organization</a:t>
            </a:r>
            <a:endParaRPr sz="600">
              <a:latin typeface="Arial"/>
              <a:cs typeface="Arial"/>
            </a:endParaRPr>
          </a:p>
        </p:txBody>
      </p:sp>
      <p:sp>
        <p:nvSpPr>
          <p:cNvPr id="3" name="object 3"/>
          <p:cNvSpPr txBox="1"/>
          <p:nvPr/>
        </p:nvSpPr>
        <p:spPr>
          <a:xfrm>
            <a:off x="4115066" y="716"/>
            <a:ext cx="4267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Interceptors</a:t>
            </a:r>
            <a:endParaRPr sz="600">
              <a:latin typeface="Arial"/>
              <a:cs typeface="Arial"/>
            </a:endParaRPr>
          </a:p>
        </p:txBody>
      </p:sp>
      <p:sp>
        <p:nvSpPr>
          <p:cNvPr id="4" name="object 4"/>
          <p:cNvSpPr txBox="1"/>
          <p:nvPr/>
        </p:nvSpPr>
        <p:spPr>
          <a:xfrm>
            <a:off x="95300" y="188846"/>
            <a:ext cx="2750185"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Developing</a:t>
            </a:r>
            <a:r>
              <a:rPr sz="1400" spc="-5" dirty="0">
                <a:solidFill>
                  <a:srgbClr val="3333B2"/>
                </a:solidFill>
                <a:latin typeface="Arial"/>
                <a:cs typeface="Arial"/>
              </a:rPr>
              <a:t> </a:t>
            </a:r>
            <a:r>
              <a:rPr sz="1400" spc="10" dirty="0">
                <a:solidFill>
                  <a:srgbClr val="3333B2"/>
                </a:solidFill>
                <a:latin typeface="Arial"/>
                <a:cs typeface="Arial"/>
              </a:rPr>
              <a:t>adaptable</a:t>
            </a:r>
            <a:r>
              <a:rPr sz="1400" dirty="0">
                <a:solidFill>
                  <a:srgbClr val="3333B2"/>
                </a:solidFill>
                <a:latin typeface="Arial"/>
                <a:cs typeface="Arial"/>
              </a:rPr>
              <a:t> </a:t>
            </a:r>
            <a:r>
              <a:rPr sz="1400" spc="10" dirty="0">
                <a:solidFill>
                  <a:srgbClr val="3333B2"/>
                </a:solidFill>
                <a:latin typeface="Arial"/>
                <a:cs typeface="Arial"/>
              </a:rPr>
              <a:t>middleware</a:t>
            </a:r>
            <a:endParaRPr sz="1400" dirty="0">
              <a:latin typeface="Arial"/>
              <a:cs typeface="Arial"/>
            </a:endParaRPr>
          </a:p>
        </p:txBody>
      </p:sp>
      <p:sp>
        <p:nvSpPr>
          <p:cNvPr id="5" name="object 5"/>
          <p:cNvSpPr txBox="1"/>
          <p:nvPr/>
        </p:nvSpPr>
        <p:spPr>
          <a:xfrm>
            <a:off x="347294" y="1370581"/>
            <a:ext cx="3843020" cy="504825"/>
          </a:xfrm>
          <a:prstGeom prst="rect">
            <a:avLst/>
          </a:prstGeom>
        </p:spPr>
        <p:txBody>
          <a:bodyPr vert="horz" wrap="square" lIns="0" tIns="12065" rIns="0" bIns="0" rtlCol="0">
            <a:spAutoFit/>
          </a:bodyPr>
          <a:lstStyle/>
          <a:p>
            <a:pPr marL="12700">
              <a:lnSpc>
                <a:spcPts val="1410"/>
              </a:lnSpc>
              <a:spcBef>
                <a:spcPts val="95"/>
              </a:spcBef>
            </a:pPr>
            <a:r>
              <a:rPr sz="1200" spc="-10" dirty="0">
                <a:solidFill>
                  <a:srgbClr val="3333B2"/>
                </a:solidFill>
                <a:latin typeface="Arial"/>
                <a:cs typeface="Arial"/>
              </a:rPr>
              <a:t>Problem</a:t>
            </a:r>
            <a:endParaRPr sz="1200" dirty="0">
              <a:latin typeface="Arial"/>
              <a:cs typeface="Arial"/>
            </a:endParaRPr>
          </a:p>
          <a:p>
            <a:pPr marL="12700">
              <a:lnSpc>
                <a:spcPts val="1170"/>
              </a:lnSpc>
            </a:pPr>
            <a:r>
              <a:rPr sz="1000" spc="-10" dirty="0">
                <a:latin typeface="Arial"/>
                <a:cs typeface="Arial"/>
              </a:rPr>
              <a:t>Middleware</a:t>
            </a:r>
            <a:r>
              <a:rPr sz="1000" spc="5" dirty="0">
                <a:latin typeface="Arial"/>
                <a:cs typeface="Arial"/>
              </a:rPr>
              <a:t> </a:t>
            </a:r>
            <a:r>
              <a:rPr sz="1000" spc="-5" dirty="0">
                <a:latin typeface="Arial"/>
                <a:cs typeface="Arial"/>
              </a:rPr>
              <a:t>contains</a:t>
            </a:r>
            <a:r>
              <a:rPr sz="1000" spc="5" dirty="0">
                <a:latin typeface="Arial"/>
                <a:cs typeface="Arial"/>
              </a:rPr>
              <a:t> </a:t>
            </a:r>
            <a:r>
              <a:rPr sz="1000" spc="-5" dirty="0">
                <a:latin typeface="Arial"/>
                <a:cs typeface="Arial"/>
              </a:rPr>
              <a:t>solutions</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are</a:t>
            </a:r>
            <a:r>
              <a:rPr sz="1000" spc="5" dirty="0">
                <a:latin typeface="Arial"/>
                <a:cs typeface="Arial"/>
              </a:rPr>
              <a:t> </a:t>
            </a:r>
            <a:r>
              <a:rPr sz="1000" spc="-5" dirty="0">
                <a:latin typeface="Arial"/>
                <a:cs typeface="Arial"/>
              </a:rPr>
              <a:t>good</a:t>
            </a:r>
            <a:r>
              <a:rPr sz="1000" spc="5" dirty="0">
                <a:latin typeface="Arial"/>
                <a:cs typeface="Arial"/>
              </a:rPr>
              <a:t> </a:t>
            </a:r>
            <a:r>
              <a:rPr sz="1000" spc="-15" dirty="0">
                <a:latin typeface="Arial"/>
                <a:cs typeface="Arial"/>
              </a:rPr>
              <a:t>for</a:t>
            </a:r>
            <a:r>
              <a:rPr sz="1000" spc="5" dirty="0">
                <a:latin typeface="Arial"/>
                <a:cs typeface="Arial"/>
              </a:rPr>
              <a:t> </a:t>
            </a:r>
            <a:r>
              <a:rPr sz="1000" spc="-5" dirty="0">
                <a:solidFill>
                  <a:srgbClr val="0000FA"/>
                </a:solidFill>
                <a:latin typeface="Arial"/>
                <a:cs typeface="Arial"/>
              </a:rPr>
              <a:t>most</a:t>
            </a:r>
            <a:r>
              <a:rPr sz="1000" spc="5" dirty="0">
                <a:solidFill>
                  <a:srgbClr val="0000FA"/>
                </a:solidFill>
                <a:latin typeface="Arial"/>
                <a:cs typeface="Arial"/>
              </a:rPr>
              <a:t> </a:t>
            </a:r>
            <a:r>
              <a:rPr sz="1000" spc="-5" dirty="0">
                <a:latin typeface="Arial"/>
                <a:cs typeface="Arial"/>
              </a:rPr>
              <a:t>applications</a:t>
            </a:r>
            <a:r>
              <a:rPr sz="1000" spc="5" dirty="0">
                <a:latin typeface="Arial"/>
                <a:cs typeface="Arial"/>
              </a:rPr>
              <a:t> </a:t>
            </a:r>
            <a:r>
              <a:rPr sz="1000" i="1" spc="-5" dirty="0">
                <a:latin typeface="メイリオ"/>
                <a:cs typeface="メイリオ"/>
              </a:rPr>
              <a:t>⇒</a:t>
            </a:r>
            <a:endParaRPr sz="1000" dirty="0">
              <a:latin typeface="メイリオ"/>
              <a:cs typeface="メイリオ"/>
            </a:endParaRPr>
          </a:p>
          <a:p>
            <a:pPr marL="12700">
              <a:lnSpc>
                <a:spcPts val="1200"/>
              </a:lnSpc>
            </a:pPr>
            <a:r>
              <a:rPr sz="1000" spc="-10" dirty="0">
                <a:latin typeface="Arial"/>
                <a:cs typeface="Arial"/>
              </a:rPr>
              <a:t>you</a:t>
            </a:r>
            <a:r>
              <a:rPr sz="1000" spc="-5" dirty="0">
                <a:latin typeface="Arial"/>
                <a:cs typeface="Arial"/>
              </a:rPr>
              <a:t> </a:t>
            </a:r>
            <a:r>
              <a:rPr sz="1000" spc="-15" dirty="0">
                <a:latin typeface="Arial"/>
                <a:cs typeface="Arial"/>
              </a:rPr>
              <a:t>may</a:t>
            </a:r>
            <a:r>
              <a:rPr sz="1000" dirty="0">
                <a:latin typeface="Arial"/>
                <a:cs typeface="Arial"/>
              </a:rPr>
              <a:t> </a:t>
            </a:r>
            <a:r>
              <a:rPr sz="1000" spc="-10" dirty="0">
                <a:latin typeface="Arial"/>
                <a:cs typeface="Arial"/>
              </a:rPr>
              <a:t>want</a:t>
            </a:r>
            <a:r>
              <a:rPr sz="1000" spc="-5" dirty="0">
                <a:latin typeface="Arial"/>
                <a:cs typeface="Arial"/>
              </a:rPr>
              <a:t> to</a:t>
            </a:r>
            <a:r>
              <a:rPr sz="1000" dirty="0">
                <a:latin typeface="Arial"/>
                <a:cs typeface="Arial"/>
              </a:rPr>
              <a:t> </a:t>
            </a:r>
            <a:r>
              <a:rPr sz="1000" spc="-5" dirty="0">
                <a:latin typeface="Arial"/>
                <a:cs typeface="Arial"/>
              </a:rPr>
              <a:t>adapt</a:t>
            </a:r>
            <a:r>
              <a:rPr sz="1000" dirty="0">
                <a:latin typeface="Arial"/>
                <a:cs typeface="Arial"/>
              </a:rPr>
              <a:t> </a:t>
            </a:r>
            <a:r>
              <a:rPr sz="1000" spc="-5" dirty="0">
                <a:latin typeface="Arial"/>
                <a:cs typeface="Arial"/>
              </a:rPr>
              <a:t>its behavior</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specific applications.</a:t>
            </a:r>
            <a:endParaRPr sz="1000" dirty="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3493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0" dirty="0">
                <a:solidFill>
                  <a:srgbClr val="3333B2"/>
                </a:solidFill>
                <a:latin typeface="Arial"/>
                <a:cs typeface="Arial"/>
              </a:rPr>
              <a:t> </a:t>
            </a:r>
            <a:r>
              <a:rPr sz="600" spc="-5" dirty="0">
                <a:solidFill>
                  <a:srgbClr val="3333B2"/>
                </a:solidFill>
                <a:latin typeface="Arial"/>
                <a:cs typeface="Arial"/>
                <a:hlinkClick r:id="rId4" action="ppaction://hlinksldjump"/>
              </a:rPr>
              <a:t>Middleware organization</a:t>
            </a:r>
            <a:endParaRPr sz="600">
              <a:latin typeface="Arial"/>
              <a:cs typeface="Arial"/>
            </a:endParaRPr>
          </a:p>
        </p:txBody>
      </p:sp>
      <p:sp>
        <p:nvSpPr>
          <p:cNvPr id="3" name="object 3"/>
          <p:cNvSpPr txBox="1"/>
          <p:nvPr/>
        </p:nvSpPr>
        <p:spPr>
          <a:xfrm>
            <a:off x="4115066" y="716"/>
            <a:ext cx="4267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Interceptors</a:t>
            </a:r>
            <a:endParaRPr sz="600">
              <a:latin typeface="Arial"/>
              <a:cs typeface="Arial"/>
            </a:endParaRPr>
          </a:p>
        </p:txBody>
      </p:sp>
      <p:sp>
        <p:nvSpPr>
          <p:cNvPr id="4" name="object 4"/>
          <p:cNvSpPr txBox="1"/>
          <p:nvPr/>
        </p:nvSpPr>
        <p:spPr>
          <a:xfrm>
            <a:off x="95300" y="188846"/>
            <a:ext cx="26968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Intercept</a:t>
            </a:r>
            <a:r>
              <a:rPr sz="1400" spc="-5" dirty="0">
                <a:solidFill>
                  <a:srgbClr val="3333B2"/>
                </a:solidFill>
                <a:latin typeface="Arial"/>
                <a:cs typeface="Arial"/>
              </a:rPr>
              <a:t> </a:t>
            </a:r>
            <a:r>
              <a:rPr sz="1400" spc="15" dirty="0">
                <a:solidFill>
                  <a:srgbClr val="3333B2"/>
                </a:solidFill>
                <a:latin typeface="Arial"/>
                <a:cs typeface="Arial"/>
              </a:rPr>
              <a:t>the</a:t>
            </a:r>
            <a:r>
              <a:rPr sz="1400" dirty="0">
                <a:solidFill>
                  <a:srgbClr val="3333B2"/>
                </a:solidFill>
                <a:latin typeface="Arial"/>
                <a:cs typeface="Arial"/>
              </a:rPr>
              <a:t> </a:t>
            </a:r>
            <a:r>
              <a:rPr sz="1400" spc="15" dirty="0">
                <a:solidFill>
                  <a:srgbClr val="3333B2"/>
                </a:solidFill>
                <a:latin typeface="Arial"/>
                <a:cs typeface="Arial"/>
              </a:rPr>
              <a:t>usual</a:t>
            </a:r>
            <a:r>
              <a:rPr sz="1400" dirty="0">
                <a:solidFill>
                  <a:srgbClr val="3333B2"/>
                </a:solidFill>
                <a:latin typeface="Arial"/>
                <a:cs typeface="Arial"/>
              </a:rPr>
              <a:t> </a:t>
            </a:r>
            <a:r>
              <a:rPr sz="1400" spc="5" dirty="0">
                <a:solidFill>
                  <a:srgbClr val="3333B2"/>
                </a:solidFill>
                <a:latin typeface="Arial"/>
                <a:cs typeface="Arial"/>
              </a:rPr>
              <a:t>flow</a:t>
            </a:r>
            <a:r>
              <a:rPr sz="1400" dirty="0">
                <a:solidFill>
                  <a:srgbClr val="3333B2"/>
                </a:solidFill>
                <a:latin typeface="Arial"/>
                <a:cs typeface="Arial"/>
              </a:rPr>
              <a:t> </a:t>
            </a:r>
            <a:r>
              <a:rPr sz="1400" spc="10" dirty="0">
                <a:solidFill>
                  <a:srgbClr val="3333B2"/>
                </a:solidFill>
                <a:latin typeface="Arial"/>
                <a:cs typeface="Arial"/>
              </a:rPr>
              <a:t>of</a:t>
            </a:r>
            <a:r>
              <a:rPr sz="1400" spc="-5" dirty="0">
                <a:solidFill>
                  <a:srgbClr val="3333B2"/>
                </a:solidFill>
                <a:latin typeface="Arial"/>
                <a:cs typeface="Arial"/>
              </a:rPr>
              <a:t> </a:t>
            </a:r>
            <a:r>
              <a:rPr sz="1400" spc="10" dirty="0">
                <a:solidFill>
                  <a:srgbClr val="3333B2"/>
                </a:solidFill>
                <a:latin typeface="Arial"/>
                <a:cs typeface="Arial"/>
              </a:rPr>
              <a:t>control</a:t>
            </a:r>
            <a:endParaRPr sz="1400" dirty="0">
              <a:latin typeface="Arial"/>
              <a:cs typeface="Arial"/>
            </a:endParaRPr>
          </a:p>
        </p:txBody>
      </p:sp>
      <p:sp>
        <p:nvSpPr>
          <p:cNvPr id="5" name="object 5"/>
          <p:cNvSpPr/>
          <p:nvPr/>
        </p:nvSpPr>
        <p:spPr>
          <a:xfrm>
            <a:off x="2082202" y="747356"/>
            <a:ext cx="1518285" cy="683260"/>
          </a:xfrm>
          <a:custGeom>
            <a:avLst/>
            <a:gdLst/>
            <a:ahLst/>
            <a:cxnLst/>
            <a:rect l="l" t="t" r="r" b="b"/>
            <a:pathLst>
              <a:path w="1518285" h="683260">
                <a:moveTo>
                  <a:pt x="10" y="417423"/>
                </a:moveTo>
                <a:lnTo>
                  <a:pt x="1517914" y="417423"/>
                </a:lnTo>
                <a:lnTo>
                  <a:pt x="1517914" y="0"/>
                </a:lnTo>
                <a:lnTo>
                  <a:pt x="10" y="0"/>
                </a:lnTo>
                <a:lnTo>
                  <a:pt x="10" y="417423"/>
                </a:lnTo>
                <a:close/>
              </a:path>
              <a:path w="1518285" h="683260">
                <a:moveTo>
                  <a:pt x="0" y="683056"/>
                </a:moveTo>
                <a:lnTo>
                  <a:pt x="1517903" y="683056"/>
                </a:lnTo>
                <a:lnTo>
                  <a:pt x="1517903" y="417423"/>
                </a:lnTo>
                <a:lnTo>
                  <a:pt x="0" y="417423"/>
                </a:lnTo>
                <a:lnTo>
                  <a:pt x="0" y="683056"/>
                </a:lnTo>
                <a:close/>
              </a:path>
            </a:pathLst>
          </a:custGeom>
          <a:ln w="5270">
            <a:solidFill>
              <a:srgbClr val="231F20"/>
            </a:solidFill>
          </a:ln>
        </p:spPr>
        <p:txBody>
          <a:bodyPr wrap="square" lIns="0" tIns="0" rIns="0" bIns="0" rtlCol="0"/>
          <a:lstStyle/>
          <a:p>
            <a:endParaRPr/>
          </a:p>
        </p:txBody>
      </p:sp>
      <p:sp>
        <p:nvSpPr>
          <p:cNvPr id="6" name="object 6"/>
          <p:cNvSpPr txBox="1"/>
          <p:nvPr/>
        </p:nvSpPr>
        <p:spPr>
          <a:xfrm>
            <a:off x="2554399" y="840078"/>
            <a:ext cx="6680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application</a:t>
            </a:r>
            <a:endParaRPr sz="650">
              <a:latin typeface="Arial"/>
              <a:cs typeface="Arial"/>
            </a:endParaRPr>
          </a:p>
        </p:txBody>
      </p:sp>
      <p:grpSp>
        <p:nvGrpSpPr>
          <p:cNvPr id="7" name="object 7"/>
          <p:cNvGrpSpPr/>
          <p:nvPr/>
        </p:nvGrpSpPr>
        <p:grpSpPr>
          <a:xfrm>
            <a:off x="2079334" y="1048079"/>
            <a:ext cx="1524000" cy="1903095"/>
            <a:chOff x="2079334" y="1048079"/>
            <a:chExt cx="1524000" cy="1903095"/>
          </a:xfrm>
        </p:grpSpPr>
        <p:sp>
          <p:nvSpPr>
            <p:cNvPr id="8" name="object 8"/>
            <p:cNvSpPr/>
            <p:nvPr/>
          </p:nvSpPr>
          <p:spPr>
            <a:xfrm>
              <a:off x="2347836" y="1088885"/>
              <a:ext cx="986790" cy="114300"/>
            </a:xfrm>
            <a:custGeom>
              <a:avLst/>
              <a:gdLst/>
              <a:ahLst/>
              <a:cxnLst/>
              <a:rect l="l" t="t" r="r" b="b"/>
              <a:pathLst>
                <a:path w="986789" h="114300">
                  <a:moveTo>
                    <a:pt x="986624" y="0"/>
                  </a:moveTo>
                  <a:lnTo>
                    <a:pt x="0" y="0"/>
                  </a:lnTo>
                  <a:lnTo>
                    <a:pt x="0" y="37947"/>
                  </a:lnTo>
                  <a:lnTo>
                    <a:pt x="0" y="113842"/>
                  </a:lnTo>
                  <a:lnTo>
                    <a:pt x="986624" y="113842"/>
                  </a:lnTo>
                  <a:lnTo>
                    <a:pt x="986624" y="37947"/>
                  </a:lnTo>
                  <a:lnTo>
                    <a:pt x="986624" y="0"/>
                  </a:lnTo>
                  <a:close/>
                </a:path>
              </a:pathLst>
            </a:custGeom>
            <a:solidFill>
              <a:srgbClr val="FFFFFF"/>
            </a:solidFill>
          </p:spPr>
          <p:txBody>
            <a:bodyPr wrap="square" lIns="0" tIns="0" rIns="0" bIns="0" rtlCol="0"/>
            <a:lstStyle/>
            <a:p>
              <a:endParaRPr/>
            </a:p>
          </p:txBody>
        </p:sp>
        <p:sp>
          <p:nvSpPr>
            <p:cNvPr id="9" name="object 9"/>
            <p:cNvSpPr/>
            <p:nvPr/>
          </p:nvSpPr>
          <p:spPr>
            <a:xfrm>
              <a:off x="2347846" y="1088884"/>
              <a:ext cx="986790" cy="114300"/>
            </a:xfrm>
            <a:custGeom>
              <a:avLst/>
              <a:gdLst/>
              <a:ahLst/>
              <a:cxnLst/>
              <a:rect l="l" t="t" r="r" b="b"/>
              <a:pathLst>
                <a:path w="986789" h="114300">
                  <a:moveTo>
                    <a:pt x="0" y="113842"/>
                  </a:moveTo>
                  <a:lnTo>
                    <a:pt x="986624" y="113842"/>
                  </a:lnTo>
                  <a:lnTo>
                    <a:pt x="986624" y="0"/>
                  </a:lnTo>
                  <a:lnTo>
                    <a:pt x="0" y="0"/>
                  </a:lnTo>
                  <a:lnTo>
                    <a:pt x="0" y="113842"/>
                  </a:lnTo>
                  <a:close/>
                </a:path>
              </a:pathLst>
            </a:custGeom>
            <a:ln w="5270">
              <a:solidFill>
                <a:srgbClr val="231F20"/>
              </a:solidFill>
            </a:ln>
          </p:spPr>
          <p:txBody>
            <a:bodyPr wrap="square" lIns="0" tIns="0" rIns="0" bIns="0" rtlCol="0"/>
            <a:lstStyle/>
            <a:p>
              <a:endParaRPr/>
            </a:p>
          </p:txBody>
        </p:sp>
        <p:sp>
          <p:nvSpPr>
            <p:cNvPr id="10" name="object 10"/>
            <p:cNvSpPr/>
            <p:nvPr/>
          </p:nvSpPr>
          <p:spPr>
            <a:xfrm>
              <a:off x="2423741" y="1050937"/>
              <a:ext cx="873125" cy="76200"/>
            </a:xfrm>
            <a:custGeom>
              <a:avLst/>
              <a:gdLst/>
              <a:ahLst/>
              <a:cxnLst/>
              <a:rect l="l" t="t" r="r" b="b"/>
              <a:pathLst>
                <a:path w="873125" h="76200">
                  <a:moveTo>
                    <a:pt x="872794" y="0"/>
                  </a:moveTo>
                  <a:lnTo>
                    <a:pt x="0" y="0"/>
                  </a:lnTo>
                  <a:lnTo>
                    <a:pt x="0" y="75895"/>
                  </a:lnTo>
                  <a:lnTo>
                    <a:pt x="872794" y="75895"/>
                  </a:lnTo>
                  <a:lnTo>
                    <a:pt x="872794" y="0"/>
                  </a:lnTo>
                  <a:close/>
                </a:path>
              </a:pathLst>
            </a:custGeom>
            <a:solidFill>
              <a:srgbClr val="E6E7E8"/>
            </a:solidFill>
          </p:spPr>
          <p:txBody>
            <a:bodyPr wrap="square" lIns="0" tIns="0" rIns="0" bIns="0" rtlCol="0"/>
            <a:lstStyle/>
            <a:p>
              <a:endParaRPr/>
            </a:p>
          </p:txBody>
        </p:sp>
        <p:sp>
          <p:nvSpPr>
            <p:cNvPr id="11" name="object 11"/>
            <p:cNvSpPr/>
            <p:nvPr/>
          </p:nvSpPr>
          <p:spPr>
            <a:xfrm>
              <a:off x="2423741" y="1050937"/>
              <a:ext cx="873125" cy="76200"/>
            </a:xfrm>
            <a:custGeom>
              <a:avLst/>
              <a:gdLst/>
              <a:ahLst/>
              <a:cxnLst/>
              <a:rect l="l" t="t" r="r" b="b"/>
              <a:pathLst>
                <a:path w="873125" h="76200">
                  <a:moveTo>
                    <a:pt x="0" y="75895"/>
                  </a:moveTo>
                  <a:lnTo>
                    <a:pt x="872794" y="75895"/>
                  </a:lnTo>
                  <a:lnTo>
                    <a:pt x="872794" y="0"/>
                  </a:lnTo>
                  <a:lnTo>
                    <a:pt x="0" y="0"/>
                  </a:lnTo>
                  <a:lnTo>
                    <a:pt x="0" y="75895"/>
                  </a:lnTo>
                  <a:close/>
                </a:path>
              </a:pathLst>
            </a:custGeom>
            <a:ln w="5270">
              <a:solidFill>
                <a:srgbClr val="231F20"/>
              </a:solidFill>
            </a:ln>
          </p:spPr>
          <p:txBody>
            <a:bodyPr wrap="square" lIns="0" tIns="0" rIns="0" bIns="0" rtlCol="0"/>
            <a:lstStyle/>
            <a:p>
              <a:endParaRPr/>
            </a:p>
          </p:txBody>
        </p:sp>
        <p:sp>
          <p:nvSpPr>
            <p:cNvPr id="12" name="object 12"/>
            <p:cNvSpPr/>
            <p:nvPr/>
          </p:nvSpPr>
          <p:spPr>
            <a:xfrm>
              <a:off x="2082192" y="1923726"/>
              <a:ext cx="1518285" cy="266065"/>
            </a:xfrm>
            <a:custGeom>
              <a:avLst/>
              <a:gdLst/>
              <a:ahLst/>
              <a:cxnLst/>
              <a:rect l="l" t="t" r="r" b="b"/>
              <a:pathLst>
                <a:path w="1518285" h="266064">
                  <a:moveTo>
                    <a:pt x="0" y="265633"/>
                  </a:moveTo>
                  <a:lnTo>
                    <a:pt x="1517914" y="265633"/>
                  </a:lnTo>
                  <a:lnTo>
                    <a:pt x="1517914" y="0"/>
                  </a:lnTo>
                  <a:lnTo>
                    <a:pt x="0" y="0"/>
                  </a:lnTo>
                  <a:lnTo>
                    <a:pt x="0" y="265633"/>
                  </a:lnTo>
                  <a:close/>
                </a:path>
              </a:pathLst>
            </a:custGeom>
            <a:ln w="5270">
              <a:solidFill>
                <a:srgbClr val="231F20"/>
              </a:solidFill>
            </a:ln>
          </p:spPr>
          <p:txBody>
            <a:bodyPr wrap="square" lIns="0" tIns="0" rIns="0" bIns="0" rtlCol="0"/>
            <a:lstStyle/>
            <a:p>
              <a:endParaRPr/>
            </a:p>
          </p:txBody>
        </p:sp>
        <p:sp>
          <p:nvSpPr>
            <p:cNvPr id="13" name="object 13"/>
            <p:cNvSpPr/>
            <p:nvPr/>
          </p:nvSpPr>
          <p:spPr>
            <a:xfrm>
              <a:off x="2158085" y="1847837"/>
              <a:ext cx="1366520" cy="114300"/>
            </a:xfrm>
            <a:custGeom>
              <a:avLst/>
              <a:gdLst/>
              <a:ahLst/>
              <a:cxnLst/>
              <a:rect l="l" t="t" r="r" b="b"/>
              <a:pathLst>
                <a:path w="1366520" h="114300">
                  <a:moveTo>
                    <a:pt x="1366113" y="0"/>
                  </a:moveTo>
                  <a:lnTo>
                    <a:pt x="0" y="0"/>
                  </a:lnTo>
                  <a:lnTo>
                    <a:pt x="0" y="37947"/>
                  </a:lnTo>
                  <a:lnTo>
                    <a:pt x="0" y="113842"/>
                  </a:lnTo>
                  <a:lnTo>
                    <a:pt x="1366113" y="113842"/>
                  </a:lnTo>
                  <a:lnTo>
                    <a:pt x="1366113" y="37947"/>
                  </a:lnTo>
                  <a:lnTo>
                    <a:pt x="1366113" y="0"/>
                  </a:lnTo>
                  <a:close/>
                </a:path>
              </a:pathLst>
            </a:custGeom>
            <a:solidFill>
              <a:srgbClr val="FFFFFF"/>
            </a:solidFill>
          </p:spPr>
          <p:txBody>
            <a:bodyPr wrap="square" lIns="0" tIns="0" rIns="0" bIns="0" rtlCol="0"/>
            <a:lstStyle/>
            <a:p>
              <a:endParaRPr/>
            </a:p>
          </p:txBody>
        </p:sp>
        <p:sp>
          <p:nvSpPr>
            <p:cNvPr id="14" name="object 14"/>
            <p:cNvSpPr/>
            <p:nvPr/>
          </p:nvSpPr>
          <p:spPr>
            <a:xfrm>
              <a:off x="2158087" y="1847834"/>
              <a:ext cx="1366520" cy="114300"/>
            </a:xfrm>
            <a:custGeom>
              <a:avLst/>
              <a:gdLst/>
              <a:ahLst/>
              <a:cxnLst/>
              <a:rect l="l" t="t" r="r" b="b"/>
              <a:pathLst>
                <a:path w="1366520" h="114300">
                  <a:moveTo>
                    <a:pt x="0" y="113834"/>
                  </a:moveTo>
                  <a:lnTo>
                    <a:pt x="1366124" y="113834"/>
                  </a:lnTo>
                  <a:lnTo>
                    <a:pt x="1366124" y="0"/>
                  </a:lnTo>
                  <a:lnTo>
                    <a:pt x="0" y="0"/>
                  </a:lnTo>
                  <a:lnTo>
                    <a:pt x="0" y="113834"/>
                  </a:lnTo>
                  <a:close/>
                </a:path>
              </a:pathLst>
            </a:custGeom>
            <a:ln w="5270">
              <a:solidFill>
                <a:srgbClr val="231F20"/>
              </a:solidFill>
            </a:ln>
          </p:spPr>
          <p:txBody>
            <a:bodyPr wrap="square" lIns="0" tIns="0" rIns="0" bIns="0" rtlCol="0"/>
            <a:lstStyle/>
            <a:p>
              <a:endParaRPr/>
            </a:p>
          </p:txBody>
        </p:sp>
        <p:sp>
          <p:nvSpPr>
            <p:cNvPr id="15" name="object 15"/>
            <p:cNvSpPr/>
            <p:nvPr/>
          </p:nvSpPr>
          <p:spPr>
            <a:xfrm>
              <a:off x="2196045" y="1809882"/>
              <a:ext cx="1290320" cy="76200"/>
            </a:xfrm>
            <a:custGeom>
              <a:avLst/>
              <a:gdLst/>
              <a:ahLst/>
              <a:cxnLst/>
              <a:rect l="l" t="t" r="r" b="b"/>
              <a:pathLst>
                <a:path w="1290320" h="76200">
                  <a:moveTo>
                    <a:pt x="1290218" y="0"/>
                  </a:moveTo>
                  <a:lnTo>
                    <a:pt x="0" y="0"/>
                  </a:lnTo>
                  <a:lnTo>
                    <a:pt x="0" y="75891"/>
                  </a:lnTo>
                  <a:lnTo>
                    <a:pt x="1290218" y="75891"/>
                  </a:lnTo>
                  <a:lnTo>
                    <a:pt x="1290218" y="0"/>
                  </a:lnTo>
                  <a:close/>
                </a:path>
              </a:pathLst>
            </a:custGeom>
            <a:solidFill>
              <a:srgbClr val="E6E7E8"/>
            </a:solidFill>
          </p:spPr>
          <p:txBody>
            <a:bodyPr wrap="square" lIns="0" tIns="0" rIns="0" bIns="0" rtlCol="0"/>
            <a:lstStyle/>
            <a:p>
              <a:endParaRPr/>
            </a:p>
          </p:txBody>
        </p:sp>
        <p:sp>
          <p:nvSpPr>
            <p:cNvPr id="16" name="object 16"/>
            <p:cNvSpPr/>
            <p:nvPr/>
          </p:nvSpPr>
          <p:spPr>
            <a:xfrm>
              <a:off x="2196045" y="1809882"/>
              <a:ext cx="1290320" cy="76200"/>
            </a:xfrm>
            <a:custGeom>
              <a:avLst/>
              <a:gdLst/>
              <a:ahLst/>
              <a:cxnLst/>
              <a:rect l="l" t="t" r="r" b="b"/>
              <a:pathLst>
                <a:path w="1290320" h="76200">
                  <a:moveTo>
                    <a:pt x="0" y="75891"/>
                  </a:moveTo>
                  <a:lnTo>
                    <a:pt x="1290218" y="75891"/>
                  </a:lnTo>
                  <a:lnTo>
                    <a:pt x="1290218" y="0"/>
                  </a:lnTo>
                  <a:lnTo>
                    <a:pt x="0" y="0"/>
                  </a:lnTo>
                  <a:lnTo>
                    <a:pt x="0" y="75891"/>
                  </a:lnTo>
                  <a:close/>
                </a:path>
              </a:pathLst>
            </a:custGeom>
            <a:ln w="5270">
              <a:solidFill>
                <a:srgbClr val="231F20"/>
              </a:solidFill>
            </a:ln>
          </p:spPr>
          <p:txBody>
            <a:bodyPr wrap="square" lIns="0" tIns="0" rIns="0" bIns="0" rtlCol="0"/>
            <a:lstStyle/>
            <a:p>
              <a:endParaRPr/>
            </a:p>
          </p:txBody>
        </p:sp>
        <p:sp>
          <p:nvSpPr>
            <p:cNvPr id="17" name="object 17"/>
            <p:cNvSpPr/>
            <p:nvPr/>
          </p:nvSpPr>
          <p:spPr>
            <a:xfrm>
              <a:off x="2082192" y="2682678"/>
              <a:ext cx="1518285" cy="266065"/>
            </a:xfrm>
            <a:custGeom>
              <a:avLst/>
              <a:gdLst/>
              <a:ahLst/>
              <a:cxnLst/>
              <a:rect l="l" t="t" r="r" b="b"/>
              <a:pathLst>
                <a:path w="1518285" h="266064">
                  <a:moveTo>
                    <a:pt x="0" y="265633"/>
                  </a:moveTo>
                  <a:lnTo>
                    <a:pt x="1517914" y="265633"/>
                  </a:lnTo>
                  <a:lnTo>
                    <a:pt x="1517914" y="0"/>
                  </a:lnTo>
                  <a:lnTo>
                    <a:pt x="0" y="0"/>
                  </a:lnTo>
                  <a:lnTo>
                    <a:pt x="0" y="265633"/>
                  </a:lnTo>
                  <a:close/>
                </a:path>
              </a:pathLst>
            </a:custGeom>
            <a:ln w="5270">
              <a:solidFill>
                <a:srgbClr val="231F20"/>
              </a:solidFill>
            </a:ln>
          </p:spPr>
          <p:txBody>
            <a:bodyPr wrap="square" lIns="0" tIns="0" rIns="0" bIns="0" rtlCol="0"/>
            <a:lstStyle/>
            <a:p>
              <a:endParaRPr/>
            </a:p>
          </p:txBody>
        </p:sp>
        <p:sp>
          <p:nvSpPr>
            <p:cNvPr id="18" name="object 18"/>
            <p:cNvSpPr/>
            <p:nvPr/>
          </p:nvSpPr>
          <p:spPr>
            <a:xfrm>
              <a:off x="2158085" y="2606789"/>
              <a:ext cx="1366520" cy="114300"/>
            </a:xfrm>
            <a:custGeom>
              <a:avLst/>
              <a:gdLst/>
              <a:ahLst/>
              <a:cxnLst/>
              <a:rect l="l" t="t" r="r" b="b"/>
              <a:pathLst>
                <a:path w="1366520" h="114300">
                  <a:moveTo>
                    <a:pt x="1366113" y="0"/>
                  </a:moveTo>
                  <a:lnTo>
                    <a:pt x="0" y="0"/>
                  </a:lnTo>
                  <a:lnTo>
                    <a:pt x="0" y="37947"/>
                  </a:lnTo>
                  <a:lnTo>
                    <a:pt x="0" y="113842"/>
                  </a:lnTo>
                  <a:lnTo>
                    <a:pt x="1366113" y="113842"/>
                  </a:lnTo>
                  <a:lnTo>
                    <a:pt x="1366113" y="37947"/>
                  </a:lnTo>
                  <a:lnTo>
                    <a:pt x="1366113" y="0"/>
                  </a:lnTo>
                  <a:close/>
                </a:path>
              </a:pathLst>
            </a:custGeom>
            <a:solidFill>
              <a:srgbClr val="FFFFFF"/>
            </a:solidFill>
          </p:spPr>
          <p:txBody>
            <a:bodyPr wrap="square" lIns="0" tIns="0" rIns="0" bIns="0" rtlCol="0"/>
            <a:lstStyle/>
            <a:p>
              <a:endParaRPr/>
            </a:p>
          </p:txBody>
        </p:sp>
        <p:sp>
          <p:nvSpPr>
            <p:cNvPr id="19" name="object 19"/>
            <p:cNvSpPr/>
            <p:nvPr/>
          </p:nvSpPr>
          <p:spPr>
            <a:xfrm>
              <a:off x="2158087" y="2606787"/>
              <a:ext cx="1366520" cy="114300"/>
            </a:xfrm>
            <a:custGeom>
              <a:avLst/>
              <a:gdLst/>
              <a:ahLst/>
              <a:cxnLst/>
              <a:rect l="l" t="t" r="r" b="b"/>
              <a:pathLst>
                <a:path w="1366520" h="114300">
                  <a:moveTo>
                    <a:pt x="0" y="113834"/>
                  </a:moveTo>
                  <a:lnTo>
                    <a:pt x="1366124" y="113834"/>
                  </a:lnTo>
                  <a:lnTo>
                    <a:pt x="1366124" y="0"/>
                  </a:lnTo>
                  <a:lnTo>
                    <a:pt x="0" y="0"/>
                  </a:lnTo>
                  <a:lnTo>
                    <a:pt x="0" y="113834"/>
                  </a:lnTo>
                  <a:close/>
                </a:path>
              </a:pathLst>
            </a:custGeom>
            <a:ln w="5270">
              <a:solidFill>
                <a:srgbClr val="231F20"/>
              </a:solidFill>
            </a:ln>
          </p:spPr>
          <p:txBody>
            <a:bodyPr wrap="square" lIns="0" tIns="0" rIns="0" bIns="0" rtlCol="0"/>
            <a:lstStyle/>
            <a:p>
              <a:endParaRPr/>
            </a:p>
          </p:txBody>
        </p:sp>
        <p:sp>
          <p:nvSpPr>
            <p:cNvPr id="20" name="object 20"/>
            <p:cNvSpPr/>
            <p:nvPr/>
          </p:nvSpPr>
          <p:spPr>
            <a:xfrm>
              <a:off x="2196045" y="2568831"/>
              <a:ext cx="1290320" cy="76200"/>
            </a:xfrm>
            <a:custGeom>
              <a:avLst/>
              <a:gdLst/>
              <a:ahLst/>
              <a:cxnLst/>
              <a:rect l="l" t="t" r="r" b="b"/>
              <a:pathLst>
                <a:path w="1290320" h="76200">
                  <a:moveTo>
                    <a:pt x="1290218" y="0"/>
                  </a:moveTo>
                  <a:lnTo>
                    <a:pt x="0" y="0"/>
                  </a:lnTo>
                  <a:lnTo>
                    <a:pt x="0" y="75895"/>
                  </a:lnTo>
                  <a:lnTo>
                    <a:pt x="1290218" y="75895"/>
                  </a:lnTo>
                  <a:lnTo>
                    <a:pt x="1290218" y="0"/>
                  </a:lnTo>
                  <a:close/>
                </a:path>
              </a:pathLst>
            </a:custGeom>
            <a:solidFill>
              <a:srgbClr val="E6E7E8"/>
            </a:solidFill>
          </p:spPr>
          <p:txBody>
            <a:bodyPr wrap="square" lIns="0" tIns="0" rIns="0" bIns="0" rtlCol="0"/>
            <a:lstStyle/>
            <a:p>
              <a:endParaRPr/>
            </a:p>
          </p:txBody>
        </p:sp>
        <p:sp>
          <p:nvSpPr>
            <p:cNvPr id="21" name="object 21"/>
            <p:cNvSpPr/>
            <p:nvPr/>
          </p:nvSpPr>
          <p:spPr>
            <a:xfrm>
              <a:off x="2196045" y="2568831"/>
              <a:ext cx="1290320" cy="76200"/>
            </a:xfrm>
            <a:custGeom>
              <a:avLst/>
              <a:gdLst/>
              <a:ahLst/>
              <a:cxnLst/>
              <a:rect l="l" t="t" r="r" b="b"/>
              <a:pathLst>
                <a:path w="1290320" h="76200">
                  <a:moveTo>
                    <a:pt x="0" y="75895"/>
                  </a:moveTo>
                  <a:lnTo>
                    <a:pt x="1290218" y="75895"/>
                  </a:lnTo>
                  <a:lnTo>
                    <a:pt x="1290218" y="0"/>
                  </a:lnTo>
                  <a:lnTo>
                    <a:pt x="0" y="0"/>
                  </a:lnTo>
                  <a:lnTo>
                    <a:pt x="0" y="75895"/>
                  </a:lnTo>
                  <a:close/>
                </a:path>
              </a:pathLst>
            </a:custGeom>
            <a:ln w="5270">
              <a:solidFill>
                <a:srgbClr val="231F20"/>
              </a:solidFill>
            </a:ln>
          </p:spPr>
          <p:txBody>
            <a:bodyPr wrap="square" lIns="0" tIns="0" rIns="0" bIns="0" rtlCol="0"/>
            <a:lstStyle/>
            <a:p>
              <a:endParaRPr/>
            </a:p>
          </p:txBody>
        </p:sp>
      </p:grpSp>
      <p:sp>
        <p:nvSpPr>
          <p:cNvPr id="22" name="object 22"/>
          <p:cNvSpPr txBox="1"/>
          <p:nvPr/>
        </p:nvSpPr>
        <p:spPr>
          <a:xfrm>
            <a:off x="716088" y="1430411"/>
            <a:ext cx="1062990" cy="266065"/>
          </a:xfrm>
          <a:prstGeom prst="rect">
            <a:avLst/>
          </a:prstGeom>
          <a:ln w="5270">
            <a:solidFill>
              <a:srgbClr val="231F20"/>
            </a:solidFill>
          </a:ln>
        </p:spPr>
        <p:txBody>
          <a:bodyPr vert="horz" wrap="square" lIns="0" tIns="0" rIns="0" bIns="0" rtlCol="0">
            <a:spAutoFit/>
          </a:bodyPr>
          <a:lstStyle/>
          <a:p>
            <a:pPr>
              <a:lnSpc>
                <a:spcPct val="100000"/>
              </a:lnSpc>
            </a:pPr>
            <a:endParaRPr sz="500">
              <a:latin typeface="Times New Roman"/>
              <a:cs typeface="Times New Roman"/>
            </a:endParaRPr>
          </a:p>
          <a:p>
            <a:pPr marL="71120">
              <a:lnSpc>
                <a:spcPct val="100000"/>
              </a:lnSpc>
            </a:pPr>
            <a:r>
              <a:rPr sz="650" spc="5" dirty="0">
                <a:solidFill>
                  <a:srgbClr val="231F20"/>
                </a:solidFill>
                <a:latin typeface="Arial"/>
                <a:cs typeface="Arial"/>
              </a:rPr>
              <a:t>Request-level</a:t>
            </a:r>
            <a:r>
              <a:rPr sz="650" spc="-35" dirty="0">
                <a:solidFill>
                  <a:srgbClr val="231F20"/>
                </a:solidFill>
                <a:latin typeface="Arial"/>
                <a:cs typeface="Arial"/>
              </a:rPr>
              <a:t> </a:t>
            </a:r>
            <a:r>
              <a:rPr sz="650" spc="5" dirty="0">
                <a:solidFill>
                  <a:srgbClr val="231F20"/>
                </a:solidFill>
                <a:latin typeface="Arial"/>
                <a:cs typeface="Arial"/>
              </a:rPr>
              <a:t>interceptor</a:t>
            </a:r>
            <a:endParaRPr sz="650">
              <a:latin typeface="Arial"/>
              <a:cs typeface="Arial"/>
            </a:endParaRPr>
          </a:p>
        </p:txBody>
      </p:sp>
      <p:sp>
        <p:nvSpPr>
          <p:cNvPr id="23" name="object 23"/>
          <p:cNvSpPr txBox="1"/>
          <p:nvPr/>
        </p:nvSpPr>
        <p:spPr>
          <a:xfrm>
            <a:off x="716080" y="2189364"/>
            <a:ext cx="1062990" cy="266065"/>
          </a:xfrm>
          <a:prstGeom prst="rect">
            <a:avLst/>
          </a:prstGeom>
          <a:ln w="5270">
            <a:solidFill>
              <a:srgbClr val="231F20"/>
            </a:solidFill>
          </a:ln>
        </p:spPr>
        <p:txBody>
          <a:bodyPr vert="horz" wrap="square" lIns="0" tIns="3175" rIns="0" bIns="0" rtlCol="0">
            <a:spAutoFit/>
          </a:bodyPr>
          <a:lstStyle/>
          <a:p>
            <a:pPr>
              <a:lnSpc>
                <a:spcPct val="100000"/>
              </a:lnSpc>
              <a:spcBef>
                <a:spcPts val="25"/>
              </a:spcBef>
            </a:pPr>
            <a:endParaRPr sz="450">
              <a:latin typeface="Times New Roman"/>
              <a:cs typeface="Times New Roman"/>
            </a:endParaRPr>
          </a:p>
          <a:p>
            <a:pPr marL="75565">
              <a:lnSpc>
                <a:spcPct val="100000"/>
              </a:lnSpc>
            </a:pPr>
            <a:r>
              <a:rPr sz="650" spc="5" dirty="0">
                <a:solidFill>
                  <a:srgbClr val="231F20"/>
                </a:solidFill>
                <a:latin typeface="Arial"/>
                <a:cs typeface="Arial"/>
              </a:rPr>
              <a:t>Message-level</a:t>
            </a:r>
            <a:r>
              <a:rPr sz="650" spc="-35" dirty="0">
                <a:solidFill>
                  <a:srgbClr val="231F20"/>
                </a:solidFill>
                <a:latin typeface="Arial"/>
                <a:cs typeface="Arial"/>
              </a:rPr>
              <a:t> </a:t>
            </a:r>
            <a:r>
              <a:rPr sz="650" spc="5" dirty="0">
                <a:solidFill>
                  <a:srgbClr val="231F20"/>
                </a:solidFill>
                <a:latin typeface="Arial"/>
                <a:cs typeface="Arial"/>
              </a:rPr>
              <a:t>interceptor</a:t>
            </a:r>
            <a:endParaRPr sz="650">
              <a:latin typeface="Arial"/>
              <a:cs typeface="Arial"/>
            </a:endParaRPr>
          </a:p>
        </p:txBody>
      </p:sp>
      <p:sp>
        <p:nvSpPr>
          <p:cNvPr id="24" name="object 24"/>
          <p:cNvSpPr txBox="1"/>
          <p:nvPr/>
        </p:nvSpPr>
        <p:spPr>
          <a:xfrm>
            <a:off x="2082192" y="2720622"/>
            <a:ext cx="759460" cy="227965"/>
          </a:xfrm>
          <a:prstGeom prst="rect">
            <a:avLst/>
          </a:prstGeom>
          <a:ln w="5270">
            <a:solidFill>
              <a:srgbClr val="231F20"/>
            </a:solidFill>
          </a:ln>
        </p:spPr>
        <p:txBody>
          <a:bodyPr vert="horz" wrap="square" lIns="0" tIns="3175" rIns="0" bIns="0" rtlCol="0">
            <a:spAutoFit/>
          </a:bodyPr>
          <a:lstStyle/>
          <a:p>
            <a:pPr>
              <a:lnSpc>
                <a:spcPct val="100000"/>
              </a:lnSpc>
              <a:spcBef>
                <a:spcPts val="25"/>
              </a:spcBef>
            </a:pPr>
            <a:endParaRPr sz="450">
              <a:latin typeface="Times New Roman"/>
              <a:cs typeface="Times New Roman"/>
            </a:endParaRPr>
          </a:p>
          <a:p>
            <a:pPr marL="75565">
              <a:lnSpc>
                <a:spcPct val="100000"/>
              </a:lnSpc>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grpSp>
        <p:nvGrpSpPr>
          <p:cNvPr id="25" name="object 25"/>
          <p:cNvGrpSpPr/>
          <p:nvPr/>
        </p:nvGrpSpPr>
        <p:grpSpPr>
          <a:xfrm>
            <a:off x="1215473" y="1199870"/>
            <a:ext cx="1847850" cy="1900555"/>
            <a:chOff x="1215473" y="1199870"/>
            <a:chExt cx="1847850" cy="1900555"/>
          </a:xfrm>
        </p:grpSpPr>
        <p:sp>
          <p:nvSpPr>
            <p:cNvPr id="26" name="object 26"/>
            <p:cNvSpPr/>
            <p:nvPr/>
          </p:nvSpPr>
          <p:spPr>
            <a:xfrm>
              <a:off x="1968359" y="1202727"/>
              <a:ext cx="873125" cy="304165"/>
            </a:xfrm>
            <a:custGeom>
              <a:avLst/>
              <a:gdLst/>
              <a:ahLst/>
              <a:cxnLst/>
              <a:rect l="l" t="t" r="r" b="b"/>
              <a:pathLst>
                <a:path w="873125" h="304165">
                  <a:moveTo>
                    <a:pt x="872794" y="0"/>
                  </a:moveTo>
                  <a:lnTo>
                    <a:pt x="872794" y="67594"/>
                  </a:lnTo>
                  <a:lnTo>
                    <a:pt x="872794" y="113842"/>
                  </a:lnTo>
                  <a:lnTo>
                    <a:pt x="872794" y="160091"/>
                  </a:lnTo>
                  <a:lnTo>
                    <a:pt x="872794" y="227685"/>
                  </a:lnTo>
                  <a:lnTo>
                    <a:pt x="860936" y="271562"/>
                  </a:lnTo>
                  <a:lnTo>
                    <a:pt x="834847" y="294093"/>
                  </a:lnTo>
                  <a:lnTo>
                    <a:pt x="808758" y="302394"/>
                  </a:lnTo>
                  <a:lnTo>
                    <a:pt x="796899" y="303580"/>
                  </a:lnTo>
                </a:path>
                <a:path w="873125" h="304165">
                  <a:moveTo>
                    <a:pt x="796899" y="303580"/>
                  </a:moveTo>
                  <a:lnTo>
                    <a:pt x="0" y="303580"/>
                  </a:lnTo>
                </a:path>
              </a:pathLst>
            </a:custGeom>
            <a:ln w="5270">
              <a:solidFill>
                <a:srgbClr val="231F20"/>
              </a:solidFill>
            </a:ln>
          </p:spPr>
          <p:txBody>
            <a:bodyPr wrap="square" lIns="0" tIns="0" rIns="0" bIns="0" rtlCol="0"/>
            <a:lstStyle/>
            <a:p>
              <a:endParaRPr/>
            </a:p>
          </p:txBody>
        </p:sp>
        <p:pic>
          <p:nvPicPr>
            <p:cNvPr id="27" name="object 27"/>
            <p:cNvPicPr/>
            <p:nvPr/>
          </p:nvPicPr>
          <p:blipFill>
            <a:blip r:embed="rId6" cstate="print"/>
            <a:stretch>
              <a:fillRect/>
            </a:stretch>
          </p:blipFill>
          <p:spPr>
            <a:xfrm>
              <a:off x="1813934" y="1238039"/>
              <a:ext cx="157061" cy="270904"/>
            </a:xfrm>
            <a:prstGeom prst="rect">
              <a:avLst/>
            </a:prstGeom>
          </p:spPr>
        </p:pic>
        <p:sp>
          <p:nvSpPr>
            <p:cNvPr id="28" name="object 28"/>
            <p:cNvSpPr/>
            <p:nvPr/>
          </p:nvSpPr>
          <p:spPr>
            <a:xfrm>
              <a:off x="1323246" y="1240675"/>
              <a:ext cx="493395" cy="0"/>
            </a:xfrm>
            <a:custGeom>
              <a:avLst/>
              <a:gdLst/>
              <a:ahLst/>
              <a:cxnLst/>
              <a:rect l="l" t="t" r="r" b="b"/>
              <a:pathLst>
                <a:path w="493394">
                  <a:moveTo>
                    <a:pt x="493322" y="0"/>
                  </a:moveTo>
                  <a:lnTo>
                    <a:pt x="0" y="0"/>
                  </a:lnTo>
                </a:path>
              </a:pathLst>
            </a:custGeom>
            <a:ln w="5270">
              <a:solidFill>
                <a:srgbClr val="231F20"/>
              </a:solidFill>
            </a:ln>
          </p:spPr>
          <p:txBody>
            <a:bodyPr wrap="square" lIns="0" tIns="0" rIns="0" bIns="0" rtlCol="0"/>
            <a:lstStyle/>
            <a:p>
              <a:endParaRPr/>
            </a:p>
          </p:txBody>
        </p:sp>
        <p:pic>
          <p:nvPicPr>
            <p:cNvPr id="29" name="object 29"/>
            <p:cNvPicPr/>
            <p:nvPr/>
          </p:nvPicPr>
          <p:blipFill>
            <a:blip r:embed="rId7" cstate="print"/>
            <a:stretch>
              <a:fillRect/>
            </a:stretch>
          </p:blipFill>
          <p:spPr>
            <a:xfrm>
              <a:off x="1215473" y="1238039"/>
              <a:ext cx="110408" cy="189780"/>
            </a:xfrm>
            <a:prstGeom prst="rect">
              <a:avLst/>
            </a:prstGeom>
          </p:spPr>
        </p:pic>
        <p:sp>
          <p:nvSpPr>
            <p:cNvPr id="30" name="object 30"/>
            <p:cNvSpPr/>
            <p:nvPr/>
          </p:nvSpPr>
          <p:spPr>
            <a:xfrm>
              <a:off x="1247351" y="1696046"/>
              <a:ext cx="569595" cy="189865"/>
            </a:xfrm>
            <a:custGeom>
              <a:avLst/>
              <a:gdLst/>
              <a:ahLst/>
              <a:cxnLst/>
              <a:rect l="l" t="t" r="r" b="b"/>
              <a:pathLst>
                <a:path w="569594" h="189864">
                  <a:moveTo>
                    <a:pt x="0" y="0"/>
                  </a:moveTo>
                  <a:lnTo>
                    <a:pt x="0" y="113842"/>
                  </a:lnTo>
                </a:path>
                <a:path w="569594" h="189864">
                  <a:moveTo>
                    <a:pt x="0" y="113842"/>
                  </a:moveTo>
                  <a:lnTo>
                    <a:pt x="1185" y="157719"/>
                  </a:lnTo>
                  <a:lnTo>
                    <a:pt x="9486" y="180251"/>
                  </a:lnTo>
                  <a:lnTo>
                    <a:pt x="32018" y="188552"/>
                  </a:lnTo>
                  <a:lnTo>
                    <a:pt x="75895" y="189737"/>
                  </a:lnTo>
                </a:path>
                <a:path w="569594" h="189864">
                  <a:moveTo>
                    <a:pt x="75895" y="189737"/>
                  </a:moveTo>
                  <a:lnTo>
                    <a:pt x="569218" y="189737"/>
                  </a:lnTo>
                </a:path>
              </a:pathLst>
            </a:custGeom>
            <a:ln w="5270">
              <a:solidFill>
                <a:srgbClr val="231F20"/>
              </a:solidFill>
            </a:ln>
          </p:spPr>
          <p:txBody>
            <a:bodyPr wrap="square" lIns="0" tIns="0" rIns="0" bIns="0" rtlCol="0"/>
            <a:lstStyle/>
            <a:p>
              <a:endParaRPr/>
            </a:p>
          </p:txBody>
        </p:sp>
        <p:pic>
          <p:nvPicPr>
            <p:cNvPr id="31" name="object 31"/>
            <p:cNvPicPr/>
            <p:nvPr/>
          </p:nvPicPr>
          <p:blipFill>
            <a:blip r:embed="rId8" cstate="print"/>
            <a:stretch>
              <a:fillRect/>
            </a:stretch>
          </p:blipFill>
          <p:spPr>
            <a:xfrm>
              <a:off x="1813934" y="1617515"/>
              <a:ext cx="157061" cy="270904"/>
            </a:xfrm>
            <a:prstGeom prst="rect">
              <a:avLst/>
            </a:prstGeom>
          </p:spPr>
        </p:pic>
        <p:sp>
          <p:nvSpPr>
            <p:cNvPr id="32" name="object 32"/>
            <p:cNvSpPr/>
            <p:nvPr/>
          </p:nvSpPr>
          <p:spPr>
            <a:xfrm>
              <a:off x="1968359" y="1620151"/>
              <a:ext cx="796925" cy="0"/>
            </a:xfrm>
            <a:custGeom>
              <a:avLst/>
              <a:gdLst/>
              <a:ahLst/>
              <a:cxnLst/>
              <a:rect l="l" t="t" r="r" b="b"/>
              <a:pathLst>
                <a:path w="796925">
                  <a:moveTo>
                    <a:pt x="0" y="0"/>
                  </a:moveTo>
                  <a:lnTo>
                    <a:pt x="796899" y="0"/>
                  </a:lnTo>
                </a:path>
              </a:pathLst>
            </a:custGeom>
            <a:ln w="5270">
              <a:solidFill>
                <a:srgbClr val="231F20"/>
              </a:solidFill>
            </a:ln>
          </p:spPr>
          <p:txBody>
            <a:bodyPr wrap="square" lIns="0" tIns="0" rIns="0" bIns="0" rtlCol="0"/>
            <a:lstStyle/>
            <a:p>
              <a:endParaRPr/>
            </a:p>
          </p:txBody>
        </p:sp>
        <p:pic>
          <p:nvPicPr>
            <p:cNvPr id="33" name="object 33"/>
            <p:cNvPicPr/>
            <p:nvPr/>
          </p:nvPicPr>
          <p:blipFill>
            <a:blip r:embed="rId9" cstate="print"/>
            <a:stretch>
              <a:fillRect/>
            </a:stretch>
          </p:blipFill>
          <p:spPr>
            <a:xfrm>
              <a:off x="2762624" y="1617515"/>
              <a:ext cx="110396" cy="189580"/>
            </a:xfrm>
            <a:prstGeom prst="rect">
              <a:avLst/>
            </a:prstGeom>
          </p:spPr>
        </p:pic>
        <p:sp>
          <p:nvSpPr>
            <p:cNvPr id="34" name="object 34"/>
            <p:cNvSpPr/>
            <p:nvPr/>
          </p:nvSpPr>
          <p:spPr>
            <a:xfrm>
              <a:off x="1968349" y="1961679"/>
              <a:ext cx="873125" cy="304165"/>
            </a:xfrm>
            <a:custGeom>
              <a:avLst/>
              <a:gdLst/>
              <a:ahLst/>
              <a:cxnLst/>
              <a:rect l="l" t="t" r="r" b="b"/>
              <a:pathLst>
                <a:path w="873125" h="304164">
                  <a:moveTo>
                    <a:pt x="872805" y="0"/>
                  </a:moveTo>
                  <a:lnTo>
                    <a:pt x="872805" y="67592"/>
                  </a:lnTo>
                  <a:lnTo>
                    <a:pt x="872805" y="113840"/>
                  </a:lnTo>
                  <a:lnTo>
                    <a:pt x="872805" y="160089"/>
                  </a:lnTo>
                  <a:lnTo>
                    <a:pt x="872805" y="227683"/>
                  </a:lnTo>
                  <a:lnTo>
                    <a:pt x="860940" y="271560"/>
                  </a:lnTo>
                  <a:lnTo>
                    <a:pt x="834848" y="294091"/>
                  </a:lnTo>
                  <a:lnTo>
                    <a:pt x="808758" y="302392"/>
                  </a:lnTo>
                  <a:lnTo>
                    <a:pt x="796899" y="303578"/>
                  </a:lnTo>
                </a:path>
                <a:path w="873125" h="304164">
                  <a:moveTo>
                    <a:pt x="796899" y="303578"/>
                  </a:moveTo>
                  <a:lnTo>
                    <a:pt x="0" y="303578"/>
                  </a:lnTo>
                </a:path>
              </a:pathLst>
            </a:custGeom>
            <a:ln w="5270">
              <a:solidFill>
                <a:srgbClr val="231F20"/>
              </a:solidFill>
            </a:ln>
          </p:spPr>
          <p:txBody>
            <a:bodyPr wrap="square" lIns="0" tIns="0" rIns="0" bIns="0" rtlCol="0"/>
            <a:lstStyle/>
            <a:p>
              <a:endParaRPr/>
            </a:p>
          </p:txBody>
        </p:sp>
        <p:pic>
          <p:nvPicPr>
            <p:cNvPr id="35" name="object 35"/>
            <p:cNvPicPr/>
            <p:nvPr/>
          </p:nvPicPr>
          <p:blipFill>
            <a:blip r:embed="rId10" cstate="print"/>
            <a:stretch>
              <a:fillRect/>
            </a:stretch>
          </p:blipFill>
          <p:spPr>
            <a:xfrm>
              <a:off x="1813923" y="1996991"/>
              <a:ext cx="157061" cy="270901"/>
            </a:xfrm>
            <a:prstGeom prst="rect">
              <a:avLst/>
            </a:prstGeom>
          </p:spPr>
        </p:pic>
        <p:sp>
          <p:nvSpPr>
            <p:cNvPr id="36" name="object 36"/>
            <p:cNvSpPr/>
            <p:nvPr/>
          </p:nvSpPr>
          <p:spPr>
            <a:xfrm>
              <a:off x="1323242" y="1999627"/>
              <a:ext cx="493395" cy="0"/>
            </a:xfrm>
            <a:custGeom>
              <a:avLst/>
              <a:gdLst/>
              <a:ahLst/>
              <a:cxnLst/>
              <a:rect l="l" t="t" r="r" b="b"/>
              <a:pathLst>
                <a:path w="493394">
                  <a:moveTo>
                    <a:pt x="493316" y="0"/>
                  </a:moveTo>
                  <a:lnTo>
                    <a:pt x="0" y="0"/>
                  </a:lnTo>
                </a:path>
              </a:pathLst>
            </a:custGeom>
            <a:ln w="5270">
              <a:solidFill>
                <a:srgbClr val="231F20"/>
              </a:solidFill>
            </a:ln>
          </p:spPr>
          <p:txBody>
            <a:bodyPr wrap="square" lIns="0" tIns="0" rIns="0" bIns="0" rtlCol="0"/>
            <a:lstStyle/>
            <a:p>
              <a:endParaRPr/>
            </a:p>
          </p:txBody>
        </p:sp>
        <p:pic>
          <p:nvPicPr>
            <p:cNvPr id="37" name="object 37"/>
            <p:cNvPicPr/>
            <p:nvPr/>
          </p:nvPicPr>
          <p:blipFill>
            <a:blip r:embed="rId11" cstate="print"/>
            <a:stretch>
              <a:fillRect/>
            </a:stretch>
          </p:blipFill>
          <p:spPr>
            <a:xfrm>
              <a:off x="1215473" y="1996991"/>
              <a:ext cx="110404" cy="189679"/>
            </a:xfrm>
            <a:prstGeom prst="rect">
              <a:avLst/>
            </a:prstGeom>
          </p:spPr>
        </p:pic>
        <p:sp>
          <p:nvSpPr>
            <p:cNvPr id="38" name="object 38"/>
            <p:cNvSpPr/>
            <p:nvPr/>
          </p:nvSpPr>
          <p:spPr>
            <a:xfrm>
              <a:off x="3030892" y="1202727"/>
              <a:ext cx="0" cy="565785"/>
            </a:xfrm>
            <a:custGeom>
              <a:avLst/>
              <a:gdLst/>
              <a:ahLst/>
              <a:cxnLst/>
              <a:rect l="l" t="t" r="r" b="b"/>
              <a:pathLst>
                <a:path h="565785">
                  <a:moveTo>
                    <a:pt x="0" y="0"/>
                  </a:moveTo>
                  <a:lnTo>
                    <a:pt x="0" y="565429"/>
                  </a:lnTo>
                </a:path>
              </a:pathLst>
            </a:custGeom>
            <a:ln w="5270">
              <a:solidFill>
                <a:srgbClr val="231F20"/>
              </a:solidFill>
              <a:prstDash val="lgDash"/>
            </a:ln>
          </p:spPr>
          <p:txBody>
            <a:bodyPr wrap="square" lIns="0" tIns="0" rIns="0" bIns="0" rtlCol="0"/>
            <a:lstStyle/>
            <a:p>
              <a:endParaRPr/>
            </a:p>
          </p:txBody>
        </p:sp>
        <p:pic>
          <p:nvPicPr>
            <p:cNvPr id="39" name="object 39"/>
            <p:cNvPicPr/>
            <p:nvPr/>
          </p:nvPicPr>
          <p:blipFill>
            <a:blip r:embed="rId12" cstate="print"/>
            <a:stretch>
              <a:fillRect/>
            </a:stretch>
          </p:blipFill>
          <p:spPr>
            <a:xfrm>
              <a:off x="2999006" y="1731158"/>
              <a:ext cx="63751" cy="74377"/>
            </a:xfrm>
            <a:prstGeom prst="rect">
              <a:avLst/>
            </a:prstGeom>
          </p:spPr>
        </p:pic>
        <p:sp>
          <p:nvSpPr>
            <p:cNvPr id="40" name="object 40"/>
            <p:cNvSpPr/>
            <p:nvPr/>
          </p:nvSpPr>
          <p:spPr>
            <a:xfrm>
              <a:off x="2841144" y="2720622"/>
              <a:ext cx="0" cy="342265"/>
            </a:xfrm>
            <a:custGeom>
              <a:avLst/>
              <a:gdLst/>
              <a:ahLst/>
              <a:cxnLst/>
              <a:rect l="l" t="t" r="r" b="b"/>
              <a:pathLst>
                <a:path h="342264">
                  <a:moveTo>
                    <a:pt x="0" y="0"/>
                  </a:moveTo>
                  <a:lnTo>
                    <a:pt x="0" y="342096"/>
                  </a:lnTo>
                </a:path>
              </a:pathLst>
            </a:custGeom>
            <a:ln w="5270">
              <a:solidFill>
                <a:srgbClr val="231F20"/>
              </a:solidFill>
            </a:ln>
          </p:spPr>
          <p:txBody>
            <a:bodyPr wrap="square" lIns="0" tIns="0" rIns="0" bIns="0" rtlCol="0"/>
            <a:lstStyle/>
            <a:p>
              <a:endParaRPr/>
            </a:p>
          </p:txBody>
        </p:sp>
        <p:pic>
          <p:nvPicPr>
            <p:cNvPr id="41" name="object 41"/>
            <p:cNvPicPr/>
            <p:nvPr/>
          </p:nvPicPr>
          <p:blipFill>
            <a:blip r:embed="rId13" cstate="print"/>
            <a:stretch>
              <a:fillRect/>
            </a:stretch>
          </p:blipFill>
          <p:spPr>
            <a:xfrm>
              <a:off x="2809268" y="3025721"/>
              <a:ext cx="63751" cy="74375"/>
            </a:xfrm>
            <a:prstGeom prst="rect">
              <a:avLst/>
            </a:prstGeom>
          </p:spPr>
        </p:pic>
        <p:sp>
          <p:nvSpPr>
            <p:cNvPr id="42" name="object 42"/>
            <p:cNvSpPr/>
            <p:nvPr/>
          </p:nvSpPr>
          <p:spPr>
            <a:xfrm>
              <a:off x="1247347" y="2454996"/>
              <a:ext cx="569595" cy="189865"/>
            </a:xfrm>
            <a:custGeom>
              <a:avLst/>
              <a:gdLst/>
              <a:ahLst/>
              <a:cxnLst/>
              <a:rect l="l" t="t" r="r" b="b"/>
              <a:pathLst>
                <a:path w="569594" h="189864">
                  <a:moveTo>
                    <a:pt x="0" y="0"/>
                  </a:moveTo>
                  <a:lnTo>
                    <a:pt x="0" y="113847"/>
                  </a:lnTo>
                </a:path>
                <a:path w="569594" h="189864">
                  <a:moveTo>
                    <a:pt x="0" y="113847"/>
                  </a:moveTo>
                  <a:lnTo>
                    <a:pt x="1185" y="157719"/>
                  </a:lnTo>
                  <a:lnTo>
                    <a:pt x="9486" y="180249"/>
                  </a:lnTo>
                  <a:lnTo>
                    <a:pt x="32018" y="188552"/>
                  </a:lnTo>
                  <a:lnTo>
                    <a:pt x="75895" y="189742"/>
                  </a:lnTo>
                </a:path>
                <a:path w="569594" h="189864">
                  <a:moveTo>
                    <a:pt x="75895" y="189742"/>
                  </a:moveTo>
                  <a:lnTo>
                    <a:pt x="569211" y="189742"/>
                  </a:lnTo>
                </a:path>
              </a:pathLst>
            </a:custGeom>
            <a:ln w="5270">
              <a:solidFill>
                <a:srgbClr val="231F20"/>
              </a:solidFill>
            </a:ln>
          </p:spPr>
          <p:txBody>
            <a:bodyPr wrap="square" lIns="0" tIns="0" rIns="0" bIns="0" rtlCol="0"/>
            <a:lstStyle/>
            <a:p>
              <a:endParaRPr/>
            </a:p>
          </p:txBody>
        </p:sp>
        <p:pic>
          <p:nvPicPr>
            <p:cNvPr id="43" name="object 43"/>
            <p:cNvPicPr/>
            <p:nvPr/>
          </p:nvPicPr>
          <p:blipFill>
            <a:blip r:embed="rId14" cstate="print"/>
            <a:stretch>
              <a:fillRect/>
            </a:stretch>
          </p:blipFill>
          <p:spPr>
            <a:xfrm>
              <a:off x="1813923" y="2376469"/>
              <a:ext cx="157061" cy="270904"/>
            </a:xfrm>
            <a:prstGeom prst="rect">
              <a:avLst/>
            </a:prstGeom>
          </p:spPr>
        </p:pic>
        <p:sp>
          <p:nvSpPr>
            <p:cNvPr id="44" name="object 44"/>
            <p:cNvSpPr/>
            <p:nvPr/>
          </p:nvSpPr>
          <p:spPr>
            <a:xfrm>
              <a:off x="1968349" y="2379105"/>
              <a:ext cx="796925" cy="0"/>
            </a:xfrm>
            <a:custGeom>
              <a:avLst/>
              <a:gdLst/>
              <a:ahLst/>
              <a:cxnLst/>
              <a:rect l="l" t="t" r="r" b="b"/>
              <a:pathLst>
                <a:path w="796925">
                  <a:moveTo>
                    <a:pt x="0" y="0"/>
                  </a:moveTo>
                  <a:lnTo>
                    <a:pt x="796899" y="0"/>
                  </a:lnTo>
                </a:path>
              </a:pathLst>
            </a:custGeom>
            <a:ln w="5270">
              <a:solidFill>
                <a:srgbClr val="231F20"/>
              </a:solidFill>
            </a:ln>
          </p:spPr>
          <p:txBody>
            <a:bodyPr wrap="square" lIns="0" tIns="0" rIns="0" bIns="0" rtlCol="0"/>
            <a:lstStyle/>
            <a:p>
              <a:endParaRPr/>
            </a:p>
          </p:txBody>
        </p:sp>
        <p:pic>
          <p:nvPicPr>
            <p:cNvPr id="45" name="object 45"/>
            <p:cNvPicPr/>
            <p:nvPr/>
          </p:nvPicPr>
          <p:blipFill>
            <a:blip r:embed="rId15" cstate="print"/>
            <a:stretch>
              <a:fillRect/>
            </a:stretch>
          </p:blipFill>
          <p:spPr>
            <a:xfrm>
              <a:off x="2762613" y="2376469"/>
              <a:ext cx="110406" cy="189474"/>
            </a:xfrm>
            <a:prstGeom prst="rect">
              <a:avLst/>
            </a:prstGeom>
          </p:spPr>
        </p:pic>
        <p:sp>
          <p:nvSpPr>
            <p:cNvPr id="46" name="object 46"/>
            <p:cNvSpPr/>
            <p:nvPr/>
          </p:nvSpPr>
          <p:spPr>
            <a:xfrm>
              <a:off x="3030892" y="1961679"/>
              <a:ext cx="0" cy="567690"/>
            </a:xfrm>
            <a:custGeom>
              <a:avLst/>
              <a:gdLst/>
              <a:ahLst/>
              <a:cxnLst/>
              <a:rect l="l" t="t" r="r" b="b"/>
              <a:pathLst>
                <a:path h="567689">
                  <a:moveTo>
                    <a:pt x="0" y="0"/>
                  </a:moveTo>
                  <a:lnTo>
                    <a:pt x="0" y="567194"/>
                  </a:lnTo>
                </a:path>
              </a:pathLst>
            </a:custGeom>
            <a:ln w="5270">
              <a:solidFill>
                <a:srgbClr val="231F20"/>
              </a:solidFill>
              <a:prstDash val="lgDash"/>
            </a:ln>
          </p:spPr>
          <p:txBody>
            <a:bodyPr wrap="square" lIns="0" tIns="0" rIns="0" bIns="0" rtlCol="0"/>
            <a:lstStyle/>
            <a:p>
              <a:endParaRPr/>
            </a:p>
          </p:txBody>
        </p:sp>
        <p:pic>
          <p:nvPicPr>
            <p:cNvPr id="47" name="object 47"/>
            <p:cNvPicPr/>
            <p:nvPr/>
          </p:nvPicPr>
          <p:blipFill>
            <a:blip r:embed="rId12" cstate="print"/>
            <a:stretch>
              <a:fillRect/>
            </a:stretch>
          </p:blipFill>
          <p:spPr>
            <a:xfrm>
              <a:off x="2999006" y="2491878"/>
              <a:ext cx="63751" cy="74375"/>
            </a:xfrm>
            <a:prstGeom prst="rect">
              <a:avLst/>
            </a:prstGeom>
          </p:spPr>
        </p:pic>
      </p:grpSp>
      <p:sp>
        <p:nvSpPr>
          <p:cNvPr id="48" name="object 48"/>
          <p:cNvSpPr txBox="1"/>
          <p:nvPr/>
        </p:nvSpPr>
        <p:spPr>
          <a:xfrm>
            <a:off x="2942276" y="3003075"/>
            <a:ext cx="442595" cy="127000"/>
          </a:xfrm>
          <a:prstGeom prst="rect">
            <a:avLst/>
          </a:prstGeom>
        </p:spPr>
        <p:txBody>
          <a:bodyPr vert="horz" wrap="square" lIns="0" tIns="13970" rIns="0" bIns="0" rtlCol="0">
            <a:spAutoFit/>
          </a:bodyPr>
          <a:lstStyle/>
          <a:p>
            <a:pPr marL="12700">
              <a:lnSpc>
                <a:spcPct val="100000"/>
              </a:lnSpc>
              <a:spcBef>
                <a:spcPts val="110"/>
              </a:spcBef>
            </a:pPr>
            <a:r>
              <a:rPr sz="650" spc="-70" dirty="0">
                <a:solidFill>
                  <a:srgbClr val="231F20"/>
                </a:solidFill>
                <a:latin typeface="Arial"/>
                <a:cs typeface="Arial"/>
              </a:rPr>
              <a:t>T</a:t>
            </a:r>
            <a:r>
              <a:rPr sz="650" spc="5" dirty="0">
                <a:solidFill>
                  <a:srgbClr val="231F20"/>
                </a:solidFill>
                <a:latin typeface="Arial"/>
                <a:cs typeface="Arial"/>
              </a:rPr>
              <a:t>o</a:t>
            </a:r>
            <a:r>
              <a:rPr sz="650" dirty="0">
                <a:solidFill>
                  <a:srgbClr val="231F20"/>
                </a:solidFill>
                <a:latin typeface="Arial"/>
                <a:cs typeface="Arial"/>
              </a:rPr>
              <a:t> </a:t>
            </a:r>
            <a:r>
              <a:rPr sz="650" spc="5" dirty="0">
                <a:solidFill>
                  <a:srgbClr val="231F20"/>
                </a:solidFill>
                <a:latin typeface="Arial"/>
                <a:cs typeface="Arial"/>
              </a:rPr>
              <a:t>object</a:t>
            </a:r>
            <a:r>
              <a:rPr sz="650" dirty="0">
                <a:solidFill>
                  <a:srgbClr val="231F20"/>
                </a:solidFill>
                <a:latin typeface="Arial"/>
                <a:cs typeface="Arial"/>
              </a:rPr>
              <a:t> </a:t>
            </a:r>
            <a:r>
              <a:rPr sz="650" spc="5" dirty="0">
                <a:solidFill>
                  <a:srgbClr val="231F20"/>
                </a:solidFill>
                <a:latin typeface="Arial"/>
                <a:cs typeface="Arial"/>
              </a:rPr>
              <a:t>B</a:t>
            </a:r>
            <a:endParaRPr sz="650">
              <a:latin typeface="Arial"/>
              <a:cs typeface="Arial"/>
            </a:endParaRPr>
          </a:p>
        </p:txBody>
      </p:sp>
      <p:sp>
        <p:nvSpPr>
          <p:cNvPr id="49" name="object 49"/>
          <p:cNvSpPr txBox="1"/>
          <p:nvPr/>
        </p:nvSpPr>
        <p:spPr>
          <a:xfrm>
            <a:off x="3169983" y="1523125"/>
            <a:ext cx="7473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Nonintercepted call</a:t>
            </a:r>
            <a:endParaRPr sz="650">
              <a:latin typeface="Arial"/>
              <a:cs typeface="Arial"/>
            </a:endParaRPr>
          </a:p>
        </p:txBody>
      </p:sp>
      <p:grpSp>
        <p:nvGrpSpPr>
          <p:cNvPr id="50" name="object 50"/>
          <p:cNvGrpSpPr/>
          <p:nvPr/>
        </p:nvGrpSpPr>
        <p:grpSpPr>
          <a:xfrm>
            <a:off x="3028035" y="1579346"/>
            <a:ext cx="120014" cy="5715"/>
            <a:chOff x="3028035" y="1579346"/>
            <a:chExt cx="120014" cy="5715"/>
          </a:xfrm>
        </p:grpSpPr>
        <p:sp>
          <p:nvSpPr>
            <p:cNvPr id="51" name="object 51"/>
            <p:cNvSpPr/>
            <p:nvPr/>
          </p:nvSpPr>
          <p:spPr>
            <a:xfrm>
              <a:off x="3030892" y="1582203"/>
              <a:ext cx="114300" cy="0"/>
            </a:xfrm>
            <a:custGeom>
              <a:avLst/>
              <a:gdLst/>
              <a:ahLst/>
              <a:cxnLst/>
              <a:rect l="l" t="t" r="r" b="b"/>
              <a:pathLst>
                <a:path w="114300">
                  <a:moveTo>
                    <a:pt x="113842" y="0"/>
                  </a:moveTo>
                  <a:lnTo>
                    <a:pt x="0" y="0"/>
                  </a:lnTo>
                  <a:lnTo>
                    <a:pt x="113842" y="0"/>
                  </a:lnTo>
                  <a:close/>
                </a:path>
              </a:pathLst>
            </a:custGeom>
            <a:solidFill>
              <a:srgbClr val="231F20"/>
            </a:solidFill>
          </p:spPr>
          <p:txBody>
            <a:bodyPr wrap="square" lIns="0" tIns="0" rIns="0" bIns="0" rtlCol="0"/>
            <a:lstStyle/>
            <a:p>
              <a:endParaRPr/>
            </a:p>
          </p:txBody>
        </p:sp>
        <p:sp>
          <p:nvSpPr>
            <p:cNvPr id="52" name="object 52"/>
            <p:cNvSpPr/>
            <p:nvPr/>
          </p:nvSpPr>
          <p:spPr>
            <a:xfrm>
              <a:off x="3030892" y="1582203"/>
              <a:ext cx="114300" cy="0"/>
            </a:xfrm>
            <a:custGeom>
              <a:avLst/>
              <a:gdLst/>
              <a:ahLst/>
              <a:cxnLst/>
              <a:rect l="l" t="t" r="r" b="b"/>
              <a:pathLst>
                <a:path w="114300">
                  <a:moveTo>
                    <a:pt x="113842" y="0"/>
                  </a:moveTo>
                  <a:lnTo>
                    <a:pt x="0" y="0"/>
                  </a:lnTo>
                  <a:lnTo>
                    <a:pt x="113842" y="0"/>
                  </a:lnTo>
                  <a:close/>
                </a:path>
              </a:pathLst>
            </a:custGeom>
            <a:ln w="5270">
              <a:solidFill>
                <a:srgbClr val="231F20"/>
              </a:solidFill>
            </a:ln>
          </p:spPr>
          <p:txBody>
            <a:bodyPr wrap="square" lIns="0" tIns="0" rIns="0" bIns="0" rtlCol="0"/>
            <a:lstStyle/>
            <a:p>
              <a:endParaRPr/>
            </a:p>
          </p:txBody>
        </p:sp>
      </p:grpSp>
      <p:sp>
        <p:nvSpPr>
          <p:cNvPr id="53" name="object 53"/>
          <p:cNvSpPr txBox="1"/>
          <p:nvPr/>
        </p:nvSpPr>
        <p:spPr>
          <a:xfrm>
            <a:off x="1310546" y="915963"/>
            <a:ext cx="5975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Intercepted call</a:t>
            </a:r>
            <a:endParaRPr sz="650">
              <a:latin typeface="Arial"/>
              <a:cs typeface="Arial"/>
            </a:endParaRPr>
          </a:p>
        </p:txBody>
      </p:sp>
      <p:grpSp>
        <p:nvGrpSpPr>
          <p:cNvPr id="54" name="object 54"/>
          <p:cNvGrpSpPr/>
          <p:nvPr/>
        </p:nvGrpSpPr>
        <p:grpSpPr>
          <a:xfrm>
            <a:off x="1586244" y="1048301"/>
            <a:ext cx="119380" cy="195580"/>
            <a:chOff x="1586244" y="1048301"/>
            <a:chExt cx="119380" cy="195580"/>
          </a:xfrm>
        </p:grpSpPr>
        <p:sp>
          <p:nvSpPr>
            <p:cNvPr id="55" name="object 55"/>
            <p:cNvSpPr/>
            <p:nvPr/>
          </p:nvSpPr>
          <p:spPr>
            <a:xfrm>
              <a:off x="1588879" y="1050937"/>
              <a:ext cx="114300" cy="189865"/>
            </a:xfrm>
            <a:custGeom>
              <a:avLst/>
              <a:gdLst/>
              <a:ahLst/>
              <a:cxnLst/>
              <a:rect l="l" t="t" r="r" b="b"/>
              <a:pathLst>
                <a:path w="114300" h="189865">
                  <a:moveTo>
                    <a:pt x="0" y="0"/>
                  </a:moveTo>
                  <a:lnTo>
                    <a:pt x="113842" y="189737"/>
                  </a:lnTo>
                  <a:lnTo>
                    <a:pt x="0" y="0"/>
                  </a:lnTo>
                  <a:close/>
                </a:path>
              </a:pathLst>
            </a:custGeom>
            <a:solidFill>
              <a:srgbClr val="231F20"/>
            </a:solidFill>
          </p:spPr>
          <p:txBody>
            <a:bodyPr wrap="square" lIns="0" tIns="0" rIns="0" bIns="0" rtlCol="0"/>
            <a:lstStyle/>
            <a:p>
              <a:endParaRPr/>
            </a:p>
          </p:txBody>
        </p:sp>
        <p:sp>
          <p:nvSpPr>
            <p:cNvPr id="56" name="object 56"/>
            <p:cNvSpPr/>
            <p:nvPr/>
          </p:nvSpPr>
          <p:spPr>
            <a:xfrm>
              <a:off x="1588879" y="1050937"/>
              <a:ext cx="114300" cy="189865"/>
            </a:xfrm>
            <a:custGeom>
              <a:avLst/>
              <a:gdLst/>
              <a:ahLst/>
              <a:cxnLst/>
              <a:rect l="l" t="t" r="r" b="b"/>
              <a:pathLst>
                <a:path w="114300" h="189865">
                  <a:moveTo>
                    <a:pt x="0" y="0"/>
                  </a:moveTo>
                  <a:lnTo>
                    <a:pt x="113842" y="189737"/>
                  </a:lnTo>
                  <a:lnTo>
                    <a:pt x="0" y="0"/>
                  </a:lnTo>
                  <a:close/>
                </a:path>
              </a:pathLst>
            </a:custGeom>
            <a:ln w="5270">
              <a:solidFill>
                <a:srgbClr val="231F20"/>
              </a:solidFill>
            </a:ln>
          </p:spPr>
          <p:txBody>
            <a:bodyPr wrap="square" lIns="0" tIns="0" rIns="0" bIns="0" rtlCol="0"/>
            <a:lstStyle/>
            <a:p>
              <a:endParaRPr/>
            </a:p>
          </p:txBody>
        </p:sp>
      </p:grpSp>
      <p:sp>
        <p:nvSpPr>
          <p:cNvPr id="57" name="object 57"/>
          <p:cNvSpPr txBox="1"/>
          <p:nvPr/>
        </p:nvSpPr>
        <p:spPr>
          <a:xfrm>
            <a:off x="2145395" y="1023998"/>
            <a:ext cx="1452245" cy="322580"/>
          </a:xfrm>
          <a:prstGeom prst="rect">
            <a:avLst/>
          </a:prstGeom>
        </p:spPr>
        <p:txBody>
          <a:bodyPr vert="horz" wrap="square" lIns="0" tIns="16510" rIns="0" bIns="0" rtlCol="0">
            <a:spAutoFit/>
          </a:bodyPr>
          <a:lstStyle/>
          <a:p>
            <a:pPr marL="473709">
              <a:lnSpc>
                <a:spcPct val="100000"/>
              </a:lnSpc>
              <a:spcBef>
                <a:spcPts val="130"/>
              </a:spcBef>
            </a:pPr>
            <a:r>
              <a:rPr sz="550" b="1" spc="15" dirty="0">
                <a:solidFill>
                  <a:srgbClr val="231F20"/>
                </a:solidFill>
                <a:latin typeface="Courier New"/>
                <a:cs typeface="Courier New"/>
              </a:rPr>
              <a:t>B.doit(val)</a:t>
            </a:r>
            <a:endParaRPr sz="550">
              <a:latin typeface="Courier New"/>
              <a:cs typeface="Courier New"/>
            </a:endParaRPr>
          </a:p>
          <a:p>
            <a:pPr>
              <a:lnSpc>
                <a:spcPct val="100000"/>
              </a:lnSpc>
              <a:spcBef>
                <a:spcPts val="10"/>
              </a:spcBef>
            </a:pPr>
            <a:endParaRPr sz="750">
              <a:latin typeface="Courier New"/>
              <a:cs typeface="Courier New"/>
            </a:endParaRPr>
          </a:p>
          <a:p>
            <a:pPr marL="12700">
              <a:lnSpc>
                <a:spcPct val="100000"/>
              </a:lnSpc>
              <a:spcBef>
                <a:spcPts val="5"/>
              </a:spcBef>
            </a:pPr>
            <a:r>
              <a:rPr sz="650" spc="5" dirty="0">
                <a:solidFill>
                  <a:srgbClr val="231F20"/>
                </a:solidFill>
                <a:latin typeface="Arial"/>
                <a:cs typeface="Arial"/>
              </a:rPr>
              <a:t>Application</a:t>
            </a:r>
            <a:r>
              <a:rPr sz="650" spc="-40"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sp>
        <p:nvSpPr>
          <p:cNvPr id="60" name="object 6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36</a:t>
            </a:r>
          </a:p>
        </p:txBody>
      </p:sp>
      <p:sp>
        <p:nvSpPr>
          <p:cNvPr id="58" name="object 58"/>
          <p:cNvSpPr txBox="1"/>
          <p:nvPr/>
        </p:nvSpPr>
        <p:spPr>
          <a:xfrm>
            <a:off x="2084827" y="1784795"/>
            <a:ext cx="1398905" cy="358775"/>
          </a:xfrm>
          <a:prstGeom prst="rect">
            <a:avLst/>
          </a:prstGeom>
        </p:spPr>
        <p:txBody>
          <a:bodyPr vert="horz" wrap="square" lIns="0" tIns="16510" rIns="0" bIns="0" rtlCol="0">
            <a:spAutoFit/>
          </a:bodyPr>
          <a:lstStyle/>
          <a:p>
            <a:pPr marL="311785">
              <a:lnSpc>
                <a:spcPct val="100000"/>
              </a:lnSpc>
              <a:spcBef>
                <a:spcPts val="130"/>
              </a:spcBef>
            </a:pPr>
            <a:r>
              <a:rPr sz="550" b="1" spc="15" dirty="0">
                <a:solidFill>
                  <a:srgbClr val="231F20"/>
                </a:solidFill>
                <a:latin typeface="Courier New"/>
                <a:cs typeface="Courier New"/>
              </a:rPr>
              <a:t>invoke(B,</a:t>
            </a:r>
            <a:r>
              <a:rPr sz="550" b="1" dirty="0">
                <a:solidFill>
                  <a:srgbClr val="231F20"/>
                </a:solidFill>
                <a:latin typeface="Courier New"/>
                <a:cs typeface="Courier New"/>
              </a:rPr>
              <a:t> </a:t>
            </a:r>
            <a:r>
              <a:rPr sz="550" b="1" spc="15" dirty="0">
                <a:solidFill>
                  <a:srgbClr val="231F20"/>
                </a:solidFill>
                <a:latin typeface="Courier New"/>
                <a:cs typeface="Courier New"/>
              </a:rPr>
              <a:t>&amp;doit,</a:t>
            </a:r>
            <a:r>
              <a:rPr sz="550" b="1" dirty="0">
                <a:solidFill>
                  <a:srgbClr val="231F20"/>
                </a:solidFill>
                <a:latin typeface="Courier New"/>
                <a:cs typeface="Courier New"/>
              </a:rPr>
              <a:t> </a:t>
            </a:r>
            <a:r>
              <a:rPr sz="550" b="1" spc="15" dirty="0">
                <a:solidFill>
                  <a:srgbClr val="231F20"/>
                </a:solidFill>
                <a:latin typeface="Courier New"/>
                <a:cs typeface="Courier New"/>
              </a:rPr>
              <a:t>val)</a:t>
            </a:r>
            <a:endParaRPr sz="550">
              <a:latin typeface="Courier New"/>
              <a:cs typeface="Courier New"/>
            </a:endParaRPr>
          </a:p>
          <a:p>
            <a:pPr>
              <a:lnSpc>
                <a:spcPct val="100000"/>
              </a:lnSpc>
            </a:pPr>
            <a:endParaRPr sz="600">
              <a:latin typeface="Courier New"/>
              <a:cs typeface="Courier New"/>
            </a:endParaRPr>
          </a:p>
          <a:p>
            <a:pPr marL="34925">
              <a:lnSpc>
                <a:spcPct val="100000"/>
              </a:lnSpc>
              <a:spcBef>
                <a:spcPts val="465"/>
              </a:spcBef>
            </a:pPr>
            <a:r>
              <a:rPr sz="650" spc="5" dirty="0">
                <a:solidFill>
                  <a:srgbClr val="231F20"/>
                </a:solidFill>
                <a:latin typeface="Arial"/>
                <a:cs typeface="Arial"/>
              </a:rPr>
              <a:t>Object</a:t>
            </a:r>
            <a:r>
              <a:rPr sz="650" spc="-35" dirty="0">
                <a:solidFill>
                  <a:srgbClr val="231F20"/>
                </a:solidFill>
                <a:latin typeface="Arial"/>
                <a:cs typeface="Arial"/>
              </a:rPr>
              <a:t> </a:t>
            </a:r>
            <a:r>
              <a:rPr sz="650" spc="5" dirty="0">
                <a:solidFill>
                  <a:srgbClr val="231F20"/>
                </a:solidFill>
                <a:latin typeface="Arial"/>
                <a:cs typeface="Arial"/>
              </a:rPr>
              <a:t>middleware</a:t>
            </a:r>
            <a:endParaRPr sz="650">
              <a:latin typeface="Arial"/>
              <a:cs typeface="Arial"/>
            </a:endParaRPr>
          </a:p>
        </p:txBody>
      </p:sp>
      <p:sp>
        <p:nvSpPr>
          <p:cNvPr id="59" name="object 59"/>
          <p:cNvSpPr txBox="1"/>
          <p:nvPr/>
        </p:nvSpPr>
        <p:spPr>
          <a:xfrm>
            <a:off x="2198680" y="2568831"/>
            <a:ext cx="1285240" cy="149225"/>
          </a:xfrm>
          <a:prstGeom prst="rect">
            <a:avLst/>
          </a:prstGeom>
          <a:solidFill>
            <a:srgbClr val="E6E7E8"/>
          </a:solidFill>
        </p:spPr>
        <p:txBody>
          <a:bodyPr vert="horz" wrap="square" lIns="0" tIns="0" rIns="0" bIns="0" rtlCol="0">
            <a:spAutoFit/>
          </a:bodyPr>
          <a:lstStyle/>
          <a:p>
            <a:pPr marL="232410">
              <a:lnSpc>
                <a:spcPts val="600"/>
              </a:lnSpc>
            </a:pPr>
            <a:r>
              <a:rPr sz="550" b="1" spc="15" dirty="0">
                <a:solidFill>
                  <a:srgbClr val="231F20"/>
                </a:solidFill>
                <a:latin typeface="Courier New"/>
                <a:cs typeface="Courier New"/>
              </a:rPr>
              <a:t>send(B,</a:t>
            </a:r>
            <a:r>
              <a:rPr sz="550" b="1" dirty="0">
                <a:solidFill>
                  <a:srgbClr val="231F20"/>
                </a:solidFill>
                <a:latin typeface="Courier New"/>
                <a:cs typeface="Courier New"/>
              </a:rPr>
              <a:t> </a:t>
            </a:r>
            <a:r>
              <a:rPr sz="550" b="1" spc="15" dirty="0">
                <a:solidFill>
                  <a:srgbClr val="231F20"/>
                </a:solidFill>
                <a:latin typeface="Courier New"/>
                <a:cs typeface="Courier New"/>
              </a:rPr>
              <a:t>“doit”,</a:t>
            </a:r>
            <a:r>
              <a:rPr sz="550" b="1" dirty="0">
                <a:solidFill>
                  <a:srgbClr val="231F20"/>
                </a:solidFill>
                <a:latin typeface="Courier New"/>
                <a:cs typeface="Courier New"/>
              </a:rPr>
              <a:t> </a:t>
            </a:r>
            <a:r>
              <a:rPr sz="550" b="1" spc="15" dirty="0">
                <a:solidFill>
                  <a:srgbClr val="231F20"/>
                </a:solidFill>
                <a:latin typeface="Courier New"/>
                <a:cs typeface="Courier New"/>
              </a:rPr>
              <a:t>val)</a:t>
            </a:r>
            <a:endParaRPr sz="550">
              <a:latin typeface="Courier New"/>
              <a:cs typeface="Courier New"/>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661312" y="716"/>
            <a:ext cx="8801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Centralized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organizations</a:t>
            </a:r>
            <a:endParaRPr sz="600">
              <a:latin typeface="Arial"/>
              <a:cs typeface="Arial"/>
            </a:endParaRPr>
          </a:p>
        </p:txBody>
      </p:sp>
      <p:sp>
        <p:nvSpPr>
          <p:cNvPr id="4" name="object 4"/>
          <p:cNvSpPr txBox="1"/>
          <p:nvPr/>
        </p:nvSpPr>
        <p:spPr>
          <a:xfrm>
            <a:off x="2503807" y="2302791"/>
            <a:ext cx="6019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Provide service</a:t>
            </a:r>
            <a:endParaRPr sz="650">
              <a:latin typeface="Arial"/>
              <a:cs typeface="Arial"/>
            </a:endParaRPr>
          </a:p>
        </p:txBody>
      </p:sp>
      <p:grpSp>
        <p:nvGrpSpPr>
          <p:cNvPr id="5" name="object 5"/>
          <p:cNvGrpSpPr/>
          <p:nvPr/>
        </p:nvGrpSpPr>
        <p:grpSpPr>
          <a:xfrm>
            <a:off x="1723026" y="2020346"/>
            <a:ext cx="744220" cy="691515"/>
            <a:chOff x="1723026" y="2020346"/>
            <a:chExt cx="744220" cy="691515"/>
          </a:xfrm>
        </p:grpSpPr>
        <p:sp>
          <p:nvSpPr>
            <p:cNvPr id="6" name="object 6"/>
            <p:cNvSpPr/>
            <p:nvPr/>
          </p:nvSpPr>
          <p:spPr>
            <a:xfrm>
              <a:off x="1725884" y="2023203"/>
              <a:ext cx="738505" cy="685800"/>
            </a:xfrm>
            <a:custGeom>
              <a:avLst/>
              <a:gdLst/>
              <a:ahLst/>
              <a:cxnLst/>
              <a:rect l="l" t="t" r="r" b="b"/>
              <a:pathLst>
                <a:path w="738505" h="685800">
                  <a:moveTo>
                    <a:pt x="0" y="0"/>
                  </a:moveTo>
                  <a:lnTo>
                    <a:pt x="0" y="685210"/>
                  </a:lnTo>
                </a:path>
                <a:path w="738505" h="685800">
                  <a:moveTo>
                    <a:pt x="737911" y="0"/>
                  </a:moveTo>
                  <a:lnTo>
                    <a:pt x="737911" y="685210"/>
                  </a:lnTo>
                </a:path>
              </a:pathLst>
            </a:custGeom>
            <a:ln w="5270">
              <a:solidFill>
                <a:srgbClr val="231F20"/>
              </a:solidFill>
              <a:prstDash val="lgDash"/>
            </a:ln>
          </p:spPr>
          <p:txBody>
            <a:bodyPr wrap="square" lIns="0" tIns="0" rIns="0" bIns="0" rtlCol="0"/>
            <a:lstStyle/>
            <a:p>
              <a:endParaRPr/>
            </a:p>
          </p:txBody>
        </p:sp>
        <p:sp>
          <p:nvSpPr>
            <p:cNvPr id="7" name="object 7"/>
            <p:cNvSpPr/>
            <p:nvPr/>
          </p:nvSpPr>
          <p:spPr>
            <a:xfrm>
              <a:off x="1725884" y="2181331"/>
              <a:ext cx="701040" cy="0"/>
            </a:xfrm>
            <a:custGeom>
              <a:avLst/>
              <a:gdLst/>
              <a:ahLst/>
              <a:cxnLst/>
              <a:rect l="l" t="t" r="r" b="b"/>
              <a:pathLst>
                <a:path w="701039">
                  <a:moveTo>
                    <a:pt x="0" y="0"/>
                  </a:moveTo>
                  <a:lnTo>
                    <a:pt x="700535" y="0"/>
                  </a:lnTo>
                </a:path>
              </a:pathLst>
            </a:custGeom>
            <a:ln w="5270">
              <a:solidFill>
                <a:srgbClr val="231F20"/>
              </a:solidFill>
            </a:ln>
          </p:spPr>
          <p:txBody>
            <a:bodyPr wrap="square" lIns="0" tIns="0" rIns="0" bIns="0" rtlCol="0"/>
            <a:lstStyle/>
            <a:p>
              <a:endParaRPr/>
            </a:p>
          </p:txBody>
        </p:sp>
        <p:pic>
          <p:nvPicPr>
            <p:cNvPr id="8" name="object 8"/>
            <p:cNvPicPr/>
            <p:nvPr/>
          </p:nvPicPr>
          <p:blipFill>
            <a:blip r:embed="rId5" cstate="print"/>
            <a:stretch>
              <a:fillRect/>
            </a:stretch>
          </p:blipFill>
          <p:spPr>
            <a:xfrm>
              <a:off x="2389423" y="2149453"/>
              <a:ext cx="74376" cy="63751"/>
            </a:xfrm>
            <a:prstGeom prst="rect">
              <a:avLst/>
            </a:prstGeom>
          </p:spPr>
        </p:pic>
      </p:grpSp>
      <p:sp>
        <p:nvSpPr>
          <p:cNvPr id="9" name="object 9"/>
          <p:cNvSpPr txBox="1"/>
          <p:nvPr/>
        </p:nvSpPr>
        <p:spPr>
          <a:xfrm>
            <a:off x="69900" y="188846"/>
            <a:ext cx="4220845" cy="1970405"/>
          </a:xfrm>
          <a:prstGeom prst="rect">
            <a:avLst/>
          </a:prstGeom>
        </p:spPr>
        <p:txBody>
          <a:bodyPr vert="horz" wrap="square" lIns="0" tIns="17145" rIns="0" bIns="0" rtlCol="0">
            <a:spAutoFit/>
          </a:bodyPr>
          <a:lstStyle/>
          <a:p>
            <a:pPr marL="38100">
              <a:lnSpc>
                <a:spcPct val="100000"/>
              </a:lnSpc>
              <a:spcBef>
                <a:spcPts val="135"/>
              </a:spcBef>
            </a:pPr>
            <a:r>
              <a:rPr sz="1400" spc="10" dirty="0">
                <a:solidFill>
                  <a:srgbClr val="3333B2"/>
                </a:solidFill>
                <a:latin typeface="Arial"/>
                <a:cs typeface="Arial"/>
              </a:rPr>
              <a:t>Centralized</a:t>
            </a:r>
            <a:r>
              <a:rPr sz="1400" spc="-15" dirty="0">
                <a:solidFill>
                  <a:srgbClr val="3333B2"/>
                </a:solidFill>
                <a:latin typeface="Arial"/>
                <a:cs typeface="Arial"/>
              </a:rPr>
              <a:t> </a:t>
            </a:r>
            <a:r>
              <a:rPr sz="1400" spc="15" dirty="0">
                <a:solidFill>
                  <a:srgbClr val="3333B2"/>
                </a:solidFill>
                <a:latin typeface="Arial"/>
                <a:cs typeface="Arial"/>
              </a:rPr>
              <a:t>system</a:t>
            </a:r>
            <a:r>
              <a:rPr sz="1400" spc="-10" dirty="0">
                <a:solidFill>
                  <a:srgbClr val="3333B2"/>
                </a:solidFill>
                <a:latin typeface="Arial"/>
                <a:cs typeface="Arial"/>
              </a:rPr>
              <a:t> </a:t>
            </a:r>
            <a:r>
              <a:rPr sz="1400" spc="15" dirty="0">
                <a:solidFill>
                  <a:srgbClr val="3333B2"/>
                </a:solidFill>
                <a:latin typeface="Arial"/>
                <a:cs typeface="Arial"/>
              </a:rPr>
              <a:t>architectures</a:t>
            </a:r>
            <a:endParaRPr sz="1400" dirty="0">
              <a:latin typeface="Arial"/>
              <a:cs typeface="Arial"/>
            </a:endParaRPr>
          </a:p>
          <a:p>
            <a:pPr>
              <a:lnSpc>
                <a:spcPct val="100000"/>
              </a:lnSpc>
              <a:spcBef>
                <a:spcPts val="55"/>
              </a:spcBef>
            </a:pPr>
            <a:endParaRPr sz="2150" dirty="0">
              <a:latin typeface="Arial"/>
              <a:cs typeface="Arial"/>
            </a:endParaRPr>
          </a:p>
          <a:p>
            <a:pPr marL="289560">
              <a:lnSpc>
                <a:spcPts val="1410"/>
              </a:lnSpc>
            </a:pPr>
            <a:r>
              <a:rPr sz="1200" spc="-5" dirty="0">
                <a:solidFill>
                  <a:srgbClr val="3333B2"/>
                </a:solidFill>
                <a:latin typeface="Arial"/>
                <a:cs typeface="Arial"/>
              </a:rPr>
              <a:t>Basic</a:t>
            </a:r>
            <a:r>
              <a:rPr sz="1200" spc="-20" dirty="0">
                <a:solidFill>
                  <a:srgbClr val="3333B2"/>
                </a:solidFill>
                <a:latin typeface="Arial"/>
                <a:cs typeface="Arial"/>
              </a:rPr>
              <a:t> </a:t>
            </a:r>
            <a:r>
              <a:rPr sz="1200" spc="-5" dirty="0">
                <a:solidFill>
                  <a:srgbClr val="3333B2"/>
                </a:solidFill>
                <a:latin typeface="Arial"/>
                <a:cs typeface="Arial"/>
              </a:rPr>
              <a:t>Client–Server</a:t>
            </a:r>
            <a:r>
              <a:rPr sz="1200" spc="-15" dirty="0">
                <a:solidFill>
                  <a:srgbClr val="3333B2"/>
                </a:solidFill>
                <a:latin typeface="Arial"/>
                <a:cs typeface="Arial"/>
              </a:rPr>
              <a:t> </a:t>
            </a:r>
            <a:r>
              <a:rPr sz="1200" spc="-5" dirty="0">
                <a:solidFill>
                  <a:srgbClr val="3333B2"/>
                </a:solidFill>
                <a:latin typeface="Arial"/>
                <a:cs typeface="Arial"/>
              </a:rPr>
              <a:t>Model</a:t>
            </a:r>
            <a:endParaRPr sz="1200" dirty="0">
              <a:latin typeface="Arial"/>
              <a:cs typeface="Arial"/>
            </a:endParaRPr>
          </a:p>
          <a:p>
            <a:pPr marL="289560">
              <a:lnSpc>
                <a:spcPts val="1170"/>
              </a:lnSpc>
            </a:pPr>
            <a:r>
              <a:rPr sz="1000" spc="-5" dirty="0">
                <a:latin typeface="Arial"/>
                <a:cs typeface="Arial"/>
              </a:rPr>
              <a:t>Characteristics:</a:t>
            </a:r>
            <a:endParaRPr sz="1000" dirty="0">
              <a:latin typeface="Arial"/>
              <a:cs typeface="Arial"/>
            </a:endParaRPr>
          </a:p>
          <a:p>
            <a:pPr marL="567055" indent="-168275">
              <a:lnSpc>
                <a:spcPts val="1200"/>
              </a:lnSpc>
              <a:spcBef>
                <a:spcPts val="595"/>
              </a:spcBef>
              <a:buClr>
                <a:srgbClr val="3333B2"/>
              </a:buClr>
              <a:buChar char="►"/>
              <a:tabLst>
                <a:tab pos="567690" algn="l"/>
              </a:tabLst>
            </a:pPr>
            <a:r>
              <a:rPr sz="1000" spc="-5" dirty="0">
                <a:latin typeface="Arial"/>
                <a:cs typeface="Arial"/>
              </a:rPr>
              <a:t>There</a:t>
            </a:r>
            <a:r>
              <a:rPr sz="1000" spc="-10" dirty="0">
                <a:latin typeface="Arial"/>
                <a:cs typeface="Arial"/>
              </a:rPr>
              <a:t> </a:t>
            </a:r>
            <a:r>
              <a:rPr sz="1000" spc="-5" dirty="0">
                <a:latin typeface="Arial"/>
                <a:cs typeface="Arial"/>
              </a:rPr>
              <a:t>are processes offering </a:t>
            </a:r>
            <a:r>
              <a:rPr sz="1000" dirty="0">
                <a:latin typeface="Arial"/>
                <a:cs typeface="Arial"/>
              </a:rPr>
              <a:t>services</a:t>
            </a:r>
            <a:r>
              <a:rPr sz="1000" spc="-5" dirty="0">
                <a:latin typeface="Arial"/>
                <a:cs typeface="Arial"/>
              </a:rPr>
              <a:t> (</a:t>
            </a:r>
            <a:r>
              <a:rPr sz="1000" spc="-5" dirty="0">
                <a:solidFill>
                  <a:srgbClr val="FA0000"/>
                </a:solidFill>
                <a:latin typeface="Arial"/>
                <a:cs typeface="Arial"/>
              </a:rPr>
              <a:t>servers</a:t>
            </a:r>
            <a:r>
              <a:rPr sz="1000" spc="-5" dirty="0">
                <a:latin typeface="Arial"/>
                <a:cs typeface="Arial"/>
              </a:rPr>
              <a:t>)</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There are processes</a:t>
            </a:r>
            <a:r>
              <a:rPr sz="1000" dirty="0">
                <a:latin typeface="Arial"/>
                <a:cs typeface="Arial"/>
              </a:rPr>
              <a:t> </a:t>
            </a:r>
            <a:r>
              <a:rPr sz="1000" spc="-5" dirty="0">
                <a:latin typeface="Arial"/>
                <a:cs typeface="Arial"/>
              </a:rPr>
              <a:t>that use</a:t>
            </a:r>
            <a:r>
              <a:rPr sz="1000" dirty="0">
                <a:latin typeface="Arial"/>
                <a:cs typeface="Arial"/>
              </a:rPr>
              <a:t> services</a:t>
            </a:r>
            <a:r>
              <a:rPr sz="1000" spc="-5" dirty="0">
                <a:latin typeface="Arial"/>
                <a:cs typeface="Arial"/>
              </a:rPr>
              <a:t> (</a:t>
            </a:r>
            <a:r>
              <a:rPr sz="1000" spc="-5" dirty="0">
                <a:solidFill>
                  <a:srgbClr val="FA0000"/>
                </a:solidFill>
                <a:latin typeface="Arial"/>
                <a:cs typeface="Arial"/>
              </a:rPr>
              <a:t>clients</a:t>
            </a:r>
            <a:r>
              <a:rPr sz="1000" spc="-5" dirty="0">
                <a:latin typeface="Arial"/>
                <a:cs typeface="Arial"/>
              </a:rPr>
              <a:t>)</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Clients</a:t>
            </a:r>
            <a:r>
              <a:rPr sz="1000" spc="-10" dirty="0">
                <a:latin typeface="Arial"/>
                <a:cs typeface="Arial"/>
              </a:rPr>
              <a:t> </a:t>
            </a:r>
            <a:r>
              <a:rPr sz="1000" spc="-5" dirty="0">
                <a:latin typeface="Arial"/>
                <a:cs typeface="Arial"/>
              </a:rPr>
              <a:t>and servers can be on different machines</a:t>
            </a:r>
            <a:endParaRPr sz="1000" dirty="0">
              <a:latin typeface="Arial"/>
              <a:cs typeface="Arial"/>
            </a:endParaRPr>
          </a:p>
          <a:p>
            <a:pPr marL="567055" indent="-168275">
              <a:lnSpc>
                <a:spcPts val="1200"/>
              </a:lnSpc>
              <a:buClr>
                <a:srgbClr val="3333B2"/>
              </a:buClr>
              <a:buChar char="►"/>
              <a:tabLst>
                <a:tab pos="567690" algn="l"/>
              </a:tabLst>
            </a:pPr>
            <a:r>
              <a:rPr sz="1000" spc="-5" dirty="0">
                <a:latin typeface="Arial"/>
                <a:cs typeface="Arial"/>
              </a:rPr>
              <a:t>Clients</a:t>
            </a:r>
            <a:r>
              <a:rPr sz="1000" dirty="0">
                <a:latin typeface="Arial"/>
                <a:cs typeface="Arial"/>
              </a:rPr>
              <a:t> </a:t>
            </a:r>
            <a:r>
              <a:rPr sz="1000" spc="-10" dirty="0">
                <a:latin typeface="Arial"/>
                <a:cs typeface="Arial"/>
              </a:rPr>
              <a:t>follow</a:t>
            </a:r>
            <a:r>
              <a:rPr sz="1000" dirty="0">
                <a:latin typeface="Arial"/>
                <a:cs typeface="Arial"/>
              </a:rPr>
              <a:t> </a:t>
            </a:r>
            <a:r>
              <a:rPr sz="1000" spc="-5" dirty="0">
                <a:latin typeface="Arial"/>
                <a:cs typeface="Arial"/>
              </a:rPr>
              <a:t>request/reply</a:t>
            </a:r>
            <a:r>
              <a:rPr sz="1000" dirty="0">
                <a:latin typeface="Arial"/>
                <a:cs typeface="Arial"/>
              </a:rPr>
              <a:t> </a:t>
            </a:r>
            <a:r>
              <a:rPr sz="1000" spc="-5" dirty="0">
                <a:latin typeface="Arial"/>
                <a:cs typeface="Arial"/>
              </a:rPr>
              <a:t>model</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respect</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using</a:t>
            </a:r>
            <a:r>
              <a:rPr sz="1000" dirty="0">
                <a:latin typeface="Arial"/>
                <a:cs typeface="Arial"/>
              </a:rPr>
              <a:t> services</a:t>
            </a:r>
          </a:p>
          <a:p>
            <a:pPr marR="144145" algn="ctr">
              <a:lnSpc>
                <a:spcPct val="100000"/>
              </a:lnSpc>
              <a:spcBef>
                <a:spcPts val="930"/>
              </a:spcBef>
              <a:tabLst>
                <a:tab pos="723900" algn="l"/>
              </a:tabLst>
            </a:pPr>
            <a:r>
              <a:rPr sz="650" spc="5" dirty="0">
                <a:solidFill>
                  <a:srgbClr val="231F20"/>
                </a:solidFill>
                <a:latin typeface="Arial"/>
                <a:cs typeface="Arial"/>
              </a:rPr>
              <a:t>Client	Server</a:t>
            </a:r>
            <a:endParaRPr sz="650" dirty="0">
              <a:latin typeface="Arial"/>
              <a:cs typeface="Arial"/>
            </a:endParaRPr>
          </a:p>
          <a:p>
            <a:pPr>
              <a:lnSpc>
                <a:spcPct val="100000"/>
              </a:lnSpc>
              <a:spcBef>
                <a:spcPts val="35"/>
              </a:spcBef>
            </a:pPr>
            <a:endParaRPr sz="500" dirty="0">
              <a:latin typeface="Arial"/>
              <a:cs typeface="Arial"/>
            </a:endParaRPr>
          </a:p>
          <a:p>
            <a:pPr marR="135890" algn="ctr">
              <a:lnSpc>
                <a:spcPct val="100000"/>
              </a:lnSpc>
            </a:pPr>
            <a:r>
              <a:rPr sz="650" spc="5" dirty="0">
                <a:solidFill>
                  <a:srgbClr val="231F20"/>
                </a:solidFill>
                <a:latin typeface="Arial"/>
                <a:cs typeface="Arial"/>
              </a:rPr>
              <a:t>Request</a:t>
            </a:r>
            <a:endParaRPr sz="650" dirty="0">
              <a:latin typeface="Arial"/>
              <a:cs typeface="Arial"/>
            </a:endParaRPr>
          </a:p>
        </p:txBody>
      </p:sp>
      <p:grpSp>
        <p:nvGrpSpPr>
          <p:cNvPr id="10" name="object 10"/>
          <p:cNvGrpSpPr/>
          <p:nvPr/>
        </p:nvGrpSpPr>
        <p:grpSpPr>
          <a:xfrm>
            <a:off x="1725884" y="2518412"/>
            <a:ext cx="741045" cy="64135"/>
            <a:chOff x="1725884" y="2518412"/>
            <a:chExt cx="741045" cy="64135"/>
          </a:xfrm>
        </p:grpSpPr>
        <p:sp>
          <p:nvSpPr>
            <p:cNvPr id="11" name="object 11"/>
            <p:cNvSpPr/>
            <p:nvPr/>
          </p:nvSpPr>
          <p:spPr>
            <a:xfrm>
              <a:off x="1763263" y="2550287"/>
              <a:ext cx="701040" cy="0"/>
            </a:xfrm>
            <a:custGeom>
              <a:avLst/>
              <a:gdLst/>
              <a:ahLst/>
              <a:cxnLst/>
              <a:rect l="l" t="t" r="r" b="b"/>
              <a:pathLst>
                <a:path w="701039">
                  <a:moveTo>
                    <a:pt x="700535" y="0"/>
                  </a:moveTo>
                  <a:lnTo>
                    <a:pt x="0" y="0"/>
                  </a:lnTo>
                </a:path>
              </a:pathLst>
            </a:custGeom>
            <a:ln w="5270">
              <a:solidFill>
                <a:srgbClr val="231F20"/>
              </a:solidFill>
            </a:ln>
          </p:spPr>
          <p:txBody>
            <a:bodyPr wrap="square" lIns="0" tIns="0" rIns="0" bIns="0" rtlCol="0"/>
            <a:lstStyle/>
            <a:p>
              <a:endParaRPr/>
            </a:p>
          </p:txBody>
        </p:sp>
        <p:sp>
          <p:nvSpPr>
            <p:cNvPr id="12" name="object 12"/>
            <p:cNvSpPr/>
            <p:nvPr/>
          </p:nvSpPr>
          <p:spPr>
            <a:xfrm>
              <a:off x="1725884" y="2518412"/>
              <a:ext cx="74930" cy="64135"/>
            </a:xfrm>
            <a:custGeom>
              <a:avLst/>
              <a:gdLst/>
              <a:ahLst/>
              <a:cxnLst/>
              <a:rect l="l" t="t" r="r" b="b"/>
              <a:pathLst>
                <a:path w="74930" h="64135">
                  <a:moveTo>
                    <a:pt x="74375" y="0"/>
                  </a:moveTo>
                  <a:lnTo>
                    <a:pt x="0" y="31874"/>
                  </a:lnTo>
                  <a:lnTo>
                    <a:pt x="74375" y="63753"/>
                  </a:lnTo>
                  <a:lnTo>
                    <a:pt x="68399" y="47815"/>
                  </a:lnTo>
                  <a:lnTo>
                    <a:pt x="66407" y="31876"/>
                  </a:lnTo>
                  <a:lnTo>
                    <a:pt x="68399" y="15938"/>
                  </a:lnTo>
                  <a:lnTo>
                    <a:pt x="74375" y="0"/>
                  </a:lnTo>
                  <a:close/>
                </a:path>
              </a:pathLst>
            </a:custGeom>
            <a:solidFill>
              <a:srgbClr val="231F20"/>
            </a:solidFill>
          </p:spPr>
          <p:txBody>
            <a:bodyPr wrap="square" lIns="0" tIns="0" rIns="0" bIns="0" rtlCol="0"/>
            <a:lstStyle/>
            <a:p>
              <a:endParaRPr/>
            </a:p>
          </p:txBody>
        </p:sp>
      </p:grpSp>
      <p:sp>
        <p:nvSpPr>
          <p:cNvPr id="13" name="object 13"/>
          <p:cNvSpPr txBox="1"/>
          <p:nvPr/>
        </p:nvSpPr>
        <p:spPr>
          <a:xfrm>
            <a:off x="1972706" y="2408209"/>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Reply</a:t>
            </a:r>
            <a:endParaRPr sz="650">
              <a:latin typeface="Arial"/>
              <a:cs typeface="Arial"/>
            </a:endParaRPr>
          </a:p>
        </p:txBody>
      </p:sp>
      <p:sp>
        <p:nvSpPr>
          <p:cNvPr id="14" name="object 14"/>
          <p:cNvSpPr/>
          <p:nvPr/>
        </p:nvSpPr>
        <p:spPr>
          <a:xfrm>
            <a:off x="1725879" y="2023203"/>
            <a:ext cx="738505" cy="685800"/>
          </a:xfrm>
          <a:custGeom>
            <a:avLst/>
            <a:gdLst/>
            <a:ahLst/>
            <a:cxnLst/>
            <a:rect l="l" t="t" r="r" b="b"/>
            <a:pathLst>
              <a:path w="738505" h="685800">
                <a:moveTo>
                  <a:pt x="4" y="0"/>
                </a:moveTo>
                <a:lnTo>
                  <a:pt x="4" y="158127"/>
                </a:lnTo>
              </a:path>
              <a:path w="738505" h="685800">
                <a:moveTo>
                  <a:pt x="0" y="527083"/>
                </a:moveTo>
                <a:lnTo>
                  <a:pt x="0" y="685210"/>
                </a:lnTo>
              </a:path>
              <a:path w="738505" h="685800">
                <a:moveTo>
                  <a:pt x="737919" y="158127"/>
                </a:moveTo>
                <a:lnTo>
                  <a:pt x="737919" y="527083"/>
                </a:lnTo>
              </a:path>
            </a:pathLst>
          </a:custGeom>
          <a:ln w="15812">
            <a:solidFill>
              <a:srgbClr val="231F20"/>
            </a:solidFill>
          </a:ln>
        </p:spPr>
        <p:txBody>
          <a:bodyPr wrap="square" lIns="0" tIns="0" rIns="0" bIns="0" rtlCol="0"/>
          <a:lstStyle/>
          <a:p>
            <a:endParaRPr/>
          </a:p>
        </p:txBody>
      </p:sp>
      <p:sp>
        <p:nvSpPr>
          <p:cNvPr id="15" name="object 15"/>
          <p:cNvSpPr txBox="1"/>
          <p:nvPr/>
        </p:nvSpPr>
        <p:spPr>
          <a:xfrm>
            <a:off x="1495573" y="2294153"/>
            <a:ext cx="191135" cy="127000"/>
          </a:xfrm>
          <a:prstGeom prst="rect">
            <a:avLst/>
          </a:prstGeom>
        </p:spPr>
        <p:txBody>
          <a:bodyPr vert="horz" wrap="square" lIns="0" tIns="13970" rIns="0" bIns="0" rtlCol="0">
            <a:spAutoFit/>
          </a:bodyPr>
          <a:lstStyle/>
          <a:p>
            <a:pPr marL="12700">
              <a:lnSpc>
                <a:spcPct val="100000"/>
              </a:lnSpc>
              <a:spcBef>
                <a:spcPts val="110"/>
              </a:spcBef>
            </a:pPr>
            <a:r>
              <a:rPr sz="650" spc="-15" dirty="0">
                <a:solidFill>
                  <a:srgbClr val="231F20"/>
                </a:solidFill>
                <a:latin typeface="Arial"/>
                <a:cs typeface="Arial"/>
              </a:rPr>
              <a:t>W</a:t>
            </a:r>
            <a:r>
              <a:rPr sz="650" dirty="0">
                <a:solidFill>
                  <a:srgbClr val="231F20"/>
                </a:solidFill>
                <a:latin typeface="Arial"/>
                <a:cs typeface="Arial"/>
              </a:rPr>
              <a:t>ait</a:t>
            </a:r>
            <a:endParaRPr sz="650">
              <a:latin typeface="Arial"/>
              <a:cs typeface="Arial"/>
            </a:endParaRPr>
          </a:p>
        </p:txBody>
      </p:sp>
      <p:sp>
        <p:nvSpPr>
          <p:cNvPr id="16" name="object 16"/>
          <p:cNvSpPr txBox="1"/>
          <p:nvPr/>
        </p:nvSpPr>
        <p:spPr>
          <a:xfrm>
            <a:off x="66713" y="3327684"/>
            <a:ext cx="11099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Simple</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17" name="object 1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661312" y="716"/>
            <a:ext cx="8801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Centralized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organizations</a:t>
            </a:r>
            <a:endParaRPr sz="600">
              <a:latin typeface="Arial"/>
              <a:cs typeface="Arial"/>
            </a:endParaRPr>
          </a:p>
        </p:txBody>
      </p:sp>
      <p:sp>
        <p:nvSpPr>
          <p:cNvPr id="4" name="object 4"/>
          <p:cNvSpPr txBox="1"/>
          <p:nvPr/>
        </p:nvSpPr>
        <p:spPr>
          <a:xfrm>
            <a:off x="69900" y="162640"/>
            <a:ext cx="3625850" cy="1574165"/>
          </a:xfrm>
          <a:prstGeom prst="rect">
            <a:avLst/>
          </a:prstGeom>
        </p:spPr>
        <p:txBody>
          <a:bodyPr vert="horz" wrap="square" lIns="0" tIns="43180" rIns="0" bIns="0" rtlCol="0">
            <a:spAutoFit/>
          </a:bodyPr>
          <a:lstStyle/>
          <a:p>
            <a:pPr marL="38100">
              <a:lnSpc>
                <a:spcPct val="100000"/>
              </a:lnSpc>
              <a:spcBef>
                <a:spcPts val="340"/>
              </a:spcBef>
            </a:pPr>
            <a:r>
              <a:rPr sz="1400" spc="10" dirty="0">
                <a:solidFill>
                  <a:srgbClr val="3333B2"/>
                </a:solidFill>
                <a:latin typeface="Arial"/>
                <a:cs typeface="Arial"/>
              </a:rPr>
              <a:t>Multi-tiered</a:t>
            </a:r>
            <a:r>
              <a:rPr sz="1400" dirty="0">
                <a:solidFill>
                  <a:srgbClr val="3333B2"/>
                </a:solidFill>
                <a:latin typeface="Arial"/>
                <a:cs typeface="Arial"/>
              </a:rPr>
              <a:t> </a:t>
            </a:r>
            <a:r>
              <a:rPr sz="1400" spc="10" dirty="0">
                <a:solidFill>
                  <a:srgbClr val="3333B2"/>
                </a:solidFill>
                <a:latin typeface="Arial"/>
                <a:cs typeface="Arial"/>
              </a:rPr>
              <a:t>centralized</a:t>
            </a:r>
            <a:r>
              <a:rPr sz="1400" dirty="0">
                <a:solidFill>
                  <a:srgbClr val="3333B2"/>
                </a:solidFill>
                <a:latin typeface="Arial"/>
                <a:cs typeface="Arial"/>
              </a:rPr>
              <a:t> </a:t>
            </a:r>
            <a:r>
              <a:rPr sz="1400" spc="15" dirty="0">
                <a:solidFill>
                  <a:srgbClr val="3333B2"/>
                </a:solidFill>
                <a:latin typeface="Arial"/>
                <a:cs typeface="Arial"/>
              </a:rPr>
              <a:t>system</a:t>
            </a:r>
            <a:r>
              <a:rPr sz="1400" spc="5" dirty="0">
                <a:solidFill>
                  <a:srgbClr val="3333B2"/>
                </a:solidFill>
                <a:latin typeface="Arial"/>
                <a:cs typeface="Arial"/>
              </a:rPr>
              <a:t> </a:t>
            </a:r>
            <a:r>
              <a:rPr sz="1400" spc="15" dirty="0">
                <a:solidFill>
                  <a:srgbClr val="3333B2"/>
                </a:solidFill>
                <a:latin typeface="Arial"/>
                <a:cs typeface="Arial"/>
              </a:rPr>
              <a:t>architectures</a:t>
            </a:r>
            <a:endParaRPr sz="1400">
              <a:latin typeface="Arial"/>
              <a:cs typeface="Arial"/>
            </a:endParaRPr>
          </a:p>
          <a:p>
            <a:pPr marL="289560">
              <a:lnSpc>
                <a:spcPct val="100000"/>
              </a:lnSpc>
              <a:spcBef>
                <a:spcPts val="175"/>
              </a:spcBef>
            </a:pPr>
            <a:r>
              <a:rPr sz="1200" spc="-5" dirty="0">
                <a:solidFill>
                  <a:srgbClr val="3333B2"/>
                </a:solidFill>
                <a:latin typeface="Arial"/>
                <a:cs typeface="Arial"/>
              </a:rPr>
              <a:t>Some</a:t>
            </a:r>
            <a:r>
              <a:rPr sz="1200" spc="-20" dirty="0">
                <a:solidFill>
                  <a:srgbClr val="3333B2"/>
                </a:solidFill>
                <a:latin typeface="Arial"/>
                <a:cs typeface="Arial"/>
              </a:rPr>
              <a:t> </a:t>
            </a:r>
            <a:r>
              <a:rPr sz="1200" spc="-5" dirty="0">
                <a:solidFill>
                  <a:srgbClr val="3333B2"/>
                </a:solidFill>
                <a:latin typeface="Arial"/>
                <a:cs typeface="Arial"/>
              </a:rPr>
              <a:t>traditional</a:t>
            </a:r>
            <a:r>
              <a:rPr sz="1200" spc="-15" dirty="0">
                <a:solidFill>
                  <a:srgbClr val="3333B2"/>
                </a:solidFill>
                <a:latin typeface="Arial"/>
                <a:cs typeface="Arial"/>
              </a:rPr>
              <a:t> </a:t>
            </a:r>
            <a:r>
              <a:rPr sz="1200" spc="-5" dirty="0">
                <a:solidFill>
                  <a:srgbClr val="3333B2"/>
                </a:solidFill>
                <a:latin typeface="Arial"/>
                <a:cs typeface="Arial"/>
              </a:rPr>
              <a:t>organizations</a:t>
            </a:r>
            <a:endParaRPr sz="1200">
              <a:latin typeface="Arial"/>
              <a:cs typeface="Arial"/>
            </a:endParaRPr>
          </a:p>
          <a:p>
            <a:pPr marL="567055" indent="-168275">
              <a:lnSpc>
                <a:spcPts val="1200"/>
              </a:lnSpc>
              <a:spcBef>
                <a:spcPts val="790"/>
              </a:spcBef>
              <a:buClr>
                <a:srgbClr val="3333B2"/>
              </a:buClr>
              <a:buChar char="►"/>
              <a:tabLst>
                <a:tab pos="567690" algn="l"/>
              </a:tabLst>
            </a:pPr>
            <a:r>
              <a:rPr sz="1000" spc="-5" dirty="0">
                <a:solidFill>
                  <a:srgbClr val="0000FA"/>
                </a:solidFill>
                <a:latin typeface="Arial"/>
                <a:cs typeface="Arial"/>
              </a:rPr>
              <a:t>Single-tiered:</a:t>
            </a:r>
            <a:r>
              <a:rPr sz="1000" spc="75" dirty="0">
                <a:solidFill>
                  <a:srgbClr val="0000FA"/>
                </a:solidFill>
                <a:latin typeface="Arial"/>
                <a:cs typeface="Arial"/>
              </a:rPr>
              <a:t> </a:t>
            </a:r>
            <a:r>
              <a:rPr sz="1000" spc="-5" dirty="0">
                <a:latin typeface="Arial"/>
                <a:cs typeface="Arial"/>
              </a:rPr>
              <a:t>dumb</a:t>
            </a:r>
            <a:r>
              <a:rPr sz="1000" spc="5" dirty="0">
                <a:latin typeface="Arial"/>
                <a:cs typeface="Arial"/>
              </a:rPr>
              <a:t> </a:t>
            </a:r>
            <a:r>
              <a:rPr sz="1000" spc="-5" dirty="0">
                <a:latin typeface="Arial"/>
                <a:cs typeface="Arial"/>
              </a:rPr>
              <a:t>terminal/mainframe</a:t>
            </a:r>
            <a:r>
              <a:rPr sz="1000" spc="10" dirty="0">
                <a:latin typeface="Arial"/>
                <a:cs typeface="Arial"/>
              </a:rPr>
              <a:t> </a:t>
            </a:r>
            <a:r>
              <a:rPr sz="1000" spc="-5" dirty="0">
                <a:latin typeface="Arial"/>
                <a:cs typeface="Arial"/>
              </a:rPr>
              <a:t>configuration</a:t>
            </a:r>
            <a:endParaRPr sz="1000">
              <a:latin typeface="Arial"/>
              <a:cs typeface="Arial"/>
            </a:endParaRPr>
          </a:p>
          <a:p>
            <a:pPr marL="567055" indent="-168275">
              <a:lnSpc>
                <a:spcPts val="1195"/>
              </a:lnSpc>
              <a:buClr>
                <a:srgbClr val="3333B2"/>
              </a:buClr>
              <a:buChar char="►"/>
              <a:tabLst>
                <a:tab pos="567690" algn="l"/>
              </a:tabLst>
            </a:pPr>
            <a:r>
              <a:rPr sz="1000" spc="-15" dirty="0">
                <a:solidFill>
                  <a:srgbClr val="0000FA"/>
                </a:solidFill>
                <a:latin typeface="Arial"/>
                <a:cs typeface="Arial"/>
              </a:rPr>
              <a:t>Two-tiered:</a:t>
            </a:r>
            <a:r>
              <a:rPr sz="1000" spc="60" dirty="0">
                <a:solidFill>
                  <a:srgbClr val="0000FA"/>
                </a:solidFill>
                <a:latin typeface="Arial"/>
                <a:cs typeface="Arial"/>
              </a:rPr>
              <a:t> </a:t>
            </a:r>
            <a:r>
              <a:rPr sz="1000" spc="-5" dirty="0">
                <a:latin typeface="Arial"/>
                <a:cs typeface="Arial"/>
              </a:rPr>
              <a:t>client/single</a:t>
            </a:r>
            <a:r>
              <a:rPr sz="1000" dirty="0">
                <a:latin typeface="Arial"/>
                <a:cs typeface="Arial"/>
              </a:rPr>
              <a:t> </a:t>
            </a:r>
            <a:r>
              <a:rPr sz="1000" spc="-5" dirty="0">
                <a:latin typeface="Arial"/>
                <a:cs typeface="Arial"/>
              </a:rPr>
              <a:t>server configuration</a:t>
            </a:r>
            <a:endParaRPr sz="1000">
              <a:latin typeface="Arial"/>
              <a:cs typeface="Arial"/>
            </a:endParaRPr>
          </a:p>
          <a:p>
            <a:pPr marL="567055" indent="-168275">
              <a:lnSpc>
                <a:spcPts val="1200"/>
              </a:lnSpc>
              <a:buClr>
                <a:srgbClr val="3333B2"/>
              </a:buClr>
              <a:buChar char="►"/>
              <a:tabLst>
                <a:tab pos="567690" algn="l"/>
              </a:tabLst>
            </a:pPr>
            <a:r>
              <a:rPr sz="1000" spc="-5" dirty="0">
                <a:solidFill>
                  <a:srgbClr val="0000FA"/>
                </a:solidFill>
                <a:latin typeface="Arial"/>
                <a:cs typeface="Arial"/>
              </a:rPr>
              <a:t>Three-tiered:</a:t>
            </a:r>
            <a:r>
              <a:rPr sz="1000" spc="60" dirty="0">
                <a:solidFill>
                  <a:srgbClr val="0000FA"/>
                </a:solidFill>
                <a:latin typeface="Arial"/>
                <a:cs typeface="Arial"/>
              </a:rPr>
              <a:t> </a:t>
            </a:r>
            <a:r>
              <a:rPr sz="1000" spc="-5" dirty="0">
                <a:latin typeface="Arial"/>
                <a:cs typeface="Arial"/>
              </a:rPr>
              <a:t>each </a:t>
            </a:r>
            <a:r>
              <a:rPr sz="1000" spc="-15" dirty="0">
                <a:latin typeface="Arial"/>
                <a:cs typeface="Arial"/>
              </a:rPr>
              <a:t>layer</a:t>
            </a:r>
            <a:r>
              <a:rPr sz="1000" dirty="0">
                <a:latin typeface="Arial"/>
                <a:cs typeface="Arial"/>
              </a:rPr>
              <a:t> </a:t>
            </a:r>
            <a:r>
              <a:rPr sz="1000" spc="-5" dirty="0">
                <a:latin typeface="Arial"/>
                <a:cs typeface="Arial"/>
              </a:rPr>
              <a:t>on separate machine</a:t>
            </a:r>
            <a:endParaRPr sz="1000">
              <a:latin typeface="Arial"/>
              <a:cs typeface="Arial"/>
            </a:endParaRPr>
          </a:p>
          <a:p>
            <a:pPr marL="285115">
              <a:lnSpc>
                <a:spcPct val="100000"/>
              </a:lnSpc>
              <a:spcBef>
                <a:spcPts val="1200"/>
              </a:spcBef>
            </a:pPr>
            <a:r>
              <a:rPr sz="1200" spc="-20" dirty="0">
                <a:solidFill>
                  <a:srgbClr val="3333B2"/>
                </a:solidFill>
                <a:latin typeface="Arial"/>
                <a:cs typeface="Arial"/>
              </a:rPr>
              <a:t>Traditional</a:t>
            </a:r>
            <a:r>
              <a:rPr sz="1200" spc="-15" dirty="0">
                <a:solidFill>
                  <a:srgbClr val="3333B2"/>
                </a:solidFill>
                <a:latin typeface="Arial"/>
                <a:cs typeface="Arial"/>
              </a:rPr>
              <a:t> </a:t>
            </a:r>
            <a:r>
              <a:rPr sz="1200" spc="-5" dirty="0">
                <a:solidFill>
                  <a:srgbClr val="3333B2"/>
                </a:solidFill>
                <a:latin typeface="Arial"/>
                <a:cs typeface="Arial"/>
              </a:rPr>
              <a:t>two-tiered</a:t>
            </a:r>
            <a:r>
              <a:rPr sz="1200" spc="-10" dirty="0">
                <a:solidFill>
                  <a:srgbClr val="3333B2"/>
                </a:solidFill>
                <a:latin typeface="Arial"/>
                <a:cs typeface="Arial"/>
              </a:rPr>
              <a:t> </a:t>
            </a:r>
            <a:r>
              <a:rPr sz="1200" spc="-5" dirty="0">
                <a:solidFill>
                  <a:srgbClr val="3333B2"/>
                </a:solidFill>
                <a:latin typeface="Arial"/>
                <a:cs typeface="Arial"/>
              </a:rPr>
              <a:t>configurations</a:t>
            </a:r>
            <a:endParaRPr sz="1200">
              <a:latin typeface="Arial"/>
              <a:cs typeface="Arial"/>
            </a:endParaRPr>
          </a:p>
          <a:p>
            <a:pPr marL="1941830">
              <a:lnSpc>
                <a:spcPct val="100000"/>
              </a:lnSpc>
              <a:spcBef>
                <a:spcPts val="855"/>
              </a:spcBef>
            </a:pPr>
            <a:r>
              <a:rPr sz="650" spc="5" dirty="0">
                <a:solidFill>
                  <a:srgbClr val="231F20"/>
                </a:solidFill>
                <a:latin typeface="Arial"/>
                <a:cs typeface="Arial"/>
              </a:rPr>
              <a:t>Client</a:t>
            </a:r>
            <a:r>
              <a:rPr sz="650" spc="-40" dirty="0">
                <a:solidFill>
                  <a:srgbClr val="231F20"/>
                </a:solidFill>
                <a:latin typeface="Arial"/>
                <a:cs typeface="Arial"/>
              </a:rPr>
              <a:t> </a:t>
            </a:r>
            <a:r>
              <a:rPr sz="650" spc="5" dirty="0">
                <a:solidFill>
                  <a:srgbClr val="231F20"/>
                </a:solidFill>
                <a:latin typeface="Arial"/>
                <a:cs typeface="Arial"/>
              </a:rPr>
              <a:t>machine</a:t>
            </a:r>
            <a:endParaRPr sz="650">
              <a:latin typeface="Arial"/>
              <a:cs typeface="Arial"/>
            </a:endParaRPr>
          </a:p>
        </p:txBody>
      </p:sp>
      <p:grpSp>
        <p:nvGrpSpPr>
          <p:cNvPr id="5" name="object 5"/>
          <p:cNvGrpSpPr/>
          <p:nvPr/>
        </p:nvGrpSpPr>
        <p:grpSpPr>
          <a:xfrm>
            <a:off x="474953" y="1782233"/>
            <a:ext cx="600075" cy="1107440"/>
            <a:chOff x="474953" y="1782233"/>
            <a:chExt cx="600075" cy="1107440"/>
          </a:xfrm>
        </p:grpSpPr>
        <p:sp>
          <p:nvSpPr>
            <p:cNvPr id="6" name="object 6"/>
            <p:cNvSpPr/>
            <p:nvPr/>
          </p:nvSpPr>
          <p:spPr>
            <a:xfrm>
              <a:off x="477810" y="1912811"/>
              <a:ext cx="594360" cy="147955"/>
            </a:xfrm>
            <a:custGeom>
              <a:avLst/>
              <a:gdLst/>
              <a:ahLst/>
              <a:cxnLst/>
              <a:rect l="l" t="t" r="r" b="b"/>
              <a:pathLst>
                <a:path w="594360" h="147955">
                  <a:moveTo>
                    <a:pt x="297004" y="73698"/>
                  </a:moveTo>
                  <a:lnTo>
                    <a:pt x="345625" y="49852"/>
                  </a:lnTo>
                  <a:lnTo>
                    <a:pt x="381522" y="34103"/>
                  </a:lnTo>
                  <a:lnTo>
                    <a:pt x="421499" y="18964"/>
                  </a:lnTo>
                  <a:lnTo>
                    <a:pt x="462825" y="6806"/>
                  </a:lnTo>
                  <a:lnTo>
                    <a:pt x="502765" y="0"/>
                  </a:lnTo>
                  <a:lnTo>
                    <a:pt x="538587" y="915"/>
                  </a:lnTo>
                  <a:lnTo>
                    <a:pt x="567558" y="11922"/>
                  </a:lnTo>
                  <a:lnTo>
                    <a:pt x="586944" y="35393"/>
                  </a:lnTo>
                  <a:lnTo>
                    <a:pt x="594014" y="73698"/>
                  </a:lnTo>
                </a:path>
                <a:path w="594360" h="147955">
                  <a:moveTo>
                    <a:pt x="0" y="73698"/>
                  </a:moveTo>
                  <a:lnTo>
                    <a:pt x="7121" y="112158"/>
                  </a:lnTo>
                  <a:lnTo>
                    <a:pt x="26639" y="135671"/>
                  </a:lnTo>
                  <a:lnTo>
                    <a:pt x="55787" y="146637"/>
                  </a:lnTo>
                  <a:lnTo>
                    <a:pt x="91797" y="147456"/>
                  </a:lnTo>
                  <a:lnTo>
                    <a:pt x="131903" y="140529"/>
                  </a:lnTo>
                  <a:lnTo>
                    <a:pt x="173337" y="128255"/>
                  </a:lnTo>
                  <a:lnTo>
                    <a:pt x="213331" y="113034"/>
                  </a:lnTo>
                  <a:lnTo>
                    <a:pt x="249119" y="97268"/>
                  </a:lnTo>
                  <a:lnTo>
                    <a:pt x="277932" y="83356"/>
                  </a:lnTo>
                  <a:lnTo>
                    <a:pt x="297004" y="73698"/>
                  </a:lnTo>
                </a:path>
              </a:pathLst>
            </a:custGeom>
            <a:ln w="5270">
              <a:solidFill>
                <a:srgbClr val="231F20"/>
              </a:solidFill>
              <a:prstDash val="lgDash"/>
            </a:ln>
          </p:spPr>
          <p:txBody>
            <a:bodyPr wrap="square" lIns="0" tIns="0" rIns="0" bIns="0" rtlCol="0"/>
            <a:lstStyle/>
            <a:p>
              <a:endParaRPr/>
            </a:p>
          </p:txBody>
        </p:sp>
        <p:sp>
          <p:nvSpPr>
            <p:cNvPr id="7" name="object 7"/>
            <p:cNvSpPr/>
            <p:nvPr/>
          </p:nvSpPr>
          <p:spPr>
            <a:xfrm>
              <a:off x="477810" y="1785091"/>
              <a:ext cx="594360" cy="191135"/>
            </a:xfrm>
            <a:custGeom>
              <a:avLst/>
              <a:gdLst/>
              <a:ahLst/>
              <a:cxnLst/>
              <a:rect l="l" t="t" r="r" b="b"/>
              <a:pathLst>
                <a:path w="594360" h="191135">
                  <a:moveTo>
                    <a:pt x="594014" y="190935"/>
                  </a:moveTo>
                  <a:lnTo>
                    <a:pt x="594014" y="0"/>
                  </a:lnTo>
                  <a:lnTo>
                    <a:pt x="0" y="0"/>
                  </a:lnTo>
                  <a:lnTo>
                    <a:pt x="0" y="190935"/>
                  </a:lnTo>
                </a:path>
              </a:pathLst>
            </a:custGeom>
            <a:ln w="5270">
              <a:solidFill>
                <a:srgbClr val="231F20"/>
              </a:solidFill>
            </a:ln>
          </p:spPr>
          <p:txBody>
            <a:bodyPr wrap="square" lIns="0" tIns="0" rIns="0" bIns="0" rtlCol="0"/>
            <a:lstStyle/>
            <a:p>
              <a:endParaRPr/>
            </a:p>
          </p:txBody>
        </p:sp>
        <p:sp>
          <p:nvSpPr>
            <p:cNvPr id="8" name="object 8"/>
            <p:cNvSpPr/>
            <p:nvPr/>
          </p:nvSpPr>
          <p:spPr>
            <a:xfrm>
              <a:off x="477810" y="2271883"/>
              <a:ext cx="594360" cy="147955"/>
            </a:xfrm>
            <a:custGeom>
              <a:avLst/>
              <a:gdLst/>
              <a:ahLst/>
              <a:cxnLst/>
              <a:rect l="l" t="t" r="r" b="b"/>
              <a:pathLst>
                <a:path w="594360" h="147955">
                  <a:moveTo>
                    <a:pt x="297004" y="73699"/>
                  </a:moveTo>
                  <a:lnTo>
                    <a:pt x="345625" y="49852"/>
                  </a:lnTo>
                  <a:lnTo>
                    <a:pt x="381522" y="34103"/>
                  </a:lnTo>
                  <a:lnTo>
                    <a:pt x="421499" y="18964"/>
                  </a:lnTo>
                  <a:lnTo>
                    <a:pt x="462825" y="6806"/>
                  </a:lnTo>
                  <a:lnTo>
                    <a:pt x="502765" y="0"/>
                  </a:lnTo>
                  <a:lnTo>
                    <a:pt x="538587" y="915"/>
                  </a:lnTo>
                  <a:lnTo>
                    <a:pt x="567558" y="11923"/>
                  </a:lnTo>
                  <a:lnTo>
                    <a:pt x="586944" y="35394"/>
                  </a:lnTo>
                  <a:lnTo>
                    <a:pt x="594014" y="73699"/>
                  </a:lnTo>
                </a:path>
                <a:path w="594360" h="147955">
                  <a:moveTo>
                    <a:pt x="0" y="73699"/>
                  </a:moveTo>
                  <a:lnTo>
                    <a:pt x="7121" y="112159"/>
                  </a:lnTo>
                  <a:lnTo>
                    <a:pt x="26639" y="135671"/>
                  </a:lnTo>
                  <a:lnTo>
                    <a:pt x="55787" y="146638"/>
                  </a:lnTo>
                  <a:lnTo>
                    <a:pt x="91797" y="147457"/>
                  </a:lnTo>
                  <a:lnTo>
                    <a:pt x="131903" y="140530"/>
                  </a:lnTo>
                  <a:lnTo>
                    <a:pt x="173337" y="128257"/>
                  </a:lnTo>
                  <a:lnTo>
                    <a:pt x="213331" y="113037"/>
                  </a:lnTo>
                  <a:lnTo>
                    <a:pt x="249119" y="97271"/>
                  </a:lnTo>
                  <a:lnTo>
                    <a:pt x="277932" y="83358"/>
                  </a:lnTo>
                  <a:lnTo>
                    <a:pt x="297004" y="73699"/>
                  </a:lnTo>
                </a:path>
              </a:pathLst>
            </a:custGeom>
            <a:ln w="5270">
              <a:solidFill>
                <a:srgbClr val="231F20"/>
              </a:solidFill>
              <a:prstDash val="lgDash"/>
            </a:ln>
          </p:spPr>
          <p:txBody>
            <a:bodyPr wrap="square" lIns="0" tIns="0" rIns="0" bIns="0" rtlCol="0"/>
            <a:lstStyle/>
            <a:p>
              <a:endParaRPr/>
            </a:p>
          </p:txBody>
        </p:sp>
        <p:sp>
          <p:nvSpPr>
            <p:cNvPr id="9" name="object 9"/>
            <p:cNvSpPr/>
            <p:nvPr/>
          </p:nvSpPr>
          <p:spPr>
            <a:xfrm>
              <a:off x="477810" y="2356152"/>
              <a:ext cx="594360" cy="530860"/>
            </a:xfrm>
            <a:custGeom>
              <a:avLst/>
              <a:gdLst/>
              <a:ahLst/>
              <a:cxnLst/>
              <a:rect l="l" t="t" r="r" b="b"/>
              <a:pathLst>
                <a:path w="594360" h="530860">
                  <a:moveTo>
                    <a:pt x="0" y="0"/>
                  </a:moveTo>
                  <a:lnTo>
                    <a:pt x="0" y="190932"/>
                  </a:lnTo>
                  <a:lnTo>
                    <a:pt x="594014" y="190932"/>
                  </a:lnTo>
                  <a:lnTo>
                    <a:pt x="594014" y="0"/>
                  </a:lnTo>
                </a:path>
                <a:path w="594360" h="530860">
                  <a:moveTo>
                    <a:pt x="0" y="360650"/>
                  </a:moveTo>
                  <a:lnTo>
                    <a:pt x="594013" y="360650"/>
                  </a:lnTo>
                  <a:lnTo>
                    <a:pt x="594013" y="212146"/>
                  </a:lnTo>
                  <a:lnTo>
                    <a:pt x="0" y="212146"/>
                  </a:lnTo>
                  <a:lnTo>
                    <a:pt x="0" y="360650"/>
                  </a:lnTo>
                  <a:close/>
                </a:path>
                <a:path w="594360" h="530860">
                  <a:moveTo>
                    <a:pt x="0" y="530369"/>
                  </a:moveTo>
                  <a:lnTo>
                    <a:pt x="594013" y="530369"/>
                  </a:lnTo>
                  <a:lnTo>
                    <a:pt x="594013" y="381864"/>
                  </a:lnTo>
                  <a:lnTo>
                    <a:pt x="0" y="381864"/>
                  </a:lnTo>
                  <a:lnTo>
                    <a:pt x="0" y="530369"/>
                  </a:lnTo>
                  <a:close/>
                </a:path>
              </a:pathLst>
            </a:custGeom>
            <a:ln w="5270">
              <a:solidFill>
                <a:srgbClr val="231F20"/>
              </a:solidFill>
            </a:ln>
          </p:spPr>
          <p:txBody>
            <a:bodyPr wrap="square" lIns="0" tIns="0" rIns="0" bIns="0" rtlCol="0"/>
            <a:lstStyle/>
            <a:p>
              <a:endParaRPr/>
            </a:p>
          </p:txBody>
        </p:sp>
      </p:grpSp>
      <p:grpSp>
        <p:nvGrpSpPr>
          <p:cNvPr id="10" name="object 10"/>
          <p:cNvGrpSpPr/>
          <p:nvPr/>
        </p:nvGrpSpPr>
        <p:grpSpPr>
          <a:xfrm>
            <a:off x="2002414" y="1782226"/>
            <a:ext cx="600075" cy="1107440"/>
            <a:chOff x="2002414" y="1782226"/>
            <a:chExt cx="600075" cy="1107440"/>
          </a:xfrm>
        </p:grpSpPr>
        <p:sp>
          <p:nvSpPr>
            <p:cNvPr id="11" name="object 11"/>
            <p:cNvSpPr/>
            <p:nvPr/>
          </p:nvSpPr>
          <p:spPr>
            <a:xfrm>
              <a:off x="2005272" y="2082527"/>
              <a:ext cx="594360" cy="147955"/>
            </a:xfrm>
            <a:custGeom>
              <a:avLst/>
              <a:gdLst/>
              <a:ahLst/>
              <a:cxnLst/>
              <a:rect l="l" t="t" r="r" b="b"/>
              <a:pathLst>
                <a:path w="594360" h="147955">
                  <a:moveTo>
                    <a:pt x="297003" y="73700"/>
                  </a:moveTo>
                  <a:lnTo>
                    <a:pt x="345625" y="49854"/>
                  </a:lnTo>
                  <a:lnTo>
                    <a:pt x="381523" y="34104"/>
                  </a:lnTo>
                  <a:lnTo>
                    <a:pt x="421501" y="18965"/>
                  </a:lnTo>
                  <a:lnTo>
                    <a:pt x="462827" y="6806"/>
                  </a:lnTo>
                  <a:lnTo>
                    <a:pt x="502767" y="0"/>
                  </a:lnTo>
                  <a:lnTo>
                    <a:pt x="538590" y="915"/>
                  </a:lnTo>
                  <a:lnTo>
                    <a:pt x="567560" y="11923"/>
                  </a:lnTo>
                  <a:lnTo>
                    <a:pt x="586947" y="35394"/>
                  </a:lnTo>
                  <a:lnTo>
                    <a:pt x="594016" y="73700"/>
                  </a:lnTo>
                </a:path>
                <a:path w="594360" h="147955">
                  <a:moveTo>
                    <a:pt x="0" y="73700"/>
                  </a:moveTo>
                  <a:lnTo>
                    <a:pt x="7121" y="112160"/>
                  </a:lnTo>
                  <a:lnTo>
                    <a:pt x="26640" y="135674"/>
                  </a:lnTo>
                  <a:lnTo>
                    <a:pt x="55789" y="146640"/>
                  </a:lnTo>
                  <a:lnTo>
                    <a:pt x="91800" y="147460"/>
                  </a:lnTo>
                  <a:lnTo>
                    <a:pt x="131907" y="140533"/>
                  </a:lnTo>
                  <a:lnTo>
                    <a:pt x="173341" y="128259"/>
                  </a:lnTo>
                  <a:lnTo>
                    <a:pt x="213335" y="113039"/>
                  </a:lnTo>
                  <a:lnTo>
                    <a:pt x="249122" y="97272"/>
                  </a:lnTo>
                  <a:lnTo>
                    <a:pt x="277934" y="83359"/>
                  </a:lnTo>
                  <a:lnTo>
                    <a:pt x="297003" y="73700"/>
                  </a:lnTo>
                </a:path>
              </a:pathLst>
            </a:custGeom>
            <a:ln w="5270">
              <a:solidFill>
                <a:srgbClr val="231F20"/>
              </a:solidFill>
              <a:prstDash val="lgDash"/>
            </a:ln>
          </p:spPr>
          <p:txBody>
            <a:bodyPr wrap="square" lIns="0" tIns="0" rIns="0" bIns="0" rtlCol="0"/>
            <a:lstStyle/>
            <a:p>
              <a:endParaRPr/>
            </a:p>
          </p:txBody>
        </p:sp>
        <p:sp>
          <p:nvSpPr>
            <p:cNvPr id="12" name="object 12"/>
            <p:cNvSpPr/>
            <p:nvPr/>
          </p:nvSpPr>
          <p:spPr>
            <a:xfrm>
              <a:off x="2005272" y="1785083"/>
              <a:ext cx="594360" cy="360680"/>
            </a:xfrm>
            <a:custGeom>
              <a:avLst/>
              <a:gdLst/>
              <a:ahLst/>
              <a:cxnLst/>
              <a:rect l="l" t="t" r="r" b="b"/>
              <a:pathLst>
                <a:path w="594360" h="360680">
                  <a:moveTo>
                    <a:pt x="594016" y="360657"/>
                  </a:moveTo>
                  <a:lnTo>
                    <a:pt x="594016" y="169728"/>
                  </a:lnTo>
                  <a:lnTo>
                    <a:pt x="0" y="169728"/>
                  </a:lnTo>
                  <a:lnTo>
                    <a:pt x="0" y="360657"/>
                  </a:lnTo>
                </a:path>
                <a:path w="594360" h="360680">
                  <a:moveTo>
                    <a:pt x="0" y="148508"/>
                  </a:moveTo>
                  <a:lnTo>
                    <a:pt x="594009" y="148508"/>
                  </a:lnTo>
                  <a:lnTo>
                    <a:pt x="594009" y="0"/>
                  </a:lnTo>
                  <a:lnTo>
                    <a:pt x="0" y="0"/>
                  </a:lnTo>
                  <a:lnTo>
                    <a:pt x="0" y="148508"/>
                  </a:lnTo>
                  <a:close/>
                </a:path>
              </a:pathLst>
            </a:custGeom>
            <a:ln w="5270">
              <a:solidFill>
                <a:srgbClr val="231F20"/>
              </a:solidFill>
            </a:ln>
          </p:spPr>
          <p:txBody>
            <a:bodyPr wrap="square" lIns="0" tIns="0" rIns="0" bIns="0" rtlCol="0"/>
            <a:lstStyle/>
            <a:p>
              <a:endParaRPr/>
            </a:p>
          </p:txBody>
        </p:sp>
        <p:sp>
          <p:nvSpPr>
            <p:cNvPr id="13" name="object 13"/>
            <p:cNvSpPr/>
            <p:nvPr/>
          </p:nvSpPr>
          <p:spPr>
            <a:xfrm>
              <a:off x="2005272" y="2441598"/>
              <a:ext cx="594360" cy="147955"/>
            </a:xfrm>
            <a:custGeom>
              <a:avLst/>
              <a:gdLst/>
              <a:ahLst/>
              <a:cxnLst/>
              <a:rect l="l" t="t" r="r" b="b"/>
              <a:pathLst>
                <a:path w="594360" h="147955">
                  <a:moveTo>
                    <a:pt x="297003" y="73699"/>
                  </a:moveTo>
                  <a:lnTo>
                    <a:pt x="345625" y="49852"/>
                  </a:lnTo>
                  <a:lnTo>
                    <a:pt x="381523" y="34103"/>
                  </a:lnTo>
                  <a:lnTo>
                    <a:pt x="421501" y="18964"/>
                  </a:lnTo>
                  <a:lnTo>
                    <a:pt x="462827" y="6806"/>
                  </a:lnTo>
                  <a:lnTo>
                    <a:pt x="502767" y="0"/>
                  </a:lnTo>
                  <a:lnTo>
                    <a:pt x="538590" y="915"/>
                  </a:lnTo>
                  <a:lnTo>
                    <a:pt x="567560" y="11923"/>
                  </a:lnTo>
                  <a:lnTo>
                    <a:pt x="586947" y="35394"/>
                  </a:lnTo>
                  <a:lnTo>
                    <a:pt x="594016" y="73699"/>
                  </a:lnTo>
                </a:path>
                <a:path w="594360" h="147955">
                  <a:moveTo>
                    <a:pt x="0" y="73699"/>
                  </a:moveTo>
                  <a:lnTo>
                    <a:pt x="7121" y="112159"/>
                  </a:lnTo>
                  <a:lnTo>
                    <a:pt x="26640" y="135671"/>
                  </a:lnTo>
                  <a:lnTo>
                    <a:pt x="55789" y="146637"/>
                  </a:lnTo>
                  <a:lnTo>
                    <a:pt x="91800" y="147456"/>
                  </a:lnTo>
                  <a:lnTo>
                    <a:pt x="131907" y="140529"/>
                  </a:lnTo>
                  <a:lnTo>
                    <a:pt x="173341" y="128255"/>
                  </a:lnTo>
                  <a:lnTo>
                    <a:pt x="213335" y="113035"/>
                  </a:lnTo>
                  <a:lnTo>
                    <a:pt x="249122" y="97269"/>
                  </a:lnTo>
                  <a:lnTo>
                    <a:pt x="277934" y="83357"/>
                  </a:lnTo>
                  <a:lnTo>
                    <a:pt x="297003" y="73699"/>
                  </a:lnTo>
                </a:path>
              </a:pathLst>
            </a:custGeom>
            <a:ln w="5270">
              <a:solidFill>
                <a:srgbClr val="231F20"/>
              </a:solidFill>
              <a:prstDash val="lgDash"/>
            </a:ln>
          </p:spPr>
          <p:txBody>
            <a:bodyPr wrap="square" lIns="0" tIns="0" rIns="0" bIns="0" rtlCol="0"/>
            <a:lstStyle/>
            <a:p>
              <a:endParaRPr/>
            </a:p>
          </p:txBody>
        </p:sp>
        <p:sp>
          <p:nvSpPr>
            <p:cNvPr id="14" name="object 14"/>
            <p:cNvSpPr/>
            <p:nvPr/>
          </p:nvSpPr>
          <p:spPr>
            <a:xfrm>
              <a:off x="2005272" y="2525871"/>
              <a:ext cx="594360" cy="360680"/>
            </a:xfrm>
            <a:custGeom>
              <a:avLst/>
              <a:gdLst/>
              <a:ahLst/>
              <a:cxnLst/>
              <a:rect l="l" t="t" r="r" b="b"/>
              <a:pathLst>
                <a:path w="594360" h="360680">
                  <a:moveTo>
                    <a:pt x="0" y="0"/>
                  </a:moveTo>
                  <a:lnTo>
                    <a:pt x="0" y="190932"/>
                  </a:lnTo>
                  <a:lnTo>
                    <a:pt x="594016" y="190932"/>
                  </a:lnTo>
                  <a:lnTo>
                    <a:pt x="594016" y="0"/>
                  </a:lnTo>
                </a:path>
                <a:path w="594360" h="360680">
                  <a:moveTo>
                    <a:pt x="0" y="360650"/>
                  </a:moveTo>
                  <a:lnTo>
                    <a:pt x="594009" y="360650"/>
                  </a:lnTo>
                  <a:lnTo>
                    <a:pt x="594009" y="212146"/>
                  </a:lnTo>
                  <a:lnTo>
                    <a:pt x="0" y="212146"/>
                  </a:lnTo>
                  <a:lnTo>
                    <a:pt x="0" y="360650"/>
                  </a:lnTo>
                  <a:close/>
                </a:path>
              </a:pathLst>
            </a:custGeom>
            <a:ln w="5270">
              <a:solidFill>
                <a:srgbClr val="231F20"/>
              </a:solidFill>
            </a:ln>
          </p:spPr>
          <p:txBody>
            <a:bodyPr wrap="square" lIns="0" tIns="0" rIns="0" bIns="0" rtlCol="0"/>
            <a:lstStyle/>
            <a:p>
              <a:endParaRPr/>
            </a:p>
          </p:txBody>
        </p:sp>
      </p:grpSp>
      <p:sp>
        <p:nvSpPr>
          <p:cNvPr id="15" name="object 15"/>
          <p:cNvSpPr/>
          <p:nvPr/>
        </p:nvSpPr>
        <p:spPr>
          <a:xfrm>
            <a:off x="2769009" y="1785083"/>
            <a:ext cx="594360" cy="318770"/>
          </a:xfrm>
          <a:custGeom>
            <a:avLst/>
            <a:gdLst/>
            <a:ahLst/>
            <a:cxnLst/>
            <a:rect l="l" t="t" r="r" b="b"/>
            <a:pathLst>
              <a:path w="594360" h="318769">
                <a:moveTo>
                  <a:pt x="0" y="148508"/>
                </a:moveTo>
                <a:lnTo>
                  <a:pt x="594009" y="148508"/>
                </a:lnTo>
                <a:lnTo>
                  <a:pt x="594009" y="0"/>
                </a:lnTo>
                <a:lnTo>
                  <a:pt x="0" y="0"/>
                </a:lnTo>
                <a:lnTo>
                  <a:pt x="0" y="148508"/>
                </a:lnTo>
                <a:close/>
              </a:path>
              <a:path w="594360" h="318769">
                <a:moveTo>
                  <a:pt x="0" y="318225"/>
                </a:moveTo>
                <a:lnTo>
                  <a:pt x="594009" y="318225"/>
                </a:lnTo>
                <a:lnTo>
                  <a:pt x="594009" y="169724"/>
                </a:lnTo>
                <a:lnTo>
                  <a:pt x="0" y="169724"/>
                </a:lnTo>
                <a:lnTo>
                  <a:pt x="0" y="318225"/>
                </a:lnTo>
                <a:close/>
              </a:path>
            </a:pathLst>
          </a:custGeom>
          <a:ln w="5270">
            <a:solidFill>
              <a:srgbClr val="231F20"/>
            </a:solidFill>
          </a:ln>
        </p:spPr>
        <p:txBody>
          <a:bodyPr wrap="square" lIns="0" tIns="0" rIns="0" bIns="0" rtlCol="0"/>
          <a:lstStyle/>
          <a:p>
            <a:endParaRPr/>
          </a:p>
        </p:txBody>
      </p:sp>
      <p:grpSp>
        <p:nvGrpSpPr>
          <p:cNvPr id="16" name="object 16"/>
          <p:cNvGrpSpPr/>
          <p:nvPr/>
        </p:nvGrpSpPr>
        <p:grpSpPr>
          <a:xfrm>
            <a:off x="3529879" y="1782226"/>
            <a:ext cx="603250" cy="1104900"/>
            <a:chOff x="3529879" y="1782226"/>
            <a:chExt cx="603250" cy="1104900"/>
          </a:xfrm>
        </p:grpSpPr>
        <p:sp>
          <p:nvSpPr>
            <p:cNvPr id="17" name="object 17"/>
            <p:cNvSpPr/>
            <p:nvPr/>
          </p:nvSpPr>
          <p:spPr>
            <a:xfrm>
              <a:off x="3532736" y="2252246"/>
              <a:ext cx="594360" cy="147955"/>
            </a:xfrm>
            <a:custGeom>
              <a:avLst/>
              <a:gdLst/>
              <a:ahLst/>
              <a:cxnLst/>
              <a:rect l="l" t="t" r="r" b="b"/>
              <a:pathLst>
                <a:path w="594360" h="147955">
                  <a:moveTo>
                    <a:pt x="297013" y="73700"/>
                  </a:moveTo>
                  <a:lnTo>
                    <a:pt x="345631" y="49854"/>
                  </a:lnTo>
                  <a:lnTo>
                    <a:pt x="381527" y="34104"/>
                  </a:lnTo>
                  <a:lnTo>
                    <a:pt x="421504" y="18965"/>
                  </a:lnTo>
                  <a:lnTo>
                    <a:pt x="462828" y="6806"/>
                  </a:lnTo>
                  <a:lnTo>
                    <a:pt x="502768" y="0"/>
                  </a:lnTo>
                  <a:lnTo>
                    <a:pt x="538590" y="915"/>
                  </a:lnTo>
                  <a:lnTo>
                    <a:pt x="567560" y="11923"/>
                  </a:lnTo>
                  <a:lnTo>
                    <a:pt x="586947" y="35394"/>
                  </a:lnTo>
                  <a:lnTo>
                    <a:pt x="594016" y="73700"/>
                  </a:lnTo>
                </a:path>
                <a:path w="594360" h="147955">
                  <a:moveTo>
                    <a:pt x="0" y="73700"/>
                  </a:moveTo>
                  <a:lnTo>
                    <a:pt x="7121" y="112159"/>
                  </a:lnTo>
                  <a:lnTo>
                    <a:pt x="26639" y="135672"/>
                  </a:lnTo>
                  <a:lnTo>
                    <a:pt x="55787" y="146638"/>
                  </a:lnTo>
                  <a:lnTo>
                    <a:pt x="91798" y="147457"/>
                  </a:lnTo>
                  <a:lnTo>
                    <a:pt x="131904" y="140529"/>
                  </a:lnTo>
                  <a:lnTo>
                    <a:pt x="173339" y="128256"/>
                  </a:lnTo>
                  <a:lnTo>
                    <a:pt x="213334" y="113036"/>
                  </a:lnTo>
                  <a:lnTo>
                    <a:pt x="249123" y="97270"/>
                  </a:lnTo>
                  <a:lnTo>
                    <a:pt x="277939" y="83358"/>
                  </a:lnTo>
                  <a:lnTo>
                    <a:pt x="297013" y="73700"/>
                  </a:lnTo>
                </a:path>
              </a:pathLst>
            </a:custGeom>
            <a:ln w="5270">
              <a:solidFill>
                <a:srgbClr val="231F20"/>
              </a:solidFill>
              <a:prstDash val="lgDash"/>
            </a:ln>
          </p:spPr>
          <p:txBody>
            <a:bodyPr wrap="square" lIns="0" tIns="0" rIns="0" bIns="0" rtlCol="0"/>
            <a:lstStyle/>
            <a:p>
              <a:endParaRPr/>
            </a:p>
          </p:txBody>
        </p:sp>
        <p:sp>
          <p:nvSpPr>
            <p:cNvPr id="18" name="object 18"/>
            <p:cNvSpPr/>
            <p:nvPr/>
          </p:nvSpPr>
          <p:spPr>
            <a:xfrm>
              <a:off x="3532736" y="1785083"/>
              <a:ext cx="594360" cy="530860"/>
            </a:xfrm>
            <a:custGeom>
              <a:avLst/>
              <a:gdLst/>
              <a:ahLst/>
              <a:cxnLst/>
              <a:rect l="l" t="t" r="r" b="b"/>
              <a:pathLst>
                <a:path w="594360" h="530860">
                  <a:moveTo>
                    <a:pt x="594016" y="530375"/>
                  </a:moveTo>
                  <a:lnTo>
                    <a:pt x="594016" y="339443"/>
                  </a:lnTo>
                  <a:lnTo>
                    <a:pt x="0" y="339443"/>
                  </a:lnTo>
                  <a:lnTo>
                    <a:pt x="0" y="530375"/>
                  </a:lnTo>
                </a:path>
                <a:path w="594360" h="530860">
                  <a:moveTo>
                    <a:pt x="0" y="148508"/>
                  </a:moveTo>
                  <a:lnTo>
                    <a:pt x="594018" y="148508"/>
                  </a:lnTo>
                  <a:lnTo>
                    <a:pt x="594018" y="0"/>
                  </a:lnTo>
                  <a:lnTo>
                    <a:pt x="0" y="0"/>
                  </a:lnTo>
                  <a:lnTo>
                    <a:pt x="0" y="148508"/>
                  </a:lnTo>
                  <a:close/>
                </a:path>
                <a:path w="594360" h="530860">
                  <a:moveTo>
                    <a:pt x="0" y="318225"/>
                  </a:moveTo>
                  <a:lnTo>
                    <a:pt x="594018" y="318225"/>
                  </a:lnTo>
                  <a:lnTo>
                    <a:pt x="594018" y="169724"/>
                  </a:lnTo>
                  <a:lnTo>
                    <a:pt x="0" y="169724"/>
                  </a:lnTo>
                  <a:lnTo>
                    <a:pt x="0" y="318225"/>
                  </a:lnTo>
                  <a:close/>
                </a:path>
              </a:pathLst>
            </a:custGeom>
            <a:ln w="5270">
              <a:solidFill>
                <a:srgbClr val="231F20"/>
              </a:solidFill>
            </a:ln>
          </p:spPr>
          <p:txBody>
            <a:bodyPr wrap="square" lIns="0" tIns="0" rIns="0" bIns="0" rtlCol="0"/>
            <a:lstStyle/>
            <a:p>
              <a:endParaRPr/>
            </a:p>
          </p:txBody>
        </p:sp>
        <p:sp>
          <p:nvSpPr>
            <p:cNvPr id="19" name="object 19"/>
            <p:cNvSpPr/>
            <p:nvPr/>
          </p:nvSpPr>
          <p:spPr>
            <a:xfrm>
              <a:off x="3532736" y="2590100"/>
              <a:ext cx="594360" cy="147955"/>
            </a:xfrm>
            <a:custGeom>
              <a:avLst/>
              <a:gdLst/>
              <a:ahLst/>
              <a:cxnLst/>
              <a:rect l="l" t="t" r="r" b="b"/>
              <a:pathLst>
                <a:path w="594360" h="147955">
                  <a:moveTo>
                    <a:pt x="297013" y="73700"/>
                  </a:moveTo>
                  <a:lnTo>
                    <a:pt x="345631" y="49853"/>
                  </a:lnTo>
                  <a:lnTo>
                    <a:pt x="381527" y="34103"/>
                  </a:lnTo>
                  <a:lnTo>
                    <a:pt x="421504" y="18964"/>
                  </a:lnTo>
                  <a:lnTo>
                    <a:pt x="462828" y="6806"/>
                  </a:lnTo>
                  <a:lnTo>
                    <a:pt x="502768" y="0"/>
                  </a:lnTo>
                  <a:lnTo>
                    <a:pt x="538590" y="915"/>
                  </a:lnTo>
                  <a:lnTo>
                    <a:pt x="567560" y="11923"/>
                  </a:lnTo>
                  <a:lnTo>
                    <a:pt x="586947" y="35395"/>
                  </a:lnTo>
                  <a:lnTo>
                    <a:pt x="594016" y="73700"/>
                  </a:lnTo>
                </a:path>
                <a:path w="594360" h="147955">
                  <a:moveTo>
                    <a:pt x="0" y="73700"/>
                  </a:moveTo>
                  <a:lnTo>
                    <a:pt x="7121" y="112160"/>
                  </a:lnTo>
                  <a:lnTo>
                    <a:pt x="26639" y="135673"/>
                  </a:lnTo>
                  <a:lnTo>
                    <a:pt x="55787" y="146639"/>
                  </a:lnTo>
                  <a:lnTo>
                    <a:pt x="91798" y="147458"/>
                  </a:lnTo>
                  <a:lnTo>
                    <a:pt x="131904" y="140531"/>
                  </a:lnTo>
                  <a:lnTo>
                    <a:pt x="173339" y="128257"/>
                  </a:lnTo>
                  <a:lnTo>
                    <a:pt x="213334" y="113037"/>
                  </a:lnTo>
                  <a:lnTo>
                    <a:pt x="249123" y="97271"/>
                  </a:lnTo>
                  <a:lnTo>
                    <a:pt x="277939" y="83359"/>
                  </a:lnTo>
                  <a:lnTo>
                    <a:pt x="297013" y="73700"/>
                  </a:lnTo>
                </a:path>
              </a:pathLst>
            </a:custGeom>
            <a:ln w="5270">
              <a:solidFill>
                <a:srgbClr val="231F20"/>
              </a:solidFill>
              <a:prstDash val="lgDash"/>
            </a:ln>
          </p:spPr>
          <p:txBody>
            <a:bodyPr wrap="square" lIns="0" tIns="0" rIns="0" bIns="0" rtlCol="0"/>
            <a:lstStyle/>
            <a:p>
              <a:endParaRPr/>
            </a:p>
          </p:txBody>
        </p:sp>
        <p:sp>
          <p:nvSpPr>
            <p:cNvPr id="20" name="object 20"/>
            <p:cNvSpPr/>
            <p:nvPr/>
          </p:nvSpPr>
          <p:spPr>
            <a:xfrm>
              <a:off x="3536025" y="2693143"/>
              <a:ext cx="594360" cy="191135"/>
            </a:xfrm>
            <a:custGeom>
              <a:avLst/>
              <a:gdLst/>
              <a:ahLst/>
              <a:cxnLst/>
              <a:rect l="l" t="t" r="r" b="b"/>
              <a:pathLst>
                <a:path w="594360" h="191135">
                  <a:moveTo>
                    <a:pt x="0" y="0"/>
                  </a:moveTo>
                  <a:lnTo>
                    <a:pt x="0" y="190932"/>
                  </a:lnTo>
                  <a:lnTo>
                    <a:pt x="594006" y="190932"/>
                  </a:lnTo>
                  <a:lnTo>
                    <a:pt x="594006" y="0"/>
                  </a:lnTo>
                </a:path>
              </a:pathLst>
            </a:custGeom>
            <a:ln w="5270">
              <a:solidFill>
                <a:srgbClr val="231F20"/>
              </a:solidFill>
            </a:ln>
          </p:spPr>
          <p:txBody>
            <a:bodyPr wrap="square" lIns="0" tIns="0" rIns="0" bIns="0" rtlCol="0"/>
            <a:lstStyle/>
            <a:p>
              <a:endParaRPr/>
            </a:p>
          </p:txBody>
        </p:sp>
      </p:grpSp>
      <p:sp>
        <p:nvSpPr>
          <p:cNvPr id="21" name="object 21"/>
          <p:cNvSpPr/>
          <p:nvPr/>
        </p:nvSpPr>
        <p:spPr>
          <a:xfrm>
            <a:off x="1241542" y="2568299"/>
            <a:ext cx="594360" cy="318770"/>
          </a:xfrm>
          <a:custGeom>
            <a:avLst/>
            <a:gdLst/>
            <a:ahLst/>
            <a:cxnLst/>
            <a:rect l="l" t="t" r="r" b="b"/>
            <a:pathLst>
              <a:path w="594360" h="318769">
                <a:moveTo>
                  <a:pt x="0" y="148504"/>
                </a:moveTo>
                <a:lnTo>
                  <a:pt x="594013" y="148504"/>
                </a:lnTo>
                <a:lnTo>
                  <a:pt x="594013" y="0"/>
                </a:lnTo>
                <a:lnTo>
                  <a:pt x="0" y="0"/>
                </a:lnTo>
                <a:lnTo>
                  <a:pt x="0" y="148504"/>
                </a:lnTo>
                <a:close/>
              </a:path>
              <a:path w="594360" h="318769">
                <a:moveTo>
                  <a:pt x="0" y="318223"/>
                </a:moveTo>
                <a:lnTo>
                  <a:pt x="594013" y="318223"/>
                </a:lnTo>
                <a:lnTo>
                  <a:pt x="594013" y="169718"/>
                </a:lnTo>
                <a:lnTo>
                  <a:pt x="0" y="169718"/>
                </a:lnTo>
                <a:lnTo>
                  <a:pt x="0" y="318223"/>
                </a:lnTo>
                <a:close/>
              </a:path>
            </a:pathLst>
          </a:custGeom>
          <a:ln w="5270">
            <a:solidFill>
              <a:srgbClr val="231F20"/>
            </a:solidFill>
          </a:ln>
        </p:spPr>
        <p:txBody>
          <a:bodyPr wrap="square" lIns="0" tIns="0" rIns="0" bIns="0" rtlCol="0"/>
          <a:lstStyle/>
          <a:p>
            <a:endParaRPr/>
          </a:p>
        </p:txBody>
      </p:sp>
      <p:sp>
        <p:nvSpPr>
          <p:cNvPr id="22" name="object 22"/>
          <p:cNvSpPr txBox="1"/>
          <p:nvPr/>
        </p:nvSpPr>
        <p:spPr>
          <a:xfrm>
            <a:off x="480446" y="1789353"/>
            <a:ext cx="589280" cy="127000"/>
          </a:xfrm>
          <a:prstGeom prst="rect">
            <a:avLst/>
          </a:prstGeom>
        </p:spPr>
        <p:txBody>
          <a:bodyPr vert="horz" wrap="square" lIns="0" tIns="13970" rIns="0" bIns="0" rtlCol="0">
            <a:spAutoFit/>
          </a:bodyPr>
          <a:lstStyle/>
          <a:p>
            <a:pPr marL="37465">
              <a:lnSpc>
                <a:spcPct val="100000"/>
              </a:lnSpc>
              <a:spcBef>
                <a:spcPts val="110"/>
              </a:spcBef>
            </a:pPr>
            <a:r>
              <a:rPr sz="650" spc="5" dirty="0">
                <a:solidFill>
                  <a:srgbClr val="231F20"/>
                </a:solidFill>
                <a:latin typeface="Arial"/>
                <a:cs typeface="Arial"/>
              </a:rPr>
              <a:t>User</a:t>
            </a:r>
            <a:r>
              <a:rPr sz="650" spc="-40" dirty="0">
                <a:solidFill>
                  <a:srgbClr val="231F20"/>
                </a:solidFill>
                <a:latin typeface="Arial"/>
                <a:cs typeface="Arial"/>
              </a:rPr>
              <a:t> </a:t>
            </a:r>
            <a:r>
              <a:rPr sz="650" spc="5" dirty="0">
                <a:solidFill>
                  <a:srgbClr val="231F20"/>
                </a:solidFill>
                <a:latin typeface="Arial"/>
                <a:cs typeface="Arial"/>
              </a:rPr>
              <a:t>interface</a:t>
            </a:r>
            <a:endParaRPr sz="650">
              <a:latin typeface="Arial"/>
              <a:cs typeface="Arial"/>
            </a:endParaRPr>
          </a:p>
        </p:txBody>
      </p:sp>
      <p:sp>
        <p:nvSpPr>
          <p:cNvPr id="23" name="object 23"/>
          <p:cNvSpPr txBox="1"/>
          <p:nvPr/>
        </p:nvSpPr>
        <p:spPr>
          <a:xfrm>
            <a:off x="1241542" y="1785083"/>
            <a:ext cx="594360" cy="148590"/>
          </a:xfrm>
          <a:prstGeom prst="rect">
            <a:avLst/>
          </a:prstGeom>
          <a:ln w="5270">
            <a:solidFill>
              <a:srgbClr val="231F20"/>
            </a:solidFill>
          </a:ln>
        </p:spPr>
        <p:txBody>
          <a:bodyPr vert="horz" wrap="square" lIns="0" tIns="18415" rIns="0" bIns="0" rtlCol="0">
            <a:spAutoFit/>
          </a:bodyPr>
          <a:lstStyle/>
          <a:p>
            <a:pPr marL="53340">
              <a:lnSpc>
                <a:spcPct val="100000"/>
              </a:lnSpc>
              <a:spcBef>
                <a:spcPts val="145"/>
              </a:spcBef>
            </a:pPr>
            <a:r>
              <a:rPr sz="650" spc="5" dirty="0">
                <a:solidFill>
                  <a:srgbClr val="231F20"/>
                </a:solidFill>
                <a:latin typeface="Arial"/>
                <a:cs typeface="Arial"/>
              </a:rPr>
              <a:t>User interface</a:t>
            </a:r>
            <a:endParaRPr sz="650">
              <a:latin typeface="Arial"/>
              <a:cs typeface="Arial"/>
            </a:endParaRPr>
          </a:p>
        </p:txBody>
      </p:sp>
      <p:sp>
        <p:nvSpPr>
          <p:cNvPr id="24" name="object 24"/>
          <p:cNvSpPr txBox="1"/>
          <p:nvPr/>
        </p:nvSpPr>
        <p:spPr>
          <a:xfrm>
            <a:off x="2007907" y="1789353"/>
            <a:ext cx="2116455" cy="291465"/>
          </a:xfrm>
          <a:prstGeom prst="rect">
            <a:avLst/>
          </a:prstGeom>
        </p:spPr>
        <p:txBody>
          <a:bodyPr vert="horz" wrap="square" lIns="0" tIns="13970" rIns="0" bIns="0" rtlCol="0">
            <a:spAutoFit/>
          </a:bodyPr>
          <a:lstStyle/>
          <a:p>
            <a:pPr marL="33655">
              <a:lnSpc>
                <a:spcPct val="100000"/>
              </a:lnSpc>
              <a:spcBef>
                <a:spcPts val="110"/>
              </a:spcBef>
              <a:tabLst>
                <a:tab pos="810895" algn="l"/>
                <a:tab pos="1557655" algn="l"/>
              </a:tabLst>
            </a:pPr>
            <a:r>
              <a:rPr sz="650" spc="5" dirty="0">
                <a:solidFill>
                  <a:srgbClr val="231F20"/>
                </a:solidFill>
                <a:latin typeface="Arial"/>
                <a:cs typeface="Arial"/>
              </a:rPr>
              <a:t>User interface	User interface	User</a:t>
            </a:r>
            <a:r>
              <a:rPr sz="650" spc="-40" dirty="0">
                <a:solidFill>
                  <a:srgbClr val="231F20"/>
                </a:solidFill>
                <a:latin typeface="Arial"/>
                <a:cs typeface="Arial"/>
              </a:rPr>
              <a:t> </a:t>
            </a:r>
            <a:r>
              <a:rPr sz="650" spc="5" dirty="0">
                <a:solidFill>
                  <a:srgbClr val="231F20"/>
                </a:solidFill>
                <a:latin typeface="Arial"/>
                <a:cs typeface="Arial"/>
              </a:rPr>
              <a:t>interface</a:t>
            </a:r>
            <a:endParaRPr sz="650">
              <a:latin typeface="Arial"/>
              <a:cs typeface="Arial"/>
            </a:endParaRPr>
          </a:p>
          <a:p>
            <a:pPr marL="93345">
              <a:lnSpc>
                <a:spcPct val="100000"/>
              </a:lnSpc>
              <a:spcBef>
                <a:spcPts val="520"/>
              </a:spcBef>
              <a:tabLst>
                <a:tab pos="854710" algn="l"/>
                <a:tab pos="1617345" algn="l"/>
              </a:tabLst>
            </a:pPr>
            <a:r>
              <a:rPr sz="650" spc="5" dirty="0">
                <a:solidFill>
                  <a:srgbClr val="231F20"/>
                </a:solidFill>
                <a:latin typeface="Arial"/>
                <a:cs typeface="Arial"/>
              </a:rPr>
              <a:t>Application	Application	Application</a:t>
            </a:r>
            <a:endParaRPr sz="650">
              <a:latin typeface="Arial"/>
              <a:cs typeface="Arial"/>
            </a:endParaRPr>
          </a:p>
        </p:txBody>
      </p:sp>
      <p:sp>
        <p:nvSpPr>
          <p:cNvPr id="25" name="object 25"/>
          <p:cNvSpPr txBox="1"/>
          <p:nvPr/>
        </p:nvSpPr>
        <p:spPr>
          <a:xfrm>
            <a:off x="3642844" y="2118034"/>
            <a:ext cx="3867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Database</a:t>
            </a:r>
            <a:endParaRPr sz="650">
              <a:latin typeface="Arial"/>
              <a:cs typeface="Arial"/>
            </a:endParaRPr>
          </a:p>
        </p:txBody>
      </p:sp>
      <p:sp>
        <p:nvSpPr>
          <p:cNvPr id="26" name="object 26"/>
          <p:cNvSpPr txBox="1"/>
          <p:nvPr/>
        </p:nvSpPr>
        <p:spPr>
          <a:xfrm>
            <a:off x="2089080" y="2588039"/>
            <a:ext cx="4381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sp>
        <p:nvSpPr>
          <p:cNvPr id="27" name="object 27"/>
          <p:cNvSpPr txBox="1"/>
          <p:nvPr/>
        </p:nvSpPr>
        <p:spPr>
          <a:xfrm>
            <a:off x="480446" y="2588039"/>
            <a:ext cx="589280" cy="127000"/>
          </a:xfrm>
          <a:prstGeom prst="rect">
            <a:avLst/>
          </a:prstGeom>
        </p:spPr>
        <p:txBody>
          <a:bodyPr vert="horz" wrap="square" lIns="0" tIns="13970" rIns="0" bIns="0" rtlCol="0">
            <a:spAutoFit/>
          </a:bodyPr>
          <a:lstStyle/>
          <a:p>
            <a:pPr marL="90805">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sp>
        <p:nvSpPr>
          <p:cNvPr id="28" name="object 28"/>
          <p:cNvSpPr txBox="1"/>
          <p:nvPr/>
        </p:nvSpPr>
        <p:spPr>
          <a:xfrm>
            <a:off x="1244178" y="2588039"/>
            <a:ext cx="589280" cy="127000"/>
          </a:xfrm>
          <a:prstGeom prst="rect">
            <a:avLst/>
          </a:prstGeom>
        </p:spPr>
        <p:txBody>
          <a:bodyPr vert="horz" wrap="square" lIns="0" tIns="13970" rIns="0" bIns="0" rtlCol="0">
            <a:spAutoFit/>
          </a:bodyPr>
          <a:lstStyle/>
          <a:p>
            <a:pPr marL="80645">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sp>
        <p:nvSpPr>
          <p:cNvPr id="29" name="object 29"/>
          <p:cNvSpPr txBox="1"/>
          <p:nvPr/>
        </p:nvSpPr>
        <p:spPr>
          <a:xfrm>
            <a:off x="480446" y="2745517"/>
            <a:ext cx="589280" cy="127000"/>
          </a:xfrm>
          <a:prstGeom prst="rect">
            <a:avLst/>
          </a:prstGeom>
        </p:spPr>
        <p:txBody>
          <a:bodyPr vert="horz" wrap="square" lIns="0" tIns="13970" rIns="0" bIns="0" rtlCol="0">
            <a:spAutoFit/>
          </a:bodyPr>
          <a:lstStyle/>
          <a:p>
            <a:pPr marL="127000">
              <a:lnSpc>
                <a:spcPct val="100000"/>
              </a:lnSpc>
              <a:spcBef>
                <a:spcPts val="110"/>
              </a:spcBef>
            </a:pPr>
            <a:r>
              <a:rPr sz="650" spc="5" dirty="0">
                <a:solidFill>
                  <a:srgbClr val="231F20"/>
                </a:solidFill>
                <a:latin typeface="Arial"/>
                <a:cs typeface="Arial"/>
              </a:rPr>
              <a:t>Database</a:t>
            </a:r>
            <a:endParaRPr sz="650">
              <a:latin typeface="Arial"/>
              <a:cs typeface="Arial"/>
            </a:endParaRPr>
          </a:p>
        </p:txBody>
      </p:sp>
      <p:sp>
        <p:nvSpPr>
          <p:cNvPr id="30" name="object 30"/>
          <p:cNvSpPr txBox="1"/>
          <p:nvPr/>
        </p:nvSpPr>
        <p:spPr>
          <a:xfrm>
            <a:off x="1244178" y="2745517"/>
            <a:ext cx="589280" cy="127000"/>
          </a:xfrm>
          <a:prstGeom prst="rect">
            <a:avLst/>
          </a:prstGeom>
        </p:spPr>
        <p:txBody>
          <a:bodyPr vert="horz" wrap="square" lIns="0" tIns="13970" rIns="0" bIns="0" rtlCol="0">
            <a:spAutoFit/>
          </a:bodyPr>
          <a:lstStyle/>
          <a:p>
            <a:pPr marL="110489">
              <a:lnSpc>
                <a:spcPct val="100000"/>
              </a:lnSpc>
              <a:spcBef>
                <a:spcPts val="110"/>
              </a:spcBef>
            </a:pPr>
            <a:r>
              <a:rPr sz="650" spc="5" dirty="0">
                <a:solidFill>
                  <a:srgbClr val="231F20"/>
                </a:solidFill>
                <a:latin typeface="Arial"/>
                <a:cs typeface="Arial"/>
              </a:rPr>
              <a:t>Database</a:t>
            </a:r>
            <a:endParaRPr sz="650">
              <a:latin typeface="Arial"/>
              <a:cs typeface="Arial"/>
            </a:endParaRPr>
          </a:p>
        </p:txBody>
      </p:sp>
      <p:sp>
        <p:nvSpPr>
          <p:cNvPr id="31" name="object 31"/>
          <p:cNvSpPr txBox="1"/>
          <p:nvPr/>
        </p:nvSpPr>
        <p:spPr>
          <a:xfrm>
            <a:off x="2007907" y="2745517"/>
            <a:ext cx="589280" cy="127000"/>
          </a:xfrm>
          <a:prstGeom prst="rect">
            <a:avLst/>
          </a:prstGeom>
        </p:spPr>
        <p:txBody>
          <a:bodyPr vert="horz" wrap="square" lIns="0" tIns="13970" rIns="0" bIns="0" rtlCol="0">
            <a:spAutoFit/>
          </a:bodyPr>
          <a:lstStyle/>
          <a:p>
            <a:pPr marL="123189">
              <a:lnSpc>
                <a:spcPct val="100000"/>
              </a:lnSpc>
              <a:spcBef>
                <a:spcPts val="110"/>
              </a:spcBef>
            </a:pPr>
            <a:r>
              <a:rPr sz="650" spc="5" dirty="0">
                <a:solidFill>
                  <a:srgbClr val="231F20"/>
                </a:solidFill>
                <a:latin typeface="Arial"/>
                <a:cs typeface="Arial"/>
              </a:rPr>
              <a:t>Database</a:t>
            </a:r>
            <a:endParaRPr sz="650">
              <a:latin typeface="Arial"/>
              <a:cs typeface="Arial"/>
            </a:endParaRPr>
          </a:p>
        </p:txBody>
      </p:sp>
      <p:sp>
        <p:nvSpPr>
          <p:cNvPr id="32" name="object 32"/>
          <p:cNvSpPr txBox="1"/>
          <p:nvPr/>
        </p:nvSpPr>
        <p:spPr>
          <a:xfrm>
            <a:off x="2769009" y="2738017"/>
            <a:ext cx="594360" cy="148590"/>
          </a:xfrm>
          <a:prstGeom prst="rect">
            <a:avLst/>
          </a:prstGeom>
          <a:ln w="5270">
            <a:solidFill>
              <a:srgbClr val="231F20"/>
            </a:solidFill>
          </a:ln>
        </p:spPr>
        <p:txBody>
          <a:bodyPr vert="horz" wrap="square" lIns="0" tIns="21590" rIns="0" bIns="0" rtlCol="0">
            <a:spAutoFit/>
          </a:bodyPr>
          <a:lstStyle/>
          <a:p>
            <a:pPr marL="109220">
              <a:lnSpc>
                <a:spcPct val="100000"/>
              </a:lnSpc>
              <a:spcBef>
                <a:spcPts val="170"/>
              </a:spcBef>
            </a:pPr>
            <a:r>
              <a:rPr sz="650" spc="5" dirty="0">
                <a:solidFill>
                  <a:srgbClr val="231F20"/>
                </a:solidFill>
                <a:latin typeface="Arial"/>
                <a:cs typeface="Arial"/>
              </a:rPr>
              <a:t>Database</a:t>
            </a:r>
            <a:endParaRPr sz="650">
              <a:latin typeface="Arial"/>
              <a:cs typeface="Arial"/>
            </a:endParaRPr>
          </a:p>
        </p:txBody>
      </p:sp>
      <p:sp>
        <p:nvSpPr>
          <p:cNvPr id="33" name="object 33"/>
          <p:cNvSpPr txBox="1"/>
          <p:nvPr/>
        </p:nvSpPr>
        <p:spPr>
          <a:xfrm>
            <a:off x="3538660" y="2745517"/>
            <a:ext cx="589280" cy="127000"/>
          </a:xfrm>
          <a:prstGeom prst="rect">
            <a:avLst/>
          </a:prstGeom>
        </p:spPr>
        <p:txBody>
          <a:bodyPr vert="horz" wrap="square" lIns="0" tIns="13970" rIns="0" bIns="0" rtlCol="0">
            <a:spAutoFit/>
          </a:bodyPr>
          <a:lstStyle/>
          <a:p>
            <a:pPr marL="146685">
              <a:lnSpc>
                <a:spcPct val="100000"/>
              </a:lnSpc>
              <a:spcBef>
                <a:spcPts val="110"/>
              </a:spcBef>
            </a:pPr>
            <a:r>
              <a:rPr sz="650" spc="5" dirty="0">
                <a:solidFill>
                  <a:srgbClr val="231F20"/>
                </a:solidFill>
                <a:latin typeface="Arial"/>
                <a:cs typeface="Arial"/>
              </a:rPr>
              <a:t>Database</a:t>
            </a:r>
            <a:endParaRPr sz="650">
              <a:latin typeface="Arial"/>
              <a:cs typeface="Arial"/>
            </a:endParaRPr>
          </a:p>
        </p:txBody>
      </p:sp>
      <p:sp>
        <p:nvSpPr>
          <p:cNvPr id="34" name="object 34"/>
          <p:cNvSpPr txBox="1"/>
          <p:nvPr/>
        </p:nvSpPr>
        <p:spPr>
          <a:xfrm>
            <a:off x="505433" y="2416836"/>
            <a:ext cx="5505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User interface</a:t>
            </a:r>
            <a:endParaRPr sz="650">
              <a:latin typeface="Arial"/>
              <a:cs typeface="Arial"/>
            </a:endParaRPr>
          </a:p>
        </p:txBody>
      </p:sp>
      <p:sp>
        <p:nvSpPr>
          <p:cNvPr id="35" name="object 35"/>
          <p:cNvSpPr txBox="1"/>
          <p:nvPr/>
        </p:nvSpPr>
        <p:spPr>
          <a:xfrm>
            <a:off x="1999430" y="2918273"/>
            <a:ext cx="615950" cy="295275"/>
          </a:xfrm>
          <a:prstGeom prst="rect">
            <a:avLst/>
          </a:prstGeom>
        </p:spPr>
        <p:txBody>
          <a:bodyPr vert="horz" wrap="square" lIns="0" tIns="20955" rIns="0" bIns="0" rtlCol="0">
            <a:spAutoFit/>
          </a:bodyPr>
          <a:lstStyle/>
          <a:p>
            <a:pPr algn="ctr">
              <a:lnSpc>
                <a:spcPct val="100000"/>
              </a:lnSpc>
              <a:spcBef>
                <a:spcPts val="165"/>
              </a:spcBef>
            </a:pPr>
            <a:r>
              <a:rPr sz="650" spc="5" dirty="0">
                <a:solidFill>
                  <a:srgbClr val="231F20"/>
                </a:solidFill>
                <a:latin typeface="Arial"/>
                <a:cs typeface="Arial"/>
              </a:rPr>
              <a:t>Server</a:t>
            </a:r>
            <a:r>
              <a:rPr sz="650" spc="-35" dirty="0">
                <a:solidFill>
                  <a:srgbClr val="231F20"/>
                </a:solidFill>
                <a:latin typeface="Arial"/>
                <a:cs typeface="Arial"/>
              </a:rPr>
              <a:t> </a:t>
            </a:r>
            <a:r>
              <a:rPr sz="650" spc="5" dirty="0">
                <a:solidFill>
                  <a:srgbClr val="231F20"/>
                </a:solidFill>
                <a:latin typeface="Arial"/>
                <a:cs typeface="Arial"/>
              </a:rPr>
              <a:t>machine</a:t>
            </a:r>
            <a:endParaRPr sz="650">
              <a:latin typeface="Arial"/>
              <a:cs typeface="Arial"/>
            </a:endParaRPr>
          </a:p>
          <a:p>
            <a:pPr algn="ctr">
              <a:lnSpc>
                <a:spcPct val="100000"/>
              </a:lnSpc>
              <a:spcBef>
                <a:spcPts val="75"/>
              </a:spcBef>
            </a:pPr>
            <a:r>
              <a:rPr sz="1000" spc="-5" dirty="0">
                <a:latin typeface="Arial"/>
                <a:cs typeface="Arial"/>
              </a:rPr>
              <a:t>(c)</a:t>
            </a:r>
            <a:endParaRPr sz="1000">
              <a:latin typeface="Arial"/>
              <a:cs typeface="Arial"/>
            </a:endParaRPr>
          </a:p>
        </p:txBody>
      </p:sp>
      <p:sp>
        <p:nvSpPr>
          <p:cNvPr id="36" name="object 36"/>
          <p:cNvSpPr/>
          <p:nvPr/>
        </p:nvSpPr>
        <p:spPr>
          <a:xfrm>
            <a:off x="414165" y="2101575"/>
            <a:ext cx="3734435" cy="445770"/>
          </a:xfrm>
          <a:custGeom>
            <a:avLst/>
            <a:gdLst/>
            <a:ahLst/>
            <a:cxnLst/>
            <a:rect l="l" t="t" r="r" b="b"/>
            <a:pathLst>
              <a:path w="3734435" h="445769">
                <a:moveTo>
                  <a:pt x="0" y="0"/>
                </a:moveTo>
                <a:lnTo>
                  <a:pt x="3733807" y="445510"/>
                </a:lnTo>
              </a:path>
            </a:pathLst>
          </a:custGeom>
          <a:ln w="5270">
            <a:solidFill>
              <a:srgbClr val="231F20"/>
            </a:solidFill>
            <a:prstDash val="lgDash"/>
          </a:ln>
        </p:spPr>
        <p:txBody>
          <a:bodyPr wrap="square" lIns="0" tIns="0" rIns="0" bIns="0" rtlCol="0"/>
          <a:lstStyle/>
          <a:p>
            <a:endParaRPr/>
          </a:p>
        </p:txBody>
      </p:sp>
      <p:pic>
        <p:nvPicPr>
          <p:cNvPr id="37" name="object 37"/>
          <p:cNvPicPr/>
          <p:nvPr/>
        </p:nvPicPr>
        <p:blipFill>
          <a:blip r:embed="rId5" cstate="print"/>
          <a:stretch>
            <a:fillRect/>
          </a:stretch>
        </p:blipFill>
        <p:spPr>
          <a:xfrm>
            <a:off x="1504785" y="2095139"/>
            <a:ext cx="63751" cy="263541"/>
          </a:xfrm>
          <a:prstGeom prst="rect">
            <a:avLst/>
          </a:prstGeom>
        </p:spPr>
      </p:pic>
      <p:pic>
        <p:nvPicPr>
          <p:cNvPr id="38" name="object 38"/>
          <p:cNvPicPr/>
          <p:nvPr/>
        </p:nvPicPr>
        <p:blipFill>
          <a:blip r:embed="rId5" cstate="print"/>
          <a:stretch>
            <a:fillRect/>
          </a:stretch>
        </p:blipFill>
        <p:spPr>
          <a:xfrm>
            <a:off x="2295412" y="2200558"/>
            <a:ext cx="63751" cy="263540"/>
          </a:xfrm>
          <a:prstGeom prst="rect">
            <a:avLst/>
          </a:prstGeom>
        </p:spPr>
      </p:pic>
      <p:pic>
        <p:nvPicPr>
          <p:cNvPr id="39" name="object 39"/>
          <p:cNvPicPr/>
          <p:nvPr/>
        </p:nvPicPr>
        <p:blipFill>
          <a:blip r:embed="rId6" cstate="print"/>
          <a:stretch>
            <a:fillRect/>
          </a:stretch>
        </p:blipFill>
        <p:spPr>
          <a:xfrm>
            <a:off x="3032661" y="2286042"/>
            <a:ext cx="63751" cy="263541"/>
          </a:xfrm>
          <a:prstGeom prst="rect">
            <a:avLst/>
          </a:prstGeom>
        </p:spPr>
      </p:pic>
      <p:pic>
        <p:nvPicPr>
          <p:cNvPr id="40" name="object 40"/>
          <p:cNvPicPr/>
          <p:nvPr/>
        </p:nvPicPr>
        <p:blipFill>
          <a:blip r:embed="rId7" cstate="print"/>
          <a:stretch>
            <a:fillRect/>
          </a:stretch>
        </p:blipFill>
        <p:spPr>
          <a:xfrm>
            <a:off x="3823953" y="2358681"/>
            <a:ext cx="63751" cy="263540"/>
          </a:xfrm>
          <a:prstGeom prst="rect">
            <a:avLst/>
          </a:prstGeom>
        </p:spPr>
      </p:pic>
      <p:pic>
        <p:nvPicPr>
          <p:cNvPr id="41" name="object 41"/>
          <p:cNvPicPr/>
          <p:nvPr/>
        </p:nvPicPr>
        <p:blipFill>
          <a:blip r:embed="rId7" cstate="print"/>
          <a:stretch>
            <a:fillRect/>
          </a:stretch>
        </p:blipFill>
        <p:spPr>
          <a:xfrm>
            <a:off x="766860" y="2016078"/>
            <a:ext cx="63753" cy="263541"/>
          </a:xfrm>
          <a:prstGeom prst="rect">
            <a:avLst/>
          </a:prstGeom>
        </p:spPr>
      </p:pic>
      <p:sp>
        <p:nvSpPr>
          <p:cNvPr id="42" name="object 42"/>
          <p:cNvSpPr txBox="1"/>
          <p:nvPr/>
        </p:nvSpPr>
        <p:spPr>
          <a:xfrm>
            <a:off x="614464" y="303578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sp>
        <p:nvSpPr>
          <p:cNvPr id="46" name="object 46"/>
          <p:cNvSpPr txBox="1"/>
          <p:nvPr/>
        </p:nvSpPr>
        <p:spPr>
          <a:xfrm>
            <a:off x="66713" y="3331252"/>
            <a:ext cx="8401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8" action="ppaction://hlinksldjump"/>
              </a:rPr>
              <a:t>Multitiered</a:t>
            </a:r>
            <a:r>
              <a:rPr sz="600" spc="-1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Architectures</a:t>
            </a:r>
            <a:endParaRPr sz="600">
              <a:latin typeface="Arial"/>
              <a:cs typeface="Arial"/>
            </a:endParaRPr>
          </a:p>
        </p:txBody>
      </p:sp>
      <p:sp>
        <p:nvSpPr>
          <p:cNvPr id="47" name="object 4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36</a:t>
            </a:r>
          </a:p>
        </p:txBody>
      </p:sp>
      <p:sp>
        <p:nvSpPr>
          <p:cNvPr id="43" name="object 43"/>
          <p:cNvSpPr txBox="1"/>
          <p:nvPr/>
        </p:nvSpPr>
        <p:spPr>
          <a:xfrm>
            <a:off x="1417012" y="303578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
        <p:nvSpPr>
          <p:cNvPr id="44" name="object 44"/>
          <p:cNvSpPr txBox="1"/>
          <p:nvPr/>
        </p:nvSpPr>
        <p:spPr>
          <a:xfrm>
            <a:off x="3015276" y="303578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(d)</a:t>
            </a:r>
            <a:endParaRPr sz="1000">
              <a:latin typeface="Arial"/>
              <a:cs typeface="Arial"/>
            </a:endParaRPr>
          </a:p>
        </p:txBody>
      </p:sp>
      <p:sp>
        <p:nvSpPr>
          <p:cNvPr id="45" name="object 45"/>
          <p:cNvSpPr txBox="1"/>
          <p:nvPr/>
        </p:nvSpPr>
        <p:spPr>
          <a:xfrm>
            <a:off x="3817824" y="303578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(e)</a:t>
            </a:r>
            <a:endParaRPr sz="10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661312" y="716"/>
            <a:ext cx="8801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Centralized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organizations</a:t>
            </a:r>
            <a:endParaRPr sz="600">
              <a:latin typeface="Arial"/>
              <a:cs typeface="Arial"/>
            </a:endParaRPr>
          </a:p>
        </p:txBody>
      </p:sp>
      <p:sp>
        <p:nvSpPr>
          <p:cNvPr id="4" name="object 4"/>
          <p:cNvSpPr txBox="1"/>
          <p:nvPr/>
        </p:nvSpPr>
        <p:spPr>
          <a:xfrm>
            <a:off x="95300" y="188846"/>
            <a:ext cx="32772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Being</a:t>
            </a:r>
            <a:r>
              <a:rPr sz="1400" dirty="0">
                <a:solidFill>
                  <a:srgbClr val="3333B2"/>
                </a:solidFill>
                <a:latin typeface="Arial"/>
                <a:cs typeface="Arial"/>
              </a:rPr>
              <a:t> </a:t>
            </a:r>
            <a:r>
              <a:rPr sz="1400" spc="10" dirty="0">
                <a:solidFill>
                  <a:srgbClr val="3333B2"/>
                </a:solidFill>
                <a:latin typeface="Arial"/>
                <a:cs typeface="Arial"/>
              </a:rPr>
              <a:t>client</a:t>
            </a:r>
            <a:r>
              <a:rPr sz="1400" dirty="0">
                <a:solidFill>
                  <a:srgbClr val="3333B2"/>
                </a:solidFill>
                <a:latin typeface="Arial"/>
                <a:cs typeface="Arial"/>
              </a:rPr>
              <a:t> </a:t>
            </a:r>
            <a:r>
              <a:rPr sz="1400" spc="15" dirty="0">
                <a:solidFill>
                  <a:srgbClr val="3333B2"/>
                </a:solidFill>
                <a:latin typeface="Arial"/>
                <a:cs typeface="Arial"/>
              </a:rPr>
              <a:t>and</a:t>
            </a:r>
            <a:r>
              <a:rPr sz="1400" dirty="0">
                <a:solidFill>
                  <a:srgbClr val="3333B2"/>
                </a:solidFill>
                <a:latin typeface="Arial"/>
                <a:cs typeface="Arial"/>
              </a:rPr>
              <a:t> </a:t>
            </a:r>
            <a:r>
              <a:rPr sz="1400" spc="15" dirty="0">
                <a:solidFill>
                  <a:srgbClr val="3333B2"/>
                </a:solidFill>
                <a:latin typeface="Arial"/>
                <a:cs typeface="Arial"/>
              </a:rPr>
              <a:t>server</a:t>
            </a:r>
            <a:r>
              <a:rPr sz="1400" dirty="0">
                <a:solidFill>
                  <a:srgbClr val="3333B2"/>
                </a:solidFill>
                <a:latin typeface="Arial"/>
                <a:cs typeface="Arial"/>
              </a:rPr>
              <a:t> </a:t>
            </a:r>
            <a:r>
              <a:rPr sz="1400" spc="10" dirty="0">
                <a:solidFill>
                  <a:srgbClr val="3333B2"/>
                </a:solidFill>
                <a:latin typeface="Arial"/>
                <a:cs typeface="Arial"/>
              </a:rPr>
              <a:t>at</a:t>
            </a:r>
            <a:r>
              <a:rPr sz="1400" spc="5" dirty="0">
                <a:solidFill>
                  <a:srgbClr val="3333B2"/>
                </a:solidFill>
                <a:latin typeface="Arial"/>
                <a:cs typeface="Arial"/>
              </a:rPr>
              <a:t> </a:t>
            </a:r>
            <a:r>
              <a:rPr sz="1400" spc="15" dirty="0">
                <a:solidFill>
                  <a:srgbClr val="3333B2"/>
                </a:solidFill>
                <a:latin typeface="Arial"/>
                <a:cs typeface="Arial"/>
              </a:rPr>
              <a:t>the</a:t>
            </a:r>
            <a:r>
              <a:rPr sz="1400" dirty="0">
                <a:solidFill>
                  <a:srgbClr val="3333B2"/>
                </a:solidFill>
                <a:latin typeface="Arial"/>
                <a:cs typeface="Arial"/>
              </a:rPr>
              <a:t> </a:t>
            </a:r>
            <a:r>
              <a:rPr sz="1400" spc="20" dirty="0">
                <a:solidFill>
                  <a:srgbClr val="3333B2"/>
                </a:solidFill>
                <a:latin typeface="Arial"/>
                <a:cs typeface="Arial"/>
              </a:rPr>
              <a:t>same</a:t>
            </a:r>
            <a:r>
              <a:rPr sz="1400" dirty="0">
                <a:solidFill>
                  <a:srgbClr val="3333B2"/>
                </a:solidFill>
                <a:latin typeface="Arial"/>
                <a:cs typeface="Arial"/>
              </a:rPr>
              <a:t> </a:t>
            </a:r>
            <a:r>
              <a:rPr sz="1400" spc="15" dirty="0">
                <a:solidFill>
                  <a:srgbClr val="3333B2"/>
                </a:solidFill>
                <a:latin typeface="Arial"/>
                <a:cs typeface="Arial"/>
              </a:rPr>
              <a:t>time</a:t>
            </a:r>
            <a:endParaRPr sz="1400">
              <a:latin typeface="Arial"/>
              <a:cs typeface="Arial"/>
            </a:endParaRPr>
          </a:p>
        </p:txBody>
      </p:sp>
      <p:sp>
        <p:nvSpPr>
          <p:cNvPr id="5" name="object 5"/>
          <p:cNvSpPr txBox="1"/>
          <p:nvPr/>
        </p:nvSpPr>
        <p:spPr>
          <a:xfrm>
            <a:off x="342595" y="917623"/>
            <a:ext cx="1687830" cy="391160"/>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Three-tiered</a:t>
            </a:r>
            <a:r>
              <a:rPr sz="1200" spc="-30" dirty="0">
                <a:solidFill>
                  <a:srgbClr val="3333B2"/>
                </a:solidFill>
                <a:latin typeface="Arial"/>
                <a:cs typeface="Arial"/>
              </a:rPr>
              <a:t> </a:t>
            </a:r>
            <a:r>
              <a:rPr sz="1200" spc="-5" dirty="0">
                <a:solidFill>
                  <a:srgbClr val="3333B2"/>
                </a:solidFill>
                <a:latin typeface="Arial"/>
                <a:cs typeface="Arial"/>
              </a:rPr>
              <a:t>architecture</a:t>
            </a:r>
            <a:endParaRPr sz="1200">
              <a:latin typeface="Arial"/>
              <a:cs typeface="Arial"/>
            </a:endParaRPr>
          </a:p>
          <a:p>
            <a:pPr marR="292100" algn="r">
              <a:lnSpc>
                <a:spcPct val="100000"/>
              </a:lnSpc>
              <a:spcBef>
                <a:spcPts val="660"/>
              </a:spcBef>
            </a:pPr>
            <a:r>
              <a:rPr sz="650" spc="5" dirty="0">
                <a:solidFill>
                  <a:srgbClr val="231F20"/>
                </a:solidFill>
                <a:latin typeface="Arial"/>
                <a:cs typeface="Arial"/>
              </a:rPr>
              <a:t>Client</a:t>
            </a:r>
            <a:endParaRPr sz="650">
              <a:latin typeface="Arial"/>
              <a:cs typeface="Arial"/>
            </a:endParaRPr>
          </a:p>
        </p:txBody>
      </p:sp>
      <p:grpSp>
        <p:nvGrpSpPr>
          <p:cNvPr id="6" name="object 6"/>
          <p:cNvGrpSpPr/>
          <p:nvPr/>
        </p:nvGrpSpPr>
        <p:grpSpPr>
          <a:xfrm>
            <a:off x="1616273" y="1428274"/>
            <a:ext cx="1492250" cy="949325"/>
            <a:chOff x="1616273" y="1428274"/>
            <a:chExt cx="1492250" cy="949325"/>
          </a:xfrm>
        </p:grpSpPr>
        <p:sp>
          <p:nvSpPr>
            <p:cNvPr id="7" name="object 7"/>
            <p:cNvSpPr/>
            <p:nvPr/>
          </p:nvSpPr>
          <p:spPr>
            <a:xfrm>
              <a:off x="1624175" y="1428274"/>
              <a:ext cx="738505" cy="949325"/>
            </a:xfrm>
            <a:custGeom>
              <a:avLst/>
              <a:gdLst/>
              <a:ahLst/>
              <a:cxnLst/>
              <a:rect l="l" t="t" r="r" b="b"/>
              <a:pathLst>
                <a:path w="738505" h="949325">
                  <a:moveTo>
                    <a:pt x="0" y="0"/>
                  </a:moveTo>
                  <a:lnTo>
                    <a:pt x="0" y="948747"/>
                  </a:lnTo>
                </a:path>
                <a:path w="738505" h="949325">
                  <a:moveTo>
                    <a:pt x="737933" y="0"/>
                  </a:moveTo>
                  <a:lnTo>
                    <a:pt x="737933" y="948747"/>
                  </a:lnTo>
                </a:path>
              </a:pathLst>
            </a:custGeom>
            <a:ln w="5270">
              <a:solidFill>
                <a:srgbClr val="231F20"/>
              </a:solidFill>
              <a:prstDash val="lgDash"/>
            </a:ln>
          </p:spPr>
          <p:txBody>
            <a:bodyPr wrap="square" lIns="0" tIns="0" rIns="0" bIns="0" rtlCol="0"/>
            <a:lstStyle/>
            <a:p>
              <a:endParaRPr/>
            </a:p>
          </p:txBody>
        </p:sp>
        <p:sp>
          <p:nvSpPr>
            <p:cNvPr id="8" name="object 8"/>
            <p:cNvSpPr/>
            <p:nvPr/>
          </p:nvSpPr>
          <p:spPr>
            <a:xfrm>
              <a:off x="1624179" y="1586396"/>
              <a:ext cx="701040" cy="0"/>
            </a:xfrm>
            <a:custGeom>
              <a:avLst/>
              <a:gdLst/>
              <a:ahLst/>
              <a:cxnLst/>
              <a:rect l="l" t="t" r="r" b="b"/>
              <a:pathLst>
                <a:path w="701039">
                  <a:moveTo>
                    <a:pt x="0" y="0"/>
                  </a:moveTo>
                  <a:lnTo>
                    <a:pt x="700540" y="0"/>
                  </a:lnTo>
                </a:path>
              </a:pathLst>
            </a:custGeom>
            <a:ln w="5976">
              <a:solidFill>
                <a:srgbClr val="231F20"/>
              </a:solidFill>
            </a:ln>
          </p:spPr>
          <p:txBody>
            <a:bodyPr wrap="square" lIns="0" tIns="0" rIns="0" bIns="0" rtlCol="0"/>
            <a:lstStyle/>
            <a:p>
              <a:endParaRPr/>
            </a:p>
          </p:txBody>
        </p:sp>
        <p:pic>
          <p:nvPicPr>
            <p:cNvPr id="9" name="object 9"/>
            <p:cNvPicPr/>
            <p:nvPr/>
          </p:nvPicPr>
          <p:blipFill>
            <a:blip r:embed="rId5" cstate="print"/>
            <a:stretch>
              <a:fillRect/>
            </a:stretch>
          </p:blipFill>
          <p:spPr>
            <a:xfrm>
              <a:off x="2287719" y="1554522"/>
              <a:ext cx="74378" cy="63753"/>
            </a:xfrm>
            <a:prstGeom prst="rect">
              <a:avLst/>
            </a:prstGeom>
          </p:spPr>
        </p:pic>
        <p:sp>
          <p:nvSpPr>
            <p:cNvPr id="10" name="object 10"/>
            <p:cNvSpPr/>
            <p:nvPr/>
          </p:nvSpPr>
          <p:spPr>
            <a:xfrm>
              <a:off x="1624179" y="1428274"/>
              <a:ext cx="738505" cy="949325"/>
            </a:xfrm>
            <a:custGeom>
              <a:avLst/>
              <a:gdLst/>
              <a:ahLst/>
              <a:cxnLst/>
              <a:rect l="l" t="t" r="r" b="b"/>
              <a:pathLst>
                <a:path w="738505" h="949325">
                  <a:moveTo>
                    <a:pt x="0" y="0"/>
                  </a:moveTo>
                  <a:lnTo>
                    <a:pt x="0" y="158122"/>
                  </a:lnTo>
                </a:path>
                <a:path w="738505" h="949325">
                  <a:moveTo>
                    <a:pt x="8" y="790623"/>
                  </a:moveTo>
                  <a:lnTo>
                    <a:pt x="8" y="948747"/>
                  </a:lnTo>
                </a:path>
                <a:path w="738505" h="949325">
                  <a:moveTo>
                    <a:pt x="737929" y="158122"/>
                  </a:moveTo>
                  <a:lnTo>
                    <a:pt x="737929" y="316250"/>
                  </a:lnTo>
                </a:path>
                <a:path w="738505" h="949325">
                  <a:moveTo>
                    <a:pt x="737907" y="632501"/>
                  </a:moveTo>
                  <a:lnTo>
                    <a:pt x="737907" y="790623"/>
                  </a:lnTo>
                </a:path>
              </a:pathLst>
            </a:custGeom>
            <a:ln w="15812">
              <a:solidFill>
                <a:srgbClr val="231F20"/>
              </a:solidFill>
            </a:ln>
          </p:spPr>
          <p:txBody>
            <a:bodyPr wrap="square" lIns="0" tIns="0" rIns="0" bIns="0" rtlCol="0"/>
            <a:lstStyle/>
            <a:p>
              <a:endParaRPr/>
            </a:p>
          </p:txBody>
        </p:sp>
        <p:sp>
          <p:nvSpPr>
            <p:cNvPr id="11" name="object 11"/>
            <p:cNvSpPr/>
            <p:nvPr/>
          </p:nvSpPr>
          <p:spPr>
            <a:xfrm>
              <a:off x="3100031" y="1428274"/>
              <a:ext cx="0" cy="949325"/>
            </a:xfrm>
            <a:custGeom>
              <a:avLst/>
              <a:gdLst/>
              <a:ahLst/>
              <a:cxnLst/>
              <a:rect l="l" t="t" r="r" b="b"/>
              <a:pathLst>
                <a:path h="949325">
                  <a:moveTo>
                    <a:pt x="0" y="0"/>
                  </a:moveTo>
                  <a:lnTo>
                    <a:pt x="0" y="948747"/>
                  </a:lnTo>
                </a:path>
              </a:pathLst>
            </a:custGeom>
            <a:ln w="5270">
              <a:solidFill>
                <a:srgbClr val="231F20"/>
              </a:solidFill>
              <a:prstDash val="lgDash"/>
            </a:ln>
          </p:spPr>
          <p:txBody>
            <a:bodyPr wrap="square" lIns="0" tIns="0" rIns="0" bIns="0" rtlCol="0"/>
            <a:lstStyle/>
            <a:p>
              <a:endParaRPr/>
            </a:p>
          </p:txBody>
        </p:sp>
        <p:sp>
          <p:nvSpPr>
            <p:cNvPr id="12" name="object 12"/>
            <p:cNvSpPr/>
            <p:nvPr/>
          </p:nvSpPr>
          <p:spPr>
            <a:xfrm>
              <a:off x="3100010" y="1744524"/>
              <a:ext cx="0" cy="316865"/>
            </a:xfrm>
            <a:custGeom>
              <a:avLst/>
              <a:gdLst/>
              <a:ahLst/>
              <a:cxnLst/>
              <a:rect l="l" t="t" r="r" b="b"/>
              <a:pathLst>
                <a:path h="316864">
                  <a:moveTo>
                    <a:pt x="0" y="0"/>
                  </a:moveTo>
                  <a:lnTo>
                    <a:pt x="0" y="316251"/>
                  </a:lnTo>
                </a:path>
              </a:pathLst>
            </a:custGeom>
            <a:ln w="15812">
              <a:solidFill>
                <a:srgbClr val="231F20"/>
              </a:solidFill>
            </a:ln>
          </p:spPr>
          <p:txBody>
            <a:bodyPr wrap="square" lIns="0" tIns="0" rIns="0" bIns="0" rtlCol="0"/>
            <a:lstStyle/>
            <a:p>
              <a:endParaRPr/>
            </a:p>
          </p:txBody>
        </p:sp>
        <p:sp>
          <p:nvSpPr>
            <p:cNvPr id="13" name="object 13"/>
            <p:cNvSpPr/>
            <p:nvPr/>
          </p:nvSpPr>
          <p:spPr>
            <a:xfrm>
              <a:off x="2362097" y="1744524"/>
              <a:ext cx="701040" cy="0"/>
            </a:xfrm>
            <a:custGeom>
              <a:avLst/>
              <a:gdLst/>
              <a:ahLst/>
              <a:cxnLst/>
              <a:rect l="l" t="t" r="r" b="b"/>
              <a:pathLst>
                <a:path w="701039">
                  <a:moveTo>
                    <a:pt x="0" y="0"/>
                  </a:moveTo>
                  <a:lnTo>
                    <a:pt x="700533" y="0"/>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6" cstate="print"/>
            <a:stretch>
              <a:fillRect/>
            </a:stretch>
          </p:blipFill>
          <p:spPr>
            <a:xfrm>
              <a:off x="3025643" y="1712646"/>
              <a:ext cx="74366" cy="63751"/>
            </a:xfrm>
            <a:prstGeom prst="rect">
              <a:avLst/>
            </a:prstGeom>
          </p:spPr>
        </p:pic>
        <p:sp>
          <p:nvSpPr>
            <p:cNvPr id="15" name="object 15"/>
            <p:cNvSpPr/>
            <p:nvPr/>
          </p:nvSpPr>
          <p:spPr>
            <a:xfrm>
              <a:off x="2399476" y="2060766"/>
              <a:ext cx="701040" cy="0"/>
            </a:xfrm>
            <a:custGeom>
              <a:avLst/>
              <a:gdLst/>
              <a:ahLst/>
              <a:cxnLst/>
              <a:rect l="l" t="t" r="r" b="b"/>
              <a:pathLst>
                <a:path w="701039">
                  <a:moveTo>
                    <a:pt x="700533" y="0"/>
                  </a:moveTo>
                  <a:lnTo>
                    <a:pt x="0" y="0"/>
                  </a:lnTo>
                </a:path>
              </a:pathLst>
            </a:custGeom>
            <a:ln w="5270">
              <a:solidFill>
                <a:srgbClr val="231F20"/>
              </a:solidFill>
            </a:ln>
          </p:spPr>
          <p:txBody>
            <a:bodyPr wrap="square" lIns="0" tIns="0" rIns="0" bIns="0" rtlCol="0"/>
            <a:lstStyle/>
            <a:p>
              <a:endParaRPr/>
            </a:p>
          </p:txBody>
        </p:sp>
        <p:pic>
          <p:nvPicPr>
            <p:cNvPr id="16" name="object 16"/>
            <p:cNvPicPr/>
            <p:nvPr/>
          </p:nvPicPr>
          <p:blipFill>
            <a:blip r:embed="rId7" cstate="print"/>
            <a:stretch>
              <a:fillRect/>
            </a:stretch>
          </p:blipFill>
          <p:spPr>
            <a:xfrm>
              <a:off x="2362097" y="2028892"/>
              <a:ext cx="74377" cy="63748"/>
            </a:xfrm>
            <a:prstGeom prst="rect">
              <a:avLst/>
            </a:prstGeom>
          </p:spPr>
        </p:pic>
        <p:sp>
          <p:nvSpPr>
            <p:cNvPr id="17" name="object 17"/>
            <p:cNvSpPr/>
            <p:nvPr/>
          </p:nvSpPr>
          <p:spPr>
            <a:xfrm>
              <a:off x="1661558" y="2218890"/>
              <a:ext cx="701040" cy="0"/>
            </a:xfrm>
            <a:custGeom>
              <a:avLst/>
              <a:gdLst/>
              <a:ahLst/>
              <a:cxnLst/>
              <a:rect l="l" t="t" r="r" b="b"/>
              <a:pathLst>
                <a:path w="701039">
                  <a:moveTo>
                    <a:pt x="700539" y="0"/>
                  </a:moveTo>
                  <a:lnTo>
                    <a:pt x="0" y="0"/>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1624179" y="2187015"/>
              <a:ext cx="74380" cy="63753"/>
            </a:xfrm>
            <a:prstGeom prst="rect">
              <a:avLst/>
            </a:prstGeom>
          </p:spPr>
        </p:pic>
      </p:grpSp>
      <p:sp>
        <p:nvSpPr>
          <p:cNvPr id="19" name="object 19"/>
          <p:cNvSpPr txBox="1"/>
          <p:nvPr/>
        </p:nvSpPr>
        <p:spPr>
          <a:xfrm>
            <a:off x="2153497" y="1180778"/>
            <a:ext cx="438150" cy="220979"/>
          </a:xfrm>
          <a:prstGeom prst="rect">
            <a:avLst/>
          </a:prstGeom>
        </p:spPr>
        <p:txBody>
          <a:bodyPr vert="horz" wrap="square" lIns="0" tIns="21590" rIns="0" bIns="0" rtlCol="0">
            <a:spAutoFit/>
          </a:bodyPr>
          <a:lstStyle/>
          <a:p>
            <a:pPr marL="101600" marR="5080" indent="-89535">
              <a:lnSpc>
                <a:spcPts val="740"/>
              </a:lnSpc>
              <a:spcBef>
                <a:spcPts val="170"/>
              </a:spcBef>
            </a:pPr>
            <a:r>
              <a:rPr sz="650" spc="5" dirty="0">
                <a:solidFill>
                  <a:srgbClr val="231F20"/>
                </a:solidFill>
                <a:latin typeface="Arial"/>
                <a:cs typeface="Arial"/>
              </a:rPr>
              <a:t>Application  server</a:t>
            </a:r>
            <a:endParaRPr sz="650">
              <a:latin typeface="Arial"/>
              <a:cs typeface="Arial"/>
            </a:endParaRPr>
          </a:p>
        </p:txBody>
      </p:sp>
      <p:sp>
        <p:nvSpPr>
          <p:cNvPr id="26" name="object 26"/>
          <p:cNvSpPr txBox="1"/>
          <p:nvPr/>
        </p:nvSpPr>
        <p:spPr>
          <a:xfrm>
            <a:off x="66713" y="3331252"/>
            <a:ext cx="8401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9" action="ppaction://hlinksldjump"/>
              </a:rPr>
              <a:t>Multitiered</a:t>
            </a:r>
            <a:r>
              <a:rPr sz="600" spc="-1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Architectures</a:t>
            </a:r>
            <a:endParaRPr sz="600">
              <a:latin typeface="Arial"/>
              <a:cs typeface="Arial"/>
            </a:endParaRPr>
          </a:p>
        </p:txBody>
      </p:sp>
      <p:sp>
        <p:nvSpPr>
          <p:cNvPr id="27" name="object 2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36</a:t>
            </a:r>
          </a:p>
        </p:txBody>
      </p:sp>
      <p:sp>
        <p:nvSpPr>
          <p:cNvPr id="20" name="object 20"/>
          <p:cNvSpPr txBox="1"/>
          <p:nvPr/>
        </p:nvSpPr>
        <p:spPr>
          <a:xfrm>
            <a:off x="2929191" y="1180778"/>
            <a:ext cx="386715" cy="220979"/>
          </a:xfrm>
          <a:prstGeom prst="rect">
            <a:avLst/>
          </a:prstGeom>
        </p:spPr>
        <p:txBody>
          <a:bodyPr vert="horz" wrap="square" lIns="0" tIns="21590" rIns="0" bIns="0" rtlCol="0">
            <a:spAutoFit/>
          </a:bodyPr>
          <a:lstStyle/>
          <a:p>
            <a:pPr marL="75565" marR="5080" indent="-63500">
              <a:lnSpc>
                <a:spcPts val="740"/>
              </a:lnSpc>
              <a:spcBef>
                <a:spcPts val="170"/>
              </a:spcBef>
            </a:pPr>
            <a:r>
              <a:rPr sz="650" spc="5" dirty="0">
                <a:solidFill>
                  <a:srgbClr val="231F20"/>
                </a:solidFill>
                <a:latin typeface="Arial"/>
                <a:cs typeface="Arial"/>
              </a:rPr>
              <a:t>Database  server</a:t>
            </a:r>
            <a:endParaRPr sz="650">
              <a:latin typeface="Arial"/>
              <a:cs typeface="Arial"/>
            </a:endParaRPr>
          </a:p>
        </p:txBody>
      </p:sp>
      <p:sp>
        <p:nvSpPr>
          <p:cNvPr id="21" name="object 21"/>
          <p:cNvSpPr txBox="1"/>
          <p:nvPr/>
        </p:nvSpPr>
        <p:spPr>
          <a:xfrm>
            <a:off x="1803738" y="1358134"/>
            <a:ext cx="1119505" cy="387985"/>
          </a:xfrm>
          <a:prstGeom prst="rect">
            <a:avLst/>
          </a:prstGeom>
        </p:spPr>
        <p:txBody>
          <a:bodyPr vert="horz" wrap="square" lIns="0" tIns="21590" rIns="0" bIns="0" rtlCol="0">
            <a:spAutoFit/>
          </a:bodyPr>
          <a:lstStyle/>
          <a:p>
            <a:pPr marL="12700" marR="747395" algn="ctr">
              <a:lnSpc>
                <a:spcPts val="740"/>
              </a:lnSpc>
              <a:spcBef>
                <a:spcPts val="170"/>
              </a:spcBef>
            </a:pPr>
            <a:r>
              <a:rPr sz="650" spc="5" dirty="0">
                <a:solidFill>
                  <a:srgbClr val="231F20"/>
                </a:solidFill>
                <a:latin typeface="Arial"/>
                <a:cs typeface="Arial"/>
              </a:rPr>
              <a:t>Request </a:t>
            </a:r>
            <a:r>
              <a:rPr sz="650" spc="10" dirty="0">
                <a:solidFill>
                  <a:srgbClr val="231F20"/>
                </a:solidFill>
                <a:latin typeface="Arial"/>
                <a:cs typeface="Arial"/>
              </a:rPr>
              <a:t> </a:t>
            </a:r>
            <a:r>
              <a:rPr sz="650" spc="5" dirty="0">
                <a:solidFill>
                  <a:srgbClr val="231F20"/>
                </a:solidFill>
                <a:latin typeface="Arial"/>
                <a:cs typeface="Arial"/>
              </a:rPr>
              <a:t>operation</a:t>
            </a:r>
            <a:endParaRPr sz="650">
              <a:latin typeface="Arial"/>
              <a:cs typeface="Arial"/>
            </a:endParaRPr>
          </a:p>
          <a:p>
            <a:pPr marL="779780" algn="ctr">
              <a:lnSpc>
                <a:spcPts val="535"/>
              </a:lnSpc>
            </a:pPr>
            <a:r>
              <a:rPr sz="650" spc="5" dirty="0">
                <a:solidFill>
                  <a:srgbClr val="231F20"/>
                </a:solidFill>
                <a:latin typeface="Arial"/>
                <a:cs typeface="Arial"/>
              </a:rPr>
              <a:t>Request</a:t>
            </a:r>
            <a:endParaRPr sz="650">
              <a:latin typeface="Arial"/>
              <a:cs typeface="Arial"/>
            </a:endParaRPr>
          </a:p>
          <a:p>
            <a:pPr marL="779780" algn="ctr">
              <a:lnSpc>
                <a:spcPts val="760"/>
              </a:lnSpc>
            </a:pPr>
            <a:r>
              <a:rPr sz="650" spc="5" dirty="0">
                <a:solidFill>
                  <a:srgbClr val="231F20"/>
                </a:solidFill>
                <a:latin typeface="Arial"/>
                <a:cs typeface="Arial"/>
              </a:rPr>
              <a:t>data</a:t>
            </a:r>
            <a:endParaRPr sz="650">
              <a:latin typeface="Arial"/>
              <a:cs typeface="Arial"/>
            </a:endParaRPr>
          </a:p>
        </p:txBody>
      </p:sp>
      <p:sp>
        <p:nvSpPr>
          <p:cNvPr id="22" name="object 22"/>
          <p:cNvSpPr txBox="1"/>
          <p:nvPr/>
        </p:nvSpPr>
        <p:spPr>
          <a:xfrm>
            <a:off x="2598974" y="2057233"/>
            <a:ext cx="278765" cy="220979"/>
          </a:xfrm>
          <a:prstGeom prst="rect">
            <a:avLst/>
          </a:prstGeom>
        </p:spPr>
        <p:txBody>
          <a:bodyPr vert="horz" wrap="square" lIns="0" tIns="21590" rIns="0" bIns="0" rtlCol="0">
            <a:spAutoFit/>
          </a:bodyPr>
          <a:lstStyle/>
          <a:p>
            <a:pPr marL="57150" marR="5080" indent="-45085">
              <a:lnSpc>
                <a:spcPts val="740"/>
              </a:lnSpc>
              <a:spcBef>
                <a:spcPts val="170"/>
              </a:spcBef>
            </a:pPr>
            <a:r>
              <a:rPr sz="650" spc="5" dirty="0">
                <a:solidFill>
                  <a:srgbClr val="231F20"/>
                </a:solidFill>
                <a:latin typeface="Arial"/>
                <a:cs typeface="Arial"/>
              </a:rPr>
              <a:t>Return  data</a:t>
            </a:r>
            <a:endParaRPr sz="650">
              <a:latin typeface="Arial"/>
              <a:cs typeface="Arial"/>
            </a:endParaRPr>
          </a:p>
        </p:txBody>
      </p:sp>
      <p:sp>
        <p:nvSpPr>
          <p:cNvPr id="23" name="object 23"/>
          <p:cNvSpPr txBox="1"/>
          <p:nvPr/>
        </p:nvSpPr>
        <p:spPr>
          <a:xfrm>
            <a:off x="1875026" y="2220747"/>
            <a:ext cx="278765" cy="220979"/>
          </a:xfrm>
          <a:prstGeom prst="rect">
            <a:avLst/>
          </a:prstGeom>
        </p:spPr>
        <p:txBody>
          <a:bodyPr vert="horz" wrap="square" lIns="0" tIns="21590" rIns="0" bIns="0" rtlCol="0">
            <a:spAutoFit/>
          </a:bodyPr>
          <a:lstStyle/>
          <a:p>
            <a:pPr marL="47625" marR="5080" indent="-35560">
              <a:lnSpc>
                <a:spcPts val="740"/>
              </a:lnSpc>
              <a:spcBef>
                <a:spcPts val="170"/>
              </a:spcBef>
            </a:pPr>
            <a:r>
              <a:rPr sz="650" spc="5" dirty="0">
                <a:solidFill>
                  <a:srgbClr val="231F20"/>
                </a:solidFill>
                <a:latin typeface="Arial"/>
                <a:cs typeface="Arial"/>
              </a:rPr>
              <a:t>Return  reply</a:t>
            </a:r>
            <a:endParaRPr sz="650">
              <a:latin typeface="Arial"/>
              <a:cs typeface="Arial"/>
            </a:endParaRPr>
          </a:p>
        </p:txBody>
      </p:sp>
      <p:sp>
        <p:nvSpPr>
          <p:cNvPr id="24" name="object 24"/>
          <p:cNvSpPr txBox="1"/>
          <p:nvPr/>
        </p:nvSpPr>
        <p:spPr>
          <a:xfrm>
            <a:off x="1295233" y="1761595"/>
            <a:ext cx="313055" cy="220979"/>
          </a:xfrm>
          <a:prstGeom prst="rect">
            <a:avLst/>
          </a:prstGeom>
        </p:spPr>
        <p:txBody>
          <a:bodyPr vert="horz" wrap="square" lIns="0" tIns="21590" rIns="0" bIns="0" rtlCol="0">
            <a:spAutoFit/>
          </a:bodyPr>
          <a:lstStyle/>
          <a:p>
            <a:pPr marL="64769" marR="5080" indent="-52705">
              <a:lnSpc>
                <a:spcPts val="740"/>
              </a:lnSpc>
              <a:spcBef>
                <a:spcPts val="170"/>
              </a:spcBef>
            </a:pPr>
            <a:r>
              <a:rPr sz="650" spc="-15" dirty="0">
                <a:solidFill>
                  <a:srgbClr val="231F20"/>
                </a:solidFill>
                <a:latin typeface="Arial"/>
                <a:cs typeface="Arial"/>
              </a:rPr>
              <a:t>W</a:t>
            </a:r>
            <a:r>
              <a:rPr sz="650" dirty="0">
                <a:solidFill>
                  <a:srgbClr val="231F20"/>
                </a:solidFill>
                <a:latin typeface="Arial"/>
                <a:cs typeface="Arial"/>
              </a:rPr>
              <a:t>ait for  </a:t>
            </a:r>
            <a:r>
              <a:rPr sz="650" spc="5" dirty="0">
                <a:solidFill>
                  <a:srgbClr val="231F20"/>
                </a:solidFill>
                <a:latin typeface="Arial"/>
                <a:cs typeface="Arial"/>
              </a:rPr>
              <a:t>reply</a:t>
            </a:r>
            <a:endParaRPr sz="650">
              <a:latin typeface="Arial"/>
              <a:cs typeface="Arial"/>
            </a:endParaRPr>
          </a:p>
        </p:txBody>
      </p:sp>
      <p:sp>
        <p:nvSpPr>
          <p:cNvPr id="25" name="object 25"/>
          <p:cNvSpPr txBox="1"/>
          <p:nvPr/>
        </p:nvSpPr>
        <p:spPr>
          <a:xfrm>
            <a:off x="2008179" y="1763140"/>
            <a:ext cx="313055" cy="220979"/>
          </a:xfrm>
          <a:prstGeom prst="rect">
            <a:avLst/>
          </a:prstGeom>
        </p:spPr>
        <p:txBody>
          <a:bodyPr vert="horz" wrap="square" lIns="0" tIns="21590" rIns="0" bIns="0" rtlCol="0">
            <a:spAutoFit/>
          </a:bodyPr>
          <a:lstStyle/>
          <a:p>
            <a:pPr marL="74295" marR="5080" indent="-62230">
              <a:lnSpc>
                <a:spcPts val="740"/>
              </a:lnSpc>
              <a:spcBef>
                <a:spcPts val="170"/>
              </a:spcBef>
            </a:pPr>
            <a:r>
              <a:rPr sz="650" spc="-15" dirty="0">
                <a:solidFill>
                  <a:srgbClr val="231F20"/>
                </a:solidFill>
                <a:latin typeface="Arial"/>
                <a:cs typeface="Arial"/>
              </a:rPr>
              <a:t>W</a:t>
            </a:r>
            <a:r>
              <a:rPr sz="650" dirty="0">
                <a:solidFill>
                  <a:srgbClr val="231F20"/>
                </a:solidFill>
                <a:latin typeface="Arial"/>
                <a:cs typeface="Arial"/>
              </a:rPr>
              <a:t>ait for  </a:t>
            </a:r>
            <a:r>
              <a:rPr sz="650" spc="5" dirty="0">
                <a:solidFill>
                  <a:srgbClr val="231F20"/>
                </a:solidFill>
                <a:latin typeface="Arial"/>
                <a:cs typeface="Arial"/>
              </a:rPr>
              <a:t>data</a:t>
            </a:r>
            <a:endParaRPr sz="65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Decentralized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5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4165600" cy="265874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Alternative</a:t>
            </a:r>
            <a:r>
              <a:rPr sz="1400" spc="-40" dirty="0">
                <a:solidFill>
                  <a:srgbClr val="3333B2"/>
                </a:solidFill>
                <a:latin typeface="Arial"/>
                <a:cs typeface="Arial"/>
              </a:rPr>
              <a:t> </a:t>
            </a:r>
            <a:r>
              <a:rPr sz="1400" spc="15" dirty="0">
                <a:solidFill>
                  <a:srgbClr val="3333B2"/>
                </a:solidFill>
                <a:latin typeface="Arial"/>
                <a:cs typeface="Arial"/>
              </a:rPr>
              <a:t>organizations</a:t>
            </a:r>
            <a:endParaRPr sz="1400" dirty="0">
              <a:latin typeface="Arial"/>
              <a:cs typeface="Arial"/>
            </a:endParaRPr>
          </a:p>
          <a:p>
            <a:pPr>
              <a:lnSpc>
                <a:spcPct val="100000"/>
              </a:lnSpc>
              <a:spcBef>
                <a:spcPts val="5"/>
              </a:spcBef>
            </a:pPr>
            <a:endParaRPr sz="2150" dirty="0">
              <a:latin typeface="Arial"/>
              <a:cs typeface="Arial"/>
            </a:endParaRPr>
          </a:p>
          <a:p>
            <a:pPr marL="259079">
              <a:lnSpc>
                <a:spcPts val="1410"/>
              </a:lnSpc>
            </a:pPr>
            <a:r>
              <a:rPr sz="1200" spc="-10" dirty="0">
                <a:solidFill>
                  <a:srgbClr val="3333B2"/>
                </a:solidFill>
                <a:latin typeface="Arial"/>
                <a:cs typeface="Arial"/>
              </a:rPr>
              <a:t>Vertical</a:t>
            </a:r>
            <a:r>
              <a:rPr sz="1200" spc="-35" dirty="0">
                <a:solidFill>
                  <a:srgbClr val="3333B2"/>
                </a:solidFill>
                <a:latin typeface="Arial"/>
                <a:cs typeface="Arial"/>
              </a:rPr>
              <a:t> </a:t>
            </a:r>
            <a:r>
              <a:rPr sz="1200" spc="-5" dirty="0">
                <a:solidFill>
                  <a:srgbClr val="3333B2"/>
                </a:solidFill>
                <a:latin typeface="Arial"/>
                <a:cs typeface="Arial"/>
              </a:rPr>
              <a:t>distribution</a:t>
            </a:r>
            <a:endParaRPr sz="1200" dirty="0">
              <a:latin typeface="Arial"/>
              <a:cs typeface="Arial"/>
            </a:endParaRPr>
          </a:p>
          <a:p>
            <a:pPr marL="260350" marR="62230" indent="3810">
              <a:lnSpc>
                <a:spcPts val="1200"/>
              </a:lnSpc>
              <a:spcBef>
                <a:spcPts val="10"/>
              </a:spcBef>
            </a:pPr>
            <a:r>
              <a:rPr sz="1000" spc="-5" dirty="0">
                <a:latin typeface="Arial"/>
                <a:cs typeface="Arial"/>
              </a:rPr>
              <a:t>Comes</a:t>
            </a:r>
            <a:r>
              <a:rPr sz="1000" spc="5" dirty="0">
                <a:latin typeface="Arial"/>
                <a:cs typeface="Arial"/>
              </a:rPr>
              <a:t> </a:t>
            </a:r>
            <a:r>
              <a:rPr sz="1000" spc="-5" dirty="0">
                <a:latin typeface="Arial"/>
                <a:cs typeface="Arial"/>
              </a:rPr>
              <a:t>from</a:t>
            </a:r>
            <a:r>
              <a:rPr sz="1000" spc="5" dirty="0">
                <a:latin typeface="Arial"/>
                <a:cs typeface="Arial"/>
              </a:rPr>
              <a:t> </a:t>
            </a:r>
            <a:r>
              <a:rPr sz="1000" spc="-5" dirty="0">
                <a:latin typeface="Arial"/>
                <a:cs typeface="Arial"/>
              </a:rPr>
              <a:t>dividing</a:t>
            </a:r>
            <a:r>
              <a:rPr sz="1000" spc="10" dirty="0">
                <a:latin typeface="Arial"/>
                <a:cs typeface="Arial"/>
              </a:rPr>
              <a:t> </a:t>
            </a:r>
            <a:r>
              <a:rPr sz="1000" spc="-5" dirty="0">
                <a:latin typeface="Arial"/>
                <a:cs typeface="Arial"/>
              </a:rPr>
              <a:t>distributed</a:t>
            </a:r>
            <a:r>
              <a:rPr sz="1000" spc="5" dirty="0">
                <a:latin typeface="Arial"/>
                <a:cs typeface="Arial"/>
              </a:rPr>
              <a:t> </a:t>
            </a:r>
            <a:r>
              <a:rPr sz="1000" spc="-5" dirty="0">
                <a:latin typeface="Arial"/>
                <a:cs typeface="Arial"/>
              </a:rPr>
              <a:t>applications</a:t>
            </a:r>
            <a:r>
              <a:rPr sz="1000" spc="10" dirty="0">
                <a:latin typeface="Arial"/>
                <a:cs typeface="Arial"/>
              </a:rPr>
              <a:t> </a:t>
            </a:r>
            <a:r>
              <a:rPr sz="1000" spc="-5" dirty="0">
                <a:latin typeface="Arial"/>
                <a:cs typeface="Arial"/>
              </a:rPr>
              <a:t>into</a:t>
            </a:r>
            <a:r>
              <a:rPr sz="1000" spc="5" dirty="0">
                <a:latin typeface="Arial"/>
                <a:cs typeface="Arial"/>
              </a:rPr>
              <a:t> </a:t>
            </a:r>
            <a:r>
              <a:rPr sz="1000" spc="-5" dirty="0">
                <a:latin typeface="Arial"/>
                <a:cs typeface="Arial"/>
              </a:rPr>
              <a:t>three</a:t>
            </a:r>
            <a:r>
              <a:rPr sz="1000" spc="5" dirty="0">
                <a:latin typeface="Arial"/>
                <a:cs typeface="Arial"/>
              </a:rPr>
              <a:t> </a:t>
            </a:r>
            <a:r>
              <a:rPr sz="1000" spc="-5" dirty="0">
                <a:latin typeface="Arial"/>
                <a:cs typeface="Arial"/>
              </a:rPr>
              <a:t>logical</a:t>
            </a:r>
            <a:r>
              <a:rPr sz="1000" spc="10" dirty="0">
                <a:latin typeface="Arial"/>
                <a:cs typeface="Arial"/>
              </a:rPr>
              <a:t> </a:t>
            </a:r>
            <a:r>
              <a:rPr sz="1000" spc="-15" dirty="0">
                <a:latin typeface="Arial"/>
                <a:cs typeface="Arial"/>
              </a:rPr>
              <a:t>layers, </a:t>
            </a:r>
            <a:r>
              <a:rPr sz="1000" spc="-265" dirty="0">
                <a:latin typeface="Arial"/>
                <a:cs typeface="Arial"/>
              </a:rPr>
              <a:t> </a:t>
            </a:r>
            <a:r>
              <a:rPr sz="1000" spc="-5" dirty="0">
                <a:latin typeface="Arial"/>
                <a:cs typeface="Arial"/>
              </a:rPr>
              <a:t>and running</a:t>
            </a:r>
            <a:r>
              <a:rPr sz="1000" dirty="0">
                <a:latin typeface="Arial"/>
                <a:cs typeface="Arial"/>
              </a:rPr>
              <a:t> </a:t>
            </a:r>
            <a:r>
              <a:rPr sz="1000" spc="-5" dirty="0">
                <a:latin typeface="Arial"/>
                <a:cs typeface="Arial"/>
              </a:rPr>
              <a:t>the components</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each </a:t>
            </a:r>
            <a:r>
              <a:rPr sz="1000" spc="-15" dirty="0">
                <a:latin typeface="Arial"/>
                <a:cs typeface="Arial"/>
              </a:rPr>
              <a:t>layer</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a different</a:t>
            </a:r>
            <a:r>
              <a:rPr sz="1000" dirty="0">
                <a:latin typeface="Arial"/>
                <a:cs typeface="Arial"/>
              </a:rPr>
              <a:t> </a:t>
            </a:r>
            <a:r>
              <a:rPr sz="1000" spc="-5" dirty="0">
                <a:latin typeface="Arial"/>
                <a:cs typeface="Arial"/>
              </a:rPr>
              <a:t>server </a:t>
            </a:r>
            <a:r>
              <a:rPr sz="1000" dirty="0">
                <a:latin typeface="Arial"/>
                <a:cs typeface="Arial"/>
              </a:rPr>
              <a:t> </a:t>
            </a:r>
            <a:r>
              <a:rPr sz="1000" spc="-5" dirty="0">
                <a:latin typeface="Arial"/>
                <a:cs typeface="Arial"/>
              </a:rPr>
              <a:t>(machine).</a:t>
            </a:r>
            <a:endParaRPr sz="1000" dirty="0">
              <a:latin typeface="Arial"/>
              <a:cs typeface="Arial"/>
            </a:endParaRPr>
          </a:p>
          <a:p>
            <a:pPr marL="264160">
              <a:lnSpc>
                <a:spcPts val="1410"/>
              </a:lnSpc>
              <a:spcBef>
                <a:spcPts val="645"/>
              </a:spcBef>
            </a:pPr>
            <a:r>
              <a:rPr sz="1200" spc="-5" dirty="0">
                <a:solidFill>
                  <a:srgbClr val="3333B2"/>
                </a:solidFill>
                <a:latin typeface="Arial"/>
                <a:cs typeface="Arial"/>
              </a:rPr>
              <a:t>Horizontal</a:t>
            </a:r>
            <a:r>
              <a:rPr sz="1200" spc="-30" dirty="0">
                <a:solidFill>
                  <a:srgbClr val="3333B2"/>
                </a:solidFill>
                <a:latin typeface="Arial"/>
                <a:cs typeface="Arial"/>
              </a:rPr>
              <a:t> </a:t>
            </a:r>
            <a:r>
              <a:rPr sz="1200" spc="-5" dirty="0">
                <a:solidFill>
                  <a:srgbClr val="3333B2"/>
                </a:solidFill>
                <a:latin typeface="Arial"/>
                <a:cs typeface="Arial"/>
              </a:rPr>
              <a:t>distribution</a:t>
            </a:r>
            <a:endParaRPr sz="1200" dirty="0">
              <a:latin typeface="Arial"/>
              <a:cs typeface="Arial"/>
            </a:endParaRPr>
          </a:p>
          <a:p>
            <a:pPr marL="264160" marR="5080" indent="-4445">
              <a:lnSpc>
                <a:spcPts val="1200"/>
              </a:lnSpc>
              <a:spcBef>
                <a:spcPts val="10"/>
              </a:spcBef>
            </a:pPr>
            <a:r>
              <a:rPr sz="1000" spc="-5" dirty="0">
                <a:latin typeface="Arial"/>
                <a:cs typeface="Arial"/>
              </a:rPr>
              <a:t>A client</a:t>
            </a:r>
            <a:r>
              <a:rPr sz="1000" dirty="0">
                <a:latin typeface="Arial"/>
                <a:cs typeface="Arial"/>
              </a:rPr>
              <a:t> </a:t>
            </a:r>
            <a:r>
              <a:rPr sz="1000" spc="-5" dirty="0">
                <a:latin typeface="Arial"/>
                <a:cs typeface="Arial"/>
              </a:rPr>
              <a:t>or server</a:t>
            </a:r>
            <a:r>
              <a:rPr sz="1000" dirty="0">
                <a:latin typeface="Arial"/>
                <a:cs typeface="Arial"/>
              </a:rPr>
              <a:t> </a:t>
            </a:r>
            <a:r>
              <a:rPr sz="1000" spc="-15" dirty="0">
                <a:latin typeface="Arial"/>
                <a:cs typeface="Arial"/>
              </a:rPr>
              <a:t>may</a:t>
            </a:r>
            <a:r>
              <a:rPr sz="1000" spc="-5" dirty="0">
                <a:latin typeface="Arial"/>
                <a:cs typeface="Arial"/>
              </a:rPr>
              <a:t> be</a:t>
            </a:r>
            <a:r>
              <a:rPr sz="1000" dirty="0">
                <a:latin typeface="Arial"/>
                <a:cs typeface="Arial"/>
              </a:rPr>
              <a:t> </a:t>
            </a:r>
            <a:r>
              <a:rPr sz="1000" spc="-5" dirty="0">
                <a:latin typeface="Arial"/>
                <a:cs typeface="Arial"/>
              </a:rPr>
              <a:t>physically split</a:t>
            </a:r>
            <a:r>
              <a:rPr sz="1000" dirty="0">
                <a:latin typeface="Arial"/>
                <a:cs typeface="Arial"/>
              </a:rPr>
              <a:t> </a:t>
            </a:r>
            <a:r>
              <a:rPr sz="1000" spc="-5" dirty="0">
                <a:latin typeface="Arial"/>
                <a:cs typeface="Arial"/>
              </a:rPr>
              <a:t>up into</a:t>
            </a:r>
            <a:r>
              <a:rPr sz="1000" dirty="0">
                <a:latin typeface="Arial"/>
                <a:cs typeface="Arial"/>
              </a:rPr>
              <a:t> </a:t>
            </a:r>
            <a:r>
              <a:rPr sz="1000" spc="-5" dirty="0">
                <a:latin typeface="Arial"/>
                <a:cs typeface="Arial"/>
              </a:rPr>
              <a:t>logically equivalent </a:t>
            </a:r>
            <a:r>
              <a:rPr sz="1000" dirty="0">
                <a:latin typeface="Arial"/>
                <a:cs typeface="Arial"/>
              </a:rPr>
              <a:t> </a:t>
            </a:r>
            <a:r>
              <a:rPr sz="1000" spc="-5" dirty="0">
                <a:latin typeface="Arial"/>
                <a:cs typeface="Arial"/>
              </a:rPr>
              <a:t>parts,</a:t>
            </a:r>
            <a:r>
              <a:rPr sz="1000" dirty="0">
                <a:latin typeface="Arial"/>
                <a:cs typeface="Arial"/>
              </a:rPr>
              <a:t> </a:t>
            </a:r>
            <a:r>
              <a:rPr sz="1000" spc="-15" dirty="0">
                <a:latin typeface="Arial"/>
                <a:cs typeface="Arial"/>
              </a:rPr>
              <a:t>but</a:t>
            </a:r>
            <a:r>
              <a:rPr sz="1000" dirty="0">
                <a:latin typeface="Arial"/>
                <a:cs typeface="Arial"/>
              </a:rPr>
              <a:t> </a:t>
            </a:r>
            <a:r>
              <a:rPr sz="1000" spc="-10" dirty="0">
                <a:latin typeface="Arial"/>
                <a:cs typeface="Arial"/>
              </a:rPr>
              <a:t>each</a:t>
            </a:r>
            <a:r>
              <a:rPr sz="1000" dirty="0">
                <a:latin typeface="Arial"/>
                <a:cs typeface="Arial"/>
              </a:rPr>
              <a:t> part </a:t>
            </a:r>
            <a:r>
              <a:rPr sz="1000" spc="-5" dirty="0">
                <a:latin typeface="Arial"/>
                <a:cs typeface="Arial"/>
              </a:rPr>
              <a:t>is</a:t>
            </a:r>
            <a:r>
              <a:rPr sz="1000" dirty="0">
                <a:latin typeface="Arial"/>
                <a:cs typeface="Arial"/>
              </a:rPr>
              <a:t> </a:t>
            </a:r>
            <a:r>
              <a:rPr sz="1000" spc="-10" dirty="0">
                <a:latin typeface="Arial"/>
                <a:cs typeface="Arial"/>
              </a:rPr>
              <a:t>operating</a:t>
            </a:r>
            <a:r>
              <a:rPr sz="1000" spc="5" dirty="0">
                <a:latin typeface="Arial"/>
                <a:cs typeface="Arial"/>
              </a:rPr>
              <a:t> </a:t>
            </a:r>
            <a:r>
              <a:rPr sz="1000" spc="-10" dirty="0">
                <a:latin typeface="Arial"/>
                <a:cs typeface="Arial"/>
              </a:rPr>
              <a:t>on</a:t>
            </a:r>
            <a:r>
              <a:rPr sz="1000" dirty="0">
                <a:latin typeface="Arial"/>
                <a:cs typeface="Arial"/>
              </a:rPr>
              <a:t> </a:t>
            </a:r>
            <a:r>
              <a:rPr sz="1000" spc="-5" dirty="0">
                <a:latin typeface="Arial"/>
                <a:cs typeface="Arial"/>
              </a:rPr>
              <a:t>its</a:t>
            </a:r>
            <a:r>
              <a:rPr sz="1000" dirty="0">
                <a:latin typeface="Arial"/>
                <a:cs typeface="Arial"/>
              </a:rPr>
              <a:t> </a:t>
            </a:r>
            <a:r>
              <a:rPr sz="1000" spc="-15" dirty="0">
                <a:latin typeface="Arial"/>
                <a:cs typeface="Arial"/>
              </a:rPr>
              <a:t>own</a:t>
            </a:r>
            <a:r>
              <a:rPr sz="1000" dirty="0">
                <a:latin typeface="Arial"/>
                <a:cs typeface="Arial"/>
              </a:rPr>
              <a:t> </a:t>
            </a:r>
            <a:r>
              <a:rPr sz="1000" spc="-10" dirty="0">
                <a:latin typeface="Arial"/>
                <a:cs typeface="Arial"/>
              </a:rPr>
              <a:t>share</a:t>
            </a:r>
            <a:r>
              <a:rPr sz="1000" dirty="0">
                <a:latin typeface="Arial"/>
                <a:cs typeface="Arial"/>
              </a:rPr>
              <a:t> </a:t>
            </a:r>
            <a:r>
              <a:rPr sz="1000" spc="-10" dirty="0">
                <a:latin typeface="Arial"/>
                <a:cs typeface="Arial"/>
              </a:rPr>
              <a:t>of</a:t>
            </a:r>
            <a:r>
              <a:rPr sz="1000" spc="5" dirty="0">
                <a:latin typeface="Arial"/>
                <a:cs typeface="Arial"/>
              </a:rPr>
              <a:t> </a:t>
            </a:r>
            <a:r>
              <a:rPr sz="1000" spc="-10" dirty="0">
                <a:latin typeface="Arial"/>
                <a:cs typeface="Arial"/>
              </a:rPr>
              <a:t>the</a:t>
            </a:r>
            <a:r>
              <a:rPr sz="1000" dirty="0">
                <a:latin typeface="Arial"/>
                <a:cs typeface="Arial"/>
              </a:rPr>
              <a:t> </a:t>
            </a:r>
            <a:r>
              <a:rPr sz="1000" spc="-10" dirty="0">
                <a:latin typeface="Arial"/>
                <a:cs typeface="Arial"/>
              </a:rPr>
              <a:t>complete</a:t>
            </a:r>
            <a:r>
              <a:rPr sz="1000" dirty="0">
                <a:latin typeface="Arial"/>
                <a:cs typeface="Arial"/>
              </a:rPr>
              <a:t> </a:t>
            </a:r>
            <a:r>
              <a:rPr sz="1000" spc="-10" dirty="0">
                <a:latin typeface="Arial"/>
                <a:cs typeface="Arial"/>
              </a:rPr>
              <a:t>data </a:t>
            </a:r>
            <a:r>
              <a:rPr sz="1000" spc="-265" dirty="0">
                <a:latin typeface="Arial"/>
                <a:cs typeface="Arial"/>
              </a:rPr>
              <a:t> </a:t>
            </a:r>
            <a:r>
              <a:rPr sz="1000" spc="-5" dirty="0">
                <a:latin typeface="Arial"/>
                <a:cs typeface="Arial"/>
              </a:rPr>
              <a:t>set.</a:t>
            </a:r>
            <a:endParaRPr sz="1000" dirty="0">
              <a:latin typeface="Arial"/>
              <a:cs typeface="Arial"/>
            </a:endParaRPr>
          </a:p>
          <a:p>
            <a:pPr marL="264160" algn="just">
              <a:lnSpc>
                <a:spcPct val="100000"/>
              </a:lnSpc>
              <a:spcBef>
                <a:spcPts val="645"/>
              </a:spcBef>
            </a:pPr>
            <a:r>
              <a:rPr sz="1200" spc="-10" dirty="0">
                <a:solidFill>
                  <a:srgbClr val="3333B2"/>
                </a:solidFill>
                <a:latin typeface="Arial"/>
                <a:cs typeface="Arial"/>
              </a:rPr>
              <a:t>Peer-to-peer</a:t>
            </a:r>
            <a:r>
              <a:rPr sz="1200" spc="-20" dirty="0">
                <a:solidFill>
                  <a:srgbClr val="3333B2"/>
                </a:solidFill>
                <a:latin typeface="Arial"/>
                <a:cs typeface="Arial"/>
              </a:rPr>
              <a:t> </a:t>
            </a:r>
            <a:r>
              <a:rPr sz="1200" spc="-5" dirty="0">
                <a:solidFill>
                  <a:srgbClr val="3333B2"/>
                </a:solidFill>
                <a:latin typeface="Arial"/>
                <a:cs typeface="Arial"/>
              </a:rPr>
              <a:t>architectures</a:t>
            </a:r>
            <a:endParaRPr sz="1200" dirty="0">
              <a:latin typeface="Arial"/>
              <a:cs typeface="Arial"/>
            </a:endParaRPr>
          </a:p>
          <a:p>
            <a:pPr marL="264160" marR="16510" algn="just">
              <a:lnSpc>
                <a:spcPct val="100000"/>
              </a:lnSpc>
              <a:spcBef>
                <a:spcPts val="175"/>
              </a:spcBef>
            </a:pPr>
            <a:r>
              <a:rPr sz="1000" spc="-5" dirty="0">
                <a:latin typeface="Arial"/>
                <a:cs typeface="Arial"/>
              </a:rPr>
              <a:t>Processes are all equal: the functions that need to be carried out are </a:t>
            </a:r>
            <a:r>
              <a:rPr sz="1000" dirty="0">
                <a:latin typeface="Arial"/>
                <a:cs typeface="Arial"/>
              </a:rPr>
              <a:t> </a:t>
            </a:r>
            <a:r>
              <a:rPr sz="1000" spc="-5" dirty="0">
                <a:latin typeface="Arial"/>
                <a:cs typeface="Arial"/>
              </a:rPr>
              <a:t>represented </a:t>
            </a:r>
            <a:r>
              <a:rPr sz="1000" spc="-15" dirty="0">
                <a:latin typeface="Arial"/>
                <a:cs typeface="Arial"/>
              </a:rPr>
              <a:t>by </a:t>
            </a:r>
            <a:r>
              <a:rPr sz="1000" spc="-10" dirty="0">
                <a:latin typeface="Arial"/>
                <a:cs typeface="Arial"/>
              </a:rPr>
              <a:t>every </a:t>
            </a:r>
            <a:r>
              <a:rPr sz="1000" spc="-5" dirty="0">
                <a:latin typeface="Arial"/>
                <a:cs typeface="Arial"/>
              </a:rPr>
              <a:t>process </a:t>
            </a:r>
            <a:r>
              <a:rPr sz="1000" i="1" spc="-5" dirty="0">
                <a:latin typeface="メイリオ"/>
                <a:cs typeface="メイリオ"/>
              </a:rPr>
              <a:t>⇒ </a:t>
            </a:r>
            <a:r>
              <a:rPr sz="1000" spc="-5" dirty="0">
                <a:latin typeface="Arial"/>
                <a:cs typeface="Arial"/>
              </a:rPr>
              <a:t>each process will act as a client and </a:t>
            </a:r>
            <a:r>
              <a:rPr sz="1000" spc="-265" dirty="0">
                <a:latin typeface="Arial"/>
                <a:cs typeface="Arial"/>
              </a:rPr>
              <a:t> </a:t>
            </a:r>
            <a:r>
              <a:rPr sz="1000" spc="-5" dirty="0">
                <a:latin typeface="Arial"/>
                <a:cs typeface="Arial"/>
              </a:rPr>
              <a:t>a server at the same time (i.e.,</a:t>
            </a:r>
            <a:r>
              <a:rPr sz="1000" dirty="0">
                <a:latin typeface="Arial"/>
                <a:cs typeface="Arial"/>
              </a:rPr>
              <a:t> </a:t>
            </a:r>
            <a:r>
              <a:rPr sz="1000" spc="-5" dirty="0">
                <a:latin typeface="Arial"/>
                <a:cs typeface="Arial"/>
              </a:rPr>
              <a:t>acting as a </a:t>
            </a:r>
            <a:r>
              <a:rPr sz="1000" spc="-5" dirty="0">
                <a:solidFill>
                  <a:srgbClr val="FA0000"/>
                </a:solidFill>
                <a:latin typeface="Arial"/>
                <a:cs typeface="Arial"/>
              </a:rPr>
              <a:t>servant</a:t>
            </a:r>
            <a:r>
              <a:rPr sz="1000" spc="-5" dirty="0">
                <a:latin typeface="Arial"/>
                <a:cs typeface="Arial"/>
              </a:rPr>
              <a:t>).</a:t>
            </a:r>
            <a:endParaRPr sz="1000" dirty="0">
              <a:latin typeface="Arial"/>
              <a:cs typeface="Arial"/>
            </a:endParaRPr>
          </a:p>
        </p:txBody>
      </p:sp>
      <p:sp>
        <p:nvSpPr>
          <p:cNvPr id="5" name="object 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62250"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Decentralized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6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1263650" cy="244475"/>
          </a:xfrm>
          <a:prstGeom prst="rect">
            <a:avLst/>
          </a:prstGeom>
        </p:spPr>
        <p:txBody>
          <a:bodyPr vert="horz" wrap="square" lIns="0" tIns="17145" rIns="0" bIns="0" rtlCol="0">
            <a:spAutoFit/>
          </a:bodyPr>
          <a:lstStyle/>
          <a:p>
            <a:pPr marL="12700">
              <a:lnSpc>
                <a:spcPct val="100000"/>
              </a:lnSpc>
              <a:spcBef>
                <a:spcPts val="135"/>
              </a:spcBef>
            </a:pPr>
            <a:r>
              <a:rPr spc="15" dirty="0"/>
              <a:t>Structured</a:t>
            </a:r>
            <a:r>
              <a:rPr spc="-50" dirty="0"/>
              <a:t> </a:t>
            </a:r>
            <a:r>
              <a:rPr spc="20" dirty="0"/>
              <a:t>P2P</a:t>
            </a:r>
          </a:p>
        </p:txBody>
      </p:sp>
      <p:sp>
        <p:nvSpPr>
          <p:cNvPr id="4" name="object 4"/>
          <p:cNvSpPr txBox="1"/>
          <p:nvPr/>
        </p:nvSpPr>
        <p:spPr>
          <a:xfrm>
            <a:off x="347294" y="456575"/>
            <a:ext cx="3913504" cy="133286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12700" marR="5080">
              <a:lnSpc>
                <a:spcPts val="1200"/>
              </a:lnSpc>
              <a:spcBef>
                <a:spcPts val="10"/>
              </a:spcBef>
            </a:pPr>
            <a:r>
              <a:rPr sz="1000" spc="-10" dirty="0">
                <a:latin typeface="Arial"/>
                <a:cs typeface="Arial"/>
              </a:rPr>
              <a:t>Make</a:t>
            </a:r>
            <a:r>
              <a:rPr sz="1000" spc="-5" dirty="0">
                <a:latin typeface="Arial"/>
                <a:cs typeface="Arial"/>
              </a:rPr>
              <a:t> use</a:t>
            </a:r>
            <a:r>
              <a:rPr sz="1000" dirty="0">
                <a:latin typeface="Arial"/>
                <a:cs typeface="Arial"/>
              </a:rPr>
              <a:t> </a:t>
            </a:r>
            <a:r>
              <a:rPr sz="1000" spc="-5" dirty="0">
                <a:latin typeface="Arial"/>
                <a:cs typeface="Arial"/>
              </a:rPr>
              <a:t>of a</a:t>
            </a:r>
            <a:r>
              <a:rPr sz="1000" dirty="0">
                <a:latin typeface="Arial"/>
                <a:cs typeface="Arial"/>
              </a:rPr>
              <a:t> </a:t>
            </a:r>
            <a:r>
              <a:rPr sz="1000" spc="-5" dirty="0">
                <a:solidFill>
                  <a:srgbClr val="0000FA"/>
                </a:solidFill>
                <a:latin typeface="Arial"/>
                <a:cs typeface="Arial"/>
              </a:rPr>
              <a:t>semantic-free </a:t>
            </a:r>
            <a:r>
              <a:rPr sz="1000" spc="-10" dirty="0">
                <a:solidFill>
                  <a:srgbClr val="0000FA"/>
                </a:solidFill>
                <a:latin typeface="Arial"/>
                <a:cs typeface="Arial"/>
              </a:rPr>
              <a:t>index</a:t>
            </a:r>
            <a:r>
              <a:rPr sz="1000" spc="-10" dirty="0">
                <a:latin typeface="Arial"/>
                <a:cs typeface="Arial"/>
              </a:rPr>
              <a:t>:</a:t>
            </a:r>
            <a:r>
              <a:rPr sz="1000" spc="65" dirty="0">
                <a:latin typeface="Arial"/>
                <a:cs typeface="Arial"/>
              </a:rPr>
              <a:t> </a:t>
            </a:r>
            <a:r>
              <a:rPr sz="1000" spc="-5" dirty="0">
                <a:latin typeface="Arial"/>
                <a:cs typeface="Arial"/>
              </a:rPr>
              <a:t>each data</a:t>
            </a:r>
            <a:r>
              <a:rPr sz="1000" dirty="0">
                <a:latin typeface="Arial"/>
                <a:cs typeface="Arial"/>
              </a:rPr>
              <a:t> </a:t>
            </a:r>
            <a:r>
              <a:rPr sz="1000" spc="-5" dirty="0">
                <a:latin typeface="Arial"/>
                <a:cs typeface="Arial"/>
              </a:rPr>
              <a:t>item is</a:t>
            </a:r>
            <a:r>
              <a:rPr sz="1000" dirty="0">
                <a:latin typeface="Arial"/>
                <a:cs typeface="Arial"/>
              </a:rPr>
              <a:t> </a:t>
            </a:r>
            <a:r>
              <a:rPr sz="1000" spc="-5" dirty="0">
                <a:latin typeface="Arial"/>
                <a:cs typeface="Arial"/>
              </a:rPr>
              <a:t>uniquely </a:t>
            </a:r>
            <a:r>
              <a:rPr sz="1000" dirty="0">
                <a:latin typeface="Arial"/>
                <a:cs typeface="Arial"/>
              </a:rPr>
              <a:t> </a:t>
            </a:r>
            <a:r>
              <a:rPr sz="1000" spc="-10" dirty="0">
                <a:latin typeface="Arial"/>
                <a:cs typeface="Arial"/>
              </a:rPr>
              <a:t>associated with</a:t>
            </a:r>
            <a:r>
              <a:rPr sz="1000" spc="-5" dirty="0">
                <a:latin typeface="Arial"/>
                <a:cs typeface="Arial"/>
              </a:rPr>
              <a:t> </a:t>
            </a:r>
            <a:r>
              <a:rPr sz="1000" spc="-15" dirty="0">
                <a:latin typeface="Arial"/>
                <a:cs typeface="Arial"/>
              </a:rPr>
              <a:t>a</a:t>
            </a:r>
            <a:r>
              <a:rPr sz="1000" spc="-5" dirty="0">
                <a:latin typeface="Arial"/>
                <a:cs typeface="Arial"/>
              </a:rPr>
              <a:t> </a:t>
            </a:r>
            <a:r>
              <a:rPr sz="1000" spc="-50" dirty="0">
                <a:latin typeface="Arial"/>
                <a:cs typeface="Arial"/>
              </a:rPr>
              <a:t>key,</a:t>
            </a:r>
            <a:r>
              <a:rPr sz="1000" spc="-5" dirty="0">
                <a:latin typeface="Arial"/>
                <a:cs typeface="Arial"/>
              </a:rPr>
              <a:t> </a:t>
            </a:r>
            <a:r>
              <a:rPr sz="1000" spc="-10" dirty="0">
                <a:latin typeface="Arial"/>
                <a:cs typeface="Arial"/>
              </a:rPr>
              <a:t>in</a:t>
            </a:r>
            <a:r>
              <a:rPr sz="1000" spc="-5" dirty="0">
                <a:latin typeface="Arial"/>
                <a:cs typeface="Arial"/>
              </a:rPr>
              <a:t> turn</a:t>
            </a:r>
            <a:r>
              <a:rPr sz="1000" spc="-10" dirty="0">
                <a:latin typeface="Arial"/>
                <a:cs typeface="Arial"/>
              </a:rPr>
              <a:t> </a:t>
            </a:r>
            <a:r>
              <a:rPr sz="1000" spc="-15" dirty="0">
                <a:latin typeface="Arial"/>
                <a:cs typeface="Arial"/>
              </a:rPr>
              <a:t>used</a:t>
            </a:r>
            <a:r>
              <a:rPr sz="1000" spc="-5" dirty="0">
                <a:latin typeface="Arial"/>
                <a:cs typeface="Arial"/>
              </a:rPr>
              <a:t> </a:t>
            </a:r>
            <a:r>
              <a:rPr sz="1000" spc="-15" dirty="0">
                <a:latin typeface="Arial"/>
                <a:cs typeface="Arial"/>
              </a:rPr>
              <a:t>as</a:t>
            </a:r>
            <a:r>
              <a:rPr sz="1000" spc="-5" dirty="0">
                <a:latin typeface="Arial"/>
                <a:cs typeface="Arial"/>
              </a:rPr>
              <a:t> </a:t>
            </a:r>
            <a:r>
              <a:rPr sz="1000" spc="-15" dirty="0">
                <a:latin typeface="Arial"/>
                <a:cs typeface="Arial"/>
              </a:rPr>
              <a:t>an</a:t>
            </a:r>
            <a:r>
              <a:rPr sz="1000" spc="-5" dirty="0">
                <a:latin typeface="Arial"/>
                <a:cs typeface="Arial"/>
              </a:rPr>
              <a:t> </a:t>
            </a:r>
            <a:r>
              <a:rPr sz="1000" spc="-15" dirty="0">
                <a:latin typeface="Arial"/>
                <a:cs typeface="Arial"/>
              </a:rPr>
              <a:t>index.</a:t>
            </a:r>
            <a:r>
              <a:rPr sz="1000" spc="60" dirty="0">
                <a:latin typeface="Arial"/>
                <a:cs typeface="Arial"/>
              </a:rPr>
              <a:t> </a:t>
            </a:r>
            <a:r>
              <a:rPr sz="1000" spc="-15" dirty="0">
                <a:latin typeface="Arial"/>
                <a:cs typeface="Arial"/>
              </a:rPr>
              <a:t>Common</a:t>
            </a:r>
            <a:r>
              <a:rPr sz="1000" spc="-5" dirty="0">
                <a:latin typeface="Arial"/>
                <a:cs typeface="Arial"/>
              </a:rPr>
              <a:t> </a:t>
            </a:r>
            <a:r>
              <a:rPr sz="1000" spc="-10" dirty="0">
                <a:latin typeface="Arial"/>
                <a:cs typeface="Arial"/>
              </a:rPr>
              <a:t>practice:</a:t>
            </a:r>
            <a:r>
              <a:rPr sz="1000" spc="55" dirty="0">
                <a:latin typeface="Arial"/>
                <a:cs typeface="Arial"/>
              </a:rPr>
              <a:t> </a:t>
            </a:r>
            <a:r>
              <a:rPr sz="1000" spc="-15" dirty="0">
                <a:latin typeface="Arial"/>
                <a:cs typeface="Arial"/>
              </a:rPr>
              <a:t>use </a:t>
            </a:r>
            <a:r>
              <a:rPr sz="1000" spc="-260" dirty="0">
                <a:latin typeface="Arial"/>
                <a:cs typeface="Arial"/>
              </a:rPr>
              <a:t> </a:t>
            </a:r>
            <a:r>
              <a:rPr sz="1000" spc="-5" dirty="0">
                <a:latin typeface="Arial"/>
                <a:cs typeface="Arial"/>
              </a:rPr>
              <a:t>a</a:t>
            </a:r>
            <a:r>
              <a:rPr sz="1000" spc="-10" dirty="0">
                <a:latin typeface="Arial"/>
                <a:cs typeface="Arial"/>
              </a:rPr>
              <a:t> </a:t>
            </a:r>
            <a:r>
              <a:rPr sz="1000" spc="-5" dirty="0">
                <a:solidFill>
                  <a:srgbClr val="FA0000"/>
                </a:solidFill>
                <a:latin typeface="Arial"/>
                <a:cs typeface="Arial"/>
              </a:rPr>
              <a:t>hash function</a:t>
            </a:r>
            <a:endParaRPr sz="1000">
              <a:latin typeface="Arial"/>
              <a:cs typeface="Arial"/>
            </a:endParaRPr>
          </a:p>
          <a:p>
            <a:pPr marL="800100">
              <a:lnSpc>
                <a:spcPct val="100000"/>
              </a:lnSpc>
              <a:spcBef>
                <a:spcPts val="345"/>
              </a:spcBef>
            </a:pPr>
            <a:r>
              <a:rPr sz="1000" i="1" dirty="0">
                <a:latin typeface="Arial"/>
                <a:cs typeface="Arial"/>
              </a:rPr>
              <a:t>key</a:t>
            </a:r>
            <a:r>
              <a:rPr sz="1000" dirty="0">
                <a:latin typeface="Arial"/>
                <a:cs typeface="Arial"/>
              </a:rPr>
              <a:t>(</a:t>
            </a:r>
            <a:r>
              <a:rPr sz="1000" i="1" dirty="0">
                <a:latin typeface="Arial"/>
                <a:cs typeface="Arial"/>
              </a:rPr>
              <a:t>data</a:t>
            </a:r>
            <a:r>
              <a:rPr sz="1000" i="1" spc="-10" dirty="0">
                <a:latin typeface="Arial"/>
                <a:cs typeface="Arial"/>
              </a:rPr>
              <a:t> </a:t>
            </a:r>
            <a:r>
              <a:rPr sz="1000" i="1" spc="5" dirty="0">
                <a:latin typeface="Arial"/>
                <a:cs typeface="Arial"/>
              </a:rPr>
              <a:t>item</a:t>
            </a:r>
            <a:r>
              <a:rPr sz="1000" spc="5" dirty="0">
                <a:latin typeface="Arial"/>
                <a:cs typeface="Arial"/>
              </a:rPr>
              <a:t>)</a:t>
            </a:r>
            <a:r>
              <a:rPr sz="1000" spc="-65" dirty="0">
                <a:latin typeface="Arial"/>
                <a:cs typeface="Arial"/>
              </a:rPr>
              <a:t> </a:t>
            </a:r>
            <a:r>
              <a:rPr sz="1000" spc="190" dirty="0">
                <a:latin typeface="Arial"/>
                <a:cs typeface="Arial"/>
              </a:rPr>
              <a:t>=</a:t>
            </a:r>
            <a:r>
              <a:rPr sz="1000" spc="-65" dirty="0">
                <a:latin typeface="Arial"/>
                <a:cs typeface="Arial"/>
              </a:rPr>
              <a:t> </a:t>
            </a:r>
            <a:r>
              <a:rPr sz="1000" i="1" dirty="0">
                <a:latin typeface="Arial"/>
                <a:cs typeface="Arial"/>
              </a:rPr>
              <a:t>hash</a:t>
            </a:r>
            <a:r>
              <a:rPr sz="1000" dirty="0">
                <a:latin typeface="Arial"/>
                <a:cs typeface="Arial"/>
              </a:rPr>
              <a:t>(</a:t>
            </a:r>
            <a:r>
              <a:rPr sz="1000" i="1" dirty="0">
                <a:latin typeface="Arial"/>
                <a:cs typeface="Arial"/>
              </a:rPr>
              <a:t>data</a:t>
            </a:r>
            <a:r>
              <a:rPr sz="1000" i="1" spc="-10" dirty="0">
                <a:latin typeface="Arial"/>
                <a:cs typeface="Arial"/>
              </a:rPr>
              <a:t> item’s </a:t>
            </a:r>
            <a:r>
              <a:rPr sz="1000" i="1" dirty="0">
                <a:latin typeface="Arial"/>
                <a:cs typeface="Arial"/>
              </a:rPr>
              <a:t>value</a:t>
            </a:r>
            <a:r>
              <a:rPr sz="1000" dirty="0">
                <a:latin typeface="Arial"/>
                <a:cs typeface="Arial"/>
              </a:rPr>
              <a:t>)</a:t>
            </a:r>
            <a:r>
              <a:rPr sz="1000" i="1" dirty="0">
                <a:latin typeface="Arial"/>
                <a:cs typeface="Arial"/>
              </a:rPr>
              <a:t>.</a:t>
            </a:r>
            <a:endParaRPr sz="1000">
              <a:latin typeface="Arial"/>
              <a:cs typeface="Arial"/>
            </a:endParaRPr>
          </a:p>
          <a:p>
            <a:pPr marL="12700">
              <a:lnSpc>
                <a:spcPct val="100000"/>
              </a:lnSpc>
              <a:spcBef>
                <a:spcPts val="395"/>
              </a:spcBef>
            </a:pPr>
            <a:r>
              <a:rPr sz="1000" spc="-5" dirty="0">
                <a:latin typeface="Arial"/>
                <a:cs typeface="Arial"/>
              </a:rPr>
              <a:t>P2P system </a:t>
            </a:r>
            <a:r>
              <a:rPr sz="1000" spc="-10" dirty="0">
                <a:latin typeface="Arial"/>
                <a:cs typeface="Arial"/>
              </a:rPr>
              <a:t>now</a:t>
            </a:r>
            <a:r>
              <a:rPr sz="1000" dirty="0">
                <a:latin typeface="Arial"/>
                <a:cs typeface="Arial"/>
              </a:rPr>
              <a:t> </a:t>
            </a:r>
            <a:r>
              <a:rPr sz="1000" spc="-5" dirty="0">
                <a:latin typeface="Arial"/>
                <a:cs typeface="Arial"/>
              </a:rPr>
              <a:t>responsible </a:t>
            </a:r>
            <a:r>
              <a:rPr sz="1000" spc="-15" dirty="0">
                <a:latin typeface="Arial"/>
                <a:cs typeface="Arial"/>
              </a:rPr>
              <a:t>for</a:t>
            </a:r>
            <a:r>
              <a:rPr sz="1000" spc="-5" dirty="0">
                <a:latin typeface="Arial"/>
                <a:cs typeface="Arial"/>
              </a:rPr>
              <a:t> storing</a:t>
            </a:r>
            <a:r>
              <a:rPr sz="1000" dirty="0">
                <a:latin typeface="Arial"/>
                <a:cs typeface="Arial"/>
              </a:rPr>
              <a:t> </a:t>
            </a:r>
            <a:r>
              <a:rPr sz="1000" spc="-10" dirty="0">
                <a:latin typeface="Arial"/>
                <a:cs typeface="Arial"/>
              </a:rPr>
              <a:t>(</a:t>
            </a:r>
            <a:r>
              <a:rPr sz="1000" i="1" spc="-10" dirty="0">
                <a:latin typeface="Arial"/>
                <a:cs typeface="Arial"/>
              </a:rPr>
              <a:t>key</a:t>
            </a:r>
            <a:r>
              <a:rPr sz="1000" spc="-10" dirty="0">
                <a:latin typeface="Arial"/>
                <a:cs typeface="Arial"/>
              </a:rPr>
              <a:t>,</a:t>
            </a:r>
            <a:r>
              <a:rPr sz="1000" i="1" spc="-10" dirty="0">
                <a:latin typeface="Arial"/>
                <a:cs typeface="Arial"/>
              </a:rPr>
              <a:t>value</a:t>
            </a:r>
            <a:r>
              <a:rPr sz="1000" spc="-10" dirty="0">
                <a:latin typeface="Arial"/>
                <a:cs typeface="Arial"/>
              </a:rPr>
              <a:t>)</a:t>
            </a:r>
            <a:r>
              <a:rPr sz="1000" spc="-5" dirty="0">
                <a:latin typeface="Arial"/>
                <a:cs typeface="Arial"/>
              </a:rPr>
              <a:t> pairs.</a:t>
            </a:r>
            <a:endParaRPr sz="1000">
              <a:latin typeface="Arial"/>
              <a:cs typeface="Arial"/>
            </a:endParaRPr>
          </a:p>
          <a:p>
            <a:pPr marL="12700">
              <a:lnSpc>
                <a:spcPct val="100000"/>
              </a:lnSpc>
              <a:spcBef>
                <a:spcPts val="695"/>
              </a:spcBef>
            </a:pPr>
            <a:r>
              <a:rPr sz="1200" spc="-5" dirty="0">
                <a:solidFill>
                  <a:srgbClr val="007C00"/>
                </a:solidFill>
                <a:latin typeface="Arial"/>
                <a:cs typeface="Arial"/>
              </a:rPr>
              <a:t>Simple</a:t>
            </a:r>
            <a:r>
              <a:rPr sz="1200" spc="-20" dirty="0">
                <a:solidFill>
                  <a:srgbClr val="007C00"/>
                </a:solidFill>
                <a:latin typeface="Arial"/>
                <a:cs typeface="Arial"/>
              </a:rPr>
              <a:t> </a:t>
            </a:r>
            <a:r>
              <a:rPr sz="1200" spc="-10" dirty="0">
                <a:solidFill>
                  <a:srgbClr val="007C00"/>
                </a:solidFill>
                <a:latin typeface="Arial"/>
                <a:cs typeface="Arial"/>
              </a:rPr>
              <a:t>example:</a:t>
            </a:r>
            <a:r>
              <a:rPr sz="1200" spc="65" dirty="0">
                <a:solidFill>
                  <a:srgbClr val="007C00"/>
                </a:solidFill>
                <a:latin typeface="Arial"/>
                <a:cs typeface="Arial"/>
              </a:rPr>
              <a:t> </a:t>
            </a:r>
            <a:r>
              <a:rPr sz="1200" spc="-10" dirty="0">
                <a:solidFill>
                  <a:srgbClr val="007C00"/>
                </a:solidFill>
                <a:latin typeface="Arial"/>
                <a:cs typeface="Arial"/>
              </a:rPr>
              <a:t>hypercube</a:t>
            </a:r>
            <a:endParaRPr sz="1200">
              <a:latin typeface="Arial"/>
              <a:cs typeface="Arial"/>
            </a:endParaRPr>
          </a:p>
        </p:txBody>
      </p:sp>
      <p:sp>
        <p:nvSpPr>
          <p:cNvPr id="5" name="object 5"/>
          <p:cNvSpPr txBox="1"/>
          <p:nvPr/>
        </p:nvSpPr>
        <p:spPr>
          <a:xfrm>
            <a:off x="1301483" y="1971475"/>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0000</a:t>
            </a:r>
            <a:endParaRPr sz="550">
              <a:latin typeface="Arial"/>
              <a:cs typeface="Arial"/>
            </a:endParaRPr>
          </a:p>
        </p:txBody>
      </p:sp>
      <p:sp>
        <p:nvSpPr>
          <p:cNvPr id="6" name="object 6"/>
          <p:cNvSpPr txBox="1"/>
          <p:nvPr/>
        </p:nvSpPr>
        <p:spPr>
          <a:xfrm>
            <a:off x="2858336" y="2046090"/>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1000</a:t>
            </a:r>
            <a:endParaRPr sz="550">
              <a:latin typeface="Arial"/>
              <a:cs typeface="Arial"/>
            </a:endParaRPr>
          </a:p>
        </p:txBody>
      </p:sp>
      <p:sp>
        <p:nvSpPr>
          <p:cNvPr id="7" name="object 7"/>
          <p:cNvSpPr txBox="1"/>
          <p:nvPr/>
        </p:nvSpPr>
        <p:spPr>
          <a:xfrm>
            <a:off x="1331967" y="2437169"/>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0100</a:t>
            </a:r>
            <a:endParaRPr sz="550">
              <a:latin typeface="Arial"/>
              <a:cs typeface="Arial"/>
            </a:endParaRPr>
          </a:p>
        </p:txBody>
      </p:sp>
      <p:sp>
        <p:nvSpPr>
          <p:cNvPr id="8" name="object 8"/>
          <p:cNvSpPr txBox="1"/>
          <p:nvPr/>
        </p:nvSpPr>
        <p:spPr>
          <a:xfrm>
            <a:off x="2846878" y="2576660"/>
            <a:ext cx="184150" cy="114300"/>
          </a:xfrm>
          <a:prstGeom prst="rect">
            <a:avLst/>
          </a:prstGeom>
        </p:spPr>
        <p:txBody>
          <a:bodyPr vert="horz" wrap="square" lIns="0" tIns="16510" rIns="0" bIns="0" rtlCol="0">
            <a:spAutoFit/>
          </a:bodyPr>
          <a:lstStyle/>
          <a:p>
            <a:pPr marL="12700">
              <a:lnSpc>
                <a:spcPct val="100000"/>
              </a:lnSpc>
              <a:spcBef>
                <a:spcPts val="130"/>
              </a:spcBef>
            </a:pPr>
            <a:r>
              <a:rPr sz="550" spc="-30" dirty="0">
                <a:solidFill>
                  <a:srgbClr val="231F20"/>
                </a:solidFill>
                <a:latin typeface="Arial"/>
                <a:cs typeface="Arial"/>
              </a:rPr>
              <a:t>1</a:t>
            </a:r>
            <a:r>
              <a:rPr sz="550" spc="15" dirty="0">
                <a:solidFill>
                  <a:srgbClr val="231F20"/>
                </a:solidFill>
                <a:latin typeface="Arial"/>
                <a:cs typeface="Arial"/>
              </a:rPr>
              <a:t>100</a:t>
            </a:r>
            <a:endParaRPr sz="550">
              <a:latin typeface="Arial"/>
              <a:cs typeface="Arial"/>
            </a:endParaRPr>
          </a:p>
        </p:txBody>
      </p:sp>
      <p:sp>
        <p:nvSpPr>
          <p:cNvPr id="9" name="object 9"/>
          <p:cNvSpPr txBox="1"/>
          <p:nvPr/>
        </p:nvSpPr>
        <p:spPr>
          <a:xfrm>
            <a:off x="2169549" y="1986306"/>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0001</a:t>
            </a:r>
            <a:endParaRPr sz="550">
              <a:latin typeface="Arial"/>
              <a:cs typeface="Arial"/>
            </a:endParaRPr>
          </a:p>
        </p:txBody>
      </p:sp>
      <p:sp>
        <p:nvSpPr>
          <p:cNvPr id="10" name="object 10"/>
          <p:cNvSpPr txBox="1"/>
          <p:nvPr/>
        </p:nvSpPr>
        <p:spPr>
          <a:xfrm>
            <a:off x="3414051" y="1990033"/>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1001</a:t>
            </a:r>
            <a:endParaRPr sz="550">
              <a:latin typeface="Arial"/>
              <a:cs typeface="Arial"/>
            </a:endParaRPr>
          </a:p>
        </p:txBody>
      </p:sp>
      <p:sp>
        <p:nvSpPr>
          <p:cNvPr id="11" name="object 11"/>
          <p:cNvSpPr txBox="1"/>
          <p:nvPr/>
        </p:nvSpPr>
        <p:spPr>
          <a:xfrm>
            <a:off x="2169549" y="2526582"/>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0101</a:t>
            </a:r>
            <a:endParaRPr sz="550">
              <a:latin typeface="Arial"/>
              <a:cs typeface="Arial"/>
            </a:endParaRPr>
          </a:p>
        </p:txBody>
      </p:sp>
      <p:sp>
        <p:nvSpPr>
          <p:cNvPr id="12" name="object 12"/>
          <p:cNvSpPr txBox="1"/>
          <p:nvPr/>
        </p:nvSpPr>
        <p:spPr>
          <a:xfrm>
            <a:off x="3405597" y="2519130"/>
            <a:ext cx="184150" cy="114300"/>
          </a:xfrm>
          <a:prstGeom prst="rect">
            <a:avLst/>
          </a:prstGeom>
        </p:spPr>
        <p:txBody>
          <a:bodyPr vert="horz" wrap="square" lIns="0" tIns="16510" rIns="0" bIns="0" rtlCol="0">
            <a:spAutoFit/>
          </a:bodyPr>
          <a:lstStyle/>
          <a:p>
            <a:pPr marL="12700">
              <a:lnSpc>
                <a:spcPct val="100000"/>
              </a:lnSpc>
              <a:spcBef>
                <a:spcPts val="130"/>
              </a:spcBef>
            </a:pPr>
            <a:r>
              <a:rPr sz="550" spc="-30" dirty="0">
                <a:solidFill>
                  <a:srgbClr val="231F20"/>
                </a:solidFill>
                <a:latin typeface="Arial"/>
                <a:cs typeface="Arial"/>
              </a:rPr>
              <a:t>1</a:t>
            </a:r>
            <a:r>
              <a:rPr sz="550" spc="15" dirty="0">
                <a:solidFill>
                  <a:srgbClr val="231F20"/>
                </a:solidFill>
                <a:latin typeface="Arial"/>
                <a:cs typeface="Arial"/>
              </a:rPr>
              <a:t>101</a:t>
            </a:r>
            <a:endParaRPr sz="550">
              <a:latin typeface="Arial"/>
              <a:cs typeface="Arial"/>
            </a:endParaRPr>
          </a:p>
        </p:txBody>
      </p:sp>
      <p:sp>
        <p:nvSpPr>
          <p:cNvPr id="13" name="object 13"/>
          <p:cNvSpPr txBox="1"/>
          <p:nvPr/>
        </p:nvSpPr>
        <p:spPr>
          <a:xfrm>
            <a:off x="1022035" y="2172175"/>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0010</a:t>
            </a:r>
            <a:endParaRPr sz="550">
              <a:latin typeface="Arial"/>
              <a:cs typeface="Arial"/>
            </a:endParaRPr>
          </a:p>
        </p:txBody>
      </p:sp>
      <p:sp>
        <p:nvSpPr>
          <p:cNvPr id="14" name="object 14"/>
          <p:cNvSpPr txBox="1"/>
          <p:nvPr/>
        </p:nvSpPr>
        <p:spPr>
          <a:xfrm>
            <a:off x="2574914" y="2253888"/>
            <a:ext cx="189865"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1010</a:t>
            </a:r>
            <a:endParaRPr sz="550">
              <a:latin typeface="Arial"/>
              <a:cs typeface="Arial"/>
            </a:endParaRPr>
          </a:p>
        </p:txBody>
      </p:sp>
      <p:sp>
        <p:nvSpPr>
          <p:cNvPr id="15" name="object 15"/>
          <p:cNvSpPr txBox="1"/>
          <p:nvPr/>
        </p:nvSpPr>
        <p:spPr>
          <a:xfrm>
            <a:off x="1892824" y="2180060"/>
            <a:ext cx="184150"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00</a:t>
            </a:r>
            <a:r>
              <a:rPr sz="550" spc="-30" dirty="0">
                <a:solidFill>
                  <a:srgbClr val="231F20"/>
                </a:solidFill>
                <a:latin typeface="Arial"/>
                <a:cs typeface="Arial"/>
              </a:rPr>
              <a:t>1</a:t>
            </a:r>
            <a:r>
              <a:rPr sz="550" spc="15" dirty="0">
                <a:solidFill>
                  <a:srgbClr val="231F20"/>
                </a:solidFill>
                <a:latin typeface="Arial"/>
                <a:cs typeface="Arial"/>
              </a:rPr>
              <a:t>1</a:t>
            </a:r>
            <a:endParaRPr sz="550">
              <a:latin typeface="Arial"/>
              <a:cs typeface="Arial"/>
            </a:endParaRPr>
          </a:p>
        </p:txBody>
      </p:sp>
      <p:sp>
        <p:nvSpPr>
          <p:cNvPr id="16" name="object 16"/>
          <p:cNvSpPr txBox="1"/>
          <p:nvPr/>
        </p:nvSpPr>
        <p:spPr>
          <a:xfrm>
            <a:off x="3129452" y="2180072"/>
            <a:ext cx="184150" cy="114300"/>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10</a:t>
            </a:r>
            <a:r>
              <a:rPr sz="550" spc="-30" dirty="0">
                <a:solidFill>
                  <a:srgbClr val="231F20"/>
                </a:solidFill>
                <a:latin typeface="Arial"/>
                <a:cs typeface="Arial"/>
              </a:rPr>
              <a:t>1</a:t>
            </a:r>
            <a:r>
              <a:rPr sz="550" spc="15" dirty="0">
                <a:solidFill>
                  <a:srgbClr val="231F20"/>
                </a:solidFill>
                <a:latin typeface="Arial"/>
                <a:cs typeface="Arial"/>
              </a:rPr>
              <a:t>1</a:t>
            </a:r>
            <a:endParaRPr sz="550">
              <a:latin typeface="Arial"/>
              <a:cs typeface="Arial"/>
            </a:endParaRPr>
          </a:p>
        </p:txBody>
      </p:sp>
      <p:sp>
        <p:nvSpPr>
          <p:cNvPr id="17" name="object 17"/>
          <p:cNvSpPr txBox="1"/>
          <p:nvPr/>
        </p:nvSpPr>
        <p:spPr>
          <a:xfrm>
            <a:off x="964172" y="2713332"/>
            <a:ext cx="2386330" cy="184785"/>
          </a:xfrm>
          <a:prstGeom prst="rect">
            <a:avLst/>
          </a:prstGeom>
        </p:spPr>
        <p:txBody>
          <a:bodyPr vert="horz" wrap="square" lIns="0" tIns="16510" rIns="0" bIns="0" rtlCol="0">
            <a:spAutoFit/>
          </a:bodyPr>
          <a:lstStyle/>
          <a:p>
            <a:pPr marL="63500">
              <a:lnSpc>
                <a:spcPts val="605"/>
              </a:lnSpc>
              <a:spcBef>
                <a:spcPts val="130"/>
              </a:spcBef>
              <a:tabLst>
                <a:tab pos="951230" algn="l"/>
                <a:tab pos="2186940" algn="l"/>
              </a:tabLst>
            </a:pPr>
            <a:r>
              <a:rPr sz="825" spc="7" baseline="10101" dirty="0">
                <a:solidFill>
                  <a:srgbClr val="231F20"/>
                </a:solidFill>
                <a:latin typeface="Arial"/>
                <a:cs typeface="Arial"/>
              </a:rPr>
              <a:t>0110	</a:t>
            </a:r>
            <a:r>
              <a:rPr sz="825" spc="-15" baseline="5050" dirty="0">
                <a:solidFill>
                  <a:srgbClr val="231F20"/>
                </a:solidFill>
                <a:latin typeface="Arial"/>
                <a:cs typeface="Arial"/>
              </a:rPr>
              <a:t>0111	</a:t>
            </a:r>
            <a:r>
              <a:rPr sz="550" spc="-20" dirty="0">
                <a:solidFill>
                  <a:srgbClr val="231F20"/>
                </a:solidFill>
                <a:latin typeface="Arial"/>
                <a:cs typeface="Arial"/>
              </a:rPr>
              <a:t>1111</a:t>
            </a:r>
            <a:endParaRPr sz="550">
              <a:latin typeface="Arial"/>
              <a:cs typeface="Arial"/>
            </a:endParaRPr>
          </a:p>
          <a:p>
            <a:pPr marR="589280" algn="r">
              <a:lnSpc>
                <a:spcPts val="605"/>
              </a:lnSpc>
            </a:pPr>
            <a:r>
              <a:rPr sz="550" spc="-10" dirty="0">
                <a:solidFill>
                  <a:srgbClr val="231F20"/>
                </a:solidFill>
                <a:latin typeface="Arial"/>
                <a:cs typeface="Arial"/>
              </a:rPr>
              <a:t>1110</a:t>
            </a:r>
            <a:endParaRPr sz="550">
              <a:latin typeface="Arial"/>
              <a:cs typeface="Arial"/>
            </a:endParaRPr>
          </a:p>
        </p:txBody>
      </p:sp>
      <p:grpSp>
        <p:nvGrpSpPr>
          <p:cNvPr id="18" name="object 18"/>
          <p:cNvGrpSpPr/>
          <p:nvPr/>
        </p:nvGrpSpPr>
        <p:grpSpPr>
          <a:xfrm>
            <a:off x="1224750" y="1911469"/>
            <a:ext cx="2174875" cy="973455"/>
            <a:chOff x="1224750" y="1911469"/>
            <a:chExt cx="2174875" cy="973455"/>
          </a:xfrm>
        </p:grpSpPr>
        <p:sp>
          <p:nvSpPr>
            <p:cNvPr id="19" name="object 19"/>
            <p:cNvSpPr/>
            <p:nvPr/>
          </p:nvSpPr>
          <p:spPr>
            <a:xfrm>
              <a:off x="1808108" y="2111760"/>
              <a:ext cx="1252220" cy="117475"/>
            </a:xfrm>
            <a:custGeom>
              <a:avLst/>
              <a:gdLst/>
              <a:ahLst/>
              <a:cxnLst/>
              <a:rect l="l" t="t" r="r" b="b"/>
              <a:pathLst>
                <a:path w="1252220" h="117475">
                  <a:moveTo>
                    <a:pt x="0" y="117469"/>
                  </a:moveTo>
                  <a:lnTo>
                    <a:pt x="470811" y="0"/>
                  </a:lnTo>
                  <a:lnTo>
                    <a:pt x="870546" y="13052"/>
                  </a:lnTo>
                  <a:lnTo>
                    <a:pt x="1147965" y="78313"/>
                  </a:lnTo>
                  <a:lnTo>
                    <a:pt x="1251824" y="117469"/>
                  </a:lnTo>
                </a:path>
              </a:pathLst>
            </a:custGeom>
            <a:ln w="5270">
              <a:solidFill>
                <a:srgbClr val="231F20"/>
              </a:solidFill>
            </a:ln>
          </p:spPr>
          <p:txBody>
            <a:bodyPr wrap="square" lIns="0" tIns="0" rIns="0" bIns="0" rtlCol="0"/>
            <a:lstStyle/>
            <a:p>
              <a:endParaRPr/>
            </a:p>
          </p:txBody>
        </p:sp>
        <p:sp>
          <p:nvSpPr>
            <p:cNvPr id="20" name="object 20"/>
            <p:cNvSpPr/>
            <p:nvPr/>
          </p:nvSpPr>
          <p:spPr>
            <a:xfrm>
              <a:off x="1293269" y="2237202"/>
              <a:ext cx="1767205" cy="1905"/>
            </a:xfrm>
            <a:custGeom>
              <a:avLst/>
              <a:gdLst/>
              <a:ahLst/>
              <a:cxnLst/>
              <a:rect l="l" t="t" r="r" b="b"/>
              <a:pathLst>
                <a:path w="1767205" h="1905">
                  <a:moveTo>
                    <a:pt x="0" y="0"/>
                  </a:moveTo>
                  <a:lnTo>
                    <a:pt x="527083" y="0"/>
                  </a:lnTo>
                </a:path>
                <a:path w="1767205" h="1905">
                  <a:moveTo>
                    <a:pt x="1239581" y="1428"/>
                  </a:moveTo>
                  <a:lnTo>
                    <a:pt x="1766663" y="1428"/>
                  </a:lnTo>
                </a:path>
              </a:pathLst>
            </a:custGeom>
            <a:ln w="5270">
              <a:solidFill>
                <a:srgbClr val="231F20"/>
              </a:solidFill>
            </a:ln>
          </p:spPr>
          <p:txBody>
            <a:bodyPr wrap="square" lIns="0" tIns="0" rIns="0" bIns="0" rtlCol="0"/>
            <a:lstStyle/>
            <a:p>
              <a:endParaRPr/>
            </a:p>
          </p:txBody>
        </p:sp>
        <p:sp>
          <p:nvSpPr>
            <p:cNvPr id="21" name="object 21"/>
            <p:cNvSpPr/>
            <p:nvPr/>
          </p:nvSpPr>
          <p:spPr>
            <a:xfrm>
              <a:off x="1808108" y="2638840"/>
              <a:ext cx="1252220" cy="117475"/>
            </a:xfrm>
            <a:custGeom>
              <a:avLst/>
              <a:gdLst/>
              <a:ahLst/>
              <a:cxnLst/>
              <a:rect l="l" t="t" r="r" b="b"/>
              <a:pathLst>
                <a:path w="1252220" h="117475">
                  <a:moveTo>
                    <a:pt x="0" y="117467"/>
                  </a:moveTo>
                  <a:lnTo>
                    <a:pt x="470811" y="0"/>
                  </a:lnTo>
                  <a:lnTo>
                    <a:pt x="870546" y="13051"/>
                  </a:lnTo>
                  <a:lnTo>
                    <a:pt x="1147965" y="78311"/>
                  </a:lnTo>
                  <a:lnTo>
                    <a:pt x="1251824" y="117467"/>
                  </a:lnTo>
                </a:path>
              </a:pathLst>
            </a:custGeom>
            <a:ln w="5270">
              <a:solidFill>
                <a:srgbClr val="231F20"/>
              </a:solidFill>
            </a:ln>
          </p:spPr>
          <p:txBody>
            <a:bodyPr wrap="square" lIns="0" tIns="0" rIns="0" bIns="0" rtlCol="0"/>
            <a:lstStyle/>
            <a:p>
              <a:endParaRPr/>
            </a:p>
          </p:txBody>
        </p:sp>
        <p:sp>
          <p:nvSpPr>
            <p:cNvPr id="22" name="object 22"/>
            <p:cNvSpPr/>
            <p:nvPr/>
          </p:nvSpPr>
          <p:spPr>
            <a:xfrm>
              <a:off x="1293269" y="2237202"/>
              <a:ext cx="1767205" cy="528955"/>
            </a:xfrm>
            <a:custGeom>
              <a:avLst/>
              <a:gdLst/>
              <a:ahLst/>
              <a:cxnLst/>
              <a:rect l="l" t="t" r="r" b="b"/>
              <a:pathLst>
                <a:path w="1767205" h="528955">
                  <a:moveTo>
                    <a:pt x="0" y="527082"/>
                  </a:moveTo>
                  <a:lnTo>
                    <a:pt x="527083" y="527082"/>
                  </a:lnTo>
                </a:path>
                <a:path w="1767205" h="528955">
                  <a:moveTo>
                    <a:pt x="1239581" y="528510"/>
                  </a:moveTo>
                  <a:lnTo>
                    <a:pt x="1766663" y="528510"/>
                  </a:lnTo>
                </a:path>
                <a:path w="1767205" h="528955">
                  <a:moveTo>
                    <a:pt x="0" y="0"/>
                  </a:moveTo>
                  <a:lnTo>
                    <a:pt x="0" y="527082"/>
                  </a:lnTo>
                </a:path>
                <a:path w="1767205" h="528955">
                  <a:moveTo>
                    <a:pt x="1239581" y="1428"/>
                  </a:moveTo>
                  <a:lnTo>
                    <a:pt x="1239581" y="528510"/>
                  </a:lnTo>
                </a:path>
              </a:pathLst>
            </a:custGeom>
            <a:ln w="5270">
              <a:solidFill>
                <a:srgbClr val="231F20"/>
              </a:solidFill>
            </a:ln>
          </p:spPr>
          <p:txBody>
            <a:bodyPr wrap="square" lIns="0" tIns="0" rIns="0" bIns="0" rtlCol="0"/>
            <a:lstStyle/>
            <a:p>
              <a:endParaRPr/>
            </a:p>
          </p:txBody>
        </p:sp>
        <p:sp>
          <p:nvSpPr>
            <p:cNvPr id="23" name="object 23"/>
            <p:cNvSpPr/>
            <p:nvPr/>
          </p:nvSpPr>
          <p:spPr>
            <a:xfrm>
              <a:off x="2071649" y="1914104"/>
              <a:ext cx="1252220" cy="117475"/>
            </a:xfrm>
            <a:custGeom>
              <a:avLst/>
              <a:gdLst/>
              <a:ahLst/>
              <a:cxnLst/>
              <a:rect l="l" t="t" r="r" b="b"/>
              <a:pathLst>
                <a:path w="1252220" h="117475">
                  <a:moveTo>
                    <a:pt x="0" y="117469"/>
                  </a:moveTo>
                  <a:lnTo>
                    <a:pt x="470808" y="0"/>
                  </a:lnTo>
                  <a:lnTo>
                    <a:pt x="870542" y="13052"/>
                  </a:lnTo>
                  <a:lnTo>
                    <a:pt x="1147959" y="78312"/>
                  </a:lnTo>
                  <a:lnTo>
                    <a:pt x="1251819" y="117469"/>
                  </a:lnTo>
                </a:path>
              </a:pathLst>
            </a:custGeom>
            <a:ln w="5270">
              <a:solidFill>
                <a:srgbClr val="231F20"/>
              </a:solidFill>
              <a:prstDash val="lgDash"/>
            </a:ln>
          </p:spPr>
          <p:txBody>
            <a:bodyPr wrap="square" lIns="0" tIns="0" rIns="0" bIns="0" rtlCol="0"/>
            <a:lstStyle/>
            <a:p>
              <a:endParaRPr/>
            </a:p>
          </p:txBody>
        </p:sp>
        <p:sp>
          <p:nvSpPr>
            <p:cNvPr id="24" name="object 24"/>
            <p:cNvSpPr/>
            <p:nvPr/>
          </p:nvSpPr>
          <p:spPr>
            <a:xfrm>
              <a:off x="1563993" y="2038256"/>
              <a:ext cx="1767205" cy="528955"/>
            </a:xfrm>
            <a:custGeom>
              <a:avLst/>
              <a:gdLst/>
              <a:ahLst/>
              <a:cxnLst/>
              <a:rect l="l" t="t" r="r" b="b"/>
              <a:pathLst>
                <a:path w="1767204" h="528955">
                  <a:moveTo>
                    <a:pt x="0" y="0"/>
                  </a:moveTo>
                  <a:lnTo>
                    <a:pt x="527084" y="0"/>
                  </a:lnTo>
                </a:path>
                <a:path w="1767204" h="528955">
                  <a:moveTo>
                    <a:pt x="1239572" y="1425"/>
                  </a:moveTo>
                  <a:lnTo>
                    <a:pt x="1766653" y="1425"/>
                  </a:lnTo>
                </a:path>
                <a:path w="1767204" h="528955">
                  <a:moveTo>
                    <a:pt x="0" y="527082"/>
                  </a:moveTo>
                  <a:lnTo>
                    <a:pt x="527084" y="527082"/>
                  </a:lnTo>
                </a:path>
                <a:path w="1767204" h="528955">
                  <a:moveTo>
                    <a:pt x="0" y="0"/>
                  </a:moveTo>
                  <a:lnTo>
                    <a:pt x="0" y="527082"/>
                  </a:lnTo>
                </a:path>
                <a:path w="1767204" h="528955">
                  <a:moveTo>
                    <a:pt x="1239572" y="528507"/>
                  </a:moveTo>
                  <a:lnTo>
                    <a:pt x="1766653" y="528507"/>
                  </a:lnTo>
                </a:path>
                <a:path w="1767204" h="528955">
                  <a:moveTo>
                    <a:pt x="1239572" y="1425"/>
                  </a:moveTo>
                  <a:lnTo>
                    <a:pt x="1239572" y="528507"/>
                  </a:lnTo>
                </a:path>
              </a:pathLst>
            </a:custGeom>
            <a:ln w="5270">
              <a:solidFill>
                <a:srgbClr val="231F20"/>
              </a:solidFill>
              <a:prstDash val="lgDash"/>
            </a:ln>
          </p:spPr>
          <p:txBody>
            <a:bodyPr wrap="square" lIns="0" tIns="0" rIns="0" bIns="0" rtlCol="0"/>
            <a:lstStyle/>
            <a:p>
              <a:endParaRPr/>
            </a:p>
          </p:txBody>
        </p:sp>
        <p:sp>
          <p:nvSpPr>
            <p:cNvPr id="25" name="object 25"/>
            <p:cNvSpPr/>
            <p:nvPr/>
          </p:nvSpPr>
          <p:spPr>
            <a:xfrm>
              <a:off x="1820353" y="2237202"/>
              <a:ext cx="1240155" cy="528955"/>
            </a:xfrm>
            <a:custGeom>
              <a:avLst/>
              <a:gdLst/>
              <a:ahLst/>
              <a:cxnLst/>
              <a:rect l="l" t="t" r="r" b="b"/>
              <a:pathLst>
                <a:path w="1240155" h="528955">
                  <a:moveTo>
                    <a:pt x="0" y="0"/>
                  </a:moveTo>
                  <a:lnTo>
                    <a:pt x="0" y="527082"/>
                  </a:lnTo>
                </a:path>
                <a:path w="1240155" h="528955">
                  <a:moveTo>
                    <a:pt x="1239579" y="1428"/>
                  </a:moveTo>
                  <a:lnTo>
                    <a:pt x="1239579" y="528510"/>
                  </a:lnTo>
                </a:path>
              </a:pathLst>
            </a:custGeom>
            <a:ln w="5270">
              <a:solidFill>
                <a:srgbClr val="231F20"/>
              </a:solidFill>
            </a:ln>
          </p:spPr>
          <p:txBody>
            <a:bodyPr wrap="square" lIns="0" tIns="0" rIns="0" bIns="0" rtlCol="0"/>
            <a:lstStyle/>
            <a:p>
              <a:endParaRPr/>
            </a:p>
          </p:txBody>
        </p:sp>
        <p:sp>
          <p:nvSpPr>
            <p:cNvPr id="26" name="object 26"/>
            <p:cNvSpPr/>
            <p:nvPr/>
          </p:nvSpPr>
          <p:spPr>
            <a:xfrm>
              <a:off x="2091078" y="2038256"/>
              <a:ext cx="1240155" cy="528955"/>
            </a:xfrm>
            <a:custGeom>
              <a:avLst/>
              <a:gdLst/>
              <a:ahLst/>
              <a:cxnLst/>
              <a:rect l="l" t="t" r="r" b="b"/>
              <a:pathLst>
                <a:path w="1240154" h="528955">
                  <a:moveTo>
                    <a:pt x="0" y="0"/>
                  </a:moveTo>
                  <a:lnTo>
                    <a:pt x="0" y="527082"/>
                  </a:lnTo>
                </a:path>
                <a:path w="1240154" h="528955">
                  <a:moveTo>
                    <a:pt x="1239568" y="1425"/>
                  </a:moveTo>
                  <a:lnTo>
                    <a:pt x="1239568" y="528507"/>
                  </a:lnTo>
                </a:path>
              </a:pathLst>
            </a:custGeom>
            <a:ln w="5270">
              <a:solidFill>
                <a:srgbClr val="231F20"/>
              </a:solidFill>
              <a:prstDash val="lgDash"/>
            </a:ln>
          </p:spPr>
          <p:txBody>
            <a:bodyPr wrap="square" lIns="0" tIns="0" rIns="0" bIns="0" rtlCol="0"/>
            <a:lstStyle/>
            <a:p>
              <a:endParaRPr/>
            </a:p>
          </p:txBody>
        </p:sp>
        <p:sp>
          <p:nvSpPr>
            <p:cNvPr id="27" name="object 27"/>
            <p:cNvSpPr/>
            <p:nvPr/>
          </p:nvSpPr>
          <p:spPr>
            <a:xfrm>
              <a:off x="1584259" y="2047789"/>
              <a:ext cx="1739264" cy="636905"/>
            </a:xfrm>
            <a:custGeom>
              <a:avLst/>
              <a:gdLst/>
              <a:ahLst/>
              <a:cxnLst/>
              <a:rect l="l" t="t" r="r" b="b"/>
              <a:pathLst>
                <a:path w="1739264" h="636905">
                  <a:moveTo>
                    <a:pt x="7177" y="0"/>
                  </a:moveTo>
                  <a:lnTo>
                    <a:pt x="463061" y="117469"/>
                  </a:lnTo>
                  <a:lnTo>
                    <a:pt x="850120" y="104417"/>
                  </a:lnTo>
                  <a:lnTo>
                    <a:pt x="1118740" y="39156"/>
                  </a:lnTo>
                  <a:lnTo>
                    <a:pt x="1219305" y="0"/>
                  </a:lnTo>
                </a:path>
                <a:path w="1739264" h="636905">
                  <a:moveTo>
                    <a:pt x="0" y="518975"/>
                  </a:moveTo>
                  <a:lnTo>
                    <a:pt x="455879" y="636443"/>
                  </a:lnTo>
                  <a:lnTo>
                    <a:pt x="842938" y="623391"/>
                  </a:lnTo>
                  <a:lnTo>
                    <a:pt x="1111560" y="558131"/>
                  </a:lnTo>
                  <a:lnTo>
                    <a:pt x="1212127" y="518975"/>
                  </a:lnTo>
                </a:path>
                <a:path w="1739264" h="636905">
                  <a:moveTo>
                    <a:pt x="527088" y="518975"/>
                  </a:moveTo>
                  <a:lnTo>
                    <a:pt x="982963" y="401507"/>
                  </a:lnTo>
                  <a:lnTo>
                    <a:pt x="1370021" y="414559"/>
                  </a:lnTo>
                  <a:lnTo>
                    <a:pt x="1638642" y="479819"/>
                  </a:lnTo>
                  <a:lnTo>
                    <a:pt x="1739209" y="518975"/>
                  </a:lnTo>
                </a:path>
              </a:pathLst>
            </a:custGeom>
            <a:ln w="5270">
              <a:solidFill>
                <a:srgbClr val="231F20"/>
              </a:solidFill>
              <a:prstDash val="lgDash"/>
            </a:ln>
          </p:spPr>
          <p:txBody>
            <a:bodyPr wrap="square" lIns="0" tIns="0" rIns="0" bIns="0" rtlCol="0"/>
            <a:lstStyle/>
            <a:p>
              <a:endParaRPr/>
            </a:p>
          </p:txBody>
        </p:sp>
        <p:sp>
          <p:nvSpPr>
            <p:cNvPr id="28" name="object 28"/>
            <p:cNvSpPr/>
            <p:nvPr/>
          </p:nvSpPr>
          <p:spPr>
            <a:xfrm>
              <a:off x="1281024" y="2245445"/>
              <a:ext cx="1252220" cy="636905"/>
            </a:xfrm>
            <a:custGeom>
              <a:avLst/>
              <a:gdLst/>
              <a:ahLst/>
              <a:cxnLst/>
              <a:rect l="l" t="t" r="r" b="b"/>
              <a:pathLst>
                <a:path w="1252220" h="636905">
                  <a:moveTo>
                    <a:pt x="0" y="518975"/>
                  </a:moveTo>
                  <a:lnTo>
                    <a:pt x="470810" y="636445"/>
                  </a:lnTo>
                  <a:lnTo>
                    <a:pt x="870547" y="623393"/>
                  </a:lnTo>
                  <a:lnTo>
                    <a:pt x="1147966" y="558132"/>
                  </a:lnTo>
                  <a:lnTo>
                    <a:pt x="1251826" y="518975"/>
                  </a:lnTo>
                </a:path>
                <a:path w="1252220" h="636905">
                  <a:moveTo>
                    <a:pt x="0" y="0"/>
                  </a:moveTo>
                  <a:lnTo>
                    <a:pt x="470810" y="117467"/>
                  </a:lnTo>
                  <a:lnTo>
                    <a:pt x="870547" y="104415"/>
                  </a:lnTo>
                  <a:lnTo>
                    <a:pt x="1147966" y="39155"/>
                  </a:lnTo>
                  <a:lnTo>
                    <a:pt x="1251826" y="0"/>
                  </a:lnTo>
                </a:path>
              </a:pathLst>
            </a:custGeom>
            <a:ln w="5270">
              <a:solidFill>
                <a:srgbClr val="231F20"/>
              </a:solidFill>
            </a:ln>
          </p:spPr>
          <p:txBody>
            <a:bodyPr wrap="square" lIns="0" tIns="0" rIns="0" bIns="0" rtlCol="0"/>
            <a:lstStyle/>
            <a:p>
              <a:endParaRPr/>
            </a:p>
          </p:txBody>
        </p:sp>
        <p:pic>
          <p:nvPicPr>
            <p:cNvPr id="29" name="object 29"/>
            <p:cNvPicPr/>
            <p:nvPr/>
          </p:nvPicPr>
          <p:blipFill>
            <a:blip r:embed="rId6" cstate="print"/>
            <a:stretch>
              <a:fillRect/>
            </a:stretch>
          </p:blipFill>
          <p:spPr>
            <a:xfrm>
              <a:off x="1498107" y="1972367"/>
              <a:ext cx="131766" cy="131775"/>
            </a:xfrm>
            <a:prstGeom prst="rect">
              <a:avLst/>
            </a:prstGeom>
          </p:spPr>
        </p:pic>
        <p:pic>
          <p:nvPicPr>
            <p:cNvPr id="30" name="object 30"/>
            <p:cNvPicPr/>
            <p:nvPr/>
          </p:nvPicPr>
          <p:blipFill>
            <a:blip r:embed="rId7" cstate="print"/>
            <a:stretch>
              <a:fillRect/>
            </a:stretch>
          </p:blipFill>
          <p:spPr>
            <a:xfrm>
              <a:off x="1495472" y="1969731"/>
              <a:ext cx="137037" cy="137045"/>
            </a:xfrm>
            <a:prstGeom prst="rect">
              <a:avLst/>
            </a:prstGeom>
          </p:spPr>
        </p:pic>
        <p:pic>
          <p:nvPicPr>
            <p:cNvPr id="31" name="object 31"/>
            <p:cNvPicPr/>
            <p:nvPr/>
          </p:nvPicPr>
          <p:blipFill>
            <a:blip r:embed="rId8" cstate="print"/>
            <a:stretch>
              <a:fillRect/>
            </a:stretch>
          </p:blipFill>
          <p:spPr>
            <a:xfrm>
              <a:off x="2737684" y="1973796"/>
              <a:ext cx="131762" cy="131770"/>
            </a:xfrm>
            <a:prstGeom prst="rect">
              <a:avLst/>
            </a:prstGeom>
          </p:spPr>
        </p:pic>
        <p:pic>
          <p:nvPicPr>
            <p:cNvPr id="32" name="object 32"/>
            <p:cNvPicPr/>
            <p:nvPr/>
          </p:nvPicPr>
          <p:blipFill>
            <a:blip r:embed="rId9" cstate="print"/>
            <a:stretch>
              <a:fillRect/>
            </a:stretch>
          </p:blipFill>
          <p:spPr>
            <a:xfrm>
              <a:off x="2735048" y="1971161"/>
              <a:ext cx="137033" cy="137041"/>
            </a:xfrm>
            <a:prstGeom prst="rect">
              <a:avLst/>
            </a:prstGeom>
          </p:spPr>
        </p:pic>
        <p:pic>
          <p:nvPicPr>
            <p:cNvPr id="33" name="object 33"/>
            <p:cNvPicPr/>
            <p:nvPr/>
          </p:nvPicPr>
          <p:blipFill>
            <a:blip r:embed="rId10" cstate="print"/>
            <a:stretch>
              <a:fillRect/>
            </a:stretch>
          </p:blipFill>
          <p:spPr>
            <a:xfrm>
              <a:off x="2025190" y="1972367"/>
              <a:ext cx="131768" cy="131775"/>
            </a:xfrm>
            <a:prstGeom prst="rect">
              <a:avLst/>
            </a:prstGeom>
          </p:spPr>
        </p:pic>
        <p:pic>
          <p:nvPicPr>
            <p:cNvPr id="34" name="object 34"/>
            <p:cNvPicPr/>
            <p:nvPr/>
          </p:nvPicPr>
          <p:blipFill>
            <a:blip r:embed="rId11" cstate="print"/>
            <a:stretch>
              <a:fillRect/>
            </a:stretch>
          </p:blipFill>
          <p:spPr>
            <a:xfrm>
              <a:off x="2022555" y="1969731"/>
              <a:ext cx="137039" cy="137045"/>
            </a:xfrm>
            <a:prstGeom prst="rect">
              <a:avLst/>
            </a:prstGeom>
          </p:spPr>
        </p:pic>
        <p:pic>
          <p:nvPicPr>
            <p:cNvPr id="35" name="object 35"/>
            <p:cNvPicPr/>
            <p:nvPr/>
          </p:nvPicPr>
          <p:blipFill>
            <a:blip r:embed="rId12" cstate="print"/>
            <a:stretch>
              <a:fillRect/>
            </a:stretch>
          </p:blipFill>
          <p:spPr>
            <a:xfrm>
              <a:off x="3264765" y="1973796"/>
              <a:ext cx="131762" cy="131770"/>
            </a:xfrm>
            <a:prstGeom prst="rect">
              <a:avLst/>
            </a:prstGeom>
          </p:spPr>
        </p:pic>
        <p:pic>
          <p:nvPicPr>
            <p:cNvPr id="36" name="object 36"/>
            <p:cNvPicPr/>
            <p:nvPr/>
          </p:nvPicPr>
          <p:blipFill>
            <a:blip r:embed="rId13" cstate="print"/>
            <a:stretch>
              <a:fillRect/>
            </a:stretch>
          </p:blipFill>
          <p:spPr>
            <a:xfrm>
              <a:off x="3262130" y="1971161"/>
              <a:ext cx="137033" cy="137041"/>
            </a:xfrm>
            <a:prstGeom prst="rect">
              <a:avLst/>
            </a:prstGeom>
          </p:spPr>
        </p:pic>
        <p:pic>
          <p:nvPicPr>
            <p:cNvPr id="37" name="object 37"/>
            <p:cNvPicPr/>
            <p:nvPr/>
          </p:nvPicPr>
          <p:blipFill>
            <a:blip r:embed="rId10" cstate="print"/>
            <a:stretch>
              <a:fillRect/>
            </a:stretch>
          </p:blipFill>
          <p:spPr>
            <a:xfrm>
              <a:off x="2025190" y="2499454"/>
              <a:ext cx="131768" cy="131770"/>
            </a:xfrm>
            <a:prstGeom prst="rect">
              <a:avLst/>
            </a:prstGeom>
          </p:spPr>
        </p:pic>
        <p:pic>
          <p:nvPicPr>
            <p:cNvPr id="38" name="object 38"/>
            <p:cNvPicPr/>
            <p:nvPr/>
          </p:nvPicPr>
          <p:blipFill>
            <a:blip r:embed="rId14" cstate="print"/>
            <a:stretch>
              <a:fillRect/>
            </a:stretch>
          </p:blipFill>
          <p:spPr>
            <a:xfrm>
              <a:off x="2022555" y="2496818"/>
              <a:ext cx="137039" cy="137041"/>
            </a:xfrm>
            <a:prstGeom prst="rect">
              <a:avLst/>
            </a:prstGeom>
          </p:spPr>
        </p:pic>
        <p:pic>
          <p:nvPicPr>
            <p:cNvPr id="39" name="object 39"/>
            <p:cNvPicPr/>
            <p:nvPr/>
          </p:nvPicPr>
          <p:blipFill>
            <a:blip r:embed="rId6" cstate="print"/>
            <a:stretch>
              <a:fillRect/>
            </a:stretch>
          </p:blipFill>
          <p:spPr>
            <a:xfrm>
              <a:off x="3264765" y="2500879"/>
              <a:ext cx="131762" cy="131770"/>
            </a:xfrm>
            <a:prstGeom prst="rect">
              <a:avLst/>
            </a:prstGeom>
          </p:spPr>
        </p:pic>
        <p:pic>
          <p:nvPicPr>
            <p:cNvPr id="40" name="object 40"/>
            <p:cNvPicPr/>
            <p:nvPr/>
          </p:nvPicPr>
          <p:blipFill>
            <a:blip r:embed="rId13" cstate="print"/>
            <a:stretch>
              <a:fillRect/>
            </a:stretch>
          </p:blipFill>
          <p:spPr>
            <a:xfrm>
              <a:off x="3262130" y="2498243"/>
              <a:ext cx="137033" cy="137041"/>
            </a:xfrm>
            <a:prstGeom prst="rect">
              <a:avLst/>
            </a:prstGeom>
          </p:spPr>
        </p:pic>
        <p:pic>
          <p:nvPicPr>
            <p:cNvPr id="41" name="object 41"/>
            <p:cNvPicPr/>
            <p:nvPr/>
          </p:nvPicPr>
          <p:blipFill>
            <a:blip r:embed="rId6" cstate="print"/>
            <a:stretch>
              <a:fillRect/>
            </a:stretch>
          </p:blipFill>
          <p:spPr>
            <a:xfrm>
              <a:off x="1498107" y="2499454"/>
              <a:ext cx="131766" cy="131770"/>
            </a:xfrm>
            <a:prstGeom prst="rect">
              <a:avLst/>
            </a:prstGeom>
          </p:spPr>
        </p:pic>
        <p:pic>
          <p:nvPicPr>
            <p:cNvPr id="42" name="object 42"/>
            <p:cNvPicPr/>
            <p:nvPr/>
          </p:nvPicPr>
          <p:blipFill>
            <a:blip r:embed="rId15" cstate="print"/>
            <a:stretch>
              <a:fillRect/>
            </a:stretch>
          </p:blipFill>
          <p:spPr>
            <a:xfrm>
              <a:off x="1495472" y="2496818"/>
              <a:ext cx="137037" cy="137041"/>
            </a:xfrm>
            <a:prstGeom prst="rect">
              <a:avLst/>
            </a:prstGeom>
          </p:spPr>
        </p:pic>
        <p:pic>
          <p:nvPicPr>
            <p:cNvPr id="43" name="object 43"/>
            <p:cNvPicPr/>
            <p:nvPr/>
          </p:nvPicPr>
          <p:blipFill>
            <a:blip r:embed="rId10" cstate="print"/>
            <a:stretch>
              <a:fillRect/>
            </a:stretch>
          </p:blipFill>
          <p:spPr>
            <a:xfrm>
              <a:off x="2737684" y="2500879"/>
              <a:ext cx="131762" cy="131770"/>
            </a:xfrm>
            <a:prstGeom prst="rect">
              <a:avLst/>
            </a:prstGeom>
          </p:spPr>
        </p:pic>
        <p:pic>
          <p:nvPicPr>
            <p:cNvPr id="44" name="object 44"/>
            <p:cNvPicPr/>
            <p:nvPr/>
          </p:nvPicPr>
          <p:blipFill>
            <a:blip r:embed="rId9" cstate="print"/>
            <a:stretch>
              <a:fillRect/>
            </a:stretch>
          </p:blipFill>
          <p:spPr>
            <a:xfrm>
              <a:off x="2735048" y="2498243"/>
              <a:ext cx="137033" cy="137041"/>
            </a:xfrm>
            <a:prstGeom prst="rect">
              <a:avLst/>
            </a:prstGeom>
          </p:spPr>
        </p:pic>
        <p:sp>
          <p:nvSpPr>
            <p:cNvPr id="45" name="object 45"/>
            <p:cNvSpPr/>
            <p:nvPr/>
          </p:nvSpPr>
          <p:spPr>
            <a:xfrm>
              <a:off x="1281024" y="2038256"/>
              <a:ext cx="2037714" cy="727710"/>
            </a:xfrm>
            <a:custGeom>
              <a:avLst/>
              <a:gdLst/>
              <a:ahLst/>
              <a:cxnLst/>
              <a:rect l="l" t="t" r="r" b="b"/>
              <a:pathLst>
                <a:path w="2037714" h="727710">
                  <a:moveTo>
                    <a:pt x="12245" y="198945"/>
                  </a:moveTo>
                  <a:lnTo>
                    <a:pt x="282968" y="0"/>
                  </a:lnTo>
                </a:path>
                <a:path w="2037714" h="727710">
                  <a:moveTo>
                    <a:pt x="1251826" y="200373"/>
                  </a:moveTo>
                  <a:lnTo>
                    <a:pt x="1522540" y="1425"/>
                  </a:lnTo>
                </a:path>
                <a:path w="2037714" h="727710">
                  <a:moveTo>
                    <a:pt x="527083" y="199080"/>
                  </a:moveTo>
                  <a:lnTo>
                    <a:pt x="797805" y="131"/>
                  </a:lnTo>
                </a:path>
                <a:path w="2037714" h="727710">
                  <a:moveTo>
                    <a:pt x="1766659" y="200509"/>
                  </a:moveTo>
                  <a:lnTo>
                    <a:pt x="2037373" y="1556"/>
                  </a:lnTo>
                </a:path>
                <a:path w="2037714" h="727710">
                  <a:moveTo>
                    <a:pt x="0" y="726164"/>
                  </a:moveTo>
                  <a:lnTo>
                    <a:pt x="270718" y="527214"/>
                  </a:lnTo>
                </a:path>
                <a:path w="2037714" h="727710">
                  <a:moveTo>
                    <a:pt x="1239578" y="727592"/>
                  </a:moveTo>
                  <a:lnTo>
                    <a:pt x="1510292" y="528639"/>
                  </a:lnTo>
                </a:path>
                <a:path w="2037714" h="727710">
                  <a:moveTo>
                    <a:pt x="527083" y="726164"/>
                  </a:moveTo>
                  <a:lnTo>
                    <a:pt x="797805" y="527214"/>
                  </a:lnTo>
                </a:path>
                <a:path w="2037714" h="727710">
                  <a:moveTo>
                    <a:pt x="1766659" y="727592"/>
                  </a:moveTo>
                  <a:lnTo>
                    <a:pt x="2037373" y="528639"/>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6" cstate="print"/>
            <a:stretch>
              <a:fillRect/>
            </a:stretch>
          </p:blipFill>
          <p:spPr>
            <a:xfrm>
              <a:off x="1227385" y="2171317"/>
              <a:ext cx="131769" cy="131769"/>
            </a:xfrm>
            <a:prstGeom prst="rect">
              <a:avLst/>
            </a:prstGeom>
          </p:spPr>
        </p:pic>
        <p:pic>
          <p:nvPicPr>
            <p:cNvPr id="47" name="object 47"/>
            <p:cNvPicPr/>
            <p:nvPr/>
          </p:nvPicPr>
          <p:blipFill>
            <a:blip r:embed="rId16" cstate="print"/>
            <a:stretch>
              <a:fillRect/>
            </a:stretch>
          </p:blipFill>
          <p:spPr>
            <a:xfrm>
              <a:off x="1224750" y="2168681"/>
              <a:ext cx="137040" cy="137040"/>
            </a:xfrm>
            <a:prstGeom prst="rect">
              <a:avLst/>
            </a:prstGeom>
          </p:spPr>
        </p:pic>
        <p:pic>
          <p:nvPicPr>
            <p:cNvPr id="48" name="object 48"/>
            <p:cNvPicPr/>
            <p:nvPr/>
          </p:nvPicPr>
          <p:blipFill>
            <a:blip r:embed="rId8" cstate="print"/>
            <a:stretch>
              <a:fillRect/>
            </a:stretch>
          </p:blipFill>
          <p:spPr>
            <a:xfrm>
              <a:off x="2466959" y="2172745"/>
              <a:ext cx="131773" cy="131770"/>
            </a:xfrm>
            <a:prstGeom prst="rect">
              <a:avLst/>
            </a:prstGeom>
          </p:spPr>
        </p:pic>
        <p:pic>
          <p:nvPicPr>
            <p:cNvPr id="49" name="object 49"/>
            <p:cNvPicPr/>
            <p:nvPr/>
          </p:nvPicPr>
          <p:blipFill>
            <a:blip r:embed="rId17" cstate="print"/>
            <a:stretch>
              <a:fillRect/>
            </a:stretch>
          </p:blipFill>
          <p:spPr>
            <a:xfrm>
              <a:off x="2464324" y="2170109"/>
              <a:ext cx="137043" cy="137041"/>
            </a:xfrm>
            <a:prstGeom prst="rect">
              <a:avLst/>
            </a:prstGeom>
          </p:spPr>
        </p:pic>
        <p:pic>
          <p:nvPicPr>
            <p:cNvPr id="50" name="object 50"/>
            <p:cNvPicPr/>
            <p:nvPr/>
          </p:nvPicPr>
          <p:blipFill>
            <a:blip r:embed="rId10" cstate="print"/>
            <a:stretch>
              <a:fillRect/>
            </a:stretch>
          </p:blipFill>
          <p:spPr>
            <a:xfrm>
              <a:off x="1754468" y="2171317"/>
              <a:ext cx="131770" cy="131769"/>
            </a:xfrm>
            <a:prstGeom prst="rect">
              <a:avLst/>
            </a:prstGeom>
          </p:spPr>
        </p:pic>
        <p:pic>
          <p:nvPicPr>
            <p:cNvPr id="51" name="object 51"/>
            <p:cNvPicPr/>
            <p:nvPr/>
          </p:nvPicPr>
          <p:blipFill>
            <a:blip r:embed="rId16" cstate="print"/>
            <a:stretch>
              <a:fillRect/>
            </a:stretch>
          </p:blipFill>
          <p:spPr>
            <a:xfrm>
              <a:off x="1751832" y="2168681"/>
              <a:ext cx="137041" cy="137040"/>
            </a:xfrm>
            <a:prstGeom prst="rect">
              <a:avLst/>
            </a:prstGeom>
          </p:spPr>
        </p:pic>
        <p:pic>
          <p:nvPicPr>
            <p:cNvPr id="52" name="object 52"/>
            <p:cNvPicPr/>
            <p:nvPr/>
          </p:nvPicPr>
          <p:blipFill>
            <a:blip r:embed="rId12" cstate="print"/>
            <a:stretch>
              <a:fillRect/>
            </a:stretch>
          </p:blipFill>
          <p:spPr>
            <a:xfrm>
              <a:off x="2994041" y="2172745"/>
              <a:ext cx="131772" cy="131770"/>
            </a:xfrm>
            <a:prstGeom prst="rect">
              <a:avLst/>
            </a:prstGeom>
          </p:spPr>
        </p:pic>
        <p:pic>
          <p:nvPicPr>
            <p:cNvPr id="53" name="object 53"/>
            <p:cNvPicPr/>
            <p:nvPr/>
          </p:nvPicPr>
          <p:blipFill>
            <a:blip r:embed="rId17" cstate="print"/>
            <a:stretch>
              <a:fillRect/>
            </a:stretch>
          </p:blipFill>
          <p:spPr>
            <a:xfrm>
              <a:off x="2991405" y="2170109"/>
              <a:ext cx="137043" cy="137041"/>
            </a:xfrm>
            <a:prstGeom prst="rect">
              <a:avLst/>
            </a:prstGeom>
          </p:spPr>
        </p:pic>
        <p:pic>
          <p:nvPicPr>
            <p:cNvPr id="54" name="object 54"/>
            <p:cNvPicPr/>
            <p:nvPr/>
          </p:nvPicPr>
          <p:blipFill>
            <a:blip r:embed="rId10" cstate="print"/>
            <a:stretch>
              <a:fillRect/>
            </a:stretch>
          </p:blipFill>
          <p:spPr>
            <a:xfrm>
              <a:off x="1754468" y="2698399"/>
              <a:ext cx="131770" cy="131770"/>
            </a:xfrm>
            <a:prstGeom prst="rect">
              <a:avLst/>
            </a:prstGeom>
          </p:spPr>
        </p:pic>
        <p:pic>
          <p:nvPicPr>
            <p:cNvPr id="55" name="object 55"/>
            <p:cNvPicPr/>
            <p:nvPr/>
          </p:nvPicPr>
          <p:blipFill>
            <a:blip r:embed="rId18" cstate="print"/>
            <a:stretch>
              <a:fillRect/>
            </a:stretch>
          </p:blipFill>
          <p:spPr>
            <a:xfrm>
              <a:off x="1751832" y="2695764"/>
              <a:ext cx="137041" cy="137041"/>
            </a:xfrm>
            <a:prstGeom prst="rect">
              <a:avLst/>
            </a:prstGeom>
          </p:spPr>
        </p:pic>
        <p:pic>
          <p:nvPicPr>
            <p:cNvPr id="56" name="object 56"/>
            <p:cNvPicPr/>
            <p:nvPr/>
          </p:nvPicPr>
          <p:blipFill>
            <a:blip r:embed="rId6" cstate="print"/>
            <a:stretch>
              <a:fillRect/>
            </a:stretch>
          </p:blipFill>
          <p:spPr>
            <a:xfrm>
              <a:off x="2994041" y="2699827"/>
              <a:ext cx="131772" cy="131771"/>
            </a:xfrm>
            <a:prstGeom prst="rect">
              <a:avLst/>
            </a:prstGeom>
          </p:spPr>
        </p:pic>
        <p:pic>
          <p:nvPicPr>
            <p:cNvPr id="57" name="object 57"/>
            <p:cNvPicPr/>
            <p:nvPr/>
          </p:nvPicPr>
          <p:blipFill>
            <a:blip r:embed="rId19" cstate="print"/>
            <a:stretch>
              <a:fillRect/>
            </a:stretch>
          </p:blipFill>
          <p:spPr>
            <a:xfrm>
              <a:off x="2991405" y="2697192"/>
              <a:ext cx="137043" cy="137041"/>
            </a:xfrm>
            <a:prstGeom prst="rect">
              <a:avLst/>
            </a:prstGeom>
          </p:spPr>
        </p:pic>
        <p:pic>
          <p:nvPicPr>
            <p:cNvPr id="58" name="object 58"/>
            <p:cNvPicPr/>
            <p:nvPr/>
          </p:nvPicPr>
          <p:blipFill>
            <a:blip r:embed="rId6" cstate="print"/>
            <a:stretch>
              <a:fillRect/>
            </a:stretch>
          </p:blipFill>
          <p:spPr>
            <a:xfrm>
              <a:off x="1227385" y="2698399"/>
              <a:ext cx="131769" cy="131770"/>
            </a:xfrm>
            <a:prstGeom prst="rect">
              <a:avLst/>
            </a:prstGeom>
          </p:spPr>
        </p:pic>
        <p:pic>
          <p:nvPicPr>
            <p:cNvPr id="59" name="object 59"/>
            <p:cNvPicPr/>
            <p:nvPr/>
          </p:nvPicPr>
          <p:blipFill>
            <a:blip r:embed="rId18" cstate="print"/>
            <a:stretch>
              <a:fillRect/>
            </a:stretch>
          </p:blipFill>
          <p:spPr>
            <a:xfrm>
              <a:off x="1224750" y="2695764"/>
              <a:ext cx="137040" cy="137041"/>
            </a:xfrm>
            <a:prstGeom prst="rect">
              <a:avLst/>
            </a:prstGeom>
          </p:spPr>
        </p:pic>
        <p:pic>
          <p:nvPicPr>
            <p:cNvPr id="60" name="object 60"/>
            <p:cNvPicPr/>
            <p:nvPr/>
          </p:nvPicPr>
          <p:blipFill>
            <a:blip r:embed="rId10" cstate="print"/>
            <a:stretch>
              <a:fillRect/>
            </a:stretch>
          </p:blipFill>
          <p:spPr>
            <a:xfrm>
              <a:off x="2466959" y="2699827"/>
              <a:ext cx="131773" cy="131771"/>
            </a:xfrm>
            <a:prstGeom prst="rect">
              <a:avLst/>
            </a:prstGeom>
          </p:spPr>
        </p:pic>
        <p:pic>
          <p:nvPicPr>
            <p:cNvPr id="61" name="object 61"/>
            <p:cNvPicPr/>
            <p:nvPr/>
          </p:nvPicPr>
          <p:blipFill>
            <a:blip r:embed="rId19" cstate="print"/>
            <a:stretch>
              <a:fillRect/>
            </a:stretch>
          </p:blipFill>
          <p:spPr>
            <a:xfrm>
              <a:off x="2464324" y="2697192"/>
              <a:ext cx="137043" cy="137041"/>
            </a:xfrm>
            <a:prstGeom prst="rect">
              <a:avLst/>
            </a:prstGeom>
          </p:spPr>
        </p:pic>
      </p:grpSp>
      <p:sp>
        <p:nvSpPr>
          <p:cNvPr id="62" name="object 62"/>
          <p:cNvSpPr txBox="1"/>
          <p:nvPr/>
        </p:nvSpPr>
        <p:spPr>
          <a:xfrm>
            <a:off x="309194" y="2942341"/>
            <a:ext cx="3989704" cy="329565"/>
          </a:xfrm>
          <a:prstGeom prst="rect">
            <a:avLst/>
          </a:prstGeom>
        </p:spPr>
        <p:txBody>
          <a:bodyPr vert="horz" wrap="square" lIns="0" tIns="12065" rIns="0" bIns="0" rtlCol="0">
            <a:spAutoFit/>
          </a:bodyPr>
          <a:lstStyle/>
          <a:p>
            <a:pPr marL="50800" marR="43180">
              <a:lnSpc>
                <a:spcPct val="100000"/>
              </a:lnSpc>
              <a:spcBef>
                <a:spcPts val="95"/>
              </a:spcBef>
            </a:pPr>
            <a:r>
              <a:rPr sz="1000" spc="-10" dirty="0">
                <a:latin typeface="Arial"/>
                <a:cs typeface="Arial"/>
              </a:rPr>
              <a:t>Looking</a:t>
            </a:r>
            <a:r>
              <a:rPr sz="1000" spc="-5" dirty="0">
                <a:latin typeface="Arial"/>
                <a:cs typeface="Arial"/>
              </a:rPr>
              <a:t> </a:t>
            </a:r>
            <a:r>
              <a:rPr sz="1000" spc="-10" dirty="0">
                <a:latin typeface="Arial"/>
                <a:cs typeface="Arial"/>
              </a:rPr>
              <a:t>up</a:t>
            </a:r>
            <a:r>
              <a:rPr sz="1000" spc="-5" dirty="0">
                <a:latin typeface="Arial"/>
                <a:cs typeface="Arial"/>
              </a:rPr>
              <a:t> </a:t>
            </a:r>
            <a:r>
              <a:rPr sz="1000" i="1" spc="-10" dirty="0">
                <a:latin typeface="Arial"/>
                <a:cs typeface="Arial"/>
              </a:rPr>
              <a:t>d</a:t>
            </a:r>
            <a:r>
              <a:rPr sz="1000" i="1" spc="95" dirty="0">
                <a:latin typeface="Arial"/>
                <a:cs typeface="Arial"/>
              </a:rPr>
              <a:t> </a:t>
            </a:r>
            <a:r>
              <a:rPr sz="1000" spc="-10" dirty="0">
                <a:latin typeface="Arial"/>
                <a:cs typeface="Arial"/>
              </a:rPr>
              <a:t>with</a:t>
            </a:r>
            <a:r>
              <a:rPr sz="1000" spc="-5" dirty="0">
                <a:latin typeface="Arial"/>
                <a:cs typeface="Arial"/>
              </a:rPr>
              <a:t> </a:t>
            </a:r>
            <a:r>
              <a:rPr sz="1000" spc="-25" dirty="0">
                <a:solidFill>
                  <a:srgbClr val="FA0000"/>
                </a:solidFill>
                <a:latin typeface="Arial"/>
                <a:cs typeface="Arial"/>
              </a:rPr>
              <a:t>key</a:t>
            </a:r>
            <a:r>
              <a:rPr sz="1000" spc="-5" dirty="0">
                <a:solidFill>
                  <a:srgbClr val="FA0000"/>
                </a:solidFill>
                <a:latin typeface="Arial"/>
                <a:cs typeface="Arial"/>
              </a:rPr>
              <a:t> </a:t>
            </a:r>
            <a:r>
              <a:rPr sz="1000" i="1" spc="-10" dirty="0">
                <a:latin typeface="Arial"/>
                <a:cs typeface="Arial"/>
              </a:rPr>
              <a:t>k</a:t>
            </a:r>
            <a:r>
              <a:rPr sz="1000" i="1" spc="45" dirty="0">
                <a:latin typeface="Arial"/>
                <a:cs typeface="Arial"/>
              </a:rPr>
              <a:t> </a:t>
            </a:r>
            <a:r>
              <a:rPr sz="1000" i="1" spc="-145" dirty="0">
                <a:latin typeface="メイリオ"/>
                <a:cs typeface="メイリオ"/>
              </a:rPr>
              <a:t>∈</a:t>
            </a:r>
            <a:r>
              <a:rPr sz="1000" i="1" spc="-120" dirty="0">
                <a:latin typeface="メイリオ"/>
                <a:cs typeface="メイリオ"/>
              </a:rPr>
              <a:t> </a:t>
            </a:r>
            <a:r>
              <a:rPr sz="1000" i="1" spc="-40" dirty="0">
                <a:latin typeface="メイリオ"/>
                <a:cs typeface="メイリオ"/>
              </a:rPr>
              <a:t>{</a:t>
            </a:r>
            <a:r>
              <a:rPr sz="1000" spc="-40" dirty="0">
                <a:latin typeface="Arial"/>
                <a:cs typeface="Arial"/>
              </a:rPr>
              <a:t>0</a:t>
            </a:r>
            <a:r>
              <a:rPr sz="1000" i="1" spc="-40" dirty="0">
                <a:latin typeface="Arial"/>
                <a:cs typeface="Arial"/>
              </a:rPr>
              <a:t>,</a:t>
            </a:r>
            <a:r>
              <a:rPr sz="1000" i="1" spc="-170" dirty="0">
                <a:latin typeface="Arial"/>
                <a:cs typeface="Arial"/>
              </a:rPr>
              <a:t> </a:t>
            </a:r>
            <a:r>
              <a:rPr sz="1000" spc="-10" dirty="0">
                <a:latin typeface="Arial"/>
                <a:cs typeface="Arial"/>
              </a:rPr>
              <a:t>1</a:t>
            </a:r>
            <a:r>
              <a:rPr sz="1000" i="1" spc="-10" dirty="0">
                <a:latin typeface="Arial"/>
                <a:cs typeface="Arial"/>
              </a:rPr>
              <a:t>,</a:t>
            </a:r>
            <a:r>
              <a:rPr sz="1000" i="1" spc="-170" dirty="0">
                <a:latin typeface="Arial"/>
                <a:cs typeface="Arial"/>
              </a:rPr>
              <a:t> </a:t>
            </a:r>
            <a:r>
              <a:rPr sz="1000" spc="70" dirty="0">
                <a:latin typeface="Arial"/>
                <a:cs typeface="Arial"/>
              </a:rPr>
              <a:t>2</a:t>
            </a:r>
            <a:r>
              <a:rPr sz="1000" i="1" spc="70" dirty="0">
                <a:latin typeface="Arial"/>
                <a:cs typeface="Arial"/>
              </a:rPr>
              <a:t>,...,</a:t>
            </a:r>
            <a:r>
              <a:rPr sz="1000" i="1" spc="-170" dirty="0">
                <a:latin typeface="Arial"/>
                <a:cs typeface="Arial"/>
              </a:rPr>
              <a:t> </a:t>
            </a:r>
            <a:r>
              <a:rPr sz="1000" spc="5" dirty="0">
                <a:latin typeface="Arial"/>
                <a:cs typeface="Arial"/>
              </a:rPr>
              <a:t>2</a:t>
            </a:r>
            <a:r>
              <a:rPr sz="1050" spc="7" baseline="27777" dirty="0">
                <a:latin typeface="Arial"/>
                <a:cs typeface="Arial"/>
              </a:rPr>
              <a:t>4</a:t>
            </a:r>
            <a:r>
              <a:rPr sz="1050" spc="-7" baseline="27777" dirty="0">
                <a:latin typeface="Arial"/>
                <a:cs typeface="Arial"/>
              </a:rPr>
              <a:t> </a:t>
            </a:r>
            <a:r>
              <a:rPr sz="1000" i="1" spc="-30" dirty="0">
                <a:latin typeface="メイリオ"/>
                <a:cs typeface="メイリオ"/>
              </a:rPr>
              <a:t>−</a:t>
            </a:r>
            <a:r>
              <a:rPr sz="1000" i="1" spc="-204" dirty="0">
                <a:latin typeface="メイリオ"/>
                <a:cs typeface="メイリオ"/>
              </a:rPr>
              <a:t> </a:t>
            </a:r>
            <a:r>
              <a:rPr sz="1000" spc="-60" dirty="0">
                <a:latin typeface="Arial"/>
                <a:cs typeface="Arial"/>
              </a:rPr>
              <a:t>1</a:t>
            </a:r>
            <a:r>
              <a:rPr sz="1000" i="1" spc="-60" dirty="0">
                <a:latin typeface="メイリオ"/>
                <a:cs typeface="メイリオ"/>
              </a:rPr>
              <a:t>}</a:t>
            </a:r>
            <a:r>
              <a:rPr sz="1000" i="1" spc="-65" dirty="0">
                <a:latin typeface="メイリオ"/>
                <a:cs typeface="メイリオ"/>
              </a:rPr>
              <a:t> </a:t>
            </a:r>
            <a:r>
              <a:rPr sz="1000" spc="-15" dirty="0">
                <a:latin typeface="Arial"/>
                <a:cs typeface="Arial"/>
              </a:rPr>
              <a:t>means</a:t>
            </a:r>
            <a:r>
              <a:rPr sz="1000" spc="-5" dirty="0">
                <a:latin typeface="Arial"/>
                <a:cs typeface="Arial"/>
              </a:rPr>
              <a:t> </a:t>
            </a:r>
            <a:r>
              <a:rPr sz="1000" spc="-10" dirty="0">
                <a:solidFill>
                  <a:srgbClr val="0000FA"/>
                </a:solidFill>
                <a:latin typeface="Arial"/>
                <a:cs typeface="Arial"/>
              </a:rPr>
              <a:t>routing</a:t>
            </a:r>
            <a:r>
              <a:rPr sz="1000" dirty="0">
                <a:solidFill>
                  <a:srgbClr val="0000FA"/>
                </a:solidFill>
                <a:latin typeface="Arial"/>
                <a:cs typeface="Arial"/>
              </a:rPr>
              <a:t> </a:t>
            </a:r>
            <a:r>
              <a:rPr sz="1000" spc="-10" dirty="0">
                <a:latin typeface="Arial"/>
                <a:cs typeface="Arial"/>
              </a:rPr>
              <a:t>request</a:t>
            </a:r>
            <a:r>
              <a:rPr sz="1000" spc="-5" dirty="0">
                <a:latin typeface="Arial"/>
                <a:cs typeface="Arial"/>
              </a:rPr>
              <a:t> </a:t>
            </a:r>
            <a:r>
              <a:rPr sz="1000" spc="-10" dirty="0">
                <a:latin typeface="Arial"/>
                <a:cs typeface="Arial"/>
              </a:rPr>
              <a:t>to </a:t>
            </a:r>
            <a:r>
              <a:rPr sz="1000" spc="-260" dirty="0">
                <a:latin typeface="Arial"/>
                <a:cs typeface="Arial"/>
              </a:rPr>
              <a:t> </a:t>
            </a:r>
            <a:r>
              <a:rPr sz="1000" spc="-5" dirty="0">
                <a:latin typeface="Arial"/>
                <a:cs typeface="Arial"/>
              </a:rPr>
              <a:t>node</a:t>
            </a:r>
            <a:r>
              <a:rPr sz="1000" spc="-10" dirty="0">
                <a:latin typeface="Arial"/>
                <a:cs typeface="Arial"/>
              </a:rPr>
              <a:t> </a:t>
            </a:r>
            <a:r>
              <a:rPr sz="1000" spc="-5" dirty="0">
                <a:latin typeface="Arial"/>
                <a:cs typeface="Arial"/>
              </a:rPr>
              <a:t>with </a:t>
            </a:r>
            <a:r>
              <a:rPr sz="1000" spc="-5" dirty="0">
                <a:solidFill>
                  <a:srgbClr val="FA0000"/>
                </a:solidFill>
                <a:latin typeface="Arial"/>
                <a:cs typeface="Arial"/>
              </a:rPr>
              <a:t>identifier </a:t>
            </a:r>
            <a:r>
              <a:rPr sz="1000" i="1" spc="-5" dirty="0">
                <a:latin typeface="Arial"/>
                <a:cs typeface="Arial"/>
              </a:rPr>
              <a:t>k</a:t>
            </a:r>
            <a:r>
              <a:rPr sz="1000" i="1" spc="-180" dirty="0">
                <a:latin typeface="Arial"/>
                <a:cs typeface="Arial"/>
              </a:rPr>
              <a:t> </a:t>
            </a:r>
            <a:r>
              <a:rPr sz="1000" spc="-5" dirty="0">
                <a:latin typeface="Arial"/>
                <a:cs typeface="Arial"/>
              </a:rPr>
              <a:t>.</a:t>
            </a:r>
            <a:endParaRPr sz="1000">
              <a:latin typeface="Arial"/>
              <a:cs typeface="Arial"/>
            </a:endParaRPr>
          </a:p>
        </p:txBody>
      </p:sp>
      <p:sp>
        <p:nvSpPr>
          <p:cNvPr id="63" name="object 63"/>
          <p:cNvSpPr txBox="1"/>
          <p:nvPr/>
        </p:nvSpPr>
        <p:spPr>
          <a:xfrm>
            <a:off x="66713" y="3331252"/>
            <a:ext cx="11150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0" action="ppaction://hlinksldjump"/>
              </a:rPr>
              <a:t>Structured</a:t>
            </a:r>
            <a:r>
              <a:rPr sz="600" dirty="0">
                <a:solidFill>
                  <a:srgbClr val="3333B2"/>
                </a:solidFill>
                <a:latin typeface="Arial"/>
                <a:cs typeface="Arial"/>
                <a:hlinkClick r:id="rId20" action="ppaction://hlinksldjump"/>
              </a:rPr>
              <a:t> </a:t>
            </a:r>
            <a:r>
              <a:rPr sz="600" spc="-5" dirty="0">
                <a:solidFill>
                  <a:srgbClr val="3333B2"/>
                </a:solidFill>
                <a:latin typeface="Arial"/>
                <a:cs typeface="Arial"/>
                <a:hlinkClick r:id="rId20" action="ppaction://hlinksldjump"/>
              </a:rPr>
              <a:t>peer-to-peer</a:t>
            </a:r>
            <a:r>
              <a:rPr sz="600" dirty="0">
                <a:solidFill>
                  <a:srgbClr val="3333B2"/>
                </a:solidFill>
                <a:latin typeface="Arial"/>
                <a:cs typeface="Arial"/>
                <a:hlinkClick r:id="rId20" action="ppaction://hlinksldjump"/>
              </a:rPr>
              <a:t> </a:t>
            </a:r>
            <a:r>
              <a:rPr sz="600" spc="-5" dirty="0">
                <a:solidFill>
                  <a:srgbClr val="3333B2"/>
                </a:solidFill>
                <a:latin typeface="Arial"/>
                <a:cs typeface="Arial"/>
                <a:hlinkClick r:id="rId20" action="ppaction://hlinksldjump"/>
              </a:rPr>
              <a:t>systems</a:t>
            </a:r>
            <a:endParaRPr sz="600">
              <a:latin typeface="Arial"/>
              <a:cs typeface="Arial"/>
            </a:endParaRPr>
          </a:p>
        </p:txBody>
      </p:sp>
      <p:sp>
        <p:nvSpPr>
          <p:cNvPr id="64" name="object 6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24</a:t>
            </a:r>
            <a:r>
              <a:rPr spc="-40" dirty="0"/>
              <a:t> </a:t>
            </a:r>
            <a:r>
              <a:rPr spc="-5" dirty="0"/>
              <a:t>/</a:t>
            </a:r>
            <a:r>
              <a:rPr spc="-35" dirty="0"/>
              <a:t> </a:t>
            </a:r>
            <a:r>
              <a:rPr spc="-5" dirty="0"/>
              <a:t>36</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11150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Structured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peer-to-peer</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25</a:t>
            </a:r>
            <a:r>
              <a:rPr spc="-40" dirty="0"/>
              <a:t> </a:t>
            </a:r>
            <a:r>
              <a:rPr spc="-5" dirty="0"/>
              <a:t>/</a:t>
            </a:r>
            <a:r>
              <a:rPr spc="-35" dirty="0"/>
              <a:t> </a:t>
            </a:r>
            <a:r>
              <a:rPr spc="-5" dirty="0"/>
              <a:t>36</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5" action="ppaction://hlinksldjump"/>
              </a:rPr>
              <a:t>System</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Decentralized</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organizations:</a:t>
            </a:r>
            <a:r>
              <a:rPr sz="600" spc="5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peer-to-peer</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systems</a:t>
            </a:r>
            <a:endParaRPr sz="600">
              <a:latin typeface="Arial"/>
              <a:cs typeface="Arial"/>
            </a:endParaRPr>
          </a:p>
        </p:txBody>
      </p:sp>
      <p:sp>
        <p:nvSpPr>
          <p:cNvPr id="4" name="object 4"/>
          <p:cNvSpPr txBox="1"/>
          <p:nvPr/>
        </p:nvSpPr>
        <p:spPr>
          <a:xfrm>
            <a:off x="95300" y="188846"/>
            <a:ext cx="134366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50" dirty="0">
                <a:solidFill>
                  <a:srgbClr val="3333B2"/>
                </a:solidFill>
                <a:latin typeface="Arial"/>
                <a:cs typeface="Arial"/>
              </a:rPr>
              <a:t> </a:t>
            </a:r>
            <a:r>
              <a:rPr sz="1400" spc="15" dirty="0">
                <a:solidFill>
                  <a:srgbClr val="3333B2"/>
                </a:solidFill>
                <a:latin typeface="Arial"/>
                <a:cs typeface="Arial"/>
              </a:rPr>
              <a:t>Chord</a:t>
            </a:r>
            <a:endParaRPr sz="1400">
              <a:latin typeface="Arial"/>
              <a:cs typeface="Arial"/>
            </a:endParaRPr>
          </a:p>
        </p:txBody>
      </p:sp>
      <p:sp>
        <p:nvSpPr>
          <p:cNvPr id="5" name="object 5"/>
          <p:cNvSpPr txBox="1"/>
          <p:nvPr/>
        </p:nvSpPr>
        <p:spPr>
          <a:xfrm>
            <a:off x="309194" y="1054834"/>
            <a:ext cx="3940810" cy="1065530"/>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Principle</a:t>
            </a:r>
            <a:endParaRPr sz="1200">
              <a:latin typeface="Arial"/>
              <a:cs typeface="Arial"/>
            </a:endParaRPr>
          </a:p>
          <a:p>
            <a:pPr marL="327660" marR="43180" indent="-168275">
              <a:lnSpc>
                <a:spcPct val="100000"/>
              </a:lnSpc>
              <a:spcBef>
                <a:spcPts val="770"/>
              </a:spcBef>
              <a:buClr>
                <a:srgbClr val="3333B2"/>
              </a:buClr>
              <a:buChar char="►"/>
              <a:tabLst>
                <a:tab pos="328295" algn="l"/>
              </a:tabLst>
            </a:pPr>
            <a:r>
              <a:rPr sz="1000" spc="-5" dirty="0">
                <a:latin typeface="Arial"/>
                <a:cs typeface="Arial"/>
              </a:rPr>
              <a:t>Nodes are logically</a:t>
            </a:r>
            <a:r>
              <a:rPr sz="1000" dirty="0">
                <a:latin typeface="Arial"/>
                <a:cs typeface="Arial"/>
              </a:rPr>
              <a:t> </a:t>
            </a:r>
            <a:r>
              <a:rPr sz="1000" spc="-5" dirty="0">
                <a:latin typeface="Arial"/>
                <a:cs typeface="Arial"/>
              </a:rPr>
              <a:t>organized in a</a:t>
            </a:r>
            <a:r>
              <a:rPr sz="1000" dirty="0">
                <a:latin typeface="Arial"/>
                <a:cs typeface="Arial"/>
              </a:rPr>
              <a:t> ring.</a:t>
            </a:r>
            <a:r>
              <a:rPr sz="1000" spc="6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node has an</a:t>
            </a:r>
            <a:r>
              <a:rPr sz="1000" dirty="0">
                <a:latin typeface="Arial"/>
                <a:cs typeface="Arial"/>
              </a:rPr>
              <a:t> </a:t>
            </a:r>
            <a:r>
              <a:rPr sz="1000" i="1" dirty="0">
                <a:latin typeface="Arial"/>
                <a:cs typeface="Arial"/>
              </a:rPr>
              <a:t>m</a:t>
            </a:r>
            <a:r>
              <a:rPr sz="1000" dirty="0">
                <a:latin typeface="Arial"/>
                <a:cs typeface="Arial"/>
              </a:rPr>
              <a:t>-bit </a:t>
            </a:r>
            <a:r>
              <a:rPr sz="1000" spc="-265" dirty="0">
                <a:latin typeface="Arial"/>
                <a:cs typeface="Arial"/>
              </a:rPr>
              <a:t> </a:t>
            </a:r>
            <a:r>
              <a:rPr sz="1000" spc="-5" dirty="0">
                <a:solidFill>
                  <a:srgbClr val="FA0000"/>
                </a:solidFill>
                <a:latin typeface="Arial"/>
                <a:cs typeface="Arial"/>
              </a:rPr>
              <a:t>identifier</a:t>
            </a:r>
            <a:r>
              <a:rPr sz="1000" spc="-5" dirty="0">
                <a:latin typeface="Arial"/>
                <a:cs typeface="Arial"/>
              </a:rPr>
              <a:t>.</a:t>
            </a:r>
            <a:endParaRPr sz="1000">
              <a:latin typeface="Arial"/>
              <a:cs typeface="Arial"/>
            </a:endParaRPr>
          </a:p>
          <a:p>
            <a:pPr marL="327660" indent="-168275">
              <a:lnSpc>
                <a:spcPts val="1190"/>
              </a:lnSpc>
              <a:buClr>
                <a:srgbClr val="3333B2"/>
              </a:buClr>
              <a:buChar char="►"/>
              <a:tabLst>
                <a:tab pos="328295" algn="l"/>
              </a:tabLst>
            </a:pPr>
            <a:r>
              <a:rPr sz="1000" spc="-5" dirty="0">
                <a:latin typeface="Arial"/>
                <a:cs typeface="Arial"/>
              </a:rPr>
              <a:t>Each</a:t>
            </a:r>
            <a:r>
              <a:rPr sz="1000" spc="-10" dirty="0">
                <a:latin typeface="Arial"/>
                <a:cs typeface="Arial"/>
              </a:rPr>
              <a:t> </a:t>
            </a:r>
            <a:r>
              <a:rPr sz="1000" spc="-5" dirty="0">
                <a:latin typeface="Arial"/>
                <a:cs typeface="Arial"/>
              </a:rPr>
              <a:t>data item is hashed to an</a:t>
            </a:r>
            <a:r>
              <a:rPr sz="1000" spc="-10" dirty="0">
                <a:latin typeface="Arial"/>
                <a:cs typeface="Arial"/>
              </a:rPr>
              <a:t> </a:t>
            </a:r>
            <a:r>
              <a:rPr sz="1000" i="1" dirty="0">
                <a:latin typeface="Arial"/>
                <a:cs typeface="Arial"/>
              </a:rPr>
              <a:t>m</a:t>
            </a:r>
            <a:r>
              <a:rPr sz="1000" dirty="0">
                <a:latin typeface="Arial"/>
                <a:cs typeface="Arial"/>
              </a:rPr>
              <a:t>-bit</a:t>
            </a:r>
            <a:r>
              <a:rPr sz="1000" spc="-5" dirty="0">
                <a:latin typeface="Arial"/>
                <a:cs typeface="Arial"/>
              </a:rPr>
              <a:t> </a:t>
            </a:r>
            <a:r>
              <a:rPr sz="1000" spc="-15" dirty="0">
                <a:solidFill>
                  <a:srgbClr val="FA0000"/>
                </a:solidFill>
                <a:latin typeface="Arial"/>
                <a:cs typeface="Arial"/>
              </a:rPr>
              <a:t>key</a:t>
            </a:r>
            <a:r>
              <a:rPr sz="1000" spc="-15" dirty="0">
                <a:latin typeface="Arial"/>
                <a:cs typeface="Arial"/>
              </a:rPr>
              <a:t>.</a:t>
            </a:r>
            <a:endParaRPr sz="1000">
              <a:latin typeface="Arial"/>
              <a:cs typeface="Arial"/>
            </a:endParaRPr>
          </a:p>
          <a:p>
            <a:pPr marL="327660" indent="-168275">
              <a:lnSpc>
                <a:spcPts val="1195"/>
              </a:lnSpc>
              <a:buClr>
                <a:srgbClr val="3333B2"/>
              </a:buClr>
              <a:buChar char="►"/>
              <a:tabLst>
                <a:tab pos="328295" algn="l"/>
              </a:tabLst>
            </a:pPr>
            <a:r>
              <a:rPr sz="1000" spc="-5" dirty="0">
                <a:latin typeface="Arial"/>
                <a:cs typeface="Arial"/>
              </a:rPr>
              <a:t>Data</a:t>
            </a:r>
            <a:r>
              <a:rPr sz="1000" dirty="0">
                <a:latin typeface="Arial"/>
                <a:cs typeface="Arial"/>
              </a:rPr>
              <a:t> </a:t>
            </a:r>
            <a:r>
              <a:rPr sz="1000" spc="-5" dirty="0">
                <a:latin typeface="Arial"/>
                <a:cs typeface="Arial"/>
              </a:rPr>
              <a:t>item</a:t>
            </a:r>
            <a:r>
              <a:rPr sz="1000" dirty="0">
                <a:latin typeface="Arial"/>
                <a:cs typeface="Arial"/>
              </a:rPr>
              <a:t> </a:t>
            </a:r>
            <a:r>
              <a:rPr sz="1000" spc="-5" dirty="0">
                <a:latin typeface="Arial"/>
                <a:cs typeface="Arial"/>
              </a:rPr>
              <a:t>with</a:t>
            </a:r>
            <a:r>
              <a:rPr sz="1000" dirty="0">
                <a:latin typeface="Arial"/>
                <a:cs typeface="Arial"/>
              </a:rPr>
              <a:t> </a:t>
            </a:r>
            <a:r>
              <a:rPr sz="1000" spc="-20" dirty="0">
                <a:latin typeface="Arial"/>
                <a:cs typeface="Arial"/>
              </a:rPr>
              <a:t>key</a:t>
            </a:r>
            <a:r>
              <a:rPr sz="1000" dirty="0">
                <a:latin typeface="Arial"/>
                <a:cs typeface="Arial"/>
              </a:rPr>
              <a:t> </a:t>
            </a:r>
            <a:r>
              <a:rPr sz="1000" i="1" spc="-5" dirty="0">
                <a:latin typeface="Arial"/>
                <a:cs typeface="Arial"/>
              </a:rPr>
              <a:t>k</a:t>
            </a:r>
            <a:r>
              <a:rPr sz="1000" i="1" spc="10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stored</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smallest</a:t>
            </a:r>
            <a:r>
              <a:rPr sz="1000" dirty="0">
                <a:latin typeface="Arial"/>
                <a:cs typeface="Arial"/>
              </a:rPr>
              <a:t> </a:t>
            </a:r>
            <a:r>
              <a:rPr sz="1000" spc="-5" dirty="0">
                <a:latin typeface="Arial"/>
                <a:cs typeface="Arial"/>
              </a:rPr>
              <a:t>identifier</a:t>
            </a:r>
            <a:endParaRPr sz="1000">
              <a:latin typeface="Arial"/>
              <a:cs typeface="Arial"/>
            </a:endParaRPr>
          </a:p>
          <a:p>
            <a:pPr marL="327660">
              <a:lnSpc>
                <a:spcPts val="1200"/>
              </a:lnSpc>
            </a:pPr>
            <a:r>
              <a:rPr sz="1000" i="1" spc="-5" dirty="0">
                <a:latin typeface="Arial"/>
                <a:cs typeface="Arial"/>
              </a:rPr>
              <a:t>id</a:t>
            </a:r>
            <a:r>
              <a:rPr sz="1000" i="1" spc="35"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k</a:t>
            </a:r>
            <a:r>
              <a:rPr sz="1000" i="1" spc="-180" dirty="0">
                <a:latin typeface="Arial"/>
                <a:cs typeface="Arial"/>
              </a:rPr>
              <a:t> </a:t>
            </a:r>
            <a:r>
              <a:rPr sz="1000" spc="-5" dirty="0">
                <a:latin typeface="Arial"/>
                <a:cs typeface="Arial"/>
              </a:rPr>
              <a:t>, called the </a:t>
            </a:r>
            <a:r>
              <a:rPr sz="1000" spc="-5" dirty="0">
                <a:solidFill>
                  <a:srgbClr val="FA0000"/>
                </a:solidFill>
                <a:latin typeface="Arial"/>
                <a:cs typeface="Arial"/>
              </a:rPr>
              <a:t>successor </a:t>
            </a:r>
            <a:r>
              <a:rPr sz="1000" spc="-5" dirty="0">
                <a:latin typeface="Arial"/>
                <a:cs typeface="Arial"/>
              </a:rPr>
              <a:t>of </a:t>
            </a:r>
            <a:r>
              <a:rPr sz="1000" spc="-20" dirty="0">
                <a:latin typeface="Arial"/>
                <a:cs typeface="Arial"/>
              </a:rPr>
              <a:t>key</a:t>
            </a:r>
            <a:r>
              <a:rPr sz="1000" spc="-5"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endParaRPr sz="1000">
              <a:latin typeface="Arial"/>
              <a:cs typeface="Arial"/>
            </a:endParaRPr>
          </a:p>
        </p:txBody>
      </p:sp>
      <p:sp>
        <p:nvSpPr>
          <p:cNvPr id="6" name="object 6"/>
          <p:cNvSpPr txBox="1"/>
          <p:nvPr/>
        </p:nvSpPr>
        <p:spPr>
          <a:xfrm>
            <a:off x="456704" y="2078982"/>
            <a:ext cx="123825" cy="177800"/>
          </a:xfrm>
          <a:prstGeom prst="rect">
            <a:avLst/>
          </a:prstGeom>
        </p:spPr>
        <p:txBody>
          <a:bodyPr vert="horz" wrap="square" lIns="0" tIns="12065" rIns="0" bIns="0" rtlCol="0">
            <a:spAutoFit/>
          </a:bodyPr>
          <a:lstStyle/>
          <a:p>
            <a:pPr marL="12700">
              <a:lnSpc>
                <a:spcPct val="100000"/>
              </a:lnSpc>
              <a:spcBef>
                <a:spcPts val="95"/>
              </a:spcBef>
            </a:pPr>
            <a:r>
              <a:rPr sz="1000" spc="-220" dirty="0">
                <a:solidFill>
                  <a:srgbClr val="3333B2"/>
                </a:solidFill>
                <a:latin typeface="Arial"/>
                <a:cs typeface="Arial"/>
              </a:rPr>
              <a:t>►</a:t>
            </a:r>
            <a:endParaRPr sz="1000">
              <a:latin typeface="Arial"/>
              <a:cs typeface="Arial"/>
            </a:endParaRPr>
          </a:p>
        </p:txBody>
      </p:sp>
      <p:sp>
        <p:nvSpPr>
          <p:cNvPr id="7" name="object 7"/>
          <p:cNvSpPr txBox="1"/>
          <p:nvPr/>
        </p:nvSpPr>
        <p:spPr>
          <a:xfrm>
            <a:off x="624395" y="2094806"/>
            <a:ext cx="352806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The </a:t>
            </a:r>
            <a:r>
              <a:rPr sz="1000" dirty="0">
                <a:latin typeface="Arial"/>
                <a:cs typeface="Arial"/>
              </a:rPr>
              <a:t>ring </a:t>
            </a:r>
            <a:r>
              <a:rPr sz="1000" spc="-5" dirty="0">
                <a:latin typeface="Arial"/>
                <a:cs typeface="Arial"/>
              </a:rPr>
              <a:t>is</a:t>
            </a:r>
            <a:r>
              <a:rPr sz="1000" dirty="0">
                <a:latin typeface="Arial"/>
                <a:cs typeface="Arial"/>
              </a:rPr>
              <a:t> </a:t>
            </a:r>
            <a:r>
              <a:rPr sz="1000" spc="-10" dirty="0">
                <a:latin typeface="Arial"/>
                <a:cs typeface="Arial"/>
              </a:rPr>
              <a:t>extended</a:t>
            </a:r>
            <a:r>
              <a:rPr sz="1000" spc="-5" dirty="0">
                <a:latin typeface="Arial"/>
                <a:cs typeface="Arial"/>
              </a:rPr>
              <a:t> with</a:t>
            </a:r>
            <a:r>
              <a:rPr sz="1000" dirty="0">
                <a:latin typeface="Arial"/>
                <a:cs typeface="Arial"/>
              </a:rPr>
              <a:t> </a:t>
            </a:r>
            <a:r>
              <a:rPr sz="1000" spc="-5" dirty="0">
                <a:latin typeface="Arial"/>
                <a:cs typeface="Arial"/>
              </a:rPr>
              <a:t>various</a:t>
            </a:r>
            <a:r>
              <a:rPr sz="1000" dirty="0">
                <a:latin typeface="Arial"/>
                <a:cs typeface="Arial"/>
              </a:rPr>
              <a:t> </a:t>
            </a:r>
            <a:r>
              <a:rPr sz="1000" dirty="0">
                <a:solidFill>
                  <a:srgbClr val="0000FA"/>
                </a:solidFill>
                <a:latin typeface="Arial"/>
                <a:cs typeface="Arial"/>
              </a:rPr>
              <a:t>shortcut </a:t>
            </a:r>
            <a:r>
              <a:rPr sz="1000" spc="-5" dirty="0">
                <a:solidFill>
                  <a:srgbClr val="0000FA"/>
                </a:solidFill>
                <a:latin typeface="Arial"/>
                <a:cs typeface="Arial"/>
              </a:rPr>
              <a:t>links </a:t>
            </a:r>
            <a:r>
              <a:rPr sz="1000" spc="-5" dirty="0">
                <a:latin typeface="Arial"/>
                <a:cs typeface="Arial"/>
              </a:rPr>
              <a:t>to</a:t>
            </a:r>
            <a:r>
              <a:rPr sz="1000" dirty="0">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nodes.</a:t>
            </a:r>
            <a:endParaRPr sz="10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Decentralized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5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134366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50" dirty="0">
                <a:solidFill>
                  <a:srgbClr val="3333B2"/>
                </a:solidFill>
                <a:latin typeface="Arial"/>
                <a:cs typeface="Arial"/>
              </a:rPr>
              <a:t> </a:t>
            </a:r>
            <a:r>
              <a:rPr sz="1400" spc="15" dirty="0">
                <a:solidFill>
                  <a:srgbClr val="3333B2"/>
                </a:solidFill>
                <a:latin typeface="Arial"/>
                <a:cs typeface="Arial"/>
              </a:rPr>
              <a:t>Chord</a:t>
            </a:r>
            <a:endParaRPr sz="1400">
              <a:latin typeface="Arial"/>
              <a:cs typeface="Arial"/>
            </a:endParaRPr>
          </a:p>
        </p:txBody>
      </p:sp>
      <p:pic>
        <p:nvPicPr>
          <p:cNvPr id="5" name="object 5"/>
          <p:cNvPicPr/>
          <p:nvPr/>
        </p:nvPicPr>
        <p:blipFill>
          <a:blip r:embed="rId6" cstate="print"/>
          <a:stretch>
            <a:fillRect/>
          </a:stretch>
        </p:blipFill>
        <p:spPr>
          <a:xfrm>
            <a:off x="921584" y="722978"/>
            <a:ext cx="2395970" cy="2395963"/>
          </a:xfrm>
          <a:prstGeom prst="rect">
            <a:avLst/>
          </a:prstGeom>
        </p:spPr>
      </p:pic>
      <p:sp>
        <p:nvSpPr>
          <p:cNvPr id="6" name="object 6"/>
          <p:cNvSpPr txBox="1"/>
          <p:nvPr/>
        </p:nvSpPr>
        <p:spPr>
          <a:xfrm>
            <a:off x="1695370" y="1049785"/>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Shortcut</a:t>
            </a:r>
            <a:endParaRPr sz="650">
              <a:latin typeface="Arial"/>
              <a:cs typeface="Arial"/>
            </a:endParaRPr>
          </a:p>
        </p:txBody>
      </p:sp>
      <p:sp>
        <p:nvSpPr>
          <p:cNvPr id="7" name="object 7"/>
          <p:cNvSpPr txBox="1"/>
          <p:nvPr/>
        </p:nvSpPr>
        <p:spPr>
          <a:xfrm>
            <a:off x="3375216" y="2029732"/>
            <a:ext cx="80391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Node</a:t>
            </a:r>
            <a:r>
              <a:rPr sz="650" spc="-35" dirty="0">
                <a:solidFill>
                  <a:srgbClr val="231F20"/>
                </a:solidFill>
                <a:latin typeface="Arial"/>
                <a:cs typeface="Arial"/>
              </a:rPr>
              <a:t> </a:t>
            </a:r>
            <a:r>
              <a:rPr sz="650" spc="5" dirty="0">
                <a:solidFill>
                  <a:srgbClr val="231F20"/>
                </a:solidFill>
                <a:latin typeface="Arial"/>
                <a:cs typeface="Arial"/>
              </a:rPr>
              <a:t>responsible</a:t>
            </a:r>
            <a:r>
              <a:rPr sz="650" spc="-35" dirty="0">
                <a:solidFill>
                  <a:srgbClr val="231F20"/>
                </a:solidFill>
                <a:latin typeface="Arial"/>
                <a:cs typeface="Arial"/>
              </a:rPr>
              <a:t> </a:t>
            </a:r>
            <a:r>
              <a:rPr sz="650" spc="5" dirty="0">
                <a:solidFill>
                  <a:srgbClr val="231F20"/>
                </a:solidFill>
                <a:latin typeface="Arial"/>
                <a:cs typeface="Arial"/>
              </a:rPr>
              <a:t>for </a:t>
            </a:r>
            <a:r>
              <a:rPr sz="650" spc="-165" dirty="0">
                <a:solidFill>
                  <a:srgbClr val="231F20"/>
                </a:solidFill>
                <a:latin typeface="Arial"/>
                <a:cs typeface="Arial"/>
              </a:rPr>
              <a:t> </a:t>
            </a:r>
            <a:r>
              <a:rPr sz="650" spc="5" dirty="0">
                <a:solidFill>
                  <a:srgbClr val="231F20"/>
                </a:solidFill>
                <a:latin typeface="Arial"/>
                <a:cs typeface="Arial"/>
              </a:rPr>
              <a:t>keys</a:t>
            </a:r>
            <a:r>
              <a:rPr sz="650" spc="-10" dirty="0">
                <a:solidFill>
                  <a:srgbClr val="231F20"/>
                </a:solidFill>
                <a:latin typeface="Arial"/>
                <a:cs typeface="Arial"/>
              </a:rPr>
              <a:t> </a:t>
            </a:r>
            <a:r>
              <a:rPr sz="650" spc="5" dirty="0">
                <a:solidFill>
                  <a:srgbClr val="231F20"/>
                </a:solidFill>
                <a:latin typeface="Arial"/>
                <a:cs typeface="Arial"/>
              </a:rPr>
              <a:t>{5,6,7,8,9}</a:t>
            </a:r>
            <a:endParaRPr sz="650">
              <a:latin typeface="Arial"/>
              <a:cs typeface="Arial"/>
            </a:endParaRPr>
          </a:p>
        </p:txBody>
      </p:sp>
      <p:sp>
        <p:nvSpPr>
          <p:cNvPr id="8" name="object 8"/>
          <p:cNvSpPr txBox="1"/>
          <p:nvPr/>
        </p:nvSpPr>
        <p:spPr>
          <a:xfrm>
            <a:off x="676135" y="1676176"/>
            <a:ext cx="2133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node</a:t>
            </a:r>
            <a:endParaRPr sz="650">
              <a:latin typeface="Arial"/>
              <a:cs typeface="Arial"/>
            </a:endParaRPr>
          </a:p>
        </p:txBody>
      </p:sp>
      <p:sp>
        <p:nvSpPr>
          <p:cNvPr id="9" name="object 9"/>
          <p:cNvSpPr txBox="1"/>
          <p:nvPr/>
        </p:nvSpPr>
        <p:spPr>
          <a:xfrm>
            <a:off x="2083411" y="715278"/>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0</a:t>
            </a:r>
            <a:endParaRPr sz="650">
              <a:latin typeface="Arial"/>
              <a:cs typeface="Arial"/>
            </a:endParaRPr>
          </a:p>
        </p:txBody>
      </p:sp>
      <p:sp>
        <p:nvSpPr>
          <p:cNvPr id="10" name="object 10"/>
          <p:cNvSpPr txBox="1"/>
          <p:nvPr/>
        </p:nvSpPr>
        <p:spPr>
          <a:xfrm>
            <a:off x="2304245" y="739794"/>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a:t>
            </a:r>
            <a:endParaRPr sz="650">
              <a:latin typeface="Arial"/>
              <a:cs typeface="Arial"/>
            </a:endParaRPr>
          </a:p>
        </p:txBody>
      </p:sp>
      <p:sp>
        <p:nvSpPr>
          <p:cNvPr id="11" name="object 11"/>
          <p:cNvSpPr txBox="1"/>
          <p:nvPr/>
        </p:nvSpPr>
        <p:spPr>
          <a:xfrm>
            <a:off x="2519808" y="801982"/>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a:t>
            </a:r>
            <a:endParaRPr sz="650">
              <a:latin typeface="Arial"/>
              <a:cs typeface="Arial"/>
            </a:endParaRPr>
          </a:p>
        </p:txBody>
      </p:sp>
      <p:sp>
        <p:nvSpPr>
          <p:cNvPr id="12" name="object 12"/>
          <p:cNvSpPr txBox="1"/>
          <p:nvPr/>
        </p:nvSpPr>
        <p:spPr>
          <a:xfrm>
            <a:off x="2715871" y="906869"/>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3</a:t>
            </a:r>
            <a:endParaRPr sz="650">
              <a:latin typeface="Arial"/>
              <a:cs typeface="Arial"/>
            </a:endParaRPr>
          </a:p>
        </p:txBody>
      </p:sp>
      <p:sp>
        <p:nvSpPr>
          <p:cNvPr id="13" name="object 13"/>
          <p:cNvSpPr txBox="1"/>
          <p:nvPr/>
        </p:nvSpPr>
        <p:spPr>
          <a:xfrm>
            <a:off x="2883473" y="1051808"/>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4</a:t>
            </a:r>
            <a:endParaRPr sz="650">
              <a:latin typeface="Arial"/>
              <a:cs typeface="Arial"/>
            </a:endParaRPr>
          </a:p>
        </p:txBody>
      </p:sp>
      <p:sp>
        <p:nvSpPr>
          <p:cNvPr id="14" name="object 14"/>
          <p:cNvSpPr txBox="1"/>
          <p:nvPr/>
        </p:nvSpPr>
        <p:spPr>
          <a:xfrm>
            <a:off x="3029466" y="1220464"/>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5</a:t>
            </a:r>
            <a:endParaRPr sz="650">
              <a:latin typeface="Arial"/>
              <a:cs typeface="Arial"/>
            </a:endParaRPr>
          </a:p>
        </p:txBody>
      </p:sp>
      <p:sp>
        <p:nvSpPr>
          <p:cNvPr id="15" name="object 15"/>
          <p:cNvSpPr txBox="1"/>
          <p:nvPr/>
        </p:nvSpPr>
        <p:spPr>
          <a:xfrm>
            <a:off x="3135399" y="1417053"/>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6</a:t>
            </a:r>
            <a:endParaRPr sz="650">
              <a:latin typeface="Arial"/>
              <a:cs typeface="Arial"/>
            </a:endParaRPr>
          </a:p>
        </p:txBody>
      </p:sp>
      <p:sp>
        <p:nvSpPr>
          <p:cNvPr id="16" name="object 16"/>
          <p:cNvSpPr txBox="1"/>
          <p:nvPr/>
        </p:nvSpPr>
        <p:spPr>
          <a:xfrm>
            <a:off x="3196808" y="1633996"/>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7</a:t>
            </a:r>
            <a:endParaRPr sz="650">
              <a:latin typeface="Arial"/>
              <a:cs typeface="Arial"/>
            </a:endParaRPr>
          </a:p>
        </p:txBody>
      </p:sp>
      <p:sp>
        <p:nvSpPr>
          <p:cNvPr id="17" name="object 17"/>
          <p:cNvSpPr txBox="1"/>
          <p:nvPr/>
        </p:nvSpPr>
        <p:spPr>
          <a:xfrm>
            <a:off x="3222362" y="1851342"/>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8</a:t>
            </a:r>
            <a:endParaRPr sz="650">
              <a:latin typeface="Arial"/>
              <a:cs typeface="Arial"/>
            </a:endParaRPr>
          </a:p>
        </p:txBody>
      </p:sp>
      <p:sp>
        <p:nvSpPr>
          <p:cNvPr id="18" name="object 18"/>
          <p:cNvSpPr txBox="1"/>
          <p:nvPr/>
        </p:nvSpPr>
        <p:spPr>
          <a:xfrm>
            <a:off x="3204142" y="2076582"/>
            <a:ext cx="72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9</a:t>
            </a:r>
            <a:endParaRPr sz="650">
              <a:latin typeface="Arial"/>
              <a:cs typeface="Arial"/>
            </a:endParaRPr>
          </a:p>
        </p:txBody>
      </p:sp>
      <p:sp>
        <p:nvSpPr>
          <p:cNvPr id="19" name="object 19"/>
          <p:cNvSpPr txBox="1"/>
          <p:nvPr/>
        </p:nvSpPr>
        <p:spPr>
          <a:xfrm>
            <a:off x="3106156" y="2290375"/>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10</a:t>
            </a:r>
            <a:endParaRPr sz="650">
              <a:latin typeface="Arial"/>
              <a:cs typeface="Arial"/>
            </a:endParaRPr>
          </a:p>
        </p:txBody>
      </p:sp>
      <p:sp>
        <p:nvSpPr>
          <p:cNvPr id="20" name="object 20"/>
          <p:cNvSpPr txBox="1"/>
          <p:nvPr/>
        </p:nvSpPr>
        <p:spPr>
          <a:xfrm>
            <a:off x="3011777" y="2485383"/>
            <a:ext cx="113030" cy="127000"/>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31F20"/>
                </a:solidFill>
                <a:latin typeface="Arial"/>
                <a:cs typeface="Arial"/>
              </a:rPr>
              <a:t>1</a:t>
            </a:r>
            <a:r>
              <a:rPr sz="650" spc="5" dirty="0">
                <a:solidFill>
                  <a:srgbClr val="231F20"/>
                </a:solidFill>
                <a:latin typeface="Arial"/>
                <a:cs typeface="Arial"/>
              </a:rPr>
              <a:t>1</a:t>
            </a:r>
            <a:endParaRPr sz="650">
              <a:latin typeface="Arial"/>
              <a:cs typeface="Arial"/>
            </a:endParaRPr>
          </a:p>
        </p:txBody>
      </p:sp>
      <p:sp>
        <p:nvSpPr>
          <p:cNvPr id="21" name="object 21"/>
          <p:cNvSpPr txBox="1"/>
          <p:nvPr/>
        </p:nvSpPr>
        <p:spPr>
          <a:xfrm>
            <a:off x="2855807" y="2659310"/>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12</a:t>
            </a:r>
            <a:endParaRPr sz="650">
              <a:latin typeface="Arial"/>
              <a:cs typeface="Arial"/>
            </a:endParaRPr>
          </a:p>
        </p:txBody>
      </p:sp>
      <p:sp>
        <p:nvSpPr>
          <p:cNvPr id="22" name="object 22"/>
          <p:cNvSpPr txBox="1"/>
          <p:nvPr/>
        </p:nvSpPr>
        <p:spPr>
          <a:xfrm>
            <a:off x="2684515" y="2796343"/>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13</a:t>
            </a:r>
            <a:endParaRPr sz="650">
              <a:latin typeface="Arial"/>
              <a:cs typeface="Arial"/>
            </a:endParaRPr>
          </a:p>
        </p:txBody>
      </p:sp>
      <p:sp>
        <p:nvSpPr>
          <p:cNvPr id="23" name="object 23"/>
          <p:cNvSpPr txBox="1"/>
          <p:nvPr/>
        </p:nvSpPr>
        <p:spPr>
          <a:xfrm>
            <a:off x="1419595" y="2801614"/>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19</a:t>
            </a:r>
            <a:endParaRPr sz="650">
              <a:latin typeface="Arial"/>
              <a:cs typeface="Arial"/>
            </a:endParaRPr>
          </a:p>
        </p:txBody>
      </p:sp>
      <p:sp>
        <p:nvSpPr>
          <p:cNvPr id="24" name="object 24"/>
          <p:cNvSpPr txBox="1"/>
          <p:nvPr/>
        </p:nvSpPr>
        <p:spPr>
          <a:xfrm>
            <a:off x="1253575" y="2656675"/>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20</a:t>
            </a:r>
            <a:endParaRPr sz="650">
              <a:latin typeface="Arial"/>
              <a:cs typeface="Arial"/>
            </a:endParaRPr>
          </a:p>
        </p:txBody>
      </p:sp>
      <p:sp>
        <p:nvSpPr>
          <p:cNvPr id="25" name="object 25"/>
          <p:cNvSpPr txBox="1"/>
          <p:nvPr/>
        </p:nvSpPr>
        <p:spPr>
          <a:xfrm>
            <a:off x="1116542" y="2482748"/>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21</a:t>
            </a:r>
            <a:endParaRPr sz="650">
              <a:latin typeface="Arial"/>
              <a:cs typeface="Arial"/>
            </a:endParaRPr>
          </a:p>
        </p:txBody>
      </p:sp>
      <p:sp>
        <p:nvSpPr>
          <p:cNvPr id="26" name="object 26"/>
          <p:cNvSpPr txBox="1"/>
          <p:nvPr/>
        </p:nvSpPr>
        <p:spPr>
          <a:xfrm>
            <a:off x="1005861" y="2285105"/>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22</a:t>
            </a:r>
            <a:endParaRPr sz="650">
              <a:latin typeface="Arial"/>
              <a:cs typeface="Arial"/>
            </a:endParaRPr>
          </a:p>
        </p:txBody>
      </p:sp>
      <p:sp>
        <p:nvSpPr>
          <p:cNvPr id="27" name="object 27"/>
          <p:cNvSpPr txBox="1"/>
          <p:nvPr/>
        </p:nvSpPr>
        <p:spPr>
          <a:xfrm>
            <a:off x="942615" y="207164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23</a:t>
            </a:r>
            <a:endParaRPr sz="650">
              <a:latin typeface="Arial"/>
              <a:cs typeface="Arial"/>
            </a:endParaRPr>
          </a:p>
        </p:txBody>
      </p:sp>
      <p:sp>
        <p:nvSpPr>
          <p:cNvPr id="28" name="object 28"/>
          <p:cNvSpPr txBox="1"/>
          <p:nvPr/>
        </p:nvSpPr>
        <p:spPr>
          <a:xfrm>
            <a:off x="921533" y="1852924"/>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24</a:t>
            </a:r>
            <a:endParaRPr sz="650">
              <a:latin typeface="Arial"/>
              <a:cs typeface="Arial"/>
            </a:endParaRPr>
          </a:p>
        </p:txBody>
      </p:sp>
      <p:sp>
        <p:nvSpPr>
          <p:cNvPr id="29" name="object 29"/>
          <p:cNvSpPr txBox="1"/>
          <p:nvPr/>
        </p:nvSpPr>
        <p:spPr>
          <a:xfrm>
            <a:off x="397714" y="1581970"/>
            <a:ext cx="689610" cy="127000"/>
          </a:xfrm>
          <a:prstGeom prst="rect">
            <a:avLst/>
          </a:prstGeom>
        </p:spPr>
        <p:txBody>
          <a:bodyPr vert="horz" wrap="square" lIns="0" tIns="13970" rIns="0" bIns="0" rtlCol="0">
            <a:spAutoFit/>
          </a:bodyPr>
          <a:lstStyle/>
          <a:p>
            <a:pPr marL="38100">
              <a:lnSpc>
                <a:spcPct val="100000"/>
              </a:lnSpc>
              <a:spcBef>
                <a:spcPts val="110"/>
              </a:spcBef>
            </a:pPr>
            <a:r>
              <a:rPr sz="650" spc="5" dirty="0">
                <a:solidFill>
                  <a:srgbClr val="231F20"/>
                </a:solidFill>
                <a:latin typeface="Arial"/>
                <a:cs typeface="Arial"/>
              </a:rPr>
              <a:t>Nonexisting  </a:t>
            </a:r>
            <a:r>
              <a:rPr sz="650" spc="10" dirty="0">
                <a:solidFill>
                  <a:srgbClr val="231F20"/>
                </a:solidFill>
                <a:latin typeface="Arial"/>
                <a:cs typeface="Arial"/>
              </a:rPr>
              <a:t> </a:t>
            </a:r>
            <a:r>
              <a:rPr sz="975" spc="7" baseline="-29914" dirty="0">
                <a:solidFill>
                  <a:srgbClr val="231F20"/>
                </a:solidFill>
                <a:latin typeface="Arial"/>
                <a:cs typeface="Arial"/>
              </a:rPr>
              <a:t>25</a:t>
            </a:r>
            <a:endParaRPr sz="975" baseline="-29914">
              <a:latin typeface="Arial"/>
              <a:cs typeface="Arial"/>
            </a:endParaRPr>
          </a:p>
        </p:txBody>
      </p:sp>
      <p:sp>
        <p:nvSpPr>
          <p:cNvPr id="30" name="object 30"/>
          <p:cNvSpPr txBox="1"/>
          <p:nvPr/>
        </p:nvSpPr>
        <p:spPr>
          <a:xfrm>
            <a:off x="1008496" y="141547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26</a:t>
            </a:r>
            <a:endParaRPr sz="650">
              <a:latin typeface="Arial"/>
              <a:cs typeface="Arial"/>
            </a:endParaRPr>
          </a:p>
        </p:txBody>
      </p:sp>
      <p:sp>
        <p:nvSpPr>
          <p:cNvPr id="31" name="object 31"/>
          <p:cNvSpPr txBox="1"/>
          <p:nvPr/>
        </p:nvSpPr>
        <p:spPr>
          <a:xfrm>
            <a:off x="1427501" y="90686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29</a:t>
            </a:r>
            <a:endParaRPr sz="650">
              <a:latin typeface="Arial"/>
              <a:cs typeface="Arial"/>
            </a:endParaRPr>
          </a:p>
        </p:txBody>
      </p:sp>
      <p:sp>
        <p:nvSpPr>
          <p:cNvPr id="32" name="object 32"/>
          <p:cNvSpPr txBox="1"/>
          <p:nvPr/>
        </p:nvSpPr>
        <p:spPr>
          <a:xfrm>
            <a:off x="1622510" y="798823"/>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30</a:t>
            </a:r>
            <a:endParaRPr sz="650">
              <a:latin typeface="Arial"/>
              <a:cs typeface="Arial"/>
            </a:endParaRPr>
          </a:p>
        </p:txBody>
      </p:sp>
      <p:sp>
        <p:nvSpPr>
          <p:cNvPr id="33" name="object 33"/>
          <p:cNvSpPr txBox="1"/>
          <p:nvPr/>
        </p:nvSpPr>
        <p:spPr>
          <a:xfrm>
            <a:off x="1838600" y="735578"/>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31</a:t>
            </a:r>
            <a:endParaRPr sz="650">
              <a:latin typeface="Arial"/>
              <a:cs typeface="Arial"/>
            </a:endParaRPr>
          </a:p>
        </p:txBody>
      </p:sp>
      <p:sp>
        <p:nvSpPr>
          <p:cNvPr id="34" name="object 34"/>
          <p:cNvSpPr txBox="1"/>
          <p:nvPr/>
        </p:nvSpPr>
        <p:spPr>
          <a:xfrm>
            <a:off x="711634" y="996575"/>
            <a:ext cx="685800" cy="350520"/>
          </a:xfrm>
          <a:prstGeom prst="rect">
            <a:avLst/>
          </a:prstGeom>
        </p:spPr>
        <p:txBody>
          <a:bodyPr vert="horz" wrap="square" lIns="0" tIns="13970" rIns="0" bIns="0" rtlCol="0">
            <a:spAutoFit/>
          </a:bodyPr>
          <a:lstStyle/>
          <a:p>
            <a:pPr marL="38100">
              <a:lnSpc>
                <a:spcPct val="100000"/>
              </a:lnSpc>
              <a:spcBef>
                <a:spcPts val="110"/>
              </a:spcBef>
            </a:pPr>
            <a:r>
              <a:rPr sz="650" spc="5" dirty="0">
                <a:solidFill>
                  <a:srgbClr val="231F20"/>
                </a:solidFill>
                <a:latin typeface="Arial"/>
                <a:cs typeface="Arial"/>
              </a:rPr>
              <a:t>Actual</a:t>
            </a:r>
            <a:r>
              <a:rPr sz="650" spc="-15" dirty="0">
                <a:solidFill>
                  <a:srgbClr val="231F20"/>
                </a:solidFill>
                <a:latin typeface="Arial"/>
                <a:cs typeface="Arial"/>
              </a:rPr>
              <a:t> </a:t>
            </a:r>
            <a:r>
              <a:rPr sz="650" spc="5" dirty="0">
                <a:solidFill>
                  <a:srgbClr val="231F20"/>
                </a:solidFill>
                <a:latin typeface="Arial"/>
                <a:cs typeface="Arial"/>
              </a:rPr>
              <a:t>node </a:t>
            </a:r>
            <a:r>
              <a:rPr sz="650" spc="135" dirty="0">
                <a:solidFill>
                  <a:srgbClr val="231F20"/>
                </a:solidFill>
                <a:latin typeface="Arial"/>
                <a:cs typeface="Arial"/>
              </a:rPr>
              <a:t> </a:t>
            </a:r>
            <a:r>
              <a:rPr sz="975" spc="7" baseline="-34188" dirty="0">
                <a:solidFill>
                  <a:srgbClr val="231F20"/>
                </a:solidFill>
                <a:latin typeface="Arial"/>
                <a:cs typeface="Arial"/>
              </a:rPr>
              <a:t>28</a:t>
            </a:r>
            <a:endParaRPr sz="975" baseline="-34188">
              <a:latin typeface="Arial"/>
              <a:cs typeface="Arial"/>
            </a:endParaRPr>
          </a:p>
          <a:p>
            <a:pPr>
              <a:lnSpc>
                <a:spcPct val="100000"/>
              </a:lnSpc>
              <a:spcBef>
                <a:spcPts val="5"/>
              </a:spcBef>
            </a:pPr>
            <a:endParaRPr sz="850">
              <a:latin typeface="Arial"/>
              <a:cs typeface="Arial"/>
            </a:endParaRPr>
          </a:p>
          <a:p>
            <a:pPr marL="409575">
              <a:lnSpc>
                <a:spcPct val="100000"/>
              </a:lnSpc>
              <a:spcBef>
                <a:spcPts val="5"/>
              </a:spcBef>
            </a:pPr>
            <a:r>
              <a:rPr sz="650" spc="5" dirty="0">
                <a:solidFill>
                  <a:srgbClr val="231F20"/>
                </a:solidFill>
                <a:latin typeface="Arial"/>
                <a:cs typeface="Arial"/>
              </a:rPr>
              <a:t>27</a:t>
            </a:r>
            <a:endParaRPr sz="650">
              <a:latin typeface="Arial"/>
              <a:cs typeface="Arial"/>
            </a:endParaRPr>
          </a:p>
        </p:txBody>
      </p:sp>
      <p:sp>
        <p:nvSpPr>
          <p:cNvPr id="35" name="object 35"/>
          <p:cNvSpPr txBox="1"/>
          <p:nvPr/>
        </p:nvSpPr>
        <p:spPr>
          <a:xfrm>
            <a:off x="1550428" y="2907024"/>
            <a:ext cx="1511300" cy="403225"/>
          </a:xfrm>
          <a:prstGeom prst="rect">
            <a:avLst/>
          </a:prstGeom>
        </p:spPr>
        <p:txBody>
          <a:bodyPr vert="horz" wrap="square" lIns="0" tIns="13970" rIns="0" bIns="0" rtlCol="0">
            <a:spAutoFit/>
          </a:bodyPr>
          <a:lstStyle/>
          <a:p>
            <a:pPr marR="380365" algn="ctr">
              <a:lnSpc>
                <a:spcPts val="710"/>
              </a:lnSpc>
              <a:spcBef>
                <a:spcPts val="110"/>
              </a:spcBef>
              <a:tabLst>
                <a:tab pos="874394" algn="l"/>
              </a:tabLst>
            </a:pPr>
            <a:r>
              <a:rPr sz="650" spc="5" dirty="0">
                <a:solidFill>
                  <a:srgbClr val="231F20"/>
                </a:solidFill>
                <a:latin typeface="Arial"/>
                <a:cs typeface="Arial"/>
              </a:rPr>
              <a:t>18	14</a:t>
            </a:r>
            <a:endParaRPr sz="650">
              <a:latin typeface="Arial"/>
              <a:cs typeface="Arial"/>
            </a:endParaRPr>
          </a:p>
          <a:p>
            <a:pPr marR="386715" algn="ctr">
              <a:lnSpc>
                <a:spcPts val="710"/>
              </a:lnSpc>
              <a:tabLst>
                <a:tab pos="224790" algn="l"/>
              </a:tabLst>
            </a:pPr>
            <a:r>
              <a:rPr sz="975" spc="7" baseline="8547" dirty="0">
                <a:solidFill>
                  <a:srgbClr val="231F20"/>
                </a:solidFill>
                <a:latin typeface="Arial"/>
                <a:cs typeface="Arial"/>
              </a:rPr>
              <a:t>17	</a:t>
            </a:r>
            <a:r>
              <a:rPr sz="650" spc="5" dirty="0">
                <a:solidFill>
                  <a:srgbClr val="231F20"/>
                </a:solidFill>
                <a:latin typeface="Arial"/>
                <a:cs typeface="Arial"/>
              </a:rPr>
              <a:t>16    </a:t>
            </a:r>
            <a:r>
              <a:rPr sz="650" spc="60" dirty="0">
                <a:solidFill>
                  <a:srgbClr val="231F20"/>
                </a:solidFill>
                <a:latin typeface="Arial"/>
                <a:cs typeface="Arial"/>
              </a:rPr>
              <a:t> </a:t>
            </a:r>
            <a:r>
              <a:rPr sz="975" spc="7" baseline="12820" dirty="0">
                <a:solidFill>
                  <a:srgbClr val="231F20"/>
                </a:solidFill>
                <a:latin typeface="Arial"/>
                <a:cs typeface="Arial"/>
              </a:rPr>
              <a:t>15</a:t>
            </a:r>
            <a:endParaRPr sz="975" baseline="12820">
              <a:latin typeface="Arial"/>
              <a:cs typeface="Arial"/>
            </a:endParaRPr>
          </a:p>
          <a:p>
            <a:pPr marL="38100">
              <a:lnSpc>
                <a:spcPct val="100000"/>
              </a:lnSpc>
              <a:spcBef>
                <a:spcPts val="335"/>
              </a:spcBef>
            </a:pPr>
            <a:r>
              <a:rPr sz="1000" i="1" spc="-5" dirty="0">
                <a:latin typeface="Arial"/>
                <a:cs typeface="Arial"/>
              </a:rPr>
              <a:t>lookup</a:t>
            </a:r>
            <a:r>
              <a:rPr sz="1000" spc="50" dirty="0">
                <a:latin typeface="Arial"/>
                <a:cs typeface="Arial"/>
              </a:rPr>
              <a:t>(</a:t>
            </a:r>
            <a:r>
              <a:rPr sz="1000" spc="-5" dirty="0">
                <a:latin typeface="Arial"/>
                <a:cs typeface="Arial"/>
              </a:rPr>
              <a:t>3</a:t>
            </a:r>
            <a:r>
              <a:rPr sz="1000" spc="-150" dirty="0">
                <a:latin typeface="Arial"/>
                <a:cs typeface="Arial"/>
              </a:rPr>
              <a:t>)@</a:t>
            </a:r>
            <a:r>
              <a:rPr sz="1000" spc="-5" dirty="0">
                <a:latin typeface="Arial"/>
                <a:cs typeface="Arial"/>
              </a:rPr>
              <a:t>9</a:t>
            </a:r>
            <a:r>
              <a:rPr sz="1000" spc="-60"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28</a:t>
            </a:r>
            <a:r>
              <a:rPr sz="1000" spc="-60" dirty="0">
                <a:latin typeface="Arial"/>
                <a:cs typeface="Arial"/>
              </a:rPr>
              <a:t> </a:t>
            </a:r>
            <a:r>
              <a:rPr sz="1000" i="1" spc="-5" dirty="0">
                <a:latin typeface="メイリオ"/>
                <a:cs typeface="メイリオ"/>
              </a:rPr>
              <a:t>→</a:t>
            </a:r>
            <a:r>
              <a:rPr sz="1000" i="1" spc="-120" dirty="0">
                <a:latin typeface="メイリオ"/>
                <a:cs typeface="メイリオ"/>
              </a:rPr>
              <a:t> </a:t>
            </a:r>
            <a:r>
              <a:rPr sz="1000" spc="-5" dirty="0">
                <a:latin typeface="Arial"/>
                <a:cs typeface="Arial"/>
              </a:rPr>
              <a:t>1</a:t>
            </a:r>
            <a:r>
              <a:rPr sz="1000" spc="-60" dirty="0">
                <a:latin typeface="Arial"/>
                <a:cs typeface="Arial"/>
              </a:rPr>
              <a:t> </a:t>
            </a:r>
            <a:r>
              <a:rPr sz="1000" i="1" spc="-5" dirty="0">
                <a:latin typeface="メイリオ"/>
                <a:cs typeface="メイリオ"/>
              </a:rPr>
              <a:t>→</a:t>
            </a:r>
            <a:r>
              <a:rPr sz="1000" i="1" spc="-120" dirty="0">
                <a:latin typeface="メイリオ"/>
                <a:cs typeface="メイリオ"/>
              </a:rPr>
              <a:t> </a:t>
            </a:r>
            <a:r>
              <a:rPr sz="1000" spc="-5" dirty="0">
                <a:latin typeface="Arial"/>
                <a:cs typeface="Arial"/>
              </a:rPr>
              <a:t>4</a:t>
            </a:r>
            <a:endParaRPr sz="1000">
              <a:latin typeface="Arial"/>
              <a:cs typeface="Arial"/>
            </a:endParaRPr>
          </a:p>
        </p:txBody>
      </p:sp>
      <p:sp>
        <p:nvSpPr>
          <p:cNvPr id="36" name="object 36"/>
          <p:cNvSpPr txBox="1"/>
          <p:nvPr/>
        </p:nvSpPr>
        <p:spPr>
          <a:xfrm>
            <a:off x="66713" y="3327684"/>
            <a:ext cx="11150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7" action="ppaction://hlinksldjump"/>
              </a:rPr>
              <a:t>Structured</a:t>
            </a:r>
            <a:r>
              <a:rPr sz="60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peer-to-peer</a:t>
            </a:r>
            <a:r>
              <a:rPr sz="60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systems</a:t>
            </a:r>
            <a:endParaRPr sz="600">
              <a:latin typeface="Arial"/>
              <a:cs typeface="Arial"/>
            </a:endParaRPr>
          </a:p>
        </p:txBody>
      </p:sp>
      <p:sp>
        <p:nvSpPr>
          <p:cNvPr id="37" name="object 3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6713" y="3331252"/>
            <a:ext cx="11995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Unstructured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peer-to-peer</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27</a:t>
            </a:r>
            <a:r>
              <a:rPr spc="-40" dirty="0"/>
              <a:t> </a:t>
            </a:r>
            <a:r>
              <a:rPr spc="-5" dirty="0"/>
              <a:t>/</a:t>
            </a:r>
            <a:r>
              <a:rPr spc="-35" dirty="0"/>
              <a:t> </a:t>
            </a:r>
            <a:r>
              <a:rPr spc="-5" dirty="0"/>
              <a:t>36</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5" action="ppaction://hlinksldjump"/>
              </a:rPr>
              <a:t>System</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Decentralized</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organizations:</a:t>
            </a:r>
            <a:r>
              <a:rPr sz="600" spc="5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peer-to-peer</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systems</a:t>
            </a:r>
            <a:endParaRPr sz="600">
              <a:latin typeface="Arial"/>
              <a:cs typeface="Arial"/>
            </a:endParaRPr>
          </a:p>
        </p:txBody>
      </p:sp>
      <p:sp>
        <p:nvSpPr>
          <p:cNvPr id="4" name="object 4"/>
          <p:cNvSpPr txBox="1"/>
          <p:nvPr/>
        </p:nvSpPr>
        <p:spPr>
          <a:xfrm>
            <a:off x="95300" y="188846"/>
            <a:ext cx="4168775" cy="839469"/>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Unstructured</a:t>
            </a:r>
            <a:r>
              <a:rPr sz="1400" spc="-25" dirty="0">
                <a:solidFill>
                  <a:srgbClr val="3333B2"/>
                </a:solidFill>
                <a:latin typeface="Arial"/>
                <a:cs typeface="Arial"/>
              </a:rPr>
              <a:t> </a:t>
            </a:r>
            <a:r>
              <a:rPr sz="1400" spc="20" dirty="0">
                <a:solidFill>
                  <a:srgbClr val="3333B2"/>
                </a:solidFill>
                <a:latin typeface="Arial"/>
                <a:cs typeface="Arial"/>
              </a:rPr>
              <a:t>P2P</a:t>
            </a:r>
            <a:endParaRPr sz="1400">
              <a:latin typeface="Arial"/>
              <a:cs typeface="Arial"/>
            </a:endParaRPr>
          </a:p>
          <a:p>
            <a:pPr>
              <a:lnSpc>
                <a:spcPct val="100000"/>
              </a:lnSpc>
              <a:spcBef>
                <a:spcPts val="35"/>
              </a:spcBef>
            </a:pPr>
            <a:endParaRPr sz="1800">
              <a:latin typeface="Arial"/>
              <a:cs typeface="Arial"/>
            </a:endParaRPr>
          </a:p>
          <a:p>
            <a:pPr marL="264160">
              <a:lnSpc>
                <a:spcPts val="1410"/>
              </a:lnSpc>
            </a:pPr>
            <a:r>
              <a:rPr sz="1200" spc="-5" dirty="0">
                <a:solidFill>
                  <a:srgbClr val="3333B2"/>
                </a:solidFill>
                <a:latin typeface="Arial"/>
                <a:cs typeface="Arial"/>
              </a:rPr>
              <a:t>Essence</a:t>
            </a:r>
            <a:endParaRPr sz="1200">
              <a:latin typeface="Arial"/>
              <a:cs typeface="Arial"/>
            </a:endParaRPr>
          </a:p>
          <a:p>
            <a:pPr marL="264160">
              <a:lnSpc>
                <a:spcPts val="1170"/>
              </a:lnSpc>
            </a:pPr>
            <a:r>
              <a:rPr sz="1000" spc="-10" dirty="0">
                <a:latin typeface="Arial"/>
                <a:cs typeface="Arial"/>
              </a:rPr>
              <a:t>Each</a:t>
            </a:r>
            <a:r>
              <a:rPr sz="1000" spc="-5" dirty="0">
                <a:latin typeface="Arial"/>
                <a:cs typeface="Arial"/>
              </a:rPr>
              <a:t> </a:t>
            </a:r>
            <a:r>
              <a:rPr sz="1000" spc="-10" dirty="0">
                <a:latin typeface="Arial"/>
                <a:cs typeface="Arial"/>
              </a:rPr>
              <a:t>node</a:t>
            </a:r>
            <a:r>
              <a:rPr sz="1000" spc="-5" dirty="0">
                <a:latin typeface="Arial"/>
                <a:cs typeface="Arial"/>
              </a:rPr>
              <a:t> </a:t>
            </a:r>
            <a:r>
              <a:rPr sz="1000" spc="-10" dirty="0">
                <a:latin typeface="Arial"/>
                <a:cs typeface="Arial"/>
              </a:rPr>
              <a:t>maintains</a:t>
            </a:r>
            <a:r>
              <a:rPr sz="1000" spc="-5" dirty="0">
                <a:latin typeface="Arial"/>
                <a:cs typeface="Arial"/>
              </a:rPr>
              <a:t> </a:t>
            </a:r>
            <a:r>
              <a:rPr sz="1000" spc="-10" dirty="0">
                <a:latin typeface="Arial"/>
                <a:cs typeface="Arial"/>
              </a:rPr>
              <a:t>an</a:t>
            </a:r>
            <a:r>
              <a:rPr sz="1000" spc="-5" dirty="0">
                <a:latin typeface="Arial"/>
                <a:cs typeface="Arial"/>
              </a:rPr>
              <a:t> </a:t>
            </a:r>
            <a:r>
              <a:rPr sz="1000" spc="-10" dirty="0">
                <a:latin typeface="Arial"/>
                <a:cs typeface="Arial"/>
              </a:rPr>
              <a:t>ad</a:t>
            </a:r>
            <a:r>
              <a:rPr sz="1000" spc="-5" dirty="0">
                <a:latin typeface="Arial"/>
                <a:cs typeface="Arial"/>
              </a:rPr>
              <a:t> </a:t>
            </a:r>
            <a:r>
              <a:rPr sz="1000" spc="-10" dirty="0">
                <a:latin typeface="Arial"/>
                <a:cs typeface="Arial"/>
              </a:rPr>
              <a:t>hoc</a:t>
            </a:r>
            <a:r>
              <a:rPr sz="1000" spc="-5" dirty="0">
                <a:latin typeface="Arial"/>
                <a:cs typeface="Arial"/>
              </a:rPr>
              <a:t> </a:t>
            </a:r>
            <a:r>
              <a:rPr sz="1000" spc="-10" dirty="0">
                <a:latin typeface="Arial"/>
                <a:cs typeface="Arial"/>
              </a:rPr>
              <a:t>list</a:t>
            </a:r>
            <a:r>
              <a:rPr sz="1000" spc="-5" dirty="0">
                <a:latin typeface="Arial"/>
                <a:cs typeface="Arial"/>
              </a:rPr>
              <a:t> </a:t>
            </a:r>
            <a:r>
              <a:rPr sz="1000" spc="-10" dirty="0">
                <a:latin typeface="Arial"/>
                <a:cs typeface="Arial"/>
              </a:rPr>
              <a:t>of</a:t>
            </a:r>
            <a:r>
              <a:rPr sz="1000" spc="-5" dirty="0">
                <a:latin typeface="Arial"/>
                <a:cs typeface="Arial"/>
              </a:rPr>
              <a:t> </a:t>
            </a:r>
            <a:r>
              <a:rPr sz="1000" spc="-10" dirty="0">
                <a:latin typeface="Arial"/>
                <a:cs typeface="Arial"/>
              </a:rPr>
              <a:t>neighbors.</a:t>
            </a:r>
            <a:r>
              <a:rPr sz="1000" spc="60" dirty="0">
                <a:latin typeface="Arial"/>
                <a:cs typeface="Arial"/>
              </a:rPr>
              <a:t> </a:t>
            </a:r>
            <a:r>
              <a:rPr sz="1000" spc="-10" dirty="0">
                <a:latin typeface="Arial"/>
                <a:cs typeface="Arial"/>
              </a:rPr>
              <a:t>The</a:t>
            </a:r>
            <a:r>
              <a:rPr sz="1000" dirty="0">
                <a:latin typeface="Arial"/>
                <a:cs typeface="Arial"/>
              </a:rPr>
              <a:t> </a:t>
            </a:r>
            <a:r>
              <a:rPr sz="1000" spc="-10" dirty="0">
                <a:latin typeface="Arial"/>
                <a:cs typeface="Arial"/>
              </a:rPr>
              <a:t>resulting</a:t>
            </a:r>
            <a:r>
              <a:rPr sz="1000" spc="-5" dirty="0">
                <a:latin typeface="Arial"/>
                <a:cs typeface="Arial"/>
              </a:rPr>
              <a:t> </a:t>
            </a:r>
            <a:r>
              <a:rPr sz="1000" spc="-20" dirty="0">
                <a:latin typeface="Arial"/>
                <a:cs typeface="Arial"/>
              </a:rPr>
              <a:t>overlay</a:t>
            </a:r>
            <a:endParaRPr sz="1000">
              <a:latin typeface="Arial"/>
              <a:cs typeface="Arial"/>
            </a:endParaRPr>
          </a:p>
        </p:txBody>
      </p:sp>
      <p:sp>
        <p:nvSpPr>
          <p:cNvPr id="5" name="object 5"/>
          <p:cNvSpPr txBox="1"/>
          <p:nvPr/>
        </p:nvSpPr>
        <p:spPr>
          <a:xfrm>
            <a:off x="347294" y="1002543"/>
            <a:ext cx="380936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resembles a</a:t>
            </a:r>
            <a:r>
              <a:rPr sz="1000" dirty="0">
                <a:latin typeface="Arial"/>
                <a:cs typeface="Arial"/>
              </a:rPr>
              <a:t> </a:t>
            </a:r>
            <a:r>
              <a:rPr sz="1000" spc="-5" dirty="0">
                <a:solidFill>
                  <a:srgbClr val="FA0000"/>
                </a:solidFill>
                <a:latin typeface="Arial"/>
                <a:cs typeface="Arial"/>
              </a:rPr>
              <a:t>random</a:t>
            </a:r>
            <a:r>
              <a:rPr sz="1000" dirty="0">
                <a:solidFill>
                  <a:srgbClr val="FA0000"/>
                </a:solidFill>
                <a:latin typeface="Arial"/>
                <a:cs typeface="Arial"/>
              </a:rPr>
              <a:t> </a:t>
            </a:r>
            <a:r>
              <a:rPr sz="1000" spc="-10" dirty="0">
                <a:solidFill>
                  <a:srgbClr val="FA0000"/>
                </a:solidFill>
                <a:latin typeface="Arial"/>
                <a:cs typeface="Arial"/>
              </a:rPr>
              <a:t>graph</a:t>
            </a:r>
            <a:r>
              <a:rPr sz="1000" spc="-10" dirty="0">
                <a:latin typeface="Arial"/>
                <a:cs typeface="Arial"/>
              </a:rPr>
              <a:t>:</a:t>
            </a:r>
            <a:r>
              <a:rPr sz="1000" spc="6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edge</a:t>
            </a:r>
            <a:r>
              <a:rPr sz="1000" dirty="0">
                <a:latin typeface="Arial"/>
                <a:cs typeface="Arial"/>
              </a:rPr>
              <a:t> </a:t>
            </a:r>
            <a:r>
              <a:rPr sz="1000" i="1" spc="-10" dirty="0">
                <a:latin typeface="メイリオ"/>
                <a:cs typeface="メイリオ"/>
              </a:rPr>
              <a:t>(</a:t>
            </a:r>
            <a:r>
              <a:rPr sz="1000" i="1" spc="-10" dirty="0">
                <a:latin typeface="Arial"/>
                <a:cs typeface="Arial"/>
              </a:rPr>
              <a:t>u,</a:t>
            </a:r>
            <a:r>
              <a:rPr sz="1000" i="1" spc="-170" dirty="0">
                <a:latin typeface="Arial"/>
                <a:cs typeface="Arial"/>
              </a:rPr>
              <a:t> </a:t>
            </a:r>
            <a:r>
              <a:rPr sz="1000" i="1" spc="20" dirty="0">
                <a:latin typeface="Arial"/>
                <a:cs typeface="Arial"/>
              </a:rPr>
              <a:t>v</a:t>
            </a:r>
            <a:r>
              <a:rPr sz="1000" i="1" spc="20" dirty="0">
                <a:latin typeface="メイリオ"/>
                <a:cs typeface="メイリオ"/>
              </a:rPr>
              <a:t>)</a:t>
            </a:r>
            <a:r>
              <a:rPr sz="1000" i="1" spc="-60" dirty="0">
                <a:latin typeface="メイリオ"/>
                <a:cs typeface="メイリオ"/>
              </a:rPr>
              <a:t> </a:t>
            </a:r>
            <a:r>
              <a:rPr sz="1000" spc="-10" dirty="0">
                <a:latin typeface="Arial"/>
                <a:cs typeface="Arial"/>
              </a:rPr>
              <a:t>exists</a:t>
            </a:r>
            <a:r>
              <a:rPr sz="1000"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 </a:t>
            </a:r>
            <a:r>
              <a:rPr sz="1000" dirty="0">
                <a:latin typeface="Arial"/>
                <a:cs typeface="Arial"/>
              </a:rPr>
              <a:t>certain</a:t>
            </a:r>
            <a:endParaRPr sz="1000">
              <a:latin typeface="Arial"/>
              <a:cs typeface="Arial"/>
            </a:endParaRPr>
          </a:p>
        </p:txBody>
      </p:sp>
      <p:sp>
        <p:nvSpPr>
          <p:cNvPr id="6" name="object 6"/>
          <p:cNvSpPr txBox="1"/>
          <p:nvPr/>
        </p:nvSpPr>
        <p:spPr>
          <a:xfrm>
            <a:off x="321894" y="1080560"/>
            <a:ext cx="3910965" cy="1761489"/>
          </a:xfrm>
          <a:prstGeom prst="rect">
            <a:avLst/>
          </a:prstGeom>
        </p:spPr>
        <p:txBody>
          <a:bodyPr vert="horz" wrap="square" lIns="0" tIns="85725" rIns="0" bIns="0" rtlCol="0">
            <a:spAutoFit/>
          </a:bodyPr>
          <a:lstStyle/>
          <a:p>
            <a:pPr marL="38100">
              <a:lnSpc>
                <a:spcPct val="100000"/>
              </a:lnSpc>
              <a:spcBef>
                <a:spcPts val="675"/>
              </a:spcBef>
            </a:pPr>
            <a:r>
              <a:rPr sz="1000" spc="-5" dirty="0">
                <a:latin typeface="Arial"/>
                <a:cs typeface="Arial"/>
              </a:rPr>
              <a:t>probability </a:t>
            </a:r>
            <a:r>
              <a:rPr sz="1000" spc="-60" dirty="0">
                <a:latin typeface="Arial"/>
                <a:cs typeface="Arial"/>
              </a:rPr>
              <a:t>P</a:t>
            </a:r>
            <a:r>
              <a:rPr sz="1000" spc="5" dirty="0">
                <a:latin typeface="Arial"/>
                <a:cs typeface="Arial"/>
              </a:rPr>
              <a:t>[</a:t>
            </a:r>
            <a:r>
              <a:rPr sz="1000" i="1" spc="-55" dirty="0">
                <a:latin typeface="メイリオ"/>
                <a:cs typeface="メイリオ"/>
              </a:rPr>
              <a:t>(</a:t>
            </a:r>
            <a:r>
              <a:rPr sz="1000" i="1" spc="35" dirty="0">
                <a:latin typeface="Arial"/>
                <a:cs typeface="Arial"/>
              </a:rPr>
              <a:t>u</a:t>
            </a:r>
            <a:r>
              <a:rPr sz="1000" i="1" spc="-5" dirty="0">
                <a:latin typeface="Arial"/>
                <a:cs typeface="Arial"/>
              </a:rPr>
              <a:t>,</a:t>
            </a:r>
            <a:r>
              <a:rPr sz="1000" i="1" spc="-170" dirty="0">
                <a:latin typeface="Arial"/>
                <a:cs typeface="Arial"/>
              </a:rPr>
              <a:t> </a:t>
            </a:r>
            <a:r>
              <a:rPr sz="1000" i="1" spc="95" dirty="0">
                <a:latin typeface="Arial"/>
                <a:cs typeface="Arial"/>
              </a:rPr>
              <a:t>v</a:t>
            </a:r>
            <a:r>
              <a:rPr sz="1000" i="1" spc="-55" dirty="0">
                <a:latin typeface="メイリオ"/>
                <a:cs typeface="メイリオ"/>
              </a:rPr>
              <a:t>)</a:t>
            </a:r>
            <a:r>
              <a:rPr sz="1000" spc="5" dirty="0">
                <a:latin typeface="Arial"/>
                <a:cs typeface="Arial"/>
              </a:rPr>
              <a:t>]</a:t>
            </a:r>
            <a:r>
              <a:rPr sz="1000" spc="-5" dirty="0">
                <a:latin typeface="Arial"/>
                <a:cs typeface="Arial"/>
              </a:rPr>
              <a:t>.</a:t>
            </a:r>
            <a:endParaRPr sz="1000">
              <a:latin typeface="Arial"/>
              <a:cs typeface="Arial"/>
            </a:endParaRPr>
          </a:p>
          <a:p>
            <a:pPr marL="38100">
              <a:lnSpc>
                <a:spcPct val="100000"/>
              </a:lnSpc>
              <a:spcBef>
                <a:spcPts val="695"/>
              </a:spcBef>
            </a:pPr>
            <a:r>
              <a:rPr sz="1200" spc="-5" dirty="0">
                <a:solidFill>
                  <a:srgbClr val="3333B2"/>
                </a:solidFill>
                <a:latin typeface="Arial"/>
                <a:cs typeface="Arial"/>
              </a:rPr>
              <a:t>Searching</a:t>
            </a:r>
            <a:endParaRPr sz="1200">
              <a:latin typeface="Arial"/>
              <a:cs typeface="Arial"/>
            </a:endParaRPr>
          </a:p>
          <a:p>
            <a:pPr marL="314960" marR="30480" indent="-168275">
              <a:lnSpc>
                <a:spcPct val="100000"/>
              </a:lnSpc>
              <a:spcBef>
                <a:spcPts val="785"/>
              </a:spcBef>
              <a:buClr>
                <a:srgbClr val="3333B2"/>
              </a:buClr>
              <a:buChar char="►"/>
              <a:tabLst>
                <a:tab pos="315595" algn="l"/>
              </a:tabLst>
            </a:pPr>
            <a:r>
              <a:rPr sz="1000" spc="-5" dirty="0">
                <a:solidFill>
                  <a:srgbClr val="FA0000"/>
                </a:solidFill>
                <a:latin typeface="Arial"/>
                <a:cs typeface="Arial"/>
              </a:rPr>
              <a:t>Flooding</a:t>
            </a:r>
            <a:r>
              <a:rPr sz="1000" spc="-5" dirty="0">
                <a:latin typeface="Arial"/>
                <a:cs typeface="Arial"/>
              </a:rPr>
              <a:t>: issuing node </a:t>
            </a:r>
            <a:r>
              <a:rPr sz="1000" i="1" spc="-5" dirty="0">
                <a:latin typeface="Arial"/>
                <a:cs typeface="Arial"/>
              </a:rPr>
              <a:t>u </a:t>
            </a:r>
            <a:r>
              <a:rPr sz="1000" spc="-5" dirty="0">
                <a:latin typeface="Arial"/>
                <a:cs typeface="Arial"/>
              </a:rPr>
              <a:t>passes request </a:t>
            </a:r>
            <a:r>
              <a:rPr sz="1000" spc="-15" dirty="0">
                <a:latin typeface="Arial"/>
                <a:cs typeface="Arial"/>
              </a:rPr>
              <a:t>for </a:t>
            </a:r>
            <a:r>
              <a:rPr sz="1000" i="1" spc="-5" dirty="0">
                <a:latin typeface="Arial"/>
                <a:cs typeface="Arial"/>
              </a:rPr>
              <a:t>d</a:t>
            </a:r>
            <a:r>
              <a:rPr sz="1000" i="1" dirty="0">
                <a:latin typeface="Arial"/>
                <a:cs typeface="Arial"/>
              </a:rPr>
              <a:t> </a:t>
            </a:r>
            <a:r>
              <a:rPr sz="1000" spc="-5" dirty="0">
                <a:latin typeface="Arial"/>
                <a:cs typeface="Arial"/>
              </a:rPr>
              <a:t>to all neighbors. </a:t>
            </a:r>
            <a:r>
              <a:rPr sz="1000" dirty="0">
                <a:latin typeface="Arial"/>
                <a:cs typeface="Arial"/>
              </a:rPr>
              <a:t> </a:t>
            </a:r>
            <a:r>
              <a:rPr sz="1000" spc="-5" dirty="0">
                <a:latin typeface="Arial"/>
                <a:cs typeface="Arial"/>
              </a:rPr>
              <a:t>Request is</a:t>
            </a:r>
            <a:r>
              <a:rPr sz="1000" dirty="0">
                <a:latin typeface="Arial"/>
                <a:cs typeface="Arial"/>
              </a:rPr>
              <a:t> </a:t>
            </a:r>
            <a:r>
              <a:rPr sz="1000" spc="-5" dirty="0">
                <a:latin typeface="Arial"/>
                <a:cs typeface="Arial"/>
              </a:rPr>
              <a:t>ignored when</a:t>
            </a:r>
            <a:r>
              <a:rPr sz="1000" dirty="0">
                <a:latin typeface="Arial"/>
                <a:cs typeface="Arial"/>
              </a:rPr>
              <a:t> </a:t>
            </a:r>
            <a:r>
              <a:rPr sz="1000" spc="-5" dirty="0">
                <a:latin typeface="Arial"/>
                <a:cs typeface="Arial"/>
              </a:rPr>
              <a:t>receiving node</a:t>
            </a:r>
            <a:r>
              <a:rPr sz="1000" dirty="0">
                <a:latin typeface="Arial"/>
                <a:cs typeface="Arial"/>
              </a:rPr>
              <a:t> </a:t>
            </a:r>
            <a:r>
              <a:rPr sz="1000" spc="-5" dirty="0">
                <a:latin typeface="Arial"/>
                <a:cs typeface="Arial"/>
              </a:rPr>
              <a:t>had seen</a:t>
            </a:r>
            <a:r>
              <a:rPr sz="1000" dirty="0">
                <a:latin typeface="Arial"/>
                <a:cs typeface="Arial"/>
              </a:rPr>
              <a:t> </a:t>
            </a:r>
            <a:r>
              <a:rPr sz="1000" spc="-5" dirty="0">
                <a:latin typeface="Arial"/>
                <a:cs typeface="Arial"/>
              </a:rPr>
              <a:t>it </a:t>
            </a:r>
            <a:r>
              <a:rPr sz="1000" spc="-10" dirty="0">
                <a:latin typeface="Arial"/>
                <a:cs typeface="Arial"/>
              </a:rPr>
              <a:t>before. </a:t>
            </a:r>
            <a:r>
              <a:rPr sz="1000" spc="-5" dirty="0">
                <a:latin typeface="Arial"/>
                <a:cs typeface="Arial"/>
              </a:rPr>
              <a:t> Otherwise, </a:t>
            </a:r>
            <a:r>
              <a:rPr sz="1000" i="1" spc="-5" dirty="0">
                <a:latin typeface="Arial"/>
                <a:cs typeface="Arial"/>
              </a:rPr>
              <a:t>v</a:t>
            </a:r>
            <a:r>
              <a:rPr sz="1000" i="1" spc="105" dirty="0">
                <a:latin typeface="Arial"/>
                <a:cs typeface="Arial"/>
              </a:rPr>
              <a:t> </a:t>
            </a:r>
            <a:r>
              <a:rPr sz="1000" spc="-5" dirty="0">
                <a:latin typeface="Arial"/>
                <a:cs typeface="Arial"/>
              </a:rPr>
              <a:t>searches</a:t>
            </a:r>
            <a:r>
              <a:rPr sz="1000" dirty="0">
                <a:latin typeface="Arial"/>
                <a:cs typeface="Arial"/>
              </a:rPr>
              <a:t> </a:t>
            </a:r>
            <a:r>
              <a:rPr sz="1000" spc="-5" dirty="0">
                <a:latin typeface="Arial"/>
                <a:cs typeface="Arial"/>
              </a:rPr>
              <a:t>locally</a:t>
            </a:r>
            <a:r>
              <a:rPr sz="1000" dirty="0">
                <a:latin typeface="Arial"/>
                <a:cs typeface="Arial"/>
              </a:rPr>
              <a:t> </a:t>
            </a:r>
            <a:r>
              <a:rPr sz="1000" spc="-15" dirty="0">
                <a:latin typeface="Arial"/>
                <a:cs typeface="Arial"/>
              </a:rPr>
              <a:t>for</a:t>
            </a:r>
            <a:r>
              <a:rPr sz="1000" dirty="0">
                <a:latin typeface="Arial"/>
                <a:cs typeface="Arial"/>
              </a:rPr>
              <a:t> </a:t>
            </a:r>
            <a:r>
              <a:rPr sz="1000" i="1" spc="-5" dirty="0">
                <a:latin typeface="Arial"/>
                <a:cs typeface="Arial"/>
              </a:rPr>
              <a:t>d</a:t>
            </a:r>
            <a:r>
              <a:rPr sz="1000" i="1" spc="95" dirty="0">
                <a:latin typeface="Arial"/>
                <a:cs typeface="Arial"/>
              </a:rPr>
              <a:t> </a:t>
            </a:r>
            <a:r>
              <a:rPr sz="1000" spc="-5" dirty="0">
                <a:latin typeface="Arial"/>
                <a:cs typeface="Arial"/>
              </a:rPr>
              <a:t>(recursively).</a:t>
            </a:r>
            <a:r>
              <a:rPr sz="1000" spc="65"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limited </a:t>
            </a:r>
            <a:r>
              <a:rPr sz="1000" spc="-265"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a </a:t>
            </a:r>
            <a:r>
              <a:rPr sz="1000" spc="-15" dirty="0">
                <a:solidFill>
                  <a:srgbClr val="FA0000"/>
                </a:solidFill>
                <a:latin typeface="Arial"/>
                <a:cs typeface="Arial"/>
              </a:rPr>
              <a:t>Time-To-Live</a:t>
            </a:r>
            <a:r>
              <a:rPr sz="1000" spc="-15" dirty="0">
                <a:latin typeface="Arial"/>
                <a:cs typeface="Arial"/>
              </a:rPr>
              <a:t>:</a:t>
            </a:r>
            <a:r>
              <a:rPr sz="1000" spc="6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maximum number of hops.</a:t>
            </a:r>
            <a:endParaRPr sz="1000">
              <a:latin typeface="Arial"/>
              <a:cs typeface="Arial"/>
            </a:endParaRPr>
          </a:p>
          <a:p>
            <a:pPr marL="314960" marR="38100" indent="-168275" algn="just">
              <a:lnSpc>
                <a:spcPct val="100000"/>
              </a:lnSpc>
              <a:spcBef>
                <a:spcPts val="580"/>
              </a:spcBef>
              <a:buClr>
                <a:srgbClr val="3333B2"/>
              </a:buClr>
              <a:buChar char="►"/>
              <a:tabLst>
                <a:tab pos="315595" algn="l"/>
              </a:tabLst>
            </a:pPr>
            <a:r>
              <a:rPr sz="1000" spc="-5" dirty="0">
                <a:solidFill>
                  <a:srgbClr val="FA0000"/>
                </a:solidFill>
                <a:latin typeface="Arial"/>
                <a:cs typeface="Arial"/>
              </a:rPr>
              <a:t>Random walk</a:t>
            </a:r>
            <a:r>
              <a:rPr sz="1000" spc="-5" dirty="0">
                <a:latin typeface="Arial"/>
                <a:cs typeface="Arial"/>
              </a:rPr>
              <a:t>: issuing node </a:t>
            </a:r>
            <a:r>
              <a:rPr sz="1000" i="1" spc="-5" dirty="0">
                <a:latin typeface="Arial"/>
                <a:cs typeface="Arial"/>
              </a:rPr>
              <a:t>u </a:t>
            </a:r>
            <a:r>
              <a:rPr sz="1000" spc="-5" dirty="0">
                <a:latin typeface="Arial"/>
                <a:cs typeface="Arial"/>
              </a:rPr>
              <a:t>passes request </a:t>
            </a:r>
            <a:r>
              <a:rPr sz="1000" spc="-15" dirty="0">
                <a:latin typeface="Arial"/>
                <a:cs typeface="Arial"/>
              </a:rPr>
              <a:t>for </a:t>
            </a:r>
            <a:r>
              <a:rPr sz="1000" i="1" spc="-5" dirty="0">
                <a:latin typeface="Arial"/>
                <a:cs typeface="Arial"/>
              </a:rPr>
              <a:t>d </a:t>
            </a:r>
            <a:r>
              <a:rPr sz="1000" spc="-5" dirty="0">
                <a:latin typeface="Arial"/>
                <a:cs typeface="Arial"/>
              </a:rPr>
              <a:t>to randomly </a:t>
            </a:r>
            <a:r>
              <a:rPr sz="1000" dirty="0">
                <a:latin typeface="Arial"/>
                <a:cs typeface="Arial"/>
              </a:rPr>
              <a:t> </a:t>
            </a:r>
            <a:r>
              <a:rPr sz="1000" spc="-5" dirty="0">
                <a:latin typeface="Arial"/>
                <a:cs typeface="Arial"/>
              </a:rPr>
              <a:t>chosen </a:t>
            </a:r>
            <a:r>
              <a:rPr sz="1000" spc="-10" dirty="0">
                <a:latin typeface="Arial"/>
                <a:cs typeface="Arial"/>
              </a:rPr>
              <a:t>neighbor, </a:t>
            </a:r>
            <a:r>
              <a:rPr sz="1000" i="1" spc="-5" dirty="0">
                <a:latin typeface="Arial"/>
                <a:cs typeface="Arial"/>
              </a:rPr>
              <a:t>v </a:t>
            </a:r>
            <a:r>
              <a:rPr sz="1000" spc="-5" dirty="0">
                <a:latin typeface="Arial"/>
                <a:cs typeface="Arial"/>
              </a:rPr>
              <a:t>. If </a:t>
            </a:r>
            <a:r>
              <a:rPr sz="1000" i="1" spc="-5" dirty="0">
                <a:latin typeface="Arial"/>
                <a:cs typeface="Arial"/>
              </a:rPr>
              <a:t>v </a:t>
            </a:r>
            <a:r>
              <a:rPr sz="1000" spc="-5" dirty="0">
                <a:latin typeface="Arial"/>
                <a:cs typeface="Arial"/>
              </a:rPr>
              <a:t>does not </a:t>
            </a:r>
            <a:r>
              <a:rPr sz="1000" spc="-15" dirty="0">
                <a:latin typeface="Arial"/>
                <a:cs typeface="Arial"/>
              </a:rPr>
              <a:t>have </a:t>
            </a:r>
            <a:r>
              <a:rPr sz="1000" i="1" spc="-5" dirty="0">
                <a:latin typeface="Arial"/>
                <a:cs typeface="Arial"/>
              </a:rPr>
              <a:t>d </a:t>
            </a:r>
            <a:r>
              <a:rPr sz="1000" spc="-5" dirty="0">
                <a:latin typeface="Arial"/>
                <a:cs typeface="Arial"/>
              </a:rPr>
              <a:t>, it </a:t>
            </a:r>
            <a:r>
              <a:rPr sz="1000" spc="-10" dirty="0">
                <a:latin typeface="Arial"/>
                <a:cs typeface="Arial"/>
              </a:rPr>
              <a:t>forwards </a:t>
            </a:r>
            <a:r>
              <a:rPr sz="1000" spc="-5" dirty="0">
                <a:latin typeface="Arial"/>
                <a:cs typeface="Arial"/>
              </a:rPr>
              <a:t>request to </a:t>
            </a:r>
            <a:r>
              <a:rPr sz="1000" spc="-265" dirty="0">
                <a:latin typeface="Arial"/>
                <a:cs typeface="Arial"/>
              </a:rPr>
              <a:t> </a:t>
            </a:r>
            <a:r>
              <a:rPr sz="1000" spc="-5" dirty="0">
                <a:latin typeface="Arial"/>
                <a:cs typeface="Arial"/>
              </a:rPr>
              <a:t>one</a:t>
            </a:r>
            <a:r>
              <a:rPr sz="1000" spc="-10" dirty="0">
                <a:latin typeface="Arial"/>
                <a:cs typeface="Arial"/>
              </a:rPr>
              <a:t> </a:t>
            </a:r>
            <a:r>
              <a:rPr sz="1000" spc="-5" dirty="0">
                <a:latin typeface="Arial"/>
                <a:cs typeface="Arial"/>
              </a:rPr>
              <a:t>of </a:t>
            </a:r>
            <a:r>
              <a:rPr sz="1000" i="1" spc="-5" dirty="0">
                <a:latin typeface="Arial"/>
                <a:cs typeface="Arial"/>
              </a:rPr>
              <a:t>its </a:t>
            </a:r>
            <a:r>
              <a:rPr sz="1000" spc="-5" dirty="0">
                <a:latin typeface="Arial"/>
                <a:cs typeface="Arial"/>
              </a:rPr>
              <a:t>randomly chosen neighbors, and so on.</a:t>
            </a:r>
            <a:endParaRPr sz="10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Decentralized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5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3799204" cy="142748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Flooding</a:t>
            </a:r>
            <a:r>
              <a:rPr sz="1400" spc="-15" dirty="0">
                <a:solidFill>
                  <a:srgbClr val="3333B2"/>
                </a:solidFill>
                <a:latin typeface="Arial"/>
                <a:cs typeface="Arial"/>
              </a:rPr>
              <a:t> </a:t>
            </a:r>
            <a:r>
              <a:rPr sz="1400" spc="10" dirty="0">
                <a:solidFill>
                  <a:srgbClr val="3333B2"/>
                </a:solidFill>
                <a:latin typeface="Arial"/>
                <a:cs typeface="Arial"/>
              </a:rPr>
              <a:t>versus</a:t>
            </a:r>
            <a:r>
              <a:rPr sz="1400" spc="-10" dirty="0">
                <a:solidFill>
                  <a:srgbClr val="3333B2"/>
                </a:solidFill>
                <a:latin typeface="Arial"/>
                <a:cs typeface="Arial"/>
              </a:rPr>
              <a:t> </a:t>
            </a:r>
            <a:r>
              <a:rPr sz="1400" spc="15" dirty="0">
                <a:solidFill>
                  <a:srgbClr val="3333B2"/>
                </a:solidFill>
                <a:latin typeface="Arial"/>
                <a:cs typeface="Arial"/>
              </a:rPr>
              <a:t>random</a:t>
            </a:r>
            <a:r>
              <a:rPr sz="1400" spc="-15" dirty="0">
                <a:solidFill>
                  <a:srgbClr val="3333B2"/>
                </a:solidFill>
                <a:latin typeface="Arial"/>
                <a:cs typeface="Arial"/>
              </a:rPr>
              <a:t> </a:t>
            </a:r>
            <a:r>
              <a:rPr sz="1400" spc="10" dirty="0">
                <a:solidFill>
                  <a:srgbClr val="3333B2"/>
                </a:solidFill>
                <a:latin typeface="Arial"/>
                <a:cs typeface="Arial"/>
              </a:rPr>
              <a:t>walk</a:t>
            </a:r>
            <a:endParaRPr sz="1400">
              <a:latin typeface="Arial"/>
              <a:cs typeface="Arial"/>
            </a:endParaRPr>
          </a:p>
          <a:p>
            <a:pPr>
              <a:lnSpc>
                <a:spcPct val="100000"/>
              </a:lnSpc>
              <a:spcBef>
                <a:spcPts val="20"/>
              </a:spcBef>
            </a:pPr>
            <a:endParaRPr sz="1950">
              <a:latin typeface="Arial"/>
              <a:cs typeface="Arial"/>
            </a:endParaRPr>
          </a:p>
          <a:p>
            <a:pPr marL="264160">
              <a:lnSpc>
                <a:spcPts val="1410"/>
              </a:lnSpc>
            </a:pPr>
            <a:r>
              <a:rPr sz="1200" spc="-5" dirty="0">
                <a:solidFill>
                  <a:srgbClr val="3333B2"/>
                </a:solidFill>
                <a:latin typeface="Arial"/>
                <a:cs typeface="Arial"/>
              </a:rPr>
              <a:t>Model</a:t>
            </a:r>
            <a:endParaRPr sz="1200">
              <a:latin typeface="Arial"/>
              <a:cs typeface="Arial"/>
            </a:endParaRPr>
          </a:p>
          <a:p>
            <a:pPr marL="260350">
              <a:lnSpc>
                <a:spcPts val="1170"/>
              </a:lnSpc>
            </a:pPr>
            <a:r>
              <a:rPr sz="1000" spc="-5" dirty="0">
                <a:latin typeface="Arial"/>
                <a:cs typeface="Arial"/>
              </a:rPr>
              <a:t>Assume </a:t>
            </a:r>
            <a:r>
              <a:rPr sz="1000" i="1" spc="-5" dirty="0">
                <a:latin typeface="Arial"/>
                <a:cs typeface="Arial"/>
              </a:rPr>
              <a:t>N</a:t>
            </a:r>
            <a:r>
              <a:rPr sz="1000" i="1" spc="85" dirty="0">
                <a:latin typeface="Arial"/>
                <a:cs typeface="Arial"/>
              </a:rPr>
              <a:t> </a:t>
            </a:r>
            <a:r>
              <a:rPr sz="1000" spc="-5" dirty="0">
                <a:latin typeface="Arial"/>
                <a:cs typeface="Arial"/>
              </a:rPr>
              <a:t>nodes and</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item</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replicated</a:t>
            </a:r>
            <a:r>
              <a:rPr sz="1000" dirty="0">
                <a:latin typeface="Arial"/>
                <a:cs typeface="Arial"/>
              </a:rPr>
              <a:t> </a:t>
            </a:r>
            <a:r>
              <a:rPr sz="1000" spc="-5" dirty="0">
                <a:latin typeface="Arial"/>
                <a:cs typeface="Arial"/>
              </a:rPr>
              <a:t>across</a:t>
            </a:r>
            <a:r>
              <a:rPr sz="1000" dirty="0">
                <a:latin typeface="Arial"/>
                <a:cs typeface="Arial"/>
              </a:rPr>
              <a:t> </a:t>
            </a:r>
            <a:r>
              <a:rPr sz="1000" i="1" spc="-5" dirty="0">
                <a:latin typeface="Arial"/>
                <a:cs typeface="Arial"/>
              </a:rPr>
              <a:t>r</a:t>
            </a:r>
            <a:endParaRPr sz="1000">
              <a:latin typeface="Arial"/>
              <a:cs typeface="Arial"/>
            </a:endParaRPr>
          </a:p>
          <a:p>
            <a:pPr marL="264160">
              <a:lnSpc>
                <a:spcPts val="1200"/>
              </a:lnSpc>
            </a:pPr>
            <a:r>
              <a:rPr sz="1000" spc="-5" dirty="0">
                <a:latin typeface="Arial"/>
                <a:cs typeface="Arial"/>
              </a:rPr>
              <a:t>randomly</a:t>
            </a:r>
            <a:r>
              <a:rPr sz="1000" spc="-30" dirty="0">
                <a:latin typeface="Arial"/>
                <a:cs typeface="Arial"/>
              </a:rPr>
              <a:t> </a:t>
            </a:r>
            <a:r>
              <a:rPr sz="1000" spc="-5" dirty="0">
                <a:latin typeface="Arial"/>
                <a:cs typeface="Arial"/>
              </a:rPr>
              <a:t>chosen</a:t>
            </a:r>
            <a:r>
              <a:rPr sz="1000" spc="-25" dirty="0">
                <a:latin typeface="Arial"/>
                <a:cs typeface="Arial"/>
              </a:rPr>
              <a:t> </a:t>
            </a:r>
            <a:r>
              <a:rPr sz="1000" spc="-5" dirty="0">
                <a:latin typeface="Arial"/>
                <a:cs typeface="Arial"/>
              </a:rPr>
              <a:t>nodes.</a:t>
            </a:r>
            <a:endParaRPr sz="1000">
              <a:latin typeface="Arial"/>
              <a:cs typeface="Arial"/>
            </a:endParaRPr>
          </a:p>
          <a:p>
            <a:pPr marL="264160">
              <a:lnSpc>
                <a:spcPts val="1410"/>
              </a:lnSpc>
              <a:spcBef>
                <a:spcPts val="695"/>
              </a:spcBef>
            </a:pPr>
            <a:r>
              <a:rPr sz="1200" spc="-5" dirty="0">
                <a:solidFill>
                  <a:srgbClr val="3333B2"/>
                </a:solidFill>
                <a:latin typeface="Arial"/>
                <a:cs typeface="Arial"/>
              </a:rPr>
              <a:t>Random</a:t>
            </a:r>
            <a:r>
              <a:rPr sz="1200" spc="-40" dirty="0">
                <a:solidFill>
                  <a:srgbClr val="3333B2"/>
                </a:solidFill>
                <a:latin typeface="Arial"/>
                <a:cs typeface="Arial"/>
              </a:rPr>
              <a:t> </a:t>
            </a:r>
            <a:r>
              <a:rPr sz="1200" spc="-10" dirty="0">
                <a:solidFill>
                  <a:srgbClr val="3333B2"/>
                </a:solidFill>
                <a:latin typeface="Arial"/>
                <a:cs typeface="Arial"/>
              </a:rPr>
              <a:t>walk</a:t>
            </a:r>
            <a:endParaRPr sz="1200">
              <a:latin typeface="Arial"/>
              <a:cs typeface="Arial"/>
            </a:endParaRPr>
          </a:p>
          <a:p>
            <a:pPr marL="264160">
              <a:lnSpc>
                <a:spcPts val="1170"/>
              </a:lnSpc>
            </a:pPr>
            <a:r>
              <a:rPr sz="1000" spc="-20" dirty="0">
                <a:latin typeface="Arial"/>
                <a:cs typeface="Arial"/>
              </a:rPr>
              <a:t>P[</a:t>
            </a:r>
            <a:r>
              <a:rPr sz="1000" i="1" spc="-20" dirty="0">
                <a:latin typeface="Arial"/>
                <a:cs typeface="Arial"/>
              </a:rPr>
              <a:t>k</a:t>
            </a:r>
            <a:r>
              <a:rPr sz="1000" i="1" spc="-180" dirty="0">
                <a:latin typeface="Arial"/>
                <a:cs typeface="Arial"/>
              </a:rPr>
              <a:t> </a:t>
            </a:r>
            <a:r>
              <a:rPr sz="1000" spc="5" dirty="0">
                <a:latin typeface="Arial"/>
                <a:cs typeface="Arial"/>
              </a:rPr>
              <a:t>] </a:t>
            </a:r>
            <a:r>
              <a:rPr sz="1000" spc="-5" dirty="0">
                <a:latin typeface="Arial"/>
                <a:cs typeface="Arial"/>
              </a:rPr>
              <a:t>probability</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item is</a:t>
            </a:r>
            <a:r>
              <a:rPr sz="1000" dirty="0">
                <a:latin typeface="Arial"/>
                <a:cs typeface="Arial"/>
              </a:rPr>
              <a:t> </a:t>
            </a:r>
            <a:r>
              <a:rPr sz="1000" spc="-10" dirty="0">
                <a:latin typeface="Arial"/>
                <a:cs typeface="Arial"/>
              </a:rPr>
              <a:t>found</a:t>
            </a:r>
            <a:r>
              <a:rPr sz="1000" dirty="0">
                <a:latin typeface="Arial"/>
                <a:cs typeface="Arial"/>
              </a:rPr>
              <a:t> </a:t>
            </a:r>
            <a:r>
              <a:rPr sz="1000" spc="-5" dirty="0">
                <a:latin typeface="Arial"/>
                <a:cs typeface="Arial"/>
              </a:rPr>
              <a:t>after</a:t>
            </a:r>
            <a:r>
              <a:rPr sz="1000" dirty="0">
                <a:latin typeface="Arial"/>
                <a:cs typeface="Arial"/>
              </a:rPr>
              <a:t> </a:t>
            </a:r>
            <a:r>
              <a:rPr sz="1000" i="1" spc="-5" dirty="0">
                <a:latin typeface="Arial"/>
                <a:cs typeface="Arial"/>
              </a:rPr>
              <a:t>k</a:t>
            </a:r>
            <a:r>
              <a:rPr sz="1000" i="1" spc="100" dirty="0">
                <a:latin typeface="Arial"/>
                <a:cs typeface="Arial"/>
              </a:rPr>
              <a:t> </a:t>
            </a:r>
            <a:r>
              <a:rPr sz="1000" spc="-5" dirty="0">
                <a:latin typeface="Arial"/>
                <a:cs typeface="Arial"/>
              </a:rPr>
              <a:t>attempts:</a:t>
            </a:r>
            <a:endParaRPr sz="1000">
              <a:latin typeface="Arial"/>
              <a:cs typeface="Arial"/>
            </a:endParaRPr>
          </a:p>
        </p:txBody>
      </p:sp>
      <p:sp>
        <p:nvSpPr>
          <p:cNvPr id="5" name="object 5"/>
          <p:cNvSpPr txBox="1"/>
          <p:nvPr/>
        </p:nvSpPr>
        <p:spPr>
          <a:xfrm>
            <a:off x="2103234" y="1678081"/>
            <a:ext cx="511175" cy="177800"/>
          </a:xfrm>
          <a:prstGeom prst="rect">
            <a:avLst/>
          </a:prstGeom>
        </p:spPr>
        <p:txBody>
          <a:bodyPr vert="horz" wrap="square" lIns="0" tIns="12065" rIns="0" bIns="0" rtlCol="0">
            <a:spAutoFit/>
          </a:bodyPr>
          <a:lstStyle/>
          <a:p>
            <a:pPr marL="12700">
              <a:lnSpc>
                <a:spcPct val="100000"/>
              </a:lnSpc>
              <a:spcBef>
                <a:spcPts val="95"/>
              </a:spcBef>
              <a:tabLst>
                <a:tab pos="396875" algn="l"/>
              </a:tabLst>
            </a:pPr>
            <a:r>
              <a:rPr sz="1000" i="1" u="sng" spc="-5" dirty="0">
                <a:uFill>
                  <a:solidFill>
                    <a:srgbClr val="000000"/>
                  </a:solidFill>
                </a:uFill>
                <a:latin typeface="Arial"/>
                <a:cs typeface="Arial"/>
              </a:rPr>
              <a:t>r</a:t>
            </a:r>
            <a:r>
              <a:rPr sz="1000" i="1" spc="-5" dirty="0">
                <a:latin typeface="Arial"/>
                <a:cs typeface="Arial"/>
              </a:rPr>
              <a:t>	</a:t>
            </a:r>
            <a:r>
              <a:rPr sz="1000" i="1" u="sng" spc="-5" dirty="0">
                <a:uFill>
                  <a:solidFill>
                    <a:srgbClr val="000000"/>
                  </a:solidFill>
                </a:uFill>
                <a:latin typeface="Arial"/>
                <a:cs typeface="Arial"/>
              </a:rPr>
              <a:t>r</a:t>
            </a:r>
            <a:r>
              <a:rPr sz="1000" i="1" u="sng" spc="10" dirty="0">
                <a:uFill>
                  <a:solidFill>
                    <a:srgbClr val="000000"/>
                  </a:solidFill>
                </a:uFill>
                <a:latin typeface="Arial"/>
                <a:cs typeface="Arial"/>
              </a:rPr>
              <a:t> </a:t>
            </a:r>
            <a:endParaRPr sz="1000">
              <a:latin typeface="Arial"/>
              <a:cs typeface="Arial"/>
            </a:endParaRPr>
          </a:p>
        </p:txBody>
      </p:sp>
      <p:sp>
        <p:nvSpPr>
          <p:cNvPr id="6" name="object 6"/>
          <p:cNvSpPr txBox="1"/>
          <p:nvPr/>
        </p:nvSpPr>
        <p:spPr>
          <a:xfrm>
            <a:off x="2103234" y="1850522"/>
            <a:ext cx="501650" cy="177800"/>
          </a:xfrm>
          <a:prstGeom prst="rect">
            <a:avLst/>
          </a:prstGeom>
        </p:spPr>
        <p:txBody>
          <a:bodyPr vert="horz" wrap="square" lIns="0" tIns="12065" rIns="0" bIns="0" rtlCol="0">
            <a:spAutoFit/>
          </a:bodyPr>
          <a:lstStyle/>
          <a:p>
            <a:pPr marL="12700">
              <a:lnSpc>
                <a:spcPct val="100000"/>
              </a:lnSpc>
              <a:spcBef>
                <a:spcPts val="95"/>
              </a:spcBef>
              <a:tabLst>
                <a:tab pos="396875" algn="l"/>
              </a:tabLst>
            </a:pPr>
            <a:r>
              <a:rPr sz="1000" i="1" spc="-5" dirty="0">
                <a:latin typeface="Arial"/>
                <a:cs typeface="Arial"/>
              </a:rPr>
              <a:t>N	N</a:t>
            </a:r>
            <a:endParaRPr sz="1000">
              <a:latin typeface="Arial"/>
              <a:cs typeface="Arial"/>
            </a:endParaRPr>
          </a:p>
        </p:txBody>
      </p:sp>
      <p:sp>
        <p:nvSpPr>
          <p:cNvPr id="7" name="object 7"/>
          <p:cNvSpPr txBox="1"/>
          <p:nvPr/>
        </p:nvSpPr>
        <p:spPr>
          <a:xfrm>
            <a:off x="2653182" y="1744379"/>
            <a:ext cx="206375" cy="137795"/>
          </a:xfrm>
          <a:prstGeom prst="rect">
            <a:avLst/>
          </a:prstGeom>
        </p:spPr>
        <p:txBody>
          <a:bodyPr vert="horz" wrap="square" lIns="0" tIns="17145" rIns="0" bIns="0" rtlCol="0">
            <a:spAutoFit/>
          </a:bodyPr>
          <a:lstStyle/>
          <a:p>
            <a:pPr marL="12700">
              <a:lnSpc>
                <a:spcPct val="100000"/>
              </a:lnSpc>
              <a:spcBef>
                <a:spcPts val="135"/>
              </a:spcBef>
            </a:pPr>
            <a:r>
              <a:rPr sz="700" i="1" spc="85" dirty="0">
                <a:latin typeface="Arial"/>
                <a:cs typeface="Arial"/>
              </a:rPr>
              <a:t>k</a:t>
            </a:r>
            <a:r>
              <a:rPr sz="700" i="1" spc="10" dirty="0">
                <a:latin typeface="メイリオ"/>
                <a:cs typeface="メイリオ"/>
              </a:rPr>
              <a:t>−</a:t>
            </a:r>
            <a:r>
              <a:rPr sz="700" spc="20" dirty="0">
                <a:latin typeface="Arial"/>
                <a:cs typeface="Arial"/>
              </a:rPr>
              <a:t>1</a:t>
            </a:r>
            <a:endParaRPr sz="700">
              <a:latin typeface="Arial"/>
              <a:cs typeface="Arial"/>
            </a:endParaRPr>
          </a:p>
        </p:txBody>
      </p:sp>
      <p:sp>
        <p:nvSpPr>
          <p:cNvPr id="8" name="object 8"/>
          <p:cNvSpPr txBox="1"/>
          <p:nvPr/>
        </p:nvSpPr>
        <p:spPr>
          <a:xfrm>
            <a:off x="1707070" y="1763730"/>
            <a:ext cx="1194435" cy="177800"/>
          </a:xfrm>
          <a:prstGeom prst="rect">
            <a:avLst/>
          </a:prstGeom>
        </p:spPr>
        <p:txBody>
          <a:bodyPr vert="horz" wrap="square" lIns="0" tIns="12065" rIns="0" bIns="0" rtlCol="0">
            <a:spAutoFit/>
          </a:bodyPr>
          <a:lstStyle/>
          <a:p>
            <a:pPr marL="12700">
              <a:lnSpc>
                <a:spcPct val="100000"/>
              </a:lnSpc>
              <a:spcBef>
                <a:spcPts val="95"/>
              </a:spcBef>
              <a:tabLst>
                <a:tab pos="524510" algn="l"/>
                <a:tab pos="909319" algn="l"/>
                <a:tab pos="1145540" algn="l"/>
              </a:tabLst>
            </a:pPr>
            <a:r>
              <a:rPr sz="1000" spc="-60" dirty="0">
                <a:latin typeface="Arial"/>
                <a:cs typeface="Arial"/>
              </a:rPr>
              <a:t>P</a:t>
            </a:r>
            <a:r>
              <a:rPr sz="1000" spc="5" dirty="0">
                <a:latin typeface="Arial"/>
                <a:cs typeface="Arial"/>
              </a:rPr>
              <a:t>[</a:t>
            </a:r>
            <a:r>
              <a:rPr sz="1000" i="1" spc="-5" dirty="0">
                <a:latin typeface="Arial"/>
                <a:cs typeface="Arial"/>
              </a:rPr>
              <a:t>k</a:t>
            </a:r>
            <a:r>
              <a:rPr sz="1000" i="1" spc="-180"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dirty="0">
                <a:latin typeface="Arial"/>
                <a:cs typeface="Arial"/>
              </a:rPr>
              <a:t>	</a:t>
            </a:r>
            <a:r>
              <a:rPr sz="1000" spc="50" dirty="0">
                <a:latin typeface="Arial"/>
                <a:cs typeface="Arial"/>
              </a:rPr>
              <a:t>(</a:t>
            </a:r>
            <a:r>
              <a:rPr sz="1000" spc="-5" dirty="0">
                <a:latin typeface="Arial"/>
                <a:cs typeface="Arial"/>
              </a:rPr>
              <a:t>1</a:t>
            </a:r>
            <a:r>
              <a:rPr sz="1000" spc="-140" dirty="0">
                <a:latin typeface="Arial"/>
                <a:cs typeface="Arial"/>
              </a:rPr>
              <a:t> </a:t>
            </a:r>
            <a:r>
              <a:rPr sz="1000" i="1" spc="-30" dirty="0">
                <a:latin typeface="メイリオ"/>
                <a:cs typeface="メイリオ"/>
              </a:rPr>
              <a:t>−</a:t>
            </a:r>
            <a:r>
              <a:rPr sz="1000" i="1" dirty="0">
                <a:latin typeface="メイリオ"/>
                <a:cs typeface="メイリオ"/>
              </a:rPr>
              <a:t>	</a:t>
            </a:r>
            <a:r>
              <a:rPr sz="1000" spc="50" dirty="0">
                <a:latin typeface="Arial"/>
                <a:cs typeface="Arial"/>
              </a:rPr>
              <a:t>)</a:t>
            </a:r>
            <a:r>
              <a:rPr sz="1000" dirty="0">
                <a:latin typeface="Arial"/>
                <a:cs typeface="Arial"/>
              </a:rPr>
              <a:t>	</a:t>
            </a:r>
            <a:r>
              <a:rPr sz="1000" i="1" spc="-5" dirty="0">
                <a:latin typeface="Arial"/>
                <a:cs typeface="Arial"/>
              </a:rPr>
              <a:t>.</a:t>
            </a:r>
            <a:endParaRPr sz="1000">
              <a:latin typeface="Arial"/>
              <a:cs typeface="Arial"/>
            </a:endParaRPr>
          </a:p>
        </p:txBody>
      </p:sp>
      <p:sp>
        <p:nvSpPr>
          <p:cNvPr id="9" name="object 9"/>
          <p:cNvSpPr txBox="1"/>
          <p:nvPr/>
        </p:nvSpPr>
        <p:spPr>
          <a:xfrm>
            <a:off x="347294" y="2082957"/>
            <a:ext cx="3931285" cy="177800"/>
          </a:xfrm>
          <a:prstGeom prst="rect">
            <a:avLst/>
          </a:prstGeom>
        </p:spPr>
        <p:txBody>
          <a:bodyPr vert="horz" wrap="square" lIns="0" tIns="12065" rIns="0" bIns="0" rtlCol="0">
            <a:spAutoFit/>
          </a:bodyPr>
          <a:lstStyle/>
          <a:p>
            <a:pPr marL="12700">
              <a:lnSpc>
                <a:spcPct val="100000"/>
              </a:lnSpc>
              <a:spcBef>
                <a:spcPts val="95"/>
              </a:spcBef>
            </a:pPr>
            <a:r>
              <a:rPr sz="1000" i="1" spc="-10" dirty="0">
                <a:latin typeface="Arial"/>
                <a:cs typeface="Arial"/>
              </a:rPr>
              <a:t>S</a:t>
            </a:r>
            <a:r>
              <a:rPr sz="1000" i="1" spc="45" dirty="0">
                <a:latin typeface="Arial"/>
                <a:cs typeface="Arial"/>
              </a:rPr>
              <a:t> </a:t>
            </a:r>
            <a:r>
              <a:rPr sz="1000" spc="-5" dirty="0">
                <a:latin typeface="Arial"/>
                <a:cs typeface="Arial"/>
              </a:rPr>
              <a:t>(“search </a:t>
            </a:r>
            <a:r>
              <a:rPr sz="1000" spc="-10" dirty="0">
                <a:latin typeface="Arial"/>
                <a:cs typeface="Arial"/>
              </a:rPr>
              <a:t>size”)</a:t>
            </a:r>
            <a:r>
              <a:rPr sz="1000" spc="-5" dirty="0">
                <a:latin typeface="Arial"/>
                <a:cs typeface="Arial"/>
              </a:rPr>
              <a:t> is</a:t>
            </a:r>
            <a:r>
              <a:rPr sz="1000" dirty="0">
                <a:latin typeface="Arial"/>
                <a:cs typeface="Arial"/>
              </a:rPr>
              <a:t> </a:t>
            </a:r>
            <a:r>
              <a:rPr sz="1000" spc="-10" dirty="0">
                <a:latin typeface="Arial"/>
                <a:cs typeface="Arial"/>
              </a:rPr>
              <a:t>expected</a:t>
            </a:r>
            <a:r>
              <a:rPr sz="1000" spc="-5" dirty="0">
                <a:latin typeface="Arial"/>
                <a:cs typeface="Arial"/>
              </a:rPr>
              <a:t> </a:t>
            </a:r>
            <a:r>
              <a:rPr sz="1000" spc="-10" dirty="0">
                <a:latin typeface="Arial"/>
                <a:cs typeface="Arial"/>
              </a:rPr>
              <a:t>number</a:t>
            </a:r>
            <a:r>
              <a:rPr sz="1000" spc="-5" dirty="0">
                <a:latin typeface="Arial"/>
                <a:cs typeface="Arial"/>
              </a:rPr>
              <a:t> of</a:t>
            </a:r>
            <a:r>
              <a:rPr sz="1000" dirty="0">
                <a:latin typeface="Arial"/>
                <a:cs typeface="Arial"/>
              </a:rPr>
              <a:t> </a:t>
            </a:r>
            <a:r>
              <a:rPr sz="1000" spc="-10" dirty="0">
                <a:latin typeface="Arial"/>
                <a:cs typeface="Arial"/>
              </a:rPr>
              <a:t>nodes</a:t>
            </a:r>
            <a:r>
              <a:rPr sz="1000" spc="-5" dirty="0">
                <a:latin typeface="Arial"/>
                <a:cs typeface="Arial"/>
              </a:rPr>
              <a:t> that </a:t>
            </a:r>
            <a:r>
              <a:rPr sz="1000" spc="-10" dirty="0">
                <a:latin typeface="Arial"/>
                <a:cs typeface="Arial"/>
              </a:rPr>
              <a:t>need</a:t>
            </a:r>
            <a:r>
              <a:rPr sz="1000" spc="-5" dirty="0">
                <a:latin typeface="Arial"/>
                <a:cs typeface="Arial"/>
              </a:rPr>
              <a:t> to</a:t>
            </a:r>
            <a:r>
              <a:rPr sz="1000" dirty="0">
                <a:latin typeface="Arial"/>
                <a:cs typeface="Arial"/>
              </a:rPr>
              <a:t> </a:t>
            </a:r>
            <a:r>
              <a:rPr sz="1000" spc="-10" dirty="0">
                <a:latin typeface="Arial"/>
                <a:cs typeface="Arial"/>
              </a:rPr>
              <a:t>be</a:t>
            </a:r>
            <a:r>
              <a:rPr sz="1000" spc="-5" dirty="0">
                <a:latin typeface="Arial"/>
                <a:cs typeface="Arial"/>
              </a:rPr>
              <a:t> </a:t>
            </a:r>
            <a:r>
              <a:rPr sz="1000" spc="-10" dirty="0">
                <a:latin typeface="Arial"/>
                <a:cs typeface="Arial"/>
              </a:rPr>
              <a:t>probed:</a:t>
            </a:r>
            <a:endParaRPr sz="1000">
              <a:latin typeface="Arial"/>
              <a:cs typeface="Arial"/>
            </a:endParaRPr>
          </a:p>
        </p:txBody>
      </p:sp>
      <p:sp>
        <p:nvSpPr>
          <p:cNvPr id="10" name="object 10"/>
          <p:cNvSpPr txBox="1"/>
          <p:nvPr/>
        </p:nvSpPr>
        <p:spPr>
          <a:xfrm>
            <a:off x="963891" y="2361713"/>
            <a:ext cx="815975" cy="137795"/>
          </a:xfrm>
          <a:prstGeom prst="rect">
            <a:avLst/>
          </a:prstGeom>
        </p:spPr>
        <p:txBody>
          <a:bodyPr vert="horz" wrap="square" lIns="0" tIns="17145" rIns="0" bIns="0" rtlCol="0">
            <a:spAutoFit/>
          </a:bodyPr>
          <a:lstStyle/>
          <a:p>
            <a:pPr marL="12700">
              <a:lnSpc>
                <a:spcPct val="100000"/>
              </a:lnSpc>
              <a:spcBef>
                <a:spcPts val="135"/>
              </a:spcBef>
              <a:tabLst>
                <a:tab pos="734695" algn="l"/>
              </a:tabLst>
            </a:pPr>
            <a:r>
              <a:rPr sz="700" i="1" spc="25" dirty="0">
                <a:latin typeface="Arial"/>
                <a:cs typeface="Arial"/>
              </a:rPr>
              <a:t>N	N</a:t>
            </a:r>
            <a:endParaRPr sz="700">
              <a:latin typeface="Arial"/>
              <a:cs typeface="Arial"/>
            </a:endParaRPr>
          </a:p>
        </p:txBody>
      </p:sp>
      <p:sp>
        <p:nvSpPr>
          <p:cNvPr id="11" name="object 11"/>
          <p:cNvSpPr txBox="1"/>
          <p:nvPr/>
        </p:nvSpPr>
        <p:spPr>
          <a:xfrm>
            <a:off x="1633156" y="2632299"/>
            <a:ext cx="20701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r>
              <a:rPr sz="700" i="1" spc="-125" dirty="0">
                <a:latin typeface="Arial"/>
                <a:cs typeface="Arial"/>
              </a:rPr>
              <a:t> </a:t>
            </a:r>
            <a:r>
              <a:rPr sz="700" spc="165" dirty="0">
                <a:latin typeface="Arial"/>
                <a:cs typeface="Arial"/>
              </a:rPr>
              <a:t>=</a:t>
            </a:r>
            <a:r>
              <a:rPr sz="700" spc="20" dirty="0">
                <a:latin typeface="Arial"/>
                <a:cs typeface="Arial"/>
              </a:rPr>
              <a:t>1</a:t>
            </a:r>
            <a:endParaRPr sz="700">
              <a:latin typeface="Arial"/>
              <a:cs typeface="Arial"/>
            </a:endParaRPr>
          </a:p>
        </p:txBody>
      </p:sp>
      <p:sp>
        <p:nvSpPr>
          <p:cNvPr id="12" name="object 12"/>
          <p:cNvSpPr txBox="1"/>
          <p:nvPr/>
        </p:nvSpPr>
        <p:spPr>
          <a:xfrm>
            <a:off x="1989937" y="2378346"/>
            <a:ext cx="474345" cy="177800"/>
          </a:xfrm>
          <a:prstGeom prst="rect">
            <a:avLst/>
          </a:prstGeom>
        </p:spPr>
        <p:txBody>
          <a:bodyPr vert="horz" wrap="square" lIns="0" tIns="12065" rIns="0" bIns="0" rtlCol="0">
            <a:spAutoFit/>
          </a:bodyPr>
          <a:lstStyle/>
          <a:p>
            <a:pPr marL="12700">
              <a:lnSpc>
                <a:spcPct val="100000"/>
              </a:lnSpc>
              <a:spcBef>
                <a:spcPts val="95"/>
              </a:spcBef>
              <a:tabLst>
                <a:tab pos="419100" algn="l"/>
              </a:tabLst>
            </a:pPr>
            <a:r>
              <a:rPr sz="1000" i="1" u="sng" spc="-5" dirty="0">
                <a:uFill>
                  <a:solidFill>
                    <a:srgbClr val="000000"/>
                  </a:solidFill>
                </a:uFill>
                <a:latin typeface="Arial"/>
                <a:cs typeface="Arial"/>
              </a:rPr>
              <a:t>r</a:t>
            </a:r>
            <a:r>
              <a:rPr sz="1000" i="1" u="sng" spc="10" dirty="0">
                <a:uFill>
                  <a:solidFill>
                    <a:srgbClr val="000000"/>
                  </a:solidFill>
                </a:uFill>
                <a:latin typeface="Arial"/>
                <a:cs typeface="Arial"/>
              </a:rPr>
              <a:t> </a:t>
            </a:r>
            <a:r>
              <a:rPr sz="1000" i="1" dirty="0">
                <a:latin typeface="Arial"/>
                <a:cs typeface="Arial"/>
              </a:rPr>
              <a:t>	</a:t>
            </a:r>
            <a:r>
              <a:rPr sz="1000" i="1" spc="-5" dirty="0">
                <a:latin typeface="Arial"/>
                <a:cs typeface="Arial"/>
              </a:rPr>
              <a:t>r</a:t>
            </a:r>
            <a:endParaRPr sz="1000">
              <a:latin typeface="Arial"/>
              <a:cs typeface="Arial"/>
            </a:endParaRPr>
          </a:p>
        </p:txBody>
      </p:sp>
      <p:sp>
        <p:nvSpPr>
          <p:cNvPr id="13" name="object 13"/>
          <p:cNvSpPr/>
          <p:nvPr/>
        </p:nvSpPr>
        <p:spPr>
          <a:xfrm>
            <a:off x="2387104" y="2571597"/>
            <a:ext cx="101600" cy="0"/>
          </a:xfrm>
          <a:custGeom>
            <a:avLst/>
            <a:gdLst/>
            <a:ahLst/>
            <a:cxnLst/>
            <a:rect l="l" t="t" r="r" b="b"/>
            <a:pathLst>
              <a:path w="101600">
                <a:moveTo>
                  <a:pt x="0" y="0"/>
                </a:moveTo>
                <a:lnTo>
                  <a:pt x="101092" y="0"/>
                </a:lnTo>
              </a:path>
            </a:pathLst>
          </a:custGeom>
          <a:ln w="5054">
            <a:solidFill>
              <a:srgbClr val="000000"/>
            </a:solidFill>
          </a:ln>
        </p:spPr>
        <p:txBody>
          <a:bodyPr wrap="square" lIns="0" tIns="0" rIns="0" bIns="0" rtlCol="0"/>
          <a:lstStyle/>
          <a:p>
            <a:endParaRPr/>
          </a:p>
        </p:txBody>
      </p:sp>
      <p:sp>
        <p:nvSpPr>
          <p:cNvPr id="14" name="object 14"/>
          <p:cNvSpPr txBox="1"/>
          <p:nvPr/>
        </p:nvSpPr>
        <p:spPr>
          <a:xfrm>
            <a:off x="2539873" y="2444644"/>
            <a:ext cx="207010" cy="137795"/>
          </a:xfrm>
          <a:prstGeom prst="rect">
            <a:avLst/>
          </a:prstGeom>
        </p:spPr>
        <p:txBody>
          <a:bodyPr vert="horz" wrap="square" lIns="0" tIns="17145" rIns="0" bIns="0" rtlCol="0">
            <a:spAutoFit/>
          </a:bodyPr>
          <a:lstStyle/>
          <a:p>
            <a:pPr marL="12700">
              <a:lnSpc>
                <a:spcPct val="100000"/>
              </a:lnSpc>
              <a:spcBef>
                <a:spcPts val="135"/>
              </a:spcBef>
            </a:pPr>
            <a:r>
              <a:rPr sz="700" i="1" spc="85" dirty="0">
                <a:latin typeface="Arial"/>
                <a:cs typeface="Arial"/>
              </a:rPr>
              <a:t>k</a:t>
            </a:r>
            <a:r>
              <a:rPr sz="700" i="1" spc="10" dirty="0">
                <a:latin typeface="メイリオ"/>
                <a:cs typeface="メイリオ"/>
              </a:rPr>
              <a:t>−</a:t>
            </a:r>
            <a:r>
              <a:rPr sz="700" spc="20" dirty="0">
                <a:latin typeface="Arial"/>
                <a:cs typeface="Arial"/>
              </a:rPr>
              <a:t>1</a:t>
            </a:r>
            <a:endParaRPr sz="700">
              <a:latin typeface="Arial"/>
              <a:cs typeface="Arial"/>
            </a:endParaRPr>
          </a:p>
        </p:txBody>
      </p:sp>
      <p:sp>
        <p:nvSpPr>
          <p:cNvPr id="16" name="object 16"/>
          <p:cNvSpPr txBox="1"/>
          <p:nvPr/>
        </p:nvSpPr>
        <p:spPr>
          <a:xfrm>
            <a:off x="66713" y="3331252"/>
            <a:ext cx="11995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Unstructured</a:t>
            </a:r>
            <a:r>
              <a:rPr sz="60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peer-to-peer</a:t>
            </a:r>
            <a:r>
              <a:rPr sz="600" spc="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systems</a:t>
            </a:r>
            <a:endParaRPr sz="600">
              <a:latin typeface="Arial"/>
              <a:cs typeface="Arial"/>
            </a:endParaRPr>
          </a:p>
        </p:txBody>
      </p:sp>
      <p:sp>
        <p:nvSpPr>
          <p:cNvPr id="17" name="object 1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28</a:t>
            </a:r>
            <a:r>
              <a:rPr spc="-40" dirty="0"/>
              <a:t> </a:t>
            </a:r>
            <a:r>
              <a:rPr spc="-5" dirty="0"/>
              <a:t>/</a:t>
            </a:r>
            <a:r>
              <a:rPr spc="-35" dirty="0"/>
              <a:t> </a:t>
            </a:r>
            <a:r>
              <a:rPr spc="-5" dirty="0"/>
              <a:t>36</a:t>
            </a:r>
          </a:p>
        </p:txBody>
      </p:sp>
      <p:sp>
        <p:nvSpPr>
          <p:cNvPr id="15" name="object 15"/>
          <p:cNvSpPr txBox="1"/>
          <p:nvPr/>
        </p:nvSpPr>
        <p:spPr>
          <a:xfrm>
            <a:off x="627570" y="2408337"/>
            <a:ext cx="3353435" cy="361950"/>
          </a:xfrm>
          <a:prstGeom prst="rect">
            <a:avLst/>
          </a:prstGeom>
        </p:spPr>
        <p:txBody>
          <a:bodyPr vert="horz" wrap="square" lIns="0" tIns="17145" rIns="0" bIns="0" rtlCol="0">
            <a:spAutoFit/>
          </a:bodyPr>
          <a:lstStyle/>
          <a:p>
            <a:pPr marL="50800">
              <a:lnSpc>
                <a:spcPct val="100000"/>
              </a:lnSpc>
              <a:spcBef>
                <a:spcPts val="135"/>
              </a:spcBef>
              <a:tabLst>
                <a:tab pos="2139950" algn="l"/>
              </a:tabLst>
            </a:pPr>
            <a:r>
              <a:rPr sz="1000" i="1" spc="-5" dirty="0">
                <a:latin typeface="Arial"/>
                <a:cs typeface="Arial"/>
              </a:rPr>
              <a:t>S</a:t>
            </a:r>
            <a:r>
              <a:rPr sz="1000" i="1" spc="-15" dirty="0">
                <a:latin typeface="Arial"/>
                <a:cs typeface="Arial"/>
              </a:rPr>
              <a:t> </a:t>
            </a:r>
            <a:r>
              <a:rPr sz="1000" spc="190" dirty="0">
                <a:latin typeface="Arial"/>
                <a:cs typeface="Arial"/>
              </a:rPr>
              <a:t>=</a:t>
            </a:r>
            <a:r>
              <a:rPr sz="1000" dirty="0">
                <a:latin typeface="Arial"/>
                <a:cs typeface="Arial"/>
              </a:rPr>
              <a:t> </a:t>
            </a:r>
            <a:r>
              <a:rPr sz="1000" spc="-135"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k</a:t>
            </a:r>
            <a:r>
              <a:rPr sz="1000" i="1" spc="-40" dirty="0">
                <a:latin typeface="Arial"/>
                <a:cs typeface="Arial"/>
              </a:rPr>
              <a:t> </a:t>
            </a:r>
            <a:r>
              <a:rPr sz="1000" i="1" spc="-75" dirty="0">
                <a:latin typeface="メイリオ"/>
                <a:cs typeface="メイリオ"/>
              </a:rPr>
              <a:t>·</a:t>
            </a:r>
            <a:r>
              <a:rPr sz="1000" i="1" spc="-204" dirty="0">
                <a:latin typeface="メイリオ"/>
                <a:cs typeface="メイリオ"/>
              </a:rPr>
              <a:t> </a:t>
            </a:r>
            <a:r>
              <a:rPr sz="1000" spc="-60" dirty="0">
                <a:latin typeface="Arial"/>
                <a:cs typeface="Arial"/>
              </a:rPr>
              <a:t>P</a:t>
            </a:r>
            <a:r>
              <a:rPr sz="1000" spc="5" dirty="0">
                <a:latin typeface="Arial"/>
                <a:cs typeface="Arial"/>
              </a:rPr>
              <a:t>[</a:t>
            </a:r>
            <a:r>
              <a:rPr sz="1000" i="1" spc="-5" dirty="0">
                <a:latin typeface="Arial"/>
                <a:cs typeface="Arial"/>
              </a:rPr>
              <a:t>k</a:t>
            </a:r>
            <a:r>
              <a:rPr sz="1000" i="1" spc="-180"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dirty="0">
                <a:latin typeface="Arial"/>
                <a:cs typeface="Arial"/>
              </a:rPr>
              <a:t> </a:t>
            </a:r>
            <a:r>
              <a:rPr sz="1000" spc="-135"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k</a:t>
            </a:r>
            <a:r>
              <a:rPr sz="1000" i="1" spc="-40" dirty="0">
                <a:latin typeface="Arial"/>
                <a:cs typeface="Arial"/>
              </a:rPr>
              <a:t> </a:t>
            </a:r>
            <a:r>
              <a:rPr sz="1000" i="1" spc="-75" dirty="0">
                <a:latin typeface="メイリオ"/>
                <a:cs typeface="メイリオ"/>
              </a:rPr>
              <a:t>·</a:t>
            </a:r>
            <a:r>
              <a:rPr sz="1000" i="1" spc="-85" dirty="0">
                <a:latin typeface="メイリオ"/>
                <a:cs typeface="メイリオ"/>
              </a:rPr>
              <a:t> </a:t>
            </a:r>
            <a:r>
              <a:rPr sz="1500" i="1" spc="-7" baseline="-38888" dirty="0">
                <a:latin typeface="Arial"/>
                <a:cs typeface="Arial"/>
              </a:rPr>
              <a:t>N</a:t>
            </a:r>
            <a:r>
              <a:rPr sz="1500" i="1" spc="-127" baseline="-38888" dirty="0">
                <a:latin typeface="Arial"/>
                <a:cs typeface="Arial"/>
              </a:rPr>
              <a:t> </a:t>
            </a:r>
            <a:r>
              <a:rPr sz="1000" spc="50" dirty="0">
                <a:latin typeface="Arial"/>
                <a:cs typeface="Arial"/>
              </a:rPr>
              <a:t>(</a:t>
            </a:r>
            <a:r>
              <a:rPr sz="1000" spc="-5" dirty="0">
                <a:latin typeface="Arial"/>
                <a:cs typeface="Arial"/>
              </a:rPr>
              <a:t>1</a:t>
            </a:r>
            <a:r>
              <a:rPr sz="1000" spc="-140" dirty="0">
                <a:latin typeface="Arial"/>
                <a:cs typeface="Arial"/>
              </a:rPr>
              <a:t> </a:t>
            </a:r>
            <a:r>
              <a:rPr sz="1000" i="1" spc="-30" dirty="0">
                <a:latin typeface="メイリオ"/>
                <a:cs typeface="メイリオ"/>
              </a:rPr>
              <a:t>−</a:t>
            </a:r>
            <a:r>
              <a:rPr sz="1000" i="1" spc="-85" dirty="0">
                <a:latin typeface="メイリオ"/>
                <a:cs typeface="メイリオ"/>
              </a:rPr>
              <a:t> </a:t>
            </a:r>
            <a:r>
              <a:rPr sz="1500" i="1" spc="-7" baseline="-38888" dirty="0">
                <a:latin typeface="Arial"/>
                <a:cs typeface="Arial"/>
              </a:rPr>
              <a:t>N</a:t>
            </a:r>
            <a:r>
              <a:rPr sz="1500" i="1" spc="-127" baseline="-38888" dirty="0">
                <a:latin typeface="Arial"/>
                <a:cs typeface="Arial"/>
              </a:rPr>
              <a:t> </a:t>
            </a:r>
            <a:r>
              <a:rPr sz="1000" spc="50" dirty="0">
                <a:latin typeface="Arial"/>
                <a:cs typeface="Arial"/>
              </a:rPr>
              <a:t>)</a:t>
            </a:r>
            <a:r>
              <a:rPr sz="1000" dirty="0">
                <a:latin typeface="Arial"/>
                <a:cs typeface="Arial"/>
              </a:rPr>
              <a:t>	</a:t>
            </a:r>
            <a:r>
              <a:rPr sz="1000" i="1" spc="-35" dirty="0">
                <a:latin typeface="メイリオ"/>
                <a:cs typeface="メイリオ"/>
              </a:rPr>
              <a:t>≈</a:t>
            </a:r>
            <a:r>
              <a:rPr sz="1000" i="1" spc="-120" dirty="0">
                <a:latin typeface="メイリオ"/>
                <a:cs typeface="メイリオ"/>
              </a:rPr>
              <a:t> </a:t>
            </a:r>
            <a:r>
              <a:rPr sz="1000" i="1" spc="70" dirty="0">
                <a:latin typeface="Arial"/>
                <a:cs typeface="Arial"/>
              </a:rPr>
              <a:t>N</a:t>
            </a:r>
            <a:r>
              <a:rPr sz="1000" i="1" spc="220" dirty="0">
                <a:latin typeface="Arial"/>
                <a:cs typeface="Arial"/>
              </a:rPr>
              <a:t>/</a:t>
            </a:r>
            <a:r>
              <a:rPr sz="1000" i="1" spc="-5" dirty="0">
                <a:latin typeface="Arial"/>
                <a:cs typeface="Arial"/>
              </a:rPr>
              <a:t>r</a:t>
            </a:r>
            <a:r>
              <a:rPr sz="1000" i="1" spc="110" dirty="0">
                <a:latin typeface="Arial"/>
                <a:cs typeface="Arial"/>
              </a:rPr>
              <a:t> </a:t>
            </a:r>
            <a:r>
              <a:rPr sz="1000" spc="-35" dirty="0">
                <a:latin typeface="Arial"/>
                <a:cs typeface="Arial"/>
              </a:rPr>
              <a:t>f</a:t>
            </a:r>
            <a:r>
              <a:rPr sz="1000" spc="-5" dirty="0">
                <a:latin typeface="Arial"/>
                <a:cs typeface="Arial"/>
              </a:rPr>
              <a:t>or 1</a:t>
            </a:r>
            <a:r>
              <a:rPr sz="1000" spc="-60" dirty="0">
                <a:latin typeface="Arial"/>
                <a:cs typeface="Arial"/>
              </a:rPr>
              <a:t> </a:t>
            </a:r>
            <a:r>
              <a:rPr sz="1000" i="1" spc="335" dirty="0">
                <a:latin typeface="メイリオ"/>
                <a:cs typeface="メイリオ"/>
              </a:rPr>
              <a:t>«</a:t>
            </a:r>
            <a:r>
              <a:rPr sz="1000" i="1" spc="-120" dirty="0">
                <a:latin typeface="メイリオ"/>
                <a:cs typeface="メイリオ"/>
              </a:rPr>
              <a:t> </a:t>
            </a:r>
            <a:r>
              <a:rPr sz="1000" i="1" spc="-5" dirty="0">
                <a:latin typeface="Arial"/>
                <a:cs typeface="Arial"/>
              </a:rPr>
              <a:t>r</a:t>
            </a:r>
            <a:r>
              <a:rPr sz="1000" i="1" spc="55" dirty="0">
                <a:latin typeface="Arial"/>
                <a:cs typeface="Arial"/>
              </a:rPr>
              <a:t> </a:t>
            </a:r>
            <a:r>
              <a:rPr sz="1000" i="1" spc="-35" dirty="0">
                <a:latin typeface="メイリオ"/>
                <a:cs typeface="メイリオ"/>
              </a:rPr>
              <a:t>≤</a:t>
            </a:r>
            <a:r>
              <a:rPr sz="1000" i="1" spc="-120" dirty="0">
                <a:latin typeface="メイリオ"/>
                <a:cs typeface="メイリオ"/>
              </a:rPr>
              <a:t> </a:t>
            </a:r>
            <a:r>
              <a:rPr sz="1000" i="1" spc="70" dirty="0">
                <a:latin typeface="Arial"/>
                <a:cs typeface="Arial"/>
              </a:rPr>
              <a:t>N</a:t>
            </a:r>
            <a:r>
              <a:rPr sz="1000" i="1" spc="-5" dirty="0">
                <a:latin typeface="Arial"/>
                <a:cs typeface="Arial"/>
              </a:rPr>
              <a:t>.</a:t>
            </a:r>
            <a:endParaRPr sz="1000">
              <a:latin typeface="Arial"/>
              <a:cs typeface="Arial"/>
            </a:endParaRPr>
          </a:p>
          <a:p>
            <a:pPr marL="295275">
              <a:lnSpc>
                <a:spcPct val="100000"/>
              </a:lnSpc>
              <a:spcBef>
                <a:spcPts val="85"/>
              </a:spcBef>
            </a:pPr>
            <a:r>
              <a:rPr sz="700" i="1" spc="15" dirty="0">
                <a:latin typeface="Arial"/>
                <a:cs typeface="Arial"/>
              </a:rPr>
              <a:t>k</a:t>
            </a:r>
            <a:r>
              <a:rPr sz="700" i="1" spc="-125" dirty="0">
                <a:latin typeface="Arial"/>
                <a:cs typeface="Arial"/>
              </a:rPr>
              <a:t> </a:t>
            </a:r>
            <a:r>
              <a:rPr sz="700" spc="165" dirty="0">
                <a:latin typeface="Arial"/>
                <a:cs typeface="Arial"/>
              </a:rPr>
              <a:t>=</a:t>
            </a:r>
            <a:r>
              <a:rPr sz="700" spc="20" dirty="0">
                <a:latin typeface="Arial"/>
                <a:cs typeface="Arial"/>
              </a:rPr>
              <a:t>1</a:t>
            </a:r>
            <a:endParaRPr sz="7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66713" y="3331252"/>
            <a:ext cx="11995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Unstructured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peer-to-peer</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29</a:t>
            </a:r>
            <a:r>
              <a:rPr spc="-40" dirty="0"/>
              <a:t> </a:t>
            </a:r>
            <a:r>
              <a:rPr spc="-5" dirty="0"/>
              <a:t>/</a:t>
            </a:r>
            <a:r>
              <a:rPr spc="-35" dirty="0"/>
              <a:t> </a:t>
            </a:r>
            <a:r>
              <a:rPr spc="-5" dirty="0"/>
              <a:t>36</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5" action="ppaction://hlinksldjump"/>
              </a:rPr>
              <a:t>System</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architecture</a:t>
            </a:r>
            <a:endParaRPr sz="600">
              <a:latin typeface="Arial"/>
              <a:cs typeface="Arial"/>
            </a:endParaRPr>
          </a:p>
        </p:txBody>
      </p:sp>
      <p:sp>
        <p:nvSpPr>
          <p:cNvPr id="3" name="object 3"/>
          <p:cNvSpPr txBox="1"/>
          <p:nvPr/>
        </p:nvSpPr>
        <p:spPr>
          <a:xfrm>
            <a:off x="2816752" y="716"/>
            <a:ext cx="1724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Decentralized</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organizations:</a:t>
            </a:r>
            <a:r>
              <a:rPr sz="600" spc="5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peer-to-peer</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systems</a:t>
            </a:r>
            <a:endParaRPr sz="600">
              <a:latin typeface="Arial"/>
              <a:cs typeface="Arial"/>
            </a:endParaRPr>
          </a:p>
        </p:txBody>
      </p:sp>
      <p:sp>
        <p:nvSpPr>
          <p:cNvPr id="4" name="object 4"/>
          <p:cNvSpPr txBox="1"/>
          <p:nvPr/>
        </p:nvSpPr>
        <p:spPr>
          <a:xfrm>
            <a:off x="57200" y="188846"/>
            <a:ext cx="4247515" cy="1207135"/>
          </a:xfrm>
          <a:prstGeom prst="rect">
            <a:avLst/>
          </a:prstGeom>
        </p:spPr>
        <p:txBody>
          <a:bodyPr vert="horz" wrap="square" lIns="0" tIns="17145" rIns="0" bIns="0" rtlCol="0">
            <a:spAutoFit/>
          </a:bodyPr>
          <a:lstStyle/>
          <a:p>
            <a:pPr marL="50800">
              <a:lnSpc>
                <a:spcPct val="100000"/>
              </a:lnSpc>
              <a:spcBef>
                <a:spcPts val="135"/>
              </a:spcBef>
            </a:pPr>
            <a:r>
              <a:rPr sz="1400" spc="15" dirty="0">
                <a:solidFill>
                  <a:srgbClr val="3333B2"/>
                </a:solidFill>
                <a:latin typeface="Arial"/>
                <a:cs typeface="Arial"/>
              </a:rPr>
              <a:t>Flooding</a:t>
            </a:r>
            <a:r>
              <a:rPr sz="1400" spc="-15" dirty="0">
                <a:solidFill>
                  <a:srgbClr val="3333B2"/>
                </a:solidFill>
                <a:latin typeface="Arial"/>
                <a:cs typeface="Arial"/>
              </a:rPr>
              <a:t> </a:t>
            </a:r>
            <a:r>
              <a:rPr sz="1400" spc="10" dirty="0">
                <a:solidFill>
                  <a:srgbClr val="3333B2"/>
                </a:solidFill>
                <a:latin typeface="Arial"/>
                <a:cs typeface="Arial"/>
              </a:rPr>
              <a:t>versus</a:t>
            </a:r>
            <a:r>
              <a:rPr sz="1400" spc="-10" dirty="0">
                <a:solidFill>
                  <a:srgbClr val="3333B2"/>
                </a:solidFill>
                <a:latin typeface="Arial"/>
                <a:cs typeface="Arial"/>
              </a:rPr>
              <a:t> </a:t>
            </a:r>
            <a:r>
              <a:rPr sz="1400" spc="15" dirty="0">
                <a:solidFill>
                  <a:srgbClr val="3333B2"/>
                </a:solidFill>
                <a:latin typeface="Arial"/>
                <a:cs typeface="Arial"/>
              </a:rPr>
              <a:t>random</a:t>
            </a:r>
            <a:r>
              <a:rPr sz="1400" spc="-15" dirty="0">
                <a:solidFill>
                  <a:srgbClr val="3333B2"/>
                </a:solidFill>
                <a:latin typeface="Arial"/>
                <a:cs typeface="Arial"/>
              </a:rPr>
              <a:t> </a:t>
            </a:r>
            <a:r>
              <a:rPr sz="1400" spc="10" dirty="0">
                <a:solidFill>
                  <a:srgbClr val="3333B2"/>
                </a:solidFill>
                <a:latin typeface="Arial"/>
                <a:cs typeface="Arial"/>
              </a:rPr>
              <a:t>walk</a:t>
            </a:r>
            <a:endParaRPr sz="1400">
              <a:latin typeface="Arial"/>
              <a:cs typeface="Arial"/>
            </a:endParaRPr>
          </a:p>
          <a:p>
            <a:pPr>
              <a:lnSpc>
                <a:spcPct val="100000"/>
              </a:lnSpc>
              <a:spcBef>
                <a:spcPts val="45"/>
              </a:spcBef>
            </a:pPr>
            <a:endParaRPr sz="1500">
              <a:latin typeface="Arial"/>
              <a:cs typeface="Arial"/>
            </a:endParaRPr>
          </a:p>
          <a:p>
            <a:pPr marL="302260">
              <a:lnSpc>
                <a:spcPct val="100000"/>
              </a:lnSpc>
            </a:pPr>
            <a:r>
              <a:rPr sz="1200" spc="-5" dirty="0">
                <a:solidFill>
                  <a:srgbClr val="3333B2"/>
                </a:solidFill>
                <a:latin typeface="Arial"/>
                <a:cs typeface="Arial"/>
              </a:rPr>
              <a:t>Flooding</a:t>
            </a:r>
            <a:endParaRPr sz="1200">
              <a:latin typeface="Arial"/>
              <a:cs typeface="Arial"/>
            </a:endParaRPr>
          </a:p>
          <a:p>
            <a:pPr marL="579755" indent="-168275">
              <a:lnSpc>
                <a:spcPts val="1200"/>
              </a:lnSpc>
              <a:spcBef>
                <a:spcPts val="790"/>
              </a:spcBef>
              <a:buClr>
                <a:srgbClr val="3333B2"/>
              </a:buClr>
              <a:buChar char="►"/>
              <a:tabLst>
                <a:tab pos="580390" algn="l"/>
              </a:tabLst>
            </a:pPr>
            <a:r>
              <a:rPr sz="1000" spc="-5" dirty="0">
                <a:latin typeface="Arial"/>
                <a:cs typeface="Arial"/>
              </a:rPr>
              <a:t>Flood</a:t>
            </a:r>
            <a:r>
              <a:rPr sz="1000" spc="-10" dirty="0">
                <a:latin typeface="Arial"/>
                <a:cs typeface="Arial"/>
              </a:rPr>
              <a:t> </a:t>
            </a:r>
            <a:r>
              <a:rPr sz="1000" spc="-5" dirty="0">
                <a:latin typeface="Arial"/>
                <a:cs typeface="Arial"/>
              </a:rPr>
              <a:t>to </a:t>
            </a:r>
            <a:r>
              <a:rPr sz="1000" i="1" spc="-5" dirty="0">
                <a:latin typeface="Arial"/>
                <a:cs typeface="Arial"/>
              </a:rPr>
              <a:t>d</a:t>
            </a:r>
            <a:r>
              <a:rPr sz="1000" i="1" spc="85" dirty="0">
                <a:latin typeface="Arial"/>
                <a:cs typeface="Arial"/>
              </a:rPr>
              <a:t> </a:t>
            </a:r>
            <a:r>
              <a:rPr sz="1000" spc="-5" dirty="0">
                <a:latin typeface="Arial"/>
                <a:cs typeface="Arial"/>
              </a:rPr>
              <a:t>randomly</a:t>
            </a:r>
            <a:r>
              <a:rPr sz="1000" spc="-10" dirty="0">
                <a:latin typeface="Arial"/>
                <a:cs typeface="Arial"/>
              </a:rPr>
              <a:t> </a:t>
            </a:r>
            <a:r>
              <a:rPr sz="1000" spc="-5" dirty="0">
                <a:latin typeface="Arial"/>
                <a:cs typeface="Arial"/>
              </a:rPr>
              <a:t>chosen neighbors</a:t>
            </a:r>
            <a:endParaRPr sz="1000">
              <a:latin typeface="Arial"/>
              <a:cs typeface="Arial"/>
            </a:endParaRPr>
          </a:p>
          <a:p>
            <a:pPr marL="575310" marR="55880" indent="-163830">
              <a:lnSpc>
                <a:spcPts val="1200"/>
              </a:lnSpc>
              <a:spcBef>
                <a:spcPts val="35"/>
              </a:spcBef>
              <a:buClr>
                <a:srgbClr val="3333B2"/>
              </a:buClr>
              <a:buChar char="►"/>
              <a:tabLst>
                <a:tab pos="580390" algn="l"/>
              </a:tabLst>
            </a:pPr>
            <a:r>
              <a:rPr sz="1000" spc="-5" dirty="0">
                <a:latin typeface="Arial"/>
                <a:cs typeface="Arial"/>
              </a:rPr>
              <a:t>After </a:t>
            </a:r>
            <a:r>
              <a:rPr sz="1000" i="1" spc="-5" dirty="0">
                <a:latin typeface="Arial"/>
                <a:cs typeface="Arial"/>
              </a:rPr>
              <a:t>k</a:t>
            </a:r>
            <a:r>
              <a:rPr sz="1000" i="1" spc="95" dirty="0">
                <a:latin typeface="Arial"/>
                <a:cs typeface="Arial"/>
              </a:rPr>
              <a:t> </a:t>
            </a:r>
            <a:r>
              <a:rPr sz="1000" spc="-5" dirty="0">
                <a:latin typeface="Arial"/>
                <a:cs typeface="Arial"/>
              </a:rPr>
              <a:t>steps,</a:t>
            </a:r>
            <a:r>
              <a:rPr sz="1000" dirty="0">
                <a:latin typeface="Arial"/>
                <a:cs typeface="Arial"/>
              </a:rPr>
              <a:t> </a:t>
            </a:r>
            <a:r>
              <a:rPr sz="1000" spc="-5" dirty="0">
                <a:latin typeface="Arial"/>
                <a:cs typeface="Arial"/>
              </a:rPr>
              <a:t>some </a:t>
            </a:r>
            <a:r>
              <a:rPr sz="1000" i="1" spc="30" dirty="0">
                <a:latin typeface="Arial"/>
                <a:cs typeface="Arial"/>
              </a:rPr>
              <a:t>R</a:t>
            </a:r>
            <a:r>
              <a:rPr sz="1000" spc="30" dirty="0">
                <a:latin typeface="Arial"/>
                <a:cs typeface="Arial"/>
              </a:rPr>
              <a:t>(</a:t>
            </a:r>
            <a:r>
              <a:rPr sz="1000" i="1" spc="30" dirty="0">
                <a:latin typeface="Arial"/>
                <a:cs typeface="Arial"/>
              </a:rPr>
              <a:t>k</a:t>
            </a:r>
            <a:r>
              <a:rPr sz="1000" i="1" spc="-180" dirty="0">
                <a:latin typeface="Arial"/>
                <a:cs typeface="Arial"/>
              </a:rPr>
              <a:t> </a:t>
            </a:r>
            <a:r>
              <a:rPr sz="1000" spc="50" dirty="0">
                <a:latin typeface="Arial"/>
                <a:cs typeface="Arial"/>
              </a:rPr>
              <a:t>)</a:t>
            </a:r>
            <a:r>
              <a:rPr sz="1000" spc="-55"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d</a:t>
            </a:r>
            <a:r>
              <a:rPr sz="1000" i="1" spc="-45" dirty="0">
                <a:latin typeface="Arial"/>
                <a:cs typeface="Arial"/>
              </a:rPr>
              <a:t> </a:t>
            </a:r>
            <a:r>
              <a:rPr sz="1000" i="1" spc="-75" dirty="0">
                <a:latin typeface="メイリオ"/>
                <a:cs typeface="メイリオ"/>
              </a:rPr>
              <a:t>·</a:t>
            </a:r>
            <a:r>
              <a:rPr sz="1000" i="1" spc="-200" dirty="0">
                <a:latin typeface="メイリオ"/>
                <a:cs typeface="メイリオ"/>
              </a:rPr>
              <a:t> </a:t>
            </a:r>
            <a:r>
              <a:rPr sz="1000" spc="25" dirty="0">
                <a:latin typeface="Arial"/>
                <a:cs typeface="Arial"/>
              </a:rPr>
              <a:t>(</a:t>
            </a:r>
            <a:r>
              <a:rPr sz="1000" i="1" spc="25" dirty="0">
                <a:latin typeface="Arial"/>
                <a:cs typeface="Arial"/>
              </a:rPr>
              <a:t>d</a:t>
            </a:r>
            <a:r>
              <a:rPr sz="1000" i="1" spc="-45" dirty="0">
                <a:latin typeface="Arial"/>
                <a:cs typeface="Arial"/>
              </a:rPr>
              <a:t> </a:t>
            </a:r>
            <a:r>
              <a:rPr sz="1000" i="1" spc="-30" dirty="0">
                <a:latin typeface="メイリオ"/>
                <a:cs typeface="メイリオ"/>
              </a:rPr>
              <a:t>−</a:t>
            </a:r>
            <a:r>
              <a:rPr sz="1000" i="1" spc="-204" dirty="0">
                <a:latin typeface="メイリオ"/>
                <a:cs typeface="メイリオ"/>
              </a:rPr>
              <a:t> </a:t>
            </a:r>
            <a:r>
              <a:rPr sz="1000" spc="30" dirty="0">
                <a:latin typeface="Arial"/>
                <a:cs typeface="Arial"/>
              </a:rPr>
              <a:t>1)</a:t>
            </a:r>
            <a:r>
              <a:rPr sz="1050" i="1" spc="44" baseline="27777" dirty="0">
                <a:latin typeface="Arial"/>
                <a:cs typeface="Arial"/>
              </a:rPr>
              <a:t>k</a:t>
            </a:r>
            <a:r>
              <a:rPr sz="1050" i="1" spc="44" baseline="27777" dirty="0">
                <a:latin typeface="メイリオ"/>
                <a:cs typeface="メイリオ"/>
              </a:rPr>
              <a:t>−</a:t>
            </a:r>
            <a:r>
              <a:rPr sz="1050" spc="44" baseline="27777" dirty="0">
                <a:latin typeface="Arial"/>
                <a:cs typeface="Arial"/>
              </a:rPr>
              <a:t>1</a:t>
            </a:r>
            <a:r>
              <a:rPr sz="1050" spc="202" baseline="27777" dirty="0">
                <a:latin typeface="Arial"/>
                <a:cs typeface="Arial"/>
              </a:rPr>
              <a:t> </a:t>
            </a:r>
            <a:r>
              <a:rPr sz="1000" spc="-5" dirty="0">
                <a:latin typeface="Arial"/>
                <a:cs typeface="Arial"/>
              </a:rPr>
              <a:t>will </a:t>
            </a:r>
            <a:r>
              <a:rPr sz="1000" spc="-15" dirty="0">
                <a:latin typeface="Arial"/>
                <a:cs typeface="Arial"/>
              </a:rPr>
              <a:t>have</a:t>
            </a:r>
            <a:r>
              <a:rPr sz="1000" spc="-5" dirty="0">
                <a:latin typeface="Arial"/>
                <a:cs typeface="Arial"/>
              </a:rPr>
              <a:t> been</a:t>
            </a:r>
            <a:r>
              <a:rPr sz="1000" dirty="0">
                <a:latin typeface="Arial"/>
                <a:cs typeface="Arial"/>
              </a:rPr>
              <a:t> </a:t>
            </a:r>
            <a:r>
              <a:rPr sz="1000" spc="-5" dirty="0">
                <a:latin typeface="Arial"/>
                <a:cs typeface="Arial"/>
              </a:rPr>
              <a:t>reached </a:t>
            </a:r>
            <a:r>
              <a:rPr sz="1000" spc="-265" dirty="0">
                <a:latin typeface="Arial"/>
                <a:cs typeface="Arial"/>
              </a:rPr>
              <a:t> </a:t>
            </a:r>
            <a:r>
              <a:rPr sz="1000" spc="-5" dirty="0">
                <a:latin typeface="Arial"/>
                <a:cs typeface="Arial"/>
              </a:rPr>
              <a:t>(assuming</a:t>
            </a:r>
            <a:r>
              <a:rPr sz="1000" spc="-10" dirty="0">
                <a:latin typeface="Arial"/>
                <a:cs typeface="Arial"/>
              </a:rPr>
              <a:t> </a:t>
            </a:r>
            <a:r>
              <a:rPr sz="1000" i="1" spc="-5" dirty="0">
                <a:latin typeface="Arial"/>
                <a:cs typeface="Arial"/>
              </a:rPr>
              <a:t>k</a:t>
            </a:r>
            <a:r>
              <a:rPr sz="1000" i="1" spc="95" dirty="0">
                <a:latin typeface="Arial"/>
                <a:cs typeface="Arial"/>
              </a:rPr>
              <a:t> </a:t>
            </a:r>
            <a:r>
              <a:rPr sz="1000" spc="-5" dirty="0">
                <a:latin typeface="Arial"/>
                <a:cs typeface="Arial"/>
              </a:rPr>
              <a:t>is small).</a:t>
            </a:r>
            <a:endParaRPr sz="1000">
              <a:latin typeface="Arial"/>
              <a:cs typeface="Arial"/>
            </a:endParaRPr>
          </a:p>
        </p:txBody>
      </p:sp>
      <p:sp>
        <p:nvSpPr>
          <p:cNvPr id="5" name="object 5"/>
          <p:cNvSpPr txBox="1"/>
          <p:nvPr/>
        </p:nvSpPr>
        <p:spPr>
          <a:xfrm>
            <a:off x="456704" y="1354714"/>
            <a:ext cx="123825" cy="177800"/>
          </a:xfrm>
          <a:prstGeom prst="rect">
            <a:avLst/>
          </a:prstGeom>
        </p:spPr>
        <p:txBody>
          <a:bodyPr vert="horz" wrap="square" lIns="0" tIns="12065" rIns="0" bIns="0" rtlCol="0">
            <a:spAutoFit/>
          </a:bodyPr>
          <a:lstStyle/>
          <a:p>
            <a:pPr marL="12700">
              <a:lnSpc>
                <a:spcPct val="100000"/>
              </a:lnSpc>
              <a:spcBef>
                <a:spcPts val="95"/>
              </a:spcBef>
            </a:pPr>
            <a:r>
              <a:rPr sz="1000" spc="-220" dirty="0">
                <a:solidFill>
                  <a:srgbClr val="3333B2"/>
                </a:solidFill>
                <a:latin typeface="Arial"/>
                <a:cs typeface="Arial"/>
              </a:rPr>
              <a:t>►</a:t>
            </a:r>
            <a:endParaRPr sz="1000">
              <a:latin typeface="Arial"/>
              <a:cs typeface="Arial"/>
            </a:endParaRPr>
          </a:p>
        </p:txBody>
      </p:sp>
      <p:sp>
        <p:nvSpPr>
          <p:cNvPr id="6" name="object 6"/>
          <p:cNvSpPr txBox="1"/>
          <p:nvPr/>
        </p:nvSpPr>
        <p:spPr>
          <a:xfrm>
            <a:off x="2832735" y="1353574"/>
            <a:ext cx="100330" cy="137795"/>
          </a:xfrm>
          <a:prstGeom prst="rect">
            <a:avLst/>
          </a:prstGeom>
        </p:spPr>
        <p:txBody>
          <a:bodyPr vert="horz" wrap="square" lIns="0" tIns="17145" rIns="0" bIns="0" rtlCol="0">
            <a:spAutoFit/>
          </a:bodyPr>
          <a:lstStyle/>
          <a:p>
            <a:pPr marL="12700">
              <a:lnSpc>
                <a:spcPct val="100000"/>
              </a:lnSpc>
              <a:spcBef>
                <a:spcPts val="135"/>
              </a:spcBef>
            </a:pPr>
            <a:r>
              <a:rPr sz="700" u="sng" spc="-50" dirty="0">
                <a:uFill>
                  <a:solidFill>
                    <a:srgbClr val="000000"/>
                  </a:solidFill>
                </a:uFill>
                <a:latin typeface="Times New Roman"/>
                <a:cs typeface="Times New Roman"/>
              </a:rPr>
              <a:t> </a:t>
            </a:r>
            <a:r>
              <a:rPr sz="700" i="1" u="sng" spc="10" dirty="0">
                <a:uFill>
                  <a:solidFill>
                    <a:srgbClr val="000000"/>
                  </a:solidFill>
                </a:uFill>
                <a:latin typeface="Arial"/>
                <a:cs typeface="Arial"/>
              </a:rPr>
              <a:t>r</a:t>
            </a:r>
            <a:r>
              <a:rPr sz="700" i="1" u="sng" spc="15" dirty="0">
                <a:uFill>
                  <a:solidFill>
                    <a:srgbClr val="000000"/>
                  </a:solidFill>
                </a:uFill>
                <a:latin typeface="Arial"/>
                <a:cs typeface="Arial"/>
              </a:rPr>
              <a:t> </a:t>
            </a:r>
            <a:endParaRPr sz="700">
              <a:latin typeface="Arial"/>
              <a:cs typeface="Arial"/>
            </a:endParaRPr>
          </a:p>
        </p:txBody>
      </p:sp>
      <p:sp>
        <p:nvSpPr>
          <p:cNvPr id="7" name="object 7"/>
          <p:cNvSpPr txBox="1"/>
          <p:nvPr/>
        </p:nvSpPr>
        <p:spPr>
          <a:xfrm>
            <a:off x="2832735" y="1447085"/>
            <a:ext cx="93345" cy="137795"/>
          </a:xfrm>
          <a:prstGeom prst="rect">
            <a:avLst/>
          </a:prstGeom>
        </p:spPr>
        <p:txBody>
          <a:bodyPr vert="horz" wrap="square" lIns="0" tIns="17145" rIns="0" bIns="0" rtlCol="0">
            <a:spAutoFit/>
          </a:bodyPr>
          <a:lstStyle/>
          <a:p>
            <a:pPr marL="12700">
              <a:lnSpc>
                <a:spcPct val="100000"/>
              </a:lnSpc>
              <a:spcBef>
                <a:spcPts val="135"/>
              </a:spcBef>
            </a:pPr>
            <a:r>
              <a:rPr sz="700" i="1" spc="25" dirty="0">
                <a:latin typeface="Arial"/>
                <a:cs typeface="Arial"/>
              </a:rPr>
              <a:t>N</a:t>
            </a:r>
            <a:endParaRPr sz="700">
              <a:latin typeface="Arial"/>
              <a:cs typeface="Arial"/>
            </a:endParaRPr>
          </a:p>
        </p:txBody>
      </p:sp>
      <p:sp>
        <p:nvSpPr>
          <p:cNvPr id="8" name="object 8"/>
          <p:cNvSpPr txBox="1"/>
          <p:nvPr/>
        </p:nvSpPr>
        <p:spPr>
          <a:xfrm>
            <a:off x="624395" y="1370538"/>
            <a:ext cx="3636645" cy="177800"/>
          </a:xfrm>
          <a:prstGeom prst="rect">
            <a:avLst/>
          </a:prstGeom>
        </p:spPr>
        <p:txBody>
          <a:bodyPr vert="horz" wrap="square" lIns="0" tIns="12065" rIns="0" bIns="0" rtlCol="0">
            <a:spAutoFit/>
          </a:bodyPr>
          <a:lstStyle/>
          <a:p>
            <a:pPr marL="12700">
              <a:lnSpc>
                <a:spcPct val="100000"/>
              </a:lnSpc>
              <a:spcBef>
                <a:spcPts val="95"/>
              </a:spcBef>
              <a:tabLst>
                <a:tab pos="2327910" algn="l"/>
              </a:tabLst>
            </a:pPr>
            <a:r>
              <a:rPr sz="1000" spc="-5" dirty="0">
                <a:latin typeface="Arial"/>
                <a:cs typeface="Arial"/>
              </a:rPr>
              <a:t>With f</a:t>
            </a:r>
            <a:r>
              <a:rPr sz="1000" spc="-15" dirty="0">
                <a:latin typeface="Arial"/>
                <a:cs typeface="Arial"/>
              </a:rPr>
              <a:t>r</a:t>
            </a:r>
            <a:r>
              <a:rPr sz="1000" spc="-5" dirty="0">
                <a:latin typeface="Arial"/>
                <a:cs typeface="Arial"/>
              </a:rPr>
              <a:t>action </a:t>
            </a:r>
            <a:r>
              <a:rPr sz="1000" i="1" spc="105" dirty="0">
                <a:latin typeface="Arial"/>
                <a:cs typeface="Arial"/>
              </a:rPr>
              <a:t>r</a:t>
            </a:r>
            <a:r>
              <a:rPr sz="1000" i="1" spc="220" dirty="0">
                <a:latin typeface="Arial"/>
                <a:cs typeface="Arial"/>
              </a:rPr>
              <a:t>/</a:t>
            </a:r>
            <a:r>
              <a:rPr sz="1000" i="1" spc="-5" dirty="0">
                <a:latin typeface="Arial"/>
                <a:cs typeface="Arial"/>
              </a:rPr>
              <a:t>N</a:t>
            </a:r>
            <a:r>
              <a:rPr sz="1000" i="1" spc="75" dirty="0">
                <a:latin typeface="Arial"/>
                <a:cs typeface="Arial"/>
              </a:rPr>
              <a:t> </a:t>
            </a:r>
            <a:r>
              <a:rPr sz="1000" spc="-5" dirty="0">
                <a:latin typeface="Arial"/>
                <a:cs typeface="Arial"/>
              </a:rPr>
              <a:t>nodes h</a:t>
            </a:r>
            <a:r>
              <a:rPr sz="1000" spc="-25" dirty="0">
                <a:latin typeface="Arial"/>
                <a:cs typeface="Arial"/>
              </a:rPr>
              <a:t>a</a:t>
            </a:r>
            <a:r>
              <a:rPr sz="1000" spc="-5" dirty="0">
                <a:latin typeface="Arial"/>
                <a:cs typeface="Arial"/>
              </a:rPr>
              <a:t>ving data, if</a:t>
            </a:r>
            <a:r>
              <a:rPr sz="1000" dirty="0">
                <a:latin typeface="Arial"/>
                <a:cs typeface="Arial"/>
              </a:rPr>
              <a:t>	</a:t>
            </a:r>
            <a:r>
              <a:rPr sz="1000" i="1" spc="-75" dirty="0">
                <a:latin typeface="メイリオ"/>
                <a:cs typeface="メイリオ"/>
              </a:rPr>
              <a:t>·</a:t>
            </a:r>
            <a:r>
              <a:rPr sz="1000" i="1" spc="-204" dirty="0">
                <a:latin typeface="メイリオ"/>
                <a:cs typeface="メイリオ"/>
              </a:rPr>
              <a:t> </a:t>
            </a:r>
            <a:r>
              <a:rPr sz="1000" i="1" spc="45" dirty="0">
                <a:latin typeface="Arial"/>
                <a:cs typeface="Arial"/>
              </a:rPr>
              <a:t>R</a:t>
            </a:r>
            <a:r>
              <a:rPr sz="1000" spc="50" dirty="0">
                <a:latin typeface="Arial"/>
                <a:cs typeface="Arial"/>
              </a:rPr>
              <a:t>(</a:t>
            </a:r>
            <a:r>
              <a:rPr sz="1000" i="1" spc="-5" dirty="0">
                <a:latin typeface="Arial"/>
                <a:cs typeface="Arial"/>
              </a:rPr>
              <a:t>k</a:t>
            </a:r>
            <a:r>
              <a:rPr sz="1000" i="1" spc="-180" dirty="0">
                <a:latin typeface="Arial"/>
                <a:cs typeface="Arial"/>
              </a:rPr>
              <a:t> </a:t>
            </a:r>
            <a:r>
              <a:rPr sz="1000" spc="50" dirty="0">
                <a:latin typeface="Arial"/>
                <a:cs typeface="Arial"/>
              </a:rPr>
              <a:t>)</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spc="-5" dirty="0">
                <a:latin typeface="Arial"/>
                <a:cs typeface="Arial"/>
              </a:rPr>
              <a:t>1, </a:t>
            </a:r>
            <a:r>
              <a:rPr sz="1000" spc="-15" dirty="0">
                <a:latin typeface="Arial"/>
                <a:cs typeface="Arial"/>
              </a:rPr>
              <a:t>w</a:t>
            </a:r>
            <a:r>
              <a:rPr sz="1000" spc="-5" dirty="0">
                <a:latin typeface="Arial"/>
                <a:cs typeface="Arial"/>
              </a:rPr>
              <a:t>e will h</a:t>
            </a:r>
            <a:r>
              <a:rPr sz="1000" spc="-25" dirty="0">
                <a:latin typeface="Arial"/>
                <a:cs typeface="Arial"/>
              </a:rPr>
              <a:t>a</a:t>
            </a:r>
            <a:r>
              <a:rPr sz="1000" spc="-30" dirty="0">
                <a:latin typeface="Arial"/>
                <a:cs typeface="Arial"/>
              </a:rPr>
              <a:t>v</a:t>
            </a:r>
            <a:r>
              <a:rPr sz="1000" spc="-5" dirty="0">
                <a:latin typeface="Arial"/>
                <a:cs typeface="Arial"/>
              </a:rPr>
              <a:t>e</a:t>
            </a:r>
            <a:endParaRPr sz="1000">
              <a:latin typeface="Arial"/>
              <a:cs typeface="Arial"/>
            </a:endParaRPr>
          </a:p>
        </p:txBody>
      </p:sp>
      <p:sp>
        <p:nvSpPr>
          <p:cNvPr id="9" name="object 9"/>
          <p:cNvSpPr txBox="1"/>
          <p:nvPr/>
        </p:nvSpPr>
        <p:spPr>
          <a:xfrm>
            <a:off x="309194" y="1522366"/>
            <a:ext cx="3963670" cy="1384300"/>
          </a:xfrm>
          <a:prstGeom prst="rect">
            <a:avLst/>
          </a:prstGeom>
        </p:spPr>
        <p:txBody>
          <a:bodyPr vert="horz" wrap="square" lIns="0" tIns="12065" rIns="0" bIns="0" rtlCol="0">
            <a:spAutoFit/>
          </a:bodyPr>
          <a:lstStyle/>
          <a:p>
            <a:pPr marL="327660">
              <a:lnSpc>
                <a:spcPct val="100000"/>
              </a:lnSpc>
              <a:spcBef>
                <a:spcPts val="95"/>
              </a:spcBef>
            </a:pPr>
            <a:r>
              <a:rPr sz="1000" spc="-10" dirty="0">
                <a:latin typeface="Arial"/>
                <a:cs typeface="Arial"/>
              </a:rPr>
              <a:t>found</a:t>
            </a:r>
            <a:r>
              <a:rPr sz="1000" spc="-20" dirty="0">
                <a:latin typeface="Arial"/>
                <a:cs typeface="Arial"/>
              </a:rPr>
              <a:t> </a:t>
            </a:r>
            <a:r>
              <a:rPr sz="1000" spc="-5" dirty="0">
                <a:latin typeface="Arial"/>
                <a:cs typeface="Arial"/>
              </a:rPr>
              <a:t>the</a:t>
            </a:r>
            <a:r>
              <a:rPr sz="1000" spc="-15" dirty="0">
                <a:latin typeface="Arial"/>
                <a:cs typeface="Arial"/>
              </a:rPr>
              <a:t> </a:t>
            </a:r>
            <a:r>
              <a:rPr sz="1000" spc="-5" dirty="0">
                <a:latin typeface="Arial"/>
                <a:cs typeface="Arial"/>
              </a:rPr>
              <a:t>data</a:t>
            </a:r>
            <a:r>
              <a:rPr sz="1000" spc="-20" dirty="0">
                <a:latin typeface="Arial"/>
                <a:cs typeface="Arial"/>
              </a:rPr>
              <a:t> </a:t>
            </a:r>
            <a:r>
              <a:rPr sz="1000" spc="-5" dirty="0">
                <a:latin typeface="Arial"/>
                <a:cs typeface="Arial"/>
              </a:rPr>
              <a:t>item.</a:t>
            </a:r>
            <a:endParaRPr sz="1000">
              <a:latin typeface="Arial"/>
              <a:cs typeface="Arial"/>
            </a:endParaRPr>
          </a:p>
          <a:p>
            <a:pPr>
              <a:lnSpc>
                <a:spcPct val="100000"/>
              </a:lnSpc>
              <a:spcBef>
                <a:spcPts val="40"/>
              </a:spcBef>
            </a:pPr>
            <a:endParaRPr sz="1100">
              <a:latin typeface="Arial"/>
              <a:cs typeface="Arial"/>
            </a:endParaRPr>
          </a:p>
          <a:p>
            <a:pPr marL="50800">
              <a:lnSpc>
                <a:spcPct val="100000"/>
              </a:lnSpc>
            </a:pPr>
            <a:r>
              <a:rPr sz="1200" spc="-5" dirty="0">
                <a:solidFill>
                  <a:srgbClr val="007C00"/>
                </a:solidFill>
                <a:latin typeface="Arial"/>
                <a:cs typeface="Arial"/>
              </a:rPr>
              <a:t>Comparison</a:t>
            </a:r>
            <a:endParaRPr sz="1200">
              <a:latin typeface="Arial"/>
              <a:cs typeface="Arial"/>
            </a:endParaRPr>
          </a:p>
          <a:p>
            <a:pPr marL="327660" indent="-168275">
              <a:lnSpc>
                <a:spcPct val="100000"/>
              </a:lnSpc>
              <a:spcBef>
                <a:spcPts val="775"/>
              </a:spcBef>
              <a:buClr>
                <a:srgbClr val="007C00"/>
              </a:buClr>
              <a:buChar char="►"/>
              <a:tabLst>
                <a:tab pos="328295" algn="l"/>
              </a:tabLst>
            </a:pPr>
            <a:r>
              <a:rPr sz="1000" spc="-5" dirty="0">
                <a:latin typeface="Arial"/>
                <a:cs typeface="Arial"/>
              </a:rPr>
              <a:t>If </a:t>
            </a:r>
            <a:r>
              <a:rPr sz="1000" i="1" spc="105" dirty="0">
                <a:latin typeface="Arial"/>
                <a:cs typeface="Arial"/>
              </a:rPr>
              <a:t>r</a:t>
            </a:r>
            <a:r>
              <a:rPr sz="1000" i="1" spc="220" dirty="0">
                <a:latin typeface="Arial"/>
                <a:cs typeface="Arial"/>
              </a:rPr>
              <a:t>/</a:t>
            </a:r>
            <a:r>
              <a:rPr sz="1000" i="1" spc="-5" dirty="0">
                <a:latin typeface="Arial"/>
                <a:cs typeface="Arial"/>
              </a:rPr>
              <a:t>N</a:t>
            </a:r>
            <a:r>
              <a:rPr sz="1000" i="1" spc="20"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0</a:t>
            </a:r>
            <a:r>
              <a:rPr sz="1000" i="1" spc="-5" dirty="0">
                <a:latin typeface="Arial"/>
                <a:cs typeface="Arial"/>
              </a:rPr>
              <a:t>.</a:t>
            </a:r>
            <a:r>
              <a:rPr sz="1000" spc="-5" dirty="0">
                <a:latin typeface="Arial"/>
                <a:cs typeface="Arial"/>
              </a:rPr>
              <a:t>001, then </a:t>
            </a:r>
            <a:r>
              <a:rPr sz="1000" i="1" spc="-5" dirty="0">
                <a:latin typeface="Arial"/>
                <a:cs typeface="Arial"/>
              </a:rPr>
              <a:t>S</a:t>
            </a:r>
            <a:r>
              <a:rPr sz="1000" i="1" spc="-15" dirty="0">
                <a:latin typeface="Arial"/>
                <a:cs typeface="Arial"/>
              </a:rPr>
              <a:t> </a:t>
            </a:r>
            <a:r>
              <a:rPr sz="1000" i="1" spc="-35" dirty="0">
                <a:latin typeface="メイリオ"/>
                <a:cs typeface="メイリオ"/>
              </a:rPr>
              <a:t>≈</a:t>
            </a:r>
            <a:r>
              <a:rPr sz="1000" i="1" spc="-120" dirty="0">
                <a:latin typeface="メイリオ"/>
                <a:cs typeface="メイリオ"/>
              </a:rPr>
              <a:t> </a:t>
            </a:r>
            <a:r>
              <a:rPr sz="1000" spc="-5" dirty="0">
                <a:latin typeface="Arial"/>
                <a:cs typeface="Arial"/>
              </a:rPr>
              <a:t>1000</a:t>
            </a:r>
            <a:endParaRPr sz="1000">
              <a:latin typeface="Arial"/>
              <a:cs typeface="Arial"/>
            </a:endParaRPr>
          </a:p>
          <a:p>
            <a:pPr marL="327660" indent="-168275">
              <a:lnSpc>
                <a:spcPct val="100000"/>
              </a:lnSpc>
              <a:spcBef>
                <a:spcPts val="590"/>
              </a:spcBef>
              <a:buClr>
                <a:srgbClr val="007C00"/>
              </a:buClr>
              <a:buChar char="►"/>
              <a:tabLst>
                <a:tab pos="328295" algn="l"/>
              </a:tabLst>
            </a:pPr>
            <a:r>
              <a:rPr sz="1000" spc="-5" dirty="0">
                <a:latin typeface="Arial"/>
                <a:cs typeface="Arial"/>
              </a:rPr>
              <a:t>With flooding and </a:t>
            </a:r>
            <a:r>
              <a:rPr sz="1000" i="1" spc="-5" dirty="0">
                <a:latin typeface="Arial"/>
                <a:cs typeface="Arial"/>
              </a:rPr>
              <a:t>d</a:t>
            </a:r>
            <a:r>
              <a:rPr sz="1000" i="1" spc="35"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10</a:t>
            </a:r>
            <a:r>
              <a:rPr sz="1000" i="1" spc="-5" dirty="0">
                <a:latin typeface="Arial"/>
                <a:cs typeface="Arial"/>
              </a:rPr>
              <a:t>,</a:t>
            </a:r>
            <a:r>
              <a:rPr sz="1000" i="1" spc="-170" dirty="0">
                <a:latin typeface="Arial"/>
                <a:cs typeface="Arial"/>
              </a:rPr>
              <a:t> </a:t>
            </a:r>
            <a:r>
              <a:rPr sz="1000" i="1" spc="-5" dirty="0">
                <a:latin typeface="Arial"/>
                <a:cs typeface="Arial"/>
              </a:rPr>
              <a:t>k</a:t>
            </a:r>
            <a:r>
              <a:rPr sz="1000" i="1" spc="45"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4, </a:t>
            </a:r>
            <a:r>
              <a:rPr sz="1000" spc="-10" dirty="0">
                <a:latin typeface="Arial"/>
                <a:cs typeface="Arial"/>
              </a:rPr>
              <a:t>we</a:t>
            </a:r>
            <a:r>
              <a:rPr sz="1000" spc="-5" dirty="0">
                <a:latin typeface="Arial"/>
                <a:cs typeface="Arial"/>
              </a:rPr>
              <a:t> contact 7290 nodes.</a:t>
            </a:r>
            <a:endParaRPr sz="1000">
              <a:latin typeface="Arial"/>
              <a:cs typeface="Arial"/>
            </a:endParaRPr>
          </a:p>
          <a:p>
            <a:pPr marL="327660" marR="43180" indent="-168275">
              <a:lnSpc>
                <a:spcPct val="100000"/>
              </a:lnSpc>
              <a:spcBef>
                <a:spcPts val="595"/>
              </a:spcBef>
              <a:buClr>
                <a:srgbClr val="007C00"/>
              </a:buClr>
              <a:buChar char="►"/>
              <a:tabLst>
                <a:tab pos="328295" algn="l"/>
              </a:tabLst>
            </a:pPr>
            <a:r>
              <a:rPr sz="1000" spc="-5" dirty="0">
                <a:latin typeface="Arial"/>
                <a:cs typeface="Arial"/>
              </a:rPr>
              <a:t>Random walks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more</a:t>
            </a:r>
            <a:r>
              <a:rPr sz="1000" dirty="0">
                <a:latin typeface="Arial"/>
                <a:cs typeface="Arial"/>
              </a:rPr>
              <a:t> </a:t>
            </a:r>
            <a:r>
              <a:rPr sz="1000" spc="-5" dirty="0">
                <a:latin typeface="Arial"/>
                <a:cs typeface="Arial"/>
              </a:rPr>
              <a:t>communication</a:t>
            </a:r>
            <a:r>
              <a:rPr sz="1000" dirty="0">
                <a:latin typeface="Arial"/>
                <a:cs typeface="Arial"/>
              </a:rPr>
              <a:t> </a:t>
            </a:r>
            <a:r>
              <a:rPr sz="1000" spc="-5" dirty="0">
                <a:latin typeface="Arial"/>
                <a:cs typeface="Arial"/>
              </a:rPr>
              <a:t>efficient, </a:t>
            </a:r>
            <a:r>
              <a:rPr sz="1000" spc="-10" dirty="0">
                <a:latin typeface="Arial"/>
                <a:cs typeface="Arial"/>
              </a:rPr>
              <a:t>but</a:t>
            </a:r>
            <a:r>
              <a:rPr sz="1000" dirty="0">
                <a:latin typeface="Arial"/>
                <a:cs typeface="Arial"/>
              </a:rPr>
              <a:t> </a:t>
            </a:r>
            <a:r>
              <a:rPr sz="1000" spc="-5" dirty="0">
                <a:latin typeface="Arial"/>
                <a:cs typeface="Arial"/>
              </a:rPr>
              <a:t>might</a:t>
            </a:r>
            <a:r>
              <a:rPr sz="1000" dirty="0">
                <a:latin typeface="Arial"/>
                <a:cs typeface="Arial"/>
              </a:rPr>
              <a:t> </a:t>
            </a:r>
            <a:r>
              <a:rPr sz="1000" spc="-10" dirty="0">
                <a:latin typeface="Arial"/>
                <a:cs typeface="Arial"/>
              </a:rPr>
              <a:t>take </a:t>
            </a:r>
            <a:r>
              <a:rPr sz="1000" spc="-265" dirty="0">
                <a:latin typeface="Arial"/>
                <a:cs typeface="Arial"/>
              </a:rPr>
              <a:t> </a:t>
            </a:r>
            <a:r>
              <a:rPr sz="1000" spc="-5" dirty="0">
                <a:latin typeface="Arial"/>
                <a:cs typeface="Arial"/>
              </a:rPr>
              <a:t>longer </a:t>
            </a:r>
            <a:r>
              <a:rPr sz="1000" spc="-10" dirty="0">
                <a:latin typeface="Arial"/>
                <a:cs typeface="Arial"/>
              </a:rPr>
              <a:t>before they</a:t>
            </a:r>
            <a:r>
              <a:rPr sz="1000" spc="-5" dirty="0">
                <a:latin typeface="Arial"/>
                <a:cs typeface="Arial"/>
              </a:rPr>
              <a:t> find the result.</a:t>
            </a:r>
            <a:endParaRPr sz="10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62250"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Decentralized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6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1717675" cy="244475"/>
          </a:xfrm>
          <a:prstGeom prst="rect">
            <a:avLst/>
          </a:prstGeom>
        </p:spPr>
        <p:txBody>
          <a:bodyPr vert="horz" wrap="square" lIns="0" tIns="17145" rIns="0" bIns="0" rtlCol="0">
            <a:spAutoFit/>
          </a:bodyPr>
          <a:lstStyle/>
          <a:p>
            <a:pPr marL="12700">
              <a:lnSpc>
                <a:spcPct val="100000"/>
              </a:lnSpc>
              <a:spcBef>
                <a:spcPts val="135"/>
              </a:spcBef>
            </a:pPr>
            <a:r>
              <a:rPr spc="15" dirty="0"/>
              <a:t>Super-peer</a:t>
            </a:r>
            <a:r>
              <a:rPr spc="-40" dirty="0"/>
              <a:t> </a:t>
            </a:r>
            <a:r>
              <a:rPr spc="15" dirty="0"/>
              <a:t>networks</a:t>
            </a:r>
          </a:p>
        </p:txBody>
      </p:sp>
      <p:sp>
        <p:nvSpPr>
          <p:cNvPr id="4" name="object 4"/>
          <p:cNvSpPr txBox="1"/>
          <p:nvPr/>
        </p:nvSpPr>
        <p:spPr>
          <a:xfrm>
            <a:off x="334594" y="509064"/>
            <a:ext cx="3872865" cy="1188085"/>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25400" marR="54610">
              <a:lnSpc>
                <a:spcPts val="1200"/>
              </a:lnSpc>
              <a:spcBef>
                <a:spcPts val="10"/>
              </a:spcBef>
            </a:pPr>
            <a:r>
              <a:rPr sz="1000" spc="-5" dirty="0">
                <a:latin typeface="Arial"/>
                <a:cs typeface="Arial"/>
              </a:rPr>
              <a:t>It is</a:t>
            </a:r>
            <a:r>
              <a:rPr sz="1000" dirty="0">
                <a:latin typeface="Arial"/>
                <a:cs typeface="Arial"/>
              </a:rPr>
              <a:t> </a:t>
            </a:r>
            <a:r>
              <a:rPr sz="1000" spc="-5" dirty="0">
                <a:latin typeface="Arial"/>
                <a:cs typeface="Arial"/>
              </a:rPr>
              <a:t>sometimes</a:t>
            </a:r>
            <a:r>
              <a:rPr sz="1000" dirty="0">
                <a:latin typeface="Arial"/>
                <a:cs typeface="Arial"/>
              </a:rPr>
              <a:t> </a:t>
            </a:r>
            <a:r>
              <a:rPr sz="1000" spc="-5" dirty="0">
                <a:latin typeface="Arial"/>
                <a:cs typeface="Arial"/>
              </a:rPr>
              <a:t>sensible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break</a:t>
            </a:r>
            <a:r>
              <a:rPr sz="1000" dirty="0">
                <a:latin typeface="Arial"/>
                <a:cs typeface="Arial"/>
              </a:rPr>
              <a:t> </a:t>
            </a:r>
            <a:r>
              <a:rPr sz="1000" spc="-5" dirty="0">
                <a:latin typeface="Arial"/>
                <a:cs typeface="Arial"/>
              </a:rPr>
              <a:t>the</a:t>
            </a:r>
            <a:r>
              <a:rPr sz="1000" dirty="0">
                <a:latin typeface="Arial"/>
                <a:cs typeface="Arial"/>
              </a:rPr>
              <a:t> symmetry </a:t>
            </a:r>
            <a:r>
              <a:rPr sz="1000" spc="-5" dirty="0">
                <a:latin typeface="Arial"/>
                <a:cs typeface="Arial"/>
              </a:rPr>
              <a:t>in pure</a:t>
            </a:r>
            <a:r>
              <a:rPr sz="1000" dirty="0">
                <a:latin typeface="Arial"/>
                <a:cs typeface="Arial"/>
              </a:rPr>
              <a:t> </a:t>
            </a:r>
            <a:r>
              <a:rPr sz="1000" spc="-5" dirty="0">
                <a:latin typeface="Arial"/>
                <a:cs typeface="Arial"/>
              </a:rPr>
              <a:t>peer-to-peer </a:t>
            </a:r>
            <a:r>
              <a:rPr sz="1000" spc="-260" dirty="0">
                <a:latin typeface="Arial"/>
                <a:cs typeface="Arial"/>
              </a:rPr>
              <a:t> </a:t>
            </a:r>
            <a:r>
              <a:rPr sz="1000" spc="-5" dirty="0">
                <a:latin typeface="Arial"/>
                <a:cs typeface="Arial"/>
              </a:rPr>
              <a:t>networks:</a:t>
            </a:r>
            <a:endParaRPr sz="1000" dirty="0">
              <a:latin typeface="Arial"/>
              <a:cs typeface="Arial"/>
            </a:endParaRPr>
          </a:p>
          <a:p>
            <a:pPr marL="302260" marR="227965" indent="-168275">
              <a:lnSpc>
                <a:spcPct val="100000"/>
              </a:lnSpc>
              <a:spcBef>
                <a:spcPts val="550"/>
              </a:spcBef>
              <a:buClr>
                <a:srgbClr val="3333B2"/>
              </a:buClr>
              <a:buChar char="►"/>
              <a:tabLst>
                <a:tab pos="302895" algn="l"/>
              </a:tabLst>
            </a:pPr>
            <a:r>
              <a:rPr sz="1000" spc="-5" dirty="0">
                <a:latin typeface="Arial"/>
                <a:cs typeface="Arial"/>
              </a:rPr>
              <a:t>When</a:t>
            </a:r>
            <a:r>
              <a:rPr sz="1000" dirty="0">
                <a:latin typeface="Arial"/>
                <a:cs typeface="Arial"/>
              </a:rPr>
              <a:t> </a:t>
            </a:r>
            <a:r>
              <a:rPr sz="1000" spc="-5" dirty="0">
                <a:latin typeface="Arial"/>
                <a:cs typeface="Arial"/>
              </a:rPr>
              <a:t>searching</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unstructured</a:t>
            </a:r>
            <a:r>
              <a:rPr sz="1000" dirty="0">
                <a:latin typeface="Arial"/>
                <a:cs typeface="Arial"/>
              </a:rPr>
              <a:t> </a:t>
            </a:r>
            <a:r>
              <a:rPr sz="1000" spc="-5" dirty="0">
                <a:latin typeface="Arial"/>
                <a:cs typeface="Arial"/>
              </a:rPr>
              <a:t>P2P</a:t>
            </a:r>
            <a:r>
              <a:rPr sz="1000" dirty="0">
                <a:latin typeface="Arial"/>
                <a:cs typeface="Arial"/>
              </a:rPr>
              <a:t> </a:t>
            </a:r>
            <a:r>
              <a:rPr sz="1000" spc="-5" dirty="0">
                <a:latin typeface="Arial"/>
                <a:cs typeface="Arial"/>
              </a:rPr>
              <a:t>systems,</a:t>
            </a:r>
            <a:r>
              <a:rPr sz="1000" spc="5" dirty="0">
                <a:latin typeface="Arial"/>
                <a:cs typeface="Arial"/>
              </a:rPr>
              <a:t> </a:t>
            </a:r>
            <a:r>
              <a:rPr sz="1000" spc="-10" dirty="0">
                <a:latin typeface="Arial"/>
                <a:cs typeface="Arial"/>
              </a:rPr>
              <a:t>having</a:t>
            </a:r>
            <a:r>
              <a:rPr sz="1000" dirty="0">
                <a:latin typeface="Arial"/>
                <a:cs typeface="Arial"/>
              </a:rPr>
              <a:t> </a:t>
            </a:r>
            <a:r>
              <a:rPr sz="1000" spc="-10" dirty="0">
                <a:solidFill>
                  <a:srgbClr val="FA0000"/>
                </a:solidFill>
                <a:latin typeface="Arial"/>
                <a:cs typeface="Arial"/>
              </a:rPr>
              <a:t>index </a:t>
            </a:r>
            <a:r>
              <a:rPr sz="1000" spc="-260" dirty="0">
                <a:solidFill>
                  <a:srgbClr val="FA0000"/>
                </a:solidFill>
                <a:latin typeface="Arial"/>
                <a:cs typeface="Arial"/>
              </a:rPr>
              <a:t> </a:t>
            </a:r>
            <a:r>
              <a:rPr sz="1000" spc="-5" dirty="0">
                <a:solidFill>
                  <a:srgbClr val="FA0000"/>
                </a:solidFill>
                <a:latin typeface="Arial"/>
                <a:cs typeface="Arial"/>
              </a:rPr>
              <a:t>servers</a:t>
            </a:r>
            <a:r>
              <a:rPr sz="1000" spc="-10" dirty="0">
                <a:solidFill>
                  <a:srgbClr val="FA0000"/>
                </a:solidFill>
                <a:latin typeface="Arial"/>
                <a:cs typeface="Arial"/>
              </a:rPr>
              <a:t> </a:t>
            </a:r>
            <a:r>
              <a:rPr sz="1000" spc="-10" dirty="0">
                <a:latin typeface="Arial"/>
                <a:cs typeface="Arial"/>
              </a:rPr>
              <a:t>improves</a:t>
            </a:r>
            <a:r>
              <a:rPr sz="1000" spc="-5" dirty="0">
                <a:latin typeface="Arial"/>
                <a:cs typeface="Arial"/>
              </a:rPr>
              <a:t> performance</a:t>
            </a:r>
            <a:endParaRPr sz="1000" dirty="0">
              <a:latin typeface="Arial"/>
              <a:cs typeface="Arial"/>
            </a:endParaRPr>
          </a:p>
          <a:p>
            <a:pPr marL="302260" marR="17780" indent="-168275">
              <a:lnSpc>
                <a:spcPts val="1200"/>
              </a:lnSpc>
              <a:spcBef>
                <a:spcPts val="30"/>
              </a:spcBef>
              <a:buClr>
                <a:srgbClr val="3333B2"/>
              </a:buClr>
              <a:buChar char="►"/>
              <a:tabLst>
                <a:tab pos="302895" algn="l"/>
              </a:tabLst>
            </a:pPr>
            <a:r>
              <a:rPr sz="1000" spc="-5" dirty="0">
                <a:latin typeface="Arial"/>
                <a:cs typeface="Arial"/>
              </a:rPr>
              <a:t>Deciding</a:t>
            </a:r>
            <a:r>
              <a:rPr sz="1000" dirty="0">
                <a:latin typeface="Arial"/>
                <a:cs typeface="Arial"/>
              </a:rPr>
              <a:t> </a:t>
            </a:r>
            <a:r>
              <a:rPr sz="1000" spc="-5" dirty="0">
                <a:latin typeface="Arial"/>
                <a:cs typeface="Arial"/>
              </a:rPr>
              <a:t>where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store</a:t>
            </a:r>
            <a:r>
              <a:rPr sz="1000" spc="5"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often</a:t>
            </a:r>
            <a:r>
              <a:rPr sz="1000" spc="5"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done</a:t>
            </a:r>
            <a:r>
              <a:rPr sz="1000" dirty="0">
                <a:latin typeface="Arial"/>
                <a:cs typeface="Arial"/>
              </a:rPr>
              <a:t> </a:t>
            </a:r>
            <a:r>
              <a:rPr sz="1000" spc="-5" dirty="0">
                <a:latin typeface="Arial"/>
                <a:cs typeface="Arial"/>
              </a:rPr>
              <a:t>more</a:t>
            </a:r>
            <a:r>
              <a:rPr sz="1000" spc="5" dirty="0">
                <a:latin typeface="Arial"/>
                <a:cs typeface="Arial"/>
              </a:rPr>
              <a:t> </a:t>
            </a:r>
            <a:r>
              <a:rPr sz="1000" spc="-5" dirty="0">
                <a:latin typeface="Arial"/>
                <a:cs typeface="Arial"/>
              </a:rPr>
              <a:t>efficiently </a:t>
            </a:r>
            <a:r>
              <a:rPr sz="1000" spc="-265" dirty="0">
                <a:latin typeface="Arial"/>
                <a:cs typeface="Arial"/>
              </a:rPr>
              <a:t> </a:t>
            </a:r>
            <a:r>
              <a:rPr sz="1000" spc="-5" dirty="0">
                <a:latin typeface="Arial"/>
                <a:cs typeface="Arial"/>
              </a:rPr>
              <a:t>through</a:t>
            </a:r>
            <a:r>
              <a:rPr sz="1000" spc="-10" dirty="0">
                <a:latin typeface="Arial"/>
                <a:cs typeface="Arial"/>
              </a:rPr>
              <a:t> </a:t>
            </a:r>
            <a:r>
              <a:rPr sz="1000" spc="-5" dirty="0">
                <a:solidFill>
                  <a:srgbClr val="FA0000"/>
                </a:solidFill>
                <a:latin typeface="Arial"/>
                <a:cs typeface="Arial"/>
              </a:rPr>
              <a:t>brokers</a:t>
            </a:r>
            <a:r>
              <a:rPr sz="1000" spc="-5" dirty="0">
                <a:latin typeface="Arial"/>
                <a:cs typeface="Arial"/>
              </a:rPr>
              <a:t>.</a:t>
            </a:r>
            <a:endParaRPr sz="1000" dirty="0">
              <a:latin typeface="Arial"/>
              <a:cs typeface="Arial"/>
            </a:endParaRPr>
          </a:p>
        </p:txBody>
      </p:sp>
      <p:grpSp>
        <p:nvGrpSpPr>
          <p:cNvPr id="5" name="object 5"/>
          <p:cNvGrpSpPr/>
          <p:nvPr/>
        </p:nvGrpSpPr>
        <p:grpSpPr>
          <a:xfrm>
            <a:off x="1010186" y="1898929"/>
            <a:ext cx="2535555" cy="1181735"/>
            <a:chOff x="1010186" y="1898929"/>
            <a:chExt cx="2535555" cy="1181735"/>
          </a:xfrm>
        </p:grpSpPr>
        <p:sp>
          <p:nvSpPr>
            <p:cNvPr id="6" name="object 6"/>
            <p:cNvSpPr/>
            <p:nvPr/>
          </p:nvSpPr>
          <p:spPr>
            <a:xfrm>
              <a:off x="1055130" y="2384707"/>
              <a:ext cx="274320" cy="264160"/>
            </a:xfrm>
            <a:custGeom>
              <a:avLst/>
              <a:gdLst/>
              <a:ahLst/>
              <a:cxnLst/>
              <a:rect l="l" t="t" r="r" b="b"/>
              <a:pathLst>
                <a:path w="274319" h="264160">
                  <a:moveTo>
                    <a:pt x="115818" y="263541"/>
                  </a:moveTo>
                  <a:lnTo>
                    <a:pt x="273942" y="105418"/>
                  </a:lnTo>
                  <a:lnTo>
                    <a:pt x="115818" y="0"/>
                  </a:lnTo>
                </a:path>
                <a:path w="274319" h="264160">
                  <a:moveTo>
                    <a:pt x="273942" y="263541"/>
                  </a:moveTo>
                  <a:lnTo>
                    <a:pt x="273942" y="105418"/>
                  </a:lnTo>
                </a:path>
                <a:path w="274319" h="264160">
                  <a:moveTo>
                    <a:pt x="0" y="115823"/>
                  </a:moveTo>
                  <a:lnTo>
                    <a:pt x="273942" y="105418"/>
                  </a:lnTo>
                </a:path>
              </a:pathLst>
            </a:custGeom>
            <a:ln w="5270">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1126006" y="2339764"/>
              <a:ext cx="89882" cy="89882"/>
            </a:xfrm>
            <a:prstGeom prst="rect">
              <a:avLst/>
            </a:prstGeom>
          </p:spPr>
        </p:pic>
        <p:pic>
          <p:nvPicPr>
            <p:cNvPr id="8" name="object 8"/>
            <p:cNvPicPr/>
            <p:nvPr/>
          </p:nvPicPr>
          <p:blipFill>
            <a:blip r:embed="rId7" cstate="print"/>
            <a:stretch>
              <a:fillRect/>
            </a:stretch>
          </p:blipFill>
          <p:spPr>
            <a:xfrm>
              <a:off x="1010186" y="2455587"/>
              <a:ext cx="89882" cy="89878"/>
            </a:xfrm>
            <a:prstGeom prst="rect">
              <a:avLst/>
            </a:prstGeom>
          </p:spPr>
        </p:pic>
        <p:pic>
          <p:nvPicPr>
            <p:cNvPr id="9" name="object 9"/>
            <p:cNvPicPr/>
            <p:nvPr/>
          </p:nvPicPr>
          <p:blipFill>
            <a:blip r:embed="rId8" cstate="print"/>
            <a:stretch>
              <a:fillRect/>
            </a:stretch>
          </p:blipFill>
          <p:spPr>
            <a:xfrm>
              <a:off x="1126006" y="2603305"/>
              <a:ext cx="89882" cy="89883"/>
            </a:xfrm>
            <a:prstGeom prst="rect">
              <a:avLst/>
            </a:prstGeom>
          </p:spPr>
        </p:pic>
        <p:pic>
          <p:nvPicPr>
            <p:cNvPr id="10" name="object 10"/>
            <p:cNvPicPr/>
            <p:nvPr/>
          </p:nvPicPr>
          <p:blipFill>
            <a:blip r:embed="rId8" cstate="print"/>
            <a:stretch>
              <a:fillRect/>
            </a:stretch>
          </p:blipFill>
          <p:spPr>
            <a:xfrm>
              <a:off x="1284129" y="2603305"/>
              <a:ext cx="89882" cy="89883"/>
            </a:xfrm>
            <a:prstGeom prst="rect">
              <a:avLst/>
            </a:prstGeom>
          </p:spPr>
        </p:pic>
        <p:sp>
          <p:nvSpPr>
            <p:cNvPr id="11" name="object 11"/>
            <p:cNvSpPr/>
            <p:nvPr/>
          </p:nvSpPr>
          <p:spPr>
            <a:xfrm>
              <a:off x="3184264" y="2700958"/>
              <a:ext cx="264160" cy="274320"/>
            </a:xfrm>
            <a:custGeom>
              <a:avLst/>
              <a:gdLst/>
              <a:ahLst/>
              <a:cxnLst/>
              <a:rect l="l" t="t" r="r" b="b"/>
              <a:pathLst>
                <a:path w="264160" h="274319">
                  <a:moveTo>
                    <a:pt x="263546" y="158123"/>
                  </a:moveTo>
                  <a:lnTo>
                    <a:pt x="105420" y="0"/>
                  </a:lnTo>
                  <a:lnTo>
                    <a:pt x="0" y="158123"/>
                  </a:lnTo>
                </a:path>
                <a:path w="264160" h="274319">
                  <a:moveTo>
                    <a:pt x="263546" y="0"/>
                  </a:moveTo>
                  <a:lnTo>
                    <a:pt x="105420" y="0"/>
                  </a:lnTo>
                </a:path>
                <a:path w="264160" h="274319">
                  <a:moveTo>
                    <a:pt x="115824" y="273942"/>
                  </a:moveTo>
                  <a:lnTo>
                    <a:pt x="105420" y="0"/>
                  </a:lnTo>
                </a:path>
              </a:pathLst>
            </a:custGeom>
            <a:ln w="5270">
              <a:solidFill>
                <a:srgbClr val="231F20"/>
              </a:solidFill>
            </a:ln>
          </p:spPr>
          <p:txBody>
            <a:bodyPr wrap="square" lIns="0" tIns="0" rIns="0" bIns="0" rtlCol="0"/>
            <a:lstStyle/>
            <a:p>
              <a:endParaRPr/>
            </a:p>
          </p:txBody>
        </p:sp>
        <p:pic>
          <p:nvPicPr>
            <p:cNvPr id="12" name="object 12"/>
            <p:cNvPicPr/>
            <p:nvPr/>
          </p:nvPicPr>
          <p:blipFill>
            <a:blip r:embed="rId9" cstate="print"/>
            <a:stretch>
              <a:fillRect/>
            </a:stretch>
          </p:blipFill>
          <p:spPr>
            <a:xfrm>
              <a:off x="3139327" y="2814142"/>
              <a:ext cx="89883" cy="89883"/>
            </a:xfrm>
            <a:prstGeom prst="rect">
              <a:avLst/>
            </a:prstGeom>
          </p:spPr>
        </p:pic>
        <p:pic>
          <p:nvPicPr>
            <p:cNvPr id="13" name="object 13"/>
            <p:cNvPicPr/>
            <p:nvPr/>
          </p:nvPicPr>
          <p:blipFill>
            <a:blip r:embed="rId10" cstate="print"/>
            <a:stretch>
              <a:fillRect/>
            </a:stretch>
          </p:blipFill>
          <p:spPr>
            <a:xfrm>
              <a:off x="3255152" y="2929961"/>
              <a:ext cx="89872" cy="89882"/>
            </a:xfrm>
            <a:prstGeom prst="rect">
              <a:avLst/>
            </a:prstGeom>
          </p:spPr>
        </p:pic>
        <p:pic>
          <p:nvPicPr>
            <p:cNvPr id="14" name="object 14"/>
            <p:cNvPicPr/>
            <p:nvPr/>
          </p:nvPicPr>
          <p:blipFill>
            <a:blip r:embed="rId11" cstate="print"/>
            <a:stretch>
              <a:fillRect/>
            </a:stretch>
          </p:blipFill>
          <p:spPr>
            <a:xfrm>
              <a:off x="3402863" y="2814142"/>
              <a:ext cx="89883" cy="89883"/>
            </a:xfrm>
            <a:prstGeom prst="rect">
              <a:avLst/>
            </a:prstGeom>
          </p:spPr>
        </p:pic>
        <p:pic>
          <p:nvPicPr>
            <p:cNvPr id="15" name="object 15"/>
            <p:cNvPicPr/>
            <p:nvPr/>
          </p:nvPicPr>
          <p:blipFill>
            <a:blip r:embed="rId11" cstate="print"/>
            <a:stretch>
              <a:fillRect/>
            </a:stretch>
          </p:blipFill>
          <p:spPr>
            <a:xfrm>
              <a:off x="3402863" y="2656018"/>
              <a:ext cx="89883" cy="89883"/>
            </a:xfrm>
            <a:prstGeom prst="rect">
              <a:avLst/>
            </a:prstGeom>
          </p:spPr>
        </p:pic>
        <p:sp>
          <p:nvSpPr>
            <p:cNvPr id="16" name="object 16"/>
            <p:cNvSpPr/>
            <p:nvPr/>
          </p:nvSpPr>
          <p:spPr>
            <a:xfrm>
              <a:off x="1329072" y="2173875"/>
              <a:ext cx="2214245" cy="633095"/>
            </a:xfrm>
            <a:custGeom>
              <a:avLst/>
              <a:gdLst/>
              <a:ahLst/>
              <a:cxnLst/>
              <a:rect l="l" t="t" r="r" b="b"/>
              <a:pathLst>
                <a:path w="2214245" h="633094">
                  <a:moveTo>
                    <a:pt x="1106875" y="0"/>
                  </a:moveTo>
                  <a:lnTo>
                    <a:pt x="1176865" y="622"/>
                  </a:lnTo>
                  <a:lnTo>
                    <a:pt x="1245699" y="2464"/>
                  </a:lnTo>
                  <a:lnTo>
                    <a:pt x="1313249" y="5489"/>
                  </a:lnTo>
                  <a:lnTo>
                    <a:pt x="1379383" y="9660"/>
                  </a:lnTo>
                  <a:lnTo>
                    <a:pt x="1443974" y="14939"/>
                  </a:lnTo>
                  <a:lnTo>
                    <a:pt x="1506889" y="21290"/>
                  </a:lnTo>
                  <a:lnTo>
                    <a:pt x="1568001" y="28676"/>
                  </a:lnTo>
                  <a:lnTo>
                    <a:pt x="1627179" y="37059"/>
                  </a:lnTo>
                  <a:lnTo>
                    <a:pt x="1684293" y="46402"/>
                  </a:lnTo>
                  <a:lnTo>
                    <a:pt x="1739214" y="56669"/>
                  </a:lnTo>
                  <a:lnTo>
                    <a:pt x="1791811" y="67822"/>
                  </a:lnTo>
                  <a:lnTo>
                    <a:pt x="1841956" y="79824"/>
                  </a:lnTo>
                  <a:lnTo>
                    <a:pt x="1889518" y="92638"/>
                  </a:lnTo>
                  <a:lnTo>
                    <a:pt x="1934367" y="106227"/>
                  </a:lnTo>
                  <a:lnTo>
                    <a:pt x="1976375" y="120554"/>
                  </a:lnTo>
                  <a:lnTo>
                    <a:pt x="2015410" y="135582"/>
                  </a:lnTo>
                  <a:lnTo>
                    <a:pt x="2051343" y="151274"/>
                  </a:lnTo>
                  <a:lnTo>
                    <a:pt x="2113386" y="184500"/>
                  </a:lnTo>
                  <a:lnTo>
                    <a:pt x="2161464" y="219936"/>
                  </a:lnTo>
                  <a:lnTo>
                    <a:pt x="2194540" y="257286"/>
                  </a:lnTo>
                  <a:lnTo>
                    <a:pt x="2211576" y="296253"/>
                  </a:lnTo>
                  <a:lnTo>
                    <a:pt x="2213754" y="316250"/>
                  </a:lnTo>
                  <a:lnTo>
                    <a:pt x="2211576" y="336247"/>
                  </a:lnTo>
                  <a:lnTo>
                    <a:pt x="2194540" y="375213"/>
                  </a:lnTo>
                  <a:lnTo>
                    <a:pt x="2161464" y="412563"/>
                  </a:lnTo>
                  <a:lnTo>
                    <a:pt x="2113386" y="448000"/>
                  </a:lnTo>
                  <a:lnTo>
                    <a:pt x="2051343" y="481226"/>
                  </a:lnTo>
                  <a:lnTo>
                    <a:pt x="2015410" y="496917"/>
                  </a:lnTo>
                  <a:lnTo>
                    <a:pt x="1976375" y="511945"/>
                  </a:lnTo>
                  <a:lnTo>
                    <a:pt x="1934367" y="526272"/>
                  </a:lnTo>
                  <a:lnTo>
                    <a:pt x="1889518" y="539862"/>
                  </a:lnTo>
                  <a:lnTo>
                    <a:pt x="1841956" y="552676"/>
                  </a:lnTo>
                  <a:lnTo>
                    <a:pt x="1791811" y="564678"/>
                  </a:lnTo>
                  <a:lnTo>
                    <a:pt x="1739214" y="575831"/>
                  </a:lnTo>
                  <a:lnTo>
                    <a:pt x="1684293" y="586097"/>
                  </a:lnTo>
                  <a:lnTo>
                    <a:pt x="1627179" y="595441"/>
                  </a:lnTo>
                  <a:lnTo>
                    <a:pt x="1568001" y="603824"/>
                  </a:lnTo>
                  <a:lnTo>
                    <a:pt x="1506889" y="611210"/>
                  </a:lnTo>
                  <a:lnTo>
                    <a:pt x="1443974" y="617561"/>
                  </a:lnTo>
                  <a:lnTo>
                    <a:pt x="1379383" y="622840"/>
                  </a:lnTo>
                  <a:lnTo>
                    <a:pt x="1313249" y="627011"/>
                  </a:lnTo>
                  <a:lnTo>
                    <a:pt x="1245699" y="630036"/>
                  </a:lnTo>
                  <a:lnTo>
                    <a:pt x="1176865" y="631878"/>
                  </a:lnTo>
                  <a:lnTo>
                    <a:pt x="1106875" y="632501"/>
                  </a:lnTo>
                  <a:lnTo>
                    <a:pt x="1036885" y="631878"/>
                  </a:lnTo>
                  <a:lnTo>
                    <a:pt x="968051" y="630036"/>
                  </a:lnTo>
                  <a:lnTo>
                    <a:pt x="900501" y="627011"/>
                  </a:lnTo>
                  <a:lnTo>
                    <a:pt x="834367" y="622840"/>
                  </a:lnTo>
                  <a:lnTo>
                    <a:pt x="769777" y="617561"/>
                  </a:lnTo>
                  <a:lnTo>
                    <a:pt x="706861" y="611210"/>
                  </a:lnTo>
                  <a:lnTo>
                    <a:pt x="645750" y="603824"/>
                  </a:lnTo>
                  <a:lnTo>
                    <a:pt x="586572" y="595441"/>
                  </a:lnTo>
                  <a:lnTo>
                    <a:pt x="529458" y="586097"/>
                  </a:lnTo>
                  <a:lnTo>
                    <a:pt x="474537" y="575831"/>
                  </a:lnTo>
                  <a:lnTo>
                    <a:pt x="421940" y="564678"/>
                  </a:lnTo>
                  <a:lnTo>
                    <a:pt x="371796" y="552676"/>
                  </a:lnTo>
                  <a:lnTo>
                    <a:pt x="324234" y="539862"/>
                  </a:lnTo>
                  <a:lnTo>
                    <a:pt x="279384" y="526272"/>
                  </a:lnTo>
                  <a:lnTo>
                    <a:pt x="237377" y="511945"/>
                  </a:lnTo>
                  <a:lnTo>
                    <a:pt x="198342" y="496917"/>
                  </a:lnTo>
                  <a:lnTo>
                    <a:pt x="162409" y="481226"/>
                  </a:lnTo>
                  <a:lnTo>
                    <a:pt x="100367" y="448000"/>
                  </a:lnTo>
                  <a:lnTo>
                    <a:pt x="52289" y="412563"/>
                  </a:lnTo>
                  <a:lnTo>
                    <a:pt x="19213" y="375213"/>
                  </a:lnTo>
                  <a:lnTo>
                    <a:pt x="2178" y="336247"/>
                  </a:lnTo>
                  <a:lnTo>
                    <a:pt x="0" y="316250"/>
                  </a:lnTo>
                  <a:lnTo>
                    <a:pt x="2178" y="296253"/>
                  </a:lnTo>
                  <a:lnTo>
                    <a:pt x="19213" y="257286"/>
                  </a:lnTo>
                  <a:lnTo>
                    <a:pt x="52289" y="219936"/>
                  </a:lnTo>
                  <a:lnTo>
                    <a:pt x="100367" y="184500"/>
                  </a:lnTo>
                  <a:lnTo>
                    <a:pt x="162409" y="151274"/>
                  </a:lnTo>
                  <a:lnTo>
                    <a:pt x="198342" y="135582"/>
                  </a:lnTo>
                  <a:lnTo>
                    <a:pt x="237377" y="120554"/>
                  </a:lnTo>
                  <a:lnTo>
                    <a:pt x="279384" y="106227"/>
                  </a:lnTo>
                  <a:lnTo>
                    <a:pt x="324234" y="92638"/>
                  </a:lnTo>
                  <a:lnTo>
                    <a:pt x="371796" y="79824"/>
                  </a:lnTo>
                  <a:lnTo>
                    <a:pt x="421940" y="67822"/>
                  </a:lnTo>
                  <a:lnTo>
                    <a:pt x="474537" y="56669"/>
                  </a:lnTo>
                  <a:lnTo>
                    <a:pt x="529458" y="46402"/>
                  </a:lnTo>
                  <a:lnTo>
                    <a:pt x="586572" y="37059"/>
                  </a:lnTo>
                  <a:lnTo>
                    <a:pt x="645750" y="28676"/>
                  </a:lnTo>
                  <a:lnTo>
                    <a:pt x="706861" y="21290"/>
                  </a:lnTo>
                  <a:lnTo>
                    <a:pt x="769777" y="14939"/>
                  </a:lnTo>
                  <a:lnTo>
                    <a:pt x="834367" y="9660"/>
                  </a:lnTo>
                  <a:lnTo>
                    <a:pt x="900501" y="5489"/>
                  </a:lnTo>
                  <a:lnTo>
                    <a:pt x="968051" y="2464"/>
                  </a:lnTo>
                  <a:lnTo>
                    <a:pt x="1036885" y="622"/>
                  </a:lnTo>
                  <a:lnTo>
                    <a:pt x="1106875" y="0"/>
                  </a:lnTo>
                  <a:close/>
                </a:path>
              </a:pathLst>
            </a:custGeom>
            <a:ln w="5270">
              <a:solidFill>
                <a:srgbClr val="231F20"/>
              </a:solidFill>
              <a:prstDash val="lgDash"/>
            </a:ln>
          </p:spPr>
          <p:txBody>
            <a:bodyPr wrap="square" lIns="0" tIns="0" rIns="0" bIns="0" rtlCol="0"/>
            <a:lstStyle/>
            <a:p>
              <a:endParaRPr/>
            </a:p>
          </p:txBody>
        </p:sp>
        <p:sp>
          <p:nvSpPr>
            <p:cNvPr id="17" name="object 17"/>
            <p:cNvSpPr/>
            <p:nvPr/>
          </p:nvSpPr>
          <p:spPr>
            <a:xfrm>
              <a:off x="1329072" y="2173875"/>
              <a:ext cx="1950720" cy="623570"/>
            </a:xfrm>
            <a:custGeom>
              <a:avLst/>
              <a:gdLst/>
              <a:ahLst/>
              <a:cxnLst/>
              <a:rect l="l" t="t" r="r" b="b"/>
              <a:pathLst>
                <a:path w="1950720" h="623569">
                  <a:moveTo>
                    <a:pt x="0" y="316250"/>
                  </a:moveTo>
                  <a:lnTo>
                    <a:pt x="427064" y="268670"/>
                  </a:lnTo>
                  <a:lnTo>
                    <a:pt x="762763" y="176843"/>
                  </a:lnTo>
                  <a:lnTo>
                    <a:pt x="982338" y="87486"/>
                  </a:lnTo>
                  <a:lnTo>
                    <a:pt x="1061032" y="47318"/>
                  </a:lnTo>
                </a:path>
                <a:path w="1950720" h="623569">
                  <a:moveTo>
                    <a:pt x="0" y="316250"/>
                  </a:moveTo>
                  <a:lnTo>
                    <a:pt x="542020" y="358701"/>
                  </a:lnTo>
                  <a:lnTo>
                    <a:pt x="976453" y="464941"/>
                  </a:lnTo>
                  <a:lnTo>
                    <a:pt x="1265114" y="573652"/>
                  </a:lnTo>
                  <a:lnTo>
                    <a:pt x="1369820" y="623515"/>
                  </a:lnTo>
                </a:path>
                <a:path w="1950720" h="623569">
                  <a:moveTo>
                    <a:pt x="739216" y="614626"/>
                  </a:moveTo>
                  <a:lnTo>
                    <a:pt x="556456" y="464362"/>
                  </a:lnTo>
                  <a:lnTo>
                    <a:pt x="309823" y="373311"/>
                  </a:lnTo>
                  <a:lnTo>
                    <a:pt x="93083" y="328323"/>
                  </a:lnTo>
                  <a:lnTo>
                    <a:pt x="0" y="316250"/>
                  </a:lnTo>
                </a:path>
                <a:path w="1950720" h="623569">
                  <a:moveTo>
                    <a:pt x="477697" y="56040"/>
                  </a:moveTo>
                  <a:lnTo>
                    <a:pt x="948670" y="167703"/>
                  </a:lnTo>
                  <a:lnTo>
                    <a:pt x="1371364" y="159659"/>
                  </a:lnTo>
                  <a:lnTo>
                    <a:pt x="1676086" y="102825"/>
                  </a:lnTo>
                  <a:lnTo>
                    <a:pt x="1793147" y="68121"/>
                  </a:lnTo>
                </a:path>
                <a:path w="1950720" h="623569">
                  <a:moveTo>
                    <a:pt x="1950208" y="527082"/>
                  </a:moveTo>
                  <a:lnTo>
                    <a:pt x="1814483" y="366424"/>
                  </a:lnTo>
                  <a:lnTo>
                    <a:pt x="1772848" y="218539"/>
                  </a:lnTo>
                  <a:lnTo>
                    <a:pt x="1780626" y="110185"/>
                  </a:lnTo>
                  <a:lnTo>
                    <a:pt x="1793147" y="68121"/>
                  </a:lnTo>
                </a:path>
                <a:path w="1950720" h="623569">
                  <a:moveTo>
                    <a:pt x="1950208" y="527082"/>
                  </a:moveTo>
                  <a:lnTo>
                    <a:pt x="1726104" y="497676"/>
                  </a:lnTo>
                  <a:lnTo>
                    <a:pt x="1541420" y="535767"/>
                  </a:lnTo>
                  <a:lnTo>
                    <a:pt x="1416033" y="593623"/>
                  </a:lnTo>
                  <a:lnTo>
                    <a:pt x="1369820" y="623515"/>
                  </a:lnTo>
                </a:path>
                <a:path w="1950720" h="623569">
                  <a:moveTo>
                    <a:pt x="1106875" y="0"/>
                  </a:moveTo>
                  <a:lnTo>
                    <a:pt x="1369820" y="623515"/>
                  </a:lnTo>
                </a:path>
                <a:path w="1950720" h="623569">
                  <a:moveTo>
                    <a:pt x="477697" y="56040"/>
                  </a:moveTo>
                  <a:lnTo>
                    <a:pt x="1369820" y="623515"/>
                  </a:lnTo>
                </a:path>
                <a:path w="1950720" h="623569">
                  <a:moveTo>
                    <a:pt x="739216" y="614626"/>
                  </a:moveTo>
                  <a:lnTo>
                    <a:pt x="1259126" y="470065"/>
                  </a:lnTo>
                  <a:lnTo>
                    <a:pt x="1581945" y="288778"/>
                  </a:lnTo>
                  <a:lnTo>
                    <a:pt x="1746881" y="133789"/>
                  </a:lnTo>
                  <a:lnTo>
                    <a:pt x="1793147" y="68121"/>
                  </a:lnTo>
                </a:path>
                <a:path w="1950720" h="623569">
                  <a:moveTo>
                    <a:pt x="1106875" y="0"/>
                  </a:moveTo>
                  <a:lnTo>
                    <a:pt x="1347523" y="55117"/>
                  </a:lnTo>
                  <a:lnTo>
                    <a:pt x="1568605" y="73592"/>
                  </a:lnTo>
                  <a:lnTo>
                    <a:pt x="1730390" y="72301"/>
                  </a:lnTo>
                  <a:lnTo>
                    <a:pt x="1793147" y="68121"/>
                  </a:lnTo>
                </a:path>
                <a:path w="1950720" h="623569">
                  <a:moveTo>
                    <a:pt x="0" y="316250"/>
                  </a:moveTo>
                  <a:lnTo>
                    <a:pt x="208058" y="253355"/>
                  </a:lnTo>
                  <a:lnTo>
                    <a:pt x="357442" y="166379"/>
                  </a:lnTo>
                  <a:lnTo>
                    <a:pt x="447529" y="89285"/>
                  </a:lnTo>
                  <a:lnTo>
                    <a:pt x="477697" y="56040"/>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12" cstate="print"/>
            <a:stretch>
              <a:fillRect/>
            </a:stretch>
          </p:blipFill>
          <p:spPr>
            <a:xfrm>
              <a:off x="1263187" y="2424240"/>
              <a:ext cx="131770" cy="131770"/>
            </a:xfrm>
            <a:prstGeom prst="rect">
              <a:avLst/>
            </a:prstGeom>
          </p:spPr>
        </p:pic>
        <p:pic>
          <p:nvPicPr>
            <p:cNvPr id="19" name="object 19"/>
            <p:cNvPicPr/>
            <p:nvPr/>
          </p:nvPicPr>
          <p:blipFill>
            <a:blip r:embed="rId13" cstate="print"/>
            <a:stretch>
              <a:fillRect/>
            </a:stretch>
          </p:blipFill>
          <p:spPr>
            <a:xfrm>
              <a:off x="1260551" y="2421604"/>
              <a:ext cx="137041" cy="137041"/>
            </a:xfrm>
            <a:prstGeom prst="rect">
              <a:avLst/>
            </a:prstGeom>
          </p:spPr>
        </p:pic>
        <p:sp>
          <p:nvSpPr>
            <p:cNvPr id="20" name="object 20"/>
            <p:cNvSpPr/>
            <p:nvPr/>
          </p:nvSpPr>
          <p:spPr>
            <a:xfrm>
              <a:off x="1908864" y="2788502"/>
              <a:ext cx="264160" cy="229235"/>
            </a:xfrm>
            <a:custGeom>
              <a:avLst/>
              <a:gdLst/>
              <a:ahLst/>
              <a:cxnLst/>
              <a:rect l="l" t="t" r="r" b="b"/>
              <a:pathLst>
                <a:path w="264160" h="229235">
                  <a:moveTo>
                    <a:pt x="105418" y="228706"/>
                  </a:moveTo>
                  <a:lnTo>
                    <a:pt x="159424" y="0"/>
                  </a:lnTo>
                  <a:lnTo>
                    <a:pt x="0" y="123288"/>
                  </a:lnTo>
                </a:path>
                <a:path w="264160" h="229235">
                  <a:moveTo>
                    <a:pt x="263537" y="175997"/>
                  </a:moveTo>
                  <a:lnTo>
                    <a:pt x="159424" y="0"/>
                  </a:lnTo>
                </a:path>
              </a:pathLst>
            </a:custGeom>
            <a:ln w="5270">
              <a:solidFill>
                <a:srgbClr val="231F20"/>
              </a:solidFill>
            </a:ln>
          </p:spPr>
          <p:txBody>
            <a:bodyPr wrap="square" lIns="0" tIns="0" rIns="0" bIns="0" rtlCol="0"/>
            <a:lstStyle/>
            <a:p>
              <a:endParaRPr/>
            </a:p>
          </p:txBody>
        </p:sp>
        <p:sp>
          <p:nvSpPr>
            <p:cNvPr id="21" name="object 21"/>
            <p:cNvSpPr/>
            <p:nvPr/>
          </p:nvSpPr>
          <p:spPr>
            <a:xfrm>
              <a:off x="1866556" y="2869482"/>
              <a:ext cx="85090" cy="85090"/>
            </a:xfrm>
            <a:custGeom>
              <a:avLst/>
              <a:gdLst/>
              <a:ahLst/>
              <a:cxnLst/>
              <a:rect l="l" t="t" r="r" b="b"/>
              <a:pathLst>
                <a:path w="85089" h="85089">
                  <a:moveTo>
                    <a:pt x="42307" y="0"/>
                  </a:moveTo>
                  <a:lnTo>
                    <a:pt x="25840" y="3325"/>
                  </a:lnTo>
                  <a:lnTo>
                    <a:pt x="12392" y="12393"/>
                  </a:lnTo>
                  <a:lnTo>
                    <a:pt x="3325" y="25841"/>
                  </a:lnTo>
                  <a:lnTo>
                    <a:pt x="0" y="42308"/>
                  </a:lnTo>
                  <a:lnTo>
                    <a:pt x="3325" y="58774"/>
                  </a:lnTo>
                  <a:lnTo>
                    <a:pt x="12392" y="72221"/>
                  </a:lnTo>
                  <a:lnTo>
                    <a:pt x="25840" y="81288"/>
                  </a:lnTo>
                  <a:lnTo>
                    <a:pt x="42307" y="84612"/>
                  </a:lnTo>
                  <a:lnTo>
                    <a:pt x="58772" y="81288"/>
                  </a:lnTo>
                  <a:lnTo>
                    <a:pt x="72219" y="72221"/>
                  </a:lnTo>
                  <a:lnTo>
                    <a:pt x="81286" y="58774"/>
                  </a:lnTo>
                  <a:lnTo>
                    <a:pt x="84611" y="42308"/>
                  </a:lnTo>
                  <a:lnTo>
                    <a:pt x="81286" y="25841"/>
                  </a:lnTo>
                  <a:lnTo>
                    <a:pt x="72219" y="12393"/>
                  </a:lnTo>
                  <a:lnTo>
                    <a:pt x="58772" y="3325"/>
                  </a:lnTo>
                  <a:lnTo>
                    <a:pt x="42307" y="0"/>
                  </a:lnTo>
                  <a:close/>
                </a:path>
              </a:pathLst>
            </a:custGeom>
            <a:solidFill>
              <a:srgbClr val="D1D3D4"/>
            </a:solidFill>
          </p:spPr>
          <p:txBody>
            <a:bodyPr wrap="square" lIns="0" tIns="0" rIns="0" bIns="0" rtlCol="0"/>
            <a:lstStyle/>
            <a:p>
              <a:endParaRPr/>
            </a:p>
          </p:txBody>
        </p:sp>
        <p:sp>
          <p:nvSpPr>
            <p:cNvPr id="22" name="object 22"/>
            <p:cNvSpPr/>
            <p:nvPr/>
          </p:nvSpPr>
          <p:spPr>
            <a:xfrm>
              <a:off x="1866556" y="2869482"/>
              <a:ext cx="85090" cy="85090"/>
            </a:xfrm>
            <a:custGeom>
              <a:avLst/>
              <a:gdLst/>
              <a:ahLst/>
              <a:cxnLst/>
              <a:rect l="l" t="t" r="r" b="b"/>
              <a:pathLst>
                <a:path w="85089" h="85089">
                  <a:moveTo>
                    <a:pt x="42307" y="0"/>
                  </a:moveTo>
                  <a:lnTo>
                    <a:pt x="58772" y="3325"/>
                  </a:lnTo>
                  <a:lnTo>
                    <a:pt x="72219" y="12393"/>
                  </a:lnTo>
                  <a:lnTo>
                    <a:pt x="81286" y="25841"/>
                  </a:lnTo>
                  <a:lnTo>
                    <a:pt x="84611" y="42308"/>
                  </a:lnTo>
                  <a:lnTo>
                    <a:pt x="81286" y="58774"/>
                  </a:lnTo>
                  <a:lnTo>
                    <a:pt x="72219" y="72221"/>
                  </a:lnTo>
                  <a:lnTo>
                    <a:pt x="58772" y="81288"/>
                  </a:lnTo>
                  <a:lnTo>
                    <a:pt x="42307" y="84612"/>
                  </a:lnTo>
                  <a:lnTo>
                    <a:pt x="25840" y="81288"/>
                  </a:lnTo>
                  <a:lnTo>
                    <a:pt x="12392" y="72221"/>
                  </a:lnTo>
                  <a:lnTo>
                    <a:pt x="3325" y="58774"/>
                  </a:lnTo>
                  <a:lnTo>
                    <a:pt x="0" y="42308"/>
                  </a:lnTo>
                  <a:lnTo>
                    <a:pt x="3325" y="25841"/>
                  </a:lnTo>
                  <a:lnTo>
                    <a:pt x="12392" y="12393"/>
                  </a:lnTo>
                  <a:lnTo>
                    <a:pt x="25840" y="3325"/>
                  </a:lnTo>
                  <a:lnTo>
                    <a:pt x="42307" y="0"/>
                  </a:lnTo>
                  <a:close/>
                </a:path>
              </a:pathLst>
            </a:custGeom>
            <a:ln w="5270">
              <a:solidFill>
                <a:srgbClr val="231F20"/>
              </a:solidFill>
            </a:ln>
          </p:spPr>
          <p:txBody>
            <a:bodyPr wrap="square" lIns="0" tIns="0" rIns="0" bIns="0" rtlCol="0"/>
            <a:lstStyle/>
            <a:p>
              <a:endParaRPr/>
            </a:p>
          </p:txBody>
        </p:sp>
        <p:sp>
          <p:nvSpPr>
            <p:cNvPr id="23" name="object 23"/>
            <p:cNvSpPr/>
            <p:nvPr/>
          </p:nvSpPr>
          <p:spPr>
            <a:xfrm>
              <a:off x="1971975" y="2974900"/>
              <a:ext cx="85090" cy="85090"/>
            </a:xfrm>
            <a:custGeom>
              <a:avLst/>
              <a:gdLst/>
              <a:ahLst/>
              <a:cxnLst/>
              <a:rect l="l" t="t" r="r" b="b"/>
              <a:pathLst>
                <a:path w="85089" h="85089">
                  <a:moveTo>
                    <a:pt x="42307" y="0"/>
                  </a:moveTo>
                  <a:lnTo>
                    <a:pt x="25840" y="3325"/>
                  </a:lnTo>
                  <a:lnTo>
                    <a:pt x="12392" y="12392"/>
                  </a:lnTo>
                  <a:lnTo>
                    <a:pt x="3325" y="25840"/>
                  </a:lnTo>
                  <a:lnTo>
                    <a:pt x="0" y="42307"/>
                  </a:lnTo>
                  <a:lnTo>
                    <a:pt x="3325" y="58772"/>
                  </a:lnTo>
                  <a:lnTo>
                    <a:pt x="12392" y="72219"/>
                  </a:lnTo>
                  <a:lnTo>
                    <a:pt x="25840" y="81286"/>
                  </a:lnTo>
                  <a:lnTo>
                    <a:pt x="42307" y="84611"/>
                  </a:lnTo>
                  <a:lnTo>
                    <a:pt x="58772" y="81286"/>
                  </a:lnTo>
                  <a:lnTo>
                    <a:pt x="72219" y="72219"/>
                  </a:lnTo>
                  <a:lnTo>
                    <a:pt x="81287" y="58772"/>
                  </a:lnTo>
                  <a:lnTo>
                    <a:pt x="84612" y="42307"/>
                  </a:lnTo>
                  <a:lnTo>
                    <a:pt x="81287" y="25840"/>
                  </a:lnTo>
                  <a:lnTo>
                    <a:pt x="72219" y="12392"/>
                  </a:lnTo>
                  <a:lnTo>
                    <a:pt x="58772" y="3325"/>
                  </a:lnTo>
                  <a:lnTo>
                    <a:pt x="42307" y="0"/>
                  </a:lnTo>
                  <a:close/>
                </a:path>
              </a:pathLst>
            </a:custGeom>
            <a:solidFill>
              <a:srgbClr val="D1D3D4"/>
            </a:solidFill>
          </p:spPr>
          <p:txBody>
            <a:bodyPr wrap="square" lIns="0" tIns="0" rIns="0" bIns="0" rtlCol="0"/>
            <a:lstStyle/>
            <a:p>
              <a:endParaRPr/>
            </a:p>
          </p:txBody>
        </p:sp>
        <p:sp>
          <p:nvSpPr>
            <p:cNvPr id="24" name="object 24"/>
            <p:cNvSpPr/>
            <p:nvPr/>
          </p:nvSpPr>
          <p:spPr>
            <a:xfrm>
              <a:off x="1971975" y="2974900"/>
              <a:ext cx="85090" cy="85090"/>
            </a:xfrm>
            <a:custGeom>
              <a:avLst/>
              <a:gdLst/>
              <a:ahLst/>
              <a:cxnLst/>
              <a:rect l="l" t="t" r="r" b="b"/>
              <a:pathLst>
                <a:path w="85089" h="85089">
                  <a:moveTo>
                    <a:pt x="42307" y="0"/>
                  </a:moveTo>
                  <a:lnTo>
                    <a:pt x="58772" y="3325"/>
                  </a:lnTo>
                  <a:lnTo>
                    <a:pt x="72219" y="12392"/>
                  </a:lnTo>
                  <a:lnTo>
                    <a:pt x="81287" y="25840"/>
                  </a:lnTo>
                  <a:lnTo>
                    <a:pt x="84612" y="42307"/>
                  </a:lnTo>
                  <a:lnTo>
                    <a:pt x="81287" y="58772"/>
                  </a:lnTo>
                  <a:lnTo>
                    <a:pt x="72219" y="72219"/>
                  </a:lnTo>
                  <a:lnTo>
                    <a:pt x="58772" y="81286"/>
                  </a:lnTo>
                  <a:lnTo>
                    <a:pt x="42307" y="84611"/>
                  </a:lnTo>
                  <a:lnTo>
                    <a:pt x="25840" y="81286"/>
                  </a:lnTo>
                  <a:lnTo>
                    <a:pt x="12392" y="72219"/>
                  </a:lnTo>
                  <a:lnTo>
                    <a:pt x="3325" y="58772"/>
                  </a:lnTo>
                  <a:lnTo>
                    <a:pt x="0" y="42307"/>
                  </a:lnTo>
                  <a:lnTo>
                    <a:pt x="3325" y="25840"/>
                  </a:lnTo>
                  <a:lnTo>
                    <a:pt x="12392" y="12392"/>
                  </a:lnTo>
                  <a:lnTo>
                    <a:pt x="25840" y="3325"/>
                  </a:lnTo>
                  <a:lnTo>
                    <a:pt x="42307" y="0"/>
                  </a:lnTo>
                  <a:close/>
                </a:path>
              </a:pathLst>
            </a:custGeom>
            <a:ln w="5270">
              <a:solidFill>
                <a:srgbClr val="231F20"/>
              </a:solidFill>
            </a:ln>
          </p:spPr>
          <p:txBody>
            <a:bodyPr wrap="square" lIns="0" tIns="0" rIns="0" bIns="0" rtlCol="0"/>
            <a:lstStyle/>
            <a:p>
              <a:endParaRPr/>
            </a:p>
          </p:txBody>
        </p:sp>
        <p:sp>
          <p:nvSpPr>
            <p:cNvPr id="25" name="object 25"/>
            <p:cNvSpPr/>
            <p:nvPr/>
          </p:nvSpPr>
          <p:spPr>
            <a:xfrm>
              <a:off x="2130100" y="2922191"/>
              <a:ext cx="85090" cy="85090"/>
            </a:xfrm>
            <a:custGeom>
              <a:avLst/>
              <a:gdLst/>
              <a:ahLst/>
              <a:cxnLst/>
              <a:rect l="l" t="t" r="r" b="b"/>
              <a:pathLst>
                <a:path w="85089" h="85089">
                  <a:moveTo>
                    <a:pt x="42301" y="0"/>
                  </a:moveTo>
                  <a:lnTo>
                    <a:pt x="25836" y="3325"/>
                  </a:lnTo>
                  <a:lnTo>
                    <a:pt x="12390" y="12393"/>
                  </a:lnTo>
                  <a:lnTo>
                    <a:pt x="3324" y="25841"/>
                  </a:lnTo>
                  <a:lnTo>
                    <a:pt x="0" y="42308"/>
                  </a:lnTo>
                  <a:lnTo>
                    <a:pt x="3324" y="58772"/>
                  </a:lnTo>
                  <a:lnTo>
                    <a:pt x="12390" y="72219"/>
                  </a:lnTo>
                  <a:lnTo>
                    <a:pt x="25836" y="81286"/>
                  </a:lnTo>
                  <a:lnTo>
                    <a:pt x="42301" y="84611"/>
                  </a:lnTo>
                  <a:lnTo>
                    <a:pt x="58766" y="81286"/>
                  </a:lnTo>
                  <a:lnTo>
                    <a:pt x="72216" y="72219"/>
                  </a:lnTo>
                  <a:lnTo>
                    <a:pt x="81286" y="58772"/>
                  </a:lnTo>
                  <a:lnTo>
                    <a:pt x="84612" y="42308"/>
                  </a:lnTo>
                  <a:lnTo>
                    <a:pt x="81286" y="25841"/>
                  </a:lnTo>
                  <a:lnTo>
                    <a:pt x="72216" y="12393"/>
                  </a:lnTo>
                  <a:lnTo>
                    <a:pt x="58766" y="3325"/>
                  </a:lnTo>
                  <a:lnTo>
                    <a:pt x="42301" y="0"/>
                  </a:lnTo>
                  <a:close/>
                </a:path>
              </a:pathLst>
            </a:custGeom>
            <a:solidFill>
              <a:srgbClr val="D1D3D4"/>
            </a:solidFill>
          </p:spPr>
          <p:txBody>
            <a:bodyPr wrap="square" lIns="0" tIns="0" rIns="0" bIns="0" rtlCol="0"/>
            <a:lstStyle/>
            <a:p>
              <a:endParaRPr/>
            </a:p>
          </p:txBody>
        </p:sp>
        <p:sp>
          <p:nvSpPr>
            <p:cNvPr id="26" name="object 26"/>
            <p:cNvSpPr/>
            <p:nvPr/>
          </p:nvSpPr>
          <p:spPr>
            <a:xfrm>
              <a:off x="1646261" y="2003107"/>
              <a:ext cx="568960" cy="1003935"/>
            </a:xfrm>
            <a:custGeom>
              <a:avLst/>
              <a:gdLst/>
              <a:ahLst/>
              <a:cxnLst/>
              <a:rect l="l" t="t" r="r" b="b"/>
              <a:pathLst>
                <a:path w="568960" h="1003935">
                  <a:moveTo>
                    <a:pt x="526140" y="919084"/>
                  </a:moveTo>
                  <a:lnTo>
                    <a:pt x="542605" y="922409"/>
                  </a:lnTo>
                  <a:lnTo>
                    <a:pt x="556055" y="931477"/>
                  </a:lnTo>
                  <a:lnTo>
                    <a:pt x="565125" y="944925"/>
                  </a:lnTo>
                  <a:lnTo>
                    <a:pt x="568451" y="961392"/>
                  </a:lnTo>
                  <a:lnTo>
                    <a:pt x="565125" y="977857"/>
                  </a:lnTo>
                  <a:lnTo>
                    <a:pt x="556055" y="991304"/>
                  </a:lnTo>
                  <a:lnTo>
                    <a:pt x="542605" y="1000371"/>
                  </a:lnTo>
                  <a:lnTo>
                    <a:pt x="526140" y="1003696"/>
                  </a:lnTo>
                  <a:lnTo>
                    <a:pt x="509676" y="1000371"/>
                  </a:lnTo>
                  <a:lnTo>
                    <a:pt x="496230" y="991304"/>
                  </a:lnTo>
                  <a:lnTo>
                    <a:pt x="487163" y="977857"/>
                  </a:lnTo>
                  <a:lnTo>
                    <a:pt x="483839" y="961392"/>
                  </a:lnTo>
                  <a:lnTo>
                    <a:pt x="487163" y="944925"/>
                  </a:lnTo>
                  <a:lnTo>
                    <a:pt x="496230" y="931477"/>
                  </a:lnTo>
                  <a:lnTo>
                    <a:pt x="509676" y="922409"/>
                  </a:lnTo>
                  <a:lnTo>
                    <a:pt x="526140" y="919084"/>
                  </a:lnTo>
                  <a:close/>
                </a:path>
                <a:path w="568960" h="1003935">
                  <a:moveTo>
                    <a:pt x="105414" y="0"/>
                  </a:moveTo>
                  <a:lnTo>
                    <a:pt x="159425" y="228707"/>
                  </a:lnTo>
                  <a:lnTo>
                    <a:pt x="0" y="105422"/>
                  </a:lnTo>
                </a:path>
                <a:path w="568960" h="1003935">
                  <a:moveTo>
                    <a:pt x="263541" y="52713"/>
                  </a:moveTo>
                  <a:lnTo>
                    <a:pt x="159425" y="228707"/>
                  </a:lnTo>
                </a:path>
              </a:pathLst>
            </a:custGeom>
            <a:ln w="5270">
              <a:solidFill>
                <a:srgbClr val="231F20"/>
              </a:solidFill>
            </a:ln>
          </p:spPr>
          <p:txBody>
            <a:bodyPr wrap="square" lIns="0" tIns="0" rIns="0" bIns="0" rtlCol="0"/>
            <a:lstStyle/>
            <a:p>
              <a:endParaRPr/>
            </a:p>
          </p:txBody>
        </p:sp>
        <p:sp>
          <p:nvSpPr>
            <p:cNvPr id="27" name="object 27"/>
            <p:cNvSpPr/>
            <p:nvPr/>
          </p:nvSpPr>
          <p:spPr>
            <a:xfrm>
              <a:off x="1603954" y="2066221"/>
              <a:ext cx="85090" cy="85090"/>
            </a:xfrm>
            <a:custGeom>
              <a:avLst/>
              <a:gdLst/>
              <a:ahLst/>
              <a:cxnLst/>
              <a:rect l="l" t="t" r="r" b="b"/>
              <a:pathLst>
                <a:path w="85089" h="85089">
                  <a:moveTo>
                    <a:pt x="42307" y="0"/>
                  </a:moveTo>
                  <a:lnTo>
                    <a:pt x="25840" y="3325"/>
                  </a:lnTo>
                  <a:lnTo>
                    <a:pt x="12392" y="12392"/>
                  </a:lnTo>
                  <a:lnTo>
                    <a:pt x="3325" y="25840"/>
                  </a:lnTo>
                  <a:lnTo>
                    <a:pt x="0" y="42308"/>
                  </a:lnTo>
                  <a:lnTo>
                    <a:pt x="3325" y="58774"/>
                  </a:lnTo>
                  <a:lnTo>
                    <a:pt x="12392" y="72221"/>
                  </a:lnTo>
                  <a:lnTo>
                    <a:pt x="25840" y="81287"/>
                  </a:lnTo>
                  <a:lnTo>
                    <a:pt x="42307" y="84611"/>
                  </a:lnTo>
                  <a:lnTo>
                    <a:pt x="58772" y="81287"/>
                  </a:lnTo>
                  <a:lnTo>
                    <a:pt x="72219" y="72221"/>
                  </a:lnTo>
                  <a:lnTo>
                    <a:pt x="81286" y="58774"/>
                  </a:lnTo>
                  <a:lnTo>
                    <a:pt x="84611" y="42308"/>
                  </a:lnTo>
                  <a:lnTo>
                    <a:pt x="81286" y="25840"/>
                  </a:lnTo>
                  <a:lnTo>
                    <a:pt x="72219" y="12392"/>
                  </a:lnTo>
                  <a:lnTo>
                    <a:pt x="58772" y="3325"/>
                  </a:lnTo>
                  <a:lnTo>
                    <a:pt x="42307" y="0"/>
                  </a:lnTo>
                  <a:close/>
                </a:path>
              </a:pathLst>
            </a:custGeom>
            <a:solidFill>
              <a:srgbClr val="D1D3D4"/>
            </a:solidFill>
          </p:spPr>
          <p:txBody>
            <a:bodyPr wrap="square" lIns="0" tIns="0" rIns="0" bIns="0" rtlCol="0"/>
            <a:lstStyle/>
            <a:p>
              <a:endParaRPr/>
            </a:p>
          </p:txBody>
        </p:sp>
        <p:sp>
          <p:nvSpPr>
            <p:cNvPr id="28" name="object 28"/>
            <p:cNvSpPr/>
            <p:nvPr/>
          </p:nvSpPr>
          <p:spPr>
            <a:xfrm>
              <a:off x="1603954" y="2066221"/>
              <a:ext cx="85090" cy="85090"/>
            </a:xfrm>
            <a:custGeom>
              <a:avLst/>
              <a:gdLst/>
              <a:ahLst/>
              <a:cxnLst/>
              <a:rect l="l" t="t" r="r" b="b"/>
              <a:pathLst>
                <a:path w="85089" h="85089">
                  <a:moveTo>
                    <a:pt x="42307" y="84611"/>
                  </a:moveTo>
                  <a:lnTo>
                    <a:pt x="58772" y="81287"/>
                  </a:lnTo>
                  <a:lnTo>
                    <a:pt x="72219" y="72221"/>
                  </a:lnTo>
                  <a:lnTo>
                    <a:pt x="81286" y="58774"/>
                  </a:lnTo>
                  <a:lnTo>
                    <a:pt x="84611" y="42308"/>
                  </a:lnTo>
                  <a:lnTo>
                    <a:pt x="81286" y="25840"/>
                  </a:lnTo>
                  <a:lnTo>
                    <a:pt x="72219" y="12392"/>
                  </a:lnTo>
                  <a:lnTo>
                    <a:pt x="58772" y="3325"/>
                  </a:lnTo>
                  <a:lnTo>
                    <a:pt x="42307" y="0"/>
                  </a:lnTo>
                  <a:lnTo>
                    <a:pt x="25840" y="3325"/>
                  </a:lnTo>
                  <a:lnTo>
                    <a:pt x="12392" y="12392"/>
                  </a:lnTo>
                  <a:lnTo>
                    <a:pt x="3325" y="25840"/>
                  </a:lnTo>
                  <a:lnTo>
                    <a:pt x="0" y="42308"/>
                  </a:lnTo>
                  <a:lnTo>
                    <a:pt x="3325" y="58774"/>
                  </a:lnTo>
                  <a:lnTo>
                    <a:pt x="12392" y="72221"/>
                  </a:lnTo>
                  <a:lnTo>
                    <a:pt x="25840" y="81287"/>
                  </a:lnTo>
                  <a:lnTo>
                    <a:pt x="42307" y="84611"/>
                  </a:lnTo>
                  <a:close/>
                </a:path>
              </a:pathLst>
            </a:custGeom>
            <a:ln w="5270">
              <a:solidFill>
                <a:srgbClr val="231F20"/>
              </a:solidFill>
            </a:ln>
          </p:spPr>
          <p:txBody>
            <a:bodyPr wrap="square" lIns="0" tIns="0" rIns="0" bIns="0" rtlCol="0"/>
            <a:lstStyle/>
            <a:p>
              <a:endParaRPr/>
            </a:p>
          </p:txBody>
        </p:sp>
        <p:sp>
          <p:nvSpPr>
            <p:cNvPr id="29" name="object 29"/>
            <p:cNvSpPr/>
            <p:nvPr/>
          </p:nvSpPr>
          <p:spPr>
            <a:xfrm>
              <a:off x="1709372" y="1960806"/>
              <a:ext cx="85090" cy="85090"/>
            </a:xfrm>
            <a:custGeom>
              <a:avLst/>
              <a:gdLst/>
              <a:ahLst/>
              <a:cxnLst/>
              <a:rect l="l" t="t" r="r" b="b"/>
              <a:pathLst>
                <a:path w="85089" h="85089">
                  <a:moveTo>
                    <a:pt x="42303" y="0"/>
                  </a:moveTo>
                  <a:lnTo>
                    <a:pt x="25836" y="3324"/>
                  </a:lnTo>
                  <a:lnTo>
                    <a:pt x="12390" y="12390"/>
                  </a:lnTo>
                  <a:lnTo>
                    <a:pt x="3324" y="25836"/>
                  </a:lnTo>
                  <a:lnTo>
                    <a:pt x="0" y="42301"/>
                  </a:lnTo>
                  <a:lnTo>
                    <a:pt x="3324" y="58771"/>
                  </a:lnTo>
                  <a:lnTo>
                    <a:pt x="12390" y="72220"/>
                  </a:lnTo>
                  <a:lnTo>
                    <a:pt x="25836" y="81287"/>
                  </a:lnTo>
                  <a:lnTo>
                    <a:pt x="42303" y="84612"/>
                  </a:lnTo>
                  <a:lnTo>
                    <a:pt x="58769" y="81287"/>
                  </a:lnTo>
                  <a:lnTo>
                    <a:pt x="72216" y="72220"/>
                  </a:lnTo>
                  <a:lnTo>
                    <a:pt x="81282" y="58771"/>
                  </a:lnTo>
                  <a:lnTo>
                    <a:pt x="84607" y="42301"/>
                  </a:lnTo>
                  <a:lnTo>
                    <a:pt x="81282" y="25836"/>
                  </a:lnTo>
                  <a:lnTo>
                    <a:pt x="72216" y="12390"/>
                  </a:lnTo>
                  <a:lnTo>
                    <a:pt x="58769" y="3324"/>
                  </a:lnTo>
                  <a:lnTo>
                    <a:pt x="42303" y="0"/>
                  </a:lnTo>
                  <a:close/>
                </a:path>
              </a:pathLst>
            </a:custGeom>
            <a:solidFill>
              <a:srgbClr val="D1D3D4"/>
            </a:solidFill>
          </p:spPr>
          <p:txBody>
            <a:bodyPr wrap="square" lIns="0" tIns="0" rIns="0" bIns="0" rtlCol="0"/>
            <a:lstStyle/>
            <a:p>
              <a:endParaRPr/>
            </a:p>
          </p:txBody>
        </p:sp>
        <p:sp>
          <p:nvSpPr>
            <p:cNvPr id="30" name="object 30"/>
            <p:cNvSpPr/>
            <p:nvPr/>
          </p:nvSpPr>
          <p:spPr>
            <a:xfrm>
              <a:off x="1709372" y="1960806"/>
              <a:ext cx="85090" cy="85090"/>
            </a:xfrm>
            <a:custGeom>
              <a:avLst/>
              <a:gdLst/>
              <a:ahLst/>
              <a:cxnLst/>
              <a:rect l="l" t="t" r="r" b="b"/>
              <a:pathLst>
                <a:path w="85089" h="85089">
                  <a:moveTo>
                    <a:pt x="42303" y="84612"/>
                  </a:moveTo>
                  <a:lnTo>
                    <a:pt x="58769" y="81287"/>
                  </a:lnTo>
                  <a:lnTo>
                    <a:pt x="72216" y="72220"/>
                  </a:lnTo>
                  <a:lnTo>
                    <a:pt x="81282" y="58771"/>
                  </a:lnTo>
                  <a:lnTo>
                    <a:pt x="84607" y="42301"/>
                  </a:lnTo>
                  <a:lnTo>
                    <a:pt x="81282" y="25836"/>
                  </a:lnTo>
                  <a:lnTo>
                    <a:pt x="72216" y="12390"/>
                  </a:lnTo>
                  <a:lnTo>
                    <a:pt x="58769" y="3324"/>
                  </a:lnTo>
                  <a:lnTo>
                    <a:pt x="42303" y="0"/>
                  </a:lnTo>
                  <a:lnTo>
                    <a:pt x="25836" y="3324"/>
                  </a:lnTo>
                  <a:lnTo>
                    <a:pt x="12390" y="12390"/>
                  </a:lnTo>
                  <a:lnTo>
                    <a:pt x="3324" y="25836"/>
                  </a:lnTo>
                  <a:lnTo>
                    <a:pt x="0" y="42301"/>
                  </a:lnTo>
                  <a:lnTo>
                    <a:pt x="3324" y="58771"/>
                  </a:lnTo>
                  <a:lnTo>
                    <a:pt x="12390" y="72220"/>
                  </a:lnTo>
                  <a:lnTo>
                    <a:pt x="25836" y="81287"/>
                  </a:lnTo>
                  <a:lnTo>
                    <a:pt x="42303" y="84612"/>
                  </a:lnTo>
                  <a:close/>
                </a:path>
              </a:pathLst>
            </a:custGeom>
            <a:ln w="5270">
              <a:solidFill>
                <a:srgbClr val="231F20"/>
              </a:solidFill>
            </a:ln>
          </p:spPr>
          <p:txBody>
            <a:bodyPr wrap="square" lIns="0" tIns="0" rIns="0" bIns="0" rtlCol="0"/>
            <a:lstStyle/>
            <a:p>
              <a:endParaRPr/>
            </a:p>
          </p:txBody>
        </p:sp>
        <p:sp>
          <p:nvSpPr>
            <p:cNvPr id="31" name="object 31"/>
            <p:cNvSpPr/>
            <p:nvPr/>
          </p:nvSpPr>
          <p:spPr>
            <a:xfrm>
              <a:off x="1867495" y="2013511"/>
              <a:ext cx="85090" cy="85090"/>
            </a:xfrm>
            <a:custGeom>
              <a:avLst/>
              <a:gdLst/>
              <a:ahLst/>
              <a:cxnLst/>
              <a:rect l="l" t="t" r="r" b="b"/>
              <a:pathLst>
                <a:path w="85089" h="85089">
                  <a:moveTo>
                    <a:pt x="42308" y="0"/>
                  </a:moveTo>
                  <a:lnTo>
                    <a:pt x="25841" y="3325"/>
                  </a:lnTo>
                  <a:lnTo>
                    <a:pt x="12393" y="12393"/>
                  </a:lnTo>
                  <a:lnTo>
                    <a:pt x="3325" y="25842"/>
                  </a:lnTo>
                  <a:lnTo>
                    <a:pt x="0" y="42309"/>
                  </a:lnTo>
                  <a:lnTo>
                    <a:pt x="3325" y="58775"/>
                  </a:lnTo>
                  <a:lnTo>
                    <a:pt x="12393" y="72222"/>
                  </a:lnTo>
                  <a:lnTo>
                    <a:pt x="25841" y="81288"/>
                  </a:lnTo>
                  <a:lnTo>
                    <a:pt x="42308" y="84612"/>
                  </a:lnTo>
                  <a:lnTo>
                    <a:pt x="58772" y="81288"/>
                  </a:lnTo>
                  <a:lnTo>
                    <a:pt x="72220" y="72222"/>
                  </a:lnTo>
                  <a:lnTo>
                    <a:pt x="81287" y="58775"/>
                  </a:lnTo>
                  <a:lnTo>
                    <a:pt x="84612" y="42309"/>
                  </a:lnTo>
                  <a:lnTo>
                    <a:pt x="81287" y="25842"/>
                  </a:lnTo>
                  <a:lnTo>
                    <a:pt x="72220" y="12393"/>
                  </a:lnTo>
                  <a:lnTo>
                    <a:pt x="58772" y="3325"/>
                  </a:lnTo>
                  <a:lnTo>
                    <a:pt x="42308" y="0"/>
                  </a:lnTo>
                  <a:close/>
                </a:path>
              </a:pathLst>
            </a:custGeom>
            <a:solidFill>
              <a:srgbClr val="D1D3D4"/>
            </a:solidFill>
          </p:spPr>
          <p:txBody>
            <a:bodyPr wrap="square" lIns="0" tIns="0" rIns="0" bIns="0" rtlCol="0"/>
            <a:lstStyle/>
            <a:p>
              <a:endParaRPr/>
            </a:p>
          </p:txBody>
        </p:sp>
        <p:sp>
          <p:nvSpPr>
            <p:cNvPr id="32" name="object 32"/>
            <p:cNvSpPr/>
            <p:nvPr/>
          </p:nvSpPr>
          <p:spPr>
            <a:xfrm>
              <a:off x="1867495" y="1944098"/>
              <a:ext cx="727710" cy="229235"/>
            </a:xfrm>
            <a:custGeom>
              <a:avLst/>
              <a:gdLst/>
              <a:ahLst/>
              <a:cxnLst/>
              <a:rect l="l" t="t" r="r" b="b"/>
              <a:pathLst>
                <a:path w="727710" h="229235">
                  <a:moveTo>
                    <a:pt x="42308" y="154025"/>
                  </a:moveTo>
                  <a:lnTo>
                    <a:pt x="58772" y="150700"/>
                  </a:lnTo>
                  <a:lnTo>
                    <a:pt x="72220" y="141634"/>
                  </a:lnTo>
                  <a:lnTo>
                    <a:pt x="81287" y="128188"/>
                  </a:lnTo>
                  <a:lnTo>
                    <a:pt x="84612" y="111721"/>
                  </a:lnTo>
                  <a:lnTo>
                    <a:pt x="81287" y="95254"/>
                  </a:lnTo>
                  <a:lnTo>
                    <a:pt x="72220" y="81806"/>
                  </a:lnTo>
                  <a:lnTo>
                    <a:pt x="58772" y="72737"/>
                  </a:lnTo>
                  <a:lnTo>
                    <a:pt x="42308" y="69412"/>
                  </a:lnTo>
                  <a:lnTo>
                    <a:pt x="25841" y="72737"/>
                  </a:lnTo>
                  <a:lnTo>
                    <a:pt x="12393" y="81806"/>
                  </a:lnTo>
                  <a:lnTo>
                    <a:pt x="3325" y="95254"/>
                  </a:lnTo>
                  <a:lnTo>
                    <a:pt x="0" y="111721"/>
                  </a:lnTo>
                  <a:lnTo>
                    <a:pt x="3325" y="128188"/>
                  </a:lnTo>
                  <a:lnTo>
                    <a:pt x="12393" y="141634"/>
                  </a:lnTo>
                  <a:lnTo>
                    <a:pt x="25841" y="150700"/>
                  </a:lnTo>
                  <a:lnTo>
                    <a:pt x="42308" y="154025"/>
                  </a:lnTo>
                  <a:close/>
                </a:path>
                <a:path w="727710" h="229235">
                  <a:moveTo>
                    <a:pt x="622148" y="0"/>
                  </a:moveTo>
                  <a:lnTo>
                    <a:pt x="568147" y="228697"/>
                  </a:lnTo>
                  <a:lnTo>
                    <a:pt x="727569" y="105408"/>
                  </a:lnTo>
                </a:path>
                <a:path w="727710" h="229235">
                  <a:moveTo>
                    <a:pt x="464023" y="52704"/>
                  </a:moveTo>
                  <a:lnTo>
                    <a:pt x="568147" y="228697"/>
                  </a:lnTo>
                </a:path>
              </a:pathLst>
            </a:custGeom>
            <a:ln w="5270">
              <a:solidFill>
                <a:srgbClr val="231F20"/>
              </a:solidFill>
            </a:ln>
          </p:spPr>
          <p:txBody>
            <a:bodyPr wrap="square" lIns="0" tIns="0" rIns="0" bIns="0" rtlCol="0"/>
            <a:lstStyle/>
            <a:p>
              <a:endParaRPr/>
            </a:p>
          </p:txBody>
        </p:sp>
        <p:sp>
          <p:nvSpPr>
            <p:cNvPr id="33" name="object 33"/>
            <p:cNvSpPr/>
            <p:nvPr/>
          </p:nvSpPr>
          <p:spPr>
            <a:xfrm>
              <a:off x="2552763" y="2007207"/>
              <a:ext cx="85090" cy="85090"/>
            </a:xfrm>
            <a:custGeom>
              <a:avLst/>
              <a:gdLst/>
              <a:ahLst/>
              <a:cxnLst/>
              <a:rect l="l" t="t" r="r" b="b"/>
              <a:pathLst>
                <a:path w="85089" h="85089">
                  <a:moveTo>
                    <a:pt x="42301" y="0"/>
                  </a:moveTo>
                  <a:lnTo>
                    <a:pt x="25832" y="3324"/>
                  </a:lnTo>
                  <a:lnTo>
                    <a:pt x="12386" y="12390"/>
                  </a:lnTo>
                  <a:lnTo>
                    <a:pt x="3323" y="25836"/>
                  </a:lnTo>
                  <a:lnTo>
                    <a:pt x="0" y="42299"/>
                  </a:lnTo>
                  <a:lnTo>
                    <a:pt x="3323" y="58766"/>
                  </a:lnTo>
                  <a:lnTo>
                    <a:pt x="12386" y="72215"/>
                  </a:lnTo>
                  <a:lnTo>
                    <a:pt x="25832" y="81283"/>
                  </a:lnTo>
                  <a:lnTo>
                    <a:pt x="42301" y="84608"/>
                  </a:lnTo>
                  <a:lnTo>
                    <a:pt x="58765" y="81283"/>
                  </a:lnTo>
                  <a:lnTo>
                    <a:pt x="72211" y="72215"/>
                  </a:lnTo>
                  <a:lnTo>
                    <a:pt x="81277" y="58766"/>
                  </a:lnTo>
                  <a:lnTo>
                    <a:pt x="84602" y="42299"/>
                  </a:lnTo>
                  <a:lnTo>
                    <a:pt x="81277" y="25836"/>
                  </a:lnTo>
                  <a:lnTo>
                    <a:pt x="72211" y="12390"/>
                  </a:lnTo>
                  <a:lnTo>
                    <a:pt x="58765" y="3324"/>
                  </a:lnTo>
                  <a:lnTo>
                    <a:pt x="42301" y="0"/>
                  </a:lnTo>
                  <a:close/>
                </a:path>
              </a:pathLst>
            </a:custGeom>
            <a:solidFill>
              <a:srgbClr val="D1D3D4"/>
            </a:solidFill>
          </p:spPr>
          <p:txBody>
            <a:bodyPr wrap="square" lIns="0" tIns="0" rIns="0" bIns="0" rtlCol="0"/>
            <a:lstStyle/>
            <a:p>
              <a:endParaRPr/>
            </a:p>
          </p:txBody>
        </p:sp>
        <p:sp>
          <p:nvSpPr>
            <p:cNvPr id="34" name="object 34"/>
            <p:cNvSpPr/>
            <p:nvPr/>
          </p:nvSpPr>
          <p:spPr>
            <a:xfrm>
              <a:off x="2552763" y="2007207"/>
              <a:ext cx="85090" cy="85090"/>
            </a:xfrm>
            <a:custGeom>
              <a:avLst/>
              <a:gdLst/>
              <a:ahLst/>
              <a:cxnLst/>
              <a:rect l="l" t="t" r="r" b="b"/>
              <a:pathLst>
                <a:path w="85089" h="85089">
                  <a:moveTo>
                    <a:pt x="42301" y="84608"/>
                  </a:moveTo>
                  <a:lnTo>
                    <a:pt x="25832" y="81283"/>
                  </a:lnTo>
                  <a:lnTo>
                    <a:pt x="12386" y="72215"/>
                  </a:lnTo>
                  <a:lnTo>
                    <a:pt x="3323" y="58766"/>
                  </a:lnTo>
                  <a:lnTo>
                    <a:pt x="0" y="42299"/>
                  </a:lnTo>
                  <a:lnTo>
                    <a:pt x="3323" y="25836"/>
                  </a:lnTo>
                  <a:lnTo>
                    <a:pt x="12386" y="12390"/>
                  </a:lnTo>
                  <a:lnTo>
                    <a:pt x="25832" y="3324"/>
                  </a:lnTo>
                  <a:lnTo>
                    <a:pt x="42301" y="0"/>
                  </a:lnTo>
                  <a:lnTo>
                    <a:pt x="58765" y="3324"/>
                  </a:lnTo>
                  <a:lnTo>
                    <a:pt x="72211" y="12390"/>
                  </a:lnTo>
                  <a:lnTo>
                    <a:pt x="81277" y="25836"/>
                  </a:lnTo>
                  <a:lnTo>
                    <a:pt x="84602" y="42299"/>
                  </a:lnTo>
                  <a:lnTo>
                    <a:pt x="81277" y="58766"/>
                  </a:lnTo>
                  <a:lnTo>
                    <a:pt x="72211" y="72215"/>
                  </a:lnTo>
                  <a:lnTo>
                    <a:pt x="58765" y="81283"/>
                  </a:lnTo>
                  <a:lnTo>
                    <a:pt x="42301" y="84608"/>
                  </a:lnTo>
                  <a:close/>
                </a:path>
              </a:pathLst>
            </a:custGeom>
            <a:ln w="5270">
              <a:solidFill>
                <a:srgbClr val="231F20"/>
              </a:solidFill>
            </a:ln>
          </p:spPr>
          <p:txBody>
            <a:bodyPr wrap="square" lIns="0" tIns="0" rIns="0" bIns="0" rtlCol="0"/>
            <a:lstStyle/>
            <a:p>
              <a:endParaRPr/>
            </a:p>
          </p:txBody>
        </p:sp>
        <p:sp>
          <p:nvSpPr>
            <p:cNvPr id="35" name="object 35"/>
            <p:cNvSpPr/>
            <p:nvPr/>
          </p:nvSpPr>
          <p:spPr>
            <a:xfrm>
              <a:off x="2447342" y="1901787"/>
              <a:ext cx="85090" cy="85090"/>
            </a:xfrm>
            <a:custGeom>
              <a:avLst/>
              <a:gdLst/>
              <a:ahLst/>
              <a:cxnLst/>
              <a:rect l="l" t="t" r="r" b="b"/>
              <a:pathLst>
                <a:path w="85089" h="85089">
                  <a:moveTo>
                    <a:pt x="42301" y="0"/>
                  </a:moveTo>
                  <a:lnTo>
                    <a:pt x="25836" y="3324"/>
                  </a:lnTo>
                  <a:lnTo>
                    <a:pt x="12390" y="12392"/>
                  </a:lnTo>
                  <a:lnTo>
                    <a:pt x="3324" y="25841"/>
                  </a:lnTo>
                  <a:lnTo>
                    <a:pt x="0" y="42311"/>
                  </a:lnTo>
                  <a:lnTo>
                    <a:pt x="3324" y="58775"/>
                  </a:lnTo>
                  <a:lnTo>
                    <a:pt x="12390" y="72221"/>
                  </a:lnTo>
                  <a:lnTo>
                    <a:pt x="25836" y="81287"/>
                  </a:lnTo>
                  <a:lnTo>
                    <a:pt x="42301" y="84612"/>
                  </a:lnTo>
                  <a:lnTo>
                    <a:pt x="58771" y="81287"/>
                  </a:lnTo>
                  <a:lnTo>
                    <a:pt x="72220" y="72221"/>
                  </a:lnTo>
                  <a:lnTo>
                    <a:pt x="81287" y="58775"/>
                  </a:lnTo>
                  <a:lnTo>
                    <a:pt x="84612" y="42311"/>
                  </a:lnTo>
                  <a:lnTo>
                    <a:pt x="81287" y="25841"/>
                  </a:lnTo>
                  <a:lnTo>
                    <a:pt x="72220" y="12392"/>
                  </a:lnTo>
                  <a:lnTo>
                    <a:pt x="58771" y="3324"/>
                  </a:lnTo>
                  <a:lnTo>
                    <a:pt x="42301" y="0"/>
                  </a:lnTo>
                  <a:close/>
                </a:path>
              </a:pathLst>
            </a:custGeom>
            <a:solidFill>
              <a:srgbClr val="D1D3D4"/>
            </a:solidFill>
          </p:spPr>
          <p:txBody>
            <a:bodyPr wrap="square" lIns="0" tIns="0" rIns="0" bIns="0" rtlCol="0"/>
            <a:lstStyle/>
            <a:p>
              <a:endParaRPr/>
            </a:p>
          </p:txBody>
        </p:sp>
        <p:sp>
          <p:nvSpPr>
            <p:cNvPr id="36" name="object 36"/>
            <p:cNvSpPr/>
            <p:nvPr/>
          </p:nvSpPr>
          <p:spPr>
            <a:xfrm>
              <a:off x="2447342" y="1901787"/>
              <a:ext cx="85090" cy="85090"/>
            </a:xfrm>
            <a:custGeom>
              <a:avLst/>
              <a:gdLst/>
              <a:ahLst/>
              <a:cxnLst/>
              <a:rect l="l" t="t" r="r" b="b"/>
              <a:pathLst>
                <a:path w="85089" h="85089">
                  <a:moveTo>
                    <a:pt x="42301" y="84612"/>
                  </a:moveTo>
                  <a:lnTo>
                    <a:pt x="25836" y="81287"/>
                  </a:lnTo>
                  <a:lnTo>
                    <a:pt x="12390" y="72221"/>
                  </a:lnTo>
                  <a:lnTo>
                    <a:pt x="3324" y="58775"/>
                  </a:lnTo>
                  <a:lnTo>
                    <a:pt x="0" y="42311"/>
                  </a:lnTo>
                  <a:lnTo>
                    <a:pt x="3324" y="25841"/>
                  </a:lnTo>
                  <a:lnTo>
                    <a:pt x="12390" y="12392"/>
                  </a:lnTo>
                  <a:lnTo>
                    <a:pt x="25836" y="3324"/>
                  </a:lnTo>
                  <a:lnTo>
                    <a:pt x="42301" y="0"/>
                  </a:lnTo>
                  <a:lnTo>
                    <a:pt x="58771" y="3324"/>
                  </a:lnTo>
                  <a:lnTo>
                    <a:pt x="72220" y="12392"/>
                  </a:lnTo>
                  <a:lnTo>
                    <a:pt x="81287" y="25841"/>
                  </a:lnTo>
                  <a:lnTo>
                    <a:pt x="84612" y="42311"/>
                  </a:lnTo>
                  <a:lnTo>
                    <a:pt x="81287" y="58775"/>
                  </a:lnTo>
                  <a:lnTo>
                    <a:pt x="72220" y="72221"/>
                  </a:lnTo>
                  <a:lnTo>
                    <a:pt x="58771" y="81287"/>
                  </a:lnTo>
                  <a:lnTo>
                    <a:pt x="42301" y="84612"/>
                  </a:lnTo>
                  <a:close/>
                </a:path>
              </a:pathLst>
            </a:custGeom>
            <a:ln w="5270">
              <a:solidFill>
                <a:srgbClr val="231F20"/>
              </a:solidFill>
            </a:ln>
          </p:spPr>
          <p:txBody>
            <a:bodyPr wrap="square" lIns="0" tIns="0" rIns="0" bIns="0" rtlCol="0"/>
            <a:lstStyle/>
            <a:p>
              <a:endParaRPr/>
            </a:p>
          </p:txBody>
        </p:sp>
        <p:sp>
          <p:nvSpPr>
            <p:cNvPr id="37" name="object 37"/>
            <p:cNvSpPr/>
            <p:nvPr/>
          </p:nvSpPr>
          <p:spPr>
            <a:xfrm>
              <a:off x="2289217" y="1954492"/>
              <a:ext cx="85090" cy="85090"/>
            </a:xfrm>
            <a:custGeom>
              <a:avLst/>
              <a:gdLst/>
              <a:ahLst/>
              <a:cxnLst/>
              <a:rect l="l" t="t" r="r" b="b"/>
              <a:pathLst>
                <a:path w="85089" h="85089">
                  <a:moveTo>
                    <a:pt x="42301" y="0"/>
                  </a:moveTo>
                  <a:lnTo>
                    <a:pt x="25836" y="3326"/>
                  </a:lnTo>
                  <a:lnTo>
                    <a:pt x="12390" y="12396"/>
                  </a:lnTo>
                  <a:lnTo>
                    <a:pt x="3324" y="25845"/>
                  </a:lnTo>
                  <a:lnTo>
                    <a:pt x="0" y="42311"/>
                  </a:lnTo>
                  <a:lnTo>
                    <a:pt x="3324" y="58775"/>
                  </a:lnTo>
                  <a:lnTo>
                    <a:pt x="12390" y="72222"/>
                  </a:lnTo>
                  <a:lnTo>
                    <a:pt x="25836" y="81289"/>
                  </a:lnTo>
                  <a:lnTo>
                    <a:pt x="42301" y="84614"/>
                  </a:lnTo>
                  <a:lnTo>
                    <a:pt x="58771" y="81289"/>
                  </a:lnTo>
                  <a:lnTo>
                    <a:pt x="72220" y="72222"/>
                  </a:lnTo>
                  <a:lnTo>
                    <a:pt x="81287" y="58775"/>
                  </a:lnTo>
                  <a:lnTo>
                    <a:pt x="84612" y="42311"/>
                  </a:lnTo>
                  <a:lnTo>
                    <a:pt x="81287" y="25845"/>
                  </a:lnTo>
                  <a:lnTo>
                    <a:pt x="72220" y="12396"/>
                  </a:lnTo>
                  <a:lnTo>
                    <a:pt x="58771" y="3326"/>
                  </a:lnTo>
                  <a:lnTo>
                    <a:pt x="42301" y="0"/>
                  </a:lnTo>
                  <a:close/>
                </a:path>
              </a:pathLst>
            </a:custGeom>
            <a:solidFill>
              <a:srgbClr val="D1D3D4"/>
            </a:solidFill>
          </p:spPr>
          <p:txBody>
            <a:bodyPr wrap="square" lIns="0" tIns="0" rIns="0" bIns="0" rtlCol="0"/>
            <a:lstStyle/>
            <a:p>
              <a:endParaRPr/>
            </a:p>
          </p:txBody>
        </p:sp>
        <p:sp>
          <p:nvSpPr>
            <p:cNvPr id="38" name="object 38"/>
            <p:cNvSpPr/>
            <p:nvPr/>
          </p:nvSpPr>
          <p:spPr>
            <a:xfrm>
              <a:off x="2289217" y="1954492"/>
              <a:ext cx="991235" cy="288290"/>
            </a:xfrm>
            <a:custGeom>
              <a:avLst/>
              <a:gdLst/>
              <a:ahLst/>
              <a:cxnLst/>
              <a:rect l="l" t="t" r="r" b="b"/>
              <a:pathLst>
                <a:path w="991235" h="288289">
                  <a:moveTo>
                    <a:pt x="42301" y="84614"/>
                  </a:moveTo>
                  <a:lnTo>
                    <a:pt x="25836" y="81289"/>
                  </a:lnTo>
                  <a:lnTo>
                    <a:pt x="12390" y="72222"/>
                  </a:lnTo>
                  <a:lnTo>
                    <a:pt x="3324" y="58775"/>
                  </a:lnTo>
                  <a:lnTo>
                    <a:pt x="0" y="42311"/>
                  </a:lnTo>
                  <a:lnTo>
                    <a:pt x="3324" y="25845"/>
                  </a:lnTo>
                  <a:lnTo>
                    <a:pt x="12390" y="12396"/>
                  </a:lnTo>
                  <a:lnTo>
                    <a:pt x="25836" y="3326"/>
                  </a:lnTo>
                  <a:lnTo>
                    <a:pt x="42301" y="0"/>
                  </a:lnTo>
                  <a:lnTo>
                    <a:pt x="58771" y="3326"/>
                  </a:lnTo>
                  <a:lnTo>
                    <a:pt x="72220" y="12396"/>
                  </a:lnTo>
                  <a:lnTo>
                    <a:pt x="81287" y="25845"/>
                  </a:lnTo>
                  <a:lnTo>
                    <a:pt x="84612" y="42311"/>
                  </a:lnTo>
                  <a:lnTo>
                    <a:pt x="81287" y="58775"/>
                  </a:lnTo>
                  <a:lnTo>
                    <a:pt x="72220" y="72222"/>
                  </a:lnTo>
                  <a:lnTo>
                    <a:pt x="58771" y="81289"/>
                  </a:lnTo>
                  <a:lnTo>
                    <a:pt x="42301" y="84614"/>
                  </a:lnTo>
                  <a:close/>
                </a:path>
                <a:path w="991235" h="288289">
                  <a:moveTo>
                    <a:pt x="885391" y="59440"/>
                  </a:moveTo>
                  <a:lnTo>
                    <a:pt x="831379" y="288138"/>
                  </a:lnTo>
                  <a:lnTo>
                    <a:pt x="990801" y="164849"/>
                  </a:lnTo>
                </a:path>
              </a:pathLst>
            </a:custGeom>
            <a:ln w="5270">
              <a:solidFill>
                <a:srgbClr val="231F20"/>
              </a:solidFill>
            </a:ln>
          </p:spPr>
          <p:txBody>
            <a:bodyPr wrap="square" lIns="0" tIns="0" rIns="0" bIns="0" rtlCol="0"/>
            <a:lstStyle/>
            <a:p>
              <a:endParaRPr/>
            </a:p>
          </p:txBody>
        </p:sp>
        <p:sp>
          <p:nvSpPr>
            <p:cNvPr id="39" name="object 39"/>
            <p:cNvSpPr/>
            <p:nvPr/>
          </p:nvSpPr>
          <p:spPr>
            <a:xfrm>
              <a:off x="3237717" y="2077038"/>
              <a:ext cx="85090" cy="85090"/>
            </a:xfrm>
            <a:custGeom>
              <a:avLst/>
              <a:gdLst/>
              <a:ahLst/>
              <a:cxnLst/>
              <a:rect l="l" t="t" r="r" b="b"/>
              <a:pathLst>
                <a:path w="85089" h="85089">
                  <a:moveTo>
                    <a:pt x="42301" y="0"/>
                  </a:moveTo>
                  <a:lnTo>
                    <a:pt x="25836" y="3325"/>
                  </a:lnTo>
                  <a:lnTo>
                    <a:pt x="12390" y="12391"/>
                  </a:lnTo>
                  <a:lnTo>
                    <a:pt x="3324" y="25838"/>
                  </a:lnTo>
                  <a:lnTo>
                    <a:pt x="0" y="42303"/>
                  </a:lnTo>
                  <a:lnTo>
                    <a:pt x="3324" y="58770"/>
                  </a:lnTo>
                  <a:lnTo>
                    <a:pt x="12390" y="72218"/>
                  </a:lnTo>
                  <a:lnTo>
                    <a:pt x="25836" y="81286"/>
                  </a:lnTo>
                  <a:lnTo>
                    <a:pt x="42301" y="84611"/>
                  </a:lnTo>
                  <a:lnTo>
                    <a:pt x="58766" y="81286"/>
                  </a:lnTo>
                  <a:lnTo>
                    <a:pt x="72216" y="72218"/>
                  </a:lnTo>
                  <a:lnTo>
                    <a:pt x="81286" y="58770"/>
                  </a:lnTo>
                  <a:lnTo>
                    <a:pt x="84612" y="42303"/>
                  </a:lnTo>
                  <a:lnTo>
                    <a:pt x="81286" y="25838"/>
                  </a:lnTo>
                  <a:lnTo>
                    <a:pt x="72216" y="12391"/>
                  </a:lnTo>
                  <a:lnTo>
                    <a:pt x="58766" y="3325"/>
                  </a:lnTo>
                  <a:lnTo>
                    <a:pt x="42301" y="0"/>
                  </a:lnTo>
                  <a:close/>
                </a:path>
              </a:pathLst>
            </a:custGeom>
            <a:solidFill>
              <a:srgbClr val="D1D3D4"/>
            </a:solidFill>
          </p:spPr>
          <p:txBody>
            <a:bodyPr wrap="square" lIns="0" tIns="0" rIns="0" bIns="0" rtlCol="0"/>
            <a:lstStyle/>
            <a:p>
              <a:endParaRPr/>
            </a:p>
          </p:txBody>
        </p:sp>
        <p:sp>
          <p:nvSpPr>
            <p:cNvPr id="40" name="object 40"/>
            <p:cNvSpPr/>
            <p:nvPr/>
          </p:nvSpPr>
          <p:spPr>
            <a:xfrm>
              <a:off x="3237717" y="2077038"/>
              <a:ext cx="85090" cy="85090"/>
            </a:xfrm>
            <a:custGeom>
              <a:avLst/>
              <a:gdLst/>
              <a:ahLst/>
              <a:cxnLst/>
              <a:rect l="l" t="t" r="r" b="b"/>
              <a:pathLst>
                <a:path w="85089" h="85089">
                  <a:moveTo>
                    <a:pt x="42301" y="84611"/>
                  </a:moveTo>
                  <a:lnTo>
                    <a:pt x="25836" y="81286"/>
                  </a:lnTo>
                  <a:lnTo>
                    <a:pt x="12390" y="72218"/>
                  </a:lnTo>
                  <a:lnTo>
                    <a:pt x="3324" y="58770"/>
                  </a:lnTo>
                  <a:lnTo>
                    <a:pt x="0" y="42303"/>
                  </a:lnTo>
                  <a:lnTo>
                    <a:pt x="3324" y="25838"/>
                  </a:lnTo>
                  <a:lnTo>
                    <a:pt x="12390" y="12391"/>
                  </a:lnTo>
                  <a:lnTo>
                    <a:pt x="25836" y="3325"/>
                  </a:lnTo>
                  <a:lnTo>
                    <a:pt x="42301" y="0"/>
                  </a:lnTo>
                  <a:lnTo>
                    <a:pt x="58766" y="3325"/>
                  </a:lnTo>
                  <a:lnTo>
                    <a:pt x="72216" y="12391"/>
                  </a:lnTo>
                  <a:lnTo>
                    <a:pt x="81286" y="25838"/>
                  </a:lnTo>
                  <a:lnTo>
                    <a:pt x="84612" y="42303"/>
                  </a:lnTo>
                  <a:lnTo>
                    <a:pt x="81286" y="58770"/>
                  </a:lnTo>
                  <a:lnTo>
                    <a:pt x="72216" y="72218"/>
                  </a:lnTo>
                  <a:lnTo>
                    <a:pt x="58766" y="81286"/>
                  </a:lnTo>
                  <a:lnTo>
                    <a:pt x="42301" y="84611"/>
                  </a:lnTo>
                  <a:close/>
                </a:path>
              </a:pathLst>
            </a:custGeom>
            <a:ln w="5270">
              <a:solidFill>
                <a:srgbClr val="231F20"/>
              </a:solidFill>
            </a:ln>
          </p:spPr>
          <p:txBody>
            <a:bodyPr wrap="square" lIns="0" tIns="0" rIns="0" bIns="0" rtlCol="0"/>
            <a:lstStyle/>
            <a:p>
              <a:endParaRPr/>
            </a:p>
          </p:txBody>
        </p:sp>
        <p:sp>
          <p:nvSpPr>
            <p:cNvPr id="41" name="object 41"/>
            <p:cNvSpPr/>
            <p:nvPr/>
          </p:nvSpPr>
          <p:spPr>
            <a:xfrm>
              <a:off x="3132297" y="1971621"/>
              <a:ext cx="85090" cy="85090"/>
            </a:xfrm>
            <a:custGeom>
              <a:avLst/>
              <a:gdLst/>
              <a:ahLst/>
              <a:cxnLst/>
              <a:rect l="l" t="t" r="r" b="b"/>
              <a:pathLst>
                <a:path w="85089" h="85089">
                  <a:moveTo>
                    <a:pt x="42311" y="0"/>
                  </a:moveTo>
                  <a:lnTo>
                    <a:pt x="25841" y="3326"/>
                  </a:lnTo>
                  <a:lnTo>
                    <a:pt x="12392" y="12396"/>
                  </a:lnTo>
                  <a:lnTo>
                    <a:pt x="3324" y="25845"/>
                  </a:lnTo>
                  <a:lnTo>
                    <a:pt x="0" y="42311"/>
                  </a:lnTo>
                  <a:lnTo>
                    <a:pt x="3324" y="58775"/>
                  </a:lnTo>
                  <a:lnTo>
                    <a:pt x="12392" y="72222"/>
                  </a:lnTo>
                  <a:lnTo>
                    <a:pt x="25841" y="81289"/>
                  </a:lnTo>
                  <a:lnTo>
                    <a:pt x="42311" y="84614"/>
                  </a:lnTo>
                  <a:lnTo>
                    <a:pt x="58775" y="81289"/>
                  </a:lnTo>
                  <a:lnTo>
                    <a:pt x="72221" y="72222"/>
                  </a:lnTo>
                  <a:lnTo>
                    <a:pt x="81287" y="58775"/>
                  </a:lnTo>
                  <a:lnTo>
                    <a:pt x="84612" y="42311"/>
                  </a:lnTo>
                  <a:lnTo>
                    <a:pt x="81287" y="25845"/>
                  </a:lnTo>
                  <a:lnTo>
                    <a:pt x="72221" y="12396"/>
                  </a:lnTo>
                  <a:lnTo>
                    <a:pt x="58775" y="3326"/>
                  </a:lnTo>
                  <a:lnTo>
                    <a:pt x="42311" y="0"/>
                  </a:lnTo>
                  <a:close/>
                </a:path>
              </a:pathLst>
            </a:custGeom>
            <a:solidFill>
              <a:srgbClr val="D1D3D4"/>
            </a:solidFill>
          </p:spPr>
          <p:txBody>
            <a:bodyPr wrap="square" lIns="0" tIns="0" rIns="0" bIns="0" rtlCol="0"/>
            <a:lstStyle/>
            <a:p>
              <a:endParaRPr/>
            </a:p>
          </p:txBody>
        </p:sp>
        <p:sp>
          <p:nvSpPr>
            <p:cNvPr id="42" name="object 42"/>
            <p:cNvSpPr/>
            <p:nvPr/>
          </p:nvSpPr>
          <p:spPr>
            <a:xfrm>
              <a:off x="2699494" y="1971621"/>
              <a:ext cx="517525" cy="1063625"/>
            </a:xfrm>
            <a:custGeom>
              <a:avLst/>
              <a:gdLst/>
              <a:ahLst/>
              <a:cxnLst/>
              <a:rect l="l" t="t" r="r" b="b"/>
              <a:pathLst>
                <a:path w="517525" h="1063625">
                  <a:moveTo>
                    <a:pt x="475114" y="84614"/>
                  </a:moveTo>
                  <a:lnTo>
                    <a:pt x="458644" y="81289"/>
                  </a:lnTo>
                  <a:lnTo>
                    <a:pt x="445195" y="72222"/>
                  </a:lnTo>
                  <a:lnTo>
                    <a:pt x="436127" y="58775"/>
                  </a:lnTo>
                  <a:lnTo>
                    <a:pt x="432802" y="42311"/>
                  </a:lnTo>
                  <a:lnTo>
                    <a:pt x="436127" y="25845"/>
                  </a:lnTo>
                  <a:lnTo>
                    <a:pt x="445195" y="12396"/>
                  </a:lnTo>
                  <a:lnTo>
                    <a:pt x="458644" y="3326"/>
                  </a:lnTo>
                  <a:lnTo>
                    <a:pt x="475114" y="0"/>
                  </a:lnTo>
                  <a:lnTo>
                    <a:pt x="491578" y="3326"/>
                  </a:lnTo>
                  <a:lnTo>
                    <a:pt x="505024" y="12396"/>
                  </a:lnTo>
                  <a:lnTo>
                    <a:pt x="514090" y="25845"/>
                  </a:lnTo>
                  <a:lnTo>
                    <a:pt x="517415" y="42311"/>
                  </a:lnTo>
                  <a:lnTo>
                    <a:pt x="514090" y="58775"/>
                  </a:lnTo>
                  <a:lnTo>
                    <a:pt x="505024" y="72222"/>
                  </a:lnTo>
                  <a:lnTo>
                    <a:pt x="491578" y="81289"/>
                  </a:lnTo>
                  <a:lnTo>
                    <a:pt x="475114" y="84614"/>
                  </a:lnTo>
                  <a:close/>
                </a:path>
                <a:path w="517525" h="1063625">
                  <a:moveTo>
                    <a:pt x="54001" y="1063457"/>
                  </a:moveTo>
                  <a:lnTo>
                    <a:pt x="0" y="834755"/>
                  </a:lnTo>
                  <a:lnTo>
                    <a:pt x="159422" y="958039"/>
                  </a:lnTo>
                </a:path>
              </a:pathLst>
            </a:custGeom>
            <a:ln w="5270">
              <a:solidFill>
                <a:srgbClr val="231F20"/>
              </a:solidFill>
            </a:ln>
          </p:spPr>
          <p:txBody>
            <a:bodyPr wrap="square" lIns="0" tIns="0" rIns="0" bIns="0" rtlCol="0"/>
            <a:lstStyle/>
            <a:p>
              <a:endParaRPr/>
            </a:p>
          </p:txBody>
        </p:sp>
        <p:sp>
          <p:nvSpPr>
            <p:cNvPr id="43" name="object 43"/>
            <p:cNvSpPr/>
            <p:nvPr/>
          </p:nvSpPr>
          <p:spPr>
            <a:xfrm>
              <a:off x="2816604" y="2887356"/>
              <a:ext cx="85090" cy="85090"/>
            </a:xfrm>
            <a:custGeom>
              <a:avLst/>
              <a:gdLst/>
              <a:ahLst/>
              <a:cxnLst/>
              <a:rect l="l" t="t" r="r" b="b"/>
              <a:pathLst>
                <a:path w="85089" h="85089">
                  <a:moveTo>
                    <a:pt x="42311" y="0"/>
                  </a:moveTo>
                  <a:lnTo>
                    <a:pt x="25845" y="3324"/>
                  </a:lnTo>
                  <a:lnTo>
                    <a:pt x="12396" y="12390"/>
                  </a:lnTo>
                  <a:lnTo>
                    <a:pt x="3326" y="25837"/>
                  </a:lnTo>
                  <a:lnTo>
                    <a:pt x="0" y="42304"/>
                  </a:lnTo>
                  <a:lnTo>
                    <a:pt x="3326" y="58770"/>
                  </a:lnTo>
                  <a:lnTo>
                    <a:pt x="12396" y="72217"/>
                  </a:lnTo>
                  <a:lnTo>
                    <a:pt x="25845" y="81283"/>
                  </a:lnTo>
                  <a:lnTo>
                    <a:pt x="42311" y="84608"/>
                  </a:lnTo>
                  <a:lnTo>
                    <a:pt x="58775" y="81283"/>
                  </a:lnTo>
                  <a:lnTo>
                    <a:pt x="72221" y="72217"/>
                  </a:lnTo>
                  <a:lnTo>
                    <a:pt x="81287" y="58770"/>
                  </a:lnTo>
                  <a:lnTo>
                    <a:pt x="84612" y="42304"/>
                  </a:lnTo>
                  <a:lnTo>
                    <a:pt x="81287" y="25837"/>
                  </a:lnTo>
                  <a:lnTo>
                    <a:pt x="72221" y="12390"/>
                  </a:lnTo>
                  <a:lnTo>
                    <a:pt x="58775" y="3324"/>
                  </a:lnTo>
                  <a:lnTo>
                    <a:pt x="42311" y="0"/>
                  </a:lnTo>
                  <a:close/>
                </a:path>
              </a:pathLst>
            </a:custGeom>
            <a:solidFill>
              <a:srgbClr val="D1D3D4"/>
            </a:solidFill>
          </p:spPr>
          <p:txBody>
            <a:bodyPr wrap="square" lIns="0" tIns="0" rIns="0" bIns="0" rtlCol="0"/>
            <a:lstStyle/>
            <a:p>
              <a:endParaRPr/>
            </a:p>
          </p:txBody>
        </p:sp>
        <p:sp>
          <p:nvSpPr>
            <p:cNvPr id="44" name="object 44"/>
            <p:cNvSpPr/>
            <p:nvPr/>
          </p:nvSpPr>
          <p:spPr>
            <a:xfrm>
              <a:off x="2816604" y="2887356"/>
              <a:ext cx="85090" cy="85090"/>
            </a:xfrm>
            <a:custGeom>
              <a:avLst/>
              <a:gdLst/>
              <a:ahLst/>
              <a:cxnLst/>
              <a:rect l="l" t="t" r="r" b="b"/>
              <a:pathLst>
                <a:path w="85089" h="85089">
                  <a:moveTo>
                    <a:pt x="42311" y="0"/>
                  </a:moveTo>
                  <a:lnTo>
                    <a:pt x="25845" y="3324"/>
                  </a:lnTo>
                  <a:lnTo>
                    <a:pt x="12396" y="12390"/>
                  </a:lnTo>
                  <a:lnTo>
                    <a:pt x="3326" y="25837"/>
                  </a:lnTo>
                  <a:lnTo>
                    <a:pt x="0" y="42304"/>
                  </a:lnTo>
                  <a:lnTo>
                    <a:pt x="3326" y="58770"/>
                  </a:lnTo>
                  <a:lnTo>
                    <a:pt x="12396" y="72217"/>
                  </a:lnTo>
                  <a:lnTo>
                    <a:pt x="25845" y="81283"/>
                  </a:lnTo>
                  <a:lnTo>
                    <a:pt x="42311" y="84608"/>
                  </a:lnTo>
                  <a:lnTo>
                    <a:pt x="58775" y="81283"/>
                  </a:lnTo>
                  <a:lnTo>
                    <a:pt x="72221" y="72217"/>
                  </a:lnTo>
                  <a:lnTo>
                    <a:pt x="81287" y="58770"/>
                  </a:lnTo>
                  <a:lnTo>
                    <a:pt x="84612" y="42304"/>
                  </a:lnTo>
                  <a:lnTo>
                    <a:pt x="81287" y="25837"/>
                  </a:lnTo>
                  <a:lnTo>
                    <a:pt x="72221" y="12390"/>
                  </a:lnTo>
                  <a:lnTo>
                    <a:pt x="58775" y="3324"/>
                  </a:lnTo>
                  <a:lnTo>
                    <a:pt x="42311" y="0"/>
                  </a:lnTo>
                  <a:close/>
                </a:path>
              </a:pathLst>
            </a:custGeom>
            <a:ln w="5270">
              <a:solidFill>
                <a:srgbClr val="231F20"/>
              </a:solidFill>
            </a:ln>
          </p:spPr>
          <p:txBody>
            <a:bodyPr wrap="square" lIns="0" tIns="0" rIns="0" bIns="0" rtlCol="0"/>
            <a:lstStyle/>
            <a:p>
              <a:endParaRPr/>
            </a:p>
          </p:txBody>
        </p:sp>
        <p:sp>
          <p:nvSpPr>
            <p:cNvPr id="45" name="object 45"/>
            <p:cNvSpPr/>
            <p:nvPr/>
          </p:nvSpPr>
          <p:spPr>
            <a:xfrm>
              <a:off x="2711194" y="2992771"/>
              <a:ext cx="85090" cy="85090"/>
            </a:xfrm>
            <a:custGeom>
              <a:avLst/>
              <a:gdLst/>
              <a:ahLst/>
              <a:cxnLst/>
              <a:rect l="l" t="t" r="r" b="b"/>
              <a:pathLst>
                <a:path w="85089" h="85089">
                  <a:moveTo>
                    <a:pt x="42301" y="0"/>
                  </a:moveTo>
                  <a:lnTo>
                    <a:pt x="25836" y="3325"/>
                  </a:lnTo>
                  <a:lnTo>
                    <a:pt x="12390" y="12392"/>
                  </a:lnTo>
                  <a:lnTo>
                    <a:pt x="3324" y="25841"/>
                  </a:lnTo>
                  <a:lnTo>
                    <a:pt x="0" y="42308"/>
                  </a:lnTo>
                  <a:lnTo>
                    <a:pt x="3324" y="58772"/>
                  </a:lnTo>
                  <a:lnTo>
                    <a:pt x="12390" y="72219"/>
                  </a:lnTo>
                  <a:lnTo>
                    <a:pt x="25836" y="81287"/>
                  </a:lnTo>
                  <a:lnTo>
                    <a:pt x="42301" y="84612"/>
                  </a:lnTo>
                  <a:lnTo>
                    <a:pt x="58771" y="81287"/>
                  </a:lnTo>
                  <a:lnTo>
                    <a:pt x="72220" y="72219"/>
                  </a:lnTo>
                  <a:lnTo>
                    <a:pt x="81287" y="58772"/>
                  </a:lnTo>
                  <a:lnTo>
                    <a:pt x="84612" y="42308"/>
                  </a:lnTo>
                  <a:lnTo>
                    <a:pt x="81287" y="25841"/>
                  </a:lnTo>
                  <a:lnTo>
                    <a:pt x="72220" y="12392"/>
                  </a:lnTo>
                  <a:lnTo>
                    <a:pt x="58771" y="3325"/>
                  </a:lnTo>
                  <a:lnTo>
                    <a:pt x="42301" y="0"/>
                  </a:lnTo>
                  <a:close/>
                </a:path>
              </a:pathLst>
            </a:custGeom>
            <a:solidFill>
              <a:srgbClr val="D1D3D4"/>
            </a:solidFill>
          </p:spPr>
          <p:txBody>
            <a:bodyPr wrap="square" lIns="0" tIns="0" rIns="0" bIns="0" rtlCol="0"/>
            <a:lstStyle/>
            <a:p>
              <a:endParaRPr/>
            </a:p>
          </p:txBody>
        </p:sp>
        <p:sp>
          <p:nvSpPr>
            <p:cNvPr id="46" name="object 46"/>
            <p:cNvSpPr/>
            <p:nvPr/>
          </p:nvSpPr>
          <p:spPr>
            <a:xfrm>
              <a:off x="2711194" y="2992771"/>
              <a:ext cx="85090" cy="85090"/>
            </a:xfrm>
            <a:custGeom>
              <a:avLst/>
              <a:gdLst/>
              <a:ahLst/>
              <a:cxnLst/>
              <a:rect l="l" t="t" r="r" b="b"/>
              <a:pathLst>
                <a:path w="85089" h="85089">
                  <a:moveTo>
                    <a:pt x="42301" y="0"/>
                  </a:moveTo>
                  <a:lnTo>
                    <a:pt x="25836" y="3325"/>
                  </a:lnTo>
                  <a:lnTo>
                    <a:pt x="12390" y="12392"/>
                  </a:lnTo>
                  <a:lnTo>
                    <a:pt x="3324" y="25841"/>
                  </a:lnTo>
                  <a:lnTo>
                    <a:pt x="0" y="42308"/>
                  </a:lnTo>
                  <a:lnTo>
                    <a:pt x="3324" y="58772"/>
                  </a:lnTo>
                  <a:lnTo>
                    <a:pt x="12390" y="72219"/>
                  </a:lnTo>
                  <a:lnTo>
                    <a:pt x="25836" y="81287"/>
                  </a:lnTo>
                  <a:lnTo>
                    <a:pt x="42301" y="84612"/>
                  </a:lnTo>
                  <a:lnTo>
                    <a:pt x="58771" y="81287"/>
                  </a:lnTo>
                  <a:lnTo>
                    <a:pt x="72220" y="72219"/>
                  </a:lnTo>
                  <a:lnTo>
                    <a:pt x="81287" y="58772"/>
                  </a:lnTo>
                  <a:lnTo>
                    <a:pt x="84612" y="42308"/>
                  </a:lnTo>
                  <a:lnTo>
                    <a:pt x="81287" y="25841"/>
                  </a:lnTo>
                  <a:lnTo>
                    <a:pt x="72220" y="12392"/>
                  </a:lnTo>
                  <a:lnTo>
                    <a:pt x="58771" y="3325"/>
                  </a:lnTo>
                  <a:lnTo>
                    <a:pt x="42301" y="0"/>
                  </a:lnTo>
                  <a:close/>
                </a:path>
              </a:pathLst>
            </a:custGeom>
            <a:ln w="5270">
              <a:solidFill>
                <a:srgbClr val="231F20"/>
              </a:solidFill>
            </a:ln>
          </p:spPr>
          <p:txBody>
            <a:bodyPr wrap="square" lIns="0" tIns="0" rIns="0" bIns="0" rtlCol="0"/>
            <a:lstStyle/>
            <a:p>
              <a:endParaRPr/>
            </a:p>
          </p:txBody>
        </p:sp>
        <p:pic>
          <p:nvPicPr>
            <p:cNvPr id="47" name="object 47"/>
            <p:cNvPicPr/>
            <p:nvPr/>
          </p:nvPicPr>
          <p:blipFill>
            <a:blip r:embed="rId14" cstate="print"/>
            <a:stretch>
              <a:fillRect/>
            </a:stretch>
          </p:blipFill>
          <p:spPr>
            <a:xfrm>
              <a:off x="3056328" y="2176111"/>
              <a:ext cx="131772" cy="131770"/>
            </a:xfrm>
            <a:prstGeom prst="rect">
              <a:avLst/>
            </a:prstGeom>
          </p:spPr>
        </p:pic>
        <p:sp>
          <p:nvSpPr>
            <p:cNvPr id="48" name="object 48"/>
            <p:cNvSpPr/>
            <p:nvPr/>
          </p:nvSpPr>
          <p:spPr>
            <a:xfrm>
              <a:off x="3056328" y="2176111"/>
              <a:ext cx="132080" cy="132080"/>
            </a:xfrm>
            <a:custGeom>
              <a:avLst/>
              <a:gdLst/>
              <a:ahLst/>
              <a:cxnLst/>
              <a:rect l="l" t="t" r="r" b="b"/>
              <a:pathLst>
                <a:path w="132080" h="132080">
                  <a:moveTo>
                    <a:pt x="65891" y="0"/>
                  </a:moveTo>
                  <a:lnTo>
                    <a:pt x="91536" y="5178"/>
                  </a:lnTo>
                  <a:lnTo>
                    <a:pt x="112477" y="19300"/>
                  </a:lnTo>
                  <a:lnTo>
                    <a:pt x="126596" y="40243"/>
                  </a:lnTo>
                  <a:lnTo>
                    <a:pt x="131773" y="65885"/>
                  </a:lnTo>
                  <a:lnTo>
                    <a:pt x="126596" y="91528"/>
                  </a:lnTo>
                  <a:lnTo>
                    <a:pt x="112477" y="112471"/>
                  </a:lnTo>
                  <a:lnTo>
                    <a:pt x="91536" y="126592"/>
                  </a:lnTo>
                  <a:lnTo>
                    <a:pt x="65891" y="131770"/>
                  </a:lnTo>
                  <a:lnTo>
                    <a:pt x="40245" y="126592"/>
                  </a:lnTo>
                  <a:lnTo>
                    <a:pt x="19300" y="112471"/>
                  </a:lnTo>
                  <a:lnTo>
                    <a:pt x="5178" y="91528"/>
                  </a:lnTo>
                  <a:lnTo>
                    <a:pt x="0" y="65885"/>
                  </a:lnTo>
                  <a:lnTo>
                    <a:pt x="5178" y="40243"/>
                  </a:lnTo>
                  <a:lnTo>
                    <a:pt x="19300" y="19300"/>
                  </a:lnTo>
                  <a:lnTo>
                    <a:pt x="40245" y="5178"/>
                  </a:lnTo>
                  <a:lnTo>
                    <a:pt x="65891" y="0"/>
                  </a:lnTo>
                  <a:close/>
                </a:path>
              </a:pathLst>
            </a:custGeom>
            <a:ln w="5270">
              <a:solidFill>
                <a:srgbClr val="231F20"/>
              </a:solidFill>
            </a:ln>
          </p:spPr>
          <p:txBody>
            <a:bodyPr wrap="square" lIns="0" tIns="0" rIns="0" bIns="0" rtlCol="0"/>
            <a:lstStyle/>
            <a:p>
              <a:endParaRPr/>
            </a:p>
          </p:txBody>
        </p:sp>
        <p:pic>
          <p:nvPicPr>
            <p:cNvPr id="49" name="object 49"/>
            <p:cNvPicPr/>
            <p:nvPr/>
          </p:nvPicPr>
          <p:blipFill>
            <a:blip r:embed="rId12" cstate="print"/>
            <a:stretch>
              <a:fillRect/>
            </a:stretch>
          </p:blipFill>
          <p:spPr>
            <a:xfrm>
              <a:off x="2002404" y="2722616"/>
              <a:ext cx="131765" cy="131770"/>
            </a:xfrm>
            <a:prstGeom prst="rect">
              <a:avLst/>
            </a:prstGeom>
          </p:spPr>
        </p:pic>
        <p:sp>
          <p:nvSpPr>
            <p:cNvPr id="50" name="object 50"/>
            <p:cNvSpPr/>
            <p:nvPr/>
          </p:nvSpPr>
          <p:spPr>
            <a:xfrm>
              <a:off x="2002404" y="2722616"/>
              <a:ext cx="132080" cy="132080"/>
            </a:xfrm>
            <a:custGeom>
              <a:avLst/>
              <a:gdLst/>
              <a:ahLst/>
              <a:cxnLst/>
              <a:rect l="l" t="t" r="r" b="b"/>
              <a:pathLst>
                <a:path w="132080" h="132080">
                  <a:moveTo>
                    <a:pt x="65884" y="0"/>
                  </a:moveTo>
                  <a:lnTo>
                    <a:pt x="91529" y="5178"/>
                  </a:lnTo>
                  <a:lnTo>
                    <a:pt x="112470" y="19300"/>
                  </a:lnTo>
                  <a:lnTo>
                    <a:pt x="126588" y="40243"/>
                  </a:lnTo>
                  <a:lnTo>
                    <a:pt x="131765" y="65885"/>
                  </a:lnTo>
                  <a:lnTo>
                    <a:pt x="126588" y="91528"/>
                  </a:lnTo>
                  <a:lnTo>
                    <a:pt x="112470" y="112471"/>
                  </a:lnTo>
                  <a:lnTo>
                    <a:pt x="91529" y="126592"/>
                  </a:lnTo>
                  <a:lnTo>
                    <a:pt x="65884" y="131770"/>
                  </a:lnTo>
                  <a:lnTo>
                    <a:pt x="40241" y="126592"/>
                  </a:lnTo>
                  <a:lnTo>
                    <a:pt x="19298" y="112471"/>
                  </a:lnTo>
                  <a:lnTo>
                    <a:pt x="5178" y="91528"/>
                  </a:lnTo>
                  <a:lnTo>
                    <a:pt x="0" y="65885"/>
                  </a:lnTo>
                  <a:lnTo>
                    <a:pt x="5178" y="40243"/>
                  </a:lnTo>
                  <a:lnTo>
                    <a:pt x="19298" y="19300"/>
                  </a:lnTo>
                  <a:lnTo>
                    <a:pt x="40241" y="5178"/>
                  </a:lnTo>
                  <a:lnTo>
                    <a:pt x="65884" y="0"/>
                  </a:lnTo>
                  <a:close/>
                </a:path>
              </a:pathLst>
            </a:custGeom>
            <a:ln w="5270">
              <a:solidFill>
                <a:srgbClr val="231F20"/>
              </a:solidFill>
            </a:ln>
          </p:spPr>
          <p:txBody>
            <a:bodyPr wrap="square" lIns="0" tIns="0" rIns="0" bIns="0" rtlCol="0"/>
            <a:lstStyle/>
            <a:p>
              <a:endParaRPr/>
            </a:p>
          </p:txBody>
        </p:sp>
        <p:pic>
          <p:nvPicPr>
            <p:cNvPr id="51" name="object 51"/>
            <p:cNvPicPr/>
            <p:nvPr/>
          </p:nvPicPr>
          <p:blipFill>
            <a:blip r:embed="rId15" cstate="print"/>
            <a:stretch>
              <a:fillRect/>
            </a:stretch>
          </p:blipFill>
          <p:spPr>
            <a:xfrm>
              <a:off x="1740884" y="2164034"/>
              <a:ext cx="131770" cy="131770"/>
            </a:xfrm>
            <a:prstGeom prst="rect">
              <a:avLst/>
            </a:prstGeom>
          </p:spPr>
        </p:pic>
        <p:sp>
          <p:nvSpPr>
            <p:cNvPr id="52" name="object 52"/>
            <p:cNvSpPr/>
            <p:nvPr/>
          </p:nvSpPr>
          <p:spPr>
            <a:xfrm>
              <a:off x="1740884" y="2164034"/>
              <a:ext cx="132080" cy="132080"/>
            </a:xfrm>
            <a:custGeom>
              <a:avLst/>
              <a:gdLst/>
              <a:ahLst/>
              <a:cxnLst/>
              <a:rect l="l" t="t" r="r" b="b"/>
              <a:pathLst>
                <a:path w="132080" h="132080">
                  <a:moveTo>
                    <a:pt x="65885" y="0"/>
                  </a:moveTo>
                  <a:lnTo>
                    <a:pt x="91529" y="5178"/>
                  </a:lnTo>
                  <a:lnTo>
                    <a:pt x="112471" y="19298"/>
                  </a:lnTo>
                  <a:lnTo>
                    <a:pt x="126592" y="40239"/>
                  </a:lnTo>
                  <a:lnTo>
                    <a:pt x="131770" y="65881"/>
                  </a:lnTo>
                  <a:lnTo>
                    <a:pt x="126592" y="91525"/>
                  </a:lnTo>
                  <a:lnTo>
                    <a:pt x="112471" y="112469"/>
                  </a:lnTo>
                  <a:lnTo>
                    <a:pt x="91529" y="126591"/>
                  </a:lnTo>
                  <a:lnTo>
                    <a:pt x="65885" y="131770"/>
                  </a:lnTo>
                  <a:lnTo>
                    <a:pt x="40241" y="126591"/>
                  </a:lnTo>
                  <a:lnTo>
                    <a:pt x="19298" y="112469"/>
                  </a:lnTo>
                  <a:lnTo>
                    <a:pt x="5178" y="91525"/>
                  </a:lnTo>
                  <a:lnTo>
                    <a:pt x="0" y="65881"/>
                  </a:lnTo>
                  <a:lnTo>
                    <a:pt x="5178" y="40239"/>
                  </a:lnTo>
                  <a:lnTo>
                    <a:pt x="19298" y="19298"/>
                  </a:lnTo>
                  <a:lnTo>
                    <a:pt x="40241" y="5178"/>
                  </a:lnTo>
                  <a:lnTo>
                    <a:pt x="65885" y="0"/>
                  </a:lnTo>
                  <a:close/>
                </a:path>
              </a:pathLst>
            </a:custGeom>
            <a:ln w="5270">
              <a:solidFill>
                <a:srgbClr val="231F20"/>
              </a:solidFill>
            </a:ln>
          </p:spPr>
          <p:txBody>
            <a:bodyPr wrap="square" lIns="0" tIns="0" rIns="0" bIns="0" rtlCol="0"/>
            <a:lstStyle/>
            <a:p>
              <a:endParaRPr/>
            </a:p>
          </p:txBody>
        </p:sp>
        <p:pic>
          <p:nvPicPr>
            <p:cNvPr id="53" name="object 53"/>
            <p:cNvPicPr/>
            <p:nvPr/>
          </p:nvPicPr>
          <p:blipFill>
            <a:blip r:embed="rId15" cstate="print"/>
            <a:stretch>
              <a:fillRect/>
            </a:stretch>
          </p:blipFill>
          <p:spPr>
            <a:xfrm>
              <a:off x="3213399" y="2635072"/>
              <a:ext cx="131762" cy="131770"/>
            </a:xfrm>
            <a:prstGeom prst="rect">
              <a:avLst/>
            </a:prstGeom>
          </p:spPr>
        </p:pic>
        <p:pic>
          <p:nvPicPr>
            <p:cNvPr id="54" name="object 54"/>
            <p:cNvPicPr/>
            <p:nvPr/>
          </p:nvPicPr>
          <p:blipFill>
            <a:blip r:embed="rId16" cstate="print"/>
            <a:stretch>
              <a:fillRect/>
            </a:stretch>
          </p:blipFill>
          <p:spPr>
            <a:xfrm>
              <a:off x="3210764" y="2632437"/>
              <a:ext cx="137033" cy="137041"/>
            </a:xfrm>
            <a:prstGeom prst="rect">
              <a:avLst/>
            </a:prstGeom>
          </p:spPr>
        </p:pic>
        <p:pic>
          <p:nvPicPr>
            <p:cNvPr id="55" name="object 55"/>
            <p:cNvPicPr/>
            <p:nvPr/>
          </p:nvPicPr>
          <p:blipFill>
            <a:blip r:embed="rId14" cstate="print"/>
            <a:stretch>
              <a:fillRect/>
            </a:stretch>
          </p:blipFill>
          <p:spPr>
            <a:xfrm>
              <a:off x="2370066" y="2107990"/>
              <a:ext cx="131762" cy="131770"/>
            </a:xfrm>
            <a:prstGeom prst="rect">
              <a:avLst/>
            </a:prstGeom>
          </p:spPr>
        </p:pic>
        <p:sp>
          <p:nvSpPr>
            <p:cNvPr id="56" name="object 56"/>
            <p:cNvSpPr/>
            <p:nvPr/>
          </p:nvSpPr>
          <p:spPr>
            <a:xfrm>
              <a:off x="2370066" y="2107990"/>
              <a:ext cx="132080" cy="132080"/>
            </a:xfrm>
            <a:custGeom>
              <a:avLst/>
              <a:gdLst/>
              <a:ahLst/>
              <a:cxnLst/>
              <a:rect l="l" t="t" r="r" b="b"/>
              <a:pathLst>
                <a:path w="132080" h="132080">
                  <a:moveTo>
                    <a:pt x="65881" y="0"/>
                  </a:moveTo>
                  <a:lnTo>
                    <a:pt x="91526" y="5178"/>
                  </a:lnTo>
                  <a:lnTo>
                    <a:pt x="112467" y="19298"/>
                  </a:lnTo>
                  <a:lnTo>
                    <a:pt x="126585" y="40241"/>
                  </a:lnTo>
                  <a:lnTo>
                    <a:pt x="131762" y="65885"/>
                  </a:lnTo>
                  <a:lnTo>
                    <a:pt x="126585" y="91528"/>
                  </a:lnTo>
                  <a:lnTo>
                    <a:pt x="112467" y="112471"/>
                  </a:lnTo>
                  <a:lnTo>
                    <a:pt x="91526" y="126592"/>
                  </a:lnTo>
                  <a:lnTo>
                    <a:pt x="65881" y="131770"/>
                  </a:lnTo>
                  <a:lnTo>
                    <a:pt x="40236" y="126592"/>
                  </a:lnTo>
                  <a:lnTo>
                    <a:pt x="19295" y="112471"/>
                  </a:lnTo>
                  <a:lnTo>
                    <a:pt x="5176" y="91528"/>
                  </a:lnTo>
                  <a:lnTo>
                    <a:pt x="0" y="65885"/>
                  </a:lnTo>
                  <a:lnTo>
                    <a:pt x="5176" y="40241"/>
                  </a:lnTo>
                  <a:lnTo>
                    <a:pt x="19295" y="19298"/>
                  </a:lnTo>
                  <a:lnTo>
                    <a:pt x="40236" y="5178"/>
                  </a:lnTo>
                  <a:lnTo>
                    <a:pt x="65881" y="0"/>
                  </a:lnTo>
                  <a:close/>
                </a:path>
              </a:pathLst>
            </a:custGeom>
            <a:ln w="5270">
              <a:solidFill>
                <a:srgbClr val="231F20"/>
              </a:solidFill>
            </a:ln>
          </p:spPr>
          <p:txBody>
            <a:bodyPr wrap="square" lIns="0" tIns="0" rIns="0" bIns="0" rtlCol="0"/>
            <a:lstStyle/>
            <a:p>
              <a:endParaRPr/>
            </a:p>
          </p:txBody>
        </p:sp>
        <p:pic>
          <p:nvPicPr>
            <p:cNvPr id="57" name="object 57"/>
            <p:cNvPicPr/>
            <p:nvPr/>
          </p:nvPicPr>
          <p:blipFill>
            <a:blip r:embed="rId12" cstate="print"/>
            <a:stretch>
              <a:fillRect/>
            </a:stretch>
          </p:blipFill>
          <p:spPr>
            <a:xfrm>
              <a:off x="2633001" y="2731506"/>
              <a:ext cx="131772" cy="131770"/>
            </a:xfrm>
            <a:prstGeom prst="rect">
              <a:avLst/>
            </a:prstGeom>
          </p:spPr>
        </p:pic>
        <p:sp>
          <p:nvSpPr>
            <p:cNvPr id="58" name="object 58"/>
            <p:cNvSpPr/>
            <p:nvPr/>
          </p:nvSpPr>
          <p:spPr>
            <a:xfrm>
              <a:off x="2633001" y="2731506"/>
              <a:ext cx="132080" cy="132080"/>
            </a:xfrm>
            <a:custGeom>
              <a:avLst/>
              <a:gdLst/>
              <a:ahLst/>
              <a:cxnLst/>
              <a:rect l="l" t="t" r="r" b="b"/>
              <a:pathLst>
                <a:path w="132080" h="132080">
                  <a:moveTo>
                    <a:pt x="65891" y="0"/>
                  </a:moveTo>
                  <a:lnTo>
                    <a:pt x="91532" y="5178"/>
                  </a:lnTo>
                  <a:lnTo>
                    <a:pt x="112473" y="19300"/>
                  </a:lnTo>
                  <a:lnTo>
                    <a:pt x="126594" y="40243"/>
                  </a:lnTo>
                  <a:lnTo>
                    <a:pt x="131773" y="65885"/>
                  </a:lnTo>
                  <a:lnTo>
                    <a:pt x="126594" y="91529"/>
                  </a:lnTo>
                  <a:lnTo>
                    <a:pt x="112473" y="112471"/>
                  </a:lnTo>
                  <a:lnTo>
                    <a:pt x="91532" y="126592"/>
                  </a:lnTo>
                  <a:lnTo>
                    <a:pt x="65891" y="131770"/>
                  </a:lnTo>
                  <a:lnTo>
                    <a:pt x="40245" y="126592"/>
                  </a:lnTo>
                  <a:lnTo>
                    <a:pt x="19300" y="112471"/>
                  </a:lnTo>
                  <a:lnTo>
                    <a:pt x="5178" y="91529"/>
                  </a:lnTo>
                  <a:lnTo>
                    <a:pt x="0" y="65885"/>
                  </a:lnTo>
                  <a:lnTo>
                    <a:pt x="5178" y="40243"/>
                  </a:lnTo>
                  <a:lnTo>
                    <a:pt x="19300" y="19300"/>
                  </a:lnTo>
                  <a:lnTo>
                    <a:pt x="40245" y="5178"/>
                  </a:lnTo>
                  <a:lnTo>
                    <a:pt x="65891" y="0"/>
                  </a:lnTo>
                  <a:close/>
                </a:path>
              </a:pathLst>
            </a:custGeom>
            <a:ln w="5270">
              <a:solidFill>
                <a:srgbClr val="231F20"/>
              </a:solidFill>
            </a:ln>
          </p:spPr>
          <p:txBody>
            <a:bodyPr wrap="square" lIns="0" tIns="0" rIns="0" bIns="0" rtlCol="0"/>
            <a:lstStyle/>
            <a:p>
              <a:endParaRPr/>
            </a:p>
          </p:txBody>
        </p:sp>
      </p:grpSp>
      <p:sp>
        <p:nvSpPr>
          <p:cNvPr id="59" name="object 59"/>
          <p:cNvSpPr txBox="1"/>
          <p:nvPr/>
        </p:nvSpPr>
        <p:spPr>
          <a:xfrm>
            <a:off x="1421790" y="2822423"/>
            <a:ext cx="4318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a:t>
            </a:r>
            <a:r>
              <a:rPr sz="650" spc="5" dirty="0">
                <a:solidFill>
                  <a:srgbClr val="231F20"/>
                </a:solidFill>
                <a:latin typeface="Arial"/>
                <a:cs typeface="Arial"/>
              </a:rPr>
              <a:t>eak</a:t>
            </a:r>
            <a:r>
              <a:rPr sz="650" dirty="0">
                <a:solidFill>
                  <a:srgbClr val="231F20"/>
                </a:solidFill>
                <a:latin typeface="Arial"/>
                <a:cs typeface="Arial"/>
              </a:rPr>
              <a:t> </a:t>
            </a:r>
            <a:r>
              <a:rPr sz="650" spc="5" dirty="0">
                <a:solidFill>
                  <a:srgbClr val="231F20"/>
                </a:solidFill>
                <a:latin typeface="Arial"/>
                <a:cs typeface="Arial"/>
              </a:rPr>
              <a:t>peer</a:t>
            </a:r>
            <a:endParaRPr sz="650">
              <a:latin typeface="Arial"/>
              <a:cs typeface="Arial"/>
            </a:endParaRPr>
          </a:p>
        </p:txBody>
      </p:sp>
      <p:sp>
        <p:nvSpPr>
          <p:cNvPr id="60" name="object 60"/>
          <p:cNvSpPr/>
          <p:nvPr/>
        </p:nvSpPr>
        <p:spPr>
          <a:xfrm>
            <a:off x="2119693" y="2279294"/>
            <a:ext cx="1374775" cy="261620"/>
          </a:xfrm>
          <a:custGeom>
            <a:avLst/>
            <a:gdLst/>
            <a:ahLst/>
            <a:cxnLst/>
            <a:rect l="l" t="t" r="r" b="b"/>
            <a:pathLst>
              <a:path w="1374775" h="261619">
                <a:moveTo>
                  <a:pt x="813282" y="175514"/>
                </a:moveTo>
                <a:lnTo>
                  <a:pt x="0" y="175514"/>
                </a:lnTo>
                <a:lnTo>
                  <a:pt x="0" y="261467"/>
                </a:lnTo>
                <a:lnTo>
                  <a:pt x="813282" y="261467"/>
                </a:lnTo>
                <a:lnTo>
                  <a:pt x="813282" y="175514"/>
                </a:lnTo>
                <a:close/>
              </a:path>
              <a:path w="1374775" h="261619">
                <a:moveTo>
                  <a:pt x="1374457" y="0"/>
                </a:moveTo>
                <a:lnTo>
                  <a:pt x="1212291" y="0"/>
                </a:lnTo>
                <a:lnTo>
                  <a:pt x="1212291" y="130022"/>
                </a:lnTo>
                <a:lnTo>
                  <a:pt x="1374457" y="130022"/>
                </a:lnTo>
                <a:lnTo>
                  <a:pt x="1374457" y="0"/>
                </a:lnTo>
                <a:close/>
              </a:path>
            </a:pathLst>
          </a:custGeom>
          <a:solidFill>
            <a:srgbClr val="FFFFFF"/>
          </a:solidFill>
        </p:spPr>
        <p:txBody>
          <a:bodyPr wrap="square" lIns="0" tIns="0" rIns="0" bIns="0" rtlCol="0"/>
          <a:lstStyle/>
          <a:p>
            <a:endParaRPr/>
          </a:p>
        </p:txBody>
      </p:sp>
      <p:sp>
        <p:nvSpPr>
          <p:cNvPr id="61" name="object 61"/>
          <p:cNvSpPr txBox="1"/>
          <p:nvPr/>
        </p:nvSpPr>
        <p:spPr>
          <a:xfrm>
            <a:off x="1843456" y="2214992"/>
            <a:ext cx="1764030" cy="339725"/>
          </a:xfrm>
          <a:prstGeom prst="rect">
            <a:avLst/>
          </a:prstGeom>
        </p:spPr>
        <p:txBody>
          <a:bodyPr vert="horz" wrap="square" lIns="0" tIns="4445" rIns="0" bIns="0" rtlCol="0">
            <a:spAutoFit/>
          </a:bodyPr>
          <a:lstStyle/>
          <a:p>
            <a:pPr>
              <a:lnSpc>
                <a:spcPct val="100000"/>
              </a:lnSpc>
              <a:spcBef>
                <a:spcPts val="35"/>
              </a:spcBef>
            </a:pPr>
            <a:endParaRPr sz="450" dirty="0">
              <a:latin typeface="Times New Roman"/>
              <a:cs typeface="Times New Roman"/>
            </a:endParaRPr>
          </a:p>
          <a:p>
            <a:pPr marR="5080" algn="r">
              <a:lnSpc>
                <a:spcPct val="100000"/>
              </a:lnSpc>
            </a:pPr>
            <a:r>
              <a:rPr sz="650" spc="5" dirty="0">
                <a:solidFill>
                  <a:srgbClr val="231F20"/>
                </a:solidFill>
                <a:latin typeface="Arial"/>
                <a:cs typeface="Arial"/>
              </a:rPr>
              <a:t>Super</a:t>
            </a:r>
            <a:r>
              <a:rPr sz="650" spc="-40" dirty="0">
                <a:solidFill>
                  <a:srgbClr val="231F20"/>
                </a:solidFill>
                <a:latin typeface="Arial"/>
                <a:cs typeface="Arial"/>
              </a:rPr>
              <a:t> </a:t>
            </a:r>
            <a:r>
              <a:rPr sz="650" spc="5" dirty="0">
                <a:solidFill>
                  <a:srgbClr val="231F20"/>
                </a:solidFill>
                <a:latin typeface="Arial"/>
                <a:cs typeface="Arial"/>
              </a:rPr>
              <a:t>peer</a:t>
            </a:r>
            <a:endParaRPr sz="650" dirty="0">
              <a:latin typeface="Arial"/>
              <a:cs typeface="Arial"/>
            </a:endParaRPr>
          </a:p>
          <a:p>
            <a:pPr marL="12700">
              <a:lnSpc>
                <a:spcPct val="100000"/>
              </a:lnSpc>
              <a:spcBef>
                <a:spcPts val="459"/>
              </a:spcBef>
            </a:pPr>
            <a:r>
              <a:rPr sz="650" spc="5" dirty="0">
                <a:solidFill>
                  <a:srgbClr val="231F20"/>
                </a:solidFill>
                <a:latin typeface="Arial"/>
                <a:cs typeface="Arial"/>
              </a:rPr>
              <a:t>Overlay</a:t>
            </a:r>
            <a:r>
              <a:rPr sz="650" spc="-15" dirty="0">
                <a:solidFill>
                  <a:srgbClr val="231F20"/>
                </a:solidFill>
                <a:latin typeface="Arial"/>
                <a:cs typeface="Arial"/>
              </a:rPr>
              <a:t> </a:t>
            </a:r>
            <a:r>
              <a:rPr sz="650" spc="5" dirty="0">
                <a:solidFill>
                  <a:srgbClr val="231F20"/>
                </a:solidFill>
                <a:latin typeface="Arial"/>
                <a:cs typeface="Arial"/>
              </a:rPr>
              <a:t>network</a:t>
            </a:r>
            <a:r>
              <a:rPr sz="650" spc="-10" dirty="0">
                <a:solidFill>
                  <a:srgbClr val="231F20"/>
                </a:solidFill>
                <a:latin typeface="Arial"/>
                <a:cs typeface="Arial"/>
              </a:rPr>
              <a:t> </a:t>
            </a:r>
            <a:r>
              <a:rPr sz="650" spc="5" dirty="0">
                <a:solidFill>
                  <a:srgbClr val="231F20"/>
                </a:solidFill>
                <a:latin typeface="Arial"/>
                <a:cs typeface="Arial"/>
              </a:rPr>
              <a:t>of</a:t>
            </a:r>
            <a:r>
              <a:rPr sz="650" spc="-10" dirty="0">
                <a:solidFill>
                  <a:srgbClr val="231F20"/>
                </a:solidFill>
                <a:latin typeface="Arial"/>
                <a:cs typeface="Arial"/>
              </a:rPr>
              <a:t> </a:t>
            </a:r>
            <a:r>
              <a:rPr sz="650" spc="5" dirty="0">
                <a:solidFill>
                  <a:srgbClr val="231F20"/>
                </a:solidFill>
                <a:latin typeface="Arial"/>
                <a:cs typeface="Arial"/>
              </a:rPr>
              <a:t>super</a:t>
            </a:r>
            <a:r>
              <a:rPr sz="650" spc="-10" dirty="0">
                <a:solidFill>
                  <a:srgbClr val="231F20"/>
                </a:solidFill>
                <a:latin typeface="Arial"/>
                <a:cs typeface="Arial"/>
              </a:rPr>
              <a:t> </a:t>
            </a:r>
            <a:r>
              <a:rPr sz="650" spc="5" dirty="0">
                <a:solidFill>
                  <a:srgbClr val="231F20"/>
                </a:solidFill>
                <a:latin typeface="Arial"/>
                <a:cs typeface="Arial"/>
              </a:rPr>
              <a:t>peers</a:t>
            </a:r>
            <a:endParaRPr sz="650" dirty="0">
              <a:latin typeface="Arial"/>
              <a:cs typeface="Arial"/>
            </a:endParaRPr>
          </a:p>
        </p:txBody>
      </p:sp>
      <p:sp>
        <p:nvSpPr>
          <p:cNvPr id="62" name="object 62"/>
          <p:cNvSpPr txBox="1"/>
          <p:nvPr/>
        </p:nvSpPr>
        <p:spPr>
          <a:xfrm>
            <a:off x="66713" y="3327684"/>
            <a:ext cx="15976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17" action="ppaction://hlinksldjump"/>
              </a:rPr>
              <a:t>Hierarchically</a:t>
            </a:r>
            <a:r>
              <a:rPr sz="600" spc="5" dirty="0">
                <a:solidFill>
                  <a:srgbClr val="3333B2"/>
                </a:solidFill>
                <a:latin typeface="Arial"/>
                <a:cs typeface="Arial"/>
                <a:hlinkClick r:id="rId17" action="ppaction://hlinksldjump"/>
              </a:rPr>
              <a:t> </a:t>
            </a:r>
            <a:r>
              <a:rPr sz="600" spc="-5" dirty="0">
                <a:solidFill>
                  <a:srgbClr val="3333B2"/>
                </a:solidFill>
                <a:latin typeface="Arial"/>
                <a:cs typeface="Arial"/>
                <a:hlinkClick r:id="rId17" action="ppaction://hlinksldjump"/>
              </a:rPr>
              <a:t>organized</a:t>
            </a:r>
            <a:r>
              <a:rPr sz="600" spc="5" dirty="0">
                <a:solidFill>
                  <a:srgbClr val="3333B2"/>
                </a:solidFill>
                <a:latin typeface="Arial"/>
                <a:cs typeface="Arial"/>
                <a:hlinkClick r:id="rId17" action="ppaction://hlinksldjump"/>
              </a:rPr>
              <a:t> </a:t>
            </a:r>
            <a:r>
              <a:rPr sz="600" spc="-5" dirty="0">
                <a:solidFill>
                  <a:srgbClr val="3333B2"/>
                </a:solidFill>
                <a:latin typeface="Arial"/>
                <a:cs typeface="Arial"/>
                <a:hlinkClick r:id="rId17" action="ppaction://hlinksldjump"/>
              </a:rPr>
              <a:t>peer-to-peer</a:t>
            </a:r>
            <a:r>
              <a:rPr sz="600" spc="5" dirty="0">
                <a:solidFill>
                  <a:srgbClr val="3333B2"/>
                </a:solidFill>
                <a:latin typeface="Arial"/>
                <a:cs typeface="Arial"/>
                <a:hlinkClick r:id="rId17" action="ppaction://hlinksldjump"/>
              </a:rPr>
              <a:t> </a:t>
            </a:r>
            <a:r>
              <a:rPr sz="600" spc="-5" dirty="0">
                <a:solidFill>
                  <a:srgbClr val="3333B2"/>
                </a:solidFill>
                <a:latin typeface="Arial"/>
                <a:cs typeface="Arial"/>
                <a:hlinkClick r:id="rId17" action="ppaction://hlinksldjump"/>
              </a:rPr>
              <a:t>networks</a:t>
            </a:r>
            <a:endParaRPr sz="600">
              <a:latin typeface="Arial"/>
              <a:cs typeface="Arial"/>
            </a:endParaRPr>
          </a:p>
        </p:txBody>
      </p:sp>
      <p:sp>
        <p:nvSpPr>
          <p:cNvPr id="63" name="object 63"/>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62250" algn="l"/>
              </a:tabLst>
            </a:pPr>
            <a:r>
              <a:rPr sz="600" spc="-5" dirty="0">
                <a:solidFill>
                  <a:srgbClr val="3333B2"/>
                </a:solidFill>
                <a:latin typeface="Arial"/>
                <a:cs typeface="Arial"/>
                <a:hlinkClick r:id="rId3"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Decentralized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organizations:</a:t>
            </a:r>
            <a:r>
              <a:rPr sz="600" spc="5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peer-to-peer</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3966210" cy="244475"/>
          </a:xfrm>
          <a:prstGeom prst="rect">
            <a:avLst/>
          </a:prstGeom>
        </p:spPr>
        <p:txBody>
          <a:bodyPr vert="horz" wrap="square" lIns="0" tIns="17145" rIns="0" bIns="0" rtlCol="0">
            <a:spAutoFit/>
          </a:bodyPr>
          <a:lstStyle/>
          <a:p>
            <a:pPr marL="12700">
              <a:lnSpc>
                <a:spcPct val="100000"/>
              </a:lnSpc>
              <a:spcBef>
                <a:spcPts val="135"/>
              </a:spcBef>
            </a:pPr>
            <a:r>
              <a:rPr spc="5" dirty="0"/>
              <a:t>Skype’s</a:t>
            </a:r>
            <a:r>
              <a:rPr dirty="0"/>
              <a:t> </a:t>
            </a:r>
            <a:r>
              <a:rPr spc="15" dirty="0"/>
              <a:t>principle</a:t>
            </a:r>
            <a:r>
              <a:rPr spc="5" dirty="0"/>
              <a:t> </a:t>
            </a:r>
            <a:r>
              <a:rPr spc="10" dirty="0"/>
              <a:t>operation:</a:t>
            </a:r>
            <a:r>
              <a:rPr spc="105" dirty="0"/>
              <a:t> </a:t>
            </a:r>
            <a:r>
              <a:rPr i="1" spc="20" dirty="0">
                <a:latin typeface="Arial"/>
                <a:cs typeface="Arial"/>
              </a:rPr>
              <a:t>A</a:t>
            </a:r>
            <a:r>
              <a:rPr i="1" spc="5" dirty="0">
                <a:latin typeface="Arial"/>
                <a:cs typeface="Arial"/>
              </a:rPr>
              <a:t> </a:t>
            </a:r>
            <a:r>
              <a:rPr spc="10" dirty="0"/>
              <a:t>wants</a:t>
            </a:r>
            <a:r>
              <a:rPr spc="5" dirty="0"/>
              <a:t> </a:t>
            </a:r>
            <a:r>
              <a:rPr spc="10" dirty="0"/>
              <a:t>to</a:t>
            </a:r>
            <a:r>
              <a:rPr spc="5" dirty="0"/>
              <a:t> </a:t>
            </a:r>
            <a:r>
              <a:rPr spc="15" dirty="0"/>
              <a:t>contact</a:t>
            </a:r>
            <a:r>
              <a:rPr spc="5" dirty="0"/>
              <a:t> </a:t>
            </a:r>
            <a:r>
              <a:rPr i="1" spc="20" dirty="0">
                <a:latin typeface="Arial"/>
                <a:cs typeface="Arial"/>
              </a:rPr>
              <a:t>B</a:t>
            </a:r>
          </a:p>
        </p:txBody>
      </p:sp>
      <p:sp>
        <p:nvSpPr>
          <p:cNvPr id="4" name="object 4"/>
          <p:cNvSpPr txBox="1"/>
          <p:nvPr/>
        </p:nvSpPr>
        <p:spPr>
          <a:xfrm>
            <a:off x="54013" y="429321"/>
            <a:ext cx="4231005" cy="3093085"/>
          </a:xfrm>
          <a:prstGeom prst="rect">
            <a:avLst/>
          </a:prstGeom>
        </p:spPr>
        <p:txBody>
          <a:bodyPr vert="horz" wrap="square" lIns="0" tIns="12065" rIns="0" bIns="0" rtlCol="0">
            <a:spAutoFit/>
          </a:bodyPr>
          <a:lstStyle/>
          <a:p>
            <a:pPr marL="305435">
              <a:lnSpc>
                <a:spcPct val="100000"/>
              </a:lnSpc>
              <a:spcBef>
                <a:spcPts val="95"/>
              </a:spcBef>
            </a:pPr>
            <a:r>
              <a:rPr sz="1200" spc="-5" dirty="0">
                <a:solidFill>
                  <a:srgbClr val="3333B2"/>
                </a:solidFill>
                <a:latin typeface="Arial"/>
                <a:cs typeface="Arial"/>
              </a:rPr>
              <a:t>Both</a:t>
            </a:r>
            <a:r>
              <a:rPr sz="1200" spc="-10" dirty="0">
                <a:solidFill>
                  <a:srgbClr val="3333B2"/>
                </a:solidFill>
                <a:latin typeface="Arial"/>
                <a:cs typeface="Arial"/>
              </a:rPr>
              <a:t> </a:t>
            </a:r>
            <a:r>
              <a:rPr sz="1200" i="1" spc="-5" dirty="0">
                <a:solidFill>
                  <a:srgbClr val="3333B2"/>
                </a:solidFill>
                <a:latin typeface="Arial"/>
                <a:cs typeface="Arial"/>
              </a:rPr>
              <a:t>A</a:t>
            </a:r>
            <a:r>
              <a:rPr sz="1200" i="1" spc="-10" dirty="0">
                <a:solidFill>
                  <a:srgbClr val="3333B2"/>
                </a:solidFill>
                <a:latin typeface="Arial"/>
                <a:cs typeface="Arial"/>
              </a:rPr>
              <a:t> </a:t>
            </a:r>
            <a:r>
              <a:rPr sz="1200" spc="-5" dirty="0">
                <a:solidFill>
                  <a:srgbClr val="3333B2"/>
                </a:solidFill>
                <a:latin typeface="Arial"/>
                <a:cs typeface="Arial"/>
              </a:rPr>
              <a:t>and </a:t>
            </a:r>
            <a:r>
              <a:rPr sz="1200" i="1" spc="-5" dirty="0">
                <a:solidFill>
                  <a:srgbClr val="3333B2"/>
                </a:solidFill>
                <a:latin typeface="Arial"/>
                <a:cs typeface="Arial"/>
              </a:rPr>
              <a:t>B</a:t>
            </a:r>
            <a:r>
              <a:rPr sz="1200" i="1" spc="45" dirty="0">
                <a:solidFill>
                  <a:srgbClr val="3333B2"/>
                </a:solidFill>
                <a:latin typeface="Arial"/>
                <a:cs typeface="Arial"/>
              </a:rPr>
              <a:t> </a:t>
            </a:r>
            <a:r>
              <a:rPr sz="1200" spc="-5" dirty="0">
                <a:solidFill>
                  <a:srgbClr val="3333B2"/>
                </a:solidFill>
                <a:latin typeface="Arial"/>
                <a:cs typeface="Arial"/>
              </a:rPr>
              <a:t>are on</a:t>
            </a:r>
            <a:r>
              <a:rPr sz="1200" spc="-10" dirty="0">
                <a:solidFill>
                  <a:srgbClr val="3333B2"/>
                </a:solidFill>
                <a:latin typeface="Arial"/>
                <a:cs typeface="Arial"/>
              </a:rPr>
              <a:t> </a:t>
            </a:r>
            <a:r>
              <a:rPr sz="1200" spc="-5" dirty="0">
                <a:solidFill>
                  <a:srgbClr val="3333B2"/>
                </a:solidFill>
                <a:latin typeface="Arial"/>
                <a:cs typeface="Arial"/>
              </a:rPr>
              <a:t>the </a:t>
            </a:r>
            <a:r>
              <a:rPr sz="1200" spc="-10" dirty="0">
                <a:solidFill>
                  <a:srgbClr val="3333B2"/>
                </a:solidFill>
                <a:latin typeface="Arial"/>
                <a:cs typeface="Arial"/>
              </a:rPr>
              <a:t>public </a:t>
            </a:r>
            <a:r>
              <a:rPr sz="1200" dirty="0">
                <a:solidFill>
                  <a:srgbClr val="3333B2"/>
                </a:solidFill>
                <a:latin typeface="Arial"/>
                <a:cs typeface="Arial"/>
              </a:rPr>
              <a:t>Internet</a:t>
            </a:r>
            <a:endParaRPr sz="1200" dirty="0">
              <a:latin typeface="Arial"/>
              <a:cs typeface="Arial"/>
            </a:endParaRPr>
          </a:p>
          <a:p>
            <a:pPr marL="582930" indent="-168275">
              <a:lnSpc>
                <a:spcPts val="1200"/>
              </a:lnSpc>
              <a:spcBef>
                <a:spcPts val="770"/>
              </a:spcBef>
              <a:buClr>
                <a:srgbClr val="3333B2"/>
              </a:buClr>
              <a:buChar char="►"/>
              <a:tabLst>
                <a:tab pos="583565" algn="l"/>
              </a:tabLst>
            </a:pPr>
            <a:r>
              <a:rPr sz="1000" spc="-5" dirty="0">
                <a:latin typeface="Arial"/>
                <a:cs typeface="Arial"/>
              </a:rPr>
              <a:t>A TCP connection</a:t>
            </a:r>
            <a:r>
              <a:rPr sz="1000" dirty="0">
                <a:latin typeface="Arial"/>
                <a:cs typeface="Arial"/>
              </a:rPr>
              <a:t> </a:t>
            </a:r>
            <a:r>
              <a:rPr sz="1000" spc="-5" dirty="0">
                <a:latin typeface="Arial"/>
                <a:cs typeface="Arial"/>
              </a:rPr>
              <a:t>is set</a:t>
            </a:r>
            <a:r>
              <a:rPr sz="1000" dirty="0">
                <a:latin typeface="Arial"/>
                <a:cs typeface="Arial"/>
              </a:rPr>
              <a:t> </a:t>
            </a:r>
            <a:r>
              <a:rPr sz="1000" spc="-5" dirty="0">
                <a:latin typeface="Arial"/>
                <a:cs typeface="Arial"/>
              </a:rPr>
              <a:t>up between</a:t>
            </a:r>
            <a:r>
              <a:rPr sz="1000" dirty="0">
                <a:latin typeface="Arial"/>
                <a:cs typeface="Arial"/>
              </a:rPr>
              <a:t> </a:t>
            </a:r>
            <a:r>
              <a:rPr sz="1000" i="1" spc="-5" dirty="0">
                <a:latin typeface="Arial"/>
                <a:cs typeface="Arial"/>
              </a:rPr>
              <a:t>A </a:t>
            </a:r>
            <a:r>
              <a:rPr sz="1000" spc="-5" dirty="0">
                <a:latin typeface="Arial"/>
                <a:cs typeface="Arial"/>
              </a:rPr>
              <a:t>and</a:t>
            </a:r>
            <a:r>
              <a:rPr sz="1000" dirty="0">
                <a:latin typeface="Arial"/>
                <a:cs typeface="Arial"/>
              </a:rPr>
              <a:t> </a:t>
            </a:r>
            <a:r>
              <a:rPr sz="1000" i="1" spc="-5" dirty="0">
                <a:latin typeface="Arial"/>
                <a:cs typeface="Arial"/>
              </a:rPr>
              <a:t>B</a:t>
            </a:r>
            <a:r>
              <a:rPr sz="1000" i="1" spc="4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control </a:t>
            </a:r>
            <a:r>
              <a:rPr sz="1000" spc="-10" dirty="0">
                <a:latin typeface="Arial"/>
                <a:cs typeface="Arial"/>
              </a:rPr>
              <a:t>packets.</a:t>
            </a:r>
            <a:endParaRPr sz="1000" dirty="0">
              <a:latin typeface="Arial"/>
              <a:cs typeface="Arial"/>
            </a:endParaRPr>
          </a:p>
          <a:p>
            <a:pPr marL="582930" marR="533400" indent="-168275">
              <a:lnSpc>
                <a:spcPts val="1200"/>
              </a:lnSpc>
              <a:spcBef>
                <a:spcPts val="40"/>
              </a:spcBef>
              <a:buClr>
                <a:srgbClr val="3333B2"/>
              </a:buClr>
              <a:buChar char="►"/>
              <a:tabLst>
                <a:tab pos="583565" algn="l"/>
              </a:tabLst>
            </a:pPr>
            <a:r>
              <a:rPr sz="1000" spc="-5" dirty="0">
                <a:latin typeface="Arial"/>
                <a:cs typeface="Arial"/>
              </a:rPr>
              <a:t>The actual</a:t>
            </a:r>
            <a:r>
              <a:rPr sz="1000" dirty="0">
                <a:latin typeface="Arial"/>
                <a:cs typeface="Arial"/>
              </a:rPr>
              <a:t> </a:t>
            </a:r>
            <a:r>
              <a:rPr sz="1000" spc="-5" dirty="0">
                <a:latin typeface="Arial"/>
                <a:cs typeface="Arial"/>
              </a:rPr>
              <a:t>call</a:t>
            </a:r>
            <a:r>
              <a:rPr sz="1000" dirty="0">
                <a:latin typeface="Arial"/>
                <a:cs typeface="Arial"/>
              </a:rPr>
              <a:t> </a:t>
            </a:r>
            <a:r>
              <a:rPr sz="1000" spc="-10" dirty="0">
                <a:latin typeface="Arial"/>
                <a:cs typeface="Arial"/>
              </a:rPr>
              <a:t>takes</a:t>
            </a:r>
            <a:r>
              <a:rPr sz="1000" spc="-5" dirty="0">
                <a:latin typeface="Arial"/>
                <a:cs typeface="Arial"/>
              </a:rPr>
              <a:t> place</a:t>
            </a:r>
            <a:r>
              <a:rPr sz="1000" dirty="0">
                <a:latin typeface="Arial"/>
                <a:cs typeface="Arial"/>
              </a:rPr>
              <a:t> </a:t>
            </a:r>
            <a:r>
              <a:rPr sz="1000" spc="-5" dirty="0">
                <a:latin typeface="Arial"/>
                <a:cs typeface="Arial"/>
              </a:rPr>
              <a:t>using</a:t>
            </a:r>
            <a:r>
              <a:rPr sz="1000" dirty="0">
                <a:latin typeface="Arial"/>
                <a:cs typeface="Arial"/>
              </a:rPr>
              <a:t> </a:t>
            </a:r>
            <a:r>
              <a:rPr sz="1000" spc="-5" dirty="0">
                <a:latin typeface="Arial"/>
                <a:cs typeface="Arial"/>
              </a:rPr>
              <a:t>UDP </a:t>
            </a:r>
            <a:r>
              <a:rPr sz="1000" spc="-10" dirty="0">
                <a:latin typeface="Arial"/>
                <a:cs typeface="Arial"/>
              </a:rPr>
              <a:t>packets</a:t>
            </a:r>
            <a:r>
              <a:rPr sz="1000" dirty="0">
                <a:latin typeface="Arial"/>
                <a:cs typeface="Arial"/>
              </a:rPr>
              <a:t> </a:t>
            </a:r>
            <a:r>
              <a:rPr sz="1000" spc="-5" dirty="0">
                <a:latin typeface="Arial"/>
                <a:cs typeface="Arial"/>
              </a:rPr>
              <a:t>between </a:t>
            </a:r>
            <a:r>
              <a:rPr sz="1000" spc="-265" dirty="0">
                <a:latin typeface="Arial"/>
                <a:cs typeface="Arial"/>
              </a:rPr>
              <a:t> </a:t>
            </a:r>
            <a:r>
              <a:rPr sz="1000" spc="-5" dirty="0">
                <a:latin typeface="Arial"/>
                <a:cs typeface="Arial"/>
              </a:rPr>
              <a:t>negotiated</a:t>
            </a:r>
            <a:r>
              <a:rPr sz="1000" spc="-10" dirty="0">
                <a:latin typeface="Arial"/>
                <a:cs typeface="Arial"/>
              </a:rPr>
              <a:t> </a:t>
            </a:r>
            <a:r>
              <a:rPr sz="1000" dirty="0">
                <a:latin typeface="Arial"/>
                <a:cs typeface="Arial"/>
              </a:rPr>
              <a:t>ports.</a:t>
            </a:r>
          </a:p>
          <a:p>
            <a:pPr marL="305435" marR="470534">
              <a:lnSpc>
                <a:spcPts val="1390"/>
              </a:lnSpc>
              <a:spcBef>
                <a:spcPts val="1030"/>
              </a:spcBef>
            </a:pPr>
            <a:r>
              <a:rPr sz="900" i="1" spc="-5" dirty="0">
                <a:solidFill>
                  <a:srgbClr val="3333B2"/>
                </a:solidFill>
                <a:latin typeface="Arial"/>
                <a:cs typeface="Arial"/>
              </a:rPr>
              <a:t>A </a:t>
            </a:r>
            <a:r>
              <a:rPr sz="1200" spc="-5" dirty="0">
                <a:solidFill>
                  <a:srgbClr val="3333B2"/>
                </a:solidFill>
                <a:latin typeface="Arial"/>
                <a:cs typeface="Arial"/>
              </a:rPr>
              <a:t>operates behind a </a:t>
            </a:r>
            <a:r>
              <a:rPr sz="1200" spc="-10" dirty="0">
                <a:solidFill>
                  <a:srgbClr val="3333B2"/>
                </a:solidFill>
                <a:latin typeface="Arial"/>
                <a:cs typeface="Arial"/>
              </a:rPr>
              <a:t>firewall, </a:t>
            </a:r>
            <a:r>
              <a:rPr sz="1200" spc="-5" dirty="0">
                <a:solidFill>
                  <a:srgbClr val="3333B2"/>
                </a:solidFill>
                <a:latin typeface="Arial"/>
                <a:cs typeface="Arial"/>
              </a:rPr>
              <a:t>while </a:t>
            </a:r>
            <a:r>
              <a:rPr sz="900" i="1" spc="-5" dirty="0">
                <a:solidFill>
                  <a:srgbClr val="3333B2"/>
                </a:solidFill>
                <a:latin typeface="Arial"/>
                <a:cs typeface="Arial"/>
              </a:rPr>
              <a:t>B</a:t>
            </a:r>
            <a:r>
              <a:rPr sz="900" i="1" dirty="0">
                <a:solidFill>
                  <a:srgbClr val="3333B2"/>
                </a:solidFill>
                <a:latin typeface="Arial"/>
                <a:cs typeface="Arial"/>
              </a:rPr>
              <a:t> </a:t>
            </a:r>
            <a:r>
              <a:rPr sz="1200" spc="-5" dirty="0">
                <a:solidFill>
                  <a:srgbClr val="3333B2"/>
                </a:solidFill>
                <a:latin typeface="Arial"/>
                <a:cs typeface="Arial"/>
              </a:rPr>
              <a:t>is on the </a:t>
            </a:r>
            <a:r>
              <a:rPr sz="1200" spc="-10" dirty="0">
                <a:solidFill>
                  <a:srgbClr val="3333B2"/>
                </a:solidFill>
                <a:latin typeface="Arial"/>
                <a:cs typeface="Arial"/>
              </a:rPr>
              <a:t>public </a:t>
            </a:r>
            <a:r>
              <a:rPr sz="1200" spc="-320" dirty="0">
                <a:solidFill>
                  <a:srgbClr val="3333B2"/>
                </a:solidFill>
                <a:latin typeface="Arial"/>
                <a:cs typeface="Arial"/>
              </a:rPr>
              <a:t> </a:t>
            </a:r>
            <a:r>
              <a:rPr sz="1200" dirty="0">
                <a:solidFill>
                  <a:srgbClr val="3333B2"/>
                </a:solidFill>
                <a:latin typeface="Arial"/>
                <a:cs typeface="Arial"/>
              </a:rPr>
              <a:t>Internet</a:t>
            </a:r>
            <a:endParaRPr sz="1200" dirty="0">
              <a:latin typeface="Arial"/>
              <a:cs typeface="Arial"/>
            </a:endParaRPr>
          </a:p>
          <a:p>
            <a:pPr marL="582930" indent="-168275">
              <a:lnSpc>
                <a:spcPts val="1200"/>
              </a:lnSpc>
              <a:spcBef>
                <a:spcPts val="509"/>
              </a:spcBef>
              <a:buClr>
                <a:srgbClr val="3333B2"/>
              </a:buClr>
              <a:buSzPct val="111111"/>
              <a:buFont typeface="Arial"/>
              <a:buChar char="►"/>
              <a:tabLst>
                <a:tab pos="583565" algn="l"/>
              </a:tabLst>
            </a:pPr>
            <a:r>
              <a:rPr sz="900" i="1" spc="-5" dirty="0">
                <a:latin typeface="Arial"/>
                <a:cs typeface="Arial"/>
              </a:rPr>
              <a:t>A</a:t>
            </a:r>
            <a:r>
              <a:rPr sz="900" i="1" spc="10" dirty="0">
                <a:latin typeface="Arial"/>
                <a:cs typeface="Arial"/>
              </a:rPr>
              <a:t> </a:t>
            </a:r>
            <a:r>
              <a:rPr sz="1000" spc="-15" dirty="0">
                <a:latin typeface="Arial"/>
                <a:cs typeface="Arial"/>
              </a:rPr>
              <a:t>sets</a:t>
            </a:r>
            <a:r>
              <a:rPr sz="1000" spc="-20" dirty="0">
                <a:latin typeface="Arial"/>
                <a:cs typeface="Arial"/>
              </a:rPr>
              <a:t> </a:t>
            </a:r>
            <a:r>
              <a:rPr sz="1000" spc="-15" dirty="0">
                <a:latin typeface="Arial"/>
                <a:cs typeface="Arial"/>
              </a:rPr>
              <a:t>up</a:t>
            </a:r>
            <a:r>
              <a:rPr sz="1000" spc="-20" dirty="0">
                <a:latin typeface="Arial"/>
                <a:cs typeface="Arial"/>
              </a:rPr>
              <a:t> </a:t>
            </a:r>
            <a:r>
              <a:rPr sz="1000" spc="-15" dirty="0">
                <a:latin typeface="Arial"/>
                <a:cs typeface="Arial"/>
              </a:rPr>
              <a:t>a</a:t>
            </a:r>
            <a:r>
              <a:rPr sz="1000" spc="-20" dirty="0">
                <a:latin typeface="Arial"/>
                <a:cs typeface="Arial"/>
              </a:rPr>
              <a:t> TCP </a:t>
            </a:r>
            <a:r>
              <a:rPr sz="1000" spc="-15" dirty="0">
                <a:latin typeface="Arial"/>
                <a:cs typeface="Arial"/>
              </a:rPr>
              <a:t>connection</a:t>
            </a:r>
            <a:r>
              <a:rPr sz="1000" spc="-20" dirty="0">
                <a:latin typeface="Arial"/>
                <a:cs typeface="Arial"/>
              </a:rPr>
              <a:t> (for </a:t>
            </a:r>
            <a:r>
              <a:rPr sz="1000" spc="-15" dirty="0">
                <a:latin typeface="Arial"/>
                <a:cs typeface="Arial"/>
              </a:rPr>
              <a:t>control</a:t>
            </a:r>
            <a:r>
              <a:rPr sz="1000" spc="-20" dirty="0">
                <a:latin typeface="Arial"/>
                <a:cs typeface="Arial"/>
              </a:rPr>
              <a:t> packets) </a:t>
            </a:r>
            <a:r>
              <a:rPr sz="1000" spc="-10" dirty="0">
                <a:latin typeface="Arial"/>
                <a:cs typeface="Arial"/>
              </a:rPr>
              <a:t>to</a:t>
            </a:r>
            <a:r>
              <a:rPr sz="1000" spc="-20" dirty="0">
                <a:latin typeface="Arial"/>
                <a:cs typeface="Arial"/>
              </a:rPr>
              <a:t> </a:t>
            </a:r>
            <a:r>
              <a:rPr sz="1000" spc="-15" dirty="0">
                <a:latin typeface="Arial"/>
                <a:cs typeface="Arial"/>
              </a:rPr>
              <a:t>a</a:t>
            </a:r>
            <a:r>
              <a:rPr sz="1000" spc="-20" dirty="0">
                <a:latin typeface="Arial"/>
                <a:cs typeface="Arial"/>
              </a:rPr>
              <a:t> </a:t>
            </a:r>
            <a:r>
              <a:rPr sz="1000" spc="-15" dirty="0">
                <a:latin typeface="Arial"/>
                <a:cs typeface="Arial"/>
              </a:rPr>
              <a:t>super</a:t>
            </a:r>
            <a:r>
              <a:rPr sz="1000" spc="-20" dirty="0">
                <a:latin typeface="Arial"/>
                <a:cs typeface="Arial"/>
              </a:rPr>
              <a:t> </a:t>
            </a:r>
            <a:r>
              <a:rPr sz="1000" spc="-15" dirty="0">
                <a:latin typeface="Arial"/>
                <a:cs typeface="Arial"/>
              </a:rPr>
              <a:t>peer</a:t>
            </a:r>
            <a:r>
              <a:rPr sz="1000" spc="-20" dirty="0">
                <a:latin typeface="Arial"/>
                <a:cs typeface="Arial"/>
              </a:rPr>
              <a:t> </a:t>
            </a:r>
            <a:r>
              <a:rPr sz="900" i="1" spc="-5" dirty="0">
                <a:latin typeface="Arial"/>
                <a:cs typeface="Arial"/>
              </a:rPr>
              <a:t>S</a:t>
            </a:r>
            <a:endParaRPr sz="900" dirty="0">
              <a:latin typeface="Arial"/>
              <a:cs typeface="Arial"/>
            </a:endParaRPr>
          </a:p>
          <a:p>
            <a:pPr marL="582930" indent="-168275">
              <a:lnSpc>
                <a:spcPts val="1195"/>
              </a:lnSpc>
              <a:buClr>
                <a:srgbClr val="3333B2"/>
              </a:buClr>
              <a:buSzPct val="111111"/>
              <a:buFont typeface="Arial"/>
              <a:buChar char="►"/>
              <a:tabLst>
                <a:tab pos="583565" algn="l"/>
              </a:tabLst>
            </a:pPr>
            <a:r>
              <a:rPr sz="900" i="1" spc="-5" dirty="0">
                <a:latin typeface="Arial"/>
                <a:cs typeface="Arial"/>
              </a:rPr>
              <a:t>S</a:t>
            </a:r>
            <a:r>
              <a:rPr sz="900" i="1" spc="70" dirty="0">
                <a:latin typeface="Arial"/>
                <a:cs typeface="Arial"/>
              </a:rPr>
              <a:t> </a:t>
            </a:r>
            <a:r>
              <a:rPr sz="1000" spc="-5" dirty="0">
                <a:latin typeface="Arial"/>
                <a:cs typeface="Arial"/>
              </a:rPr>
              <a:t>sets</a:t>
            </a:r>
            <a:r>
              <a:rPr sz="1000" dirty="0">
                <a:latin typeface="Arial"/>
                <a:cs typeface="Arial"/>
              </a:rPr>
              <a:t> </a:t>
            </a:r>
            <a:r>
              <a:rPr sz="1000" spc="-5" dirty="0">
                <a:latin typeface="Arial"/>
                <a:cs typeface="Arial"/>
              </a:rPr>
              <a:t>up</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TCP</a:t>
            </a:r>
            <a:r>
              <a:rPr sz="1000" dirty="0">
                <a:latin typeface="Arial"/>
                <a:cs typeface="Arial"/>
              </a:rPr>
              <a:t> </a:t>
            </a:r>
            <a:r>
              <a:rPr sz="1000" spc="-5" dirty="0">
                <a:latin typeface="Arial"/>
                <a:cs typeface="Arial"/>
              </a:rPr>
              <a:t>connection</a:t>
            </a:r>
            <a:r>
              <a:rPr sz="1000" dirty="0">
                <a:latin typeface="Arial"/>
                <a:cs typeface="Arial"/>
              </a:rPr>
              <a:t> </a:t>
            </a:r>
            <a:r>
              <a:rPr sz="1000" spc="-10" dirty="0">
                <a:latin typeface="Arial"/>
                <a:cs typeface="Arial"/>
              </a:rPr>
              <a:t>(for</a:t>
            </a:r>
            <a:r>
              <a:rPr sz="1000" dirty="0">
                <a:latin typeface="Arial"/>
                <a:cs typeface="Arial"/>
              </a:rPr>
              <a:t> </a:t>
            </a:r>
            <a:r>
              <a:rPr sz="1000" spc="-10" dirty="0">
                <a:latin typeface="Arial"/>
                <a:cs typeface="Arial"/>
              </a:rPr>
              <a:t>relaying</a:t>
            </a:r>
            <a:r>
              <a:rPr sz="1000" dirty="0">
                <a:latin typeface="Arial"/>
                <a:cs typeface="Arial"/>
              </a:rPr>
              <a:t> </a:t>
            </a:r>
            <a:r>
              <a:rPr sz="1000" spc="-5" dirty="0">
                <a:latin typeface="Arial"/>
                <a:cs typeface="Arial"/>
              </a:rPr>
              <a:t>control</a:t>
            </a:r>
            <a:r>
              <a:rPr sz="1000" dirty="0">
                <a:latin typeface="Arial"/>
                <a:cs typeface="Arial"/>
              </a:rPr>
              <a:t> </a:t>
            </a:r>
            <a:r>
              <a:rPr sz="1000" spc="-10" dirty="0">
                <a:latin typeface="Arial"/>
                <a:cs typeface="Arial"/>
              </a:rPr>
              <a:t>packets)</a:t>
            </a:r>
            <a:r>
              <a:rPr sz="1000" dirty="0">
                <a:latin typeface="Arial"/>
                <a:cs typeface="Arial"/>
              </a:rPr>
              <a:t> </a:t>
            </a:r>
            <a:r>
              <a:rPr sz="1000" spc="-5" dirty="0">
                <a:latin typeface="Arial"/>
                <a:cs typeface="Arial"/>
              </a:rPr>
              <a:t>to</a:t>
            </a:r>
            <a:r>
              <a:rPr sz="1000" dirty="0">
                <a:latin typeface="Arial"/>
                <a:cs typeface="Arial"/>
              </a:rPr>
              <a:t> </a:t>
            </a:r>
            <a:r>
              <a:rPr sz="900" i="1" spc="-5" dirty="0">
                <a:latin typeface="Arial"/>
                <a:cs typeface="Arial"/>
              </a:rPr>
              <a:t>B</a:t>
            </a:r>
            <a:endParaRPr sz="900" dirty="0">
              <a:latin typeface="Arial"/>
              <a:cs typeface="Arial"/>
            </a:endParaRPr>
          </a:p>
          <a:p>
            <a:pPr marL="582930" indent="-168275">
              <a:lnSpc>
                <a:spcPts val="1195"/>
              </a:lnSpc>
              <a:buClr>
                <a:srgbClr val="3333B2"/>
              </a:buClr>
              <a:buChar char="►"/>
              <a:tabLst>
                <a:tab pos="583565" algn="l"/>
              </a:tabLst>
            </a:pPr>
            <a:r>
              <a:rPr sz="1000" spc="-5" dirty="0">
                <a:latin typeface="Arial"/>
                <a:cs typeface="Arial"/>
              </a:rPr>
              <a:t>The</a:t>
            </a:r>
            <a:r>
              <a:rPr sz="1000" dirty="0">
                <a:latin typeface="Arial"/>
                <a:cs typeface="Arial"/>
              </a:rPr>
              <a:t> </a:t>
            </a:r>
            <a:r>
              <a:rPr sz="1000" spc="-5" dirty="0">
                <a:latin typeface="Arial"/>
                <a:cs typeface="Arial"/>
              </a:rPr>
              <a:t>actual call</a:t>
            </a:r>
            <a:r>
              <a:rPr sz="1000" dirty="0">
                <a:latin typeface="Arial"/>
                <a:cs typeface="Arial"/>
              </a:rPr>
              <a:t> </a:t>
            </a:r>
            <a:r>
              <a:rPr sz="1000" spc="-10" dirty="0">
                <a:latin typeface="Arial"/>
                <a:cs typeface="Arial"/>
              </a:rPr>
              <a:t>takes</a:t>
            </a:r>
            <a:r>
              <a:rPr sz="1000" dirty="0">
                <a:latin typeface="Arial"/>
                <a:cs typeface="Arial"/>
              </a:rPr>
              <a:t> </a:t>
            </a:r>
            <a:r>
              <a:rPr sz="1000" spc="-5" dirty="0">
                <a:latin typeface="Arial"/>
                <a:cs typeface="Arial"/>
              </a:rPr>
              <a:t>place</a:t>
            </a:r>
            <a:r>
              <a:rPr sz="1000" dirty="0">
                <a:latin typeface="Arial"/>
                <a:cs typeface="Arial"/>
              </a:rPr>
              <a:t> </a:t>
            </a:r>
            <a:r>
              <a:rPr sz="1000" spc="-5" dirty="0">
                <a:latin typeface="Arial"/>
                <a:cs typeface="Arial"/>
              </a:rPr>
              <a:t>through</a:t>
            </a:r>
            <a:r>
              <a:rPr sz="1000" dirty="0">
                <a:latin typeface="Arial"/>
                <a:cs typeface="Arial"/>
              </a:rPr>
              <a:t> </a:t>
            </a:r>
            <a:r>
              <a:rPr sz="1000" spc="-5" dirty="0">
                <a:latin typeface="Arial"/>
                <a:cs typeface="Arial"/>
              </a:rPr>
              <a:t>UDP</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directly</a:t>
            </a:r>
            <a:r>
              <a:rPr sz="1000" dirty="0">
                <a:latin typeface="Arial"/>
                <a:cs typeface="Arial"/>
              </a:rPr>
              <a:t> </a:t>
            </a:r>
            <a:r>
              <a:rPr sz="1000" spc="-5" dirty="0">
                <a:latin typeface="Arial"/>
                <a:cs typeface="Arial"/>
              </a:rPr>
              <a:t>between</a:t>
            </a:r>
            <a:r>
              <a:rPr sz="1000" dirty="0">
                <a:latin typeface="Arial"/>
                <a:cs typeface="Arial"/>
              </a:rPr>
              <a:t> </a:t>
            </a:r>
            <a:r>
              <a:rPr sz="900" i="1" spc="-5" dirty="0">
                <a:latin typeface="Arial"/>
                <a:cs typeface="Arial"/>
              </a:rPr>
              <a:t>A</a:t>
            </a:r>
            <a:endParaRPr sz="900" dirty="0">
              <a:latin typeface="Arial"/>
              <a:cs typeface="Arial"/>
            </a:endParaRPr>
          </a:p>
          <a:p>
            <a:pPr marL="582930">
              <a:lnSpc>
                <a:spcPts val="1200"/>
              </a:lnSpc>
            </a:pPr>
            <a:r>
              <a:rPr sz="1000" spc="-5" dirty="0">
                <a:latin typeface="Arial"/>
                <a:cs typeface="Arial"/>
              </a:rPr>
              <a:t>and</a:t>
            </a:r>
            <a:r>
              <a:rPr sz="1000" spc="-45" dirty="0">
                <a:latin typeface="Arial"/>
                <a:cs typeface="Arial"/>
              </a:rPr>
              <a:t> </a:t>
            </a:r>
            <a:r>
              <a:rPr sz="900" i="1" spc="-5" dirty="0">
                <a:latin typeface="Arial"/>
                <a:cs typeface="Arial"/>
              </a:rPr>
              <a:t>B</a:t>
            </a:r>
            <a:endParaRPr sz="900" dirty="0">
              <a:latin typeface="Arial"/>
              <a:cs typeface="Arial"/>
            </a:endParaRPr>
          </a:p>
          <a:p>
            <a:pPr marL="305435">
              <a:lnSpc>
                <a:spcPct val="100000"/>
              </a:lnSpc>
              <a:spcBef>
                <a:spcPts val="1010"/>
              </a:spcBef>
            </a:pPr>
            <a:r>
              <a:rPr sz="1200" spc="-5" dirty="0">
                <a:solidFill>
                  <a:srgbClr val="3333B2"/>
                </a:solidFill>
                <a:latin typeface="Arial"/>
                <a:cs typeface="Arial"/>
              </a:rPr>
              <a:t>Both</a:t>
            </a:r>
            <a:r>
              <a:rPr sz="1200" spc="-10" dirty="0">
                <a:solidFill>
                  <a:srgbClr val="3333B2"/>
                </a:solidFill>
                <a:latin typeface="Arial"/>
                <a:cs typeface="Arial"/>
              </a:rPr>
              <a:t> </a:t>
            </a:r>
            <a:r>
              <a:rPr sz="900" i="1" spc="-5" dirty="0">
                <a:solidFill>
                  <a:srgbClr val="3333B2"/>
                </a:solidFill>
                <a:latin typeface="Arial"/>
                <a:cs typeface="Arial"/>
              </a:rPr>
              <a:t>A</a:t>
            </a:r>
            <a:r>
              <a:rPr sz="900" i="1" spc="75"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900" i="1" spc="-5" dirty="0">
                <a:solidFill>
                  <a:srgbClr val="3333B2"/>
                </a:solidFill>
                <a:latin typeface="Arial"/>
                <a:cs typeface="Arial"/>
              </a:rPr>
              <a:t>B</a:t>
            </a:r>
            <a:r>
              <a:rPr sz="900" i="1" spc="114" dirty="0">
                <a:solidFill>
                  <a:srgbClr val="3333B2"/>
                </a:solidFill>
                <a:latin typeface="Arial"/>
                <a:cs typeface="Arial"/>
              </a:rPr>
              <a:t> </a:t>
            </a:r>
            <a:r>
              <a:rPr sz="1200" spc="-5" dirty="0">
                <a:solidFill>
                  <a:srgbClr val="3333B2"/>
                </a:solidFill>
                <a:latin typeface="Arial"/>
                <a:cs typeface="Arial"/>
              </a:rPr>
              <a:t>operate</a:t>
            </a:r>
            <a:r>
              <a:rPr sz="1200" spc="-10" dirty="0">
                <a:solidFill>
                  <a:srgbClr val="3333B2"/>
                </a:solidFill>
                <a:latin typeface="Arial"/>
                <a:cs typeface="Arial"/>
              </a:rPr>
              <a:t> </a:t>
            </a:r>
            <a:r>
              <a:rPr sz="1200" spc="-5" dirty="0">
                <a:solidFill>
                  <a:srgbClr val="3333B2"/>
                </a:solidFill>
                <a:latin typeface="Arial"/>
                <a:cs typeface="Arial"/>
              </a:rPr>
              <a:t>behind</a:t>
            </a:r>
            <a:r>
              <a:rPr sz="1200" spc="-10" dirty="0">
                <a:solidFill>
                  <a:srgbClr val="3333B2"/>
                </a:solidFill>
                <a:latin typeface="Arial"/>
                <a:cs typeface="Arial"/>
              </a:rPr>
              <a:t> </a:t>
            </a:r>
            <a:r>
              <a:rPr sz="1200" spc="-5" dirty="0">
                <a:solidFill>
                  <a:srgbClr val="3333B2"/>
                </a:solidFill>
                <a:latin typeface="Arial"/>
                <a:cs typeface="Arial"/>
              </a:rPr>
              <a:t>a </a:t>
            </a:r>
            <a:r>
              <a:rPr sz="1200" spc="-10" dirty="0">
                <a:solidFill>
                  <a:srgbClr val="3333B2"/>
                </a:solidFill>
                <a:latin typeface="Arial"/>
                <a:cs typeface="Arial"/>
              </a:rPr>
              <a:t>firewall</a:t>
            </a:r>
            <a:endParaRPr sz="1200" dirty="0">
              <a:latin typeface="Arial"/>
              <a:cs typeface="Arial"/>
            </a:endParaRPr>
          </a:p>
          <a:p>
            <a:pPr marL="582930" indent="-168275">
              <a:lnSpc>
                <a:spcPts val="1200"/>
              </a:lnSpc>
              <a:spcBef>
                <a:spcPts val="770"/>
              </a:spcBef>
              <a:buClr>
                <a:srgbClr val="3333B2"/>
              </a:buClr>
              <a:buSzPct val="111111"/>
              <a:buFont typeface="Arial"/>
              <a:buChar char="►"/>
              <a:tabLst>
                <a:tab pos="583565" algn="l"/>
              </a:tabLst>
            </a:pPr>
            <a:r>
              <a:rPr sz="900" i="1" spc="-5" dirty="0">
                <a:latin typeface="Arial"/>
                <a:cs typeface="Arial"/>
              </a:rPr>
              <a:t>A</a:t>
            </a:r>
            <a:r>
              <a:rPr sz="900" i="1" spc="25" dirty="0">
                <a:latin typeface="Arial"/>
                <a:cs typeface="Arial"/>
              </a:rPr>
              <a:t> </a:t>
            </a:r>
            <a:r>
              <a:rPr sz="1000" spc="-5" dirty="0">
                <a:latin typeface="Arial"/>
                <a:cs typeface="Arial"/>
              </a:rPr>
              <a:t>connects to</a:t>
            </a:r>
            <a:r>
              <a:rPr sz="1000" dirty="0">
                <a:latin typeface="Arial"/>
                <a:cs typeface="Arial"/>
              </a:rPr>
              <a:t> </a:t>
            </a:r>
            <a:r>
              <a:rPr sz="1000" spc="-5" dirty="0">
                <a:latin typeface="Arial"/>
                <a:cs typeface="Arial"/>
              </a:rPr>
              <a:t>an online super</a:t>
            </a:r>
            <a:r>
              <a:rPr sz="1000" dirty="0">
                <a:latin typeface="Arial"/>
                <a:cs typeface="Arial"/>
              </a:rPr>
              <a:t> </a:t>
            </a:r>
            <a:r>
              <a:rPr sz="1000" spc="-5" dirty="0">
                <a:latin typeface="Arial"/>
                <a:cs typeface="Arial"/>
              </a:rPr>
              <a:t>peer </a:t>
            </a:r>
            <a:r>
              <a:rPr sz="900" i="1" spc="-5" dirty="0">
                <a:latin typeface="Arial"/>
                <a:cs typeface="Arial"/>
              </a:rPr>
              <a:t>S</a:t>
            </a:r>
            <a:r>
              <a:rPr sz="900" i="1" spc="65" dirty="0">
                <a:latin typeface="Arial"/>
                <a:cs typeface="Arial"/>
              </a:rPr>
              <a:t> </a:t>
            </a:r>
            <a:r>
              <a:rPr sz="1000" spc="-5" dirty="0">
                <a:latin typeface="Arial"/>
                <a:cs typeface="Arial"/>
              </a:rPr>
              <a:t>through</a:t>
            </a:r>
            <a:r>
              <a:rPr sz="1000" dirty="0">
                <a:latin typeface="Arial"/>
                <a:cs typeface="Arial"/>
              </a:rPr>
              <a:t> </a:t>
            </a:r>
            <a:r>
              <a:rPr sz="1000" spc="-5" dirty="0">
                <a:latin typeface="Arial"/>
                <a:cs typeface="Arial"/>
              </a:rPr>
              <a:t>TCP</a:t>
            </a:r>
            <a:endParaRPr sz="1000" dirty="0">
              <a:latin typeface="Arial"/>
              <a:cs typeface="Arial"/>
            </a:endParaRPr>
          </a:p>
          <a:p>
            <a:pPr marL="582930" indent="-168275">
              <a:lnSpc>
                <a:spcPts val="1195"/>
              </a:lnSpc>
              <a:buClr>
                <a:srgbClr val="3333B2"/>
              </a:buClr>
              <a:buSzPct val="111111"/>
              <a:buFont typeface="Arial"/>
              <a:buChar char="►"/>
              <a:tabLst>
                <a:tab pos="583565" algn="l"/>
              </a:tabLst>
            </a:pPr>
            <a:r>
              <a:rPr sz="900" i="1" spc="-5" dirty="0">
                <a:latin typeface="Arial"/>
                <a:cs typeface="Arial"/>
              </a:rPr>
              <a:t>S</a:t>
            </a:r>
            <a:r>
              <a:rPr sz="900" i="1" spc="60" dirty="0">
                <a:latin typeface="Arial"/>
                <a:cs typeface="Arial"/>
              </a:rPr>
              <a:t> </a:t>
            </a:r>
            <a:r>
              <a:rPr sz="1000" spc="-5" dirty="0">
                <a:latin typeface="Arial"/>
                <a:cs typeface="Arial"/>
              </a:rPr>
              <a:t>sets</a:t>
            </a:r>
            <a:r>
              <a:rPr sz="1000" spc="-10" dirty="0">
                <a:latin typeface="Arial"/>
                <a:cs typeface="Arial"/>
              </a:rPr>
              <a:t> </a:t>
            </a:r>
            <a:r>
              <a:rPr sz="1000" spc="-5" dirty="0">
                <a:latin typeface="Arial"/>
                <a:cs typeface="Arial"/>
              </a:rPr>
              <a:t>up</a:t>
            </a:r>
            <a:r>
              <a:rPr sz="1000" spc="-10" dirty="0">
                <a:latin typeface="Arial"/>
                <a:cs typeface="Arial"/>
              </a:rPr>
              <a:t> </a:t>
            </a:r>
            <a:r>
              <a:rPr sz="1000" spc="-5" dirty="0">
                <a:latin typeface="Arial"/>
                <a:cs typeface="Arial"/>
              </a:rPr>
              <a:t>TCP</a:t>
            </a:r>
            <a:r>
              <a:rPr sz="1000" spc="-10" dirty="0">
                <a:latin typeface="Arial"/>
                <a:cs typeface="Arial"/>
              </a:rPr>
              <a:t> </a:t>
            </a:r>
            <a:r>
              <a:rPr sz="1000" spc="-5" dirty="0">
                <a:latin typeface="Arial"/>
                <a:cs typeface="Arial"/>
              </a:rPr>
              <a:t>connection</a:t>
            </a:r>
            <a:r>
              <a:rPr sz="1000" spc="-10" dirty="0">
                <a:latin typeface="Arial"/>
                <a:cs typeface="Arial"/>
              </a:rPr>
              <a:t> </a:t>
            </a:r>
            <a:r>
              <a:rPr sz="1000" spc="-5" dirty="0">
                <a:latin typeface="Arial"/>
                <a:cs typeface="Arial"/>
              </a:rPr>
              <a:t>to</a:t>
            </a:r>
            <a:r>
              <a:rPr sz="1000" spc="-10" dirty="0">
                <a:latin typeface="Arial"/>
                <a:cs typeface="Arial"/>
              </a:rPr>
              <a:t> </a:t>
            </a:r>
            <a:r>
              <a:rPr sz="900" i="1" spc="15" dirty="0">
                <a:latin typeface="Arial"/>
                <a:cs typeface="Arial"/>
              </a:rPr>
              <a:t>B</a:t>
            </a:r>
            <a:r>
              <a:rPr sz="1000" spc="15" dirty="0">
                <a:latin typeface="Arial"/>
                <a:cs typeface="Arial"/>
              </a:rPr>
              <a:t>.</a:t>
            </a:r>
            <a:endParaRPr sz="1000" dirty="0">
              <a:latin typeface="Arial"/>
              <a:cs typeface="Arial"/>
            </a:endParaRPr>
          </a:p>
          <a:p>
            <a:pPr marL="582930" marR="176530" indent="-168275">
              <a:lnSpc>
                <a:spcPts val="1200"/>
              </a:lnSpc>
              <a:spcBef>
                <a:spcPts val="40"/>
              </a:spcBef>
              <a:buClr>
                <a:srgbClr val="3333B2"/>
              </a:buClr>
              <a:buChar char="►"/>
              <a:tabLst>
                <a:tab pos="583565" algn="l"/>
              </a:tabLst>
            </a:pPr>
            <a:r>
              <a:rPr sz="1000" spc="-15" dirty="0">
                <a:latin typeface="Arial"/>
                <a:cs typeface="Arial"/>
              </a:rPr>
              <a:t>For</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actual</a:t>
            </a:r>
            <a:r>
              <a:rPr sz="1000" dirty="0">
                <a:latin typeface="Arial"/>
                <a:cs typeface="Arial"/>
              </a:rPr>
              <a:t> </a:t>
            </a:r>
            <a:r>
              <a:rPr sz="1000" spc="-5" dirty="0">
                <a:latin typeface="Arial"/>
                <a:cs typeface="Arial"/>
              </a:rPr>
              <a:t>call,</a:t>
            </a:r>
            <a:r>
              <a:rPr sz="1000" dirty="0">
                <a:latin typeface="Arial"/>
                <a:cs typeface="Arial"/>
              </a:rPr>
              <a:t> </a:t>
            </a:r>
            <a:r>
              <a:rPr sz="1000" spc="-5" dirty="0">
                <a:latin typeface="Arial"/>
                <a:cs typeface="Arial"/>
              </a:rPr>
              <a:t>another</a:t>
            </a:r>
            <a:r>
              <a:rPr sz="1000" dirty="0">
                <a:latin typeface="Arial"/>
                <a:cs typeface="Arial"/>
              </a:rPr>
              <a:t> </a:t>
            </a:r>
            <a:r>
              <a:rPr sz="1000" spc="-5" dirty="0">
                <a:latin typeface="Arial"/>
                <a:cs typeface="Arial"/>
              </a:rPr>
              <a:t>super</a:t>
            </a:r>
            <a:r>
              <a:rPr sz="1000" dirty="0">
                <a:latin typeface="Arial"/>
                <a:cs typeface="Arial"/>
              </a:rPr>
              <a:t> </a:t>
            </a:r>
            <a:r>
              <a:rPr sz="1000" spc="-5" dirty="0">
                <a:latin typeface="Arial"/>
                <a:cs typeface="Arial"/>
              </a:rPr>
              <a:t>peer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contacted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act</a:t>
            </a:r>
            <a:r>
              <a:rPr sz="1000"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a </a:t>
            </a:r>
            <a:r>
              <a:rPr sz="1000" spc="-265" dirty="0">
                <a:latin typeface="Arial"/>
                <a:cs typeface="Arial"/>
              </a:rPr>
              <a:t> </a:t>
            </a:r>
            <a:r>
              <a:rPr sz="1000" spc="-10" dirty="0">
                <a:solidFill>
                  <a:srgbClr val="FA0000"/>
                </a:solidFill>
                <a:latin typeface="Arial"/>
                <a:cs typeface="Arial"/>
              </a:rPr>
              <a:t>relay</a:t>
            </a:r>
            <a:r>
              <a:rPr sz="1000" spc="-5" dirty="0">
                <a:solidFill>
                  <a:srgbClr val="FA0000"/>
                </a:solidFill>
                <a:latin typeface="Arial"/>
                <a:cs typeface="Arial"/>
              </a:rPr>
              <a:t> </a:t>
            </a:r>
            <a:r>
              <a:rPr sz="900" i="1" spc="20" dirty="0">
                <a:latin typeface="Arial"/>
                <a:cs typeface="Arial"/>
              </a:rPr>
              <a:t>R</a:t>
            </a:r>
            <a:r>
              <a:rPr sz="1000" spc="20" dirty="0">
                <a:latin typeface="Arial"/>
                <a:cs typeface="Arial"/>
              </a:rPr>
              <a:t>:</a:t>
            </a:r>
            <a:r>
              <a:rPr sz="1000" spc="60" dirty="0">
                <a:latin typeface="Arial"/>
                <a:cs typeface="Arial"/>
              </a:rPr>
              <a:t> </a:t>
            </a:r>
            <a:r>
              <a:rPr sz="900" i="1" spc="-5" dirty="0">
                <a:latin typeface="Arial"/>
                <a:cs typeface="Arial"/>
              </a:rPr>
              <a:t>A</a:t>
            </a:r>
            <a:r>
              <a:rPr sz="900" i="1" spc="25" dirty="0">
                <a:latin typeface="Arial"/>
                <a:cs typeface="Arial"/>
              </a:rPr>
              <a:t> </a:t>
            </a:r>
            <a:r>
              <a:rPr sz="1000" spc="-5" dirty="0">
                <a:latin typeface="Arial"/>
                <a:cs typeface="Arial"/>
              </a:rPr>
              <a:t>sets up a connection to </a:t>
            </a:r>
            <a:r>
              <a:rPr sz="900" i="1" spc="20" dirty="0">
                <a:latin typeface="Arial"/>
                <a:cs typeface="Arial"/>
              </a:rPr>
              <a:t>R</a:t>
            </a:r>
            <a:r>
              <a:rPr sz="1000" spc="20" dirty="0">
                <a:latin typeface="Arial"/>
                <a:cs typeface="Arial"/>
              </a:rPr>
              <a:t>,</a:t>
            </a:r>
            <a:r>
              <a:rPr sz="1000" spc="-5" dirty="0">
                <a:latin typeface="Arial"/>
                <a:cs typeface="Arial"/>
              </a:rPr>
              <a:t> and so will </a:t>
            </a:r>
            <a:r>
              <a:rPr sz="900" i="1" spc="15" dirty="0">
                <a:latin typeface="Arial"/>
                <a:cs typeface="Arial"/>
              </a:rPr>
              <a:t>B</a:t>
            </a:r>
            <a:r>
              <a:rPr sz="1000" spc="15" dirty="0">
                <a:latin typeface="Arial"/>
                <a:cs typeface="Arial"/>
              </a:rPr>
              <a:t>.</a:t>
            </a:r>
            <a:endParaRPr sz="1000" dirty="0">
              <a:latin typeface="Arial"/>
              <a:cs typeface="Arial"/>
            </a:endParaRPr>
          </a:p>
          <a:p>
            <a:pPr marL="25400">
              <a:lnSpc>
                <a:spcPts val="1150"/>
              </a:lnSpc>
            </a:pPr>
            <a:r>
              <a:rPr sz="900" spc="-104" baseline="50925" dirty="0">
                <a:solidFill>
                  <a:srgbClr val="3333B2"/>
                </a:solidFill>
                <a:latin typeface="Arial"/>
                <a:cs typeface="Arial"/>
                <a:hlinkClick r:id="rId6" action="ppaction://hlinksldjump"/>
              </a:rPr>
              <a:t>Hierarchical</a:t>
            </a:r>
            <a:r>
              <a:rPr sz="1500" spc="-104" baseline="5555" dirty="0">
                <a:solidFill>
                  <a:srgbClr val="3333B2"/>
                </a:solidFill>
                <a:latin typeface="Arial"/>
                <a:cs typeface="Arial"/>
                <a:hlinkClick r:id="rId6" action="ppaction://hlinksldjump"/>
              </a:rPr>
              <a:t>►</a:t>
            </a:r>
            <a:r>
              <a:rPr sz="900" spc="-104" baseline="50925" dirty="0">
                <a:solidFill>
                  <a:srgbClr val="3333B2"/>
                </a:solidFill>
                <a:latin typeface="Arial"/>
                <a:cs typeface="Arial"/>
                <a:hlinkClick r:id="rId6" action="ppaction://hlinksldjump"/>
              </a:rPr>
              <a:t>ly</a:t>
            </a:r>
            <a:r>
              <a:rPr sz="900" spc="7" baseline="50925" dirty="0">
                <a:solidFill>
                  <a:srgbClr val="3333B2"/>
                </a:solidFill>
                <a:latin typeface="Arial"/>
                <a:cs typeface="Arial"/>
                <a:hlinkClick r:id="rId6" action="ppaction://hlinksldjump"/>
              </a:rPr>
              <a:t> </a:t>
            </a:r>
            <a:r>
              <a:rPr sz="900" spc="-195" baseline="50925" dirty="0">
                <a:solidFill>
                  <a:srgbClr val="3333B2"/>
                </a:solidFill>
                <a:latin typeface="Arial"/>
                <a:cs typeface="Arial"/>
                <a:hlinkClick r:id="rId6" action="ppaction://hlinksldjump"/>
              </a:rPr>
              <a:t>org</a:t>
            </a:r>
            <a:r>
              <a:rPr sz="1000" spc="-130" dirty="0">
                <a:latin typeface="Arial"/>
                <a:cs typeface="Arial"/>
                <a:hlinkClick r:id="rId6" action="ppaction://hlinksldjump"/>
              </a:rPr>
              <a:t>A</a:t>
            </a:r>
            <a:r>
              <a:rPr sz="900" spc="-195" baseline="50925" dirty="0">
                <a:solidFill>
                  <a:srgbClr val="3333B2"/>
                </a:solidFill>
                <a:latin typeface="Arial"/>
                <a:cs typeface="Arial"/>
                <a:hlinkClick r:id="rId6" action="ppaction://hlinksldjump"/>
              </a:rPr>
              <a:t>an</a:t>
            </a:r>
            <a:r>
              <a:rPr sz="1000" spc="-130" dirty="0">
                <a:latin typeface="Arial"/>
                <a:cs typeface="Arial"/>
                <a:hlinkClick r:id="rId6" action="ppaction://hlinksldjump"/>
              </a:rPr>
              <a:t>l</a:t>
            </a:r>
            <a:r>
              <a:rPr sz="900" spc="-195" baseline="50925" dirty="0">
                <a:solidFill>
                  <a:srgbClr val="3333B2"/>
                </a:solidFill>
                <a:latin typeface="Arial"/>
                <a:cs typeface="Arial"/>
                <a:hlinkClick r:id="rId6" action="ppaction://hlinksldjump"/>
              </a:rPr>
              <a:t>i</a:t>
            </a:r>
            <a:r>
              <a:rPr sz="1000" spc="-130" dirty="0">
                <a:latin typeface="Arial"/>
                <a:cs typeface="Arial"/>
                <a:hlinkClick r:id="rId6" action="ppaction://hlinksldjump"/>
              </a:rPr>
              <a:t>l</a:t>
            </a:r>
            <a:r>
              <a:rPr sz="900" spc="-195" baseline="50925" dirty="0">
                <a:solidFill>
                  <a:srgbClr val="3333B2"/>
                </a:solidFill>
                <a:latin typeface="Arial"/>
                <a:cs typeface="Arial"/>
                <a:hlinkClick r:id="rId6" action="ppaction://hlinksldjump"/>
              </a:rPr>
              <a:t>ze</a:t>
            </a:r>
            <a:r>
              <a:rPr sz="1000" spc="-130" dirty="0">
                <a:latin typeface="Arial"/>
                <a:cs typeface="Arial"/>
                <a:hlinkClick r:id="rId6" action="ppaction://hlinksldjump"/>
              </a:rPr>
              <a:t>v</a:t>
            </a:r>
            <a:r>
              <a:rPr sz="900" spc="-195" baseline="50925" dirty="0">
                <a:solidFill>
                  <a:srgbClr val="3333B2"/>
                </a:solidFill>
                <a:latin typeface="Arial"/>
                <a:cs typeface="Arial"/>
                <a:hlinkClick r:id="rId6" action="ppaction://hlinksldjump"/>
              </a:rPr>
              <a:t>d</a:t>
            </a:r>
            <a:r>
              <a:rPr sz="1000" spc="-130" dirty="0">
                <a:latin typeface="Arial"/>
                <a:cs typeface="Arial"/>
                <a:hlinkClick r:id="rId6" action="ppaction://hlinksldjump"/>
              </a:rPr>
              <a:t>o</a:t>
            </a:r>
            <a:r>
              <a:rPr sz="900" spc="-195" baseline="50925" dirty="0">
                <a:solidFill>
                  <a:srgbClr val="3333B2"/>
                </a:solidFill>
                <a:latin typeface="Arial"/>
                <a:cs typeface="Arial"/>
                <a:hlinkClick r:id="rId6" action="ppaction://hlinksldjump"/>
              </a:rPr>
              <a:t>p</a:t>
            </a:r>
            <a:r>
              <a:rPr sz="1000" spc="-130" dirty="0">
                <a:latin typeface="Arial"/>
                <a:cs typeface="Arial"/>
                <a:hlinkClick r:id="rId6" action="ppaction://hlinksldjump"/>
              </a:rPr>
              <a:t>i</a:t>
            </a:r>
            <a:r>
              <a:rPr sz="900" spc="-195" baseline="50925" dirty="0">
                <a:solidFill>
                  <a:srgbClr val="3333B2"/>
                </a:solidFill>
                <a:latin typeface="Arial"/>
                <a:cs typeface="Arial"/>
                <a:hlinkClick r:id="rId6" action="ppaction://hlinksldjump"/>
              </a:rPr>
              <a:t>e</a:t>
            </a:r>
            <a:r>
              <a:rPr sz="1000" spc="-130" dirty="0">
                <a:latin typeface="Arial"/>
                <a:cs typeface="Arial"/>
                <a:hlinkClick r:id="rId6" action="ppaction://hlinksldjump"/>
              </a:rPr>
              <a:t>c</a:t>
            </a:r>
            <a:r>
              <a:rPr sz="900" spc="-195" baseline="50925" dirty="0">
                <a:solidFill>
                  <a:srgbClr val="3333B2"/>
                </a:solidFill>
                <a:latin typeface="Arial"/>
                <a:cs typeface="Arial"/>
                <a:hlinkClick r:id="rId6" action="ppaction://hlinksldjump"/>
              </a:rPr>
              <a:t>e</a:t>
            </a:r>
            <a:r>
              <a:rPr sz="1000" spc="-130" dirty="0">
                <a:latin typeface="Arial"/>
                <a:cs typeface="Arial"/>
                <a:hlinkClick r:id="rId6" action="ppaction://hlinksldjump"/>
              </a:rPr>
              <a:t>e</a:t>
            </a:r>
            <a:r>
              <a:rPr sz="900" spc="-195" baseline="50925" dirty="0">
                <a:solidFill>
                  <a:srgbClr val="3333B2"/>
                </a:solidFill>
                <a:latin typeface="Arial"/>
                <a:cs typeface="Arial"/>
                <a:hlinkClick r:id="rId6" action="ppaction://hlinksldjump"/>
              </a:rPr>
              <a:t>r-to</a:t>
            </a:r>
            <a:r>
              <a:rPr sz="1000" spc="-130" dirty="0">
                <a:latin typeface="Arial"/>
                <a:cs typeface="Arial"/>
                <a:hlinkClick r:id="rId6" action="ppaction://hlinksldjump"/>
              </a:rPr>
              <a:t>t</a:t>
            </a:r>
            <a:r>
              <a:rPr sz="900" spc="-195" baseline="50925" dirty="0">
                <a:solidFill>
                  <a:srgbClr val="3333B2"/>
                </a:solidFill>
                <a:latin typeface="Arial"/>
                <a:cs typeface="Arial"/>
                <a:hlinkClick r:id="rId6" action="ppaction://hlinksldjump"/>
              </a:rPr>
              <a:t>-p</a:t>
            </a:r>
            <a:r>
              <a:rPr sz="1000" spc="-130" dirty="0">
                <a:latin typeface="Arial"/>
                <a:cs typeface="Arial"/>
                <a:hlinkClick r:id="rId6" action="ppaction://hlinksldjump"/>
              </a:rPr>
              <a:t>ra</a:t>
            </a:r>
            <a:r>
              <a:rPr sz="900" spc="-195" baseline="50925" dirty="0">
                <a:solidFill>
                  <a:srgbClr val="3333B2"/>
                </a:solidFill>
                <a:latin typeface="Arial"/>
                <a:cs typeface="Arial"/>
                <a:hlinkClick r:id="rId6" action="ppaction://hlinksldjump"/>
              </a:rPr>
              <a:t>ee</a:t>
            </a:r>
            <a:r>
              <a:rPr sz="1000" spc="-130" dirty="0">
                <a:latin typeface="Arial"/>
                <a:cs typeface="Arial"/>
                <a:hlinkClick r:id="rId6" action="ppaction://hlinksldjump"/>
              </a:rPr>
              <a:t>f</a:t>
            </a:r>
            <a:r>
              <a:rPr sz="900" spc="-195" baseline="50925" dirty="0">
                <a:solidFill>
                  <a:srgbClr val="3333B2"/>
                </a:solidFill>
                <a:latin typeface="Arial"/>
                <a:cs typeface="Arial"/>
                <a:hlinkClick r:id="rId6" action="ppaction://hlinksldjump"/>
              </a:rPr>
              <a:t>r</a:t>
            </a:r>
            <a:r>
              <a:rPr sz="1000" spc="-130" dirty="0">
                <a:latin typeface="Arial"/>
                <a:cs typeface="Arial"/>
                <a:hlinkClick r:id="rId6" action="ppaction://hlinksldjump"/>
              </a:rPr>
              <a:t>fi</a:t>
            </a:r>
            <a:r>
              <a:rPr sz="900" spc="-195" baseline="50925" dirty="0">
                <a:solidFill>
                  <a:srgbClr val="3333B2"/>
                </a:solidFill>
                <a:latin typeface="Arial"/>
                <a:cs typeface="Arial"/>
                <a:hlinkClick r:id="rId6" action="ppaction://hlinksldjump"/>
              </a:rPr>
              <a:t>n</a:t>
            </a:r>
            <a:r>
              <a:rPr sz="1000" spc="-130" dirty="0">
                <a:latin typeface="Arial"/>
                <a:cs typeface="Arial"/>
                <a:hlinkClick r:id="rId6" action="ppaction://hlinksldjump"/>
              </a:rPr>
              <a:t>c</a:t>
            </a:r>
            <a:r>
              <a:rPr sz="900" spc="-195" baseline="50925" dirty="0">
                <a:solidFill>
                  <a:srgbClr val="3333B2"/>
                </a:solidFill>
                <a:latin typeface="Arial"/>
                <a:cs typeface="Arial"/>
                <a:hlinkClick r:id="rId6" action="ppaction://hlinksldjump"/>
              </a:rPr>
              <a:t>etw</a:t>
            </a:r>
            <a:r>
              <a:rPr sz="1000" spc="-130" dirty="0">
                <a:latin typeface="Arial"/>
                <a:cs typeface="Arial"/>
                <a:hlinkClick r:id="rId6" action="ppaction://hlinksldjump"/>
              </a:rPr>
              <a:t>i</a:t>
            </a:r>
            <a:r>
              <a:rPr sz="900" spc="-195" baseline="50925" dirty="0">
                <a:solidFill>
                  <a:srgbClr val="3333B2"/>
                </a:solidFill>
                <a:latin typeface="Arial"/>
                <a:cs typeface="Arial"/>
                <a:hlinkClick r:id="rId6" action="ppaction://hlinksldjump"/>
              </a:rPr>
              <a:t>o</a:t>
            </a:r>
            <a:r>
              <a:rPr sz="1000" spc="-130" dirty="0">
                <a:latin typeface="Arial"/>
                <a:cs typeface="Arial"/>
                <a:hlinkClick r:id="rId6" action="ppaction://hlinksldjump"/>
              </a:rPr>
              <a:t>s</a:t>
            </a:r>
            <a:r>
              <a:rPr sz="900" spc="-195" baseline="50925" dirty="0">
                <a:solidFill>
                  <a:srgbClr val="3333B2"/>
                </a:solidFill>
                <a:latin typeface="Arial"/>
                <a:cs typeface="Arial"/>
                <a:hlinkClick r:id="rId6" action="ppaction://hlinksldjump"/>
              </a:rPr>
              <a:t>rk</a:t>
            </a:r>
            <a:r>
              <a:rPr sz="1000" spc="-130" dirty="0">
                <a:latin typeface="Arial"/>
                <a:cs typeface="Arial"/>
                <a:hlinkClick r:id="rId6" action="ppaction://hlinksldjump"/>
              </a:rPr>
              <a:t>f</a:t>
            </a:r>
            <a:r>
              <a:rPr sz="900" spc="-195" baseline="50925" dirty="0">
                <a:solidFill>
                  <a:srgbClr val="3333B2"/>
                </a:solidFill>
                <a:latin typeface="Arial"/>
                <a:cs typeface="Arial"/>
                <a:hlinkClick r:id="rId6" action="ppaction://hlinksldjump"/>
              </a:rPr>
              <a:t>s</a:t>
            </a:r>
            <a:r>
              <a:rPr sz="1000" spc="-130" dirty="0">
                <a:latin typeface="Arial"/>
                <a:cs typeface="Arial"/>
              </a:rPr>
              <a:t>orwarded  </a:t>
            </a:r>
            <a:r>
              <a:rPr sz="1000" spc="-15" dirty="0">
                <a:latin typeface="Arial"/>
                <a:cs typeface="Arial"/>
              </a:rPr>
              <a:t>over</a:t>
            </a:r>
            <a:r>
              <a:rPr sz="1000" spc="15" dirty="0">
                <a:latin typeface="Arial"/>
                <a:cs typeface="Arial"/>
              </a:rPr>
              <a:t> </a:t>
            </a:r>
            <a:r>
              <a:rPr sz="1000" spc="-5" dirty="0">
                <a:latin typeface="Arial"/>
                <a:cs typeface="Arial"/>
              </a:rPr>
              <a:t>the</a:t>
            </a:r>
            <a:r>
              <a:rPr sz="1000" spc="20" dirty="0">
                <a:latin typeface="Arial"/>
                <a:cs typeface="Arial"/>
              </a:rPr>
              <a:t> </a:t>
            </a:r>
            <a:r>
              <a:rPr sz="1000" spc="-10" dirty="0">
                <a:latin typeface="Arial"/>
                <a:cs typeface="Arial"/>
              </a:rPr>
              <a:t>two</a:t>
            </a:r>
            <a:r>
              <a:rPr sz="1000" spc="15" dirty="0">
                <a:latin typeface="Arial"/>
                <a:cs typeface="Arial"/>
              </a:rPr>
              <a:t> </a:t>
            </a:r>
            <a:r>
              <a:rPr sz="1000" spc="-5" dirty="0">
                <a:latin typeface="Arial"/>
                <a:cs typeface="Arial"/>
              </a:rPr>
              <a:t>TCP</a:t>
            </a:r>
            <a:r>
              <a:rPr sz="1000" spc="15" dirty="0">
                <a:latin typeface="Arial"/>
                <a:cs typeface="Arial"/>
              </a:rPr>
              <a:t> </a:t>
            </a:r>
            <a:r>
              <a:rPr sz="1000" spc="-5" dirty="0">
                <a:latin typeface="Arial"/>
                <a:cs typeface="Arial"/>
              </a:rPr>
              <a:t>connections,</a:t>
            </a:r>
            <a:r>
              <a:rPr sz="1000" spc="20" dirty="0">
                <a:latin typeface="Arial"/>
                <a:cs typeface="Arial"/>
              </a:rPr>
              <a:t> </a:t>
            </a:r>
            <a:r>
              <a:rPr sz="1000" spc="-5" dirty="0">
                <a:latin typeface="Arial"/>
                <a:cs typeface="Arial"/>
              </a:rPr>
              <a:t>and</a:t>
            </a:r>
            <a:endParaRPr sz="1000" dirty="0">
              <a:latin typeface="Arial"/>
              <a:cs typeface="Arial"/>
            </a:endParaRPr>
          </a:p>
        </p:txBody>
      </p:sp>
      <p:sp>
        <p:nvSpPr>
          <p:cNvPr id="5" name="object 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831374"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Hybrid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95300" y="188846"/>
            <a:ext cx="4114165" cy="110299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Edge-server</a:t>
            </a:r>
            <a:r>
              <a:rPr sz="1400" spc="-75" dirty="0">
                <a:solidFill>
                  <a:srgbClr val="3333B2"/>
                </a:solidFill>
                <a:latin typeface="Arial"/>
                <a:cs typeface="Arial"/>
              </a:rPr>
              <a:t> </a:t>
            </a:r>
            <a:r>
              <a:rPr sz="1400" spc="15" dirty="0">
                <a:solidFill>
                  <a:srgbClr val="3333B2"/>
                </a:solidFill>
                <a:latin typeface="Arial"/>
                <a:cs typeface="Arial"/>
              </a:rPr>
              <a:t>architecture</a:t>
            </a:r>
            <a:endParaRPr sz="1400">
              <a:latin typeface="Arial"/>
              <a:cs typeface="Arial"/>
            </a:endParaRPr>
          </a:p>
          <a:p>
            <a:pPr>
              <a:lnSpc>
                <a:spcPct val="100000"/>
              </a:lnSpc>
              <a:spcBef>
                <a:spcPts val="10"/>
              </a:spcBef>
            </a:pPr>
            <a:endParaRPr sz="1550">
              <a:latin typeface="Arial"/>
              <a:cs typeface="Arial"/>
            </a:endParaRPr>
          </a:p>
          <a:p>
            <a:pPr marL="264160">
              <a:lnSpc>
                <a:spcPts val="1410"/>
              </a:lnSpc>
            </a:pPr>
            <a:r>
              <a:rPr sz="1200" spc="-5" dirty="0">
                <a:solidFill>
                  <a:srgbClr val="3333B2"/>
                </a:solidFill>
                <a:latin typeface="Arial"/>
                <a:cs typeface="Arial"/>
              </a:rPr>
              <a:t>Essence</a:t>
            </a:r>
            <a:endParaRPr sz="1200">
              <a:latin typeface="Arial"/>
              <a:cs typeface="Arial"/>
            </a:endParaRPr>
          </a:p>
          <a:p>
            <a:pPr marL="264160" marR="5080">
              <a:lnSpc>
                <a:spcPts val="1200"/>
              </a:lnSpc>
              <a:spcBef>
                <a:spcPts val="10"/>
              </a:spcBef>
            </a:pPr>
            <a:r>
              <a:rPr sz="1000" spc="-5" dirty="0">
                <a:latin typeface="Arial"/>
                <a:cs typeface="Arial"/>
              </a:rPr>
              <a:t>Systems </a:t>
            </a:r>
            <a:r>
              <a:rPr sz="1000" spc="-10" dirty="0">
                <a:latin typeface="Arial"/>
                <a:cs typeface="Arial"/>
              </a:rPr>
              <a:t>deployed</a:t>
            </a:r>
            <a:r>
              <a:rPr sz="1000" dirty="0">
                <a:latin typeface="Arial"/>
                <a:cs typeface="Arial"/>
              </a:rPr>
              <a:t> </a:t>
            </a:r>
            <a:r>
              <a:rPr sz="1000" spc="-5" dirty="0">
                <a:latin typeface="Arial"/>
                <a:cs typeface="Arial"/>
              </a:rPr>
              <a:t>on the</a:t>
            </a:r>
            <a:r>
              <a:rPr sz="1000" dirty="0">
                <a:latin typeface="Arial"/>
                <a:cs typeface="Arial"/>
              </a:rPr>
              <a:t> Internet</a:t>
            </a:r>
            <a:r>
              <a:rPr sz="1000" spc="-5" dirty="0">
                <a:latin typeface="Arial"/>
                <a:cs typeface="Arial"/>
              </a:rPr>
              <a:t> where</a:t>
            </a:r>
            <a:r>
              <a:rPr sz="1000" dirty="0">
                <a:latin typeface="Arial"/>
                <a:cs typeface="Arial"/>
              </a:rPr>
              <a:t> </a:t>
            </a:r>
            <a:r>
              <a:rPr sz="1000" spc="-5" dirty="0">
                <a:latin typeface="Arial"/>
                <a:cs typeface="Arial"/>
              </a:rPr>
              <a:t>servers are</a:t>
            </a:r>
            <a:r>
              <a:rPr sz="1000" dirty="0">
                <a:latin typeface="Arial"/>
                <a:cs typeface="Arial"/>
              </a:rPr>
              <a:t> </a:t>
            </a:r>
            <a:r>
              <a:rPr sz="1000" spc="-5" dirty="0">
                <a:latin typeface="Arial"/>
                <a:cs typeface="Arial"/>
              </a:rPr>
              <a:t>placed </a:t>
            </a:r>
            <a:r>
              <a:rPr sz="1000" spc="-5" dirty="0">
                <a:solidFill>
                  <a:srgbClr val="0000FA"/>
                </a:solidFill>
                <a:latin typeface="Arial"/>
                <a:cs typeface="Arial"/>
              </a:rPr>
              <a:t>at</a:t>
            </a:r>
            <a:r>
              <a:rPr sz="1000" dirty="0">
                <a:solidFill>
                  <a:srgbClr val="0000FA"/>
                </a:solidFill>
                <a:latin typeface="Arial"/>
                <a:cs typeface="Arial"/>
              </a:rPr>
              <a:t> </a:t>
            </a:r>
            <a:r>
              <a:rPr sz="1000" spc="-5" dirty="0">
                <a:solidFill>
                  <a:srgbClr val="0000FA"/>
                </a:solidFill>
                <a:latin typeface="Arial"/>
                <a:cs typeface="Arial"/>
              </a:rPr>
              <a:t>the </a:t>
            </a:r>
            <a:r>
              <a:rPr sz="1000" dirty="0">
                <a:solidFill>
                  <a:srgbClr val="0000FA"/>
                </a:solidFill>
                <a:latin typeface="Arial"/>
                <a:cs typeface="Arial"/>
              </a:rPr>
              <a:t> </a:t>
            </a:r>
            <a:r>
              <a:rPr sz="1000" spc="-5" dirty="0">
                <a:solidFill>
                  <a:srgbClr val="0000FA"/>
                </a:solidFill>
                <a:latin typeface="Arial"/>
                <a:cs typeface="Arial"/>
              </a:rPr>
              <a:t>edge </a:t>
            </a:r>
            <a:r>
              <a:rPr sz="1000" spc="-5" dirty="0">
                <a:latin typeface="Arial"/>
                <a:cs typeface="Arial"/>
              </a:rPr>
              <a:t>of</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network:</a:t>
            </a:r>
            <a:r>
              <a:rPr sz="1000" spc="60" dirty="0">
                <a:latin typeface="Arial"/>
                <a:cs typeface="Arial"/>
              </a:rPr>
              <a:t> </a:t>
            </a:r>
            <a:r>
              <a:rPr sz="1000" spc="-5" dirty="0">
                <a:latin typeface="Arial"/>
                <a:cs typeface="Arial"/>
              </a:rPr>
              <a:t>the</a:t>
            </a:r>
            <a:r>
              <a:rPr sz="1000" dirty="0">
                <a:latin typeface="Arial"/>
                <a:cs typeface="Arial"/>
              </a:rPr>
              <a:t> boundary </a:t>
            </a:r>
            <a:r>
              <a:rPr sz="1000" spc="-5" dirty="0">
                <a:latin typeface="Arial"/>
                <a:cs typeface="Arial"/>
              </a:rPr>
              <a:t>between </a:t>
            </a:r>
            <a:r>
              <a:rPr sz="1000" dirty="0">
                <a:latin typeface="Arial"/>
                <a:cs typeface="Arial"/>
              </a:rPr>
              <a:t>enterprise </a:t>
            </a:r>
            <a:r>
              <a:rPr sz="1000" spc="-5" dirty="0">
                <a:latin typeface="Arial"/>
                <a:cs typeface="Arial"/>
              </a:rPr>
              <a:t>networks</a:t>
            </a:r>
            <a:r>
              <a:rPr sz="1000" dirty="0">
                <a:latin typeface="Arial"/>
                <a:cs typeface="Arial"/>
              </a:rPr>
              <a:t> </a:t>
            </a:r>
            <a:r>
              <a:rPr sz="1000" spc="-5" dirty="0">
                <a:latin typeface="Arial"/>
                <a:cs typeface="Arial"/>
              </a:rPr>
              <a:t>and </a:t>
            </a:r>
            <a:r>
              <a:rPr sz="1000" spc="-26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actual </a:t>
            </a:r>
            <a:r>
              <a:rPr sz="1000" dirty="0">
                <a:latin typeface="Arial"/>
                <a:cs typeface="Arial"/>
              </a:rPr>
              <a:t>Internet.</a:t>
            </a:r>
            <a:endParaRPr sz="1000">
              <a:latin typeface="Arial"/>
              <a:cs typeface="Arial"/>
            </a:endParaRPr>
          </a:p>
        </p:txBody>
      </p:sp>
      <p:grpSp>
        <p:nvGrpSpPr>
          <p:cNvPr id="5" name="object 5"/>
          <p:cNvGrpSpPr/>
          <p:nvPr/>
        </p:nvGrpSpPr>
        <p:grpSpPr>
          <a:xfrm>
            <a:off x="720519" y="1990611"/>
            <a:ext cx="3166745" cy="858519"/>
            <a:chOff x="720519" y="1990611"/>
            <a:chExt cx="3166745" cy="858519"/>
          </a:xfrm>
        </p:grpSpPr>
        <p:sp>
          <p:nvSpPr>
            <p:cNvPr id="6" name="object 6"/>
            <p:cNvSpPr/>
            <p:nvPr/>
          </p:nvSpPr>
          <p:spPr>
            <a:xfrm>
              <a:off x="1363701" y="2087214"/>
              <a:ext cx="796925" cy="759460"/>
            </a:xfrm>
            <a:custGeom>
              <a:avLst/>
              <a:gdLst/>
              <a:ahLst/>
              <a:cxnLst/>
              <a:rect l="l" t="t" r="r" b="b"/>
              <a:pathLst>
                <a:path w="796925" h="759460">
                  <a:moveTo>
                    <a:pt x="796894" y="0"/>
                  </a:moveTo>
                  <a:lnTo>
                    <a:pt x="796894" y="113838"/>
                  </a:lnTo>
                </a:path>
                <a:path w="796925" h="759460">
                  <a:moveTo>
                    <a:pt x="303580" y="493314"/>
                  </a:moveTo>
                  <a:lnTo>
                    <a:pt x="303580" y="379475"/>
                  </a:lnTo>
                </a:path>
                <a:path w="796925" h="759460">
                  <a:moveTo>
                    <a:pt x="417418" y="721003"/>
                  </a:moveTo>
                  <a:lnTo>
                    <a:pt x="417418" y="758947"/>
                  </a:lnTo>
                  <a:lnTo>
                    <a:pt x="493313" y="683052"/>
                  </a:lnTo>
                  <a:lnTo>
                    <a:pt x="417418" y="607157"/>
                  </a:lnTo>
                  <a:lnTo>
                    <a:pt x="417418" y="645109"/>
                  </a:lnTo>
                  <a:lnTo>
                    <a:pt x="75895" y="645109"/>
                  </a:lnTo>
                  <a:lnTo>
                    <a:pt x="75895" y="607157"/>
                  </a:lnTo>
                  <a:lnTo>
                    <a:pt x="0" y="683052"/>
                  </a:lnTo>
                  <a:lnTo>
                    <a:pt x="75895" y="758947"/>
                  </a:lnTo>
                  <a:lnTo>
                    <a:pt x="75895" y="721003"/>
                  </a:lnTo>
                  <a:lnTo>
                    <a:pt x="417418" y="721003"/>
                  </a:lnTo>
                  <a:close/>
                </a:path>
              </a:pathLst>
            </a:custGeom>
            <a:ln w="5243">
              <a:solidFill>
                <a:srgbClr val="231F20"/>
              </a:solidFill>
            </a:ln>
          </p:spPr>
          <p:txBody>
            <a:bodyPr wrap="square" lIns="0" tIns="0" rIns="0" bIns="0" rtlCol="0"/>
            <a:lstStyle/>
            <a:p>
              <a:endParaRPr/>
            </a:p>
          </p:txBody>
        </p:sp>
        <p:sp>
          <p:nvSpPr>
            <p:cNvPr id="7" name="object 7"/>
            <p:cNvSpPr/>
            <p:nvPr/>
          </p:nvSpPr>
          <p:spPr>
            <a:xfrm>
              <a:off x="1629330" y="2580529"/>
              <a:ext cx="76200" cy="76200"/>
            </a:xfrm>
            <a:custGeom>
              <a:avLst/>
              <a:gdLst/>
              <a:ahLst/>
              <a:cxnLst/>
              <a:rect l="l" t="t" r="r" b="b"/>
              <a:pathLst>
                <a:path w="76200" h="76200">
                  <a:moveTo>
                    <a:pt x="75895" y="0"/>
                  </a:moveTo>
                  <a:lnTo>
                    <a:pt x="0" y="0"/>
                  </a:lnTo>
                  <a:lnTo>
                    <a:pt x="0" y="75899"/>
                  </a:lnTo>
                  <a:lnTo>
                    <a:pt x="75895" y="75899"/>
                  </a:lnTo>
                  <a:lnTo>
                    <a:pt x="75895" y="0"/>
                  </a:lnTo>
                  <a:close/>
                </a:path>
              </a:pathLst>
            </a:custGeom>
            <a:solidFill>
              <a:srgbClr val="BCBEC0"/>
            </a:solidFill>
          </p:spPr>
          <p:txBody>
            <a:bodyPr wrap="square" lIns="0" tIns="0" rIns="0" bIns="0" rtlCol="0"/>
            <a:lstStyle/>
            <a:p>
              <a:endParaRPr/>
            </a:p>
          </p:txBody>
        </p:sp>
        <p:sp>
          <p:nvSpPr>
            <p:cNvPr id="8" name="object 8"/>
            <p:cNvSpPr/>
            <p:nvPr/>
          </p:nvSpPr>
          <p:spPr>
            <a:xfrm>
              <a:off x="1629330" y="2580529"/>
              <a:ext cx="76200" cy="76200"/>
            </a:xfrm>
            <a:custGeom>
              <a:avLst/>
              <a:gdLst/>
              <a:ahLst/>
              <a:cxnLst/>
              <a:rect l="l" t="t" r="r" b="b"/>
              <a:pathLst>
                <a:path w="76200" h="76200">
                  <a:moveTo>
                    <a:pt x="0" y="75899"/>
                  </a:moveTo>
                  <a:lnTo>
                    <a:pt x="75895" y="75899"/>
                  </a:lnTo>
                  <a:lnTo>
                    <a:pt x="75895" y="0"/>
                  </a:lnTo>
                  <a:lnTo>
                    <a:pt x="0" y="0"/>
                  </a:lnTo>
                  <a:lnTo>
                    <a:pt x="0" y="75899"/>
                  </a:lnTo>
                  <a:close/>
                </a:path>
              </a:pathLst>
            </a:custGeom>
            <a:ln w="5243">
              <a:solidFill>
                <a:srgbClr val="231F20"/>
              </a:solidFill>
            </a:ln>
          </p:spPr>
          <p:txBody>
            <a:bodyPr wrap="square" lIns="0" tIns="0" rIns="0" bIns="0" rtlCol="0"/>
            <a:lstStyle/>
            <a:p>
              <a:endParaRPr/>
            </a:p>
          </p:txBody>
        </p:sp>
        <p:sp>
          <p:nvSpPr>
            <p:cNvPr id="9" name="object 9"/>
            <p:cNvSpPr/>
            <p:nvPr/>
          </p:nvSpPr>
          <p:spPr>
            <a:xfrm>
              <a:off x="1667282" y="2466693"/>
              <a:ext cx="1138555" cy="379730"/>
            </a:xfrm>
            <a:custGeom>
              <a:avLst/>
              <a:gdLst/>
              <a:ahLst/>
              <a:cxnLst/>
              <a:rect l="l" t="t" r="r" b="b"/>
              <a:pathLst>
                <a:path w="1138555" h="379730">
                  <a:moveTo>
                    <a:pt x="0" y="189734"/>
                  </a:moveTo>
                  <a:lnTo>
                    <a:pt x="0" y="265630"/>
                  </a:lnTo>
                </a:path>
                <a:path w="1138555" h="379730">
                  <a:moveTo>
                    <a:pt x="948684" y="113839"/>
                  </a:moveTo>
                  <a:lnTo>
                    <a:pt x="948684" y="0"/>
                  </a:lnTo>
                </a:path>
                <a:path w="1138555" h="379730">
                  <a:moveTo>
                    <a:pt x="1062527" y="341524"/>
                  </a:moveTo>
                  <a:lnTo>
                    <a:pt x="1062527" y="379472"/>
                  </a:lnTo>
                  <a:lnTo>
                    <a:pt x="1138422" y="303573"/>
                  </a:lnTo>
                  <a:lnTo>
                    <a:pt x="1062527" y="227678"/>
                  </a:lnTo>
                  <a:lnTo>
                    <a:pt x="1062527" y="265630"/>
                  </a:lnTo>
                  <a:lnTo>
                    <a:pt x="720999" y="265630"/>
                  </a:lnTo>
                  <a:lnTo>
                    <a:pt x="720999" y="227678"/>
                  </a:lnTo>
                  <a:lnTo>
                    <a:pt x="645103" y="303573"/>
                  </a:lnTo>
                  <a:lnTo>
                    <a:pt x="720999" y="379472"/>
                  </a:lnTo>
                  <a:lnTo>
                    <a:pt x="720999" y="341524"/>
                  </a:lnTo>
                  <a:lnTo>
                    <a:pt x="1062527" y="341524"/>
                  </a:lnTo>
                  <a:close/>
                </a:path>
              </a:pathLst>
            </a:custGeom>
            <a:ln w="5243">
              <a:solidFill>
                <a:srgbClr val="231F20"/>
              </a:solidFill>
            </a:ln>
          </p:spPr>
          <p:txBody>
            <a:bodyPr wrap="square" lIns="0" tIns="0" rIns="0" bIns="0" rtlCol="0"/>
            <a:lstStyle/>
            <a:p>
              <a:endParaRPr/>
            </a:p>
          </p:txBody>
        </p:sp>
        <p:sp>
          <p:nvSpPr>
            <p:cNvPr id="10" name="object 10"/>
            <p:cNvSpPr/>
            <p:nvPr/>
          </p:nvSpPr>
          <p:spPr>
            <a:xfrm>
              <a:off x="2578019" y="2580533"/>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BCBEC0"/>
            </a:solidFill>
          </p:spPr>
          <p:txBody>
            <a:bodyPr wrap="square" lIns="0" tIns="0" rIns="0" bIns="0" rtlCol="0"/>
            <a:lstStyle/>
            <a:p>
              <a:endParaRPr/>
            </a:p>
          </p:txBody>
        </p:sp>
        <p:sp>
          <p:nvSpPr>
            <p:cNvPr id="11" name="object 11"/>
            <p:cNvSpPr/>
            <p:nvPr/>
          </p:nvSpPr>
          <p:spPr>
            <a:xfrm>
              <a:off x="2578019" y="2580533"/>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43">
              <a:solidFill>
                <a:srgbClr val="231F20"/>
              </a:solidFill>
            </a:ln>
          </p:spPr>
          <p:txBody>
            <a:bodyPr wrap="square" lIns="0" tIns="0" rIns="0" bIns="0" rtlCol="0"/>
            <a:lstStyle/>
            <a:p>
              <a:endParaRPr/>
            </a:p>
          </p:txBody>
        </p:sp>
        <p:sp>
          <p:nvSpPr>
            <p:cNvPr id="12" name="object 12"/>
            <p:cNvSpPr/>
            <p:nvPr/>
          </p:nvSpPr>
          <p:spPr>
            <a:xfrm>
              <a:off x="1022177" y="1993469"/>
              <a:ext cx="2513330" cy="739140"/>
            </a:xfrm>
            <a:custGeom>
              <a:avLst/>
              <a:gdLst/>
              <a:ahLst/>
              <a:cxnLst/>
              <a:rect l="l" t="t" r="r" b="b"/>
              <a:pathLst>
                <a:path w="2513329" h="739139">
                  <a:moveTo>
                    <a:pt x="1593789" y="662959"/>
                  </a:moveTo>
                  <a:lnTo>
                    <a:pt x="1593789" y="738854"/>
                  </a:lnTo>
                </a:path>
                <a:path w="2513329" h="739139">
                  <a:moveTo>
                    <a:pt x="2512964" y="0"/>
                  </a:moveTo>
                  <a:lnTo>
                    <a:pt x="2428636" y="227672"/>
                  </a:lnTo>
                </a:path>
                <a:path w="2513329" h="739139">
                  <a:moveTo>
                    <a:pt x="0" y="50320"/>
                  </a:moveTo>
                  <a:lnTo>
                    <a:pt x="113834" y="359378"/>
                  </a:lnTo>
                </a:path>
              </a:pathLst>
            </a:custGeom>
            <a:ln w="5243">
              <a:solidFill>
                <a:srgbClr val="231F20"/>
              </a:solidFill>
            </a:ln>
          </p:spPr>
          <p:txBody>
            <a:bodyPr wrap="square" lIns="0" tIns="0" rIns="0" bIns="0" rtlCol="0"/>
            <a:lstStyle/>
            <a:p>
              <a:endParaRPr/>
            </a:p>
          </p:txBody>
        </p:sp>
        <p:sp>
          <p:nvSpPr>
            <p:cNvPr id="13" name="object 13"/>
            <p:cNvSpPr/>
            <p:nvPr/>
          </p:nvSpPr>
          <p:spPr>
            <a:xfrm>
              <a:off x="723376" y="2136145"/>
              <a:ext cx="3161030" cy="423545"/>
            </a:xfrm>
            <a:custGeom>
              <a:avLst/>
              <a:gdLst/>
              <a:ahLst/>
              <a:cxnLst/>
              <a:rect l="l" t="t" r="r" b="b"/>
              <a:pathLst>
                <a:path w="3161029" h="423544">
                  <a:moveTo>
                    <a:pt x="1117460" y="0"/>
                  </a:moveTo>
                  <a:lnTo>
                    <a:pt x="1061133" y="1156"/>
                  </a:lnTo>
                  <a:lnTo>
                    <a:pt x="1004389" y="4748"/>
                  </a:lnTo>
                  <a:lnTo>
                    <a:pt x="948038" y="10936"/>
                  </a:lnTo>
                  <a:lnTo>
                    <a:pt x="892892" y="19884"/>
                  </a:lnTo>
                  <a:lnTo>
                    <a:pt x="839762" y="31753"/>
                  </a:lnTo>
                  <a:lnTo>
                    <a:pt x="789458" y="46707"/>
                  </a:lnTo>
                  <a:lnTo>
                    <a:pt x="719680" y="43590"/>
                  </a:lnTo>
                  <a:lnTo>
                    <a:pt x="666110" y="46432"/>
                  </a:lnTo>
                  <a:lnTo>
                    <a:pt x="627395" y="54399"/>
                  </a:lnTo>
                  <a:lnTo>
                    <a:pt x="602187" y="66661"/>
                  </a:lnTo>
                  <a:lnTo>
                    <a:pt x="557148" y="57487"/>
                  </a:lnTo>
                  <a:lnTo>
                    <a:pt x="505404" y="51715"/>
                  </a:lnTo>
                  <a:lnTo>
                    <a:pt x="449239" y="49324"/>
                  </a:lnTo>
                  <a:lnTo>
                    <a:pt x="390936" y="50289"/>
                  </a:lnTo>
                  <a:lnTo>
                    <a:pt x="332780" y="54588"/>
                  </a:lnTo>
                  <a:lnTo>
                    <a:pt x="277054" y="62196"/>
                  </a:lnTo>
                  <a:lnTo>
                    <a:pt x="226041" y="73092"/>
                  </a:lnTo>
                  <a:lnTo>
                    <a:pt x="182025" y="87250"/>
                  </a:lnTo>
                  <a:lnTo>
                    <a:pt x="147290" y="104649"/>
                  </a:lnTo>
                  <a:lnTo>
                    <a:pt x="114797" y="149074"/>
                  </a:lnTo>
                  <a:lnTo>
                    <a:pt x="65746" y="157200"/>
                  </a:lnTo>
                  <a:lnTo>
                    <a:pt x="31213" y="174713"/>
                  </a:lnTo>
                  <a:lnTo>
                    <a:pt x="18062" y="196314"/>
                  </a:lnTo>
                  <a:lnTo>
                    <a:pt x="33158" y="216702"/>
                  </a:lnTo>
                  <a:lnTo>
                    <a:pt x="10035" y="237119"/>
                  </a:lnTo>
                  <a:lnTo>
                    <a:pt x="0" y="258000"/>
                  </a:lnTo>
                  <a:lnTo>
                    <a:pt x="2381" y="278655"/>
                  </a:lnTo>
                  <a:lnTo>
                    <a:pt x="16510" y="298393"/>
                  </a:lnTo>
                  <a:lnTo>
                    <a:pt x="77332" y="332366"/>
                  </a:lnTo>
                  <a:lnTo>
                    <a:pt x="122684" y="345220"/>
                  </a:lnTo>
                  <a:lnTo>
                    <a:pt x="177105" y="354400"/>
                  </a:lnTo>
                  <a:lnTo>
                    <a:pt x="239925" y="359217"/>
                  </a:lnTo>
                  <a:lnTo>
                    <a:pt x="310473" y="358980"/>
                  </a:lnTo>
                  <a:lnTo>
                    <a:pt x="351377" y="374280"/>
                  </a:lnTo>
                  <a:lnTo>
                    <a:pt x="397120" y="383391"/>
                  </a:lnTo>
                  <a:lnTo>
                    <a:pt x="446780" y="386329"/>
                  </a:lnTo>
                  <a:lnTo>
                    <a:pt x="499437" y="383112"/>
                  </a:lnTo>
                  <a:lnTo>
                    <a:pt x="554167" y="373759"/>
                  </a:lnTo>
                  <a:lnTo>
                    <a:pt x="597072" y="387638"/>
                  </a:lnTo>
                  <a:lnTo>
                    <a:pt x="642866" y="398872"/>
                  </a:lnTo>
                  <a:lnTo>
                    <a:pt x="690927" y="407510"/>
                  </a:lnTo>
                  <a:lnTo>
                    <a:pt x="740634" y="413598"/>
                  </a:lnTo>
                  <a:lnTo>
                    <a:pt x="791364" y="417186"/>
                  </a:lnTo>
                  <a:lnTo>
                    <a:pt x="842494" y="418322"/>
                  </a:lnTo>
                  <a:lnTo>
                    <a:pt x="893402" y="417054"/>
                  </a:lnTo>
                  <a:lnTo>
                    <a:pt x="943466" y="413431"/>
                  </a:lnTo>
                  <a:lnTo>
                    <a:pt x="992063" y="407500"/>
                  </a:lnTo>
                  <a:lnTo>
                    <a:pt x="1038570" y="399311"/>
                  </a:lnTo>
                  <a:lnTo>
                    <a:pt x="1082366" y="388911"/>
                  </a:lnTo>
                  <a:lnTo>
                    <a:pt x="1126798" y="400951"/>
                  </a:lnTo>
                  <a:lnTo>
                    <a:pt x="1176970" y="410249"/>
                  </a:lnTo>
                  <a:lnTo>
                    <a:pt x="1231678" y="416959"/>
                  </a:lnTo>
                  <a:lnTo>
                    <a:pt x="1289717" y="421237"/>
                  </a:lnTo>
                  <a:lnTo>
                    <a:pt x="1349882" y="423236"/>
                  </a:lnTo>
                  <a:lnTo>
                    <a:pt x="1410968" y="423110"/>
                  </a:lnTo>
                  <a:lnTo>
                    <a:pt x="1471771" y="421015"/>
                  </a:lnTo>
                  <a:lnTo>
                    <a:pt x="1531085" y="417104"/>
                  </a:lnTo>
                  <a:lnTo>
                    <a:pt x="1587706" y="411532"/>
                  </a:lnTo>
                  <a:lnTo>
                    <a:pt x="1640429" y="404452"/>
                  </a:lnTo>
                  <a:lnTo>
                    <a:pt x="1688049" y="396020"/>
                  </a:lnTo>
                  <a:lnTo>
                    <a:pt x="1729362" y="386390"/>
                  </a:lnTo>
                  <a:lnTo>
                    <a:pt x="1788244" y="364151"/>
                  </a:lnTo>
                  <a:lnTo>
                    <a:pt x="1837304" y="367766"/>
                  </a:lnTo>
                  <a:lnTo>
                    <a:pt x="1903850" y="376079"/>
                  </a:lnTo>
                  <a:lnTo>
                    <a:pt x="1942761" y="384402"/>
                  </a:lnTo>
                  <a:lnTo>
                    <a:pt x="1957277" y="388028"/>
                  </a:lnTo>
                  <a:lnTo>
                    <a:pt x="1971392" y="391010"/>
                  </a:lnTo>
                  <a:lnTo>
                    <a:pt x="1987274" y="393133"/>
                  </a:lnTo>
                  <a:lnTo>
                    <a:pt x="2007094" y="394180"/>
                  </a:lnTo>
                  <a:lnTo>
                    <a:pt x="2033021" y="393936"/>
                  </a:lnTo>
                  <a:lnTo>
                    <a:pt x="2067224" y="392187"/>
                  </a:lnTo>
                  <a:lnTo>
                    <a:pt x="2111871" y="388715"/>
                  </a:lnTo>
                  <a:lnTo>
                    <a:pt x="2169133" y="383307"/>
                  </a:lnTo>
                  <a:lnTo>
                    <a:pt x="2228829" y="389236"/>
                  </a:lnTo>
                  <a:lnTo>
                    <a:pt x="2288825" y="388533"/>
                  </a:lnTo>
                  <a:lnTo>
                    <a:pt x="2343349" y="382071"/>
                  </a:lnTo>
                  <a:lnTo>
                    <a:pt x="2386632" y="370724"/>
                  </a:lnTo>
                  <a:lnTo>
                    <a:pt x="2412904" y="355365"/>
                  </a:lnTo>
                  <a:lnTo>
                    <a:pt x="2478400" y="356811"/>
                  </a:lnTo>
                  <a:lnTo>
                    <a:pt x="2538268" y="356415"/>
                  </a:lnTo>
                  <a:lnTo>
                    <a:pt x="2589269" y="353729"/>
                  </a:lnTo>
                  <a:lnTo>
                    <a:pt x="2628165" y="348302"/>
                  </a:lnTo>
                  <a:lnTo>
                    <a:pt x="2656686" y="327428"/>
                  </a:lnTo>
                  <a:lnTo>
                    <a:pt x="2726240" y="334410"/>
                  </a:lnTo>
                  <a:lnTo>
                    <a:pt x="2792418" y="335857"/>
                  </a:lnTo>
                  <a:lnTo>
                    <a:pt x="2853972" y="332447"/>
                  </a:lnTo>
                  <a:lnTo>
                    <a:pt x="2909657" y="324857"/>
                  </a:lnTo>
                  <a:lnTo>
                    <a:pt x="2958229" y="313767"/>
                  </a:lnTo>
                  <a:lnTo>
                    <a:pt x="2998442" y="299855"/>
                  </a:lnTo>
                  <a:lnTo>
                    <a:pt x="3048810" y="266276"/>
                  </a:lnTo>
                  <a:lnTo>
                    <a:pt x="3056474" y="247966"/>
                  </a:lnTo>
                  <a:lnTo>
                    <a:pt x="3097008" y="235642"/>
                  </a:lnTo>
                  <a:lnTo>
                    <a:pt x="3127391" y="220451"/>
                  </a:lnTo>
                  <a:lnTo>
                    <a:pt x="3147922" y="203084"/>
                  </a:lnTo>
                  <a:lnTo>
                    <a:pt x="3158901" y="184233"/>
                  </a:lnTo>
                  <a:lnTo>
                    <a:pt x="3160627" y="164590"/>
                  </a:lnTo>
                  <a:lnTo>
                    <a:pt x="3153401" y="144848"/>
                  </a:lnTo>
                  <a:lnTo>
                    <a:pt x="3113291" y="107832"/>
                  </a:lnTo>
                  <a:lnTo>
                    <a:pt x="3040968" y="78719"/>
                  </a:lnTo>
                  <a:lnTo>
                    <a:pt x="2993476" y="68857"/>
                  </a:lnTo>
                  <a:lnTo>
                    <a:pt x="2938830" y="63046"/>
                  </a:lnTo>
                  <a:lnTo>
                    <a:pt x="2877330" y="61979"/>
                  </a:lnTo>
                  <a:lnTo>
                    <a:pt x="2838583" y="49262"/>
                  </a:lnTo>
                  <a:lnTo>
                    <a:pt x="2791841" y="39630"/>
                  </a:lnTo>
                  <a:lnTo>
                    <a:pt x="2738723" y="32859"/>
                  </a:lnTo>
                  <a:lnTo>
                    <a:pt x="2680846" y="28730"/>
                  </a:lnTo>
                  <a:lnTo>
                    <a:pt x="2619826" y="27019"/>
                  </a:lnTo>
                  <a:lnTo>
                    <a:pt x="2557280" y="27505"/>
                  </a:lnTo>
                  <a:lnTo>
                    <a:pt x="2494826" y="29966"/>
                  </a:lnTo>
                  <a:lnTo>
                    <a:pt x="2434081" y="34181"/>
                  </a:lnTo>
                  <a:lnTo>
                    <a:pt x="2376661" y="39927"/>
                  </a:lnTo>
                  <a:lnTo>
                    <a:pt x="2324184" y="46983"/>
                  </a:lnTo>
                  <a:lnTo>
                    <a:pt x="2278267" y="55128"/>
                  </a:lnTo>
                  <a:lnTo>
                    <a:pt x="2240526" y="64139"/>
                  </a:lnTo>
                  <a:lnTo>
                    <a:pt x="2196044" y="83873"/>
                  </a:lnTo>
                  <a:lnTo>
                    <a:pt x="2172396" y="67068"/>
                  </a:lnTo>
                  <a:lnTo>
                    <a:pt x="2133958" y="50718"/>
                  </a:lnTo>
                  <a:lnTo>
                    <a:pt x="2084930" y="36020"/>
                  </a:lnTo>
                  <a:lnTo>
                    <a:pt x="2029509" y="24177"/>
                  </a:lnTo>
                  <a:lnTo>
                    <a:pt x="1971894" y="16387"/>
                  </a:lnTo>
                  <a:lnTo>
                    <a:pt x="1916281" y="13851"/>
                  </a:lnTo>
                  <a:lnTo>
                    <a:pt x="1866870" y="17768"/>
                  </a:lnTo>
                  <a:lnTo>
                    <a:pt x="1827858" y="29339"/>
                  </a:lnTo>
                  <a:lnTo>
                    <a:pt x="1779864" y="19923"/>
                  </a:lnTo>
                  <a:lnTo>
                    <a:pt x="1726834" y="14782"/>
                  </a:lnTo>
                  <a:lnTo>
                    <a:pt x="1671497" y="13651"/>
                  </a:lnTo>
                  <a:lnTo>
                    <a:pt x="1616580" y="16266"/>
                  </a:lnTo>
                  <a:lnTo>
                    <a:pt x="1564815" y="22363"/>
                  </a:lnTo>
                  <a:lnTo>
                    <a:pt x="1518930" y="31677"/>
                  </a:lnTo>
                  <a:lnTo>
                    <a:pt x="1481655" y="43945"/>
                  </a:lnTo>
                  <a:lnTo>
                    <a:pt x="1455718" y="58903"/>
                  </a:lnTo>
                  <a:lnTo>
                    <a:pt x="1431930" y="46430"/>
                  </a:lnTo>
                  <a:lnTo>
                    <a:pt x="1364446" y="25051"/>
                  </a:lnTo>
                  <a:lnTo>
                    <a:pt x="1322372" y="16471"/>
                  </a:lnTo>
                  <a:lnTo>
                    <a:pt x="1275826" y="9513"/>
                  </a:lnTo>
                  <a:lnTo>
                    <a:pt x="1225618" y="4340"/>
                  </a:lnTo>
                  <a:lnTo>
                    <a:pt x="1172559" y="1115"/>
                  </a:lnTo>
                  <a:lnTo>
                    <a:pt x="1117460" y="0"/>
                  </a:lnTo>
                  <a:close/>
                </a:path>
              </a:pathLst>
            </a:custGeom>
            <a:solidFill>
              <a:srgbClr val="FFFFFF"/>
            </a:solidFill>
          </p:spPr>
          <p:txBody>
            <a:bodyPr wrap="square" lIns="0" tIns="0" rIns="0" bIns="0" rtlCol="0"/>
            <a:lstStyle/>
            <a:p>
              <a:endParaRPr/>
            </a:p>
          </p:txBody>
        </p:sp>
        <p:sp>
          <p:nvSpPr>
            <p:cNvPr id="14" name="object 14"/>
            <p:cNvSpPr/>
            <p:nvPr/>
          </p:nvSpPr>
          <p:spPr>
            <a:xfrm>
              <a:off x="723376" y="2136145"/>
              <a:ext cx="3161030" cy="423545"/>
            </a:xfrm>
            <a:custGeom>
              <a:avLst/>
              <a:gdLst/>
              <a:ahLst/>
              <a:cxnLst/>
              <a:rect l="l" t="t" r="r" b="b"/>
              <a:pathLst>
                <a:path w="3161029" h="423544">
                  <a:moveTo>
                    <a:pt x="1788244" y="364151"/>
                  </a:moveTo>
                  <a:lnTo>
                    <a:pt x="1837304" y="367766"/>
                  </a:lnTo>
                  <a:lnTo>
                    <a:pt x="1903850" y="376079"/>
                  </a:lnTo>
                  <a:lnTo>
                    <a:pt x="1942761" y="384402"/>
                  </a:lnTo>
                  <a:lnTo>
                    <a:pt x="1957277" y="388028"/>
                  </a:lnTo>
                  <a:lnTo>
                    <a:pt x="1971392" y="391010"/>
                  </a:lnTo>
                  <a:lnTo>
                    <a:pt x="1987274" y="393133"/>
                  </a:lnTo>
                  <a:lnTo>
                    <a:pt x="2007094" y="394180"/>
                  </a:lnTo>
                  <a:lnTo>
                    <a:pt x="2033021" y="393936"/>
                  </a:lnTo>
                  <a:lnTo>
                    <a:pt x="2067224" y="392187"/>
                  </a:lnTo>
                  <a:lnTo>
                    <a:pt x="2111871" y="388715"/>
                  </a:lnTo>
                  <a:lnTo>
                    <a:pt x="2169133" y="383307"/>
                  </a:lnTo>
                  <a:lnTo>
                    <a:pt x="2228829" y="389236"/>
                  </a:lnTo>
                  <a:lnTo>
                    <a:pt x="2288825" y="388533"/>
                  </a:lnTo>
                  <a:lnTo>
                    <a:pt x="2343349" y="382071"/>
                  </a:lnTo>
                  <a:lnTo>
                    <a:pt x="2386632" y="370724"/>
                  </a:lnTo>
                  <a:lnTo>
                    <a:pt x="2412904" y="355365"/>
                  </a:lnTo>
                  <a:lnTo>
                    <a:pt x="2478400" y="356811"/>
                  </a:lnTo>
                  <a:lnTo>
                    <a:pt x="2538268" y="356415"/>
                  </a:lnTo>
                  <a:lnTo>
                    <a:pt x="2589269" y="353729"/>
                  </a:lnTo>
                  <a:lnTo>
                    <a:pt x="2628165" y="348302"/>
                  </a:lnTo>
                  <a:lnTo>
                    <a:pt x="2656686" y="327428"/>
                  </a:lnTo>
                  <a:lnTo>
                    <a:pt x="2726240" y="334410"/>
                  </a:lnTo>
                  <a:lnTo>
                    <a:pt x="2792418" y="335857"/>
                  </a:lnTo>
                  <a:lnTo>
                    <a:pt x="2853972" y="332447"/>
                  </a:lnTo>
                  <a:lnTo>
                    <a:pt x="2909657" y="324857"/>
                  </a:lnTo>
                  <a:lnTo>
                    <a:pt x="2958229" y="313767"/>
                  </a:lnTo>
                  <a:lnTo>
                    <a:pt x="2998442" y="299855"/>
                  </a:lnTo>
                  <a:lnTo>
                    <a:pt x="3048810" y="266276"/>
                  </a:lnTo>
                  <a:lnTo>
                    <a:pt x="3056474" y="247966"/>
                  </a:lnTo>
                  <a:lnTo>
                    <a:pt x="3097008" y="235642"/>
                  </a:lnTo>
                  <a:lnTo>
                    <a:pt x="3127391" y="220451"/>
                  </a:lnTo>
                  <a:lnTo>
                    <a:pt x="3147922" y="203084"/>
                  </a:lnTo>
                  <a:lnTo>
                    <a:pt x="3158901" y="184233"/>
                  </a:lnTo>
                  <a:lnTo>
                    <a:pt x="3160627" y="164590"/>
                  </a:lnTo>
                  <a:lnTo>
                    <a:pt x="3153401" y="144848"/>
                  </a:lnTo>
                  <a:lnTo>
                    <a:pt x="3113291" y="107832"/>
                  </a:lnTo>
                  <a:lnTo>
                    <a:pt x="3040968" y="78719"/>
                  </a:lnTo>
                  <a:lnTo>
                    <a:pt x="2993476" y="68857"/>
                  </a:lnTo>
                  <a:lnTo>
                    <a:pt x="2938830" y="63046"/>
                  </a:lnTo>
                  <a:lnTo>
                    <a:pt x="2877330" y="61979"/>
                  </a:lnTo>
                  <a:lnTo>
                    <a:pt x="2838583" y="49262"/>
                  </a:lnTo>
                  <a:lnTo>
                    <a:pt x="2791841" y="39630"/>
                  </a:lnTo>
                  <a:lnTo>
                    <a:pt x="2738723" y="32859"/>
                  </a:lnTo>
                  <a:lnTo>
                    <a:pt x="2680846" y="28730"/>
                  </a:lnTo>
                  <a:lnTo>
                    <a:pt x="2619826" y="27019"/>
                  </a:lnTo>
                  <a:lnTo>
                    <a:pt x="2557280" y="27505"/>
                  </a:lnTo>
                  <a:lnTo>
                    <a:pt x="2494826" y="29966"/>
                  </a:lnTo>
                  <a:lnTo>
                    <a:pt x="2434081" y="34181"/>
                  </a:lnTo>
                  <a:lnTo>
                    <a:pt x="2376661" y="39927"/>
                  </a:lnTo>
                  <a:lnTo>
                    <a:pt x="2324184" y="46983"/>
                  </a:lnTo>
                  <a:lnTo>
                    <a:pt x="2278267" y="55128"/>
                  </a:lnTo>
                  <a:lnTo>
                    <a:pt x="2240526" y="64139"/>
                  </a:lnTo>
                  <a:lnTo>
                    <a:pt x="2196044" y="83873"/>
                  </a:lnTo>
                  <a:lnTo>
                    <a:pt x="2172396" y="67068"/>
                  </a:lnTo>
                  <a:lnTo>
                    <a:pt x="2133958" y="50718"/>
                  </a:lnTo>
                  <a:lnTo>
                    <a:pt x="2084930" y="36020"/>
                  </a:lnTo>
                  <a:lnTo>
                    <a:pt x="2029509" y="24177"/>
                  </a:lnTo>
                  <a:lnTo>
                    <a:pt x="1971894" y="16387"/>
                  </a:lnTo>
                  <a:lnTo>
                    <a:pt x="1916281" y="13851"/>
                  </a:lnTo>
                  <a:lnTo>
                    <a:pt x="1866870" y="17768"/>
                  </a:lnTo>
                  <a:lnTo>
                    <a:pt x="1827858" y="29339"/>
                  </a:lnTo>
                  <a:lnTo>
                    <a:pt x="1779864" y="19923"/>
                  </a:lnTo>
                  <a:lnTo>
                    <a:pt x="1726834" y="14782"/>
                  </a:lnTo>
                  <a:lnTo>
                    <a:pt x="1671497" y="13651"/>
                  </a:lnTo>
                  <a:lnTo>
                    <a:pt x="1616580" y="16266"/>
                  </a:lnTo>
                  <a:lnTo>
                    <a:pt x="1564815" y="22363"/>
                  </a:lnTo>
                  <a:lnTo>
                    <a:pt x="1518930" y="31677"/>
                  </a:lnTo>
                  <a:lnTo>
                    <a:pt x="1481655" y="43945"/>
                  </a:lnTo>
                  <a:lnTo>
                    <a:pt x="1455718" y="58903"/>
                  </a:lnTo>
                  <a:lnTo>
                    <a:pt x="1431930" y="46430"/>
                  </a:lnTo>
                  <a:lnTo>
                    <a:pt x="1364446" y="25051"/>
                  </a:lnTo>
                  <a:lnTo>
                    <a:pt x="1322372" y="16471"/>
                  </a:lnTo>
                  <a:lnTo>
                    <a:pt x="1275826" y="9513"/>
                  </a:lnTo>
                  <a:lnTo>
                    <a:pt x="1225618" y="4340"/>
                  </a:lnTo>
                  <a:lnTo>
                    <a:pt x="1172559" y="1115"/>
                  </a:lnTo>
                  <a:lnTo>
                    <a:pt x="1117460" y="0"/>
                  </a:lnTo>
                  <a:lnTo>
                    <a:pt x="1061133" y="1156"/>
                  </a:lnTo>
                  <a:lnTo>
                    <a:pt x="1004389" y="4748"/>
                  </a:lnTo>
                  <a:lnTo>
                    <a:pt x="948038" y="10936"/>
                  </a:lnTo>
                  <a:lnTo>
                    <a:pt x="892892" y="19884"/>
                  </a:lnTo>
                  <a:lnTo>
                    <a:pt x="839762" y="31753"/>
                  </a:lnTo>
                  <a:lnTo>
                    <a:pt x="789458" y="46707"/>
                  </a:lnTo>
                  <a:lnTo>
                    <a:pt x="719680" y="43590"/>
                  </a:lnTo>
                  <a:lnTo>
                    <a:pt x="666110" y="46432"/>
                  </a:lnTo>
                  <a:lnTo>
                    <a:pt x="627395" y="54399"/>
                  </a:lnTo>
                  <a:lnTo>
                    <a:pt x="602187" y="66661"/>
                  </a:lnTo>
                  <a:lnTo>
                    <a:pt x="557148" y="57487"/>
                  </a:lnTo>
                  <a:lnTo>
                    <a:pt x="505404" y="51715"/>
                  </a:lnTo>
                  <a:lnTo>
                    <a:pt x="449239" y="49324"/>
                  </a:lnTo>
                  <a:lnTo>
                    <a:pt x="390936" y="50289"/>
                  </a:lnTo>
                  <a:lnTo>
                    <a:pt x="332780" y="54588"/>
                  </a:lnTo>
                  <a:lnTo>
                    <a:pt x="277054" y="62196"/>
                  </a:lnTo>
                  <a:lnTo>
                    <a:pt x="226041" y="73092"/>
                  </a:lnTo>
                  <a:lnTo>
                    <a:pt x="182025" y="87250"/>
                  </a:lnTo>
                  <a:lnTo>
                    <a:pt x="147290" y="104649"/>
                  </a:lnTo>
                  <a:lnTo>
                    <a:pt x="114797" y="149074"/>
                  </a:lnTo>
                  <a:lnTo>
                    <a:pt x="65746" y="157200"/>
                  </a:lnTo>
                  <a:lnTo>
                    <a:pt x="31213" y="174713"/>
                  </a:lnTo>
                  <a:lnTo>
                    <a:pt x="18062" y="196314"/>
                  </a:lnTo>
                  <a:lnTo>
                    <a:pt x="33158" y="216702"/>
                  </a:lnTo>
                  <a:lnTo>
                    <a:pt x="10035" y="237119"/>
                  </a:lnTo>
                  <a:lnTo>
                    <a:pt x="0" y="258000"/>
                  </a:lnTo>
                  <a:lnTo>
                    <a:pt x="2381" y="278655"/>
                  </a:lnTo>
                  <a:lnTo>
                    <a:pt x="16510" y="298393"/>
                  </a:lnTo>
                  <a:lnTo>
                    <a:pt x="77332" y="332366"/>
                  </a:lnTo>
                  <a:lnTo>
                    <a:pt x="122684" y="345220"/>
                  </a:lnTo>
                  <a:lnTo>
                    <a:pt x="177105" y="354400"/>
                  </a:lnTo>
                  <a:lnTo>
                    <a:pt x="239925" y="359217"/>
                  </a:lnTo>
                  <a:lnTo>
                    <a:pt x="310473" y="358980"/>
                  </a:lnTo>
                  <a:lnTo>
                    <a:pt x="351377" y="374280"/>
                  </a:lnTo>
                  <a:lnTo>
                    <a:pt x="397120" y="383391"/>
                  </a:lnTo>
                  <a:lnTo>
                    <a:pt x="446780" y="386329"/>
                  </a:lnTo>
                  <a:lnTo>
                    <a:pt x="499437" y="383112"/>
                  </a:lnTo>
                  <a:lnTo>
                    <a:pt x="554167" y="373759"/>
                  </a:lnTo>
                  <a:lnTo>
                    <a:pt x="597072" y="387638"/>
                  </a:lnTo>
                  <a:lnTo>
                    <a:pt x="642866" y="398872"/>
                  </a:lnTo>
                  <a:lnTo>
                    <a:pt x="690927" y="407510"/>
                  </a:lnTo>
                  <a:lnTo>
                    <a:pt x="740634" y="413598"/>
                  </a:lnTo>
                  <a:lnTo>
                    <a:pt x="791364" y="417186"/>
                  </a:lnTo>
                  <a:lnTo>
                    <a:pt x="842494" y="418322"/>
                  </a:lnTo>
                  <a:lnTo>
                    <a:pt x="893402" y="417054"/>
                  </a:lnTo>
                  <a:lnTo>
                    <a:pt x="943466" y="413431"/>
                  </a:lnTo>
                  <a:lnTo>
                    <a:pt x="992063" y="407500"/>
                  </a:lnTo>
                  <a:lnTo>
                    <a:pt x="1038570" y="399311"/>
                  </a:lnTo>
                  <a:lnTo>
                    <a:pt x="1082366" y="388911"/>
                  </a:lnTo>
                  <a:lnTo>
                    <a:pt x="1126798" y="400951"/>
                  </a:lnTo>
                  <a:lnTo>
                    <a:pt x="1176970" y="410249"/>
                  </a:lnTo>
                  <a:lnTo>
                    <a:pt x="1231678" y="416959"/>
                  </a:lnTo>
                  <a:lnTo>
                    <a:pt x="1289717" y="421237"/>
                  </a:lnTo>
                  <a:lnTo>
                    <a:pt x="1349882" y="423236"/>
                  </a:lnTo>
                  <a:lnTo>
                    <a:pt x="1410968" y="423110"/>
                  </a:lnTo>
                  <a:lnTo>
                    <a:pt x="1471771" y="421015"/>
                  </a:lnTo>
                  <a:lnTo>
                    <a:pt x="1531085" y="417104"/>
                  </a:lnTo>
                  <a:lnTo>
                    <a:pt x="1587706" y="411532"/>
                  </a:lnTo>
                  <a:lnTo>
                    <a:pt x="1640429" y="404452"/>
                  </a:lnTo>
                  <a:lnTo>
                    <a:pt x="1688049" y="396020"/>
                  </a:lnTo>
                  <a:lnTo>
                    <a:pt x="1729362" y="386390"/>
                  </a:lnTo>
                  <a:lnTo>
                    <a:pt x="1763162" y="375716"/>
                  </a:lnTo>
                  <a:lnTo>
                    <a:pt x="1788244" y="364151"/>
                  </a:lnTo>
                  <a:close/>
                </a:path>
              </a:pathLst>
            </a:custGeom>
            <a:ln w="5270">
              <a:solidFill>
                <a:srgbClr val="231F20"/>
              </a:solidFill>
            </a:ln>
          </p:spPr>
          <p:txBody>
            <a:bodyPr wrap="square" lIns="0" tIns="0" rIns="0" bIns="0" rtlCol="0"/>
            <a:lstStyle/>
            <a:p>
              <a:endParaRPr/>
            </a:p>
          </p:txBody>
        </p:sp>
      </p:grpSp>
      <p:sp>
        <p:nvSpPr>
          <p:cNvPr id="15" name="object 15"/>
          <p:cNvSpPr txBox="1"/>
          <p:nvPr/>
        </p:nvSpPr>
        <p:spPr>
          <a:xfrm>
            <a:off x="1123670" y="2543051"/>
            <a:ext cx="48005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Edge server</a:t>
            </a:r>
            <a:endParaRPr sz="650">
              <a:latin typeface="Arial"/>
              <a:cs typeface="Arial"/>
            </a:endParaRPr>
          </a:p>
        </p:txBody>
      </p:sp>
      <p:sp>
        <p:nvSpPr>
          <p:cNvPr id="16" name="object 16"/>
          <p:cNvSpPr txBox="1"/>
          <p:nvPr/>
        </p:nvSpPr>
        <p:spPr>
          <a:xfrm>
            <a:off x="2774612" y="2369664"/>
            <a:ext cx="5175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Core Internet</a:t>
            </a:r>
            <a:endParaRPr sz="650">
              <a:latin typeface="Arial"/>
              <a:cs typeface="Arial"/>
            </a:endParaRPr>
          </a:p>
        </p:txBody>
      </p:sp>
      <p:sp>
        <p:nvSpPr>
          <p:cNvPr id="17" name="object 17"/>
          <p:cNvSpPr txBox="1"/>
          <p:nvPr/>
        </p:nvSpPr>
        <p:spPr>
          <a:xfrm>
            <a:off x="2820972" y="2711188"/>
            <a:ext cx="7283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Enterprise network</a:t>
            </a:r>
            <a:endParaRPr sz="650">
              <a:latin typeface="Arial"/>
              <a:cs typeface="Arial"/>
            </a:endParaRPr>
          </a:p>
        </p:txBody>
      </p:sp>
      <p:grpSp>
        <p:nvGrpSpPr>
          <p:cNvPr id="18" name="object 18"/>
          <p:cNvGrpSpPr/>
          <p:nvPr/>
        </p:nvGrpSpPr>
        <p:grpSpPr>
          <a:xfrm>
            <a:off x="785072" y="1737350"/>
            <a:ext cx="1682114" cy="391160"/>
            <a:chOff x="785072" y="1737350"/>
            <a:chExt cx="1682114" cy="391160"/>
          </a:xfrm>
        </p:grpSpPr>
        <p:sp>
          <p:nvSpPr>
            <p:cNvPr id="19" name="object 19"/>
            <p:cNvSpPr/>
            <p:nvPr/>
          </p:nvSpPr>
          <p:spPr>
            <a:xfrm>
              <a:off x="1970858" y="1821581"/>
              <a:ext cx="493395" cy="189865"/>
            </a:xfrm>
            <a:custGeom>
              <a:avLst/>
              <a:gdLst/>
              <a:ahLst/>
              <a:cxnLst/>
              <a:rect l="l" t="t" r="r" b="b"/>
              <a:pathLst>
                <a:path w="493394" h="189864">
                  <a:moveTo>
                    <a:pt x="75895" y="37947"/>
                  </a:moveTo>
                  <a:lnTo>
                    <a:pt x="75895" y="0"/>
                  </a:lnTo>
                  <a:lnTo>
                    <a:pt x="0" y="75895"/>
                  </a:lnTo>
                  <a:lnTo>
                    <a:pt x="75895" y="151790"/>
                  </a:lnTo>
                  <a:lnTo>
                    <a:pt x="75895" y="113842"/>
                  </a:lnTo>
                  <a:lnTo>
                    <a:pt x="417423" y="113842"/>
                  </a:lnTo>
                  <a:lnTo>
                    <a:pt x="417423" y="151790"/>
                  </a:lnTo>
                  <a:lnTo>
                    <a:pt x="493318" y="75895"/>
                  </a:lnTo>
                  <a:lnTo>
                    <a:pt x="417423" y="0"/>
                  </a:lnTo>
                  <a:lnTo>
                    <a:pt x="417423" y="37947"/>
                  </a:lnTo>
                  <a:lnTo>
                    <a:pt x="75895" y="37947"/>
                  </a:lnTo>
                  <a:close/>
                </a:path>
                <a:path w="493394" h="189864">
                  <a:moveTo>
                    <a:pt x="189737" y="189733"/>
                  </a:moveTo>
                  <a:lnTo>
                    <a:pt x="189737" y="113838"/>
                  </a:lnTo>
                </a:path>
              </a:pathLst>
            </a:custGeom>
            <a:ln w="5243">
              <a:solidFill>
                <a:srgbClr val="231F20"/>
              </a:solidFill>
            </a:ln>
          </p:spPr>
          <p:txBody>
            <a:bodyPr wrap="square" lIns="0" tIns="0" rIns="0" bIns="0" rtlCol="0"/>
            <a:lstStyle/>
            <a:p>
              <a:endParaRPr/>
            </a:p>
          </p:txBody>
        </p:sp>
        <p:sp>
          <p:nvSpPr>
            <p:cNvPr id="20" name="object 20"/>
            <p:cNvSpPr/>
            <p:nvPr/>
          </p:nvSpPr>
          <p:spPr>
            <a:xfrm>
              <a:off x="794491" y="1740208"/>
              <a:ext cx="152400" cy="266065"/>
            </a:xfrm>
            <a:custGeom>
              <a:avLst/>
              <a:gdLst/>
              <a:ahLst/>
              <a:cxnLst/>
              <a:rect l="l" t="t" r="r" b="b"/>
              <a:pathLst>
                <a:path w="152400" h="266064">
                  <a:moveTo>
                    <a:pt x="0" y="0"/>
                  </a:moveTo>
                  <a:lnTo>
                    <a:pt x="151790" y="265634"/>
                  </a:lnTo>
                  <a:lnTo>
                    <a:pt x="0" y="0"/>
                  </a:lnTo>
                  <a:close/>
                </a:path>
              </a:pathLst>
            </a:custGeom>
            <a:ln w="5270">
              <a:solidFill>
                <a:srgbClr val="231F20"/>
              </a:solidFill>
            </a:ln>
          </p:spPr>
          <p:txBody>
            <a:bodyPr wrap="square" lIns="0" tIns="0" rIns="0" bIns="0" rtlCol="0"/>
            <a:lstStyle/>
            <a:p>
              <a:endParaRPr/>
            </a:p>
          </p:txBody>
        </p:sp>
        <p:sp>
          <p:nvSpPr>
            <p:cNvPr id="21" name="object 21"/>
            <p:cNvSpPr/>
            <p:nvPr/>
          </p:nvSpPr>
          <p:spPr>
            <a:xfrm>
              <a:off x="946282" y="1740208"/>
              <a:ext cx="0" cy="266065"/>
            </a:xfrm>
            <a:custGeom>
              <a:avLst/>
              <a:gdLst/>
              <a:ahLst/>
              <a:cxnLst/>
              <a:rect l="l" t="t" r="r" b="b"/>
              <a:pathLst>
                <a:path h="266064">
                  <a:moveTo>
                    <a:pt x="0" y="0"/>
                  </a:moveTo>
                  <a:lnTo>
                    <a:pt x="0" y="265634"/>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946282" y="1778155"/>
              <a:ext cx="0" cy="227965"/>
            </a:xfrm>
            <a:custGeom>
              <a:avLst/>
              <a:gdLst/>
              <a:ahLst/>
              <a:cxnLst/>
              <a:rect l="l" t="t" r="r" b="b"/>
              <a:pathLst>
                <a:path h="227964">
                  <a:moveTo>
                    <a:pt x="0" y="0"/>
                  </a:moveTo>
                  <a:lnTo>
                    <a:pt x="0" y="227686"/>
                  </a:lnTo>
                </a:path>
              </a:pathLst>
            </a:custGeom>
            <a:ln w="5270">
              <a:solidFill>
                <a:srgbClr val="231F20"/>
              </a:solidFill>
            </a:ln>
          </p:spPr>
          <p:txBody>
            <a:bodyPr wrap="square" lIns="0" tIns="0" rIns="0" bIns="0" rtlCol="0"/>
            <a:lstStyle/>
            <a:p>
              <a:endParaRPr/>
            </a:p>
          </p:txBody>
        </p:sp>
        <p:sp>
          <p:nvSpPr>
            <p:cNvPr id="23" name="object 23"/>
            <p:cNvSpPr/>
            <p:nvPr/>
          </p:nvSpPr>
          <p:spPr>
            <a:xfrm>
              <a:off x="946282" y="1740208"/>
              <a:ext cx="152400" cy="266065"/>
            </a:xfrm>
            <a:custGeom>
              <a:avLst/>
              <a:gdLst/>
              <a:ahLst/>
              <a:cxnLst/>
              <a:rect l="l" t="t" r="r" b="b"/>
              <a:pathLst>
                <a:path w="152400" h="266064">
                  <a:moveTo>
                    <a:pt x="151790" y="0"/>
                  </a:moveTo>
                  <a:lnTo>
                    <a:pt x="0" y="265634"/>
                  </a:lnTo>
                  <a:lnTo>
                    <a:pt x="151790" y="0"/>
                  </a:lnTo>
                  <a:close/>
                </a:path>
              </a:pathLst>
            </a:custGeom>
            <a:ln w="5270">
              <a:solidFill>
                <a:srgbClr val="231F20"/>
              </a:solidFill>
            </a:ln>
          </p:spPr>
          <p:txBody>
            <a:bodyPr wrap="square" lIns="0" tIns="0" rIns="0" bIns="0" rtlCol="0"/>
            <a:lstStyle/>
            <a:p>
              <a:endParaRPr/>
            </a:p>
          </p:txBody>
        </p:sp>
        <p:sp>
          <p:nvSpPr>
            <p:cNvPr id="24" name="object 24"/>
            <p:cNvSpPr/>
            <p:nvPr/>
          </p:nvSpPr>
          <p:spPr>
            <a:xfrm>
              <a:off x="787930" y="1930340"/>
              <a:ext cx="503555" cy="194945"/>
            </a:xfrm>
            <a:custGeom>
              <a:avLst/>
              <a:gdLst/>
              <a:ahLst/>
              <a:cxnLst/>
              <a:rect l="l" t="t" r="r" b="b"/>
              <a:pathLst>
                <a:path w="503555" h="194944">
                  <a:moveTo>
                    <a:pt x="187158" y="0"/>
                  </a:moveTo>
                  <a:lnTo>
                    <a:pt x="155811" y="2964"/>
                  </a:lnTo>
                  <a:lnTo>
                    <a:pt x="126029" y="21150"/>
                  </a:lnTo>
                  <a:lnTo>
                    <a:pt x="114893" y="19705"/>
                  </a:lnTo>
                  <a:lnTo>
                    <a:pt x="106344" y="21024"/>
                  </a:lnTo>
                  <a:lnTo>
                    <a:pt x="100166" y="24721"/>
                  </a:lnTo>
                  <a:lnTo>
                    <a:pt x="96143" y="30410"/>
                  </a:lnTo>
                  <a:lnTo>
                    <a:pt x="74022" y="22497"/>
                  </a:lnTo>
                  <a:lnTo>
                    <a:pt x="48634" y="26382"/>
                  </a:lnTo>
                  <a:lnTo>
                    <a:pt x="27556" y="41840"/>
                  </a:lnTo>
                  <a:lnTo>
                    <a:pt x="18366" y="68646"/>
                  </a:lnTo>
                  <a:lnTo>
                    <a:pt x="10540" y="72416"/>
                  </a:lnTo>
                  <a:lnTo>
                    <a:pt x="5029" y="80542"/>
                  </a:lnTo>
                  <a:lnTo>
                    <a:pt x="2931" y="90566"/>
                  </a:lnTo>
                  <a:lnTo>
                    <a:pt x="5342" y="100026"/>
                  </a:lnTo>
                  <a:lnTo>
                    <a:pt x="0" y="124011"/>
                  </a:lnTo>
                  <a:lnTo>
                    <a:pt x="6706" y="146341"/>
                  </a:lnTo>
                  <a:lnTo>
                    <a:pt x="23792" y="162017"/>
                  </a:lnTo>
                  <a:lnTo>
                    <a:pt x="49590" y="166039"/>
                  </a:lnTo>
                  <a:lnTo>
                    <a:pt x="57875" y="174464"/>
                  </a:lnTo>
                  <a:lnTo>
                    <a:pt x="67311" y="178404"/>
                  </a:lnTo>
                  <a:lnTo>
                    <a:pt x="77608" y="177876"/>
                  </a:lnTo>
                  <a:lnTo>
                    <a:pt x="88481" y="172895"/>
                  </a:lnTo>
                  <a:lnTo>
                    <a:pt x="108358" y="187665"/>
                  </a:lnTo>
                  <a:lnTo>
                    <a:pt x="130408" y="193450"/>
                  </a:lnTo>
                  <a:lnTo>
                    <a:pt x="152566" y="190716"/>
                  </a:lnTo>
                  <a:lnTo>
                    <a:pt x="172768" y="179928"/>
                  </a:lnTo>
                  <a:lnTo>
                    <a:pt x="201168" y="194071"/>
                  </a:lnTo>
                  <a:lnTo>
                    <a:pt x="234904" y="194824"/>
                  </a:lnTo>
                  <a:lnTo>
                    <a:pt x="265732" y="185257"/>
                  </a:lnTo>
                  <a:lnTo>
                    <a:pt x="285408" y="168439"/>
                  </a:lnTo>
                  <a:lnTo>
                    <a:pt x="304814" y="174472"/>
                  </a:lnTo>
                  <a:lnTo>
                    <a:pt x="313490" y="180253"/>
                  </a:lnTo>
                  <a:lnTo>
                    <a:pt x="323320" y="182348"/>
                  </a:lnTo>
                  <a:lnTo>
                    <a:pt x="346187" y="177325"/>
                  </a:lnTo>
                  <a:lnTo>
                    <a:pt x="358137" y="180268"/>
                  </a:lnTo>
                  <a:lnTo>
                    <a:pt x="369802" y="178560"/>
                  </a:lnTo>
                  <a:lnTo>
                    <a:pt x="379384" y="172995"/>
                  </a:lnTo>
                  <a:lnTo>
                    <a:pt x="385085" y="164363"/>
                  </a:lnTo>
                  <a:lnTo>
                    <a:pt x="400456" y="165061"/>
                  </a:lnTo>
                  <a:lnTo>
                    <a:pt x="413227" y="163603"/>
                  </a:lnTo>
                  <a:lnTo>
                    <a:pt x="421651" y="159283"/>
                  </a:lnTo>
                  <a:lnTo>
                    <a:pt x="423985" y="151397"/>
                  </a:lnTo>
                  <a:lnTo>
                    <a:pt x="448177" y="155113"/>
                  </a:lnTo>
                  <a:lnTo>
                    <a:pt x="468383" y="147817"/>
                  </a:lnTo>
                  <a:lnTo>
                    <a:pt x="482339" y="133096"/>
                  </a:lnTo>
                  <a:lnTo>
                    <a:pt x="487782" y="114533"/>
                  </a:lnTo>
                  <a:lnTo>
                    <a:pt x="502953" y="91573"/>
                  </a:lnTo>
                  <a:lnTo>
                    <a:pt x="502151" y="62190"/>
                  </a:lnTo>
                  <a:lnTo>
                    <a:pt x="487017" y="37405"/>
                  </a:lnTo>
                  <a:lnTo>
                    <a:pt x="459194" y="28240"/>
                  </a:lnTo>
                  <a:lnTo>
                    <a:pt x="432535" y="13622"/>
                  </a:lnTo>
                  <a:lnTo>
                    <a:pt x="398154" y="13385"/>
                  </a:lnTo>
                  <a:lnTo>
                    <a:pt x="367114" y="23113"/>
                  </a:lnTo>
                  <a:lnTo>
                    <a:pt x="350477" y="38394"/>
                  </a:lnTo>
                  <a:lnTo>
                    <a:pt x="340570" y="23012"/>
                  </a:lnTo>
                  <a:lnTo>
                    <a:pt x="323904" y="10698"/>
                  </a:lnTo>
                  <a:lnTo>
                    <a:pt x="305836" y="5907"/>
                  </a:lnTo>
                  <a:lnTo>
                    <a:pt x="291728" y="13096"/>
                  </a:lnTo>
                  <a:lnTo>
                    <a:pt x="275606" y="6341"/>
                  </a:lnTo>
                  <a:lnTo>
                    <a:pt x="258012" y="7028"/>
                  </a:lnTo>
                  <a:lnTo>
                    <a:pt x="242430" y="14178"/>
                  </a:lnTo>
                  <a:lnTo>
                    <a:pt x="232344" y="26812"/>
                  </a:lnTo>
                  <a:lnTo>
                    <a:pt x="214519" y="9025"/>
                  </a:lnTo>
                  <a:lnTo>
                    <a:pt x="187158" y="0"/>
                  </a:lnTo>
                  <a:close/>
                </a:path>
              </a:pathLst>
            </a:custGeom>
            <a:solidFill>
              <a:srgbClr val="FFFFFF"/>
            </a:solidFill>
          </p:spPr>
          <p:txBody>
            <a:bodyPr wrap="square" lIns="0" tIns="0" rIns="0" bIns="0" rtlCol="0"/>
            <a:lstStyle/>
            <a:p>
              <a:endParaRPr/>
            </a:p>
          </p:txBody>
        </p:sp>
        <p:sp>
          <p:nvSpPr>
            <p:cNvPr id="25" name="object 25"/>
            <p:cNvSpPr/>
            <p:nvPr/>
          </p:nvSpPr>
          <p:spPr>
            <a:xfrm>
              <a:off x="787930" y="1930340"/>
              <a:ext cx="503555" cy="194945"/>
            </a:xfrm>
            <a:custGeom>
              <a:avLst/>
              <a:gdLst/>
              <a:ahLst/>
              <a:cxnLst/>
              <a:rect l="l" t="t" r="r" b="b"/>
              <a:pathLst>
                <a:path w="503555" h="194944">
                  <a:moveTo>
                    <a:pt x="285408" y="168439"/>
                  </a:moveTo>
                  <a:lnTo>
                    <a:pt x="304814" y="174472"/>
                  </a:lnTo>
                  <a:lnTo>
                    <a:pt x="313490" y="180253"/>
                  </a:lnTo>
                  <a:lnTo>
                    <a:pt x="323320" y="182348"/>
                  </a:lnTo>
                  <a:lnTo>
                    <a:pt x="346187" y="177325"/>
                  </a:lnTo>
                  <a:lnTo>
                    <a:pt x="358137" y="180268"/>
                  </a:lnTo>
                  <a:lnTo>
                    <a:pt x="369802" y="178560"/>
                  </a:lnTo>
                  <a:lnTo>
                    <a:pt x="379384" y="172995"/>
                  </a:lnTo>
                  <a:lnTo>
                    <a:pt x="385085" y="164363"/>
                  </a:lnTo>
                  <a:lnTo>
                    <a:pt x="400456" y="165061"/>
                  </a:lnTo>
                  <a:lnTo>
                    <a:pt x="413227" y="163603"/>
                  </a:lnTo>
                  <a:lnTo>
                    <a:pt x="421651" y="159283"/>
                  </a:lnTo>
                  <a:lnTo>
                    <a:pt x="423985" y="151397"/>
                  </a:lnTo>
                  <a:lnTo>
                    <a:pt x="448177" y="155113"/>
                  </a:lnTo>
                  <a:lnTo>
                    <a:pt x="468383" y="147817"/>
                  </a:lnTo>
                  <a:lnTo>
                    <a:pt x="482339" y="133096"/>
                  </a:lnTo>
                  <a:lnTo>
                    <a:pt x="487782" y="114533"/>
                  </a:lnTo>
                  <a:lnTo>
                    <a:pt x="502953" y="91573"/>
                  </a:lnTo>
                  <a:lnTo>
                    <a:pt x="502151" y="62190"/>
                  </a:lnTo>
                  <a:lnTo>
                    <a:pt x="487017" y="37405"/>
                  </a:lnTo>
                  <a:lnTo>
                    <a:pt x="459194" y="28240"/>
                  </a:lnTo>
                  <a:lnTo>
                    <a:pt x="432535" y="13622"/>
                  </a:lnTo>
                  <a:lnTo>
                    <a:pt x="398154" y="13385"/>
                  </a:lnTo>
                  <a:lnTo>
                    <a:pt x="367114" y="23113"/>
                  </a:lnTo>
                  <a:lnTo>
                    <a:pt x="350477" y="38394"/>
                  </a:lnTo>
                  <a:lnTo>
                    <a:pt x="340570" y="23012"/>
                  </a:lnTo>
                  <a:lnTo>
                    <a:pt x="323904" y="10698"/>
                  </a:lnTo>
                  <a:lnTo>
                    <a:pt x="305836" y="5907"/>
                  </a:lnTo>
                  <a:lnTo>
                    <a:pt x="291728" y="13096"/>
                  </a:lnTo>
                  <a:lnTo>
                    <a:pt x="275606" y="6341"/>
                  </a:lnTo>
                  <a:lnTo>
                    <a:pt x="258012" y="7028"/>
                  </a:lnTo>
                  <a:lnTo>
                    <a:pt x="242430" y="14178"/>
                  </a:lnTo>
                  <a:lnTo>
                    <a:pt x="232344" y="26812"/>
                  </a:lnTo>
                  <a:lnTo>
                    <a:pt x="214519" y="9025"/>
                  </a:lnTo>
                  <a:lnTo>
                    <a:pt x="187158" y="0"/>
                  </a:lnTo>
                  <a:lnTo>
                    <a:pt x="155811" y="2964"/>
                  </a:lnTo>
                  <a:lnTo>
                    <a:pt x="126029" y="21150"/>
                  </a:lnTo>
                  <a:lnTo>
                    <a:pt x="114893" y="19705"/>
                  </a:lnTo>
                  <a:lnTo>
                    <a:pt x="106344" y="21024"/>
                  </a:lnTo>
                  <a:lnTo>
                    <a:pt x="100166" y="24721"/>
                  </a:lnTo>
                  <a:lnTo>
                    <a:pt x="96143" y="30410"/>
                  </a:lnTo>
                  <a:lnTo>
                    <a:pt x="74022" y="22497"/>
                  </a:lnTo>
                  <a:lnTo>
                    <a:pt x="48634" y="26382"/>
                  </a:lnTo>
                  <a:lnTo>
                    <a:pt x="27556" y="41840"/>
                  </a:lnTo>
                  <a:lnTo>
                    <a:pt x="18366" y="68646"/>
                  </a:lnTo>
                  <a:lnTo>
                    <a:pt x="10540" y="72416"/>
                  </a:lnTo>
                  <a:lnTo>
                    <a:pt x="5029" y="80542"/>
                  </a:lnTo>
                  <a:lnTo>
                    <a:pt x="2931" y="90566"/>
                  </a:lnTo>
                  <a:lnTo>
                    <a:pt x="5342" y="100026"/>
                  </a:lnTo>
                  <a:lnTo>
                    <a:pt x="0" y="124011"/>
                  </a:lnTo>
                  <a:lnTo>
                    <a:pt x="6706" y="146341"/>
                  </a:lnTo>
                  <a:lnTo>
                    <a:pt x="23792" y="162017"/>
                  </a:lnTo>
                  <a:lnTo>
                    <a:pt x="49590" y="166039"/>
                  </a:lnTo>
                  <a:lnTo>
                    <a:pt x="57875" y="174464"/>
                  </a:lnTo>
                  <a:lnTo>
                    <a:pt x="67311" y="178404"/>
                  </a:lnTo>
                  <a:lnTo>
                    <a:pt x="77608" y="177876"/>
                  </a:lnTo>
                  <a:lnTo>
                    <a:pt x="88481" y="172895"/>
                  </a:lnTo>
                  <a:lnTo>
                    <a:pt x="108358" y="187665"/>
                  </a:lnTo>
                  <a:lnTo>
                    <a:pt x="130408" y="193450"/>
                  </a:lnTo>
                  <a:lnTo>
                    <a:pt x="152566" y="190716"/>
                  </a:lnTo>
                  <a:lnTo>
                    <a:pt x="172768" y="179928"/>
                  </a:lnTo>
                  <a:lnTo>
                    <a:pt x="201168" y="194071"/>
                  </a:lnTo>
                  <a:lnTo>
                    <a:pt x="234904" y="194824"/>
                  </a:lnTo>
                  <a:lnTo>
                    <a:pt x="265732" y="185257"/>
                  </a:lnTo>
                  <a:lnTo>
                    <a:pt x="285408" y="168439"/>
                  </a:lnTo>
                  <a:close/>
                </a:path>
              </a:pathLst>
            </a:custGeom>
            <a:ln w="5243">
              <a:solidFill>
                <a:srgbClr val="231F20"/>
              </a:solidFill>
            </a:ln>
          </p:spPr>
          <p:txBody>
            <a:bodyPr wrap="square" lIns="0" tIns="0" rIns="0" bIns="0" rtlCol="0"/>
            <a:lstStyle/>
            <a:p>
              <a:endParaRPr/>
            </a:p>
          </p:txBody>
        </p:sp>
        <p:sp>
          <p:nvSpPr>
            <p:cNvPr id="26" name="object 26"/>
            <p:cNvSpPr/>
            <p:nvPr/>
          </p:nvSpPr>
          <p:spPr>
            <a:xfrm>
              <a:off x="908334" y="1967898"/>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BCBEC0"/>
            </a:solidFill>
          </p:spPr>
          <p:txBody>
            <a:bodyPr wrap="square" lIns="0" tIns="0" rIns="0" bIns="0" rtlCol="0"/>
            <a:lstStyle/>
            <a:p>
              <a:endParaRPr/>
            </a:p>
          </p:txBody>
        </p:sp>
        <p:sp>
          <p:nvSpPr>
            <p:cNvPr id="27" name="object 27"/>
            <p:cNvSpPr/>
            <p:nvPr/>
          </p:nvSpPr>
          <p:spPr>
            <a:xfrm>
              <a:off x="908334" y="1967898"/>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43">
              <a:solidFill>
                <a:srgbClr val="231F20"/>
              </a:solidFill>
            </a:ln>
          </p:spPr>
          <p:txBody>
            <a:bodyPr wrap="square" lIns="0" tIns="0" rIns="0" bIns="0" rtlCol="0"/>
            <a:lstStyle/>
            <a:p>
              <a:endParaRPr/>
            </a:p>
          </p:txBody>
        </p:sp>
      </p:grpSp>
      <p:sp>
        <p:nvSpPr>
          <p:cNvPr id="28" name="object 28"/>
          <p:cNvSpPr txBox="1"/>
          <p:nvPr/>
        </p:nvSpPr>
        <p:spPr>
          <a:xfrm>
            <a:off x="1093307" y="1955188"/>
            <a:ext cx="1619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ISP</a:t>
            </a:r>
            <a:endParaRPr sz="650">
              <a:latin typeface="Arial"/>
              <a:cs typeface="Arial"/>
            </a:endParaRPr>
          </a:p>
        </p:txBody>
      </p:sp>
      <p:grpSp>
        <p:nvGrpSpPr>
          <p:cNvPr id="29" name="object 29"/>
          <p:cNvGrpSpPr/>
          <p:nvPr/>
        </p:nvGrpSpPr>
        <p:grpSpPr>
          <a:xfrm>
            <a:off x="753686" y="1687027"/>
            <a:ext cx="3053080" cy="391160"/>
            <a:chOff x="753686" y="1687027"/>
            <a:chExt cx="3053080" cy="391160"/>
          </a:xfrm>
        </p:grpSpPr>
        <p:sp>
          <p:nvSpPr>
            <p:cNvPr id="30" name="object 30"/>
            <p:cNvSpPr/>
            <p:nvPr/>
          </p:nvSpPr>
          <p:spPr>
            <a:xfrm>
              <a:off x="756544" y="1702260"/>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31" name="object 31"/>
            <p:cNvSpPr/>
            <p:nvPr/>
          </p:nvSpPr>
          <p:spPr>
            <a:xfrm>
              <a:off x="756544" y="1702260"/>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32" name="object 32"/>
            <p:cNvSpPr/>
            <p:nvPr/>
          </p:nvSpPr>
          <p:spPr>
            <a:xfrm>
              <a:off x="908339" y="1702260"/>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33" name="object 33"/>
            <p:cNvSpPr/>
            <p:nvPr/>
          </p:nvSpPr>
          <p:spPr>
            <a:xfrm>
              <a:off x="908339" y="1702260"/>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34" name="object 34"/>
            <p:cNvSpPr/>
            <p:nvPr/>
          </p:nvSpPr>
          <p:spPr>
            <a:xfrm>
              <a:off x="1060129" y="1702260"/>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35" name="object 35"/>
            <p:cNvSpPr/>
            <p:nvPr/>
          </p:nvSpPr>
          <p:spPr>
            <a:xfrm>
              <a:off x="1060129" y="1689885"/>
              <a:ext cx="2399665" cy="266065"/>
            </a:xfrm>
            <a:custGeom>
              <a:avLst/>
              <a:gdLst/>
              <a:ahLst/>
              <a:cxnLst/>
              <a:rect l="l" t="t" r="r" b="b"/>
              <a:pathLst>
                <a:path w="2399665" h="266064">
                  <a:moveTo>
                    <a:pt x="0" y="88270"/>
                  </a:moveTo>
                  <a:lnTo>
                    <a:pt x="75895" y="88270"/>
                  </a:lnTo>
                  <a:lnTo>
                    <a:pt x="75895" y="12375"/>
                  </a:lnTo>
                  <a:lnTo>
                    <a:pt x="0" y="12375"/>
                  </a:lnTo>
                  <a:lnTo>
                    <a:pt x="0" y="88270"/>
                  </a:lnTo>
                  <a:close/>
                </a:path>
                <a:path w="2399665" h="266064">
                  <a:moveTo>
                    <a:pt x="2247327" y="0"/>
                  </a:moveTo>
                  <a:lnTo>
                    <a:pt x="2399117" y="265636"/>
                  </a:lnTo>
                  <a:lnTo>
                    <a:pt x="2247327" y="0"/>
                  </a:lnTo>
                  <a:close/>
                </a:path>
              </a:pathLst>
            </a:custGeom>
            <a:ln w="5270">
              <a:solidFill>
                <a:srgbClr val="231F20"/>
              </a:solidFill>
            </a:ln>
          </p:spPr>
          <p:txBody>
            <a:bodyPr wrap="square" lIns="0" tIns="0" rIns="0" bIns="0" rtlCol="0"/>
            <a:lstStyle/>
            <a:p>
              <a:endParaRPr/>
            </a:p>
          </p:txBody>
        </p:sp>
        <p:sp>
          <p:nvSpPr>
            <p:cNvPr id="36" name="object 36"/>
            <p:cNvSpPr/>
            <p:nvPr/>
          </p:nvSpPr>
          <p:spPr>
            <a:xfrm>
              <a:off x="3459247" y="1689885"/>
              <a:ext cx="0" cy="266065"/>
            </a:xfrm>
            <a:custGeom>
              <a:avLst/>
              <a:gdLst/>
              <a:ahLst/>
              <a:cxnLst/>
              <a:rect l="l" t="t" r="r" b="b"/>
              <a:pathLst>
                <a:path h="266064">
                  <a:moveTo>
                    <a:pt x="0" y="0"/>
                  </a:moveTo>
                  <a:lnTo>
                    <a:pt x="0" y="265636"/>
                  </a:lnTo>
                  <a:lnTo>
                    <a:pt x="0" y="0"/>
                  </a:lnTo>
                  <a:close/>
                </a:path>
              </a:pathLst>
            </a:custGeom>
            <a:solidFill>
              <a:srgbClr val="FFFFFF"/>
            </a:solidFill>
          </p:spPr>
          <p:txBody>
            <a:bodyPr wrap="square" lIns="0" tIns="0" rIns="0" bIns="0" rtlCol="0"/>
            <a:lstStyle/>
            <a:p>
              <a:endParaRPr/>
            </a:p>
          </p:txBody>
        </p:sp>
        <p:sp>
          <p:nvSpPr>
            <p:cNvPr id="37" name="object 37"/>
            <p:cNvSpPr/>
            <p:nvPr/>
          </p:nvSpPr>
          <p:spPr>
            <a:xfrm>
              <a:off x="3459247" y="1727832"/>
              <a:ext cx="0" cy="227965"/>
            </a:xfrm>
            <a:custGeom>
              <a:avLst/>
              <a:gdLst/>
              <a:ahLst/>
              <a:cxnLst/>
              <a:rect l="l" t="t" r="r" b="b"/>
              <a:pathLst>
                <a:path h="227964">
                  <a:moveTo>
                    <a:pt x="0" y="0"/>
                  </a:moveTo>
                  <a:lnTo>
                    <a:pt x="0" y="227688"/>
                  </a:lnTo>
                </a:path>
              </a:pathLst>
            </a:custGeom>
            <a:ln w="5270">
              <a:solidFill>
                <a:srgbClr val="231F20"/>
              </a:solidFill>
            </a:ln>
          </p:spPr>
          <p:txBody>
            <a:bodyPr wrap="square" lIns="0" tIns="0" rIns="0" bIns="0" rtlCol="0"/>
            <a:lstStyle/>
            <a:p>
              <a:endParaRPr/>
            </a:p>
          </p:txBody>
        </p:sp>
        <p:sp>
          <p:nvSpPr>
            <p:cNvPr id="38" name="object 38"/>
            <p:cNvSpPr/>
            <p:nvPr/>
          </p:nvSpPr>
          <p:spPr>
            <a:xfrm>
              <a:off x="3459247" y="1689885"/>
              <a:ext cx="152400" cy="266065"/>
            </a:xfrm>
            <a:custGeom>
              <a:avLst/>
              <a:gdLst/>
              <a:ahLst/>
              <a:cxnLst/>
              <a:rect l="l" t="t" r="r" b="b"/>
              <a:pathLst>
                <a:path w="152400" h="266064">
                  <a:moveTo>
                    <a:pt x="151790" y="0"/>
                  </a:moveTo>
                  <a:lnTo>
                    <a:pt x="0" y="265636"/>
                  </a:lnTo>
                  <a:lnTo>
                    <a:pt x="151790" y="0"/>
                  </a:lnTo>
                  <a:close/>
                </a:path>
              </a:pathLst>
            </a:custGeom>
            <a:ln w="5270">
              <a:solidFill>
                <a:srgbClr val="231F20"/>
              </a:solidFill>
            </a:ln>
          </p:spPr>
          <p:txBody>
            <a:bodyPr wrap="square" lIns="0" tIns="0" rIns="0" bIns="0" rtlCol="0"/>
            <a:lstStyle/>
            <a:p>
              <a:endParaRPr/>
            </a:p>
          </p:txBody>
        </p:sp>
        <p:sp>
          <p:nvSpPr>
            <p:cNvPr id="39" name="object 39"/>
            <p:cNvSpPr/>
            <p:nvPr/>
          </p:nvSpPr>
          <p:spPr>
            <a:xfrm>
              <a:off x="3300902" y="1880015"/>
              <a:ext cx="503555" cy="194945"/>
            </a:xfrm>
            <a:custGeom>
              <a:avLst/>
              <a:gdLst/>
              <a:ahLst/>
              <a:cxnLst/>
              <a:rect l="l" t="t" r="r" b="b"/>
              <a:pathLst>
                <a:path w="503554" h="194944">
                  <a:moveTo>
                    <a:pt x="187156" y="0"/>
                  </a:moveTo>
                  <a:lnTo>
                    <a:pt x="155810" y="2965"/>
                  </a:lnTo>
                  <a:lnTo>
                    <a:pt x="126025" y="21153"/>
                  </a:lnTo>
                  <a:lnTo>
                    <a:pt x="114891" y="19706"/>
                  </a:lnTo>
                  <a:lnTo>
                    <a:pt x="106344" y="21024"/>
                  </a:lnTo>
                  <a:lnTo>
                    <a:pt x="100166" y="24723"/>
                  </a:lnTo>
                  <a:lnTo>
                    <a:pt x="96141" y="30414"/>
                  </a:lnTo>
                  <a:lnTo>
                    <a:pt x="74019" y="22500"/>
                  </a:lnTo>
                  <a:lnTo>
                    <a:pt x="48630" y="26384"/>
                  </a:lnTo>
                  <a:lnTo>
                    <a:pt x="27554" y="41842"/>
                  </a:lnTo>
                  <a:lnTo>
                    <a:pt x="18370" y="68649"/>
                  </a:lnTo>
                  <a:lnTo>
                    <a:pt x="10540" y="72419"/>
                  </a:lnTo>
                  <a:lnTo>
                    <a:pt x="5029" y="80546"/>
                  </a:lnTo>
                  <a:lnTo>
                    <a:pt x="2931" y="90569"/>
                  </a:lnTo>
                  <a:lnTo>
                    <a:pt x="5341" y="100030"/>
                  </a:lnTo>
                  <a:lnTo>
                    <a:pt x="0" y="124015"/>
                  </a:lnTo>
                  <a:lnTo>
                    <a:pt x="6706" y="146344"/>
                  </a:lnTo>
                  <a:lnTo>
                    <a:pt x="23793" y="162019"/>
                  </a:lnTo>
                  <a:lnTo>
                    <a:pt x="49592" y="166039"/>
                  </a:lnTo>
                  <a:lnTo>
                    <a:pt x="57877" y="174464"/>
                  </a:lnTo>
                  <a:lnTo>
                    <a:pt x="67312" y="178406"/>
                  </a:lnTo>
                  <a:lnTo>
                    <a:pt x="77608" y="177878"/>
                  </a:lnTo>
                  <a:lnTo>
                    <a:pt x="88478" y="172898"/>
                  </a:lnTo>
                  <a:lnTo>
                    <a:pt x="108357" y="187666"/>
                  </a:lnTo>
                  <a:lnTo>
                    <a:pt x="130407" y="193450"/>
                  </a:lnTo>
                  <a:lnTo>
                    <a:pt x="152565" y="190715"/>
                  </a:lnTo>
                  <a:lnTo>
                    <a:pt x="172764" y="179926"/>
                  </a:lnTo>
                  <a:lnTo>
                    <a:pt x="201167" y="194072"/>
                  </a:lnTo>
                  <a:lnTo>
                    <a:pt x="234903" y="194825"/>
                  </a:lnTo>
                  <a:lnTo>
                    <a:pt x="265730" y="185258"/>
                  </a:lnTo>
                  <a:lnTo>
                    <a:pt x="285405" y="168443"/>
                  </a:lnTo>
                  <a:lnTo>
                    <a:pt x="304814" y="174474"/>
                  </a:lnTo>
                  <a:lnTo>
                    <a:pt x="313490" y="180253"/>
                  </a:lnTo>
                  <a:lnTo>
                    <a:pt x="323318" y="182349"/>
                  </a:lnTo>
                  <a:lnTo>
                    <a:pt x="346184" y="177329"/>
                  </a:lnTo>
                  <a:lnTo>
                    <a:pt x="358136" y="180271"/>
                  </a:lnTo>
                  <a:lnTo>
                    <a:pt x="369803" y="178563"/>
                  </a:lnTo>
                  <a:lnTo>
                    <a:pt x="379384" y="172996"/>
                  </a:lnTo>
                  <a:lnTo>
                    <a:pt x="385081" y="164363"/>
                  </a:lnTo>
                  <a:lnTo>
                    <a:pt x="400457" y="165062"/>
                  </a:lnTo>
                  <a:lnTo>
                    <a:pt x="413229" y="163604"/>
                  </a:lnTo>
                  <a:lnTo>
                    <a:pt x="421651" y="159284"/>
                  </a:lnTo>
                  <a:lnTo>
                    <a:pt x="423977" y="151400"/>
                  </a:lnTo>
                  <a:lnTo>
                    <a:pt x="448172" y="155116"/>
                  </a:lnTo>
                  <a:lnTo>
                    <a:pt x="468382" y="147821"/>
                  </a:lnTo>
                  <a:lnTo>
                    <a:pt x="482341" y="133099"/>
                  </a:lnTo>
                  <a:lnTo>
                    <a:pt x="487782" y="114535"/>
                  </a:lnTo>
                  <a:lnTo>
                    <a:pt x="502951" y="91574"/>
                  </a:lnTo>
                  <a:lnTo>
                    <a:pt x="502150" y="62191"/>
                  </a:lnTo>
                  <a:lnTo>
                    <a:pt x="487018" y="37406"/>
                  </a:lnTo>
                  <a:lnTo>
                    <a:pt x="459194" y="28239"/>
                  </a:lnTo>
                  <a:lnTo>
                    <a:pt x="432536" y="13624"/>
                  </a:lnTo>
                  <a:lnTo>
                    <a:pt x="398154" y="13386"/>
                  </a:lnTo>
                  <a:lnTo>
                    <a:pt x="367112" y="23114"/>
                  </a:lnTo>
                  <a:lnTo>
                    <a:pt x="350475" y="38398"/>
                  </a:lnTo>
                  <a:lnTo>
                    <a:pt x="340571" y="23015"/>
                  </a:lnTo>
                  <a:lnTo>
                    <a:pt x="323905" y="10701"/>
                  </a:lnTo>
                  <a:lnTo>
                    <a:pt x="305837" y="5909"/>
                  </a:lnTo>
                  <a:lnTo>
                    <a:pt x="291730" y="13095"/>
                  </a:lnTo>
                  <a:lnTo>
                    <a:pt x="275609" y="6341"/>
                  </a:lnTo>
                  <a:lnTo>
                    <a:pt x="258016" y="7029"/>
                  </a:lnTo>
                  <a:lnTo>
                    <a:pt x="242432" y="14181"/>
                  </a:lnTo>
                  <a:lnTo>
                    <a:pt x="232342" y="26815"/>
                  </a:lnTo>
                  <a:lnTo>
                    <a:pt x="214516" y="9027"/>
                  </a:lnTo>
                  <a:lnTo>
                    <a:pt x="187156" y="0"/>
                  </a:lnTo>
                  <a:close/>
                </a:path>
              </a:pathLst>
            </a:custGeom>
            <a:solidFill>
              <a:srgbClr val="FFFFFF"/>
            </a:solidFill>
          </p:spPr>
          <p:txBody>
            <a:bodyPr wrap="square" lIns="0" tIns="0" rIns="0" bIns="0" rtlCol="0"/>
            <a:lstStyle/>
            <a:p>
              <a:endParaRPr/>
            </a:p>
          </p:txBody>
        </p:sp>
        <p:sp>
          <p:nvSpPr>
            <p:cNvPr id="40" name="object 40"/>
            <p:cNvSpPr/>
            <p:nvPr/>
          </p:nvSpPr>
          <p:spPr>
            <a:xfrm>
              <a:off x="3300902" y="1880015"/>
              <a:ext cx="503555" cy="194945"/>
            </a:xfrm>
            <a:custGeom>
              <a:avLst/>
              <a:gdLst/>
              <a:ahLst/>
              <a:cxnLst/>
              <a:rect l="l" t="t" r="r" b="b"/>
              <a:pathLst>
                <a:path w="503554" h="194944">
                  <a:moveTo>
                    <a:pt x="285405" y="168443"/>
                  </a:moveTo>
                  <a:lnTo>
                    <a:pt x="304814" y="174474"/>
                  </a:lnTo>
                  <a:lnTo>
                    <a:pt x="313490" y="180253"/>
                  </a:lnTo>
                  <a:lnTo>
                    <a:pt x="323318" y="182349"/>
                  </a:lnTo>
                  <a:lnTo>
                    <a:pt x="346184" y="177329"/>
                  </a:lnTo>
                  <a:lnTo>
                    <a:pt x="358136" y="180271"/>
                  </a:lnTo>
                  <a:lnTo>
                    <a:pt x="369803" y="178563"/>
                  </a:lnTo>
                  <a:lnTo>
                    <a:pt x="379384" y="172996"/>
                  </a:lnTo>
                  <a:lnTo>
                    <a:pt x="385081" y="164363"/>
                  </a:lnTo>
                  <a:lnTo>
                    <a:pt x="400457" y="165062"/>
                  </a:lnTo>
                  <a:lnTo>
                    <a:pt x="413229" y="163604"/>
                  </a:lnTo>
                  <a:lnTo>
                    <a:pt x="421651" y="159284"/>
                  </a:lnTo>
                  <a:lnTo>
                    <a:pt x="423977" y="151400"/>
                  </a:lnTo>
                  <a:lnTo>
                    <a:pt x="448172" y="155116"/>
                  </a:lnTo>
                  <a:lnTo>
                    <a:pt x="468382" y="147821"/>
                  </a:lnTo>
                  <a:lnTo>
                    <a:pt x="482341" y="133099"/>
                  </a:lnTo>
                  <a:lnTo>
                    <a:pt x="487782" y="114535"/>
                  </a:lnTo>
                  <a:lnTo>
                    <a:pt x="502951" y="91574"/>
                  </a:lnTo>
                  <a:lnTo>
                    <a:pt x="502150" y="62191"/>
                  </a:lnTo>
                  <a:lnTo>
                    <a:pt x="487018" y="37406"/>
                  </a:lnTo>
                  <a:lnTo>
                    <a:pt x="459194" y="28239"/>
                  </a:lnTo>
                  <a:lnTo>
                    <a:pt x="432536" y="13624"/>
                  </a:lnTo>
                  <a:lnTo>
                    <a:pt x="398154" y="13386"/>
                  </a:lnTo>
                  <a:lnTo>
                    <a:pt x="367112" y="23114"/>
                  </a:lnTo>
                  <a:lnTo>
                    <a:pt x="350475" y="38398"/>
                  </a:lnTo>
                  <a:lnTo>
                    <a:pt x="340571" y="23015"/>
                  </a:lnTo>
                  <a:lnTo>
                    <a:pt x="323905" y="10701"/>
                  </a:lnTo>
                  <a:lnTo>
                    <a:pt x="305837" y="5909"/>
                  </a:lnTo>
                  <a:lnTo>
                    <a:pt x="291730" y="13095"/>
                  </a:lnTo>
                  <a:lnTo>
                    <a:pt x="275609" y="6341"/>
                  </a:lnTo>
                  <a:lnTo>
                    <a:pt x="258016" y="7029"/>
                  </a:lnTo>
                  <a:lnTo>
                    <a:pt x="242432" y="14181"/>
                  </a:lnTo>
                  <a:lnTo>
                    <a:pt x="232342" y="26815"/>
                  </a:lnTo>
                  <a:lnTo>
                    <a:pt x="214516" y="9027"/>
                  </a:lnTo>
                  <a:lnTo>
                    <a:pt x="187156" y="0"/>
                  </a:lnTo>
                  <a:lnTo>
                    <a:pt x="155810" y="2965"/>
                  </a:lnTo>
                  <a:lnTo>
                    <a:pt x="126025" y="21153"/>
                  </a:lnTo>
                  <a:lnTo>
                    <a:pt x="114891" y="19706"/>
                  </a:lnTo>
                  <a:lnTo>
                    <a:pt x="106344" y="21024"/>
                  </a:lnTo>
                  <a:lnTo>
                    <a:pt x="100166" y="24723"/>
                  </a:lnTo>
                  <a:lnTo>
                    <a:pt x="96141" y="30414"/>
                  </a:lnTo>
                  <a:lnTo>
                    <a:pt x="74019" y="22500"/>
                  </a:lnTo>
                  <a:lnTo>
                    <a:pt x="48630" y="26384"/>
                  </a:lnTo>
                  <a:lnTo>
                    <a:pt x="27554" y="41842"/>
                  </a:lnTo>
                  <a:lnTo>
                    <a:pt x="18370" y="68649"/>
                  </a:lnTo>
                  <a:lnTo>
                    <a:pt x="10540" y="72419"/>
                  </a:lnTo>
                  <a:lnTo>
                    <a:pt x="5029" y="80546"/>
                  </a:lnTo>
                  <a:lnTo>
                    <a:pt x="2931" y="90569"/>
                  </a:lnTo>
                  <a:lnTo>
                    <a:pt x="5341" y="100030"/>
                  </a:lnTo>
                  <a:lnTo>
                    <a:pt x="0" y="124015"/>
                  </a:lnTo>
                  <a:lnTo>
                    <a:pt x="6706" y="146344"/>
                  </a:lnTo>
                  <a:lnTo>
                    <a:pt x="23793" y="162019"/>
                  </a:lnTo>
                  <a:lnTo>
                    <a:pt x="49592" y="166039"/>
                  </a:lnTo>
                  <a:lnTo>
                    <a:pt x="57877" y="174464"/>
                  </a:lnTo>
                  <a:lnTo>
                    <a:pt x="67312" y="178406"/>
                  </a:lnTo>
                  <a:lnTo>
                    <a:pt x="77608" y="177878"/>
                  </a:lnTo>
                  <a:lnTo>
                    <a:pt x="88478" y="172898"/>
                  </a:lnTo>
                  <a:lnTo>
                    <a:pt x="108357" y="187666"/>
                  </a:lnTo>
                  <a:lnTo>
                    <a:pt x="130407" y="193450"/>
                  </a:lnTo>
                  <a:lnTo>
                    <a:pt x="152565" y="190715"/>
                  </a:lnTo>
                  <a:lnTo>
                    <a:pt x="172764" y="179926"/>
                  </a:lnTo>
                  <a:lnTo>
                    <a:pt x="201167" y="194072"/>
                  </a:lnTo>
                  <a:lnTo>
                    <a:pt x="234903" y="194825"/>
                  </a:lnTo>
                  <a:lnTo>
                    <a:pt x="265730" y="185258"/>
                  </a:lnTo>
                  <a:lnTo>
                    <a:pt x="285405" y="168443"/>
                  </a:lnTo>
                  <a:close/>
                </a:path>
              </a:pathLst>
            </a:custGeom>
            <a:ln w="5243">
              <a:solidFill>
                <a:srgbClr val="231F20"/>
              </a:solidFill>
            </a:ln>
          </p:spPr>
          <p:txBody>
            <a:bodyPr wrap="square" lIns="0" tIns="0" rIns="0" bIns="0" rtlCol="0"/>
            <a:lstStyle/>
            <a:p>
              <a:endParaRPr/>
            </a:p>
          </p:txBody>
        </p:sp>
        <p:sp>
          <p:nvSpPr>
            <p:cNvPr id="41" name="object 41"/>
            <p:cNvSpPr/>
            <p:nvPr/>
          </p:nvSpPr>
          <p:spPr>
            <a:xfrm>
              <a:off x="3412866" y="1917565"/>
              <a:ext cx="76200" cy="76200"/>
            </a:xfrm>
            <a:custGeom>
              <a:avLst/>
              <a:gdLst/>
              <a:ahLst/>
              <a:cxnLst/>
              <a:rect l="l" t="t" r="r" b="b"/>
              <a:pathLst>
                <a:path w="76200" h="76200">
                  <a:moveTo>
                    <a:pt x="75891" y="0"/>
                  </a:moveTo>
                  <a:lnTo>
                    <a:pt x="0" y="0"/>
                  </a:lnTo>
                  <a:lnTo>
                    <a:pt x="0" y="75895"/>
                  </a:lnTo>
                  <a:lnTo>
                    <a:pt x="75891" y="75895"/>
                  </a:lnTo>
                  <a:lnTo>
                    <a:pt x="75891" y="0"/>
                  </a:lnTo>
                  <a:close/>
                </a:path>
              </a:pathLst>
            </a:custGeom>
            <a:solidFill>
              <a:srgbClr val="BCBEC0"/>
            </a:solidFill>
          </p:spPr>
          <p:txBody>
            <a:bodyPr wrap="square" lIns="0" tIns="0" rIns="0" bIns="0" rtlCol="0"/>
            <a:lstStyle/>
            <a:p>
              <a:endParaRPr/>
            </a:p>
          </p:txBody>
        </p:sp>
        <p:sp>
          <p:nvSpPr>
            <p:cNvPr id="42" name="object 42"/>
            <p:cNvSpPr/>
            <p:nvPr/>
          </p:nvSpPr>
          <p:spPr>
            <a:xfrm>
              <a:off x="3412866" y="1917565"/>
              <a:ext cx="76200" cy="76200"/>
            </a:xfrm>
            <a:custGeom>
              <a:avLst/>
              <a:gdLst/>
              <a:ahLst/>
              <a:cxnLst/>
              <a:rect l="l" t="t" r="r" b="b"/>
              <a:pathLst>
                <a:path w="76200" h="76200">
                  <a:moveTo>
                    <a:pt x="0" y="75895"/>
                  </a:moveTo>
                  <a:lnTo>
                    <a:pt x="75891" y="75895"/>
                  </a:lnTo>
                  <a:lnTo>
                    <a:pt x="75891" y="0"/>
                  </a:lnTo>
                  <a:lnTo>
                    <a:pt x="0" y="0"/>
                  </a:lnTo>
                  <a:lnTo>
                    <a:pt x="0" y="75895"/>
                  </a:lnTo>
                  <a:close/>
                </a:path>
              </a:pathLst>
            </a:custGeom>
            <a:ln w="5243">
              <a:solidFill>
                <a:srgbClr val="231F20"/>
              </a:solidFill>
            </a:ln>
          </p:spPr>
          <p:txBody>
            <a:bodyPr wrap="square" lIns="0" tIns="0" rIns="0" bIns="0" rtlCol="0"/>
            <a:lstStyle/>
            <a:p>
              <a:endParaRPr/>
            </a:p>
          </p:txBody>
        </p:sp>
      </p:grpSp>
      <p:sp>
        <p:nvSpPr>
          <p:cNvPr id="43" name="object 43"/>
          <p:cNvSpPr txBox="1"/>
          <p:nvPr/>
        </p:nvSpPr>
        <p:spPr>
          <a:xfrm>
            <a:off x="3606285" y="1904863"/>
            <a:ext cx="1619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ISP</a:t>
            </a:r>
            <a:endParaRPr sz="650">
              <a:latin typeface="Arial"/>
              <a:cs typeface="Arial"/>
            </a:endParaRPr>
          </a:p>
        </p:txBody>
      </p:sp>
      <p:grpSp>
        <p:nvGrpSpPr>
          <p:cNvPr id="44" name="object 44"/>
          <p:cNvGrpSpPr/>
          <p:nvPr/>
        </p:nvGrpSpPr>
        <p:grpSpPr>
          <a:xfrm>
            <a:off x="989907" y="1649302"/>
            <a:ext cx="2661920" cy="996950"/>
            <a:chOff x="989907" y="1649302"/>
            <a:chExt cx="2661920" cy="996950"/>
          </a:xfrm>
        </p:grpSpPr>
        <p:sp>
          <p:nvSpPr>
            <p:cNvPr id="45" name="object 45"/>
            <p:cNvSpPr/>
            <p:nvPr/>
          </p:nvSpPr>
          <p:spPr>
            <a:xfrm>
              <a:off x="3269509" y="1651937"/>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46" name="object 46"/>
            <p:cNvSpPr/>
            <p:nvPr/>
          </p:nvSpPr>
          <p:spPr>
            <a:xfrm>
              <a:off x="3269509" y="1651937"/>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47" name="object 47"/>
            <p:cNvSpPr/>
            <p:nvPr/>
          </p:nvSpPr>
          <p:spPr>
            <a:xfrm>
              <a:off x="3421310" y="1651937"/>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48" name="object 48"/>
            <p:cNvSpPr/>
            <p:nvPr/>
          </p:nvSpPr>
          <p:spPr>
            <a:xfrm>
              <a:off x="3421310" y="1651937"/>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49" name="object 49"/>
            <p:cNvSpPr/>
            <p:nvPr/>
          </p:nvSpPr>
          <p:spPr>
            <a:xfrm>
              <a:off x="3573100" y="1651937"/>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50" name="object 50"/>
            <p:cNvSpPr/>
            <p:nvPr/>
          </p:nvSpPr>
          <p:spPr>
            <a:xfrm>
              <a:off x="3573100" y="1651937"/>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51" name="object 51"/>
            <p:cNvSpPr/>
            <p:nvPr/>
          </p:nvSpPr>
          <p:spPr>
            <a:xfrm>
              <a:off x="1024446" y="2049266"/>
              <a:ext cx="1136650" cy="197485"/>
            </a:xfrm>
            <a:custGeom>
              <a:avLst/>
              <a:gdLst/>
              <a:ahLst/>
              <a:cxnLst/>
              <a:rect l="l" t="t" r="r" b="b"/>
              <a:pathLst>
                <a:path w="1136650" h="197485">
                  <a:moveTo>
                    <a:pt x="1136150" y="0"/>
                  </a:moveTo>
                  <a:lnTo>
                    <a:pt x="910599" y="197181"/>
                  </a:lnTo>
                  <a:lnTo>
                    <a:pt x="525383" y="186997"/>
                  </a:lnTo>
                  <a:lnTo>
                    <a:pt x="161514" y="91432"/>
                  </a:lnTo>
                  <a:lnTo>
                    <a:pt x="0" y="32470"/>
                  </a:lnTo>
                </a:path>
              </a:pathLst>
            </a:custGeom>
            <a:ln w="10541">
              <a:solidFill>
                <a:srgbClr val="231F20"/>
              </a:solidFill>
            </a:ln>
          </p:spPr>
          <p:txBody>
            <a:bodyPr wrap="square" lIns="0" tIns="0" rIns="0" bIns="0" rtlCol="0"/>
            <a:lstStyle/>
            <a:p>
              <a:endParaRPr/>
            </a:p>
          </p:txBody>
        </p:sp>
        <p:sp>
          <p:nvSpPr>
            <p:cNvPr id="52" name="object 52"/>
            <p:cNvSpPr/>
            <p:nvPr/>
          </p:nvSpPr>
          <p:spPr>
            <a:xfrm>
              <a:off x="989907" y="2066424"/>
              <a:ext cx="81280" cy="59055"/>
            </a:xfrm>
            <a:custGeom>
              <a:avLst/>
              <a:gdLst/>
              <a:ahLst/>
              <a:cxnLst/>
              <a:rect l="l" t="t" r="r" b="b"/>
              <a:pathLst>
                <a:path w="81280" h="59055">
                  <a:moveTo>
                    <a:pt x="80919" y="0"/>
                  </a:moveTo>
                  <a:lnTo>
                    <a:pt x="0" y="1025"/>
                  </a:lnTo>
                  <a:lnTo>
                    <a:pt x="56547" y="58910"/>
                  </a:lnTo>
                  <a:lnTo>
                    <a:pt x="57116" y="41898"/>
                  </a:lnTo>
                  <a:lnTo>
                    <a:pt x="61368" y="26409"/>
                  </a:lnTo>
                  <a:lnTo>
                    <a:pt x="69302" y="12443"/>
                  </a:lnTo>
                  <a:lnTo>
                    <a:pt x="80919" y="0"/>
                  </a:lnTo>
                  <a:close/>
                </a:path>
              </a:pathLst>
            </a:custGeom>
            <a:solidFill>
              <a:srgbClr val="231F20"/>
            </a:solidFill>
          </p:spPr>
          <p:txBody>
            <a:bodyPr wrap="square" lIns="0" tIns="0" rIns="0" bIns="0" rtlCol="0"/>
            <a:lstStyle/>
            <a:p>
              <a:endParaRPr/>
            </a:p>
          </p:txBody>
        </p:sp>
        <p:sp>
          <p:nvSpPr>
            <p:cNvPr id="53" name="object 53"/>
            <p:cNvSpPr/>
            <p:nvPr/>
          </p:nvSpPr>
          <p:spPr>
            <a:xfrm>
              <a:off x="1743177" y="2049266"/>
              <a:ext cx="417830" cy="569595"/>
            </a:xfrm>
            <a:custGeom>
              <a:avLst/>
              <a:gdLst/>
              <a:ahLst/>
              <a:cxnLst/>
              <a:rect l="l" t="t" r="r" b="b"/>
              <a:pathLst>
                <a:path w="417830" h="569594">
                  <a:moveTo>
                    <a:pt x="417418" y="0"/>
                  </a:moveTo>
                  <a:lnTo>
                    <a:pt x="320178" y="313065"/>
                  </a:lnTo>
                  <a:lnTo>
                    <a:pt x="180248" y="483830"/>
                  </a:lnTo>
                  <a:lnTo>
                    <a:pt x="54548" y="554983"/>
                  </a:lnTo>
                  <a:lnTo>
                    <a:pt x="0" y="569213"/>
                  </a:lnTo>
                </a:path>
              </a:pathLst>
            </a:custGeom>
            <a:ln w="10541">
              <a:solidFill>
                <a:srgbClr val="231F20"/>
              </a:solidFill>
            </a:ln>
          </p:spPr>
          <p:txBody>
            <a:bodyPr wrap="square" lIns="0" tIns="0" rIns="0" bIns="0" rtlCol="0"/>
            <a:lstStyle/>
            <a:p>
              <a:endParaRPr/>
            </a:p>
          </p:txBody>
        </p:sp>
        <p:sp>
          <p:nvSpPr>
            <p:cNvPr id="54" name="object 54"/>
            <p:cNvSpPr/>
            <p:nvPr/>
          </p:nvSpPr>
          <p:spPr>
            <a:xfrm>
              <a:off x="1706029" y="2582711"/>
              <a:ext cx="77470" cy="63500"/>
            </a:xfrm>
            <a:custGeom>
              <a:avLst/>
              <a:gdLst/>
              <a:ahLst/>
              <a:cxnLst/>
              <a:rect l="l" t="t" r="r" b="b"/>
              <a:pathLst>
                <a:path w="77469" h="63500">
                  <a:moveTo>
                    <a:pt x="70400" y="0"/>
                  </a:moveTo>
                  <a:lnTo>
                    <a:pt x="0" y="39895"/>
                  </a:lnTo>
                  <a:lnTo>
                    <a:pt x="77441" y="63360"/>
                  </a:lnTo>
                  <a:lnTo>
                    <a:pt x="69743" y="48179"/>
                  </a:lnTo>
                  <a:lnTo>
                    <a:pt x="66003" y="32559"/>
                  </a:lnTo>
                  <a:lnTo>
                    <a:pt x="66221" y="16499"/>
                  </a:lnTo>
                  <a:lnTo>
                    <a:pt x="70400" y="0"/>
                  </a:lnTo>
                  <a:close/>
                </a:path>
              </a:pathLst>
            </a:custGeom>
            <a:solidFill>
              <a:srgbClr val="231F20"/>
            </a:solidFill>
          </p:spPr>
          <p:txBody>
            <a:bodyPr wrap="square" lIns="0" tIns="0" rIns="0" bIns="0" rtlCol="0"/>
            <a:lstStyle/>
            <a:p>
              <a:endParaRPr/>
            </a:p>
          </p:txBody>
        </p:sp>
        <p:sp>
          <p:nvSpPr>
            <p:cNvPr id="55" name="object 55"/>
            <p:cNvSpPr/>
            <p:nvPr/>
          </p:nvSpPr>
          <p:spPr>
            <a:xfrm>
              <a:off x="2160596" y="2049266"/>
              <a:ext cx="371475" cy="561975"/>
            </a:xfrm>
            <a:custGeom>
              <a:avLst/>
              <a:gdLst/>
              <a:ahLst/>
              <a:cxnLst/>
              <a:rect l="l" t="t" r="r" b="b"/>
              <a:pathLst>
                <a:path w="371475" h="561975">
                  <a:moveTo>
                    <a:pt x="0" y="0"/>
                  </a:moveTo>
                  <a:lnTo>
                    <a:pt x="20886" y="100427"/>
                  </a:lnTo>
                  <a:lnTo>
                    <a:pt x="43193" y="188008"/>
                  </a:lnTo>
                  <a:lnTo>
                    <a:pt x="66659" y="263627"/>
                  </a:lnTo>
                  <a:lnTo>
                    <a:pt x="91025" y="328170"/>
                  </a:lnTo>
                  <a:lnTo>
                    <a:pt x="116031" y="382520"/>
                  </a:lnTo>
                  <a:lnTo>
                    <a:pt x="141416" y="427562"/>
                  </a:lnTo>
                  <a:lnTo>
                    <a:pt x="166920" y="464182"/>
                  </a:lnTo>
                  <a:lnTo>
                    <a:pt x="192283" y="493264"/>
                  </a:lnTo>
                  <a:lnTo>
                    <a:pt x="241547" y="532351"/>
                  </a:lnTo>
                  <a:lnTo>
                    <a:pt x="287126" y="551902"/>
                  </a:lnTo>
                  <a:lnTo>
                    <a:pt x="326939" y="558995"/>
                  </a:lnTo>
                  <a:lnTo>
                    <a:pt x="358905" y="560706"/>
                  </a:lnTo>
                  <a:lnTo>
                    <a:pt x="371296" y="561756"/>
                  </a:lnTo>
                </a:path>
              </a:pathLst>
            </a:custGeom>
            <a:ln w="10541">
              <a:solidFill>
                <a:srgbClr val="231F20"/>
              </a:solidFill>
            </a:ln>
          </p:spPr>
          <p:txBody>
            <a:bodyPr wrap="square" lIns="0" tIns="0" rIns="0" bIns="0" rtlCol="0"/>
            <a:lstStyle/>
            <a:p>
              <a:endParaRPr/>
            </a:p>
          </p:txBody>
        </p:sp>
        <p:sp>
          <p:nvSpPr>
            <p:cNvPr id="56" name="object 56"/>
            <p:cNvSpPr/>
            <p:nvPr/>
          </p:nvSpPr>
          <p:spPr>
            <a:xfrm>
              <a:off x="2490813" y="2574302"/>
              <a:ext cx="78105" cy="63500"/>
            </a:xfrm>
            <a:custGeom>
              <a:avLst/>
              <a:gdLst/>
              <a:ahLst/>
              <a:cxnLst/>
              <a:rect l="l" t="t" r="r" b="b"/>
              <a:pathLst>
                <a:path w="78105" h="63500">
                  <a:moveTo>
                    <a:pt x="8886" y="0"/>
                  </a:moveTo>
                  <a:lnTo>
                    <a:pt x="12582" y="16614"/>
                  </a:lnTo>
                  <a:lnTo>
                    <a:pt x="12332" y="32674"/>
                  </a:lnTo>
                  <a:lnTo>
                    <a:pt x="8138" y="48178"/>
                  </a:lnTo>
                  <a:lnTo>
                    <a:pt x="0" y="63126"/>
                  </a:lnTo>
                  <a:lnTo>
                    <a:pt x="78087" y="41925"/>
                  </a:lnTo>
                  <a:lnTo>
                    <a:pt x="8886" y="0"/>
                  </a:lnTo>
                  <a:close/>
                </a:path>
              </a:pathLst>
            </a:custGeom>
            <a:solidFill>
              <a:srgbClr val="231F20"/>
            </a:solidFill>
          </p:spPr>
          <p:txBody>
            <a:bodyPr wrap="square" lIns="0" tIns="0" rIns="0" bIns="0" rtlCol="0"/>
            <a:lstStyle/>
            <a:p>
              <a:endParaRPr/>
            </a:p>
          </p:txBody>
        </p:sp>
        <p:sp>
          <p:nvSpPr>
            <p:cNvPr id="57" name="object 57"/>
            <p:cNvSpPr/>
            <p:nvPr/>
          </p:nvSpPr>
          <p:spPr>
            <a:xfrm>
              <a:off x="2160596" y="2020900"/>
              <a:ext cx="1198245" cy="311150"/>
            </a:xfrm>
            <a:custGeom>
              <a:avLst/>
              <a:gdLst/>
              <a:ahLst/>
              <a:cxnLst/>
              <a:rect l="l" t="t" r="r" b="b"/>
              <a:pathLst>
                <a:path w="1198245" h="311150">
                  <a:moveTo>
                    <a:pt x="0" y="28366"/>
                  </a:moveTo>
                  <a:lnTo>
                    <a:pt x="17080" y="77854"/>
                  </a:lnTo>
                  <a:lnTo>
                    <a:pt x="37415" y="121858"/>
                  </a:lnTo>
                  <a:lnTo>
                    <a:pt x="60799" y="160609"/>
                  </a:lnTo>
                  <a:lnTo>
                    <a:pt x="87026" y="194338"/>
                  </a:lnTo>
                  <a:lnTo>
                    <a:pt x="115889" y="223276"/>
                  </a:lnTo>
                  <a:lnTo>
                    <a:pt x="147183" y="247654"/>
                  </a:lnTo>
                  <a:lnTo>
                    <a:pt x="180700" y="267702"/>
                  </a:lnTo>
                  <a:lnTo>
                    <a:pt x="216235" y="283650"/>
                  </a:lnTo>
                  <a:lnTo>
                    <a:pt x="253582" y="295730"/>
                  </a:lnTo>
                  <a:lnTo>
                    <a:pt x="292535" y="304173"/>
                  </a:lnTo>
                  <a:lnTo>
                    <a:pt x="332886" y="309208"/>
                  </a:lnTo>
                  <a:lnTo>
                    <a:pt x="374431" y="311067"/>
                  </a:lnTo>
                  <a:lnTo>
                    <a:pt x="416963" y="309980"/>
                  </a:lnTo>
                  <a:lnTo>
                    <a:pt x="460276" y="306178"/>
                  </a:lnTo>
                  <a:lnTo>
                    <a:pt x="504163" y="299892"/>
                  </a:lnTo>
                  <a:lnTo>
                    <a:pt x="548418" y="291353"/>
                  </a:lnTo>
                  <a:lnTo>
                    <a:pt x="592836" y="280790"/>
                  </a:lnTo>
                  <a:lnTo>
                    <a:pt x="637209" y="268435"/>
                  </a:lnTo>
                  <a:lnTo>
                    <a:pt x="681333" y="254519"/>
                  </a:lnTo>
                  <a:lnTo>
                    <a:pt x="725000" y="239272"/>
                  </a:lnTo>
                  <a:lnTo>
                    <a:pt x="768004" y="222925"/>
                  </a:lnTo>
                  <a:lnTo>
                    <a:pt x="810140" y="205708"/>
                  </a:lnTo>
                  <a:lnTo>
                    <a:pt x="851201" y="187853"/>
                  </a:lnTo>
                  <a:lnTo>
                    <a:pt x="890981" y="169589"/>
                  </a:lnTo>
                  <a:lnTo>
                    <a:pt x="929273" y="151148"/>
                  </a:lnTo>
                  <a:lnTo>
                    <a:pt x="965872" y="132761"/>
                  </a:lnTo>
                  <a:lnTo>
                    <a:pt x="1000571" y="114658"/>
                  </a:lnTo>
                  <a:lnTo>
                    <a:pt x="1063446" y="80226"/>
                  </a:lnTo>
                  <a:lnTo>
                    <a:pt x="1116248" y="49699"/>
                  </a:lnTo>
                  <a:lnTo>
                    <a:pt x="1157327" y="24921"/>
                  </a:lnTo>
                  <a:lnTo>
                    <a:pt x="1185035" y="7740"/>
                  </a:lnTo>
                  <a:lnTo>
                    <a:pt x="1193358" y="2574"/>
                  </a:lnTo>
                  <a:lnTo>
                    <a:pt x="1197721" y="0"/>
                  </a:lnTo>
                </a:path>
              </a:pathLst>
            </a:custGeom>
            <a:ln w="10541">
              <a:solidFill>
                <a:srgbClr val="231F20"/>
              </a:solidFill>
            </a:ln>
          </p:spPr>
          <p:txBody>
            <a:bodyPr wrap="square" lIns="0" tIns="0" rIns="0" bIns="0" rtlCol="0"/>
            <a:lstStyle/>
            <a:p>
              <a:endParaRPr/>
            </a:p>
          </p:txBody>
        </p:sp>
        <p:sp>
          <p:nvSpPr>
            <p:cNvPr id="58" name="object 58"/>
            <p:cNvSpPr/>
            <p:nvPr/>
          </p:nvSpPr>
          <p:spPr>
            <a:xfrm>
              <a:off x="3310787" y="2003660"/>
              <a:ext cx="81280" cy="62865"/>
            </a:xfrm>
            <a:custGeom>
              <a:avLst/>
              <a:gdLst/>
              <a:ahLst/>
              <a:cxnLst/>
              <a:rect l="l" t="t" r="r" b="b"/>
              <a:pathLst>
                <a:path w="81279" h="62864">
                  <a:moveTo>
                    <a:pt x="80691" y="0"/>
                  </a:moveTo>
                  <a:lnTo>
                    <a:pt x="0" y="6028"/>
                  </a:lnTo>
                  <a:lnTo>
                    <a:pt x="12653" y="17412"/>
                  </a:lnTo>
                  <a:lnTo>
                    <a:pt x="21772" y="30635"/>
                  </a:lnTo>
                  <a:lnTo>
                    <a:pt x="27357" y="45696"/>
                  </a:lnTo>
                  <a:lnTo>
                    <a:pt x="29409" y="62595"/>
                  </a:lnTo>
                  <a:lnTo>
                    <a:pt x="80691" y="0"/>
                  </a:lnTo>
                  <a:close/>
                </a:path>
              </a:pathLst>
            </a:custGeom>
            <a:solidFill>
              <a:srgbClr val="231F20"/>
            </a:solidFill>
          </p:spPr>
          <p:txBody>
            <a:bodyPr wrap="square" lIns="0" tIns="0" rIns="0" bIns="0" rtlCol="0"/>
            <a:lstStyle/>
            <a:p>
              <a:endParaRPr/>
            </a:p>
          </p:txBody>
        </p:sp>
        <p:sp>
          <p:nvSpPr>
            <p:cNvPr id="59" name="object 59"/>
            <p:cNvSpPr/>
            <p:nvPr/>
          </p:nvSpPr>
          <p:spPr>
            <a:xfrm>
              <a:off x="2122648" y="2011315"/>
              <a:ext cx="76200" cy="76200"/>
            </a:xfrm>
            <a:custGeom>
              <a:avLst/>
              <a:gdLst/>
              <a:ahLst/>
              <a:cxnLst/>
              <a:rect l="l" t="t" r="r" b="b"/>
              <a:pathLst>
                <a:path w="76200" h="76200">
                  <a:moveTo>
                    <a:pt x="75895" y="0"/>
                  </a:moveTo>
                  <a:lnTo>
                    <a:pt x="0" y="0"/>
                  </a:lnTo>
                  <a:lnTo>
                    <a:pt x="0" y="75899"/>
                  </a:lnTo>
                  <a:lnTo>
                    <a:pt x="75895" y="75899"/>
                  </a:lnTo>
                  <a:lnTo>
                    <a:pt x="75895" y="0"/>
                  </a:lnTo>
                  <a:close/>
                </a:path>
              </a:pathLst>
            </a:custGeom>
            <a:solidFill>
              <a:srgbClr val="BCBEC0"/>
            </a:solidFill>
          </p:spPr>
          <p:txBody>
            <a:bodyPr wrap="square" lIns="0" tIns="0" rIns="0" bIns="0" rtlCol="0"/>
            <a:lstStyle/>
            <a:p>
              <a:endParaRPr/>
            </a:p>
          </p:txBody>
        </p:sp>
        <p:sp>
          <p:nvSpPr>
            <p:cNvPr id="60" name="object 60"/>
            <p:cNvSpPr/>
            <p:nvPr/>
          </p:nvSpPr>
          <p:spPr>
            <a:xfrm>
              <a:off x="2122648" y="2011315"/>
              <a:ext cx="76200" cy="76200"/>
            </a:xfrm>
            <a:custGeom>
              <a:avLst/>
              <a:gdLst/>
              <a:ahLst/>
              <a:cxnLst/>
              <a:rect l="l" t="t" r="r" b="b"/>
              <a:pathLst>
                <a:path w="76200" h="76200">
                  <a:moveTo>
                    <a:pt x="0" y="75899"/>
                  </a:moveTo>
                  <a:lnTo>
                    <a:pt x="75895" y="75899"/>
                  </a:lnTo>
                  <a:lnTo>
                    <a:pt x="75895" y="0"/>
                  </a:lnTo>
                  <a:lnTo>
                    <a:pt x="0" y="0"/>
                  </a:lnTo>
                  <a:lnTo>
                    <a:pt x="0" y="75899"/>
                  </a:lnTo>
                  <a:close/>
                </a:path>
              </a:pathLst>
            </a:custGeom>
            <a:ln w="5243">
              <a:solidFill>
                <a:srgbClr val="231F20"/>
              </a:solidFill>
            </a:ln>
          </p:spPr>
          <p:txBody>
            <a:bodyPr wrap="square" lIns="0" tIns="0" rIns="0" bIns="0" rtlCol="0"/>
            <a:lstStyle/>
            <a:p>
              <a:endParaRPr/>
            </a:p>
          </p:txBody>
        </p:sp>
      </p:grpSp>
      <p:sp>
        <p:nvSpPr>
          <p:cNvPr id="61" name="object 61"/>
          <p:cNvSpPr txBox="1"/>
          <p:nvPr/>
        </p:nvSpPr>
        <p:spPr>
          <a:xfrm>
            <a:off x="1169584" y="1643181"/>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62" name="object 62"/>
          <p:cNvSpPr txBox="1"/>
          <p:nvPr/>
        </p:nvSpPr>
        <p:spPr>
          <a:xfrm>
            <a:off x="1869908" y="1682394"/>
            <a:ext cx="6489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Content provider</a:t>
            </a:r>
            <a:endParaRPr sz="650">
              <a:latin typeface="Arial"/>
              <a:cs typeface="Arial"/>
            </a:endParaRPr>
          </a:p>
        </p:txBody>
      </p:sp>
      <p:sp>
        <p:nvSpPr>
          <p:cNvPr id="63" name="object 63"/>
          <p:cNvSpPr txBox="1"/>
          <p:nvPr/>
        </p:nvSpPr>
        <p:spPr>
          <a:xfrm>
            <a:off x="66713" y="3327684"/>
            <a:ext cx="7391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Edge-server</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64" name="object 64"/>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36</a:t>
            </a:r>
            <a:endParaRPr sz="6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831374"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Hybrid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69900" y="105566"/>
            <a:ext cx="4172585" cy="1437005"/>
          </a:xfrm>
          <a:prstGeom prst="rect">
            <a:avLst/>
          </a:prstGeom>
        </p:spPr>
        <p:txBody>
          <a:bodyPr vert="horz" wrap="square" lIns="0" tIns="100330" rIns="0" bIns="0" rtlCol="0">
            <a:spAutoFit/>
          </a:bodyPr>
          <a:lstStyle/>
          <a:p>
            <a:pPr marL="38100">
              <a:lnSpc>
                <a:spcPct val="100000"/>
              </a:lnSpc>
              <a:spcBef>
                <a:spcPts val="790"/>
              </a:spcBef>
            </a:pPr>
            <a:r>
              <a:rPr sz="1400" spc="10" dirty="0">
                <a:solidFill>
                  <a:srgbClr val="3333B2"/>
                </a:solidFill>
                <a:latin typeface="Arial"/>
                <a:cs typeface="Arial"/>
              </a:rPr>
              <a:t>Collaboration:</a:t>
            </a:r>
            <a:r>
              <a:rPr sz="1400" spc="100" dirty="0">
                <a:solidFill>
                  <a:srgbClr val="3333B2"/>
                </a:solidFill>
                <a:latin typeface="Arial"/>
                <a:cs typeface="Arial"/>
              </a:rPr>
              <a:t> </a:t>
            </a:r>
            <a:r>
              <a:rPr sz="1400" spc="15" dirty="0">
                <a:solidFill>
                  <a:srgbClr val="3333B2"/>
                </a:solidFill>
                <a:latin typeface="Arial"/>
                <a:cs typeface="Arial"/>
              </a:rPr>
              <a:t>The</a:t>
            </a:r>
            <a:r>
              <a:rPr sz="1400" spc="10" dirty="0">
                <a:solidFill>
                  <a:srgbClr val="3333B2"/>
                </a:solidFill>
                <a:latin typeface="Arial"/>
                <a:cs typeface="Arial"/>
              </a:rPr>
              <a:t> </a:t>
            </a:r>
            <a:r>
              <a:rPr sz="1400" spc="-5" dirty="0">
                <a:solidFill>
                  <a:srgbClr val="3333B2"/>
                </a:solidFill>
                <a:latin typeface="Arial"/>
                <a:cs typeface="Arial"/>
              </a:rPr>
              <a:t>BitTorrent</a:t>
            </a:r>
            <a:r>
              <a:rPr sz="1400" spc="5" dirty="0">
                <a:solidFill>
                  <a:srgbClr val="3333B2"/>
                </a:solidFill>
                <a:latin typeface="Arial"/>
                <a:cs typeface="Arial"/>
              </a:rPr>
              <a:t> </a:t>
            </a:r>
            <a:r>
              <a:rPr sz="1400" spc="15" dirty="0">
                <a:solidFill>
                  <a:srgbClr val="3333B2"/>
                </a:solidFill>
                <a:latin typeface="Arial"/>
                <a:cs typeface="Arial"/>
              </a:rPr>
              <a:t>case</a:t>
            </a:r>
            <a:endParaRPr sz="1400">
              <a:latin typeface="Arial"/>
              <a:cs typeface="Arial"/>
            </a:endParaRPr>
          </a:p>
          <a:p>
            <a:pPr marL="289560">
              <a:lnSpc>
                <a:spcPct val="100000"/>
              </a:lnSpc>
              <a:spcBef>
                <a:spcPts val="550"/>
              </a:spcBef>
            </a:pPr>
            <a:r>
              <a:rPr sz="1200" spc="-5" dirty="0">
                <a:solidFill>
                  <a:srgbClr val="3333B2"/>
                </a:solidFill>
                <a:latin typeface="Arial"/>
                <a:cs typeface="Arial"/>
              </a:rPr>
              <a:t>Principle:</a:t>
            </a:r>
            <a:r>
              <a:rPr sz="1200" spc="70" dirty="0">
                <a:solidFill>
                  <a:srgbClr val="3333B2"/>
                </a:solidFill>
                <a:latin typeface="Arial"/>
                <a:cs typeface="Arial"/>
              </a:rPr>
              <a:t> </a:t>
            </a:r>
            <a:r>
              <a:rPr sz="1200" spc="-5" dirty="0">
                <a:solidFill>
                  <a:srgbClr val="3333B2"/>
                </a:solidFill>
                <a:latin typeface="Arial"/>
                <a:cs typeface="Arial"/>
              </a:rPr>
              <a:t>search </a:t>
            </a:r>
            <a:r>
              <a:rPr sz="1200" spc="-20" dirty="0">
                <a:solidFill>
                  <a:srgbClr val="3333B2"/>
                </a:solidFill>
                <a:latin typeface="Arial"/>
                <a:cs typeface="Arial"/>
              </a:rPr>
              <a:t>for</a:t>
            </a:r>
            <a:r>
              <a:rPr sz="1200" spc="-5" dirty="0">
                <a:solidFill>
                  <a:srgbClr val="3333B2"/>
                </a:solidFill>
                <a:latin typeface="Arial"/>
                <a:cs typeface="Arial"/>
              </a:rPr>
              <a:t> a file </a:t>
            </a:r>
            <a:r>
              <a:rPr sz="1200" i="1" spc="-5" dirty="0">
                <a:solidFill>
                  <a:srgbClr val="3333B2"/>
                </a:solidFill>
                <a:latin typeface="Arial"/>
                <a:cs typeface="Arial"/>
              </a:rPr>
              <a:t>F</a:t>
            </a:r>
            <a:endParaRPr sz="1200">
              <a:latin typeface="Arial"/>
              <a:cs typeface="Arial"/>
            </a:endParaRPr>
          </a:p>
          <a:p>
            <a:pPr marL="567055" indent="-168275">
              <a:lnSpc>
                <a:spcPts val="1200"/>
              </a:lnSpc>
              <a:spcBef>
                <a:spcPts val="770"/>
              </a:spcBef>
              <a:buClr>
                <a:srgbClr val="3333B2"/>
              </a:buClr>
              <a:buChar char="►"/>
              <a:tabLst>
                <a:tab pos="567690" algn="l"/>
              </a:tabLst>
            </a:pPr>
            <a:r>
              <a:rPr sz="1000" spc="-5" dirty="0">
                <a:latin typeface="Arial"/>
                <a:cs typeface="Arial"/>
              </a:rPr>
              <a:t>Lookup file at</a:t>
            </a:r>
            <a:r>
              <a:rPr sz="1000" dirty="0">
                <a:latin typeface="Arial"/>
                <a:cs typeface="Arial"/>
              </a:rPr>
              <a:t> </a:t>
            </a:r>
            <a:r>
              <a:rPr sz="1000" spc="-5" dirty="0">
                <a:latin typeface="Arial"/>
                <a:cs typeface="Arial"/>
              </a:rPr>
              <a:t>a global </a:t>
            </a:r>
            <a:r>
              <a:rPr sz="1000" dirty="0">
                <a:latin typeface="Arial"/>
                <a:cs typeface="Arial"/>
              </a:rPr>
              <a:t>directory </a:t>
            </a:r>
            <a:r>
              <a:rPr sz="1000" i="1" spc="-5" dirty="0">
                <a:latin typeface="メイリオ"/>
                <a:cs typeface="メイリオ"/>
              </a:rPr>
              <a:t>⇒</a:t>
            </a:r>
            <a:r>
              <a:rPr sz="1000" i="1" spc="-65" dirty="0">
                <a:latin typeface="メイリオ"/>
                <a:cs typeface="メイリオ"/>
              </a:rPr>
              <a:t> </a:t>
            </a:r>
            <a:r>
              <a:rPr sz="1000" dirty="0">
                <a:latin typeface="Arial"/>
                <a:cs typeface="Arial"/>
              </a:rPr>
              <a:t>returns </a:t>
            </a:r>
            <a:r>
              <a:rPr sz="1000" spc="-5" dirty="0">
                <a:latin typeface="Arial"/>
                <a:cs typeface="Arial"/>
              </a:rPr>
              <a:t>a </a:t>
            </a:r>
            <a:r>
              <a:rPr sz="1000" spc="-5" dirty="0">
                <a:solidFill>
                  <a:srgbClr val="FA0000"/>
                </a:solidFill>
                <a:latin typeface="Arial"/>
                <a:cs typeface="Arial"/>
              </a:rPr>
              <a:t>torrent file</a:t>
            </a:r>
            <a:endParaRPr sz="1000">
              <a:latin typeface="Arial"/>
              <a:cs typeface="Arial"/>
            </a:endParaRPr>
          </a:p>
          <a:p>
            <a:pPr marL="567055" marR="191135" indent="-168275">
              <a:lnSpc>
                <a:spcPts val="1200"/>
              </a:lnSpc>
              <a:spcBef>
                <a:spcPts val="35"/>
              </a:spcBef>
              <a:buClr>
                <a:srgbClr val="3333B2"/>
              </a:buClr>
              <a:buChar char="►"/>
              <a:tabLst>
                <a:tab pos="567690" algn="l"/>
              </a:tabLst>
            </a:pPr>
            <a:r>
              <a:rPr sz="1000" spc="-20" dirty="0">
                <a:latin typeface="Arial"/>
                <a:cs typeface="Arial"/>
              </a:rPr>
              <a:t>Torrent</a:t>
            </a:r>
            <a:r>
              <a:rPr sz="1000" spc="-5" dirty="0">
                <a:latin typeface="Arial"/>
                <a:cs typeface="Arial"/>
              </a:rPr>
              <a:t> file</a:t>
            </a:r>
            <a:r>
              <a:rPr sz="1000" dirty="0">
                <a:latin typeface="Arial"/>
                <a:cs typeface="Arial"/>
              </a:rPr>
              <a:t> </a:t>
            </a:r>
            <a:r>
              <a:rPr sz="1000" spc="-5" dirty="0">
                <a:latin typeface="Arial"/>
                <a:cs typeface="Arial"/>
              </a:rPr>
              <a:t>contains</a:t>
            </a:r>
            <a:r>
              <a:rPr sz="1000" dirty="0">
                <a:latin typeface="Arial"/>
                <a:cs typeface="Arial"/>
              </a:rPr>
              <a:t> </a:t>
            </a:r>
            <a:r>
              <a:rPr sz="1000" spc="-10" dirty="0">
                <a:latin typeface="Arial"/>
                <a:cs typeface="Arial"/>
              </a:rPr>
              <a:t>reference</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FA0000"/>
                </a:solidFill>
                <a:latin typeface="Arial"/>
                <a:cs typeface="Arial"/>
              </a:rPr>
              <a:t>tracker</a:t>
            </a:r>
            <a:r>
              <a:rPr sz="1000" spc="-10" dirty="0">
                <a:latin typeface="Arial"/>
                <a:cs typeface="Arial"/>
              </a:rPr>
              <a:t>:</a:t>
            </a:r>
            <a:r>
              <a:rPr sz="1000" spc="6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keeping</a:t>
            </a:r>
            <a:r>
              <a:rPr sz="1000" dirty="0">
                <a:latin typeface="Arial"/>
                <a:cs typeface="Arial"/>
              </a:rPr>
              <a:t> </a:t>
            </a:r>
            <a:r>
              <a:rPr sz="1000" spc="-5" dirty="0">
                <a:latin typeface="Arial"/>
                <a:cs typeface="Arial"/>
              </a:rPr>
              <a:t>an </a:t>
            </a:r>
            <a:r>
              <a:rPr sz="1000" spc="-260" dirty="0">
                <a:latin typeface="Arial"/>
                <a:cs typeface="Arial"/>
              </a:rPr>
              <a:t> </a:t>
            </a:r>
            <a:r>
              <a:rPr sz="1000" spc="-5" dirty="0">
                <a:latin typeface="Arial"/>
                <a:cs typeface="Arial"/>
              </a:rPr>
              <a:t>accurate account</a:t>
            </a:r>
            <a:r>
              <a:rPr sz="1000" dirty="0">
                <a:latin typeface="Arial"/>
                <a:cs typeface="Arial"/>
              </a:rPr>
              <a:t> </a:t>
            </a:r>
            <a:r>
              <a:rPr sz="1000" spc="-5" dirty="0">
                <a:latin typeface="Arial"/>
                <a:cs typeface="Arial"/>
              </a:rPr>
              <a:t>of </a:t>
            </a:r>
            <a:r>
              <a:rPr sz="1000" spc="-10" dirty="0">
                <a:solidFill>
                  <a:srgbClr val="0000FA"/>
                </a:solidFill>
                <a:latin typeface="Arial"/>
                <a:cs typeface="Arial"/>
              </a:rPr>
              <a:t>active</a:t>
            </a:r>
            <a:r>
              <a:rPr sz="1000" dirty="0">
                <a:solidFill>
                  <a:srgbClr val="0000FA"/>
                </a:solidFill>
                <a:latin typeface="Arial"/>
                <a:cs typeface="Arial"/>
              </a:rPr>
              <a:t> </a:t>
            </a:r>
            <a:r>
              <a:rPr sz="1000" spc="-5" dirty="0">
                <a:latin typeface="Arial"/>
                <a:cs typeface="Arial"/>
              </a:rPr>
              <a:t>nodes that</a:t>
            </a:r>
            <a:r>
              <a:rPr sz="1000" dirty="0">
                <a:latin typeface="Arial"/>
                <a:cs typeface="Arial"/>
              </a:rPr>
              <a:t> </a:t>
            </a:r>
            <a:r>
              <a:rPr sz="1000" spc="-15" dirty="0">
                <a:latin typeface="Arial"/>
                <a:cs typeface="Arial"/>
              </a:rPr>
              <a:t>have</a:t>
            </a:r>
            <a:r>
              <a:rPr sz="1000" spc="-5" dirty="0">
                <a:latin typeface="Arial"/>
                <a:cs typeface="Arial"/>
              </a:rPr>
              <a:t> (chunks</a:t>
            </a:r>
            <a:r>
              <a:rPr sz="1000" dirty="0">
                <a:latin typeface="Arial"/>
                <a:cs typeface="Arial"/>
              </a:rPr>
              <a:t> </a:t>
            </a:r>
            <a:r>
              <a:rPr sz="1000" spc="-5" dirty="0">
                <a:latin typeface="Arial"/>
                <a:cs typeface="Arial"/>
              </a:rPr>
              <a:t>of)</a:t>
            </a:r>
            <a:r>
              <a:rPr sz="1000" dirty="0">
                <a:latin typeface="Arial"/>
                <a:cs typeface="Arial"/>
              </a:rPr>
              <a:t> </a:t>
            </a:r>
            <a:r>
              <a:rPr sz="1000" i="1" spc="-5" dirty="0">
                <a:latin typeface="Arial"/>
                <a:cs typeface="Arial"/>
              </a:rPr>
              <a:t>F</a:t>
            </a:r>
            <a:r>
              <a:rPr sz="1000" i="1" spc="-155" dirty="0">
                <a:latin typeface="Arial"/>
                <a:cs typeface="Arial"/>
              </a:rPr>
              <a:t> </a:t>
            </a:r>
            <a:r>
              <a:rPr sz="1000" spc="-5" dirty="0">
                <a:latin typeface="Arial"/>
                <a:cs typeface="Arial"/>
              </a:rPr>
              <a:t>.</a:t>
            </a:r>
            <a:endParaRPr sz="1000">
              <a:latin typeface="Arial"/>
              <a:cs typeface="Arial"/>
            </a:endParaRPr>
          </a:p>
          <a:p>
            <a:pPr marL="567055" indent="-168275">
              <a:lnSpc>
                <a:spcPts val="1150"/>
              </a:lnSpc>
              <a:buClr>
                <a:srgbClr val="3333B2"/>
              </a:buClr>
              <a:buFont typeface="Arial"/>
              <a:buChar char="►"/>
              <a:tabLst>
                <a:tab pos="567690" algn="l"/>
              </a:tabLst>
            </a:pPr>
            <a:r>
              <a:rPr sz="1000" i="1" spc="-5" dirty="0">
                <a:latin typeface="Arial"/>
                <a:cs typeface="Arial"/>
              </a:rPr>
              <a:t>P</a:t>
            </a:r>
            <a:r>
              <a:rPr sz="1000" i="1" spc="65" dirty="0">
                <a:latin typeface="Arial"/>
                <a:cs typeface="Arial"/>
              </a:rPr>
              <a:t> </a:t>
            </a:r>
            <a:r>
              <a:rPr sz="1000" spc="-5" dirty="0">
                <a:latin typeface="Arial"/>
                <a:cs typeface="Arial"/>
              </a:rPr>
              <a:t>can join</a:t>
            </a:r>
            <a:r>
              <a:rPr sz="1000" dirty="0">
                <a:latin typeface="Arial"/>
                <a:cs typeface="Arial"/>
              </a:rPr>
              <a:t> </a:t>
            </a:r>
            <a:r>
              <a:rPr sz="1000" spc="-10" dirty="0">
                <a:solidFill>
                  <a:srgbClr val="FA0000"/>
                </a:solidFill>
                <a:latin typeface="Arial"/>
                <a:cs typeface="Arial"/>
              </a:rPr>
              <a:t>swarm</a:t>
            </a:r>
            <a:r>
              <a:rPr sz="1000" spc="-10" dirty="0">
                <a:latin typeface="Arial"/>
                <a:cs typeface="Arial"/>
              </a:rPr>
              <a:t>,</a:t>
            </a:r>
            <a:r>
              <a:rPr sz="1000" spc="-5" dirty="0">
                <a:latin typeface="Arial"/>
                <a:cs typeface="Arial"/>
              </a:rPr>
              <a:t> get a</a:t>
            </a:r>
            <a:r>
              <a:rPr sz="1000" dirty="0">
                <a:latin typeface="Arial"/>
                <a:cs typeface="Arial"/>
              </a:rPr>
              <a:t> </a:t>
            </a:r>
            <a:r>
              <a:rPr sz="1000" spc="-5" dirty="0">
                <a:latin typeface="Arial"/>
                <a:cs typeface="Arial"/>
              </a:rPr>
              <a:t>chunk </a:t>
            </a:r>
            <a:r>
              <a:rPr sz="1000" spc="-15" dirty="0">
                <a:latin typeface="Arial"/>
                <a:cs typeface="Arial"/>
              </a:rPr>
              <a:t>for</a:t>
            </a:r>
            <a:r>
              <a:rPr sz="1000" spc="-5" dirty="0">
                <a:latin typeface="Arial"/>
                <a:cs typeface="Arial"/>
              </a:rPr>
              <a:t> free,</a:t>
            </a:r>
            <a:r>
              <a:rPr sz="1000" dirty="0">
                <a:latin typeface="Arial"/>
                <a:cs typeface="Arial"/>
              </a:rPr>
              <a:t> </a:t>
            </a:r>
            <a:r>
              <a:rPr sz="1000" spc="-5" dirty="0">
                <a:latin typeface="Arial"/>
                <a:cs typeface="Arial"/>
              </a:rPr>
              <a:t>and then trade</a:t>
            </a:r>
            <a:r>
              <a:rPr sz="1000" dirty="0">
                <a:latin typeface="Arial"/>
                <a:cs typeface="Arial"/>
              </a:rPr>
              <a:t> </a:t>
            </a:r>
            <a:r>
              <a:rPr sz="1000" spc="-5" dirty="0">
                <a:latin typeface="Arial"/>
                <a:cs typeface="Arial"/>
              </a:rPr>
              <a:t>a </a:t>
            </a:r>
            <a:r>
              <a:rPr sz="1000" spc="-10" dirty="0">
                <a:latin typeface="Arial"/>
                <a:cs typeface="Arial"/>
              </a:rPr>
              <a:t>copy</a:t>
            </a:r>
            <a:r>
              <a:rPr sz="1000" spc="-5" dirty="0">
                <a:latin typeface="Arial"/>
                <a:cs typeface="Arial"/>
              </a:rPr>
              <a:t> of</a:t>
            </a:r>
            <a:endParaRPr sz="1000">
              <a:latin typeface="Arial"/>
              <a:cs typeface="Arial"/>
            </a:endParaRPr>
          </a:p>
          <a:p>
            <a:pPr marL="567055">
              <a:lnSpc>
                <a:spcPts val="1200"/>
              </a:lnSpc>
            </a:pPr>
            <a:r>
              <a:rPr sz="1000" spc="-5" dirty="0">
                <a:latin typeface="Arial"/>
                <a:cs typeface="Arial"/>
              </a:rPr>
              <a:t>that chunk</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another</a:t>
            </a:r>
            <a:r>
              <a:rPr sz="1000" dirty="0">
                <a:latin typeface="Arial"/>
                <a:cs typeface="Arial"/>
              </a:rPr>
              <a:t> </a:t>
            </a:r>
            <a:r>
              <a:rPr sz="1000" spc="-5" dirty="0">
                <a:latin typeface="Arial"/>
                <a:cs typeface="Arial"/>
              </a:rPr>
              <a:t>one with</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peer</a:t>
            </a:r>
            <a:r>
              <a:rPr sz="100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swarm.</a:t>
            </a:r>
            <a:endParaRPr sz="1000">
              <a:latin typeface="Arial"/>
              <a:cs typeface="Arial"/>
            </a:endParaRPr>
          </a:p>
        </p:txBody>
      </p:sp>
      <p:grpSp>
        <p:nvGrpSpPr>
          <p:cNvPr id="5" name="object 5"/>
          <p:cNvGrpSpPr/>
          <p:nvPr/>
        </p:nvGrpSpPr>
        <p:grpSpPr>
          <a:xfrm>
            <a:off x="3239508" y="2371051"/>
            <a:ext cx="488315" cy="613410"/>
            <a:chOff x="3239508" y="2371051"/>
            <a:chExt cx="488315" cy="613410"/>
          </a:xfrm>
        </p:grpSpPr>
        <p:sp>
          <p:nvSpPr>
            <p:cNvPr id="6" name="object 6"/>
            <p:cNvSpPr/>
            <p:nvPr/>
          </p:nvSpPr>
          <p:spPr>
            <a:xfrm>
              <a:off x="3706190" y="2732328"/>
              <a:ext cx="21590" cy="127000"/>
            </a:xfrm>
            <a:custGeom>
              <a:avLst/>
              <a:gdLst/>
              <a:ahLst/>
              <a:cxnLst/>
              <a:rect l="l" t="t" r="r" b="b"/>
              <a:pathLst>
                <a:path w="21589" h="127000">
                  <a:moveTo>
                    <a:pt x="21082" y="110147"/>
                  </a:moveTo>
                  <a:lnTo>
                    <a:pt x="16370" y="105422"/>
                  </a:lnTo>
                  <a:lnTo>
                    <a:pt x="10541" y="105422"/>
                  </a:lnTo>
                  <a:lnTo>
                    <a:pt x="4711" y="105422"/>
                  </a:lnTo>
                  <a:lnTo>
                    <a:pt x="0" y="110147"/>
                  </a:lnTo>
                  <a:lnTo>
                    <a:pt x="0" y="121780"/>
                  </a:lnTo>
                  <a:lnTo>
                    <a:pt x="4711" y="126504"/>
                  </a:lnTo>
                  <a:lnTo>
                    <a:pt x="16370" y="126504"/>
                  </a:lnTo>
                  <a:lnTo>
                    <a:pt x="21082" y="121780"/>
                  </a:lnTo>
                  <a:lnTo>
                    <a:pt x="21082" y="110147"/>
                  </a:lnTo>
                  <a:close/>
                </a:path>
                <a:path w="21589" h="127000">
                  <a:moveTo>
                    <a:pt x="21082" y="57429"/>
                  </a:moveTo>
                  <a:lnTo>
                    <a:pt x="16370" y="52705"/>
                  </a:lnTo>
                  <a:lnTo>
                    <a:pt x="10541" y="52705"/>
                  </a:lnTo>
                  <a:lnTo>
                    <a:pt x="4711" y="52705"/>
                  </a:lnTo>
                  <a:lnTo>
                    <a:pt x="0" y="57429"/>
                  </a:lnTo>
                  <a:lnTo>
                    <a:pt x="0" y="69075"/>
                  </a:lnTo>
                  <a:lnTo>
                    <a:pt x="4711" y="73799"/>
                  </a:lnTo>
                  <a:lnTo>
                    <a:pt x="16370" y="73799"/>
                  </a:lnTo>
                  <a:lnTo>
                    <a:pt x="21082" y="69075"/>
                  </a:lnTo>
                  <a:lnTo>
                    <a:pt x="21082" y="57429"/>
                  </a:lnTo>
                  <a:close/>
                </a:path>
                <a:path w="21589" h="127000">
                  <a:moveTo>
                    <a:pt x="21082" y="4724"/>
                  </a:moveTo>
                  <a:lnTo>
                    <a:pt x="16370" y="0"/>
                  </a:lnTo>
                  <a:lnTo>
                    <a:pt x="10541" y="0"/>
                  </a:lnTo>
                  <a:lnTo>
                    <a:pt x="4711" y="0"/>
                  </a:lnTo>
                  <a:lnTo>
                    <a:pt x="0" y="4724"/>
                  </a:lnTo>
                  <a:lnTo>
                    <a:pt x="0" y="16370"/>
                  </a:lnTo>
                  <a:lnTo>
                    <a:pt x="4711" y="21082"/>
                  </a:lnTo>
                  <a:lnTo>
                    <a:pt x="16370" y="21082"/>
                  </a:lnTo>
                  <a:lnTo>
                    <a:pt x="21082" y="16370"/>
                  </a:lnTo>
                  <a:lnTo>
                    <a:pt x="21082" y="4724"/>
                  </a:lnTo>
                  <a:close/>
                </a:path>
              </a:pathLst>
            </a:custGeom>
            <a:solidFill>
              <a:srgbClr val="231F20"/>
            </a:solidFill>
          </p:spPr>
          <p:txBody>
            <a:bodyPr wrap="square" lIns="0" tIns="0" rIns="0" bIns="0" rtlCol="0"/>
            <a:lstStyle/>
            <a:p>
              <a:endParaRPr/>
            </a:p>
          </p:txBody>
        </p:sp>
        <p:sp>
          <p:nvSpPr>
            <p:cNvPr id="7" name="object 7"/>
            <p:cNvSpPr/>
            <p:nvPr/>
          </p:nvSpPr>
          <p:spPr>
            <a:xfrm>
              <a:off x="3242366" y="2373909"/>
              <a:ext cx="105410" cy="607695"/>
            </a:xfrm>
            <a:custGeom>
              <a:avLst/>
              <a:gdLst/>
              <a:ahLst/>
              <a:cxnLst/>
              <a:rect l="l" t="t" r="r" b="b"/>
              <a:pathLst>
                <a:path w="105410" h="607694">
                  <a:moveTo>
                    <a:pt x="52409" y="607161"/>
                  </a:moveTo>
                  <a:lnTo>
                    <a:pt x="75465" y="576304"/>
                  </a:lnTo>
                  <a:lnTo>
                    <a:pt x="93315" y="493453"/>
                  </a:lnTo>
                  <a:lnTo>
                    <a:pt x="99503" y="437086"/>
                  </a:lnTo>
                  <a:lnTo>
                    <a:pt x="103446" y="373188"/>
                  </a:lnTo>
                  <a:lnTo>
                    <a:pt x="104830" y="303580"/>
                  </a:lnTo>
                  <a:lnTo>
                    <a:pt x="103446" y="233972"/>
                  </a:lnTo>
                  <a:lnTo>
                    <a:pt x="99503" y="170073"/>
                  </a:lnTo>
                  <a:lnTo>
                    <a:pt x="93315" y="113706"/>
                  </a:lnTo>
                  <a:lnTo>
                    <a:pt x="85198" y="66693"/>
                  </a:lnTo>
                  <a:lnTo>
                    <a:pt x="64430" y="8017"/>
                  </a:lnTo>
                  <a:lnTo>
                    <a:pt x="52409" y="0"/>
                  </a:lnTo>
                  <a:lnTo>
                    <a:pt x="40392" y="8017"/>
                  </a:lnTo>
                  <a:lnTo>
                    <a:pt x="19629" y="66693"/>
                  </a:lnTo>
                  <a:lnTo>
                    <a:pt x="11513" y="113706"/>
                  </a:lnTo>
                  <a:lnTo>
                    <a:pt x="5326" y="170073"/>
                  </a:lnTo>
                  <a:lnTo>
                    <a:pt x="1384" y="233972"/>
                  </a:lnTo>
                  <a:lnTo>
                    <a:pt x="0" y="303580"/>
                  </a:lnTo>
                  <a:lnTo>
                    <a:pt x="1384" y="373188"/>
                  </a:lnTo>
                  <a:lnTo>
                    <a:pt x="5326" y="437086"/>
                  </a:lnTo>
                  <a:lnTo>
                    <a:pt x="11513" y="493453"/>
                  </a:lnTo>
                  <a:lnTo>
                    <a:pt x="19629" y="540467"/>
                  </a:lnTo>
                  <a:lnTo>
                    <a:pt x="40392" y="599143"/>
                  </a:lnTo>
                  <a:lnTo>
                    <a:pt x="52409" y="607161"/>
                  </a:lnTo>
                </a:path>
              </a:pathLst>
            </a:custGeom>
            <a:ln w="5270">
              <a:solidFill>
                <a:srgbClr val="231F20"/>
              </a:solidFill>
            </a:ln>
          </p:spPr>
          <p:txBody>
            <a:bodyPr wrap="square" lIns="0" tIns="0" rIns="0" bIns="0" rtlCol="0"/>
            <a:lstStyle/>
            <a:p>
              <a:endParaRPr/>
            </a:p>
          </p:txBody>
        </p:sp>
      </p:grpSp>
      <p:sp>
        <p:nvSpPr>
          <p:cNvPr id="8" name="object 8"/>
          <p:cNvSpPr txBox="1"/>
          <p:nvPr/>
        </p:nvSpPr>
        <p:spPr>
          <a:xfrm>
            <a:off x="3836153" y="2306702"/>
            <a:ext cx="2978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Node 1</a:t>
            </a:r>
            <a:endParaRPr sz="650">
              <a:latin typeface="Arial"/>
              <a:cs typeface="Arial"/>
            </a:endParaRPr>
          </a:p>
        </p:txBody>
      </p:sp>
      <p:sp>
        <p:nvSpPr>
          <p:cNvPr id="9" name="object 9"/>
          <p:cNvSpPr txBox="1"/>
          <p:nvPr/>
        </p:nvSpPr>
        <p:spPr>
          <a:xfrm>
            <a:off x="3830627" y="2517531"/>
            <a:ext cx="2978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Node 2</a:t>
            </a:r>
            <a:endParaRPr sz="650">
              <a:latin typeface="Arial"/>
              <a:cs typeface="Arial"/>
            </a:endParaRPr>
          </a:p>
        </p:txBody>
      </p:sp>
      <p:sp>
        <p:nvSpPr>
          <p:cNvPr id="10" name="object 10"/>
          <p:cNvSpPr txBox="1"/>
          <p:nvPr/>
        </p:nvSpPr>
        <p:spPr>
          <a:xfrm>
            <a:off x="3824866" y="2939071"/>
            <a:ext cx="311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Node </a:t>
            </a:r>
            <a:r>
              <a:rPr sz="650" spc="10" dirty="0">
                <a:solidFill>
                  <a:srgbClr val="231F20"/>
                </a:solidFill>
                <a:latin typeface="Arial"/>
                <a:cs typeface="Arial"/>
              </a:rPr>
              <a:t>N</a:t>
            </a:r>
            <a:endParaRPr sz="650">
              <a:latin typeface="Arial"/>
              <a:cs typeface="Arial"/>
            </a:endParaRPr>
          </a:p>
        </p:txBody>
      </p:sp>
      <p:sp>
        <p:nvSpPr>
          <p:cNvPr id="11" name="object 11"/>
          <p:cNvSpPr txBox="1"/>
          <p:nvPr/>
        </p:nvSpPr>
        <p:spPr>
          <a:xfrm>
            <a:off x="1502990" y="2529944"/>
            <a:ext cx="633095" cy="318770"/>
          </a:xfrm>
          <a:prstGeom prst="rect">
            <a:avLst/>
          </a:prstGeom>
          <a:ln w="5270">
            <a:solidFill>
              <a:srgbClr val="231F20"/>
            </a:solidFill>
          </a:ln>
        </p:spPr>
        <p:txBody>
          <a:bodyPr vert="horz" wrap="square" lIns="0" tIns="66675" rIns="0" bIns="0" rtlCol="0">
            <a:spAutoFit/>
          </a:bodyPr>
          <a:lstStyle/>
          <a:p>
            <a:pPr marL="164465" marR="120014" indent="-35560">
              <a:lnSpc>
                <a:spcPts val="740"/>
              </a:lnSpc>
              <a:spcBef>
                <a:spcPts val="525"/>
              </a:spcBef>
            </a:pPr>
            <a:r>
              <a:rPr sz="650" spc="5" dirty="0">
                <a:solidFill>
                  <a:srgbClr val="231F20"/>
                </a:solidFill>
                <a:latin typeface="Arial"/>
                <a:cs typeface="Arial"/>
              </a:rPr>
              <a:t>torrent </a:t>
            </a:r>
            <a:r>
              <a:rPr sz="650" dirty="0">
                <a:solidFill>
                  <a:srgbClr val="231F20"/>
                </a:solidFill>
                <a:latin typeface="Arial"/>
                <a:cs typeface="Arial"/>
              </a:rPr>
              <a:t>file  </a:t>
            </a:r>
            <a:r>
              <a:rPr sz="650" spc="5" dirty="0">
                <a:solidFill>
                  <a:srgbClr val="231F20"/>
                </a:solidFill>
                <a:latin typeface="Arial"/>
                <a:cs typeface="Arial"/>
              </a:rPr>
              <a:t>for</a:t>
            </a:r>
            <a:r>
              <a:rPr sz="650" spc="-25" dirty="0">
                <a:solidFill>
                  <a:srgbClr val="231F20"/>
                </a:solidFill>
                <a:latin typeface="Arial"/>
                <a:cs typeface="Arial"/>
              </a:rPr>
              <a:t> </a:t>
            </a:r>
            <a:r>
              <a:rPr sz="650" dirty="0">
                <a:solidFill>
                  <a:srgbClr val="231F20"/>
                </a:solidFill>
                <a:latin typeface="Arial"/>
                <a:cs typeface="Arial"/>
              </a:rPr>
              <a:t>file</a:t>
            </a:r>
            <a:r>
              <a:rPr sz="650" spc="-20" dirty="0">
                <a:solidFill>
                  <a:srgbClr val="231F20"/>
                </a:solidFill>
                <a:latin typeface="Arial"/>
                <a:cs typeface="Arial"/>
              </a:rPr>
              <a:t> </a:t>
            </a:r>
            <a:r>
              <a:rPr sz="650" spc="5" dirty="0">
                <a:solidFill>
                  <a:srgbClr val="231F20"/>
                </a:solidFill>
                <a:latin typeface="Arial"/>
                <a:cs typeface="Arial"/>
              </a:rPr>
              <a:t>F</a:t>
            </a:r>
            <a:endParaRPr sz="650">
              <a:latin typeface="Arial"/>
              <a:cs typeface="Arial"/>
            </a:endParaRPr>
          </a:p>
        </p:txBody>
      </p:sp>
      <p:sp>
        <p:nvSpPr>
          <p:cNvPr id="12" name="object 12"/>
          <p:cNvSpPr txBox="1"/>
          <p:nvPr/>
        </p:nvSpPr>
        <p:spPr>
          <a:xfrm>
            <a:off x="501530" y="2529944"/>
            <a:ext cx="633095" cy="318770"/>
          </a:xfrm>
          <a:prstGeom prst="rect">
            <a:avLst/>
          </a:prstGeom>
          <a:ln w="5270">
            <a:solidFill>
              <a:srgbClr val="231F20"/>
            </a:solidFill>
          </a:ln>
        </p:spPr>
        <p:txBody>
          <a:bodyPr vert="horz" wrap="square" lIns="0" tIns="12065" rIns="0" bIns="0" rtlCol="0">
            <a:spAutoFit/>
          </a:bodyPr>
          <a:lstStyle/>
          <a:p>
            <a:pPr marL="51435" marR="43180" indent="46355" algn="just">
              <a:lnSpc>
                <a:spcPts val="740"/>
              </a:lnSpc>
              <a:spcBef>
                <a:spcPts val="95"/>
              </a:spcBef>
            </a:pPr>
            <a:r>
              <a:rPr sz="650" spc="5" dirty="0">
                <a:solidFill>
                  <a:srgbClr val="231F20"/>
                </a:solidFill>
                <a:latin typeface="Arial"/>
                <a:cs typeface="Arial"/>
              </a:rPr>
              <a:t>A</a:t>
            </a:r>
            <a:r>
              <a:rPr sz="650" spc="-35" dirty="0">
                <a:solidFill>
                  <a:srgbClr val="231F20"/>
                </a:solidFill>
                <a:latin typeface="Arial"/>
                <a:cs typeface="Arial"/>
              </a:rPr>
              <a:t> </a:t>
            </a:r>
            <a:r>
              <a:rPr sz="650" spc="5" dirty="0">
                <a:solidFill>
                  <a:srgbClr val="231F20"/>
                </a:solidFill>
                <a:latin typeface="Arial"/>
                <a:cs typeface="Arial"/>
              </a:rPr>
              <a:t>Bit</a:t>
            </a:r>
            <a:r>
              <a:rPr sz="650" spc="-70" dirty="0">
                <a:solidFill>
                  <a:srgbClr val="231F20"/>
                </a:solidFill>
                <a:latin typeface="Arial"/>
                <a:cs typeface="Arial"/>
              </a:rPr>
              <a:t>T</a:t>
            </a:r>
            <a:r>
              <a:rPr sz="650" spc="5" dirty="0">
                <a:solidFill>
                  <a:srgbClr val="231F20"/>
                </a:solidFill>
                <a:latin typeface="Arial"/>
                <a:cs typeface="Arial"/>
              </a:rPr>
              <a:t>orrent  </a:t>
            </a:r>
            <a:r>
              <a:rPr sz="650" dirty="0">
                <a:solidFill>
                  <a:srgbClr val="231F20"/>
                </a:solidFill>
                <a:latin typeface="Arial"/>
                <a:cs typeface="Arial"/>
              </a:rPr>
              <a:t>Web </a:t>
            </a:r>
            <a:r>
              <a:rPr sz="650" spc="5" dirty="0">
                <a:solidFill>
                  <a:srgbClr val="231F20"/>
                </a:solidFill>
                <a:latin typeface="Arial"/>
                <a:cs typeface="Arial"/>
              </a:rPr>
              <a:t>page or </a:t>
            </a:r>
            <a:r>
              <a:rPr sz="650" spc="10" dirty="0">
                <a:solidFill>
                  <a:srgbClr val="231F20"/>
                </a:solidFill>
                <a:latin typeface="Arial"/>
                <a:cs typeface="Arial"/>
              </a:rPr>
              <a:t> </a:t>
            </a:r>
            <a:r>
              <a:rPr sz="650" spc="5" dirty="0">
                <a:solidFill>
                  <a:srgbClr val="231F20"/>
                </a:solidFill>
                <a:latin typeface="Arial"/>
                <a:cs typeface="Arial"/>
              </a:rPr>
              <a:t>search</a:t>
            </a:r>
            <a:r>
              <a:rPr sz="650" dirty="0">
                <a:solidFill>
                  <a:srgbClr val="231F20"/>
                </a:solidFill>
                <a:latin typeface="Arial"/>
                <a:cs typeface="Arial"/>
              </a:rPr>
              <a:t> </a:t>
            </a:r>
            <a:r>
              <a:rPr sz="650" spc="5" dirty="0">
                <a:solidFill>
                  <a:srgbClr val="231F20"/>
                </a:solidFill>
                <a:latin typeface="Arial"/>
                <a:cs typeface="Arial"/>
              </a:rPr>
              <a:t>engine</a:t>
            </a:r>
            <a:endParaRPr sz="650">
              <a:latin typeface="Arial"/>
              <a:cs typeface="Arial"/>
            </a:endParaRPr>
          </a:p>
        </p:txBody>
      </p:sp>
      <p:sp>
        <p:nvSpPr>
          <p:cNvPr id="13" name="object 13"/>
          <p:cNvSpPr txBox="1"/>
          <p:nvPr/>
        </p:nvSpPr>
        <p:spPr>
          <a:xfrm>
            <a:off x="2504443" y="2532031"/>
            <a:ext cx="633095" cy="316865"/>
          </a:xfrm>
          <a:prstGeom prst="rect">
            <a:avLst/>
          </a:prstGeom>
          <a:ln w="5270">
            <a:solidFill>
              <a:srgbClr val="231F20"/>
            </a:solidFill>
          </a:ln>
        </p:spPr>
        <p:txBody>
          <a:bodyPr vert="horz" wrap="square" lIns="0" tIns="19050" rIns="0" bIns="0" rtlCol="0">
            <a:spAutoFit/>
          </a:bodyPr>
          <a:lstStyle/>
          <a:p>
            <a:pPr marL="22225" marR="11430" algn="ctr">
              <a:lnSpc>
                <a:spcPts val="740"/>
              </a:lnSpc>
              <a:spcBef>
                <a:spcPts val="150"/>
              </a:spcBef>
            </a:pPr>
            <a:r>
              <a:rPr sz="650" spc="5" dirty="0">
                <a:solidFill>
                  <a:srgbClr val="231F20"/>
                </a:solidFill>
                <a:latin typeface="Arial"/>
                <a:cs typeface="Arial"/>
              </a:rPr>
              <a:t>List of nodes </a:t>
            </a:r>
            <a:r>
              <a:rPr sz="650" spc="10" dirty="0">
                <a:solidFill>
                  <a:srgbClr val="231F20"/>
                </a:solidFill>
                <a:latin typeface="Arial"/>
                <a:cs typeface="Arial"/>
              </a:rPr>
              <a:t> </a:t>
            </a:r>
            <a:r>
              <a:rPr sz="650" spc="5" dirty="0">
                <a:solidFill>
                  <a:srgbClr val="231F20"/>
                </a:solidFill>
                <a:latin typeface="Arial"/>
                <a:cs typeface="Arial"/>
              </a:rPr>
              <a:t>with</a:t>
            </a:r>
            <a:r>
              <a:rPr sz="650" spc="-40" dirty="0">
                <a:solidFill>
                  <a:srgbClr val="231F20"/>
                </a:solidFill>
                <a:latin typeface="Arial"/>
                <a:cs typeface="Arial"/>
              </a:rPr>
              <a:t> </a:t>
            </a:r>
            <a:r>
              <a:rPr sz="650" spc="5" dirty="0">
                <a:solidFill>
                  <a:srgbClr val="231F20"/>
                </a:solidFill>
                <a:latin typeface="Arial"/>
                <a:cs typeface="Arial"/>
              </a:rPr>
              <a:t>(chunks</a:t>
            </a:r>
            <a:r>
              <a:rPr sz="650" spc="-35" dirty="0">
                <a:solidFill>
                  <a:srgbClr val="231F20"/>
                </a:solidFill>
                <a:latin typeface="Arial"/>
                <a:cs typeface="Arial"/>
              </a:rPr>
              <a:t> </a:t>
            </a:r>
            <a:r>
              <a:rPr sz="650" spc="5" dirty="0">
                <a:solidFill>
                  <a:srgbClr val="231F20"/>
                </a:solidFill>
                <a:latin typeface="Arial"/>
                <a:cs typeface="Arial"/>
              </a:rPr>
              <a:t>of) </a:t>
            </a:r>
            <a:r>
              <a:rPr sz="650" spc="-170" dirty="0">
                <a:solidFill>
                  <a:srgbClr val="231F20"/>
                </a:solidFill>
                <a:latin typeface="Arial"/>
                <a:cs typeface="Arial"/>
              </a:rPr>
              <a:t> </a:t>
            </a:r>
            <a:r>
              <a:rPr sz="650" dirty="0">
                <a:solidFill>
                  <a:srgbClr val="231F20"/>
                </a:solidFill>
                <a:latin typeface="Arial"/>
                <a:cs typeface="Arial"/>
              </a:rPr>
              <a:t>file</a:t>
            </a:r>
            <a:r>
              <a:rPr sz="650" spc="-5" dirty="0">
                <a:solidFill>
                  <a:srgbClr val="231F20"/>
                </a:solidFill>
                <a:latin typeface="Arial"/>
                <a:cs typeface="Arial"/>
              </a:rPr>
              <a:t> </a:t>
            </a:r>
            <a:r>
              <a:rPr sz="650" spc="5" dirty="0">
                <a:solidFill>
                  <a:srgbClr val="231F20"/>
                </a:solidFill>
                <a:latin typeface="Arial"/>
                <a:cs typeface="Arial"/>
              </a:rPr>
              <a:t>F</a:t>
            </a:r>
            <a:endParaRPr sz="650">
              <a:latin typeface="Arial"/>
              <a:cs typeface="Arial"/>
            </a:endParaRPr>
          </a:p>
        </p:txBody>
      </p:sp>
      <p:sp>
        <p:nvSpPr>
          <p:cNvPr id="14" name="object 14"/>
          <p:cNvSpPr txBox="1"/>
          <p:nvPr/>
        </p:nvSpPr>
        <p:spPr>
          <a:xfrm>
            <a:off x="585178" y="2855690"/>
            <a:ext cx="4552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a:t>
            </a:r>
            <a:r>
              <a:rPr sz="650" spc="5" dirty="0">
                <a:solidFill>
                  <a:srgbClr val="231F20"/>
                </a:solidFill>
                <a:latin typeface="Arial"/>
                <a:cs typeface="Arial"/>
              </a:rPr>
              <a:t>eb</a:t>
            </a:r>
            <a:r>
              <a:rPr sz="650"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15" name="object 15"/>
          <p:cNvSpPr txBox="1"/>
          <p:nvPr/>
        </p:nvSpPr>
        <p:spPr>
          <a:xfrm>
            <a:off x="1622631" y="2855690"/>
            <a:ext cx="4191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File server</a:t>
            </a:r>
            <a:endParaRPr sz="650">
              <a:latin typeface="Arial"/>
              <a:cs typeface="Arial"/>
            </a:endParaRPr>
          </a:p>
        </p:txBody>
      </p:sp>
      <p:sp>
        <p:nvSpPr>
          <p:cNvPr id="16" name="object 16"/>
          <p:cNvSpPr txBox="1"/>
          <p:nvPr/>
        </p:nvSpPr>
        <p:spPr>
          <a:xfrm>
            <a:off x="2629606" y="2855690"/>
            <a:ext cx="308610" cy="127000"/>
          </a:xfrm>
          <a:prstGeom prst="rect">
            <a:avLst/>
          </a:prstGeom>
        </p:spPr>
        <p:txBody>
          <a:bodyPr vert="horz" wrap="square" lIns="0" tIns="13970" rIns="0" bIns="0" rtlCol="0">
            <a:spAutoFit/>
          </a:bodyPr>
          <a:lstStyle/>
          <a:p>
            <a:pPr marL="12700">
              <a:lnSpc>
                <a:spcPct val="100000"/>
              </a:lnSpc>
              <a:spcBef>
                <a:spcPts val="110"/>
              </a:spcBef>
            </a:pPr>
            <a:r>
              <a:rPr sz="650" spc="-20" dirty="0">
                <a:solidFill>
                  <a:srgbClr val="231F20"/>
                </a:solidFill>
                <a:latin typeface="Arial"/>
                <a:cs typeface="Arial"/>
              </a:rPr>
              <a:t>T</a:t>
            </a:r>
            <a:r>
              <a:rPr sz="650" spc="5" dirty="0">
                <a:solidFill>
                  <a:srgbClr val="231F20"/>
                </a:solidFill>
                <a:latin typeface="Arial"/>
                <a:cs typeface="Arial"/>
              </a:rPr>
              <a:t>racker</a:t>
            </a:r>
            <a:endParaRPr sz="650">
              <a:latin typeface="Arial"/>
              <a:cs typeface="Arial"/>
            </a:endParaRPr>
          </a:p>
        </p:txBody>
      </p:sp>
      <p:grpSp>
        <p:nvGrpSpPr>
          <p:cNvPr id="17" name="object 17"/>
          <p:cNvGrpSpPr/>
          <p:nvPr/>
        </p:nvGrpSpPr>
        <p:grpSpPr>
          <a:xfrm>
            <a:off x="726580" y="2139606"/>
            <a:ext cx="3068955" cy="945515"/>
            <a:chOff x="726580" y="2139606"/>
            <a:chExt cx="3068955" cy="945515"/>
          </a:xfrm>
        </p:grpSpPr>
        <p:sp>
          <p:nvSpPr>
            <p:cNvPr id="18" name="object 18"/>
            <p:cNvSpPr/>
            <p:nvPr/>
          </p:nvSpPr>
          <p:spPr>
            <a:xfrm>
              <a:off x="3320186" y="2517305"/>
              <a:ext cx="48895" cy="340995"/>
            </a:xfrm>
            <a:custGeom>
              <a:avLst/>
              <a:gdLst/>
              <a:ahLst/>
              <a:cxnLst/>
              <a:rect l="l" t="t" r="r" b="b"/>
              <a:pathLst>
                <a:path w="48895" h="340994">
                  <a:moveTo>
                    <a:pt x="37947" y="302768"/>
                  </a:moveTo>
                  <a:lnTo>
                    <a:pt x="0" y="302768"/>
                  </a:lnTo>
                  <a:lnTo>
                    <a:pt x="0" y="340715"/>
                  </a:lnTo>
                  <a:lnTo>
                    <a:pt x="37947" y="340715"/>
                  </a:lnTo>
                  <a:lnTo>
                    <a:pt x="37947" y="302768"/>
                  </a:lnTo>
                  <a:close/>
                </a:path>
                <a:path w="48895" h="340994">
                  <a:moveTo>
                    <a:pt x="39966" y="0"/>
                  </a:moveTo>
                  <a:lnTo>
                    <a:pt x="2019" y="0"/>
                  </a:lnTo>
                  <a:lnTo>
                    <a:pt x="2019" y="37947"/>
                  </a:lnTo>
                  <a:lnTo>
                    <a:pt x="39966" y="37947"/>
                  </a:lnTo>
                  <a:lnTo>
                    <a:pt x="39966" y="0"/>
                  </a:lnTo>
                  <a:close/>
                </a:path>
                <a:path w="48895" h="340994">
                  <a:moveTo>
                    <a:pt x="48844" y="105003"/>
                  </a:moveTo>
                  <a:lnTo>
                    <a:pt x="10896" y="105003"/>
                  </a:lnTo>
                  <a:lnTo>
                    <a:pt x="10896" y="142951"/>
                  </a:lnTo>
                  <a:lnTo>
                    <a:pt x="48844" y="142951"/>
                  </a:lnTo>
                  <a:lnTo>
                    <a:pt x="48844" y="105003"/>
                  </a:lnTo>
                  <a:close/>
                </a:path>
              </a:pathLst>
            </a:custGeom>
            <a:solidFill>
              <a:srgbClr val="FFFFFF"/>
            </a:solidFill>
          </p:spPr>
          <p:txBody>
            <a:bodyPr wrap="square" lIns="0" tIns="0" rIns="0" bIns="0" rtlCol="0"/>
            <a:lstStyle/>
            <a:p>
              <a:endParaRPr/>
            </a:p>
          </p:txBody>
        </p:sp>
        <p:sp>
          <p:nvSpPr>
            <p:cNvPr id="19" name="object 19"/>
            <p:cNvSpPr/>
            <p:nvPr/>
          </p:nvSpPr>
          <p:spPr>
            <a:xfrm>
              <a:off x="3137767" y="2373909"/>
              <a:ext cx="579120" cy="257810"/>
            </a:xfrm>
            <a:custGeom>
              <a:avLst/>
              <a:gdLst/>
              <a:ahLst/>
              <a:cxnLst/>
              <a:rect l="l" t="t" r="r" b="b"/>
              <a:pathLst>
                <a:path w="579120" h="257810">
                  <a:moveTo>
                    <a:pt x="578974" y="0"/>
                  </a:moveTo>
                  <a:lnTo>
                    <a:pt x="0" y="257295"/>
                  </a:lnTo>
                  <a:lnTo>
                    <a:pt x="578974" y="0"/>
                  </a:lnTo>
                  <a:close/>
                </a:path>
              </a:pathLst>
            </a:custGeom>
            <a:solidFill>
              <a:srgbClr val="231F20"/>
            </a:solidFill>
          </p:spPr>
          <p:txBody>
            <a:bodyPr wrap="square" lIns="0" tIns="0" rIns="0" bIns="0" rtlCol="0"/>
            <a:lstStyle/>
            <a:p>
              <a:endParaRPr/>
            </a:p>
          </p:txBody>
        </p:sp>
        <p:sp>
          <p:nvSpPr>
            <p:cNvPr id="20" name="object 20"/>
            <p:cNvSpPr/>
            <p:nvPr/>
          </p:nvSpPr>
          <p:spPr>
            <a:xfrm>
              <a:off x="3137767" y="2373909"/>
              <a:ext cx="579120" cy="257810"/>
            </a:xfrm>
            <a:custGeom>
              <a:avLst/>
              <a:gdLst/>
              <a:ahLst/>
              <a:cxnLst/>
              <a:rect l="l" t="t" r="r" b="b"/>
              <a:pathLst>
                <a:path w="579120" h="257810">
                  <a:moveTo>
                    <a:pt x="0" y="257295"/>
                  </a:moveTo>
                  <a:lnTo>
                    <a:pt x="578974" y="0"/>
                  </a:lnTo>
                  <a:lnTo>
                    <a:pt x="0" y="257295"/>
                  </a:lnTo>
                  <a:close/>
                </a:path>
              </a:pathLst>
            </a:custGeom>
            <a:ln w="5270">
              <a:solidFill>
                <a:srgbClr val="231F20"/>
              </a:solidFill>
            </a:ln>
          </p:spPr>
          <p:txBody>
            <a:bodyPr wrap="square" lIns="0" tIns="0" rIns="0" bIns="0" rtlCol="0"/>
            <a:lstStyle/>
            <a:p>
              <a:endParaRPr/>
            </a:p>
          </p:txBody>
        </p:sp>
        <p:pic>
          <p:nvPicPr>
            <p:cNvPr id="21" name="object 21"/>
            <p:cNvPicPr/>
            <p:nvPr/>
          </p:nvPicPr>
          <p:blipFill>
            <a:blip r:embed="rId6" cstate="print"/>
            <a:stretch>
              <a:fillRect/>
            </a:stretch>
          </p:blipFill>
          <p:spPr>
            <a:xfrm>
              <a:off x="3638201" y="2295378"/>
              <a:ext cx="157071" cy="157061"/>
            </a:xfrm>
            <a:prstGeom prst="rect">
              <a:avLst/>
            </a:prstGeom>
          </p:spPr>
        </p:pic>
        <p:sp>
          <p:nvSpPr>
            <p:cNvPr id="22" name="object 22"/>
            <p:cNvSpPr/>
            <p:nvPr/>
          </p:nvSpPr>
          <p:spPr>
            <a:xfrm>
              <a:off x="3137767" y="2745051"/>
              <a:ext cx="579120" cy="261620"/>
            </a:xfrm>
            <a:custGeom>
              <a:avLst/>
              <a:gdLst/>
              <a:ahLst/>
              <a:cxnLst/>
              <a:rect l="l" t="t" r="r" b="b"/>
              <a:pathLst>
                <a:path w="579120" h="261619">
                  <a:moveTo>
                    <a:pt x="0" y="0"/>
                  </a:moveTo>
                  <a:lnTo>
                    <a:pt x="578974" y="261354"/>
                  </a:lnTo>
                  <a:lnTo>
                    <a:pt x="0" y="0"/>
                  </a:lnTo>
                  <a:close/>
                </a:path>
              </a:pathLst>
            </a:custGeom>
            <a:solidFill>
              <a:srgbClr val="231F20"/>
            </a:solidFill>
          </p:spPr>
          <p:txBody>
            <a:bodyPr wrap="square" lIns="0" tIns="0" rIns="0" bIns="0" rtlCol="0"/>
            <a:lstStyle/>
            <a:p>
              <a:endParaRPr/>
            </a:p>
          </p:txBody>
        </p:sp>
        <p:sp>
          <p:nvSpPr>
            <p:cNvPr id="23" name="object 23"/>
            <p:cNvSpPr/>
            <p:nvPr/>
          </p:nvSpPr>
          <p:spPr>
            <a:xfrm>
              <a:off x="3137767" y="2745051"/>
              <a:ext cx="579120" cy="261620"/>
            </a:xfrm>
            <a:custGeom>
              <a:avLst/>
              <a:gdLst/>
              <a:ahLst/>
              <a:cxnLst/>
              <a:rect l="l" t="t" r="r" b="b"/>
              <a:pathLst>
                <a:path w="579120" h="261619">
                  <a:moveTo>
                    <a:pt x="0" y="0"/>
                  </a:moveTo>
                  <a:lnTo>
                    <a:pt x="578974" y="261354"/>
                  </a:lnTo>
                  <a:lnTo>
                    <a:pt x="0" y="0"/>
                  </a:lnTo>
                  <a:close/>
                </a:path>
              </a:pathLst>
            </a:custGeom>
            <a:ln w="5270">
              <a:solidFill>
                <a:srgbClr val="231F20"/>
              </a:solidFill>
            </a:ln>
          </p:spPr>
          <p:txBody>
            <a:bodyPr wrap="square" lIns="0" tIns="0" rIns="0" bIns="0" rtlCol="0"/>
            <a:lstStyle/>
            <a:p>
              <a:endParaRPr/>
            </a:p>
          </p:txBody>
        </p:sp>
        <p:pic>
          <p:nvPicPr>
            <p:cNvPr id="24" name="object 24"/>
            <p:cNvPicPr/>
            <p:nvPr/>
          </p:nvPicPr>
          <p:blipFill>
            <a:blip r:embed="rId7" cstate="print"/>
            <a:stretch>
              <a:fillRect/>
            </a:stretch>
          </p:blipFill>
          <p:spPr>
            <a:xfrm>
              <a:off x="3638201" y="2927879"/>
              <a:ext cx="157071" cy="157061"/>
            </a:xfrm>
            <a:prstGeom prst="rect">
              <a:avLst/>
            </a:prstGeom>
          </p:spPr>
        </p:pic>
        <p:pic>
          <p:nvPicPr>
            <p:cNvPr id="25" name="object 25"/>
            <p:cNvPicPr/>
            <p:nvPr/>
          </p:nvPicPr>
          <p:blipFill>
            <a:blip r:embed="rId8" cstate="print"/>
            <a:stretch>
              <a:fillRect/>
            </a:stretch>
          </p:blipFill>
          <p:spPr>
            <a:xfrm>
              <a:off x="726580" y="2139606"/>
              <a:ext cx="157061" cy="157056"/>
            </a:xfrm>
            <a:prstGeom prst="rect">
              <a:avLst/>
            </a:prstGeom>
          </p:spPr>
        </p:pic>
        <p:sp>
          <p:nvSpPr>
            <p:cNvPr id="26" name="object 26"/>
            <p:cNvSpPr/>
            <p:nvPr/>
          </p:nvSpPr>
          <p:spPr>
            <a:xfrm>
              <a:off x="918385" y="2218133"/>
              <a:ext cx="2376805" cy="156210"/>
            </a:xfrm>
            <a:custGeom>
              <a:avLst/>
              <a:gdLst/>
              <a:ahLst/>
              <a:cxnLst/>
              <a:rect l="l" t="t" r="r" b="b"/>
              <a:pathLst>
                <a:path w="2376804" h="156210">
                  <a:moveTo>
                    <a:pt x="2376685" y="155775"/>
                  </a:moveTo>
                  <a:lnTo>
                    <a:pt x="2376685" y="0"/>
                  </a:lnTo>
                  <a:lnTo>
                    <a:pt x="0" y="0"/>
                  </a:lnTo>
                </a:path>
              </a:pathLst>
            </a:custGeom>
            <a:ln w="5270">
              <a:solidFill>
                <a:srgbClr val="231F20"/>
              </a:solidFill>
            </a:ln>
          </p:spPr>
          <p:txBody>
            <a:bodyPr wrap="square" lIns="0" tIns="0" rIns="0" bIns="0" rtlCol="0"/>
            <a:lstStyle/>
            <a:p>
              <a:endParaRPr/>
            </a:p>
          </p:txBody>
        </p:sp>
        <p:pic>
          <p:nvPicPr>
            <p:cNvPr id="27" name="object 27"/>
            <p:cNvPicPr/>
            <p:nvPr/>
          </p:nvPicPr>
          <p:blipFill>
            <a:blip r:embed="rId9" cstate="print"/>
            <a:stretch>
              <a:fillRect/>
            </a:stretch>
          </p:blipFill>
          <p:spPr>
            <a:xfrm>
              <a:off x="881006" y="2186255"/>
              <a:ext cx="74376" cy="63751"/>
            </a:xfrm>
            <a:prstGeom prst="rect">
              <a:avLst/>
            </a:prstGeom>
          </p:spPr>
        </p:pic>
        <p:sp>
          <p:nvSpPr>
            <p:cNvPr id="28" name="object 28"/>
            <p:cNvSpPr/>
            <p:nvPr/>
          </p:nvSpPr>
          <p:spPr>
            <a:xfrm>
              <a:off x="805111" y="2294028"/>
              <a:ext cx="0" cy="190500"/>
            </a:xfrm>
            <a:custGeom>
              <a:avLst/>
              <a:gdLst/>
              <a:ahLst/>
              <a:cxnLst/>
              <a:rect l="l" t="t" r="r" b="b"/>
              <a:pathLst>
                <a:path h="190500">
                  <a:moveTo>
                    <a:pt x="0" y="0"/>
                  </a:moveTo>
                  <a:lnTo>
                    <a:pt x="0" y="190306"/>
                  </a:lnTo>
                </a:path>
              </a:pathLst>
            </a:custGeom>
            <a:ln w="5270">
              <a:solidFill>
                <a:srgbClr val="231F20"/>
              </a:solidFill>
            </a:ln>
          </p:spPr>
          <p:txBody>
            <a:bodyPr wrap="square" lIns="0" tIns="0" rIns="0" bIns="0" rtlCol="0"/>
            <a:lstStyle/>
            <a:p>
              <a:endParaRPr/>
            </a:p>
          </p:txBody>
        </p:sp>
        <p:sp>
          <p:nvSpPr>
            <p:cNvPr id="29" name="object 29"/>
            <p:cNvSpPr/>
            <p:nvPr/>
          </p:nvSpPr>
          <p:spPr>
            <a:xfrm>
              <a:off x="773226" y="2447340"/>
              <a:ext cx="64135" cy="74930"/>
            </a:xfrm>
            <a:custGeom>
              <a:avLst/>
              <a:gdLst/>
              <a:ahLst/>
              <a:cxnLst/>
              <a:rect l="l" t="t" r="r" b="b"/>
              <a:pathLst>
                <a:path w="64134" h="74930">
                  <a:moveTo>
                    <a:pt x="63754" y="0"/>
                  </a:moveTo>
                  <a:lnTo>
                    <a:pt x="47815" y="5981"/>
                  </a:lnTo>
                  <a:lnTo>
                    <a:pt x="31877" y="7975"/>
                  </a:lnTo>
                  <a:lnTo>
                    <a:pt x="15938" y="5981"/>
                  </a:lnTo>
                  <a:lnTo>
                    <a:pt x="0" y="0"/>
                  </a:lnTo>
                  <a:lnTo>
                    <a:pt x="31877" y="74383"/>
                  </a:lnTo>
                  <a:lnTo>
                    <a:pt x="63754" y="0"/>
                  </a:lnTo>
                  <a:close/>
                </a:path>
              </a:pathLst>
            </a:custGeom>
            <a:solidFill>
              <a:srgbClr val="231F20"/>
            </a:solidFill>
          </p:spPr>
          <p:txBody>
            <a:bodyPr wrap="square" lIns="0" tIns="0" rIns="0" bIns="0" rtlCol="0"/>
            <a:lstStyle/>
            <a:p>
              <a:endParaRPr/>
            </a:p>
          </p:txBody>
        </p:sp>
        <p:sp>
          <p:nvSpPr>
            <p:cNvPr id="30" name="object 30"/>
            <p:cNvSpPr/>
            <p:nvPr/>
          </p:nvSpPr>
          <p:spPr>
            <a:xfrm>
              <a:off x="3137767" y="2584741"/>
              <a:ext cx="579120" cy="84455"/>
            </a:xfrm>
            <a:custGeom>
              <a:avLst/>
              <a:gdLst/>
              <a:ahLst/>
              <a:cxnLst/>
              <a:rect l="l" t="t" r="r" b="b"/>
              <a:pathLst>
                <a:path w="579120" h="84455">
                  <a:moveTo>
                    <a:pt x="0" y="84410"/>
                  </a:moveTo>
                  <a:lnTo>
                    <a:pt x="578974" y="0"/>
                  </a:lnTo>
                  <a:lnTo>
                    <a:pt x="0" y="84410"/>
                  </a:lnTo>
                  <a:close/>
                </a:path>
              </a:pathLst>
            </a:custGeom>
            <a:ln w="5270">
              <a:solidFill>
                <a:srgbClr val="231F20"/>
              </a:solidFill>
            </a:ln>
          </p:spPr>
          <p:txBody>
            <a:bodyPr wrap="square" lIns="0" tIns="0" rIns="0" bIns="0" rtlCol="0"/>
            <a:lstStyle/>
            <a:p>
              <a:endParaRPr/>
            </a:p>
          </p:txBody>
        </p:sp>
        <p:pic>
          <p:nvPicPr>
            <p:cNvPr id="31" name="object 31"/>
            <p:cNvPicPr/>
            <p:nvPr/>
          </p:nvPicPr>
          <p:blipFill>
            <a:blip r:embed="rId10" cstate="print"/>
            <a:stretch>
              <a:fillRect/>
            </a:stretch>
          </p:blipFill>
          <p:spPr>
            <a:xfrm>
              <a:off x="3638201" y="2506211"/>
              <a:ext cx="157071" cy="157061"/>
            </a:xfrm>
            <a:prstGeom prst="rect">
              <a:avLst/>
            </a:prstGeom>
          </p:spPr>
        </p:pic>
        <p:sp>
          <p:nvSpPr>
            <p:cNvPr id="32" name="object 32"/>
            <p:cNvSpPr/>
            <p:nvPr/>
          </p:nvSpPr>
          <p:spPr>
            <a:xfrm>
              <a:off x="1134031" y="2690164"/>
              <a:ext cx="332105" cy="0"/>
            </a:xfrm>
            <a:custGeom>
              <a:avLst/>
              <a:gdLst/>
              <a:ahLst/>
              <a:cxnLst/>
              <a:rect l="l" t="t" r="r" b="b"/>
              <a:pathLst>
                <a:path w="332105">
                  <a:moveTo>
                    <a:pt x="0" y="0"/>
                  </a:moveTo>
                  <a:lnTo>
                    <a:pt x="331576" y="0"/>
                  </a:lnTo>
                </a:path>
              </a:pathLst>
            </a:custGeom>
            <a:ln w="5270">
              <a:solidFill>
                <a:srgbClr val="231F20"/>
              </a:solidFill>
            </a:ln>
          </p:spPr>
          <p:txBody>
            <a:bodyPr wrap="square" lIns="0" tIns="0" rIns="0" bIns="0" rtlCol="0"/>
            <a:lstStyle/>
            <a:p>
              <a:endParaRPr/>
            </a:p>
          </p:txBody>
        </p:sp>
        <p:pic>
          <p:nvPicPr>
            <p:cNvPr id="33" name="object 33"/>
            <p:cNvPicPr/>
            <p:nvPr/>
          </p:nvPicPr>
          <p:blipFill>
            <a:blip r:embed="rId11" cstate="print"/>
            <a:stretch>
              <a:fillRect/>
            </a:stretch>
          </p:blipFill>
          <p:spPr>
            <a:xfrm>
              <a:off x="1428611" y="2658289"/>
              <a:ext cx="74379" cy="63753"/>
            </a:xfrm>
            <a:prstGeom prst="rect">
              <a:avLst/>
            </a:prstGeom>
          </p:spPr>
        </p:pic>
        <p:sp>
          <p:nvSpPr>
            <p:cNvPr id="34" name="object 34"/>
            <p:cNvSpPr/>
            <p:nvPr/>
          </p:nvSpPr>
          <p:spPr>
            <a:xfrm>
              <a:off x="2135487" y="2690164"/>
              <a:ext cx="332105" cy="0"/>
            </a:xfrm>
            <a:custGeom>
              <a:avLst/>
              <a:gdLst/>
              <a:ahLst/>
              <a:cxnLst/>
              <a:rect l="l" t="t" r="r" b="b"/>
              <a:pathLst>
                <a:path w="332105">
                  <a:moveTo>
                    <a:pt x="0" y="0"/>
                  </a:moveTo>
                  <a:lnTo>
                    <a:pt x="331577" y="0"/>
                  </a:lnTo>
                </a:path>
              </a:pathLst>
            </a:custGeom>
            <a:ln w="5270">
              <a:solidFill>
                <a:srgbClr val="231F20"/>
              </a:solidFill>
            </a:ln>
          </p:spPr>
          <p:txBody>
            <a:bodyPr wrap="square" lIns="0" tIns="0" rIns="0" bIns="0" rtlCol="0"/>
            <a:lstStyle/>
            <a:p>
              <a:endParaRPr/>
            </a:p>
          </p:txBody>
        </p:sp>
        <p:pic>
          <p:nvPicPr>
            <p:cNvPr id="35" name="object 35"/>
            <p:cNvPicPr/>
            <p:nvPr/>
          </p:nvPicPr>
          <p:blipFill>
            <a:blip r:embed="rId12" cstate="print"/>
            <a:stretch>
              <a:fillRect/>
            </a:stretch>
          </p:blipFill>
          <p:spPr>
            <a:xfrm>
              <a:off x="2430076" y="2658289"/>
              <a:ext cx="74366" cy="63753"/>
            </a:xfrm>
            <a:prstGeom prst="rect">
              <a:avLst/>
            </a:prstGeom>
          </p:spPr>
        </p:pic>
      </p:grpSp>
      <p:sp>
        <p:nvSpPr>
          <p:cNvPr id="36" name="object 36"/>
          <p:cNvSpPr txBox="1"/>
          <p:nvPr/>
        </p:nvSpPr>
        <p:spPr>
          <a:xfrm>
            <a:off x="617047" y="1956669"/>
            <a:ext cx="1577975" cy="253365"/>
          </a:xfrm>
          <a:prstGeom prst="rect">
            <a:avLst/>
          </a:prstGeom>
        </p:spPr>
        <p:txBody>
          <a:bodyPr vert="horz" wrap="square" lIns="0" tIns="26670" rIns="0" bIns="0" rtlCol="0">
            <a:spAutoFit/>
          </a:bodyPr>
          <a:lstStyle/>
          <a:p>
            <a:pPr marL="12700">
              <a:lnSpc>
                <a:spcPct val="100000"/>
              </a:lnSpc>
              <a:spcBef>
                <a:spcPts val="210"/>
              </a:spcBef>
            </a:pPr>
            <a:r>
              <a:rPr sz="650" spc="5" dirty="0">
                <a:solidFill>
                  <a:srgbClr val="231F20"/>
                </a:solidFill>
                <a:latin typeface="Arial"/>
                <a:cs typeface="Arial"/>
              </a:rPr>
              <a:t>Client</a:t>
            </a:r>
            <a:r>
              <a:rPr sz="650" spc="-4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p>
            <a:pPr marL="935990">
              <a:lnSpc>
                <a:spcPct val="100000"/>
              </a:lnSpc>
              <a:spcBef>
                <a:spcPts val="120"/>
              </a:spcBef>
            </a:pPr>
            <a:r>
              <a:rPr sz="650" spc="5" dirty="0">
                <a:solidFill>
                  <a:srgbClr val="231F20"/>
                </a:solidFill>
                <a:latin typeface="Arial"/>
                <a:cs typeface="Arial"/>
              </a:rPr>
              <a:t>K</a:t>
            </a:r>
            <a:r>
              <a:rPr sz="650" spc="-20" dirty="0">
                <a:solidFill>
                  <a:srgbClr val="231F20"/>
                </a:solidFill>
                <a:latin typeface="Arial"/>
                <a:cs typeface="Arial"/>
              </a:rPr>
              <a:t> </a:t>
            </a:r>
            <a:r>
              <a:rPr sz="650" spc="5" dirty="0">
                <a:solidFill>
                  <a:srgbClr val="231F20"/>
                </a:solidFill>
                <a:latin typeface="Arial"/>
                <a:cs typeface="Arial"/>
              </a:rPr>
              <a:t>out</a:t>
            </a:r>
            <a:r>
              <a:rPr sz="650" spc="-15" dirty="0">
                <a:solidFill>
                  <a:srgbClr val="231F20"/>
                </a:solidFill>
                <a:latin typeface="Arial"/>
                <a:cs typeface="Arial"/>
              </a:rPr>
              <a:t> </a:t>
            </a:r>
            <a:r>
              <a:rPr sz="650" spc="5" dirty="0">
                <a:solidFill>
                  <a:srgbClr val="231F20"/>
                </a:solidFill>
                <a:latin typeface="Arial"/>
                <a:cs typeface="Arial"/>
              </a:rPr>
              <a:t>of</a:t>
            </a:r>
            <a:r>
              <a:rPr sz="650" spc="-15" dirty="0">
                <a:solidFill>
                  <a:srgbClr val="231F20"/>
                </a:solidFill>
                <a:latin typeface="Arial"/>
                <a:cs typeface="Arial"/>
              </a:rPr>
              <a:t> </a:t>
            </a:r>
            <a:r>
              <a:rPr sz="650" spc="10" dirty="0">
                <a:solidFill>
                  <a:srgbClr val="231F20"/>
                </a:solidFill>
                <a:latin typeface="Arial"/>
                <a:cs typeface="Arial"/>
              </a:rPr>
              <a:t>N</a:t>
            </a:r>
            <a:r>
              <a:rPr sz="650" spc="-20" dirty="0">
                <a:solidFill>
                  <a:srgbClr val="231F20"/>
                </a:solidFill>
                <a:latin typeface="Arial"/>
                <a:cs typeface="Arial"/>
              </a:rPr>
              <a:t> </a:t>
            </a:r>
            <a:r>
              <a:rPr sz="650" spc="5" dirty="0">
                <a:solidFill>
                  <a:srgbClr val="231F20"/>
                </a:solidFill>
                <a:latin typeface="Arial"/>
                <a:cs typeface="Arial"/>
              </a:rPr>
              <a:t>nodes</a:t>
            </a:r>
            <a:endParaRPr sz="650">
              <a:latin typeface="Arial"/>
              <a:cs typeface="Arial"/>
            </a:endParaRPr>
          </a:p>
        </p:txBody>
      </p:sp>
      <p:sp>
        <p:nvSpPr>
          <p:cNvPr id="38" name="object 38"/>
          <p:cNvSpPr txBox="1"/>
          <p:nvPr/>
        </p:nvSpPr>
        <p:spPr>
          <a:xfrm>
            <a:off x="66713" y="3331252"/>
            <a:ext cx="1136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3" action="ppaction://hlinksldjump"/>
              </a:rPr>
              <a:t>Collaborative</a:t>
            </a:r>
            <a:r>
              <a:rPr sz="600" spc="-10" dirty="0">
                <a:solidFill>
                  <a:srgbClr val="3333B2"/>
                </a:solidFill>
                <a:latin typeface="Arial"/>
                <a:cs typeface="Arial"/>
                <a:hlinkClick r:id="rId13" action="ppaction://hlinksldjump"/>
              </a:rPr>
              <a:t> </a:t>
            </a:r>
            <a:r>
              <a:rPr sz="600" spc="-5" dirty="0">
                <a:solidFill>
                  <a:srgbClr val="3333B2"/>
                </a:solidFill>
                <a:latin typeface="Arial"/>
                <a:cs typeface="Arial"/>
                <a:hlinkClick r:id="rId13" action="ppaction://hlinksldjump"/>
              </a:rPr>
              <a:t>distributed</a:t>
            </a:r>
            <a:r>
              <a:rPr sz="600" spc="-10" dirty="0">
                <a:solidFill>
                  <a:srgbClr val="3333B2"/>
                </a:solidFill>
                <a:latin typeface="Arial"/>
                <a:cs typeface="Arial"/>
                <a:hlinkClick r:id="rId13" action="ppaction://hlinksldjump"/>
              </a:rPr>
              <a:t> </a:t>
            </a:r>
            <a:r>
              <a:rPr sz="600" spc="-5" dirty="0">
                <a:solidFill>
                  <a:srgbClr val="3333B2"/>
                </a:solidFill>
                <a:latin typeface="Arial"/>
                <a:cs typeface="Arial"/>
                <a:hlinkClick r:id="rId13" action="ppaction://hlinksldjump"/>
              </a:rPr>
              <a:t>systems</a:t>
            </a:r>
            <a:endParaRPr sz="600">
              <a:latin typeface="Arial"/>
              <a:cs typeface="Arial"/>
            </a:endParaRPr>
          </a:p>
        </p:txBody>
      </p:sp>
      <p:sp>
        <p:nvSpPr>
          <p:cNvPr id="39" name="object 3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36</a:t>
            </a:r>
          </a:p>
        </p:txBody>
      </p:sp>
      <p:sp>
        <p:nvSpPr>
          <p:cNvPr id="37" name="object 37"/>
          <p:cNvSpPr txBox="1"/>
          <p:nvPr/>
        </p:nvSpPr>
        <p:spPr>
          <a:xfrm>
            <a:off x="832134" y="2315065"/>
            <a:ext cx="4102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Lookup(F)</a:t>
            </a:r>
            <a:endParaRPr sz="65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136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Collaborative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34</a:t>
            </a:r>
            <a:r>
              <a:rPr spc="-40" dirty="0"/>
              <a:t> </a:t>
            </a:r>
            <a:r>
              <a:rPr spc="-5" dirty="0"/>
              <a:t>/</a:t>
            </a:r>
            <a:r>
              <a:rPr spc="-35" dirty="0"/>
              <a:t> </a:t>
            </a:r>
            <a:r>
              <a:rPr spc="-5" dirty="0"/>
              <a:t>36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76979" algn="l"/>
              </a:tabLst>
            </a:pPr>
            <a:r>
              <a:rPr sz="600" spc="-5" dirty="0">
                <a:solidFill>
                  <a:srgbClr val="3333B2"/>
                </a:solidFill>
                <a:latin typeface="Arial"/>
                <a:cs typeface="Arial"/>
                <a:hlinkClick r:id="rId4" action="ppaction://hlinksldjump"/>
              </a:rPr>
              <a:t>Architectures:</a:t>
            </a:r>
            <a:r>
              <a:rPr sz="600" spc="185" dirty="0">
                <a:solidFill>
                  <a:srgbClr val="3333B2"/>
                </a:solidFill>
                <a:latin typeface="Arial"/>
                <a:cs typeface="Arial"/>
              </a:rPr>
              <a:t> </a:t>
            </a:r>
            <a:r>
              <a:rPr sz="600" spc="-5" dirty="0">
                <a:solidFill>
                  <a:srgbClr val="3333B2"/>
                </a:solidFill>
                <a:latin typeface="Arial"/>
                <a:cs typeface="Arial"/>
                <a:hlinkClick r:id="rId5" action="ppaction://hlinksldjump"/>
              </a:rPr>
              <a:t>System</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architecture</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Hybrid</a:t>
            </a:r>
            <a:r>
              <a:rPr sz="600" spc="-1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Architectures</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5" dirty="0"/>
              <a:t>BitTorrent</a:t>
            </a:r>
            <a:r>
              <a:rPr spc="-10" dirty="0"/>
              <a:t> </a:t>
            </a:r>
            <a:r>
              <a:rPr spc="15" dirty="0"/>
              <a:t>under</a:t>
            </a:r>
            <a:r>
              <a:rPr spc="-10" dirty="0"/>
              <a:t> </a:t>
            </a:r>
            <a:r>
              <a:rPr spc="15" dirty="0"/>
              <a:t>the</a:t>
            </a:r>
            <a:r>
              <a:rPr spc="-5" dirty="0"/>
              <a:t> </a:t>
            </a:r>
            <a:r>
              <a:rPr spc="15" dirty="0"/>
              <a:t>hood</a:t>
            </a:r>
          </a:p>
        </p:txBody>
      </p:sp>
      <p:sp>
        <p:nvSpPr>
          <p:cNvPr id="4" name="object 4"/>
          <p:cNvSpPr txBox="1"/>
          <p:nvPr/>
        </p:nvSpPr>
        <p:spPr>
          <a:xfrm>
            <a:off x="271094" y="345952"/>
            <a:ext cx="4052570" cy="2924175"/>
          </a:xfrm>
          <a:prstGeom prst="rect">
            <a:avLst/>
          </a:prstGeom>
        </p:spPr>
        <p:txBody>
          <a:bodyPr vert="horz" wrap="square" lIns="0" tIns="95250" rIns="0" bIns="0" rtlCol="0">
            <a:spAutoFit/>
          </a:bodyPr>
          <a:lstStyle/>
          <a:p>
            <a:pPr marL="88900">
              <a:lnSpc>
                <a:spcPct val="100000"/>
              </a:lnSpc>
              <a:spcBef>
                <a:spcPts val="750"/>
              </a:spcBef>
            </a:pPr>
            <a:r>
              <a:rPr sz="1200" spc="-5" dirty="0">
                <a:solidFill>
                  <a:srgbClr val="3333B2"/>
                </a:solidFill>
                <a:latin typeface="Arial"/>
                <a:cs typeface="Arial"/>
              </a:rPr>
              <a:t>Some</a:t>
            </a:r>
            <a:r>
              <a:rPr sz="1200" spc="-20" dirty="0">
                <a:solidFill>
                  <a:srgbClr val="3333B2"/>
                </a:solidFill>
                <a:latin typeface="Arial"/>
                <a:cs typeface="Arial"/>
              </a:rPr>
              <a:t> </a:t>
            </a:r>
            <a:r>
              <a:rPr sz="1200" spc="-5" dirty="0">
                <a:solidFill>
                  <a:srgbClr val="3333B2"/>
                </a:solidFill>
                <a:latin typeface="Arial"/>
                <a:cs typeface="Arial"/>
              </a:rPr>
              <a:t>essential</a:t>
            </a:r>
            <a:r>
              <a:rPr sz="1200" spc="-20" dirty="0">
                <a:solidFill>
                  <a:srgbClr val="3333B2"/>
                </a:solidFill>
                <a:latin typeface="Arial"/>
                <a:cs typeface="Arial"/>
              </a:rPr>
              <a:t> </a:t>
            </a:r>
            <a:r>
              <a:rPr sz="1200" spc="-5" dirty="0">
                <a:solidFill>
                  <a:srgbClr val="3333B2"/>
                </a:solidFill>
                <a:latin typeface="Arial"/>
                <a:cs typeface="Arial"/>
              </a:rPr>
              <a:t>details</a:t>
            </a:r>
            <a:endParaRPr sz="1200" dirty="0">
              <a:latin typeface="Arial"/>
              <a:cs typeface="Arial"/>
            </a:endParaRPr>
          </a:p>
          <a:p>
            <a:pPr marL="365760" marR="133985" indent="-168275">
              <a:lnSpc>
                <a:spcPct val="100000"/>
              </a:lnSpc>
              <a:spcBef>
                <a:spcPts val="545"/>
              </a:spcBef>
              <a:buClr>
                <a:srgbClr val="3333B2"/>
              </a:buClr>
              <a:buChar char="►"/>
              <a:tabLst>
                <a:tab pos="366395" algn="l"/>
              </a:tabLst>
            </a:pPr>
            <a:r>
              <a:rPr sz="1000" spc="-5" dirty="0">
                <a:latin typeface="Arial"/>
                <a:cs typeface="Arial"/>
              </a:rPr>
              <a:t>A </a:t>
            </a:r>
            <a:r>
              <a:rPr sz="1000" spc="-10" dirty="0">
                <a:latin typeface="Arial"/>
                <a:cs typeface="Arial"/>
              </a:rPr>
              <a:t>tracker</a:t>
            </a:r>
            <a:r>
              <a:rPr sz="1000" dirty="0">
                <a:latin typeface="Arial"/>
                <a:cs typeface="Arial"/>
              </a:rPr>
              <a:t> </a:t>
            </a:r>
            <a:r>
              <a:rPr sz="1000" spc="-15" dirty="0">
                <a:latin typeface="Arial"/>
                <a:cs typeface="Arial"/>
              </a:rPr>
              <a:t>for</a:t>
            </a:r>
            <a:r>
              <a:rPr sz="1000" spc="-5" dirty="0">
                <a:latin typeface="Arial"/>
                <a:cs typeface="Arial"/>
              </a:rPr>
              <a:t> file</a:t>
            </a:r>
            <a:r>
              <a:rPr sz="1000" dirty="0">
                <a:latin typeface="Arial"/>
                <a:cs typeface="Arial"/>
              </a:rPr>
              <a:t> </a:t>
            </a:r>
            <a:r>
              <a:rPr sz="1000" i="1" spc="-5" dirty="0">
                <a:latin typeface="Arial"/>
                <a:cs typeface="Arial"/>
              </a:rPr>
              <a:t>F</a:t>
            </a:r>
            <a:r>
              <a:rPr sz="1000" i="1" spc="125" dirty="0">
                <a:latin typeface="Arial"/>
                <a:cs typeface="Arial"/>
              </a:rPr>
              <a:t> </a:t>
            </a:r>
            <a:r>
              <a:rPr sz="1000" dirty="0">
                <a:latin typeface="Arial"/>
                <a:cs typeface="Arial"/>
              </a:rPr>
              <a:t>returns</a:t>
            </a:r>
            <a:r>
              <a:rPr sz="1000" spc="-5" dirty="0">
                <a:latin typeface="Arial"/>
                <a:cs typeface="Arial"/>
              </a:rPr>
              <a:t> the</a:t>
            </a:r>
            <a:r>
              <a:rPr sz="1000" dirty="0">
                <a:latin typeface="Arial"/>
                <a:cs typeface="Arial"/>
              </a:rPr>
              <a:t> </a:t>
            </a:r>
            <a:r>
              <a:rPr sz="1000" spc="-5" dirty="0">
                <a:latin typeface="Arial"/>
                <a:cs typeface="Arial"/>
              </a:rPr>
              <a:t>set of</a:t>
            </a:r>
            <a:r>
              <a:rPr sz="1000" dirty="0">
                <a:latin typeface="Arial"/>
                <a:cs typeface="Arial"/>
              </a:rPr>
              <a:t> </a:t>
            </a:r>
            <a:r>
              <a:rPr sz="1000" spc="-5" dirty="0">
                <a:latin typeface="Arial"/>
                <a:cs typeface="Arial"/>
              </a:rPr>
              <a:t>its</a:t>
            </a:r>
            <a:r>
              <a:rPr sz="1000" dirty="0">
                <a:latin typeface="Arial"/>
                <a:cs typeface="Arial"/>
              </a:rPr>
              <a:t> </a:t>
            </a:r>
            <a:r>
              <a:rPr sz="1000" spc="-5" dirty="0">
                <a:latin typeface="Arial"/>
                <a:cs typeface="Arial"/>
              </a:rPr>
              <a:t>downloading processes: </a:t>
            </a:r>
            <a:r>
              <a:rPr sz="1000" spc="-260"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current </a:t>
            </a:r>
            <a:r>
              <a:rPr sz="1000" spc="-10" dirty="0">
                <a:solidFill>
                  <a:srgbClr val="FA0000"/>
                </a:solidFill>
                <a:latin typeface="Arial"/>
                <a:cs typeface="Arial"/>
              </a:rPr>
              <a:t>swarm</a:t>
            </a:r>
            <a:r>
              <a:rPr sz="1000" spc="-10" dirty="0">
                <a:latin typeface="Arial"/>
                <a:cs typeface="Arial"/>
              </a:rPr>
              <a:t>.</a:t>
            </a:r>
            <a:endParaRPr sz="1000" dirty="0">
              <a:latin typeface="Arial"/>
              <a:cs typeface="Arial"/>
            </a:endParaRPr>
          </a:p>
          <a:p>
            <a:pPr marL="365760" marR="164465" indent="-168275">
              <a:lnSpc>
                <a:spcPts val="1200"/>
              </a:lnSpc>
              <a:spcBef>
                <a:spcPts val="30"/>
              </a:spcBef>
              <a:buClr>
                <a:srgbClr val="3333B2"/>
              </a:buClr>
              <a:buFont typeface="Arial"/>
              <a:buChar char="►"/>
              <a:tabLst>
                <a:tab pos="366395" algn="l"/>
              </a:tabLst>
            </a:pPr>
            <a:r>
              <a:rPr sz="1000" i="1" spc="-5" dirty="0">
                <a:latin typeface="Arial"/>
                <a:cs typeface="Arial"/>
              </a:rPr>
              <a:t>A </a:t>
            </a:r>
            <a:r>
              <a:rPr sz="1000" spc="-5" dirty="0">
                <a:latin typeface="Arial"/>
                <a:cs typeface="Arial"/>
              </a:rPr>
              <a:t>communicates</a:t>
            </a:r>
            <a:r>
              <a:rPr sz="1000"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subset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swarm:</a:t>
            </a:r>
            <a:r>
              <a:rPr sz="1000" spc="65" dirty="0">
                <a:latin typeface="Arial"/>
                <a:cs typeface="Arial"/>
              </a:rPr>
              <a:t> </a:t>
            </a:r>
            <a:r>
              <a:rPr sz="1000" spc="-5" dirty="0">
                <a:latin typeface="Arial"/>
                <a:cs typeface="Arial"/>
              </a:rPr>
              <a:t>the</a:t>
            </a:r>
            <a:r>
              <a:rPr sz="1000" dirty="0">
                <a:latin typeface="Arial"/>
                <a:cs typeface="Arial"/>
              </a:rPr>
              <a:t> </a:t>
            </a:r>
            <a:r>
              <a:rPr sz="1000" spc="-5" dirty="0">
                <a:solidFill>
                  <a:srgbClr val="FA0000"/>
                </a:solidFill>
                <a:latin typeface="Arial"/>
                <a:cs typeface="Arial"/>
              </a:rPr>
              <a:t>neighbor </a:t>
            </a:r>
            <a:r>
              <a:rPr sz="1000" spc="-265" dirty="0">
                <a:solidFill>
                  <a:srgbClr val="FA0000"/>
                </a:solidFill>
                <a:latin typeface="Arial"/>
                <a:cs typeface="Arial"/>
              </a:rPr>
              <a:t> </a:t>
            </a:r>
            <a:r>
              <a:rPr sz="1000" spc="-5" dirty="0">
                <a:solidFill>
                  <a:srgbClr val="FA0000"/>
                </a:solidFill>
                <a:latin typeface="Arial"/>
                <a:cs typeface="Arial"/>
              </a:rPr>
              <a:t>set</a:t>
            </a:r>
            <a:r>
              <a:rPr sz="1000" spc="-10" dirty="0">
                <a:solidFill>
                  <a:srgbClr val="FA0000"/>
                </a:solidFill>
                <a:latin typeface="Arial"/>
                <a:cs typeface="Arial"/>
              </a:rPr>
              <a:t> </a:t>
            </a:r>
            <a:r>
              <a:rPr sz="1000" i="1" spc="20" dirty="0">
                <a:latin typeface="Arial"/>
                <a:cs typeface="Arial"/>
              </a:rPr>
              <a:t>N</a:t>
            </a:r>
            <a:r>
              <a:rPr sz="1050" i="1" spc="30" baseline="-15873" dirty="0">
                <a:latin typeface="Arial"/>
                <a:cs typeface="Arial"/>
              </a:rPr>
              <a:t>A</a:t>
            </a:r>
            <a:r>
              <a:rPr sz="1000" spc="20" dirty="0">
                <a:latin typeface="Arial"/>
                <a:cs typeface="Arial"/>
              </a:rPr>
              <a:t>.</a:t>
            </a:r>
            <a:endParaRPr sz="1000" dirty="0">
              <a:latin typeface="Arial"/>
              <a:cs typeface="Arial"/>
            </a:endParaRPr>
          </a:p>
          <a:p>
            <a:pPr marL="365760" indent="-168275">
              <a:lnSpc>
                <a:spcPts val="1150"/>
              </a:lnSpc>
              <a:buClr>
                <a:srgbClr val="3333B2"/>
              </a:buClr>
              <a:buChar char="►"/>
              <a:tabLst>
                <a:tab pos="366395" algn="l"/>
              </a:tabLst>
            </a:pPr>
            <a:r>
              <a:rPr sz="1000" spc="-5" dirty="0">
                <a:latin typeface="Arial"/>
                <a:cs typeface="Arial"/>
              </a:rPr>
              <a:t>if </a:t>
            </a:r>
            <a:r>
              <a:rPr sz="1000" i="1" spc="-5" dirty="0">
                <a:latin typeface="Arial"/>
                <a:cs typeface="Arial"/>
              </a:rPr>
              <a:t>B</a:t>
            </a:r>
            <a:r>
              <a:rPr sz="1000" i="1" spc="-15" dirty="0">
                <a:latin typeface="Arial"/>
                <a:cs typeface="Arial"/>
              </a:rPr>
              <a:t> </a:t>
            </a:r>
            <a:r>
              <a:rPr sz="1000" i="1" spc="-145" dirty="0">
                <a:latin typeface="メイリオ"/>
                <a:cs typeface="メイリオ"/>
              </a:rPr>
              <a:t>∈</a:t>
            </a:r>
            <a:r>
              <a:rPr sz="1000" i="1" spc="-120" dirty="0">
                <a:latin typeface="メイリオ"/>
                <a:cs typeface="メイリオ"/>
              </a:rPr>
              <a:t> </a:t>
            </a:r>
            <a:r>
              <a:rPr sz="1000" i="1" spc="-5" dirty="0">
                <a:latin typeface="Arial"/>
                <a:cs typeface="Arial"/>
              </a:rPr>
              <a:t>N</a:t>
            </a:r>
            <a:r>
              <a:rPr sz="1050" i="1" spc="30" baseline="-15873" dirty="0">
                <a:latin typeface="Arial"/>
                <a:cs typeface="Arial"/>
              </a:rPr>
              <a:t>A</a:t>
            </a:r>
            <a:r>
              <a:rPr sz="1050" i="1" baseline="-15873" dirty="0">
                <a:latin typeface="Arial"/>
                <a:cs typeface="Arial"/>
              </a:rPr>
              <a:t> </a:t>
            </a:r>
            <a:r>
              <a:rPr sz="1050" i="1" spc="-97" baseline="-15873" dirty="0">
                <a:latin typeface="Arial"/>
                <a:cs typeface="Arial"/>
              </a:rPr>
              <a:t> </a:t>
            </a:r>
            <a:r>
              <a:rPr sz="1000" spc="-5" dirty="0">
                <a:latin typeface="Arial"/>
                <a:cs typeface="Arial"/>
              </a:rPr>
              <a:t>then also </a:t>
            </a:r>
            <a:r>
              <a:rPr sz="1000" i="1" spc="-5" dirty="0">
                <a:latin typeface="Arial"/>
                <a:cs typeface="Arial"/>
              </a:rPr>
              <a:t>A</a:t>
            </a:r>
            <a:r>
              <a:rPr sz="1000" i="1" spc="-60" dirty="0">
                <a:latin typeface="Arial"/>
                <a:cs typeface="Arial"/>
              </a:rPr>
              <a:t> </a:t>
            </a:r>
            <a:r>
              <a:rPr sz="1000" i="1" spc="-145" dirty="0">
                <a:latin typeface="メイリオ"/>
                <a:cs typeface="メイリオ"/>
              </a:rPr>
              <a:t>∈</a:t>
            </a:r>
            <a:r>
              <a:rPr sz="1000" i="1" spc="-120" dirty="0">
                <a:latin typeface="メイリオ"/>
                <a:cs typeface="メイリオ"/>
              </a:rPr>
              <a:t> </a:t>
            </a:r>
            <a:r>
              <a:rPr sz="1000" i="1" spc="-5" dirty="0">
                <a:latin typeface="Arial"/>
                <a:cs typeface="Arial"/>
              </a:rPr>
              <a:t>N</a:t>
            </a:r>
            <a:r>
              <a:rPr sz="1050" i="1" spc="30" baseline="-15873" dirty="0">
                <a:latin typeface="Arial"/>
                <a:cs typeface="Arial"/>
              </a:rPr>
              <a:t>B</a:t>
            </a:r>
            <a:r>
              <a:rPr sz="1050" i="1" spc="-172" baseline="-15873" dirty="0">
                <a:latin typeface="Arial"/>
                <a:cs typeface="Arial"/>
              </a:rPr>
              <a:t> </a:t>
            </a:r>
            <a:r>
              <a:rPr sz="1000" spc="-5" dirty="0">
                <a:latin typeface="Arial"/>
                <a:cs typeface="Arial"/>
              </a:rPr>
              <a:t>.</a:t>
            </a:r>
            <a:endParaRPr sz="1000" dirty="0">
              <a:latin typeface="Arial"/>
              <a:cs typeface="Arial"/>
            </a:endParaRPr>
          </a:p>
          <a:p>
            <a:pPr marL="365760" indent="-168275">
              <a:lnSpc>
                <a:spcPts val="1200"/>
              </a:lnSpc>
              <a:buClr>
                <a:srgbClr val="3333B2"/>
              </a:buClr>
              <a:buChar char="►"/>
              <a:tabLst>
                <a:tab pos="366395" algn="l"/>
              </a:tabLst>
            </a:pPr>
            <a:r>
              <a:rPr sz="1000" spc="-5" dirty="0">
                <a:latin typeface="Arial"/>
                <a:cs typeface="Arial"/>
              </a:rPr>
              <a:t>Neighbor sets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regularly updated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tracker</a:t>
            </a:r>
            <a:endParaRPr sz="1000" dirty="0">
              <a:latin typeface="Arial"/>
              <a:cs typeface="Arial"/>
            </a:endParaRPr>
          </a:p>
          <a:p>
            <a:pPr marL="88900">
              <a:lnSpc>
                <a:spcPct val="100000"/>
              </a:lnSpc>
              <a:spcBef>
                <a:spcPts val="1210"/>
              </a:spcBef>
            </a:pPr>
            <a:r>
              <a:rPr sz="1200" spc="-5" dirty="0">
                <a:solidFill>
                  <a:srgbClr val="3333B2"/>
                </a:solidFill>
                <a:latin typeface="Arial"/>
                <a:cs typeface="Arial"/>
              </a:rPr>
              <a:t>Exchange</a:t>
            </a:r>
            <a:r>
              <a:rPr sz="1200" spc="-30" dirty="0">
                <a:solidFill>
                  <a:srgbClr val="3333B2"/>
                </a:solidFill>
                <a:latin typeface="Arial"/>
                <a:cs typeface="Arial"/>
              </a:rPr>
              <a:t> </a:t>
            </a:r>
            <a:r>
              <a:rPr sz="1200" spc="-15" dirty="0">
                <a:solidFill>
                  <a:srgbClr val="3333B2"/>
                </a:solidFill>
                <a:latin typeface="Arial"/>
                <a:cs typeface="Arial"/>
              </a:rPr>
              <a:t>blocks</a:t>
            </a:r>
            <a:endParaRPr sz="1200" dirty="0">
              <a:latin typeface="Arial"/>
              <a:cs typeface="Arial"/>
            </a:endParaRPr>
          </a:p>
          <a:p>
            <a:pPr marL="365760" marR="68580" indent="-168275">
              <a:lnSpc>
                <a:spcPct val="100000"/>
              </a:lnSpc>
              <a:spcBef>
                <a:spcPts val="790"/>
              </a:spcBef>
              <a:buClr>
                <a:srgbClr val="3333B2"/>
              </a:buClr>
              <a:buChar char="►"/>
              <a:tabLst>
                <a:tab pos="366395" algn="l"/>
              </a:tabLst>
            </a:pPr>
            <a:r>
              <a:rPr sz="1000" spc="-20" dirty="0">
                <a:latin typeface="Arial"/>
                <a:cs typeface="Arial"/>
              </a:rPr>
              <a:t>A</a:t>
            </a:r>
            <a:r>
              <a:rPr sz="1000" spc="-5" dirty="0">
                <a:latin typeface="Arial"/>
                <a:cs typeface="Arial"/>
              </a:rPr>
              <a:t> </a:t>
            </a:r>
            <a:r>
              <a:rPr sz="1000" spc="-10" dirty="0">
                <a:latin typeface="Arial"/>
                <a:cs typeface="Arial"/>
              </a:rPr>
              <a:t>file</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divided</a:t>
            </a:r>
            <a:r>
              <a:rPr sz="1000" spc="-5" dirty="0">
                <a:latin typeface="Arial"/>
                <a:cs typeface="Arial"/>
              </a:rPr>
              <a:t> </a:t>
            </a:r>
            <a:r>
              <a:rPr sz="1000" spc="-10" dirty="0">
                <a:latin typeface="Arial"/>
                <a:cs typeface="Arial"/>
              </a:rPr>
              <a:t>into</a:t>
            </a:r>
            <a:r>
              <a:rPr sz="1000" dirty="0">
                <a:latin typeface="Arial"/>
                <a:cs typeface="Arial"/>
              </a:rPr>
              <a:t> </a:t>
            </a:r>
            <a:r>
              <a:rPr sz="1000" spc="-15" dirty="0">
                <a:latin typeface="Arial"/>
                <a:cs typeface="Arial"/>
              </a:rPr>
              <a:t>equally</a:t>
            </a:r>
            <a:r>
              <a:rPr sz="1000" dirty="0">
                <a:latin typeface="Arial"/>
                <a:cs typeface="Arial"/>
              </a:rPr>
              <a:t> </a:t>
            </a:r>
            <a:r>
              <a:rPr sz="1000" spc="-15" dirty="0">
                <a:latin typeface="Arial"/>
                <a:cs typeface="Arial"/>
              </a:rPr>
              <a:t>sized</a:t>
            </a:r>
            <a:r>
              <a:rPr sz="1000" spc="-5" dirty="0">
                <a:latin typeface="Arial"/>
                <a:cs typeface="Arial"/>
              </a:rPr>
              <a:t> </a:t>
            </a:r>
            <a:r>
              <a:rPr sz="1000" spc="-15" dirty="0">
                <a:solidFill>
                  <a:srgbClr val="FA0000"/>
                </a:solidFill>
                <a:latin typeface="Arial"/>
                <a:cs typeface="Arial"/>
              </a:rPr>
              <a:t>pieces</a:t>
            </a:r>
            <a:r>
              <a:rPr sz="1000" dirty="0">
                <a:solidFill>
                  <a:srgbClr val="FA0000"/>
                </a:solidFill>
                <a:latin typeface="Arial"/>
                <a:cs typeface="Arial"/>
              </a:rPr>
              <a:t> </a:t>
            </a:r>
            <a:r>
              <a:rPr sz="1000" spc="-10" dirty="0">
                <a:latin typeface="Arial"/>
                <a:cs typeface="Arial"/>
              </a:rPr>
              <a:t>(typically</a:t>
            </a:r>
            <a:r>
              <a:rPr sz="1000" dirty="0">
                <a:latin typeface="Arial"/>
                <a:cs typeface="Arial"/>
              </a:rPr>
              <a:t> </a:t>
            </a:r>
            <a:r>
              <a:rPr sz="1000" spc="-15" dirty="0">
                <a:latin typeface="Arial"/>
                <a:cs typeface="Arial"/>
              </a:rPr>
              <a:t>each</a:t>
            </a:r>
            <a:r>
              <a:rPr sz="1000" spc="-5" dirty="0">
                <a:latin typeface="Arial"/>
                <a:cs typeface="Arial"/>
              </a:rPr>
              <a:t> </a:t>
            </a:r>
            <a:r>
              <a:rPr sz="1000" spc="-15" dirty="0">
                <a:latin typeface="Arial"/>
                <a:cs typeface="Arial"/>
              </a:rPr>
              <a:t>being</a:t>
            </a:r>
            <a:r>
              <a:rPr sz="1000" dirty="0">
                <a:latin typeface="Arial"/>
                <a:cs typeface="Arial"/>
              </a:rPr>
              <a:t> </a:t>
            </a:r>
            <a:r>
              <a:rPr sz="1000" spc="-15" dirty="0">
                <a:latin typeface="Arial"/>
                <a:cs typeface="Arial"/>
              </a:rPr>
              <a:t>256 </a:t>
            </a:r>
            <a:r>
              <a:rPr sz="1000" spc="-265" dirty="0">
                <a:latin typeface="Arial"/>
                <a:cs typeface="Arial"/>
              </a:rPr>
              <a:t> </a:t>
            </a:r>
            <a:r>
              <a:rPr sz="1000" spc="-5" dirty="0">
                <a:latin typeface="Arial"/>
                <a:cs typeface="Arial"/>
              </a:rPr>
              <a:t>KB)</a:t>
            </a:r>
            <a:endParaRPr sz="1000" dirty="0">
              <a:latin typeface="Arial"/>
              <a:cs typeface="Arial"/>
            </a:endParaRPr>
          </a:p>
          <a:p>
            <a:pPr marL="365760" indent="-168275">
              <a:lnSpc>
                <a:spcPts val="1190"/>
              </a:lnSpc>
              <a:buClr>
                <a:srgbClr val="3333B2"/>
              </a:buClr>
              <a:buChar char="►"/>
              <a:tabLst>
                <a:tab pos="366395" algn="l"/>
              </a:tabLst>
            </a:pPr>
            <a:r>
              <a:rPr sz="1000" spc="-15" dirty="0">
                <a:latin typeface="Arial"/>
                <a:cs typeface="Arial"/>
              </a:rPr>
              <a:t>Peers</a:t>
            </a:r>
            <a:r>
              <a:rPr sz="1000" spc="-5" dirty="0">
                <a:latin typeface="Arial"/>
                <a:cs typeface="Arial"/>
              </a:rPr>
              <a:t> </a:t>
            </a:r>
            <a:r>
              <a:rPr sz="1000" spc="-10" dirty="0">
                <a:latin typeface="Arial"/>
                <a:cs typeface="Arial"/>
              </a:rPr>
              <a:t>exchange</a:t>
            </a:r>
            <a:r>
              <a:rPr sz="1000" spc="-5" dirty="0">
                <a:latin typeface="Arial"/>
                <a:cs typeface="Arial"/>
              </a:rPr>
              <a:t> </a:t>
            </a:r>
            <a:r>
              <a:rPr sz="1000" spc="-10" dirty="0">
                <a:solidFill>
                  <a:srgbClr val="FA0000"/>
                </a:solidFill>
                <a:latin typeface="Arial"/>
                <a:cs typeface="Arial"/>
              </a:rPr>
              <a:t>blocks</a:t>
            </a:r>
            <a:r>
              <a:rPr sz="1000" dirty="0">
                <a:solidFill>
                  <a:srgbClr val="FA0000"/>
                </a:solidFill>
                <a:latin typeface="Arial"/>
                <a:cs typeface="Arial"/>
              </a:rPr>
              <a:t> </a:t>
            </a:r>
            <a:r>
              <a:rPr sz="1000" spc="-5" dirty="0">
                <a:latin typeface="Arial"/>
                <a:cs typeface="Arial"/>
              </a:rPr>
              <a:t>of pieces,</a:t>
            </a:r>
            <a:r>
              <a:rPr sz="1000" dirty="0">
                <a:latin typeface="Arial"/>
                <a:cs typeface="Arial"/>
              </a:rPr>
              <a:t> </a:t>
            </a:r>
            <a:r>
              <a:rPr sz="1000" spc="-5" dirty="0">
                <a:latin typeface="Arial"/>
                <a:cs typeface="Arial"/>
              </a:rPr>
              <a:t>typically some</a:t>
            </a:r>
            <a:r>
              <a:rPr sz="1000" dirty="0">
                <a:latin typeface="Arial"/>
                <a:cs typeface="Arial"/>
              </a:rPr>
              <a:t> </a:t>
            </a:r>
            <a:r>
              <a:rPr sz="1000" spc="-5" dirty="0">
                <a:latin typeface="Arial"/>
                <a:cs typeface="Arial"/>
              </a:rPr>
              <a:t>16 </a:t>
            </a:r>
            <a:r>
              <a:rPr sz="1000" spc="-10" dirty="0">
                <a:latin typeface="Arial"/>
                <a:cs typeface="Arial"/>
              </a:rPr>
              <a:t>KB.</a:t>
            </a:r>
            <a:endParaRPr sz="1000" dirty="0">
              <a:latin typeface="Arial"/>
              <a:cs typeface="Arial"/>
            </a:endParaRPr>
          </a:p>
          <a:p>
            <a:pPr marL="365760" indent="-168275">
              <a:lnSpc>
                <a:spcPts val="1195"/>
              </a:lnSpc>
              <a:buClr>
                <a:srgbClr val="3333B2"/>
              </a:buClr>
              <a:buFont typeface="Arial"/>
              <a:buChar char="►"/>
              <a:tabLst>
                <a:tab pos="366395" algn="l"/>
              </a:tabLst>
            </a:pPr>
            <a:r>
              <a:rPr sz="1000" i="1" spc="-5" dirty="0">
                <a:latin typeface="Arial"/>
                <a:cs typeface="Arial"/>
              </a:rPr>
              <a:t>A </a:t>
            </a:r>
            <a:r>
              <a:rPr sz="1000" spc="-5" dirty="0">
                <a:latin typeface="Arial"/>
                <a:cs typeface="Arial"/>
              </a:rPr>
              <a:t>can upload a</a:t>
            </a:r>
            <a:r>
              <a:rPr sz="1000" dirty="0">
                <a:latin typeface="Arial"/>
                <a:cs typeface="Arial"/>
              </a:rPr>
              <a:t> </a:t>
            </a:r>
            <a:r>
              <a:rPr sz="1000" spc="-10" dirty="0">
                <a:latin typeface="Arial"/>
                <a:cs typeface="Arial"/>
              </a:rPr>
              <a:t>block</a:t>
            </a:r>
            <a:r>
              <a:rPr sz="1000" spc="-5" dirty="0">
                <a:latin typeface="Arial"/>
                <a:cs typeface="Arial"/>
              </a:rPr>
              <a:t> </a:t>
            </a:r>
            <a:r>
              <a:rPr sz="1000" i="1" spc="-5" dirty="0">
                <a:latin typeface="Arial"/>
                <a:cs typeface="Arial"/>
              </a:rPr>
              <a:t>d</a:t>
            </a:r>
            <a:r>
              <a:rPr sz="1000" i="1" spc="9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piece </a:t>
            </a:r>
            <a:r>
              <a:rPr sz="1000" i="1" spc="15" dirty="0">
                <a:latin typeface="Arial"/>
                <a:cs typeface="Arial"/>
              </a:rPr>
              <a:t>D</a:t>
            </a:r>
            <a:r>
              <a:rPr sz="1000" spc="15" dirty="0">
                <a:latin typeface="Arial"/>
                <a:cs typeface="Arial"/>
              </a:rPr>
              <a:t>,</a:t>
            </a:r>
            <a:r>
              <a:rPr sz="1000" spc="-5" dirty="0">
                <a:latin typeface="Arial"/>
                <a:cs typeface="Arial"/>
              </a:rPr>
              <a:t> only</a:t>
            </a:r>
            <a:r>
              <a:rPr sz="1000" dirty="0">
                <a:latin typeface="Arial"/>
                <a:cs typeface="Arial"/>
              </a:rPr>
              <a:t> </a:t>
            </a:r>
            <a:r>
              <a:rPr sz="1000" spc="-5" dirty="0">
                <a:latin typeface="Arial"/>
                <a:cs typeface="Arial"/>
              </a:rPr>
              <a:t>if it has piece</a:t>
            </a:r>
            <a:r>
              <a:rPr sz="1000" dirty="0">
                <a:latin typeface="Arial"/>
                <a:cs typeface="Arial"/>
              </a:rPr>
              <a:t> </a:t>
            </a:r>
            <a:r>
              <a:rPr sz="1000" i="1" spc="15" dirty="0">
                <a:latin typeface="Arial"/>
                <a:cs typeface="Arial"/>
              </a:rPr>
              <a:t>D</a:t>
            </a:r>
            <a:r>
              <a:rPr sz="1000" spc="15" dirty="0">
                <a:latin typeface="Arial"/>
                <a:cs typeface="Arial"/>
              </a:rPr>
              <a:t>.</a:t>
            </a:r>
            <a:endParaRPr sz="1000" dirty="0">
              <a:latin typeface="Arial"/>
              <a:cs typeface="Arial"/>
            </a:endParaRPr>
          </a:p>
          <a:p>
            <a:pPr marL="365760" marR="114935" indent="-168275">
              <a:lnSpc>
                <a:spcPts val="1200"/>
              </a:lnSpc>
              <a:spcBef>
                <a:spcPts val="40"/>
              </a:spcBef>
              <a:buClr>
                <a:srgbClr val="3333B2"/>
              </a:buClr>
              <a:buChar char="►"/>
              <a:tabLst>
                <a:tab pos="366395" algn="l"/>
              </a:tabLst>
            </a:pPr>
            <a:r>
              <a:rPr sz="1000" spc="-5" dirty="0">
                <a:latin typeface="Arial"/>
                <a:cs typeface="Arial"/>
              </a:rPr>
              <a:t>Neighbor </a:t>
            </a:r>
            <a:r>
              <a:rPr sz="1000" i="1" spc="-5" dirty="0">
                <a:latin typeface="Arial"/>
                <a:cs typeface="Arial"/>
              </a:rPr>
              <a:t>B</a:t>
            </a:r>
            <a:r>
              <a:rPr sz="1000" i="1" spc="45" dirty="0">
                <a:latin typeface="Arial"/>
                <a:cs typeface="Arial"/>
              </a:rPr>
              <a:t> </a:t>
            </a:r>
            <a:r>
              <a:rPr sz="1000" spc="-5" dirty="0">
                <a:latin typeface="Arial"/>
                <a:cs typeface="Arial"/>
              </a:rPr>
              <a:t>belongs to</a:t>
            </a:r>
            <a:r>
              <a:rPr sz="1000" dirty="0">
                <a:latin typeface="Arial"/>
                <a:cs typeface="Arial"/>
              </a:rPr>
              <a:t> </a:t>
            </a:r>
            <a:r>
              <a:rPr sz="1000" spc="-5" dirty="0">
                <a:latin typeface="Arial"/>
                <a:cs typeface="Arial"/>
              </a:rPr>
              <a:t>the </a:t>
            </a:r>
            <a:r>
              <a:rPr sz="1000" spc="-5" dirty="0">
                <a:solidFill>
                  <a:srgbClr val="FA0000"/>
                </a:solidFill>
                <a:latin typeface="Arial"/>
                <a:cs typeface="Arial"/>
              </a:rPr>
              <a:t>potential</a:t>
            </a:r>
            <a:r>
              <a:rPr sz="1000" dirty="0">
                <a:solidFill>
                  <a:srgbClr val="FA0000"/>
                </a:solidFill>
                <a:latin typeface="Arial"/>
                <a:cs typeface="Arial"/>
              </a:rPr>
              <a:t> </a:t>
            </a:r>
            <a:r>
              <a:rPr sz="1000" spc="-5" dirty="0">
                <a:solidFill>
                  <a:srgbClr val="FA0000"/>
                </a:solidFill>
                <a:latin typeface="Arial"/>
                <a:cs typeface="Arial"/>
              </a:rPr>
              <a:t>set</a:t>
            </a:r>
            <a:r>
              <a:rPr sz="1000" dirty="0">
                <a:solidFill>
                  <a:srgbClr val="FA0000"/>
                </a:solidFill>
                <a:latin typeface="Arial"/>
                <a:cs typeface="Arial"/>
              </a:rPr>
              <a:t> </a:t>
            </a:r>
            <a:r>
              <a:rPr sz="1000" i="1" spc="10" dirty="0">
                <a:latin typeface="Arial"/>
                <a:cs typeface="Arial"/>
              </a:rPr>
              <a:t>P</a:t>
            </a:r>
            <a:r>
              <a:rPr sz="1050" i="1" spc="15" baseline="-15873" dirty="0">
                <a:latin typeface="Arial"/>
                <a:cs typeface="Arial"/>
              </a:rPr>
              <a:t>A</a:t>
            </a:r>
            <a:r>
              <a:rPr sz="1050" i="1" spc="195" baseline="-15873" dirty="0">
                <a:latin typeface="Arial"/>
                <a:cs typeface="Arial"/>
              </a:rPr>
              <a:t> </a:t>
            </a:r>
            <a:r>
              <a:rPr sz="1000" spc="-5" dirty="0">
                <a:latin typeface="Arial"/>
                <a:cs typeface="Arial"/>
              </a:rPr>
              <a:t>of</a:t>
            </a:r>
            <a:r>
              <a:rPr sz="1000" dirty="0">
                <a:latin typeface="Arial"/>
                <a:cs typeface="Arial"/>
              </a:rPr>
              <a:t> </a:t>
            </a:r>
            <a:r>
              <a:rPr sz="1000" i="1" spc="-5" dirty="0">
                <a:latin typeface="Arial"/>
                <a:cs typeface="Arial"/>
              </a:rPr>
              <a:t>A</a:t>
            </a:r>
            <a:r>
              <a:rPr sz="1000" spc="-5" dirty="0">
                <a:latin typeface="Arial"/>
                <a:cs typeface="Arial"/>
              </a:rPr>
              <a:t>, if</a:t>
            </a:r>
            <a:r>
              <a:rPr sz="1000" dirty="0">
                <a:latin typeface="Arial"/>
                <a:cs typeface="Arial"/>
              </a:rPr>
              <a:t> </a:t>
            </a:r>
            <a:r>
              <a:rPr sz="1000" i="1" spc="-5" dirty="0">
                <a:latin typeface="Arial"/>
                <a:cs typeface="Arial"/>
              </a:rPr>
              <a:t>B</a:t>
            </a:r>
            <a:r>
              <a:rPr sz="1000" i="1" spc="45" dirty="0">
                <a:latin typeface="Arial"/>
                <a:cs typeface="Arial"/>
              </a:rPr>
              <a:t> </a:t>
            </a:r>
            <a:r>
              <a:rPr sz="1000" spc="-5" dirty="0">
                <a:latin typeface="Arial"/>
                <a:cs typeface="Arial"/>
              </a:rPr>
              <a:t>has a</a:t>
            </a:r>
            <a:r>
              <a:rPr sz="1000" dirty="0">
                <a:latin typeface="Arial"/>
                <a:cs typeface="Arial"/>
              </a:rPr>
              <a:t> </a:t>
            </a:r>
            <a:r>
              <a:rPr sz="1000" spc="-10" dirty="0">
                <a:latin typeface="Arial"/>
                <a:cs typeface="Arial"/>
              </a:rPr>
              <a:t>block </a:t>
            </a:r>
            <a:r>
              <a:rPr sz="1000" spc="-265" dirty="0">
                <a:latin typeface="Arial"/>
                <a:cs typeface="Arial"/>
              </a:rPr>
              <a:t> </a:t>
            </a:r>
            <a:r>
              <a:rPr sz="1000" spc="-5" dirty="0">
                <a:latin typeface="Arial"/>
                <a:cs typeface="Arial"/>
              </a:rPr>
              <a:t>that</a:t>
            </a:r>
            <a:r>
              <a:rPr sz="1000" spc="-10" dirty="0">
                <a:latin typeface="Arial"/>
                <a:cs typeface="Arial"/>
              </a:rPr>
              <a:t> </a:t>
            </a:r>
            <a:r>
              <a:rPr sz="1000" i="1" spc="-5" dirty="0">
                <a:latin typeface="Arial"/>
                <a:cs typeface="Arial"/>
              </a:rPr>
              <a:t>A </a:t>
            </a:r>
            <a:r>
              <a:rPr sz="1000" spc="-5" dirty="0">
                <a:latin typeface="Arial"/>
                <a:cs typeface="Arial"/>
              </a:rPr>
              <a:t>needs.</a:t>
            </a:r>
            <a:endParaRPr sz="1000" dirty="0">
              <a:latin typeface="Arial"/>
              <a:cs typeface="Arial"/>
            </a:endParaRPr>
          </a:p>
          <a:p>
            <a:pPr marL="365760" indent="-168275">
              <a:lnSpc>
                <a:spcPts val="1150"/>
              </a:lnSpc>
              <a:buClr>
                <a:srgbClr val="3333B2"/>
              </a:buClr>
              <a:buChar char="►"/>
              <a:tabLst>
                <a:tab pos="366395" algn="l"/>
              </a:tabLst>
            </a:pPr>
            <a:r>
              <a:rPr sz="1000" spc="-10" dirty="0">
                <a:latin typeface="Arial"/>
                <a:cs typeface="Arial"/>
              </a:rPr>
              <a:t>If</a:t>
            </a:r>
            <a:r>
              <a:rPr sz="1000" spc="-5" dirty="0">
                <a:latin typeface="Arial"/>
                <a:cs typeface="Arial"/>
              </a:rPr>
              <a:t> </a:t>
            </a:r>
            <a:r>
              <a:rPr sz="900" i="1" spc="-5" dirty="0">
                <a:latin typeface="Arial"/>
                <a:cs typeface="Arial"/>
              </a:rPr>
              <a:t>B</a:t>
            </a:r>
            <a:r>
              <a:rPr sz="900" i="1" spc="10" dirty="0">
                <a:latin typeface="Arial"/>
                <a:cs typeface="Arial"/>
              </a:rPr>
              <a:t> </a:t>
            </a:r>
            <a:r>
              <a:rPr sz="1000" i="1" spc="-145" dirty="0">
                <a:latin typeface="メイリオ"/>
                <a:cs typeface="メイリオ"/>
              </a:rPr>
              <a:t>∈</a:t>
            </a:r>
            <a:r>
              <a:rPr sz="1000" i="1" spc="-114" dirty="0">
                <a:latin typeface="メイリオ"/>
                <a:cs typeface="メイリオ"/>
              </a:rPr>
              <a:t> </a:t>
            </a:r>
            <a:r>
              <a:rPr sz="1000" i="1" dirty="0">
                <a:latin typeface="Arial"/>
                <a:cs typeface="Arial"/>
              </a:rPr>
              <a:t>P</a:t>
            </a:r>
            <a:r>
              <a:rPr sz="1050" i="1" baseline="-15873" dirty="0">
                <a:latin typeface="Arial"/>
                <a:cs typeface="Arial"/>
              </a:rPr>
              <a:t>A</a:t>
            </a:r>
            <a:r>
              <a:rPr sz="1050" i="1" spc="195" baseline="-15873" dirty="0">
                <a:latin typeface="Arial"/>
                <a:cs typeface="Arial"/>
              </a:rPr>
              <a:t> </a:t>
            </a:r>
            <a:r>
              <a:rPr sz="1000" spc="-15" dirty="0">
                <a:latin typeface="Arial"/>
                <a:cs typeface="Arial"/>
              </a:rPr>
              <a:t>and</a:t>
            </a:r>
            <a:r>
              <a:rPr sz="1000" spc="-5" dirty="0">
                <a:latin typeface="Arial"/>
                <a:cs typeface="Arial"/>
              </a:rPr>
              <a:t> </a:t>
            </a:r>
            <a:r>
              <a:rPr sz="900" i="1" spc="-5" dirty="0">
                <a:latin typeface="Arial"/>
                <a:cs typeface="Arial"/>
              </a:rPr>
              <a:t>A</a:t>
            </a:r>
            <a:r>
              <a:rPr sz="900" i="1" spc="-25" dirty="0">
                <a:latin typeface="Arial"/>
                <a:cs typeface="Arial"/>
              </a:rPr>
              <a:t> </a:t>
            </a:r>
            <a:r>
              <a:rPr sz="1000" i="1" spc="-145" dirty="0">
                <a:latin typeface="メイリオ"/>
                <a:cs typeface="メイリオ"/>
              </a:rPr>
              <a:t>∈</a:t>
            </a:r>
            <a:r>
              <a:rPr sz="1000" i="1" spc="-120" dirty="0">
                <a:latin typeface="メイリオ"/>
                <a:cs typeface="メイリオ"/>
              </a:rPr>
              <a:t> </a:t>
            </a:r>
            <a:r>
              <a:rPr sz="1000" i="1" dirty="0">
                <a:latin typeface="Arial"/>
                <a:cs typeface="Arial"/>
              </a:rPr>
              <a:t>P</a:t>
            </a:r>
            <a:r>
              <a:rPr sz="1050" i="1" baseline="-15873" dirty="0">
                <a:latin typeface="Arial"/>
                <a:cs typeface="Arial"/>
              </a:rPr>
              <a:t>B</a:t>
            </a:r>
            <a:r>
              <a:rPr sz="1050" i="1" spc="-172" baseline="-15873" dirty="0">
                <a:latin typeface="Arial"/>
                <a:cs typeface="Arial"/>
              </a:rPr>
              <a:t> </a:t>
            </a:r>
            <a:r>
              <a:rPr sz="1000" spc="-10" dirty="0">
                <a:latin typeface="Arial"/>
                <a:cs typeface="Arial"/>
              </a:rPr>
              <a:t>:</a:t>
            </a:r>
            <a:r>
              <a:rPr sz="1000" spc="65" dirty="0">
                <a:latin typeface="Arial"/>
                <a:cs typeface="Arial"/>
              </a:rPr>
              <a:t> </a:t>
            </a:r>
            <a:r>
              <a:rPr sz="900" i="1" spc="-5" dirty="0">
                <a:latin typeface="Arial"/>
                <a:cs typeface="Arial"/>
              </a:rPr>
              <a:t>A</a:t>
            </a:r>
            <a:r>
              <a:rPr sz="900" i="1" spc="25" dirty="0">
                <a:latin typeface="Arial"/>
                <a:cs typeface="Arial"/>
              </a:rPr>
              <a:t> </a:t>
            </a:r>
            <a:r>
              <a:rPr sz="1000" spc="-15" dirty="0">
                <a:latin typeface="Arial"/>
                <a:cs typeface="Arial"/>
              </a:rPr>
              <a:t>and</a:t>
            </a:r>
            <a:r>
              <a:rPr sz="1000" spc="-5" dirty="0">
                <a:latin typeface="Arial"/>
                <a:cs typeface="Arial"/>
              </a:rPr>
              <a:t> </a:t>
            </a:r>
            <a:r>
              <a:rPr sz="900" i="1" spc="-5" dirty="0">
                <a:latin typeface="Arial"/>
                <a:cs typeface="Arial"/>
              </a:rPr>
              <a:t>B</a:t>
            </a:r>
            <a:r>
              <a:rPr sz="900" i="1" spc="70" dirty="0">
                <a:latin typeface="Arial"/>
                <a:cs typeface="Arial"/>
              </a:rPr>
              <a:t> </a:t>
            </a:r>
            <a:r>
              <a:rPr sz="1000" spc="-15" dirty="0">
                <a:latin typeface="Arial"/>
                <a:cs typeface="Arial"/>
              </a:rPr>
              <a:t>are</a:t>
            </a:r>
            <a:r>
              <a:rPr sz="1000" spc="-5" dirty="0">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a</a:t>
            </a:r>
            <a:r>
              <a:rPr sz="1000" spc="-5" dirty="0">
                <a:latin typeface="Arial"/>
                <a:cs typeface="Arial"/>
              </a:rPr>
              <a:t> </a:t>
            </a:r>
            <a:r>
              <a:rPr sz="1000" spc="-15" dirty="0">
                <a:latin typeface="Arial"/>
                <a:cs typeface="Arial"/>
              </a:rPr>
              <a:t>position</a:t>
            </a:r>
            <a:r>
              <a:rPr sz="1000" spc="-5" dirty="0">
                <a:latin typeface="Arial"/>
                <a:cs typeface="Arial"/>
              </a:rPr>
              <a:t> </a:t>
            </a:r>
            <a:r>
              <a:rPr sz="1000" spc="-10" dirty="0">
                <a:latin typeface="Arial"/>
                <a:cs typeface="Arial"/>
              </a:rPr>
              <a:t>that</a:t>
            </a:r>
            <a:r>
              <a:rPr sz="1000" dirty="0">
                <a:latin typeface="Arial"/>
                <a:cs typeface="Arial"/>
              </a:rPr>
              <a:t> </a:t>
            </a:r>
            <a:r>
              <a:rPr sz="1000" spc="-20" dirty="0">
                <a:latin typeface="Arial"/>
                <a:cs typeface="Arial"/>
              </a:rPr>
              <a:t>they</a:t>
            </a:r>
            <a:r>
              <a:rPr sz="1000" spc="-5" dirty="0">
                <a:latin typeface="Arial"/>
                <a:cs typeface="Arial"/>
              </a:rPr>
              <a:t> </a:t>
            </a:r>
            <a:r>
              <a:rPr sz="1000" spc="-15" dirty="0">
                <a:latin typeface="Arial"/>
                <a:cs typeface="Arial"/>
              </a:rPr>
              <a:t>can</a:t>
            </a:r>
            <a:r>
              <a:rPr sz="1000" dirty="0">
                <a:latin typeface="Arial"/>
                <a:cs typeface="Arial"/>
              </a:rPr>
              <a:t> </a:t>
            </a:r>
            <a:r>
              <a:rPr sz="1000" spc="-15" dirty="0">
                <a:solidFill>
                  <a:srgbClr val="0000FA"/>
                </a:solidFill>
                <a:latin typeface="Arial"/>
                <a:cs typeface="Arial"/>
              </a:rPr>
              <a:t>trade</a:t>
            </a:r>
            <a:endParaRPr sz="1000" dirty="0">
              <a:latin typeface="Arial"/>
              <a:cs typeface="Arial"/>
            </a:endParaRPr>
          </a:p>
          <a:p>
            <a:pPr marL="365760">
              <a:lnSpc>
                <a:spcPts val="1200"/>
              </a:lnSpc>
            </a:pPr>
            <a:r>
              <a:rPr sz="1000" spc="-5" dirty="0">
                <a:latin typeface="Arial"/>
                <a:cs typeface="Arial"/>
              </a:rPr>
              <a:t>a</a:t>
            </a:r>
            <a:r>
              <a:rPr sz="1000" spc="-45" dirty="0">
                <a:latin typeface="Arial"/>
                <a:cs typeface="Arial"/>
              </a:rPr>
              <a:t> </a:t>
            </a:r>
            <a:r>
              <a:rPr sz="1000" spc="-10" dirty="0">
                <a:latin typeface="Arial"/>
                <a:cs typeface="Arial"/>
              </a:rPr>
              <a:t>block.</a:t>
            </a:r>
            <a:endParaRPr sz="1000" dirty="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36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Collaborative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35</a:t>
            </a:r>
            <a:r>
              <a:rPr spc="-40" dirty="0"/>
              <a:t> </a:t>
            </a:r>
            <a:r>
              <a:rPr spc="-5" dirty="0"/>
              <a:t>/</a:t>
            </a:r>
            <a:r>
              <a:rPr spc="-35" dirty="0"/>
              <a:t> </a:t>
            </a:r>
            <a:r>
              <a:rPr spc="-5" dirty="0"/>
              <a:t>36</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5" action="ppaction://hlinksldjump"/>
              </a:rPr>
              <a:t>System</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architecture</a:t>
            </a:r>
            <a:endParaRPr sz="600">
              <a:latin typeface="Arial"/>
              <a:cs typeface="Arial"/>
            </a:endParaRPr>
          </a:p>
        </p:txBody>
      </p:sp>
      <p:sp>
        <p:nvSpPr>
          <p:cNvPr id="3" name="object 3"/>
          <p:cNvSpPr txBox="1"/>
          <p:nvPr/>
        </p:nvSpPr>
        <p:spPr>
          <a:xfrm>
            <a:off x="3831374"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Hybrid</a:t>
            </a:r>
            <a:r>
              <a:rPr sz="600" spc="-2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Architectures</a:t>
            </a:r>
            <a:endParaRPr sz="600">
              <a:latin typeface="Arial"/>
              <a:cs typeface="Arial"/>
            </a:endParaRPr>
          </a:p>
        </p:txBody>
      </p:sp>
      <p:sp>
        <p:nvSpPr>
          <p:cNvPr id="4" name="object 4"/>
          <p:cNvSpPr txBox="1"/>
          <p:nvPr/>
        </p:nvSpPr>
        <p:spPr>
          <a:xfrm>
            <a:off x="95300" y="188846"/>
            <a:ext cx="1441450"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BitTorrent</a:t>
            </a:r>
            <a:r>
              <a:rPr sz="1400" spc="-40" dirty="0">
                <a:solidFill>
                  <a:srgbClr val="3333B2"/>
                </a:solidFill>
                <a:latin typeface="Arial"/>
                <a:cs typeface="Arial"/>
              </a:rPr>
              <a:t> </a:t>
            </a:r>
            <a:r>
              <a:rPr sz="1400" spc="15" dirty="0">
                <a:solidFill>
                  <a:srgbClr val="3333B2"/>
                </a:solidFill>
                <a:latin typeface="Arial"/>
                <a:cs typeface="Arial"/>
              </a:rPr>
              <a:t>phases</a:t>
            </a:r>
            <a:endParaRPr sz="1400" dirty="0">
              <a:latin typeface="Arial"/>
              <a:cs typeface="Arial"/>
            </a:endParaRPr>
          </a:p>
        </p:txBody>
      </p:sp>
      <p:sp>
        <p:nvSpPr>
          <p:cNvPr id="5" name="object 5"/>
          <p:cNvSpPr txBox="1"/>
          <p:nvPr/>
        </p:nvSpPr>
        <p:spPr>
          <a:xfrm>
            <a:off x="291795" y="852702"/>
            <a:ext cx="4020185" cy="1757680"/>
          </a:xfrm>
          <a:prstGeom prst="rect">
            <a:avLst/>
          </a:prstGeom>
        </p:spPr>
        <p:txBody>
          <a:bodyPr vert="horz" wrap="square" lIns="0" tIns="39370" rIns="0" bIns="0" rtlCol="0">
            <a:spAutoFit/>
          </a:bodyPr>
          <a:lstStyle/>
          <a:p>
            <a:pPr marL="67945">
              <a:lnSpc>
                <a:spcPct val="100000"/>
              </a:lnSpc>
              <a:spcBef>
                <a:spcPts val="310"/>
              </a:spcBef>
            </a:pPr>
            <a:r>
              <a:rPr sz="1200" spc="-5" dirty="0">
                <a:solidFill>
                  <a:srgbClr val="3333B2"/>
                </a:solidFill>
                <a:latin typeface="Arial"/>
                <a:cs typeface="Arial"/>
              </a:rPr>
              <a:t>Bootstrap</a:t>
            </a:r>
            <a:r>
              <a:rPr sz="1200" spc="-40" dirty="0">
                <a:solidFill>
                  <a:srgbClr val="3333B2"/>
                </a:solidFill>
                <a:latin typeface="Arial"/>
                <a:cs typeface="Arial"/>
              </a:rPr>
              <a:t> </a:t>
            </a:r>
            <a:r>
              <a:rPr sz="1200" spc="-5" dirty="0">
                <a:solidFill>
                  <a:srgbClr val="3333B2"/>
                </a:solidFill>
                <a:latin typeface="Arial"/>
                <a:cs typeface="Arial"/>
              </a:rPr>
              <a:t>phase</a:t>
            </a:r>
            <a:endParaRPr sz="1200" dirty="0">
              <a:latin typeface="Arial"/>
              <a:cs typeface="Arial"/>
            </a:endParaRPr>
          </a:p>
          <a:p>
            <a:pPr marL="67945" marR="55880">
              <a:lnSpc>
                <a:spcPct val="100000"/>
              </a:lnSpc>
              <a:spcBef>
                <a:spcPts val="175"/>
              </a:spcBef>
            </a:pPr>
            <a:r>
              <a:rPr sz="900" i="1" spc="-5" dirty="0">
                <a:latin typeface="Arial"/>
                <a:cs typeface="Arial"/>
              </a:rPr>
              <a:t>A</a:t>
            </a:r>
            <a:r>
              <a:rPr sz="900" i="1" spc="25" dirty="0">
                <a:latin typeface="Arial"/>
                <a:cs typeface="Arial"/>
              </a:rPr>
              <a:t> </a:t>
            </a:r>
            <a:r>
              <a:rPr sz="1000" spc="-15" dirty="0">
                <a:latin typeface="Arial"/>
                <a:cs typeface="Arial"/>
              </a:rPr>
              <a:t>has</a:t>
            </a:r>
            <a:r>
              <a:rPr sz="1000" dirty="0">
                <a:latin typeface="Arial"/>
                <a:cs typeface="Arial"/>
              </a:rPr>
              <a:t> </a:t>
            </a:r>
            <a:r>
              <a:rPr sz="1000" spc="-10" dirty="0">
                <a:latin typeface="Arial"/>
                <a:cs typeface="Arial"/>
              </a:rPr>
              <a:t>just</a:t>
            </a:r>
            <a:r>
              <a:rPr sz="1000" dirty="0">
                <a:latin typeface="Arial"/>
                <a:cs typeface="Arial"/>
              </a:rPr>
              <a:t> </a:t>
            </a:r>
            <a:r>
              <a:rPr sz="1000" spc="-15" dirty="0">
                <a:latin typeface="Arial"/>
                <a:cs typeface="Arial"/>
              </a:rPr>
              <a:t>received</a:t>
            </a:r>
            <a:r>
              <a:rPr sz="1000" dirty="0">
                <a:latin typeface="Arial"/>
                <a:cs typeface="Arial"/>
              </a:rPr>
              <a:t> </a:t>
            </a:r>
            <a:r>
              <a:rPr sz="1000" spc="-10" dirty="0">
                <a:latin typeface="Arial"/>
                <a:cs typeface="Arial"/>
              </a:rPr>
              <a:t>its</a:t>
            </a:r>
            <a:r>
              <a:rPr sz="1000" dirty="0">
                <a:latin typeface="Arial"/>
                <a:cs typeface="Arial"/>
              </a:rPr>
              <a:t> </a:t>
            </a:r>
            <a:r>
              <a:rPr sz="1000" spc="-10" dirty="0">
                <a:latin typeface="Arial"/>
                <a:cs typeface="Arial"/>
              </a:rPr>
              <a:t>first</a:t>
            </a:r>
            <a:r>
              <a:rPr sz="1000" dirty="0">
                <a:latin typeface="Arial"/>
                <a:cs typeface="Arial"/>
              </a:rPr>
              <a:t> </a:t>
            </a:r>
            <a:r>
              <a:rPr sz="1000" spc="-10" dirty="0">
                <a:latin typeface="Arial"/>
                <a:cs typeface="Arial"/>
              </a:rPr>
              <a:t>piece</a:t>
            </a:r>
            <a:r>
              <a:rPr sz="1000" dirty="0">
                <a:latin typeface="Arial"/>
                <a:cs typeface="Arial"/>
              </a:rPr>
              <a:t> </a:t>
            </a:r>
            <a:r>
              <a:rPr sz="1000" spc="-10" dirty="0">
                <a:latin typeface="Arial"/>
                <a:cs typeface="Arial"/>
              </a:rPr>
              <a:t>(through</a:t>
            </a:r>
            <a:r>
              <a:rPr sz="1000" dirty="0">
                <a:latin typeface="Arial"/>
                <a:cs typeface="Arial"/>
              </a:rPr>
              <a:t> </a:t>
            </a:r>
            <a:r>
              <a:rPr sz="1000" spc="-10" dirty="0">
                <a:solidFill>
                  <a:srgbClr val="FA0000"/>
                </a:solidFill>
                <a:latin typeface="Arial"/>
                <a:cs typeface="Arial"/>
              </a:rPr>
              <a:t>optimistic</a:t>
            </a:r>
            <a:r>
              <a:rPr sz="1000" spc="-5" dirty="0">
                <a:solidFill>
                  <a:srgbClr val="FA0000"/>
                </a:solidFill>
                <a:latin typeface="Arial"/>
                <a:cs typeface="Arial"/>
              </a:rPr>
              <a:t> </a:t>
            </a:r>
            <a:r>
              <a:rPr sz="1000" spc="-10" dirty="0">
                <a:solidFill>
                  <a:srgbClr val="FA0000"/>
                </a:solidFill>
                <a:latin typeface="Arial"/>
                <a:cs typeface="Arial"/>
              </a:rPr>
              <a:t>unchoking</a:t>
            </a:r>
            <a:r>
              <a:rPr sz="1000" spc="-10" dirty="0">
                <a:latin typeface="Arial"/>
                <a:cs typeface="Arial"/>
              </a:rPr>
              <a:t>:</a:t>
            </a:r>
            <a:r>
              <a:rPr sz="1000" spc="70" dirty="0">
                <a:latin typeface="Arial"/>
                <a:cs typeface="Arial"/>
              </a:rPr>
              <a:t> </a:t>
            </a:r>
            <a:r>
              <a:rPr sz="1000" spc="-15" dirty="0">
                <a:latin typeface="Arial"/>
                <a:cs typeface="Arial"/>
              </a:rPr>
              <a:t>a</a:t>
            </a:r>
            <a:r>
              <a:rPr sz="1000" spc="-5" dirty="0">
                <a:latin typeface="Arial"/>
                <a:cs typeface="Arial"/>
              </a:rPr>
              <a:t> </a:t>
            </a:r>
            <a:r>
              <a:rPr sz="1000" spc="-15" dirty="0">
                <a:latin typeface="Arial"/>
                <a:cs typeface="Arial"/>
              </a:rPr>
              <a:t>node </a:t>
            </a:r>
            <a:r>
              <a:rPr sz="1000" spc="-260" dirty="0">
                <a:latin typeface="Arial"/>
                <a:cs typeface="Arial"/>
              </a:rPr>
              <a:t> </a:t>
            </a:r>
            <a:r>
              <a:rPr sz="1000" spc="-5" dirty="0">
                <a:latin typeface="Arial"/>
                <a:cs typeface="Arial"/>
              </a:rPr>
              <a:t>from </a:t>
            </a:r>
            <a:r>
              <a:rPr sz="1000" i="1" spc="10" dirty="0">
                <a:latin typeface="Arial"/>
                <a:cs typeface="Arial"/>
              </a:rPr>
              <a:t>N</a:t>
            </a:r>
            <a:r>
              <a:rPr sz="1050" i="1" spc="15" baseline="-15873" dirty="0">
                <a:latin typeface="Arial"/>
                <a:cs typeface="Arial"/>
              </a:rPr>
              <a:t>A</a:t>
            </a:r>
            <a:r>
              <a:rPr sz="1050" i="1" spc="22" baseline="-15873" dirty="0">
                <a:latin typeface="Arial"/>
                <a:cs typeface="Arial"/>
              </a:rPr>
              <a:t> </a:t>
            </a:r>
            <a:r>
              <a:rPr sz="1000" spc="-5" dirty="0">
                <a:latin typeface="Arial"/>
                <a:cs typeface="Arial"/>
              </a:rPr>
              <a:t>unselfishly provides the </a:t>
            </a:r>
            <a:r>
              <a:rPr sz="1000" spc="-10" dirty="0">
                <a:latin typeface="Arial"/>
                <a:cs typeface="Arial"/>
              </a:rPr>
              <a:t>blocks </a:t>
            </a:r>
            <a:r>
              <a:rPr sz="1000" spc="-5" dirty="0">
                <a:latin typeface="Arial"/>
                <a:cs typeface="Arial"/>
              </a:rPr>
              <a:t>of a piece to get a </a:t>
            </a:r>
            <a:r>
              <a:rPr sz="1000" spc="-10" dirty="0">
                <a:latin typeface="Arial"/>
                <a:cs typeface="Arial"/>
              </a:rPr>
              <a:t>newly </a:t>
            </a:r>
            <a:r>
              <a:rPr sz="1000" spc="-5" dirty="0">
                <a:latin typeface="Arial"/>
                <a:cs typeface="Arial"/>
              </a:rPr>
              <a:t> arrived</a:t>
            </a:r>
            <a:r>
              <a:rPr sz="1000" spc="-10" dirty="0">
                <a:latin typeface="Arial"/>
                <a:cs typeface="Arial"/>
              </a:rPr>
              <a:t> </a:t>
            </a:r>
            <a:r>
              <a:rPr sz="1000" spc="-5" dirty="0">
                <a:latin typeface="Arial"/>
                <a:cs typeface="Arial"/>
              </a:rPr>
              <a:t>node </a:t>
            </a:r>
            <a:r>
              <a:rPr sz="1000" dirty="0">
                <a:latin typeface="Arial"/>
                <a:cs typeface="Arial"/>
              </a:rPr>
              <a:t>started).</a:t>
            </a:r>
          </a:p>
          <a:p>
            <a:pPr marL="63500">
              <a:lnSpc>
                <a:spcPct val="100000"/>
              </a:lnSpc>
              <a:spcBef>
                <a:spcPts val="680"/>
              </a:spcBef>
            </a:pPr>
            <a:r>
              <a:rPr sz="1200" spc="-30" dirty="0">
                <a:solidFill>
                  <a:srgbClr val="3333B2"/>
                </a:solidFill>
                <a:latin typeface="Arial"/>
                <a:cs typeface="Arial"/>
              </a:rPr>
              <a:t>Trading </a:t>
            </a:r>
            <a:r>
              <a:rPr sz="1200" spc="-5" dirty="0">
                <a:solidFill>
                  <a:srgbClr val="3333B2"/>
                </a:solidFill>
                <a:latin typeface="Arial"/>
                <a:cs typeface="Arial"/>
              </a:rPr>
              <a:t>phase</a:t>
            </a:r>
            <a:endParaRPr sz="1200" dirty="0">
              <a:latin typeface="Arial"/>
              <a:cs typeface="Arial"/>
            </a:endParaRPr>
          </a:p>
          <a:p>
            <a:pPr marL="67945">
              <a:lnSpc>
                <a:spcPct val="100000"/>
              </a:lnSpc>
              <a:spcBef>
                <a:spcPts val="190"/>
              </a:spcBef>
            </a:pPr>
            <a:r>
              <a:rPr sz="1000" i="1" spc="-65" dirty="0">
                <a:latin typeface="メイリオ"/>
                <a:cs typeface="メイリオ"/>
              </a:rPr>
              <a:t>|</a:t>
            </a:r>
            <a:r>
              <a:rPr sz="1000" i="1" spc="-65" dirty="0">
                <a:latin typeface="Arial"/>
                <a:cs typeface="Arial"/>
              </a:rPr>
              <a:t>P</a:t>
            </a:r>
            <a:r>
              <a:rPr sz="1050" i="1" spc="-97" baseline="-15873" dirty="0">
                <a:latin typeface="Arial"/>
                <a:cs typeface="Arial"/>
              </a:rPr>
              <a:t>A</a:t>
            </a:r>
            <a:r>
              <a:rPr sz="1000" i="1" spc="-65" dirty="0">
                <a:latin typeface="メイリオ"/>
                <a:cs typeface="メイリオ"/>
              </a:rPr>
              <a:t>|</a:t>
            </a:r>
            <a:r>
              <a:rPr sz="1000" i="1" spc="-120" dirty="0">
                <a:latin typeface="メイリオ"/>
                <a:cs typeface="メイリオ"/>
              </a:rPr>
              <a:t> </a:t>
            </a:r>
            <a:r>
              <a:rPr sz="1000" i="1" spc="190" dirty="0">
                <a:latin typeface="Arial"/>
                <a:cs typeface="Arial"/>
              </a:rPr>
              <a:t>&gt;</a:t>
            </a:r>
            <a:r>
              <a:rPr sz="1000" i="1" spc="-55" dirty="0">
                <a:latin typeface="Arial"/>
                <a:cs typeface="Arial"/>
              </a:rPr>
              <a:t> </a:t>
            </a:r>
            <a:r>
              <a:rPr sz="1000" spc="-5" dirty="0">
                <a:latin typeface="Arial"/>
                <a:cs typeface="Arial"/>
              </a:rPr>
              <a:t>0:</a:t>
            </a:r>
            <a:r>
              <a:rPr sz="1000" spc="65"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is (in</a:t>
            </a:r>
            <a:r>
              <a:rPr sz="1000" dirty="0">
                <a:latin typeface="Arial"/>
                <a:cs typeface="Arial"/>
              </a:rPr>
              <a:t> </a:t>
            </a:r>
            <a:r>
              <a:rPr sz="1000" spc="-5" dirty="0">
                <a:latin typeface="Arial"/>
                <a:cs typeface="Arial"/>
              </a:rPr>
              <a:t>principle)</a:t>
            </a:r>
            <a:r>
              <a:rPr sz="1000" dirty="0">
                <a:latin typeface="Arial"/>
                <a:cs typeface="Arial"/>
              </a:rPr>
              <a:t> </a:t>
            </a:r>
            <a:r>
              <a:rPr sz="1000" spc="-10" dirty="0">
                <a:latin typeface="Arial"/>
                <a:cs typeface="Arial"/>
              </a:rPr>
              <a:t>always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peer</a:t>
            </a:r>
            <a:r>
              <a:rPr sz="1000" dirty="0">
                <a:latin typeface="Arial"/>
                <a:cs typeface="Arial"/>
              </a:rPr>
              <a:t> </a:t>
            </a:r>
            <a:r>
              <a:rPr sz="1000" spc="-5" dirty="0">
                <a:latin typeface="Arial"/>
                <a:cs typeface="Arial"/>
              </a:rPr>
              <a:t>with whom</a:t>
            </a:r>
            <a:r>
              <a:rPr sz="1000" dirty="0">
                <a:latin typeface="Arial"/>
                <a:cs typeface="Arial"/>
              </a:rPr>
              <a:t> </a:t>
            </a:r>
            <a:r>
              <a:rPr sz="900" i="1" spc="-5" dirty="0">
                <a:latin typeface="Arial"/>
                <a:cs typeface="Arial"/>
              </a:rPr>
              <a:t>A</a:t>
            </a:r>
            <a:r>
              <a:rPr sz="900" i="1" spc="30" dirty="0">
                <a:latin typeface="Arial"/>
                <a:cs typeface="Arial"/>
              </a:rPr>
              <a:t> </a:t>
            </a:r>
            <a:r>
              <a:rPr sz="1000" spc="-5" dirty="0">
                <a:latin typeface="Arial"/>
                <a:cs typeface="Arial"/>
              </a:rPr>
              <a:t>can</a:t>
            </a:r>
            <a:r>
              <a:rPr sz="1000" dirty="0">
                <a:latin typeface="Arial"/>
                <a:cs typeface="Arial"/>
              </a:rPr>
              <a:t> </a:t>
            </a:r>
            <a:r>
              <a:rPr sz="1000" spc="-10" dirty="0">
                <a:latin typeface="Arial"/>
                <a:cs typeface="Arial"/>
              </a:rPr>
              <a:t>trade.</a:t>
            </a:r>
            <a:endParaRPr sz="1000" dirty="0">
              <a:latin typeface="Arial"/>
              <a:cs typeface="Arial"/>
            </a:endParaRPr>
          </a:p>
          <a:p>
            <a:pPr marL="67945">
              <a:lnSpc>
                <a:spcPct val="100000"/>
              </a:lnSpc>
              <a:spcBef>
                <a:spcPts val="695"/>
              </a:spcBef>
            </a:pPr>
            <a:r>
              <a:rPr sz="1200" spc="-5" dirty="0">
                <a:solidFill>
                  <a:srgbClr val="3333B2"/>
                </a:solidFill>
                <a:latin typeface="Arial"/>
                <a:cs typeface="Arial"/>
              </a:rPr>
              <a:t>Last</a:t>
            </a:r>
            <a:r>
              <a:rPr sz="1200" spc="-20" dirty="0">
                <a:solidFill>
                  <a:srgbClr val="3333B2"/>
                </a:solidFill>
                <a:latin typeface="Arial"/>
                <a:cs typeface="Arial"/>
              </a:rPr>
              <a:t> </a:t>
            </a:r>
            <a:r>
              <a:rPr sz="1200" spc="-10" dirty="0">
                <a:solidFill>
                  <a:srgbClr val="3333B2"/>
                </a:solidFill>
                <a:latin typeface="Arial"/>
                <a:cs typeface="Arial"/>
              </a:rPr>
              <a:t>download</a:t>
            </a:r>
            <a:r>
              <a:rPr sz="1200" spc="-15" dirty="0">
                <a:solidFill>
                  <a:srgbClr val="3333B2"/>
                </a:solidFill>
                <a:latin typeface="Arial"/>
                <a:cs typeface="Arial"/>
              </a:rPr>
              <a:t> </a:t>
            </a:r>
            <a:r>
              <a:rPr sz="1200" spc="-5" dirty="0">
                <a:solidFill>
                  <a:srgbClr val="3333B2"/>
                </a:solidFill>
                <a:latin typeface="Arial"/>
                <a:cs typeface="Arial"/>
              </a:rPr>
              <a:t>phase</a:t>
            </a:r>
            <a:endParaRPr sz="1200" dirty="0">
              <a:latin typeface="Arial"/>
              <a:cs typeface="Arial"/>
            </a:endParaRPr>
          </a:p>
          <a:p>
            <a:pPr marL="67945" marR="100965">
              <a:lnSpc>
                <a:spcPct val="100000"/>
              </a:lnSpc>
              <a:spcBef>
                <a:spcPts val="175"/>
              </a:spcBef>
            </a:pPr>
            <a:r>
              <a:rPr sz="1000" i="1" spc="-65" dirty="0">
                <a:latin typeface="メイリオ"/>
                <a:cs typeface="メイリオ"/>
              </a:rPr>
              <a:t>|</a:t>
            </a:r>
            <a:r>
              <a:rPr sz="1000" i="1" spc="-65" dirty="0">
                <a:latin typeface="Arial"/>
                <a:cs typeface="Arial"/>
              </a:rPr>
              <a:t>P</a:t>
            </a:r>
            <a:r>
              <a:rPr sz="1050" i="1" spc="-97" baseline="-15873" dirty="0">
                <a:latin typeface="Arial"/>
                <a:cs typeface="Arial"/>
              </a:rPr>
              <a:t>A</a:t>
            </a:r>
            <a:r>
              <a:rPr sz="1000" i="1" spc="-65" dirty="0">
                <a:latin typeface="メイリオ"/>
                <a:cs typeface="メイリオ"/>
              </a:rPr>
              <a:t>| </a:t>
            </a:r>
            <a:r>
              <a:rPr sz="1000" spc="190" dirty="0">
                <a:latin typeface="Arial"/>
                <a:cs typeface="Arial"/>
              </a:rPr>
              <a:t>= </a:t>
            </a:r>
            <a:r>
              <a:rPr sz="1000" spc="-5" dirty="0">
                <a:latin typeface="Arial"/>
                <a:cs typeface="Arial"/>
              </a:rPr>
              <a:t>0: </a:t>
            </a:r>
            <a:r>
              <a:rPr sz="900" i="1" spc="-5" dirty="0">
                <a:latin typeface="Arial"/>
                <a:cs typeface="Arial"/>
              </a:rPr>
              <a:t>A </a:t>
            </a:r>
            <a:r>
              <a:rPr sz="1000" spc="-5" dirty="0">
                <a:latin typeface="Arial"/>
                <a:cs typeface="Arial"/>
              </a:rPr>
              <a:t>is dependent on </a:t>
            </a:r>
            <a:r>
              <a:rPr sz="1000" spc="-10" dirty="0">
                <a:latin typeface="Arial"/>
                <a:cs typeface="Arial"/>
              </a:rPr>
              <a:t>newly </a:t>
            </a:r>
            <a:r>
              <a:rPr sz="1000" spc="-5" dirty="0">
                <a:latin typeface="Arial"/>
                <a:cs typeface="Arial"/>
              </a:rPr>
              <a:t>arriving peers in </a:t>
            </a:r>
            <a:r>
              <a:rPr sz="1000" i="1" spc="10" dirty="0">
                <a:latin typeface="Arial"/>
                <a:cs typeface="Arial"/>
              </a:rPr>
              <a:t>N</a:t>
            </a:r>
            <a:r>
              <a:rPr sz="1050" i="1" spc="15" baseline="-15873" dirty="0">
                <a:latin typeface="Arial"/>
                <a:cs typeface="Arial"/>
              </a:rPr>
              <a:t>A </a:t>
            </a:r>
            <a:r>
              <a:rPr sz="1000" spc="-5" dirty="0">
                <a:latin typeface="Arial"/>
                <a:cs typeface="Arial"/>
              </a:rPr>
              <a:t>in order to get </a:t>
            </a:r>
            <a:r>
              <a:rPr sz="1000" spc="-265" dirty="0">
                <a:latin typeface="Arial"/>
                <a:cs typeface="Arial"/>
              </a:rPr>
              <a:t> </a:t>
            </a:r>
            <a:r>
              <a:rPr sz="1000" spc="-5" dirty="0">
                <a:latin typeface="Arial"/>
                <a:cs typeface="Arial"/>
              </a:rPr>
              <a:t>the last missing</a:t>
            </a:r>
            <a:r>
              <a:rPr sz="1000" dirty="0">
                <a:latin typeface="Arial"/>
                <a:cs typeface="Arial"/>
              </a:rPr>
              <a:t> </a:t>
            </a:r>
            <a:r>
              <a:rPr sz="1000" spc="-5" dirty="0">
                <a:latin typeface="Arial"/>
                <a:cs typeface="Arial"/>
              </a:rPr>
              <a:t>pieces.</a:t>
            </a:r>
            <a:r>
              <a:rPr sz="1000" spc="60" dirty="0">
                <a:latin typeface="Arial"/>
                <a:cs typeface="Arial"/>
              </a:rPr>
              <a:t> </a:t>
            </a:r>
            <a:r>
              <a:rPr sz="1000" i="1" spc="10" dirty="0">
                <a:latin typeface="Arial"/>
                <a:cs typeface="Arial"/>
              </a:rPr>
              <a:t>N</a:t>
            </a:r>
            <a:r>
              <a:rPr sz="1050" i="1" spc="15" baseline="-15873" dirty="0">
                <a:latin typeface="Arial"/>
                <a:cs typeface="Arial"/>
              </a:rPr>
              <a:t>A</a:t>
            </a:r>
            <a:r>
              <a:rPr sz="1050" i="1" spc="195" baseline="-15873"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change only through</a:t>
            </a:r>
            <a:r>
              <a:rPr sz="1000" dirty="0">
                <a:latin typeface="Arial"/>
                <a:cs typeface="Arial"/>
              </a:rPr>
              <a:t> </a:t>
            </a:r>
            <a:r>
              <a:rPr sz="1000" spc="-5" dirty="0">
                <a:latin typeface="Arial"/>
                <a:cs typeface="Arial"/>
              </a:rPr>
              <a:t>the </a:t>
            </a:r>
            <a:r>
              <a:rPr sz="1000" spc="-15" dirty="0">
                <a:latin typeface="Arial"/>
                <a:cs typeface="Arial"/>
              </a:rPr>
              <a:t>tracker.</a:t>
            </a:r>
            <a:endParaRPr sz="1000" dirty="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Architectures:</a:t>
            </a:r>
            <a:r>
              <a:rPr sz="600" spc="155" dirty="0">
                <a:solidFill>
                  <a:srgbClr val="3333B2"/>
                </a:solidFill>
                <a:latin typeface="Arial"/>
                <a:cs typeface="Arial"/>
              </a:rPr>
              <a:t> </a:t>
            </a:r>
            <a:r>
              <a:rPr sz="600" spc="-5" dirty="0">
                <a:solidFill>
                  <a:srgbClr val="3333B2"/>
                </a:solidFill>
                <a:latin typeface="Arial"/>
                <a:cs typeface="Arial"/>
                <a:hlinkClick r:id="rId4" action="ppaction://hlinksldjump"/>
              </a:rPr>
              <a:t>System</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architecture</a:t>
            </a:r>
            <a:endParaRPr sz="600">
              <a:latin typeface="Arial"/>
              <a:cs typeface="Arial"/>
            </a:endParaRPr>
          </a:p>
        </p:txBody>
      </p:sp>
      <p:sp>
        <p:nvSpPr>
          <p:cNvPr id="3" name="object 3"/>
          <p:cNvSpPr txBox="1"/>
          <p:nvPr/>
        </p:nvSpPr>
        <p:spPr>
          <a:xfrm>
            <a:off x="3831374" y="716"/>
            <a:ext cx="7099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Hybrid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Architectures</a:t>
            </a:r>
            <a:endParaRPr sz="600">
              <a:latin typeface="Arial"/>
              <a:cs typeface="Arial"/>
            </a:endParaRPr>
          </a:p>
        </p:txBody>
      </p:sp>
      <p:sp>
        <p:nvSpPr>
          <p:cNvPr id="4" name="object 4"/>
          <p:cNvSpPr txBox="1"/>
          <p:nvPr/>
        </p:nvSpPr>
        <p:spPr>
          <a:xfrm>
            <a:off x="95300" y="188846"/>
            <a:ext cx="2557145" cy="66992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BitTorrent</a:t>
            </a:r>
            <a:r>
              <a:rPr sz="1400" spc="-20" dirty="0">
                <a:solidFill>
                  <a:srgbClr val="3333B2"/>
                </a:solidFill>
                <a:latin typeface="Arial"/>
                <a:cs typeface="Arial"/>
              </a:rPr>
              <a:t> </a:t>
            </a:r>
            <a:r>
              <a:rPr sz="1400" spc="15" dirty="0">
                <a:solidFill>
                  <a:srgbClr val="3333B2"/>
                </a:solidFill>
                <a:latin typeface="Arial"/>
                <a:cs typeface="Arial"/>
              </a:rPr>
              <a:t>phases</a:t>
            </a:r>
            <a:endParaRPr sz="1400">
              <a:latin typeface="Arial"/>
              <a:cs typeface="Arial"/>
            </a:endParaRPr>
          </a:p>
          <a:p>
            <a:pPr>
              <a:lnSpc>
                <a:spcPct val="100000"/>
              </a:lnSpc>
              <a:spcBef>
                <a:spcPts val="20"/>
              </a:spcBef>
            </a:pPr>
            <a:endParaRPr sz="1650">
              <a:latin typeface="Arial"/>
              <a:cs typeface="Arial"/>
            </a:endParaRPr>
          </a:p>
          <a:p>
            <a:pPr marL="264160">
              <a:lnSpc>
                <a:spcPct val="100000"/>
              </a:lnSpc>
            </a:pPr>
            <a:r>
              <a:rPr sz="1200" spc="-5" dirty="0">
                <a:solidFill>
                  <a:srgbClr val="3333B2"/>
                </a:solidFill>
                <a:latin typeface="Arial"/>
                <a:cs typeface="Arial"/>
              </a:rPr>
              <a:t>D</a:t>
            </a:r>
            <a:r>
              <a:rPr sz="1200" spc="-45" dirty="0">
                <a:solidFill>
                  <a:srgbClr val="3333B2"/>
                </a:solidFill>
                <a:latin typeface="Arial"/>
                <a:cs typeface="Arial"/>
              </a:rPr>
              <a:t>e</a:t>
            </a:r>
            <a:r>
              <a:rPr sz="1200" spc="-35" dirty="0">
                <a:solidFill>
                  <a:srgbClr val="3333B2"/>
                </a:solidFill>
                <a:latin typeface="Arial"/>
                <a:cs typeface="Arial"/>
              </a:rPr>
              <a:t>v</a:t>
            </a:r>
            <a:r>
              <a:rPr sz="1200" spc="-5" dirty="0">
                <a:solidFill>
                  <a:srgbClr val="3333B2"/>
                </a:solidFill>
                <a:latin typeface="Arial"/>
                <a:cs typeface="Arial"/>
              </a:rPr>
              <a:t>elopment of </a:t>
            </a:r>
            <a:r>
              <a:rPr sz="1200" i="1" spc="-200" dirty="0">
                <a:solidFill>
                  <a:srgbClr val="3333B2"/>
                </a:solidFill>
                <a:latin typeface="メイリオ"/>
                <a:cs typeface="メイリオ"/>
              </a:rPr>
              <a:t>|</a:t>
            </a:r>
            <a:r>
              <a:rPr sz="1200" i="1" spc="75" dirty="0">
                <a:solidFill>
                  <a:srgbClr val="3333B2"/>
                </a:solidFill>
                <a:latin typeface="Arial"/>
                <a:cs typeface="Arial"/>
              </a:rPr>
              <a:t>P</a:t>
            </a:r>
            <a:r>
              <a:rPr sz="1200" i="1" spc="-200" dirty="0">
                <a:solidFill>
                  <a:srgbClr val="3333B2"/>
                </a:solidFill>
                <a:latin typeface="メイリオ"/>
                <a:cs typeface="メイリオ"/>
              </a:rPr>
              <a:t>|</a:t>
            </a:r>
            <a:r>
              <a:rPr sz="1200" i="1" spc="-80" dirty="0">
                <a:solidFill>
                  <a:srgbClr val="3333B2"/>
                </a:solidFill>
                <a:latin typeface="メイリオ"/>
                <a:cs typeface="メイリオ"/>
              </a:rPr>
              <a:t> </a:t>
            </a:r>
            <a:r>
              <a:rPr sz="1200" spc="-5" dirty="0">
                <a:solidFill>
                  <a:srgbClr val="3333B2"/>
                </a:solidFill>
                <a:latin typeface="Arial"/>
                <a:cs typeface="Arial"/>
              </a:rPr>
              <a:t>relati</a:t>
            </a:r>
            <a:r>
              <a:rPr sz="1200" spc="-35" dirty="0">
                <a:solidFill>
                  <a:srgbClr val="3333B2"/>
                </a:solidFill>
                <a:latin typeface="Arial"/>
                <a:cs typeface="Arial"/>
              </a:rPr>
              <a:t>v</a:t>
            </a:r>
            <a:r>
              <a:rPr sz="1200" spc="-5" dirty="0">
                <a:solidFill>
                  <a:srgbClr val="3333B2"/>
                </a:solidFill>
                <a:latin typeface="Arial"/>
                <a:cs typeface="Arial"/>
              </a:rPr>
              <a:t>e to </a:t>
            </a:r>
            <a:r>
              <a:rPr sz="1200" i="1" spc="-204" dirty="0">
                <a:solidFill>
                  <a:srgbClr val="3333B2"/>
                </a:solidFill>
                <a:latin typeface="メイリオ"/>
                <a:cs typeface="メイリオ"/>
              </a:rPr>
              <a:t>|</a:t>
            </a:r>
            <a:r>
              <a:rPr sz="1200" i="1" spc="85" dirty="0">
                <a:solidFill>
                  <a:srgbClr val="3333B2"/>
                </a:solidFill>
                <a:latin typeface="Arial"/>
                <a:cs typeface="Arial"/>
              </a:rPr>
              <a:t>N</a:t>
            </a:r>
            <a:r>
              <a:rPr sz="1200" i="1" spc="-200" dirty="0">
                <a:solidFill>
                  <a:srgbClr val="3333B2"/>
                </a:solidFill>
                <a:latin typeface="メイリオ"/>
                <a:cs typeface="メイリオ"/>
              </a:rPr>
              <a:t>|</a:t>
            </a:r>
            <a:r>
              <a:rPr sz="1200" spc="-5" dirty="0">
                <a:solidFill>
                  <a:srgbClr val="3333B2"/>
                </a:solidFill>
                <a:latin typeface="Arial"/>
                <a:cs typeface="Arial"/>
              </a:rPr>
              <a:t>.</a:t>
            </a:r>
            <a:endParaRPr sz="1200">
              <a:latin typeface="Arial"/>
              <a:cs typeface="Arial"/>
            </a:endParaRPr>
          </a:p>
        </p:txBody>
      </p:sp>
      <p:grpSp>
        <p:nvGrpSpPr>
          <p:cNvPr id="5" name="object 5"/>
          <p:cNvGrpSpPr/>
          <p:nvPr/>
        </p:nvGrpSpPr>
        <p:grpSpPr>
          <a:xfrm>
            <a:off x="1748566" y="1013689"/>
            <a:ext cx="1534160" cy="1533525"/>
            <a:chOff x="1748566" y="1013689"/>
            <a:chExt cx="1534160" cy="1533525"/>
          </a:xfrm>
        </p:grpSpPr>
        <p:sp>
          <p:nvSpPr>
            <p:cNvPr id="6" name="object 6"/>
            <p:cNvSpPr/>
            <p:nvPr/>
          </p:nvSpPr>
          <p:spPr>
            <a:xfrm>
              <a:off x="1751755" y="1016683"/>
              <a:ext cx="1524635" cy="1524635"/>
            </a:xfrm>
            <a:custGeom>
              <a:avLst/>
              <a:gdLst/>
              <a:ahLst/>
              <a:cxnLst/>
              <a:rect l="l" t="t" r="r" b="b"/>
              <a:pathLst>
                <a:path w="1524635" h="1524635">
                  <a:moveTo>
                    <a:pt x="0" y="1524246"/>
                  </a:moveTo>
                  <a:lnTo>
                    <a:pt x="26094" y="1524246"/>
                  </a:lnTo>
                </a:path>
                <a:path w="1524635" h="1524635">
                  <a:moveTo>
                    <a:pt x="0" y="1524246"/>
                  </a:moveTo>
                  <a:lnTo>
                    <a:pt x="26094" y="1524246"/>
                  </a:lnTo>
                </a:path>
                <a:path w="1524635" h="1524635">
                  <a:moveTo>
                    <a:pt x="0" y="1524246"/>
                  </a:moveTo>
                  <a:lnTo>
                    <a:pt x="0" y="1501380"/>
                  </a:lnTo>
                </a:path>
                <a:path w="1524635" h="1524635">
                  <a:moveTo>
                    <a:pt x="0" y="1524246"/>
                  </a:moveTo>
                  <a:lnTo>
                    <a:pt x="0" y="1501380"/>
                  </a:lnTo>
                </a:path>
                <a:path w="1524635" h="1524635">
                  <a:moveTo>
                    <a:pt x="1524216" y="1524246"/>
                  </a:moveTo>
                  <a:lnTo>
                    <a:pt x="1498129" y="1524246"/>
                  </a:lnTo>
                </a:path>
                <a:path w="1524635" h="1524635">
                  <a:moveTo>
                    <a:pt x="1524216" y="1524246"/>
                  </a:moveTo>
                  <a:lnTo>
                    <a:pt x="1498129" y="1524246"/>
                  </a:lnTo>
                </a:path>
                <a:path w="1524635" h="1524635">
                  <a:moveTo>
                    <a:pt x="1524216" y="1524246"/>
                  </a:moveTo>
                  <a:lnTo>
                    <a:pt x="1524216" y="1501380"/>
                  </a:lnTo>
                </a:path>
                <a:path w="1524635" h="1524635">
                  <a:moveTo>
                    <a:pt x="1524216" y="1524246"/>
                  </a:moveTo>
                  <a:lnTo>
                    <a:pt x="1524216" y="1501380"/>
                  </a:lnTo>
                </a:path>
                <a:path w="1524635" h="1524635">
                  <a:moveTo>
                    <a:pt x="0" y="1371821"/>
                  </a:moveTo>
                  <a:lnTo>
                    <a:pt x="26094" y="1371821"/>
                  </a:lnTo>
                </a:path>
                <a:path w="1524635" h="1524635">
                  <a:moveTo>
                    <a:pt x="0" y="1371821"/>
                  </a:moveTo>
                  <a:lnTo>
                    <a:pt x="26094" y="1371821"/>
                  </a:lnTo>
                </a:path>
                <a:path w="1524635" h="1524635">
                  <a:moveTo>
                    <a:pt x="1524216" y="1371821"/>
                  </a:moveTo>
                  <a:lnTo>
                    <a:pt x="1498129" y="1371821"/>
                  </a:lnTo>
                </a:path>
                <a:path w="1524635" h="1524635">
                  <a:moveTo>
                    <a:pt x="1524216" y="1371821"/>
                  </a:moveTo>
                  <a:lnTo>
                    <a:pt x="1498129" y="1371821"/>
                  </a:lnTo>
                </a:path>
                <a:path w="1524635" h="1524635">
                  <a:moveTo>
                    <a:pt x="0" y="1219396"/>
                  </a:moveTo>
                  <a:lnTo>
                    <a:pt x="26094" y="1219396"/>
                  </a:lnTo>
                </a:path>
                <a:path w="1524635" h="1524635">
                  <a:moveTo>
                    <a:pt x="0" y="1219396"/>
                  </a:moveTo>
                  <a:lnTo>
                    <a:pt x="26094" y="1219396"/>
                  </a:lnTo>
                </a:path>
                <a:path w="1524635" h="1524635">
                  <a:moveTo>
                    <a:pt x="1524216" y="1219396"/>
                  </a:moveTo>
                  <a:lnTo>
                    <a:pt x="1498129" y="1219396"/>
                  </a:lnTo>
                </a:path>
                <a:path w="1524635" h="1524635">
                  <a:moveTo>
                    <a:pt x="1524216" y="1219396"/>
                  </a:moveTo>
                  <a:lnTo>
                    <a:pt x="1498129" y="1219396"/>
                  </a:lnTo>
                </a:path>
                <a:path w="1524635" h="1524635">
                  <a:moveTo>
                    <a:pt x="0" y="1066967"/>
                  </a:moveTo>
                  <a:lnTo>
                    <a:pt x="26094" y="1066967"/>
                  </a:lnTo>
                </a:path>
                <a:path w="1524635" h="1524635">
                  <a:moveTo>
                    <a:pt x="0" y="1066967"/>
                  </a:moveTo>
                  <a:lnTo>
                    <a:pt x="26094" y="1066967"/>
                  </a:lnTo>
                </a:path>
                <a:path w="1524635" h="1524635">
                  <a:moveTo>
                    <a:pt x="1524216" y="1066967"/>
                  </a:moveTo>
                  <a:lnTo>
                    <a:pt x="1498129" y="1066967"/>
                  </a:lnTo>
                </a:path>
                <a:path w="1524635" h="1524635">
                  <a:moveTo>
                    <a:pt x="1524216" y="1066967"/>
                  </a:moveTo>
                  <a:lnTo>
                    <a:pt x="1498129" y="1066967"/>
                  </a:lnTo>
                </a:path>
                <a:path w="1524635" h="1524635">
                  <a:moveTo>
                    <a:pt x="0" y="914546"/>
                  </a:moveTo>
                  <a:lnTo>
                    <a:pt x="26094" y="914546"/>
                  </a:lnTo>
                </a:path>
                <a:path w="1524635" h="1524635">
                  <a:moveTo>
                    <a:pt x="0" y="914546"/>
                  </a:moveTo>
                  <a:lnTo>
                    <a:pt x="26094" y="914546"/>
                  </a:lnTo>
                </a:path>
                <a:path w="1524635" h="1524635">
                  <a:moveTo>
                    <a:pt x="1524216" y="914546"/>
                  </a:moveTo>
                  <a:lnTo>
                    <a:pt x="1498129" y="914546"/>
                  </a:lnTo>
                </a:path>
                <a:path w="1524635" h="1524635">
                  <a:moveTo>
                    <a:pt x="1524216" y="914546"/>
                  </a:moveTo>
                  <a:lnTo>
                    <a:pt x="1498129" y="914546"/>
                  </a:lnTo>
                </a:path>
                <a:path w="1524635" h="1524635">
                  <a:moveTo>
                    <a:pt x="0" y="762121"/>
                  </a:moveTo>
                  <a:lnTo>
                    <a:pt x="26094" y="762121"/>
                  </a:lnTo>
                </a:path>
                <a:path w="1524635" h="1524635">
                  <a:moveTo>
                    <a:pt x="0" y="762121"/>
                  </a:moveTo>
                  <a:lnTo>
                    <a:pt x="26094" y="762121"/>
                  </a:lnTo>
                </a:path>
                <a:path w="1524635" h="1524635">
                  <a:moveTo>
                    <a:pt x="1524216" y="762121"/>
                  </a:moveTo>
                  <a:lnTo>
                    <a:pt x="1498129" y="762121"/>
                  </a:lnTo>
                </a:path>
                <a:path w="1524635" h="1524635">
                  <a:moveTo>
                    <a:pt x="1524216" y="762121"/>
                  </a:moveTo>
                  <a:lnTo>
                    <a:pt x="1498129" y="762121"/>
                  </a:lnTo>
                </a:path>
                <a:path w="1524635" h="1524635">
                  <a:moveTo>
                    <a:pt x="0" y="609695"/>
                  </a:moveTo>
                  <a:lnTo>
                    <a:pt x="26094" y="609695"/>
                  </a:lnTo>
                </a:path>
                <a:path w="1524635" h="1524635">
                  <a:moveTo>
                    <a:pt x="0" y="609695"/>
                  </a:moveTo>
                  <a:lnTo>
                    <a:pt x="26094" y="609695"/>
                  </a:lnTo>
                </a:path>
                <a:path w="1524635" h="1524635">
                  <a:moveTo>
                    <a:pt x="1524216" y="609695"/>
                  </a:moveTo>
                  <a:lnTo>
                    <a:pt x="1498129" y="609695"/>
                  </a:lnTo>
                </a:path>
                <a:path w="1524635" h="1524635">
                  <a:moveTo>
                    <a:pt x="1524216" y="609695"/>
                  </a:moveTo>
                  <a:lnTo>
                    <a:pt x="1498129" y="609695"/>
                  </a:lnTo>
                </a:path>
                <a:path w="1524635" h="1524635">
                  <a:moveTo>
                    <a:pt x="0" y="457268"/>
                  </a:moveTo>
                  <a:lnTo>
                    <a:pt x="26094" y="457268"/>
                  </a:lnTo>
                </a:path>
                <a:path w="1524635" h="1524635">
                  <a:moveTo>
                    <a:pt x="0" y="457268"/>
                  </a:moveTo>
                  <a:lnTo>
                    <a:pt x="26094" y="457268"/>
                  </a:lnTo>
                </a:path>
                <a:path w="1524635" h="1524635">
                  <a:moveTo>
                    <a:pt x="1524216" y="457268"/>
                  </a:moveTo>
                  <a:lnTo>
                    <a:pt x="1498129" y="457268"/>
                  </a:lnTo>
                </a:path>
                <a:path w="1524635" h="1524635">
                  <a:moveTo>
                    <a:pt x="1524216" y="457268"/>
                  </a:moveTo>
                  <a:lnTo>
                    <a:pt x="1498129" y="457268"/>
                  </a:lnTo>
                </a:path>
                <a:path w="1524635" h="1524635">
                  <a:moveTo>
                    <a:pt x="0" y="304841"/>
                  </a:moveTo>
                  <a:lnTo>
                    <a:pt x="26094" y="304841"/>
                  </a:lnTo>
                </a:path>
                <a:path w="1524635" h="1524635">
                  <a:moveTo>
                    <a:pt x="0" y="304841"/>
                  </a:moveTo>
                  <a:lnTo>
                    <a:pt x="26094" y="304841"/>
                  </a:lnTo>
                </a:path>
                <a:path w="1524635" h="1524635">
                  <a:moveTo>
                    <a:pt x="1524216" y="304841"/>
                  </a:moveTo>
                  <a:lnTo>
                    <a:pt x="1498129" y="304841"/>
                  </a:lnTo>
                </a:path>
                <a:path w="1524635" h="1524635">
                  <a:moveTo>
                    <a:pt x="1524216" y="304841"/>
                  </a:moveTo>
                  <a:lnTo>
                    <a:pt x="1498129" y="304841"/>
                  </a:lnTo>
                </a:path>
                <a:path w="1524635" h="1524635">
                  <a:moveTo>
                    <a:pt x="0" y="152426"/>
                  </a:moveTo>
                  <a:lnTo>
                    <a:pt x="26094" y="152426"/>
                  </a:lnTo>
                </a:path>
                <a:path w="1524635" h="1524635">
                  <a:moveTo>
                    <a:pt x="0" y="152426"/>
                  </a:moveTo>
                  <a:lnTo>
                    <a:pt x="26094" y="152426"/>
                  </a:lnTo>
                </a:path>
                <a:path w="1524635" h="1524635">
                  <a:moveTo>
                    <a:pt x="1524216" y="152426"/>
                  </a:moveTo>
                  <a:lnTo>
                    <a:pt x="1498129" y="152426"/>
                  </a:lnTo>
                </a:path>
                <a:path w="1524635" h="1524635">
                  <a:moveTo>
                    <a:pt x="1524216" y="152426"/>
                  </a:moveTo>
                  <a:lnTo>
                    <a:pt x="1498129" y="152426"/>
                  </a:lnTo>
                </a:path>
                <a:path w="1524635" h="1524635">
                  <a:moveTo>
                    <a:pt x="0" y="0"/>
                  </a:moveTo>
                  <a:lnTo>
                    <a:pt x="26094" y="0"/>
                  </a:lnTo>
                </a:path>
                <a:path w="1524635" h="1524635">
                  <a:moveTo>
                    <a:pt x="0" y="0"/>
                  </a:moveTo>
                  <a:lnTo>
                    <a:pt x="26094" y="0"/>
                  </a:lnTo>
                </a:path>
                <a:path w="1524635" h="1524635">
                  <a:moveTo>
                    <a:pt x="0" y="0"/>
                  </a:moveTo>
                  <a:lnTo>
                    <a:pt x="0" y="22858"/>
                  </a:lnTo>
                </a:path>
                <a:path w="1524635" h="1524635">
                  <a:moveTo>
                    <a:pt x="0" y="0"/>
                  </a:moveTo>
                  <a:lnTo>
                    <a:pt x="0" y="22858"/>
                  </a:lnTo>
                </a:path>
                <a:path w="1524635" h="1524635">
                  <a:moveTo>
                    <a:pt x="1524216" y="0"/>
                  </a:moveTo>
                  <a:lnTo>
                    <a:pt x="1498129" y="0"/>
                  </a:lnTo>
                </a:path>
                <a:path w="1524635" h="1524635">
                  <a:moveTo>
                    <a:pt x="1524216" y="0"/>
                  </a:moveTo>
                  <a:lnTo>
                    <a:pt x="1498129" y="0"/>
                  </a:lnTo>
                </a:path>
                <a:path w="1524635" h="1524635">
                  <a:moveTo>
                    <a:pt x="1524216" y="0"/>
                  </a:moveTo>
                  <a:lnTo>
                    <a:pt x="1524216" y="22858"/>
                  </a:lnTo>
                </a:path>
                <a:path w="1524635" h="1524635">
                  <a:moveTo>
                    <a:pt x="1524216" y="0"/>
                  </a:moveTo>
                  <a:lnTo>
                    <a:pt x="1524216" y="22858"/>
                  </a:lnTo>
                </a:path>
                <a:path w="1524635" h="1524635">
                  <a:moveTo>
                    <a:pt x="152423" y="1524246"/>
                  </a:moveTo>
                  <a:lnTo>
                    <a:pt x="152423" y="1501380"/>
                  </a:lnTo>
                </a:path>
                <a:path w="1524635" h="1524635">
                  <a:moveTo>
                    <a:pt x="152423" y="1524246"/>
                  </a:moveTo>
                  <a:lnTo>
                    <a:pt x="152423" y="1501380"/>
                  </a:lnTo>
                </a:path>
                <a:path w="1524635" h="1524635">
                  <a:moveTo>
                    <a:pt x="152423" y="0"/>
                  </a:moveTo>
                  <a:lnTo>
                    <a:pt x="152423" y="22858"/>
                  </a:lnTo>
                </a:path>
                <a:path w="1524635" h="1524635">
                  <a:moveTo>
                    <a:pt x="152423" y="0"/>
                  </a:moveTo>
                  <a:lnTo>
                    <a:pt x="152423" y="22858"/>
                  </a:lnTo>
                </a:path>
                <a:path w="1524635" h="1524635">
                  <a:moveTo>
                    <a:pt x="304843" y="1524246"/>
                  </a:moveTo>
                  <a:lnTo>
                    <a:pt x="304843" y="1501380"/>
                  </a:lnTo>
                </a:path>
                <a:path w="1524635" h="1524635">
                  <a:moveTo>
                    <a:pt x="304843" y="1524246"/>
                  </a:moveTo>
                  <a:lnTo>
                    <a:pt x="304843" y="1501380"/>
                  </a:lnTo>
                </a:path>
                <a:path w="1524635" h="1524635">
                  <a:moveTo>
                    <a:pt x="304843" y="0"/>
                  </a:moveTo>
                  <a:lnTo>
                    <a:pt x="304843" y="22858"/>
                  </a:lnTo>
                </a:path>
                <a:path w="1524635" h="1524635">
                  <a:moveTo>
                    <a:pt x="304843" y="0"/>
                  </a:moveTo>
                  <a:lnTo>
                    <a:pt x="304843" y="22858"/>
                  </a:lnTo>
                </a:path>
                <a:path w="1524635" h="1524635">
                  <a:moveTo>
                    <a:pt x="457267" y="1524246"/>
                  </a:moveTo>
                  <a:lnTo>
                    <a:pt x="457267" y="1501380"/>
                  </a:lnTo>
                </a:path>
                <a:path w="1524635" h="1524635">
                  <a:moveTo>
                    <a:pt x="457267" y="1524246"/>
                  </a:moveTo>
                  <a:lnTo>
                    <a:pt x="457267" y="1501380"/>
                  </a:lnTo>
                </a:path>
                <a:path w="1524635" h="1524635">
                  <a:moveTo>
                    <a:pt x="457267" y="0"/>
                  </a:moveTo>
                  <a:lnTo>
                    <a:pt x="457267" y="22858"/>
                  </a:lnTo>
                </a:path>
                <a:path w="1524635" h="1524635">
                  <a:moveTo>
                    <a:pt x="457267" y="0"/>
                  </a:moveTo>
                  <a:lnTo>
                    <a:pt x="457267" y="22858"/>
                  </a:lnTo>
                </a:path>
                <a:path w="1524635" h="1524635">
                  <a:moveTo>
                    <a:pt x="609686" y="1524246"/>
                  </a:moveTo>
                  <a:lnTo>
                    <a:pt x="609686" y="1501380"/>
                  </a:lnTo>
                </a:path>
                <a:path w="1524635" h="1524635">
                  <a:moveTo>
                    <a:pt x="609686" y="1524246"/>
                  </a:moveTo>
                  <a:lnTo>
                    <a:pt x="609686" y="1501380"/>
                  </a:lnTo>
                </a:path>
                <a:path w="1524635" h="1524635">
                  <a:moveTo>
                    <a:pt x="609686" y="0"/>
                  </a:moveTo>
                  <a:lnTo>
                    <a:pt x="609686" y="22858"/>
                  </a:lnTo>
                </a:path>
                <a:path w="1524635" h="1524635">
                  <a:moveTo>
                    <a:pt x="609686" y="0"/>
                  </a:moveTo>
                  <a:lnTo>
                    <a:pt x="609686" y="22858"/>
                  </a:lnTo>
                </a:path>
                <a:path w="1524635" h="1524635">
                  <a:moveTo>
                    <a:pt x="762110" y="1524246"/>
                  </a:moveTo>
                  <a:lnTo>
                    <a:pt x="762110" y="1501380"/>
                  </a:lnTo>
                </a:path>
                <a:path w="1524635" h="1524635">
                  <a:moveTo>
                    <a:pt x="762110" y="1524246"/>
                  </a:moveTo>
                  <a:lnTo>
                    <a:pt x="762110" y="1501380"/>
                  </a:lnTo>
                </a:path>
                <a:path w="1524635" h="1524635">
                  <a:moveTo>
                    <a:pt x="762110" y="0"/>
                  </a:moveTo>
                  <a:lnTo>
                    <a:pt x="762110" y="22858"/>
                  </a:lnTo>
                </a:path>
                <a:path w="1524635" h="1524635">
                  <a:moveTo>
                    <a:pt x="762110" y="0"/>
                  </a:moveTo>
                  <a:lnTo>
                    <a:pt x="762110" y="22858"/>
                  </a:lnTo>
                </a:path>
                <a:path w="1524635" h="1524635">
                  <a:moveTo>
                    <a:pt x="914535" y="1524246"/>
                  </a:moveTo>
                  <a:lnTo>
                    <a:pt x="914535" y="1501380"/>
                  </a:lnTo>
                </a:path>
                <a:path w="1524635" h="1524635">
                  <a:moveTo>
                    <a:pt x="914535" y="1524246"/>
                  </a:moveTo>
                  <a:lnTo>
                    <a:pt x="914535" y="1501380"/>
                  </a:lnTo>
                </a:path>
                <a:path w="1524635" h="1524635">
                  <a:moveTo>
                    <a:pt x="914535" y="0"/>
                  </a:moveTo>
                  <a:lnTo>
                    <a:pt x="914535" y="22858"/>
                  </a:lnTo>
                </a:path>
                <a:path w="1524635" h="1524635">
                  <a:moveTo>
                    <a:pt x="914535" y="0"/>
                  </a:moveTo>
                  <a:lnTo>
                    <a:pt x="914535" y="22858"/>
                  </a:lnTo>
                </a:path>
                <a:path w="1524635" h="1524635">
                  <a:moveTo>
                    <a:pt x="1066959" y="1524246"/>
                  </a:moveTo>
                  <a:lnTo>
                    <a:pt x="1066959" y="1501380"/>
                  </a:lnTo>
                </a:path>
                <a:path w="1524635" h="1524635">
                  <a:moveTo>
                    <a:pt x="1066959" y="1524246"/>
                  </a:moveTo>
                  <a:lnTo>
                    <a:pt x="1066959" y="1501380"/>
                  </a:lnTo>
                </a:path>
                <a:path w="1524635" h="1524635">
                  <a:moveTo>
                    <a:pt x="1066959" y="0"/>
                  </a:moveTo>
                  <a:lnTo>
                    <a:pt x="1066959" y="22858"/>
                  </a:lnTo>
                </a:path>
                <a:path w="1524635" h="1524635">
                  <a:moveTo>
                    <a:pt x="1066959" y="0"/>
                  </a:moveTo>
                  <a:lnTo>
                    <a:pt x="1066959" y="22858"/>
                  </a:lnTo>
                </a:path>
                <a:path w="1524635" h="1524635">
                  <a:moveTo>
                    <a:pt x="1219383" y="1524246"/>
                  </a:moveTo>
                  <a:lnTo>
                    <a:pt x="1219383" y="1501380"/>
                  </a:lnTo>
                </a:path>
                <a:path w="1524635" h="1524635">
                  <a:moveTo>
                    <a:pt x="1219383" y="1524246"/>
                  </a:moveTo>
                  <a:lnTo>
                    <a:pt x="1219383" y="1501380"/>
                  </a:lnTo>
                </a:path>
                <a:path w="1524635" h="1524635">
                  <a:moveTo>
                    <a:pt x="1219383" y="0"/>
                  </a:moveTo>
                  <a:lnTo>
                    <a:pt x="1219383" y="22858"/>
                  </a:lnTo>
                </a:path>
                <a:path w="1524635" h="1524635">
                  <a:moveTo>
                    <a:pt x="1219383" y="0"/>
                  </a:moveTo>
                  <a:lnTo>
                    <a:pt x="1219383" y="22858"/>
                  </a:lnTo>
                </a:path>
                <a:path w="1524635" h="1524635">
                  <a:moveTo>
                    <a:pt x="1371806" y="1524246"/>
                  </a:moveTo>
                  <a:lnTo>
                    <a:pt x="1371806" y="1501380"/>
                  </a:lnTo>
                </a:path>
                <a:path w="1524635" h="1524635">
                  <a:moveTo>
                    <a:pt x="1371806" y="1524246"/>
                  </a:moveTo>
                  <a:lnTo>
                    <a:pt x="1371806" y="1501380"/>
                  </a:lnTo>
                </a:path>
                <a:path w="1524635" h="1524635">
                  <a:moveTo>
                    <a:pt x="1371806" y="0"/>
                  </a:moveTo>
                  <a:lnTo>
                    <a:pt x="1371806" y="22858"/>
                  </a:lnTo>
                </a:path>
                <a:path w="1524635" h="1524635">
                  <a:moveTo>
                    <a:pt x="1371806" y="0"/>
                  </a:moveTo>
                  <a:lnTo>
                    <a:pt x="1371806" y="22858"/>
                  </a:lnTo>
                </a:path>
              </a:pathLst>
            </a:custGeom>
            <a:ln w="5982">
              <a:solidFill>
                <a:srgbClr val="231F20"/>
              </a:solidFill>
            </a:ln>
          </p:spPr>
          <p:txBody>
            <a:bodyPr wrap="square" lIns="0" tIns="0" rIns="0" bIns="0" rtlCol="0"/>
            <a:lstStyle/>
            <a:p>
              <a:endParaRPr/>
            </a:p>
          </p:txBody>
        </p:sp>
        <p:sp>
          <p:nvSpPr>
            <p:cNvPr id="7" name="object 7"/>
            <p:cNvSpPr/>
            <p:nvPr/>
          </p:nvSpPr>
          <p:spPr>
            <a:xfrm>
              <a:off x="1751756" y="1016684"/>
              <a:ext cx="1524635" cy="1524635"/>
            </a:xfrm>
            <a:custGeom>
              <a:avLst/>
              <a:gdLst/>
              <a:ahLst/>
              <a:cxnLst/>
              <a:rect l="l" t="t" r="r" b="b"/>
              <a:pathLst>
                <a:path w="1524635" h="1524635">
                  <a:moveTo>
                    <a:pt x="0" y="1524245"/>
                  </a:moveTo>
                  <a:lnTo>
                    <a:pt x="1524223" y="1524245"/>
                  </a:lnTo>
                  <a:lnTo>
                    <a:pt x="1524223" y="0"/>
                  </a:lnTo>
                  <a:lnTo>
                    <a:pt x="0" y="0"/>
                  </a:lnTo>
                  <a:lnTo>
                    <a:pt x="0" y="1524245"/>
                  </a:lnTo>
                </a:path>
              </a:pathLst>
            </a:custGeom>
            <a:ln w="5929">
              <a:solidFill>
                <a:srgbClr val="231F20"/>
              </a:solidFill>
            </a:ln>
          </p:spPr>
          <p:txBody>
            <a:bodyPr wrap="square" lIns="0" tIns="0" rIns="0" bIns="0" rtlCol="0"/>
            <a:lstStyle/>
            <a:p>
              <a:endParaRPr/>
            </a:p>
          </p:txBody>
        </p:sp>
        <p:sp>
          <p:nvSpPr>
            <p:cNvPr id="8" name="object 8"/>
            <p:cNvSpPr/>
            <p:nvPr/>
          </p:nvSpPr>
          <p:spPr>
            <a:xfrm>
              <a:off x="1759214" y="1282657"/>
              <a:ext cx="777875" cy="1258570"/>
            </a:xfrm>
            <a:custGeom>
              <a:avLst/>
              <a:gdLst/>
              <a:ahLst/>
              <a:cxnLst/>
              <a:rect l="l" t="t" r="r" b="b"/>
              <a:pathLst>
                <a:path w="777875" h="1258570">
                  <a:moveTo>
                    <a:pt x="0" y="1258272"/>
                  </a:moveTo>
                  <a:lnTo>
                    <a:pt x="15324" y="1258272"/>
                  </a:lnTo>
                  <a:lnTo>
                    <a:pt x="23196" y="604297"/>
                  </a:lnTo>
                  <a:lnTo>
                    <a:pt x="30653" y="558567"/>
                  </a:lnTo>
                  <a:lnTo>
                    <a:pt x="38103" y="517559"/>
                  </a:lnTo>
                  <a:lnTo>
                    <a:pt x="45972" y="561474"/>
                  </a:lnTo>
                  <a:lnTo>
                    <a:pt x="53433" y="469289"/>
                  </a:lnTo>
                  <a:lnTo>
                    <a:pt x="61296" y="561831"/>
                  </a:lnTo>
                  <a:lnTo>
                    <a:pt x="68758" y="441707"/>
                  </a:lnTo>
                  <a:lnTo>
                    <a:pt x="76214" y="393079"/>
                  </a:lnTo>
                  <a:lnTo>
                    <a:pt x="84077" y="356060"/>
                  </a:lnTo>
                  <a:lnTo>
                    <a:pt x="91538" y="358236"/>
                  </a:lnTo>
                  <a:lnTo>
                    <a:pt x="99406" y="388719"/>
                  </a:lnTo>
                  <a:lnTo>
                    <a:pt x="106858" y="348798"/>
                  </a:lnTo>
                  <a:lnTo>
                    <a:pt x="114319" y="334286"/>
                  </a:lnTo>
                  <a:lnTo>
                    <a:pt x="122187" y="359324"/>
                  </a:lnTo>
                  <a:lnTo>
                    <a:pt x="129643" y="280214"/>
                  </a:lnTo>
                  <a:lnTo>
                    <a:pt x="137512" y="452229"/>
                  </a:lnTo>
                  <a:lnTo>
                    <a:pt x="144967" y="240286"/>
                  </a:lnTo>
                  <a:lnTo>
                    <a:pt x="152424" y="249724"/>
                  </a:lnTo>
                  <a:lnTo>
                    <a:pt x="160297" y="226851"/>
                  </a:lnTo>
                  <a:lnTo>
                    <a:pt x="167748" y="303430"/>
                  </a:lnTo>
                  <a:lnTo>
                    <a:pt x="175621" y="204723"/>
                  </a:lnTo>
                  <a:lnTo>
                    <a:pt x="183078" y="256253"/>
                  </a:lnTo>
                  <a:lnTo>
                    <a:pt x="190530" y="214882"/>
                  </a:lnTo>
                  <a:lnTo>
                    <a:pt x="198402" y="266412"/>
                  </a:lnTo>
                  <a:lnTo>
                    <a:pt x="205858" y="222499"/>
                  </a:lnTo>
                  <a:lnTo>
                    <a:pt x="213731" y="172778"/>
                  </a:lnTo>
                  <a:lnTo>
                    <a:pt x="221183" y="207254"/>
                  </a:lnTo>
                  <a:lnTo>
                    <a:pt x="228639" y="202535"/>
                  </a:lnTo>
                  <a:lnTo>
                    <a:pt x="236507" y="145553"/>
                  </a:lnTo>
                  <a:lnTo>
                    <a:pt x="243963" y="162253"/>
                  </a:lnTo>
                  <a:lnTo>
                    <a:pt x="251837" y="148817"/>
                  </a:lnTo>
                  <a:lnTo>
                    <a:pt x="259288" y="169502"/>
                  </a:lnTo>
                  <a:lnTo>
                    <a:pt x="266744" y="162974"/>
                  </a:lnTo>
                  <a:lnTo>
                    <a:pt x="274616" y="151360"/>
                  </a:lnTo>
                  <a:lnTo>
                    <a:pt x="282068" y="139025"/>
                  </a:lnTo>
                  <a:lnTo>
                    <a:pt x="289942" y="123046"/>
                  </a:lnTo>
                  <a:lnTo>
                    <a:pt x="297398" y="98009"/>
                  </a:lnTo>
                  <a:lnTo>
                    <a:pt x="304853" y="153536"/>
                  </a:lnTo>
                  <a:lnTo>
                    <a:pt x="312722" y="190921"/>
                  </a:lnTo>
                  <a:lnTo>
                    <a:pt x="320179" y="120870"/>
                  </a:lnTo>
                  <a:lnTo>
                    <a:pt x="328046" y="113609"/>
                  </a:lnTo>
                  <a:lnTo>
                    <a:pt x="335503" y="131030"/>
                  </a:lnTo>
                  <a:lnTo>
                    <a:pt x="342964" y="106714"/>
                  </a:lnTo>
                  <a:lnTo>
                    <a:pt x="350827" y="108901"/>
                  </a:lnTo>
                  <a:lnTo>
                    <a:pt x="358284" y="133572"/>
                  </a:lnTo>
                  <a:lnTo>
                    <a:pt x="366156" y="62079"/>
                  </a:lnTo>
                  <a:lnTo>
                    <a:pt x="373608" y="75502"/>
                  </a:lnTo>
                  <a:lnTo>
                    <a:pt x="381064" y="81676"/>
                  </a:lnTo>
                  <a:lnTo>
                    <a:pt x="388937" y="54084"/>
                  </a:lnTo>
                  <a:lnTo>
                    <a:pt x="396388" y="76224"/>
                  </a:lnTo>
                  <a:lnTo>
                    <a:pt x="404261" y="63888"/>
                  </a:lnTo>
                  <a:lnTo>
                    <a:pt x="411717" y="62079"/>
                  </a:lnTo>
                  <a:lnTo>
                    <a:pt x="419169" y="41027"/>
                  </a:lnTo>
                  <a:lnTo>
                    <a:pt x="427043" y="70417"/>
                  </a:lnTo>
                  <a:lnTo>
                    <a:pt x="434498" y="42470"/>
                  </a:lnTo>
                  <a:lnTo>
                    <a:pt x="442371" y="59536"/>
                  </a:lnTo>
                  <a:lnTo>
                    <a:pt x="449822" y="46101"/>
                  </a:lnTo>
                  <a:lnTo>
                    <a:pt x="457279" y="139368"/>
                  </a:lnTo>
                  <a:lnTo>
                    <a:pt x="465152" y="78400"/>
                  </a:lnTo>
                  <a:lnTo>
                    <a:pt x="472608" y="59536"/>
                  </a:lnTo>
                  <a:lnTo>
                    <a:pt x="480476" y="80576"/>
                  </a:lnTo>
                  <a:lnTo>
                    <a:pt x="487928" y="46467"/>
                  </a:lnTo>
                  <a:lnTo>
                    <a:pt x="495389" y="55905"/>
                  </a:lnTo>
                  <a:lnTo>
                    <a:pt x="503252" y="67153"/>
                  </a:lnTo>
                  <a:lnTo>
                    <a:pt x="510713" y="85295"/>
                  </a:lnTo>
                  <a:lnTo>
                    <a:pt x="518581" y="160419"/>
                  </a:lnTo>
                  <a:lnTo>
                    <a:pt x="526038" y="34120"/>
                  </a:lnTo>
                  <a:lnTo>
                    <a:pt x="533494" y="122668"/>
                  </a:lnTo>
                  <a:lnTo>
                    <a:pt x="541362" y="30856"/>
                  </a:lnTo>
                  <a:lnTo>
                    <a:pt x="548818" y="59524"/>
                  </a:lnTo>
                  <a:lnTo>
                    <a:pt x="556686" y="35930"/>
                  </a:lnTo>
                  <a:lnTo>
                    <a:pt x="564147" y="51896"/>
                  </a:lnTo>
                  <a:lnTo>
                    <a:pt x="571599" y="6895"/>
                  </a:lnTo>
                  <a:lnTo>
                    <a:pt x="579467" y="60612"/>
                  </a:lnTo>
                  <a:lnTo>
                    <a:pt x="586929" y="43191"/>
                  </a:lnTo>
                  <a:lnTo>
                    <a:pt x="594797" y="44279"/>
                  </a:lnTo>
                  <a:lnTo>
                    <a:pt x="602253" y="48265"/>
                  </a:lnTo>
                  <a:lnTo>
                    <a:pt x="609708" y="43546"/>
                  </a:lnTo>
                  <a:lnTo>
                    <a:pt x="617577" y="30489"/>
                  </a:lnTo>
                  <a:lnTo>
                    <a:pt x="625028" y="102349"/>
                  </a:lnTo>
                  <a:lnTo>
                    <a:pt x="632901" y="51529"/>
                  </a:lnTo>
                  <a:lnTo>
                    <a:pt x="640358" y="28301"/>
                  </a:lnTo>
                  <a:lnTo>
                    <a:pt x="647809" y="36651"/>
                  </a:lnTo>
                  <a:lnTo>
                    <a:pt x="655687" y="24682"/>
                  </a:lnTo>
                  <a:lnTo>
                    <a:pt x="663138" y="39560"/>
                  </a:lnTo>
                  <a:lnTo>
                    <a:pt x="671011" y="46456"/>
                  </a:lnTo>
                  <a:lnTo>
                    <a:pt x="678467" y="28668"/>
                  </a:lnTo>
                  <a:lnTo>
                    <a:pt x="685919" y="13790"/>
                  </a:lnTo>
                  <a:lnTo>
                    <a:pt x="693793" y="15233"/>
                  </a:lnTo>
                  <a:lnTo>
                    <a:pt x="701248" y="8704"/>
                  </a:lnTo>
                  <a:lnTo>
                    <a:pt x="709117" y="31211"/>
                  </a:lnTo>
                  <a:lnTo>
                    <a:pt x="716572" y="54072"/>
                  </a:lnTo>
                  <a:lnTo>
                    <a:pt x="724029" y="0"/>
                  </a:lnTo>
                  <a:lnTo>
                    <a:pt x="731896" y="13056"/>
                  </a:lnTo>
                  <a:lnTo>
                    <a:pt x="739353" y="14144"/>
                  </a:lnTo>
                  <a:lnTo>
                    <a:pt x="747226" y="14878"/>
                  </a:lnTo>
                  <a:lnTo>
                    <a:pt x="754683" y="22494"/>
                  </a:lnTo>
                  <a:lnTo>
                    <a:pt x="762133" y="3630"/>
                  </a:lnTo>
                  <a:lnTo>
                    <a:pt x="770007" y="44268"/>
                  </a:lnTo>
                  <a:lnTo>
                    <a:pt x="777463" y="30477"/>
                  </a:lnTo>
                </a:path>
              </a:pathLst>
            </a:custGeom>
            <a:ln w="5759">
              <a:solidFill>
                <a:srgbClr val="231F20"/>
              </a:solidFill>
            </a:ln>
          </p:spPr>
          <p:txBody>
            <a:bodyPr wrap="square" lIns="0" tIns="0" rIns="0" bIns="0" rtlCol="0"/>
            <a:lstStyle/>
            <a:p>
              <a:endParaRPr/>
            </a:p>
          </p:txBody>
        </p:sp>
        <p:sp>
          <p:nvSpPr>
            <p:cNvPr id="9" name="object 9"/>
            <p:cNvSpPr/>
            <p:nvPr/>
          </p:nvSpPr>
          <p:spPr>
            <a:xfrm>
              <a:off x="2536651" y="1269998"/>
              <a:ext cx="739775" cy="1271270"/>
            </a:xfrm>
            <a:custGeom>
              <a:avLst/>
              <a:gdLst/>
              <a:ahLst/>
              <a:cxnLst/>
              <a:rect l="l" t="t" r="r" b="b"/>
              <a:pathLst>
                <a:path w="739775" h="1271270">
                  <a:moveTo>
                    <a:pt x="0" y="43178"/>
                  </a:moveTo>
                  <a:lnTo>
                    <a:pt x="7873" y="0"/>
                  </a:lnTo>
                  <a:lnTo>
                    <a:pt x="15323" y="58066"/>
                  </a:lnTo>
                  <a:lnTo>
                    <a:pt x="22780" y="48994"/>
                  </a:lnTo>
                  <a:lnTo>
                    <a:pt x="30653" y="26485"/>
                  </a:lnTo>
                  <a:lnTo>
                    <a:pt x="38109" y="44275"/>
                  </a:lnTo>
                  <a:lnTo>
                    <a:pt x="45982" y="27936"/>
                  </a:lnTo>
                  <a:lnTo>
                    <a:pt x="53433" y="24314"/>
                  </a:lnTo>
                  <a:lnTo>
                    <a:pt x="60890" y="35923"/>
                  </a:lnTo>
                  <a:lnTo>
                    <a:pt x="68758" y="38825"/>
                  </a:lnTo>
                  <a:lnTo>
                    <a:pt x="76213" y="39179"/>
                  </a:lnTo>
                  <a:lnTo>
                    <a:pt x="84083" y="36277"/>
                  </a:lnTo>
                  <a:lnTo>
                    <a:pt x="91544" y="25034"/>
                  </a:lnTo>
                  <a:lnTo>
                    <a:pt x="98999" y="57689"/>
                  </a:lnTo>
                  <a:lnTo>
                    <a:pt x="106861" y="46080"/>
                  </a:lnTo>
                  <a:lnTo>
                    <a:pt x="114316" y="80564"/>
                  </a:lnTo>
                  <a:lnTo>
                    <a:pt x="122192" y="64590"/>
                  </a:lnTo>
                  <a:lnTo>
                    <a:pt x="129646" y="45349"/>
                  </a:lnTo>
                  <a:lnTo>
                    <a:pt x="137100" y="68212"/>
                  </a:lnTo>
                  <a:lnTo>
                    <a:pt x="144962" y="64225"/>
                  </a:lnTo>
                  <a:lnTo>
                    <a:pt x="152430" y="61688"/>
                  </a:lnTo>
                  <a:lnTo>
                    <a:pt x="160292" y="58786"/>
                  </a:lnTo>
                  <a:lnTo>
                    <a:pt x="167747" y="120475"/>
                  </a:lnTo>
                  <a:lnTo>
                    <a:pt x="175201" y="44983"/>
                  </a:lnTo>
                  <a:lnTo>
                    <a:pt x="183077" y="71480"/>
                  </a:lnTo>
                  <a:lnTo>
                    <a:pt x="190531" y="64944"/>
                  </a:lnTo>
                  <a:lnTo>
                    <a:pt x="198407" y="45349"/>
                  </a:lnTo>
                  <a:lnTo>
                    <a:pt x="205861" y="40996"/>
                  </a:lnTo>
                  <a:lnTo>
                    <a:pt x="213315" y="61322"/>
                  </a:lnTo>
                  <a:lnTo>
                    <a:pt x="221178" y="50433"/>
                  </a:lnTo>
                  <a:lnTo>
                    <a:pt x="228645" y="73663"/>
                  </a:lnTo>
                  <a:lnTo>
                    <a:pt x="236508" y="55506"/>
                  </a:lnTo>
                  <a:lnTo>
                    <a:pt x="243962" y="71480"/>
                  </a:lnTo>
                  <a:lnTo>
                    <a:pt x="251430" y="54067"/>
                  </a:lnTo>
                  <a:lnTo>
                    <a:pt x="259292" y="67492"/>
                  </a:lnTo>
                  <a:lnTo>
                    <a:pt x="266746" y="45703"/>
                  </a:lnTo>
                  <a:lnTo>
                    <a:pt x="274622" y="105232"/>
                  </a:lnTo>
                  <a:lnTo>
                    <a:pt x="282076" y="46434"/>
                  </a:lnTo>
                  <a:lnTo>
                    <a:pt x="289531" y="62396"/>
                  </a:lnTo>
                  <a:lnTo>
                    <a:pt x="297393" y="109586"/>
                  </a:lnTo>
                  <a:lnTo>
                    <a:pt x="304847" y="117561"/>
                  </a:lnTo>
                  <a:lnTo>
                    <a:pt x="312723" y="91441"/>
                  </a:lnTo>
                  <a:lnTo>
                    <a:pt x="320177" y="107403"/>
                  </a:lnTo>
                  <a:lnTo>
                    <a:pt x="327631" y="72200"/>
                  </a:lnTo>
                  <a:lnTo>
                    <a:pt x="335507" y="124096"/>
                  </a:lnTo>
                  <a:lnTo>
                    <a:pt x="342962" y="75468"/>
                  </a:lnTo>
                  <a:lnTo>
                    <a:pt x="350837" y="91076"/>
                  </a:lnTo>
                  <a:lnTo>
                    <a:pt x="358292" y="72565"/>
                  </a:lnTo>
                  <a:lnTo>
                    <a:pt x="365746" y="98319"/>
                  </a:lnTo>
                  <a:lnTo>
                    <a:pt x="373608" y="125182"/>
                  </a:lnTo>
                  <a:lnTo>
                    <a:pt x="381062" y="142972"/>
                  </a:lnTo>
                  <a:lnTo>
                    <a:pt x="388938" y="140070"/>
                  </a:lnTo>
                  <a:lnTo>
                    <a:pt x="396393" y="140070"/>
                  </a:lnTo>
                  <a:lnTo>
                    <a:pt x="403847" y="181066"/>
                  </a:lnTo>
                  <a:lnTo>
                    <a:pt x="411723" y="136425"/>
                  </a:lnTo>
                  <a:lnTo>
                    <a:pt x="419177" y="220989"/>
                  </a:lnTo>
                  <a:lnTo>
                    <a:pt x="427039" y="160751"/>
                  </a:lnTo>
                  <a:lnTo>
                    <a:pt x="434493" y="140424"/>
                  </a:lnTo>
                  <a:lnTo>
                    <a:pt x="441948" y="175628"/>
                  </a:lnTo>
                  <a:lnTo>
                    <a:pt x="449824" y="153850"/>
                  </a:lnTo>
                  <a:lnTo>
                    <a:pt x="457278" y="162922"/>
                  </a:lnTo>
                  <a:lnTo>
                    <a:pt x="465154" y="170909"/>
                  </a:lnTo>
                  <a:lnTo>
                    <a:pt x="472608" y="209380"/>
                  </a:lnTo>
                  <a:lnTo>
                    <a:pt x="480062" y="191224"/>
                  </a:lnTo>
                  <a:lnTo>
                    <a:pt x="487938" y="201393"/>
                  </a:lnTo>
                  <a:lnTo>
                    <a:pt x="495392" y="212270"/>
                  </a:lnTo>
                  <a:lnTo>
                    <a:pt x="503268" y="213733"/>
                  </a:lnTo>
                  <a:lnTo>
                    <a:pt x="510709" y="225342"/>
                  </a:lnTo>
                  <a:lnTo>
                    <a:pt x="518163" y="232963"/>
                  </a:lnTo>
                  <a:lnTo>
                    <a:pt x="526039" y="246023"/>
                  </a:lnTo>
                  <a:lnTo>
                    <a:pt x="526039" y="236962"/>
                  </a:lnTo>
                  <a:lnTo>
                    <a:pt x="541369" y="218806"/>
                  </a:lnTo>
                  <a:lnTo>
                    <a:pt x="548823" y="256546"/>
                  </a:lnTo>
                  <a:lnTo>
                    <a:pt x="556277" y="231866"/>
                  </a:lnTo>
                  <a:lnTo>
                    <a:pt x="564153" y="246742"/>
                  </a:lnTo>
                  <a:lnTo>
                    <a:pt x="571594" y="271788"/>
                  </a:lnTo>
                  <a:lnTo>
                    <a:pt x="579470" y="332757"/>
                  </a:lnTo>
                  <a:lnTo>
                    <a:pt x="586924" y="266350"/>
                  </a:lnTo>
                  <a:lnTo>
                    <a:pt x="594378" y="292469"/>
                  </a:lnTo>
                  <a:lnTo>
                    <a:pt x="602254" y="336391"/>
                  </a:lnTo>
                  <a:lnTo>
                    <a:pt x="609708" y="352718"/>
                  </a:lnTo>
                  <a:lnTo>
                    <a:pt x="617571" y="360705"/>
                  </a:lnTo>
                  <a:lnTo>
                    <a:pt x="625038" y="368326"/>
                  </a:lnTo>
                  <a:lnTo>
                    <a:pt x="632493" y="372668"/>
                  </a:lnTo>
                  <a:lnTo>
                    <a:pt x="640355" y="445986"/>
                  </a:lnTo>
                  <a:lnTo>
                    <a:pt x="647809" y="461226"/>
                  </a:lnTo>
                  <a:lnTo>
                    <a:pt x="655685" y="490620"/>
                  </a:lnTo>
                  <a:lnTo>
                    <a:pt x="663139" y="500055"/>
                  </a:lnTo>
                  <a:lnTo>
                    <a:pt x="670594" y="543975"/>
                  </a:lnTo>
                  <a:lnTo>
                    <a:pt x="678469" y="555583"/>
                  </a:lnTo>
                  <a:lnTo>
                    <a:pt x="685924" y="595500"/>
                  </a:lnTo>
                  <a:lnTo>
                    <a:pt x="693786" y="671715"/>
                  </a:lnTo>
                  <a:lnTo>
                    <a:pt x="701254" y="681150"/>
                  </a:lnTo>
                  <a:lnTo>
                    <a:pt x="708708" y="764990"/>
                  </a:lnTo>
                  <a:lnTo>
                    <a:pt x="716570" y="833575"/>
                  </a:lnTo>
                  <a:lnTo>
                    <a:pt x="724024" y="904710"/>
                  </a:lnTo>
                  <a:lnTo>
                    <a:pt x="731873" y="1270931"/>
                  </a:lnTo>
                  <a:lnTo>
                    <a:pt x="739327" y="1270931"/>
                  </a:lnTo>
                </a:path>
              </a:pathLst>
            </a:custGeom>
            <a:ln w="5720">
              <a:solidFill>
                <a:srgbClr val="231F20"/>
              </a:solidFill>
            </a:ln>
          </p:spPr>
          <p:txBody>
            <a:bodyPr wrap="square" lIns="0" tIns="0" rIns="0" bIns="0" rtlCol="0"/>
            <a:lstStyle/>
            <a:p>
              <a:endParaRPr/>
            </a:p>
          </p:txBody>
        </p:sp>
        <p:sp>
          <p:nvSpPr>
            <p:cNvPr id="10" name="object 10"/>
            <p:cNvSpPr/>
            <p:nvPr/>
          </p:nvSpPr>
          <p:spPr>
            <a:xfrm>
              <a:off x="1759212" y="1131319"/>
              <a:ext cx="777875" cy="1409700"/>
            </a:xfrm>
            <a:custGeom>
              <a:avLst/>
              <a:gdLst/>
              <a:ahLst/>
              <a:cxnLst/>
              <a:rect l="l" t="t" r="r" b="b"/>
              <a:pathLst>
                <a:path w="777875" h="1409700">
                  <a:moveTo>
                    <a:pt x="0" y="1409609"/>
                  </a:moveTo>
                  <a:lnTo>
                    <a:pt x="7868" y="644583"/>
                  </a:lnTo>
                  <a:lnTo>
                    <a:pt x="15323" y="562559"/>
                  </a:lnTo>
                  <a:lnTo>
                    <a:pt x="23197" y="442080"/>
                  </a:lnTo>
                  <a:lnTo>
                    <a:pt x="30653" y="410869"/>
                  </a:lnTo>
                  <a:lnTo>
                    <a:pt x="38104" y="328115"/>
                  </a:lnTo>
                  <a:lnTo>
                    <a:pt x="45973" y="317589"/>
                  </a:lnTo>
                  <a:lnTo>
                    <a:pt x="53434" y="267869"/>
                  </a:lnTo>
                  <a:lnTo>
                    <a:pt x="61297" y="260240"/>
                  </a:lnTo>
                  <a:lnTo>
                    <a:pt x="68758" y="225043"/>
                  </a:lnTo>
                  <a:lnTo>
                    <a:pt x="76215" y="217427"/>
                  </a:lnTo>
                  <a:lnTo>
                    <a:pt x="84077" y="188391"/>
                  </a:lnTo>
                  <a:lnTo>
                    <a:pt x="91539" y="171692"/>
                  </a:lnTo>
                  <a:lnTo>
                    <a:pt x="99407" y="167339"/>
                  </a:lnTo>
                  <a:lnTo>
                    <a:pt x="106857" y="159723"/>
                  </a:lnTo>
                  <a:lnTo>
                    <a:pt x="114319" y="165896"/>
                  </a:lnTo>
                  <a:lnTo>
                    <a:pt x="122186" y="134673"/>
                  </a:lnTo>
                  <a:lnTo>
                    <a:pt x="129643" y="131776"/>
                  </a:lnTo>
                  <a:lnTo>
                    <a:pt x="137512" y="108914"/>
                  </a:lnTo>
                  <a:lnTo>
                    <a:pt x="144967" y="113621"/>
                  </a:lnTo>
                  <a:lnTo>
                    <a:pt x="152424" y="104917"/>
                  </a:lnTo>
                  <a:lnTo>
                    <a:pt x="160297" y="115443"/>
                  </a:lnTo>
                  <a:lnTo>
                    <a:pt x="167748" y="100919"/>
                  </a:lnTo>
                  <a:lnTo>
                    <a:pt x="175621" y="109636"/>
                  </a:lnTo>
                  <a:lnTo>
                    <a:pt x="183078" y="83510"/>
                  </a:lnTo>
                  <a:lnTo>
                    <a:pt x="190529" y="90038"/>
                  </a:lnTo>
                  <a:lnTo>
                    <a:pt x="198401" y="78424"/>
                  </a:lnTo>
                  <a:lnTo>
                    <a:pt x="205858" y="83865"/>
                  </a:lnTo>
                  <a:lnTo>
                    <a:pt x="213731" y="74427"/>
                  </a:lnTo>
                  <a:lnTo>
                    <a:pt x="221182" y="70796"/>
                  </a:lnTo>
                  <a:lnTo>
                    <a:pt x="228638" y="66443"/>
                  </a:lnTo>
                  <a:lnTo>
                    <a:pt x="236506" y="67165"/>
                  </a:lnTo>
                  <a:lnTo>
                    <a:pt x="243963" y="59548"/>
                  </a:lnTo>
                  <a:lnTo>
                    <a:pt x="251836" y="61370"/>
                  </a:lnTo>
                  <a:lnTo>
                    <a:pt x="259287" y="58460"/>
                  </a:lnTo>
                  <a:lnTo>
                    <a:pt x="266743" y="58460"/>
                  </a:lnTo>
                  <a:lnTo>
                    <a:pt x="274617" y="47934"/>
                  </a:lnTo>
                  <a:lnTo>
                    <a:pt x="282068" y="48301"/>
                  </a:lnTo>
                  <a:lnTo>
                    <a:pt x="289940" y="46480"/>
                  </a:lnTo>
                  <a:lnTo>
                    <a:pt x="297397" y="52653"/>
                  </a:lnTo>
                  <a:lnTo>
                    <a:pt x="304853" y="39230"/>
                  </a:lnTo>
                  <a:lnTo>
                    <a:pt x="312721" y="38496"/>
                  </a:lnTo>
                  <a:lnTo>
                    <a:pt x="320177" y="31235"/>
                  </a:lnTo>
                  <a:lnTo>
                    <a:pt x="328045" y="41039"/>
                  </a:lnTo>
                  <a:lnTo>
                    <a:pt x="335502" y="36320"/>
                  </a:lnTo>
                  <a:lnTo>
                    <a:pt x="342963" y="37042"/>
                  </a:lnTo>
                  <a:lnTo>
                    <a:pt x="350826" y="29780"/>
                  </a:lnTo>
                  <a:lnTo>
                    <a:pt x="358282" y="27237"/>
                  </a:lnTo>
                  <a:lnTo>
                    <a:pt x="366156" y="36308"/>
                  </a:lnTo>
                  <a:lnTo>
                    <a:pt x="373607" y="23618"/>
                  </a:lnTo>
                  <a:lnTo>
                    <a:pt x="381063" y="24339"/>
                  </a:lnTo>
                  <a:lnTo>
                    <a:pt x="388936" y="21063"/>
                  </a:lnTo>
                  <a:lnTo>
                    <a:pt x="396387" y="22518"/>
                  </a:lnTo>
                  <a:lnTo>
                    <a:pt x="404260" y="18532"/>
                  </a:lnTo>
                  <a:lnTo>
                    <a:pt x="411716" y="16711"/>
                  </a:lnTo>
                  <a:lnTo>
                    <a:pt x="419168" y="17799"/>
                  </a:lnTo>
                  <a:lnTo>
                    <a:pt x="427041" y="19254"/>
                  </a:lnTo>
                  <a:lnTo>
                    <a:pt x="434497" y="18166"/>
                  </a:lnTo>
                  <a:lnTo>
                    <a:pt x="442371" y="18532"/>
                  </a:lnTo>
                  <a:lnTo>
                    <a:pt x="449821" y="18887"/>
                  </a:lnTo>
                  <a:lnTo>
                    <a:pt x="457278" y="14168"/>
                  </a:lnTo>
                  <a:lnTo>
                    <a:pt x="465150" y="17799"/>
                  </a:lnTo>
                  <a:lnTo>
                    <a:pt x="472607" y="11637"/>
                  </a:lnTo>
                  <a:lnTo>
                    <a:pt x="480475" y="12713"/>
                  </a:lnTo>
                  <a:lnTo>
                    <a:pt x="487926" y="7640"/>
                  </a:lnTo>
                  <a:lnTo>
                    <a:pt x="495388" y="17078"/>
                  </a:lnTo>
                  <a:lnTo>
                    <a:pt x="503251" y="7628"/>
                  </a:lnTo>
                  <a:lnTo>
                    <a:pt x="510712" y="12347"/>
                  </a:lnTo>
                  <a:lnTo>
                    <a:pt x="518580" y="8361"/>
                  </a:lnTo>
                  <a:lnTo>
                    <a:pt x="526036" y="18166"/>
                  </a:lnTo>
                  <a:lnTo>
                    <a:pt x="533493" y="3642"/>
                  </a:lnTo>
                  <a:lnTo>
                    <a:pt x="541360" y="5097"/>
                  </a:lnTo>
                  <a:lnTo>
                    <a:pt x="548817" y="378"/>
                  </a:lnTo>
                  <a:lnTo>
                    <a:pt x="556685" y="7995"/>
                  </a:lnTo>
                  <a:lnTo>
                    <a:pt x="564146" y="6906"/>
                  </a:lnTo>
                  <a:lnTo>
                    <a:pt x="571598" y="4730"/>
                  </a:lnTo>
                  <a:lnTo>
                    <a:pt x="579465" y="5097"/>
                  </a:lnTo>
                  <a:lnTo>
                    <a:pt x="586927" y="9804"/>
                  </a:lnTo>
                  <a:lnTo>
                    <a:pt x="594794" y="4730"/>
                  </a:lnTo>
                  <a:lnTo>
                    <a:pt x="602251" y="11614"/>
                  </a:lnTo>
                  <a:lnTo>
                    <a:pt x="609707" y="30489"/>
                  </a:lnTo>
                  <a:lnTo>
                    <a:pt x="617575" y="9804"/>
                  </a:lnTo>
                  <a:lnTo>
                    <a:pt x="625027" y="9083"/>
                  </a:lnTo>
                  <a:lnTo>
                    <a:pt x="632899" y="9083"/>
                  </a:lnTo>
                  <a:lnTo>
                    <a:pt x="640356" y="8349"/>
                  </a:lnTo>
                  <a:lnTo>
                    <a:pt x="647807" y="5085"/>
                  </a:lnTo>
                  <a:lnTo>
                    <a:pt x="655685" y="9449"/>
                  </a:lnTo>
                  <a:lnTo>
                    <a:pt x="663137" y="9804"/>
                  </a:lnTo>
                  <a:lnTo>
                    <a:pt x="671009" y="9804"/>
                  </a:lnTo>
                  <a:lnTo>
                    <a:pt x="678466" y="16699"/>
                  </a:lnTo>
                  <a:lnTo>
                    <a:pt x="685916" y="6173"/>
                  </a:lnTo>
                  <a:lnTo>
                    <a:pt x="693790" y="13435"/>
                  </a:lnTo>
                  <a:lnTo>
                    <a:pt x="701246" y="3997"/>
                  </a:lnTo>
                  <a:lnTo>
                    <a:pt x="709114" y="10159"/>
                  </a:lnTo>
                  <a:lnTo>
                    <a:pt x="716571" y="3264"/>
                  </a:lnTo>
                  <a:lnTo>
                    <a:pt x="724027" y="7261"/>
                  </a:lnTo>
                  <a:lnTo>
                    <a:pt x="731895" y="5440"/>
                  </a:lnTo>
                  <a:lnTo>
                    <a:pt x="739351" y="7628"/>
                  </a:lnTo>
                  <a:lnTo>
                    <a:pt x="747224" y="17421"/>
                  </a:lnTo>
                  <a:lnTo>
                    <a:pt x="754680" y="5085"/>
                  </a:lnTo>
                  <a:lnTo>
                    <a:pt x="762131" y="0"/>
                  </a:lnTo>
                  <a:lnTo>
                    <a:pt x="770005" y="4352"/>
                  </a:lnTo>
                  <a:lnTo>
                    <a:pt x="777461" y="2909"/>
                  </a:lnTo>
                </a:path>
              </a:pathLst>
            </a:custGeom>
            <a:ln w="11448">
              <a:solidFill>
                <a:srgbClr val="231F20"/>
              </a:solidFill>
              <a:prstDash val="lgDash"/>
            </a:ln>
          </p:spPr>
          <p:txBody>
            <a:bodyPr wrap="square" lIns="0" tIns="0" rIns="0" bIns="0" rtlCol="0"/>
            <a:lstStyle/>
            <a:p>
              <a:endParaRPr/>
            </a:p>
          </p:txBody>
        </p:sp>
        <p:sp>
          <p:nvSpPr>
            <p:cNvPr id="11" name="object 11"/>
            <p:cNvSpPr/>
            <p:nvPr/>
          </p:nvSpPr>
          <p:spPr>
            <a:xfrm>
              <a:off x="2536647" y="1128097"/>
              <a:ext cx="739775" cy="1186180"/>
            </a:xfrm>
            <a:custGeom>
              <a:avLst/>
              <a:gdLst/>
              <a:ahLst/>
              <a:cxnLst/>
              <a:rect l="l" t="t" r="r" b="b"/>
              <a:pathLst>
                <a:path w="739775" h="1186180">
                  <a:moveTo>
                    <a:pt x="0" y="6170"/>
                  </a:moveTo>
                  <a:lnTo>
                    <a:pt x="7872" y="5073"/>
                  </a:lnTo>
                  <a:lnTo>
                    <a:pt x="15323" y="1816"/>
                  </a:lnTo>
                  <a:lnTo>
                    <a:pt x="22780" y="6170"/>
                  </a:lnTo>
                  <a:lnTo>
                    <a:pt x="30653" y="0"/>
                  </a:lnTo>
                  <a:lnTo>
                    <a:pt x="38109" y="4353"/>
                  </a:lnTo>
                  <a:lnTo>
                    <a:pt x="45982" y="2170"/>
                  </a:lnTo>
                  <a:lnTo>
                    <a:pt x="53433" y="7255"/>
                  </a:lnTo>
                  <a:lnTo>
                    <a:pt x="60890" y="2170"/>
                  </a:lnTo>
                  <a:lnTo>
                    <a:pt x="68757" y="5073"/>
                  </a:lnTo>
                  <a:lnTo>
                    <a:pt x="76214" y="719"/>
                  </a:lnTo>
                  <a:lnTo>
                    <a:pt x="84081" y="5438"/>
                  </a:lnTo>
                  <a:lnTo>
                    <a:pt x="91543" y="6524"/>
                  </a:lnTo>
                  <a:lnTo>
                    <a:pt x="98995" y="7243"/>
                  </a:lnTo>
                  <a:lnTo>
                    <a:pt x="106856" y="6524"/>
                  </a:lnTo>
                  <a:lnTo>
                    <a:pt x="114324" y="16328"/>
                  </a:lnTo>
                  <a:lnTo>
                    <a:pt x="122186" y="10523"/>
                  </a:lnTo>
                  <a:lnTo>
                    <a:pt x="129640" y="10877"/>
                  </a:lnTo>
                  <a:lnTo>
                    <a:pt x="137107" y="11963"/>
                  </a:lnTo>
                  <a:lnTo>
                    <a:pt x="144969" y="12328"/>
                  </a:lnTo>
                  <a:lnTo>
                    <a:pt x="152423" y="6524"/>
                  </a:lnTo>
                  <a:lnTo>
                    <a:pt x="160299" y="10877"/>
                  </a:lnTo>
                  <a:lnTo>
                    <a:pt x="167752" y="5804"/>
                  </a:lnTo>
                  <a:lnTo>
                    <a:pt x="175206" y="13048"/>
                  </a:lnTo>
                  <a:lnTo>
                    <a:pt x="183082" y="5073"/>
                  </a:lnTo>
                  <a:lnTo>
                    <a:pt x="190536" y="13048"/>
                  </a:lnTo>
                  <a:lnTo>
                    <a:pt x="198398" y="6524"/>
                  </a:lnTo>
                  <a:lnTo>
                    <a:pt x="205851" y="19218"/>
                  </a:lnTo>
                  <a:lnTo>
                    <a:pt x="213305" y="13048"/>
                  </a:lnTo>
                  <a:lnTo>
                    <a:pt x="221181" y="14511"/>
                  </a:lnTo>
                  <a:lnTo>
                    <a:pt x="228635" y="13048"/>
                  </a:lnTo>
                  <a:lnTo>
                    <a:pt x="236510" y="18499"/>
                  </a:lnTo>
                  <a:lnTo>
                    <a:pt x="243964" y="14145"/>
                  </a:lnTo>
                  <a:lnTo>
                    <a:pt x="251418" y="14499"/>
                  </a:lnTo>
                  <a:lnTo>
                    <a:pt x="259280" y="14865"/>
                  </a:lnTo>
                  <a:lnTo>
                    <a:pt x="266747" y="15231"/>
                  </a:lnTo>
                  <a:lnTo>
                    <a:pt x="274623" y="17048"/>
                  </a:lnTo>
                  <a:lnTo>
                    <a:pt x="282077" y="12682"/>
                  </a:lnTo>
                  <a:lnTo>
                    <a:pt x="289531" y="19950"/>
                  </a:lnTo>
                  <a:lnTo>
                    <a:pt x="297393" y="21389"/>
                  </a:lnTo>
                  <a:lnTo>
                    <a:pt x="304846" y="30828"/>
                  </a:lnTo>
                  <a:lnTo>
                    <a:pt x="312722" y="22840"/>
                  </a:lnTo>
                  <a:lnTo>
                    <a:pt x="320176" y="29377"/>
                  </a:lnTo>
                  <a:lnTo>
                    <a:pt x="327630" y="30828"/>
                  </a:lnTo>
                  <a:lnTo>
                    <a:pt x="335505" y="35913"/>
                  </a:lnTo>
                  <a:lnTo>
                    <a:pt x="342959" y="30828"/>
                  </a:lnTo>
                  <a:lnTo>
                    <a:pt x="350835" y="31193"/>
                  </a:lnTo>
                  <a:lnTo>
                    <a:pt x="358289" y="32279"/>
                  </a:lnTo>
                  <a:lnTo>
                    <a:pt x="365742" y="34815"/>
                  </a:lnTo>
                  <a:lnTo>
                    <a:pt x="373604" y="32279"/>
                  </a:lnTo>
                  <a:lnTo>
                    <a:pt x="381072" y="31913"/>
                  </a:lnTo>
                  <a:lnTo>
                    <a:pt x="388934" y="38083"/>
                  </a:lnTo>
                  <a:lnTo>
                    <a:pt x="396388" y="39169"/>
                  </a:lnTo>
                  <a:lnTo>
                    <a:pt x="403842" y="41351"/>
                  </a:lnTo>
                  <a:lnTo>
                    <a:pt x="411717" y="43157"/>
                  </a:lnTo>
                  <a:lnTo>
                    <a:pt x="419171" y="48607"/>
                  </a:lnTo>
                  <a:lnTo>
                    <a:pt x="427046" y="57680"/>
                  </a:lnTo>
                  <a:lnTo>
                    <a:pt x="434500" y="50424"/>
                  </a:lnTo>
                  <a:lnTo>
                    <a:pt x="441954" y="54766"/>
                  </a:lnTo>
                  <a:lnTo>
                    <a:pt x="449816" y="62753"/>
                  </a:lnTo>
                  <a:lnTo>
                    <a:pt x="457270" y="62753"/>
                  </a:lnTo>
                  <a:lnTo>
                    <a:pt x="465146" y="63838"/>
                  </a:lnTo>
                  <a:lnTo>
                    <a:pt x="472599" y="74374"/>
                  </a:lnTo>
                  <a:lnTo>
                    <a:pt x="480053" y="68923"/>
                  </a:lnTo>
                  <a:lnTo>
                    <a:pt x="487929" y="68204"/>
                  </a:lnTo>
                  <a:lnTo>
                    <a:pt x="495383" y="72557"/>
                  </a:lnTo>
                  <a:lnTo>
                    <a:pt x="503258" y="72557"/>
                  </a:lnTo>
                  <a:lnTo>
                    <a:pt x="510712" y="79813"/>
                  </a:lnTo>
                  <a:lnTo>
                    <a:pt x="518166" y="80898"/>
                  </a:lnTo>
                  <a:lnTo>
                    <a:pt x="526041" y="87788"/>
                  </a:lnTo>
                  <a:lnTo>
                    <a:pt x="533495" y="91788"/>
                  </a:lnTo>
                  <a:lnTo>
                    <a:pt x="541371" y="101226"/>
                  </a:lnTo>
                  <a:lnTo>
                    <a:pt x="548811" y="104483"/>
                  </a:lnTo>
                  <a:lnTo>
                    <a:pt x="556279" y="118274"/>
                  </a:lnTo>
                  <a:lnTo>
                    <a:pt x="564141" y="124810"/>
                  </a:lnTo>
                  <a:lnTo>
                    <a:pt x="571594" y="129884"/>
                  </a:lnTo>
                  <a:lnTo>
                    <a:pt x="579470" y="135334"/>
                  </a:lnTo>
                  <a:lnTo>
                    <a:pt x="586924" y="152028"/>
                  </a:lnTo>
                  <a:lnTo>
                    <a:pt x="594378" y="143675"/>
                  </a:lnTo>
                  <a:lnTo>
                    <a:pt x="602253" y="143675"/>
                  </a:lnTo>
                  <a:lnTo>
                    <a:pt x="609707" y="163638"/>
                  </a:lnTo>
                  <a:lnTo>
                    <a:pt x="617569" y="177430"/>
                  </a:lnTo>
                  <a:lnTo>
                    <a:pt x="625036" y="190856"/>
                  </a:lnTo>
                  <a:lnTo>
                    <a:pt x="632490" y="189405"/>
                  </a:lnTo>
                  <a:lnTo>
                    <a:pt x="640352" y="223878"/>
                  </a:lnTo>
                  <a:lnTo>
                    <a:pt x="647806" y="231146"/>
                  </a:lnTo>
                  <a:lnTo>
                    <a:pt x="655695" y="254730"/>
                  </a:lnTo>
                  <a:lnTo>
                    <a:pt x="663136" y="269607"/>
                  </a:lnTo>
                  <a:lnTo>
                    <a:pt x="670589" y="305178"/>
                  </a:lnTo>
                  <a:lnTo>
                    <a:pt x="678465" y="328031"/>
                  </a:lnTo>
                  <a:lnTo>
                    <a:pt x="685919" y="356712"/>
                  </a:lnTo>
                  <a:lnTo>
                    <a:pt x="693794" y="410062"/>
                  </a:lnTo>
                  <a:lnTo>
                    <a:pt x="701248" y="456511"/>
                  </a:lnTo>
                  <a:lnTo>
                    <a:pt x="708702" y="540699"/>
                  </a:lnTo>
                  <a:lnTo>
                    <a:pt x="716564" y="639412"/>
                  </a:lnTo>
                  <a:lnTo>
                    <a:pt x="724032" y="762080"/>
                  </a:lnTo>
                  <a:lnTo>
                    <a:pt x="731893" y="942451"/>
                  </a:lnTo>
                  <a:lnTo>
                    <a:pt x="739347" y="1185601"/>
                  </a:lnTo>
                </a:path>
              </a:pathLst>
            </a:custGeom>
            <a:ln w="11488">
              <a:solidFill>
                <a:srgbClr val="231F20"/>
              </a:solidFill>
              <a:prstDash val="lgDash"/>
            </a:ln>
          </p:spPr>
          <p:txBody>
            <a:bodyPr wrap="square" lIns="0" tIns="0" rIns="0" bIns="0" rtlCol="0"/>
            <a:lstStyle/>
            <a:p>
              <a:endParaRPr/>
            </a:p>
          </p:txBody>
        </p:sp>
        <p:sp>
          <p:nvSpPr>
            <p:cNvPr id="12" name="object 12"/>
            <p:cNvSpPr/>
            <p:nvPr/>
          </p:nvSpPr>
          <p:spPr>
            <a:xfrm>
              <a:off x="1759214" y="1063458"/>
              <a:ext cx="777875" cy="1477645"/>
            </a:xfrm>
            <a:custGeom>
              <a:avLst/>
              <a:gdLst/>
              <a:ahLst/>
              <a:cxnLst/>
              <a:rect l="l" t="t" r="r" b="b"/>
              <a:pathLst>
                <a:path w="777875" h="1477645">
                  <a:moveTo>
                    <a:pt x="0" y="1477471"/>
                  </a:moveTo>
                  <a:lnTo>
                    <a:pt x="7866" y="607561"/>
                  </a:lnTo>
                  <a:lnTo>
                    <a:pt x="15324" y="428275"/>
                  </a:lnTo>
                  <a:lnTo>
                    <a:pt x="23196" y="313968"/>
                  </a:lnTo>
                  <a:lnTo>
                    <a:pt x="30653" y="256986"/>
                  </a:lnTo>
                  <a:lnTo>
                    <a:pt x="38103" y="204723"/>
                  </a:lnTo>
                  <a:lnTo>
                    <a:pt x="45972" y="179319"/>
                  </a:lnTo>
                  <a:lnTo>
                    <a:pt x="53433" y="152827"/>
                  </a:lnTo>
                  <a:lnTo>
                    <a:pt x="61296" y="134317"/>
                  </a:lnTo>
                  <a:lnTo>
                    <a:pt x="68758" y="122703"/>
                  </a:lnTo>
                  <a:lnTo>
                    <a:pt x="76214" y="108180"/>
                  </a:lnTo>
                  <a:lnTo>
                    <a:pt x="84077" y="101285"/>
                  </a:lnTo>
                  <a:lnTo>
                    <a:pt x="91538" y="88216"/>
                  </a:lnTo>
                  <a:lnTo>
                    <a:pt x="99406" y="81333"/>
                  </a:lnTo>
                  <a:lnTo>
                    <a:pt x="106858" y="71162"/>
                  </a:lnTo>
                  <a:lnTo>
                    <a:pt x="114319" y="68264"/>
                  </a:lnTo>
                  <a:lnTo>
                    <a:pt x="122187" y="60648"/>
                  </a:lnTo>
                  <a:lnTo>
                    <a:pt x="129643" y="59548"/>
                  </a:lnTo>
                  <a:lnTo>
                    <a:pt x="137512" y="51931"/>
                  </a:lnTo>
                  <a:lnTo>
                    <a:pt x="144967" y="51931"/>
                  </a:lnTo>
                  <a:lnTo>
                    <a:pt x="152424" y="45770"/>
                  </a:lnTo>
                  <a:lnTo>
                    <a:pt x="160297" y="44315"/>
                  </a:lnTo>
                  <a:lnTo>
                    <a:pt x="167748" y="39951"/>
                  </a:lnTo>
                  <a:lnTo>
                    <a:pt x="175621" y="40317"/>
                  </a:lnTo>
                  <a:lnTo>
                    <a:pt x="183078" y="35598"/>
                  </a:lnTo>
                  <a:lnTo>
                    <a:pt x="190530" y="34865"/>
                  </a:lnTo>
                  <a:lnTo>
                    <a:pt x="198402" y="31968"/>
                  </a:lnTo>
                  <a:lnTo>
                    <a:pt x="205858" y="30146"/>
                  </a:lnTo>
                  <a:lnTo>
                    <a:pt x="213731" y="28337"/>
                  </a:lnTo>
                  <a:lnTo>
                    <a:pt x="221183" y="27970"/>
                  </a:lnTo>
                  <a:lnTo>
                    <a:pt x="228639" y="25439"/>
                  </a:lnTo>
                  <a:lnTo>
                    <a:pt x="236507" y="25073"/>
                  </a:lnTo>
                  <a:lnTo>
                    <a:pt x="243963" y="23251"/>
                  </a:lnTo>
                  <a:lnTo>
                    <a:pt x="251837" y="22885"/>
                  </a:lnTo>
                  <a:lnTo>
                    <a:pt x="259288" y="21442"/>
                  </a:lnTo>
                  <a:lnTo>
                    <a:pt x="266744" y="21442"/>
                  </a:lnTo>
                  <a:lnTo>
                    <a:pt x="274616" y="19620"/>
                  </a:lnTo>
                  <a:lnTo>
                    <a:pt x="282068" y="19987"/>
                  </a:lnTo>
                  <a:lnTo>
                    <a:pt x="289942" y="15989"/>
                  </a:lnTo>
                  <a:lnTo>
                    <a:pt x="297398" y="18166"/>
                  </a:lnTo>
                  <a:lnTo>
                    <a:pt x="304853" y="15623"/>
                  </a:lnTo>
                  <a:lnTo>
                    <a:pt x="312722" y="15989"/>
                  </a:lnTo>
                  <a:lnTo>
                    <a:pt x="320179" y="13092"/>
                  </a:lnTo>
                  <a:lnTo>
                    <a:pt x="328046" y="13813"/>
                  </a:lnTo>
                  <a:lnTo>
                    <a:pt x="335503" y="10904"/>
                  </a:lnTo>
                  <a:lnTo>
                    <a:pt x="342964" y="11637"/>
                  </a:lnTo>
                  <a:lnTo>
                    <a:pt x="350827" y="9461"/>
                  </a:lnTo>
                  <a:lnTo>
                    <a:pt x="358284" y="10182"/>
                  </a:lnTo>
                  <a:lnTo>
                    <a:pt x="366156" y="8728"/>
                  </a:lnTo>
                  <a:lnTo>
                    <a:pt x="373608" y="9816"/>
                  </a:lnTo>
                  <a:lnTo>
                    <a:pt x="381064" y="8728"/>
                  </a:lnTo>
                  <a:lnTo>
                    <a:pt x="388937" y="9094"/>
                  </a:lnTo>
                  <a:lnTo>
                    <a:pt x="396388" y="6552"/>
                  </a:lnTo>
                  <a:lnTo>
                    <a:pt x="404261" y="6918"/>
                  </a:lnTo>
                  <a:lnTo>
                    <a:pt x="411717" y="6197"/>
                  </a:lnTo>
                  <a:lnTo>
                    <a:pt x="427043" y="6197"/>
                  </a:lnTo>
                  <a:lnTo>
                    <a:pt x="434498" y="4009"/>
                  </a:lnTo>
                  <a:lnTo>
                    <a:pt x="442371" y="5097"/>
                  </a:lnTo>
                  <a:lnTo>
                    <a:pt x="449822" y="4730"/>
                  </a:lnTo>
                  <a:lnTo>
                    <a:pt x="457279" y="2921"/>
                  </a:lnTo>
                  <a:lnTo>
                    <a:pt x="465152" y="4364"/>
                  </a:lnTo>
                  <a:lnTo>
                    <a:pt x="472608" y="3642"/>
                  </a:lnTo>
                  <a:lnTo>
                    <a:pt x="480476" y="2909"/>
                  </a:lnTo>
                  <a:lnTo>
                    <a:pt x="487928" y="3276"/>
                  </a:lnTo>
                  <a:lnTo>
                    <a:pt x="495389" y="2554"/>
                  </a:lnTo>
                  <a:lnTo>
                    <a:pt x="503252" y="2909"/>
                  </a:lnTo>
                  <a:lnTo>
                    <a:pt x="510713" y="2909"/>
                  </a:lnTo>
                  <a:lnTo>
                    <a:pt x="518581" y="3276"/>
                  </a:lnTo>
                  <a:lnTo>
                    <a:pt x="526038" y="2554"/>
                  </a:lnTo>
                  <a:lnTo>
                    <a:pt x="541362" y="2554"/>
                  </a:lnTo>
                  <a:lnTo>
                    <a:pt x="548818" y="3276"/>
                  </a:lnTo>
                  <a:lnTo>
                    <a:pt x="556686" y="2187"/>
                  </a:lnTo>
                  <a:lnTo>
                    <a:pt x="571599" y="2187"/>
                  </a:lnTo>
                  <a:lnTo>
                    <a:pt x="579467" y="2554"/>
                  </a:lnTo>
                  <a:lnTo>
                    <a:pt x="586929" y="1454"/>
                  </a:lnTo>
                  <a:lnTo>
                    <a:pt x="594797" y="1099"/>
                  </a:lnTo>
                  <a:lnTo>
                    <a:pt x="602253" y="366"/>
                  </a:lnTo>
                  <a:lnTo>
                    <a:pt x="609708" y="1454"/>
                  </a:lnTo>
                  <a:lnTo>
                    <a:pt x="617577" y="1099"/>
                  </a:lnTo>
                  <a:lnTo>
                    <a:pt x="625028" y="1454"/>
                  </a:lnTo>
                  <a:lnTo>
                    <a:pt x="632901" y="1099"/>
                  </a:lnTo>
                  <a:lnTo>
                    <a:pt x="640358" y="1454"/>
                  </a:lnTo>
                  <a:lnTo>
                    <a:pt x="647809" y="1088"/>
                  </a:lnTo>
                  <a:lnTo>
                    <a:pt x="655687" y="366"/>
                  </a:lnTo>
                  <a:lnTo>
                    <a:pt x="663138" y="366"/>
                  </a:lnTo>
                  <a:lnTo>
                    <a:pt x="671011" y="0"/>
                  </a:lnTo>
                  <a:lnTo>
                    <a:pt x="678467" y="1454"/>
                  </a:lnTo>
                  <a:lnTo>
                    <a:pt x="685919" y="366"/>
                  </a:lnTo>
                  <a:lnTo>
                    <a:pt x="693793" y="1088"/>
                  </a:lnTo>
                  <a:lnTo>
                    <a:pt x="701248" y="366"/>
                  </a:lnTo>
                  <a:lnTo>
                    <a:pt x="709117" y="2176"/>
                  </a:lnTo>
                  <a:lnTo>
                    <a:pt x="716572" y="721"/>
                  </a:lnTo>
                  <a:lnTo>
                    <a:pt x="724029" y="1821"/>
                  </a:lnTo>
                  <a:lnTo>
                    <a:pt x="731896" y="1821"/>
                  </a:lnTo>
                  <a:lnTo>
                    <a:pt x="739353" y="1454"/>
                  </a:lnTo>
                  <a:lnTo>
                    <a:pt x="747226" y="1454"/>
                  </a:lnTo>
                  <a:lnTo>
                    <a:pt x="754683" y="366"/>
                  </a:lnTo>
                  <a:lnTo>
                    <a:pt x="762133" y="2176"/>
                  </a:lnTo>
                  <a:lnTo>
                    <a:pt x="770007" y="2542"/>
                  </a:lnTo>
                  <a:lnTo>
                    <a:pt x="777463" y="2897"/>
                  </a:lnTo>
                </a:path>
              </a:pathLst>
            </a:custGeom>
            <a:ln w="5710">
              <a:solidFill>
                <a:srgbClr val="231F20"/>
              </a:solidFill>
              <a:prstDash val="lgDash"/>
            </a:ln>
          </p:spPr>
          <p:txBody>
            <a:bodyPr wrap="square" lIns="0" tIns="0" rIns="0" bIns="0" rtlCol="0"/>
            <a:lstStyle/>
            <a:p>
              <a:endParaRPr/>
            </a:p>
          </p:txBody>
        </p:sp>
        <p:sp>
          <p:nvSpPr>
            <p:cNvPr id="13" name="object 13"/>
            <p:cNvSpPr/>
            <p:nvPr/>
          </p:nvSpPr>
          <p:spPr>
            <a:xfrm>
              <a:off x="2536651" y="1066398"/>
              <a:ext cx="739775" cy="1172210"/>
            </a:xfrm>
            <a:custGeom>
              <a:avLst/>
              <a:gdLst/>
              <a:ahLst/>
              <a:cxnLst/>
              <a:rect l="l" t="t" r="r" b="b"/>
              <a:pathLst>
                <a:path w="739775" h="1172210">
                  <a:moveTo>
                    <a:pt x="0" y="0"/>
                  </a:moveTo>
                  <a:lnTo>
                    <a:pt x="7873" y="731"/>
                  </a:lnTo>
                  <a:lnTo>
                    <a:pt x="15323" y="365"/>
                  </a:lnTo>
                  <a:lnTo>
                    <a:pt x="22780" y="731"/>
                  </a:lnTo>
                  <a:lnTo>
                    <a:pt x="30653" y="365"/>
                  </a:lnTo>
                  <a:lnTo>
                    <a:pt x="38109" y="1816"/>
                  </a:lnTo>
                  <a:lnTo>
                    <a:pt x="45982" y="731"/>
                  </a:lnTo>
                  <a:lnTo>
                    <a:pt x="53433" y="2170"/>
                  </a:lnTo>
                  <a:lnTo>
                    <a:pt x="60890" y="1451"/>
                  </a:lnTo>
                  <a:lnTo>
                    <a:pt x="68758" y="3267"/>
                  </a:lnTo>
                  <a:lnTo>
                    <a:pt x="76213" y="3267"/>
                  </a:lnTo>
                  <a:lnTo>
                    <a:pt x="84083" y="2536"/>
                  </a:lnTo>
                  <a:lnTo>
                    <a:pt x="91544" y="2170"/>
                  </a:lnTo>
                  <a:lnTo>
                    <a:pt x="98999" y="3633"/>
                  </a:lnTo>
                  <a:lnTo>
                    <a:pt x="106861" y="2536"/>
                  </a:lnTo>
                  <a:lnTo>
                    <a:pt x="114316" y="3267"/>
                  </a:lnTo>
                  <a:lnTo>
                    <a:pt x="122192" y="2890"/>
                  </a:lnTo>
                  <a:lnTo>
                    <a:pt x="129646" y="3633"/>
                  </a:lnTo>
                  <a:lnTo>
                    <a:pt x="137100" y="3987"/>
                  </a:lnTo>
                  <a:lnTo>
                    <a:pt x="144962" y="3987"/>
                  </a:lnTo>
                  <a:lnTo>
                    <a:pt x="152430" y="2890"/>
                  </a:lnTo>
                  <a:lnTo>
                    <a:pt x="160292" y="4353"/>
                  </a:lnTo>
                  <a:lnTo>
                    <a:pt x="167747" y="4707"/>
                  </a:lnTo>
                  <a:lnTo>
                    <a:pt x="175201" y="6889"/>
                  </a:lnTo>
                  <a:lnTo>
                    <a:pt x="183077" y="6523"/>
                  </a:lnTo>
                  <a:lnTo>
                    <a:pt x="190531" y="7609"/>
                  </a:lnTo>
                  <a:lnTo>
                    <a:pt x="198407" y="7255"/>
                  </a:lnTo>
                  <a:lnTo>
                    <a:pt x="205861" y="7609"/>
                  </a:lnTo>
                  <a:lnTo>
                    <a:pt x="213315" y="6158"/>
                  </a:lnTo>
                  <a:lnTo>
                    <a:pt x="221178" y="8340"/>
                  </a:lnTo>
                  <a:lnTo>
                    <a:pt x="228645" y="6889"/>
                  </a:lnTo>
                  <a:lnTo>
                    <a:pt x="236508" y="6889"/>
                  </a:lnTo>
                  <a:lnTo>
                    <a:pt x="243962" y="7609"/>
                  </a:lnTo>
                  <a:lnTo>
                    <a:pt x="251430" y="7243"/>
                  </a:lnTo>
                  <a:lnTo>
                    <a:pt x="259292" y="9060"/>
                  </a:lnTo>
                  <a:lnTo>
                    <a:pt x="266746" y="9060"/>
                  </a:lnTo>
                  <a:lnTo>
                    <a:pt x="274622" y="10511"/>
                  </a:lnTo>
                  <a:lnTo>
                    <a:pt x="282076" y="11608"/>
                  </a:lnTo>
                  <a:lnTo>
                    <a:pt x="289531" y="11962"/>
                  </a:lnTo>
                  <a:lnTo>
                    <a:pt x="297393" y="12328"/>
                  </a:lnTo>
                  <a:lnTo>
                    <a:pt x="304847" y="11596"/>
                  </a:lnTo>
                  <a:lnTo>
                    <a:pt x="312723" y="12682"/>
                  </a:lnTo>
                  <a:lnTo>
                    <a:pt x="320177" y="13413"/>
                  </a:lnTo>
                  <a:lnTo>
                    <a:pt x="327631" y="15950"/>
                  </a:lnTo>
                  <a:lnTo>
                    <a:pt x="335507" y="15584"/>
                  </a:lnTo>
                  <a:lnTo>
                    <a:pt x="342962" y="17766"/>
                  </a:lnTo>
                  <a:lnTo>
                    <a:pt x="350837" y="16669"/>
                  </a:lnTo>
                  <a:lnTo>
                    <a:pt x="358292" y="19949"/>
                  </a:lnTo>
                  <a:lnTo>
                    <a:pt x="365746" y="18852"/>
                  </a:lnTo>
                  <a:lnTo>
                    <a:pt x="373608" y="23205"/>
                  </a:lnTo>
                  <a:lnTo>
                    <a:pt x="381062" y="21034"/>
                  </a:lnTo>
                  <a:lnTo>
                    <a:pt x="388938" y="25022"/>
                  </a:lnTo>
                  <a:lnTo>
                    <a:pt x="396393" y="23936"/>
                  </a:lnTo>
                  <a:lnTo>
                    <a:pt x="403847" y="25388"/>
                  </a:lnTo>
                  <a:lnTo>
                    <a:pt x="411723" y="25022"/>
                  </a:lnTo>
                  <a:lnTo>
                    <a:pt x="419177" y="26107"/>
                  </a:lnTo>
                  <a:lnTo>
                    <a:pt x="427039" y="27204"/>
                  </a:lnTo>
                  <a:lnTo>
                    <a:pt x="434493" y="27924"/>
                  </a:lnTo>
                  <a:lnTo>
                    <a:pt x="441948" y="29741"/>
                  </a:lnTo>
                  <a:lnTo>
                    <a:pt x="449824" y="30095"/>
                  </a:lnTo>
                  <a:lnTo>
                    <a:pt x="457278" y="33728"/>
                  </a:lnTo>
                  <a:lnTo>
                    <a:pt x="465154" y="33363"/>
                  </a:lnTo>
                  <a:lnTo>
                    <a:pt x="472608" y="34448"/>
                  </a:lnTo>
                  <a:lnTo>
                    <a:pt x="480062" y="36265"/>
                  </a:lnTo>
                  <a:lnTo>
                    <a:pt x="487938" y="37362"/>
                  </a:lnTo>
                  <a:lnTo>
                    <a:pt x="495392" y="40984"/>
                  </a:lnTo>
                  <a:lnTo>
                    <a:pt x="503268" y="40984"/>
                  </a:lnTo>
                  <a:lnTo>
                    <a:pt x="510709" y="43520"/>
                  </a:lnTo>
                  <a:lnTo>
                    <a:pt x="518163" y="46068"/>
                  </a:lnTo>
                  <a:lnTo>
                    <a:pt x="526039" y="48959"/>
                  </a:lnTo>
                  <a:lnTo>
                    <a:pt x="533493" y="51495"/>
                  </a:lnTo>
                  <a:lnTo>
                    <a:pt x="541369" y="54775"/>
                  </a:lnTo>
                  <a:lnTo>
                    <a:pt x="548823" y="56226"/>
                  </a:lnTo>
                  <a:lnTo>
                    <a:pt x="556277" y="60579"/>
                  </a:lnTo>
                  <a:lnTo>
                    <a:pt x="564153" y="62030"/>
                  </a:lnTo>
                  <a:lnTo>
                    <a:pt x="571594" y="67469"/>
                  </a:lnTo>
                  <a:lnTo>
                    <a:pt x="579470" y="69651"/>
                  </a:lnTo>
                  <a:lnTo>
                    <a:pt x="586924" y="79443"/>
                  </a:lnTo>
                  <a:lnTo>
                    <a:pt x="594378" y="77992"/>
                  </a:lnTo>
                  <a:lnTo>
                    <a:pt x="602254" y="86699"/>
                  </a:lnTo>
                  <a:lnTo>
                    <a:pt x="609708" y="92149"/>
                  </a:lnTo>
                  <a:lnTo>
                    <a:pt x="617571" y="98673"/>
                  </a:lnTo>
                  <a:lnTo>
                    <a:pt x="625038" y="107026"/>
                  </a:lnTo>
                  <a:lnTo>
                    <a:pt x="632493" y="113915"/>
                  </a:lnTo>
                  <a:lnTo>
                    <a:pt x="640355" y="121183"/>
                  </a:lnTo>
                  <a:lnTo>
                    <a:pt x="647809" y="132425"/>
                  </a:lnTo>
                  <a:lnTo>
                    <a:pt x="655685" y="144766"/>
                  </a:lnTo>
                  <a:lnTo>
                    <a:pt x="663139" y="162910"/>
                  </a:lnTo>
                  <a:lnTo>
                    <a:pt x="670594" y="178518"/>
                  </a:lnTo>
                  <a:lnTo>
                    <a:pt x="685924" y="221708"/>
                  </a:lnTo>
                  <a:lnTo>
                    <a:pt x="701254" y="293201"/>
                  </a:lnTo>
                  <a:lnTo>
                    <a:pt x="708708" y="357437"/>
                  </a:lnTo>
                  <a:lnTo>
                    <a:pt x="716570" y="440173"/>
                  </a:lnTo>
                  <a:lnTo>
                    <a:pt x="724024" y="576633"/>
                  </a:lnTo>
                  <a:lnTo>
                    <a:pt x="731900" y="838295"/>
                  </a:lnTo>
                  <a:lnTo>
                    <a:pt x="739355" y="1172176"/>
                  </a:lnTo>
                </a:path>
              </a:pathLst>
            </a:custGeom>
            <a:ln w="5747">
              <a:solidFill>
                <a:srgbClr val="231F20"/>
              </a:solidFill>
              <a:prstDash val="lgDash"/>
            </a:ln>
          </p:spPr>
          <p:txBody>
            <a:bodyPr wrap="square" lIns="0" tIns="0" rIns="0" bIns="0" rtlCol="0"/>
            <a:lstStyle/>
            <a:p>
              <a:endParaRPr/>
            </a:p>
          </p:txBody>
        </p:sp>
        <p:sp>
          <p:nvSpPr>
            <p:cNvPr id="14" name="object 14"/>
            <p:cNvSpPr/>
            <p:nvPr/>
          </p:nvSpPr>
          <p:spPr>
            <a:xfrm>
              <a:off x="1940505" y="2131945"/>
              <a:ext cx="191135" cy="0"/>
            </a:xfrm>
            <a:custGeom>
              <a:avLst/>
              <a:gdLst/>
              <a:ahLst/>
              <a:cxnLst/>
              <a:rect l="l" t="t" r="r" b="b"/>
              <a:pathLst>
                <a:path w="191135">
                  <a:moveTo>
                    <a:pt x="0" y="0"/>
                  </a:moveTo>
                  <a:lnTo>
                    <a:pt x="190510" y="0"/>
                  </a:lnTo>
                </a:path>
              </a:pathLst>
            </a:custGeom>
            <a:ln w="6350">
              <a:solidFill>
                <a:srgbClr val="231F20"/>
              </a:solidFill>
            </a:ln>
          </p:spPr>
          <p:txBody>
            <a:bodyPr wrap="square" lIns="0" tIns="0" rIns="0" bIns="0" rtlCol="0"/>
            <a:lstStyle/>
            <a:p>
              <a:endParaRPr/>
            </a:p>
          </p:txBody>
        </p:sp>
        <p:sp>
          <p:nvSpPr>
            <p:cNvPr id="15" name="object 15"/>
            <p:cNvSpPr/>
            <p:nvPr/>
          </p:nvSpPr>
          <p:spPr>
            <a:xfrm>
              <a:off x="1940332" y="2238908"/>
              <a:ext cx="194945" cy="2540"/>
            </a:xfrm>
            <a:custGeom>
              <a:avLst/>
              <a:gdLst/>
              <a:ahLst/>
              <a:cxnLst/>
              <a:rect l="l" t="t" r="r" b="b"/>
              <a:pathLst>
                <a:path w="194944" h="2539">
                  <a:moveTo>
                    <a:pt x="0" y="2028"/>
                  </a:moveTo>
                  <a:lnTo>
                    <a:pt x="194919" y="0"/>
                  </a:lnTo>
                </a:path>
              </a:pathLst>
            </a:custGeom>
            <a:ln w="12700">
              <a:solidFill>
                <a:srgbClr val="231F20"/>
              </a:solidFill>
              <a:prstDash val="lgDash"/>
            </a:ln>
          </p:spPr>
          <p:txBody>
            <a:bodyPr wrap="square" lIns="0" tIns="0" rIns="0" bIns="0" rtlCol="0"/>
            <a:lstStyle/>
            <a:p>
              <a:endParaRPr/>
            </a:p>
          </p:txBody>
        </p:sp>
        <p:sp>
          <p:nvSpPr>
            <p:cNvPr id="16" name="object 16"/>
            <p:cNvSpPr/>
            <p:nvPr/>
          </p:nvSpPr>
          <p:spPr>
            <a:xfrm>
              <a:off x="1940505" y="2361145"/>
              <a:ext cx="191135" cy="0"/>
            </a:xfrm>
            <a:custGeom>
              <a:avLst/>
              <a:gdLst/>
              <a:ahLst/>
              <a:cxnLst/>
              <a:rect l="l" t="t" r="r" b="b"/>
              <a:pathLst>
                <a:path w="191135">
                  <a:moveTo>
                    <a:pt x="0" y="0"/>
                  </a:moveTo>
                  <a:lnTo>
                    <a:pt x="190510" y="0"/>
                  </a:lnTo>
                </a:path>
              </a:pathLst>
            </a:custGeom>
            <a:ln w="6350">
              <a:solidFill>
                <a:srgbClr val="231F20"/>
              </a:solidFill>
              <a:prstDash val="lgDash"/>
            </a:ln>
          </p:spPr>
          <p:txBody>
            <a:bodyPr wrap="square" lIns="0" tIns="0" rIns="0" bIns="0" rtlCol="0"/>
            <a:lstStyle/>
            <a:p>
              <a:endParaRPr/>
            </a:p>
          </p:txBody>
        </p:sp>
      </p:grpSp>
      <p:sp>
        <p:nvSpPr>
          <p:cNvPr id="17" name="object 17"/>
          <p:cNvSpPr txBox="1"/>
          <p:nvPr/>
        </p:nvSpPr>
        <p:spPr>
          <a:xfrm>
            <a:off x="1282918" y="1639866"/>
            <a:ext cx="151765" cy="274955"/>
          </a:xfrm>
          <a:prstGeom prst="rect">
            <a:avLst/>
          </a:prstGeom>
        </p:spPr>
        <p:txBody>
          <a:bodyPr vert="horz" wrap="square" lIns="0" tIns="12700" rIns="0" bIns="0" rtlCol="0">
            <a:spAutoFit/>
          </a:bodyPr>
          <a:lstStyle/>
          <a:p>
            <a:pPr marL="15240">
              <a:lnSpc>
                <a:spcPct val="100000"/>
              </a:lnSpc>
              <a:spcBef>
                <a:spcPts val="100"/>
              </a:spcBef>
            </a:pPr>
            <a:r>
              <a:rPr sz="800" dirty="0">
                <a:solidFill>
                  <a:srgbClr val="231F20"/>
                </a:solidFill>
                <a:latin typeface="Arial"/>
                <a:cs typeface="Arial"/>
              </a:rPr>
              <a:t>|P|</a:t>
            </a:r>
            <a:endParaRPr sz="800">
              <a:latin typeface="Arial"/>
              <a:cs typeface="Arial"/>
            </a:endParaRPr>
          </a:p>
          <a:p>
            <a:pPr marL="12700">
              <a:lnSpc>
                <a:spcPct val="100000"/>
              </a:lnSpc>
              <a:spcBef>
                <a:spcPts val="40"/>
              </a:spcBef>
            </a:pPr>
            <a:r>
              <a:rPr sz="800" dirty="0">
                <a:solidFill>
                  <a:srgbClr val="231F20"/>
                </a:solidFill>
                <a:latin typeface="Arial"/>
                <a:cs typeface="Arial"/>
              </a:rPr>
              <a:t>|N|</a:t>
            </a:r>
            <a:endParaRPr sz="800">
              <a:latin typeface="Arial"/>
              <a:cs typeface="Arial"/>
            </a:endParaRPr>
          </a:p>
        </p:txBody>
      </p:sp>
      <p:sp>
        <p:nvSpPr>
          <p:cNvPr id="18" name="object 18"/>
          <p:cNvSpPr/>
          <p:nvPr/>
        </p:nvSpPr>
        <p:spPr>
          <a:xfrm>
            <a:off x="1274638" y="1791178"/>
            <a:ext cx="160020" cy="0"/>
          </a:xfrm>
          <a:custGeom>
            <a:avLst/>
            <a:gdLst/>
            <a:ahLst/>
            <a:cxnLst/>
            <a:rect l="l" t="t" r="r" b="b"/>
            <a:pathLst>
              <a:path w="160019">
                <a:moveTo>
                  <a:pt x="0" y="0"/>
                </a:moveTo>
                <a:lnTo>
                  <a:pt x="159539" y="0"/>
                </a:lnTo>
              </a:path>
            </a:pathLst>
          </a:custGeom>
          <a:ln w="7200">
            <a:solidFill>
              <a:srgbClr val="231F20"/>
            </a:solidFill>
          </a:ln>
        </p:spPr>
        <p:txBody>
          <a:bodyPr wrap="square" lIns="0" tIns="0" rIns="0" bIns="0" rtlCol="0"/>
          <a:lstStyle/>
          <a:p>
            <a:endParaRPr/>
          </a:p>
        </p:txBody>
      </p:sp>
      <p:sp>
        <p:nvSpPr>
          <p:cNvPr id="19" name="object 19"/>
          <p:cNvSpPr txBox="1"/>
          <p:nvPr/>
        </p:nvSpPr>
        <p:spPr>
          <a:xfrm>
            <a:off x="1607304" y="2522706"/>
            <a:ext cx="167005"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0.0</a:t>
            </a:r>
            <a:endParaRPr sz="800">
              <a:latin typeface="Arial"/>
              <a:cs typeface="Arial"/>
            </a:endParaRPr>
          </a:p>
        </p:txBody>
      </p:sp>
      <p:sp>
        <p:nvSpPr>
          <p:cNvPr id="25" name="object 25"/>
          <p:cNvSpPr txBox="1"/>
          <p:nvPr/>
        </p:nvSpPr>
        <p:spPr>
          <a:xfrm>
            <a:off x="66713" y="3331252"/>
            <a:ext cx="1136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Collaborative</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distributed</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systems</a:t>
            </a:r>
            <a:endParaRPr sz="600">
              <a:latin typeface="Arial"/>
              <a:cs typeface="Arial"/>
            </a:endParaRP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36</a:t>
            </a:r>
            <a:r>
              <a:rPr spc="-40" dirty="0"/>
              <a:t> </a:t>
            </a:r>
            <a:r>
              <a:rPr spc="-5" dirty="0"/>
              <a:t>/</a:t>
            </a:r>
            <a:r>
              <a:rPr spc="-35" dirty="0"/>
              <a:t> </a:t>
            </a:r>
            <a:r>
              <a:rPr spc="-5" dirty="0"/>
              <a:t>36</a:t>
            </a:r>
          </a:p>
        </p:txBody>
      </p:sp>
      <p:sp>
        <p:nvSpPr>
          <p:cNvPr id="20" name="object 20"/>
          <p:cNvSpPr txBox="1"/>
          <p:nvPr/>
        </p:nvSpPr>
        <p:spPr>
          <a:xfrm>
            <a:off x="1988329" y="2047909"/>
            <a:ext cx="1365885" cy="626745"/>
          </a:xfrm>
          <a:prstGeom prst="rect">
            <a:avLst/>
          </a:prstGeom>
        </p:spPr>
        <p:txBody>
          <a:bodyPr vert="horz" wrap="square" lIns="0" tIns="12700" rIns="0" bIns="0" rtlCol="0">
            <a:spAutoFit/>
          </a:bodyPr>
          <a:lstStyle/>
          <a:p>
            <a:pPr marL="207645">
              <a:lnSpc>
                <a:spcPts val="925"/>
              </a:lnSpc>
              <a:spcBef>
                <a:spcPts val="100"/>
              </a:spcBef>
            </a:pPr>
            <a:r>
              <a:rPr sz="800" dirty="0">
                <a:solidFill>
                  <a:srgbClr val="231F20"/>
                </a:solidFill>
                <a:latin typeface="Arial"/>
                <a:cs typeface="Arial"/>
              </a:rPr>
              <a:t>|N|</a:t>
            </a:r>
            <a:r>
              <a:rPr sz="800" spc="-30" dirty="0">
                <a:solidFill>
                  <a:srgbClr val="231F20"/>
                </a:solidFill>
                <a:latin typeface="Arial"/>
                <a:cs typeface="Arial"/>
              </a:rPr>
              <a:t> </a:t>
            </a:r>
            <a:r>
              <a:rPr sz="800" dirty="0">
                <a:solidFill>
                  <a:srgbClr val="231F20"/>
                </a:solidFill>
                <a:latin typeface="Arial"/>
                <a:cs typeface="Arial"/>
              </a:rPr>
              <a:t>=</a:t>
            </a:r>
            <a:r>
              <a:rPr sz="800" spc="-30" dirty="0">
                <a:solidFill>
                  <a:srgbClr val="231F20"/>
                </a:solidFill>
                <a:latin typeface="Arial"/>
                <a:cs typeface="Arial"/>
              </a:rPr>
              <a:t> </a:t>
            </a:r>
            <a:r>
              <a:rPr sz="800" spc="-5" dirty="0">
                <a:solidFill>
                  <a:srgbClr val="231F20"/>
                </a:solidFill>
                <a:latin typeface="Arial"/>
                <a:cs typeface="Arial"/>
              </a:rPr>
              <a:t>5</a:t>
            </a:r>
            <a:endParaRPr sz="800">
              <a:latin typeface="Arial"/>
              <a:cs typeface="Arial"/>
            </a:endParaRPr>
          </a:p>
          <a:p>
            <a:pPr marL="207645">
              <a:lnSpc>
                <a:spcPts val="894"/>
              </a:lnSpc>
            </a:pPr>
            <a:r>
              <a:rPr sz="800" dirty="0">
                <a:solidFill>
                  <a:srgbClr val="231F20"/>
                </a:solidFill>
                <a:latin typeface="Arial"/>
                <a:cs typeface="Arial"/>
              </a:rPr>
              <a:t>|N|</a:t>
            </a:r>
            <a:r>
              <a:rPr sz="800" spc="-45" dirty="0">
                <a:solidFill>
                  <a:srgbClr val="231F20"/>
                </a:solidFill>
                <a:latin typeface="Arial"/>
                <a:cs typeface="Arial"/>
              </a:rPr>
              <a:t> </a:t>
            </a:r>
            <a:r>
              <a:rPr sz="800" dirty="0">
                <a:solidFill>
                  <a:srgbClr val="231F20"/>
                </a:solidFill>
                <a:latin typeface="Arial"/>
                <a:cs typeface="Arial"/>
              </a:rPr>
              <a:t>=</a:t>
            </a:r>
            <a:r>
              <a:rPr sz="800" spc="-45" dirty="0">
                <a:solidFill>
                  <a:srgbClr val="231F20"/>
                </a:solidFill>
                <a:latin typeface="Arial"/>
                <a:cs typeface="Arial"/>
              </a:rPr>
              <a:t> </a:t>
            </a:r>
            <a:r>
              <a:rPr sz="800" spc="-5" dirty="0">
                <a:solidFill>
                  <a:srgbClr val="231F20"/>
                </a:solidFill>
                <a:latin typeface="Arial"/>
                <a:cs typeface="Arial"/>
              </a:rPr>
              <a:t>10</a:t>
            </a:r>
            <a:endParaRPr sz="800">
              <a:latin typeface="Arial"/>
              <a:cs typeface="Arial"/>
            </a:endParaRPr>
          </a:p>
          <a:p>
            <a:pPr marL="207645">
              <a:lnSpc>
                <a:spcPts val="925"/>
              </a:lnSpc>
            </a:pPr>
            <a:r>
              <a:rPr sz="800" dirty="0">
                <a:solidFill>
                  <a:srgbClr val="231F20"/>
                </a:solidFill>
                <a:latin typeface="Arial"/>
                <a:cs typeface="Arial"/>
              </a:rPr>
              <a:t>|N|</a:t>
            </a:r>
            <a:r>
              <a:rPr sz="800" spc="-45" dirty="0">
                <a:solidFill>
                  <a:srgbClr val="231F20"/>
                </a:solidFill>
                <a:latin typeface="Arial"/>
                <a:cs typeface="Arial"/>
              </a:rPr>
              <a:t> </a:t>
            </a:r>
            <a:r>
              <a:rPr sz="800" dirty="0">
                <a:solidFill>
                  <a:srgbClr val="231F20"/>
                </a:solidFill>
                <a:latin typeface="Arial"/>
                <a:cs typeface="Arial"/>
              </a:rPr>
              <a:t>=</a:t>
            </a:r>
            <a:r>
              <a:rPr sz="800" spc="-45" dirty="0">
                <a:solidFill>
                  <a:srgbClr val="231F20"/>
                </a:solidFill>
                <a:latin typeface="Arial"/>
                <a:cs typeface="Arial"/>
              </a:rPr>
              <a:t> </a:t>
            </a:r>
            <a:r>
              <a:rPr sz="800" spc="-5" dirty="0">
                <a:solidFill>
                  <a:srgbClr val="231F20"/>
                </a:solidFill>
                <a:latin typeface="Arial"/>
                <a:cs typeface="Arial"/>
              </a:rPr>
              <a:t>40</a:t>
            </a:r>
            <a:endParaRPr sz="800">
              <a:latin typeface="Arial"/>
              <a:cs typeface="Arial"/>
            </a:endParaRPr>
          </a:p>
          <a:p>
            <a:pPr>
              <a:lnSpc>
                <a:spcPct val="100000"/>
              </a:lnSpc>
              <a:spcBef>
                <a:spcPts val="45"/>
              </a:spcBef>
            </a:pPr>
            <a:endParaRPr sz="850">
              <a:latin typeface="Arial"/>
              <a:cs typeface="Arial"/>
            </a:endParaRPr>
          </a:p>
          <a:p>
            <a:pPr marL="12700">
              <a:lnSpc>
                <a:spcPct val="100000"/>
              </a:lnSpc>
              <a:tabLst>
                <a:tab pos="311785" algn="l"/>
                <a:tab pos="611505" algn="l"/>
                <a:tab pos="911225" algn="l"/>
                <a:tab pos="1210945" algn="l"/>
              </a:tabLst>
            </a:pPr>
            <a:r>
              <a:rPr sz="800" dirty="0">
                <a:solidFill>
                  <a:srgbClr val="231F20"/>
                </a:solidFill>
                <a:latin typeface="Arial"/>
                <a:cs typeface="Arial"/>
              </a:rPr>
              <a:t>0.2	0.4	0.6	0.8	1.0</a:t>
            </a:r>
            <a:endParaRPr sz="800">
              <a:latin typeface="Arial"/>
              <a:cs typeface="Arial"/>
            </a:endParaRPr>
          </a:p>
        </p:txBody>
      </p:sp>
      <p:sp>
        <p:nvSpPr>
          <p:cNvPr id="21" name="object 21"/>
          <p:cNvSpPr txBox="1"/>
          <p:nvPr/>
        </p:nvSpPr>
        <p:spPr>
          <a:xfrm>
            <a:off x="1544043" y="2154386"/>
            <a:ext cx="167005"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0.2</a:t>
            </a:r>
            <a:endParaRPr sz="800">
              <a:latin typeface="Arial"/>
              <a:cs typeface="Arial"/>
            </a:endParaRPr>
          </a:p>
        </p:txBody>
      </p:sp>
      <p:sp>
        <p:nvSpPr>
          <p:cNvPr id="22" name="object 22"/>
          <p:cNvSpPr txBox="1"/>
          <p:nvPr/>
        </p:nvSpPr>
        <p:spPr>
          <a:xfrm>
            <a:off x="1543824" y="1849566"/>
            <a:ext cx="167005"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0.4</a:t>
            </a:r>
            <a:endParaRPr sz="800">
              <a:latin typeface="Arial"/>
              <a:cs typeface="Arial"/>
            </a:endParaRPr>
          </a:p>
        </p:txBody>
      </p:sp>
      <p:sp>
        <p:nvSpPr>
          <p:cNvPr id="23" name="object 23"/>
          <p:cNvSpPr txBox="1"/>
          <p:nvPr/>
        </p:nvSpPr>
        <p:spPr>
          <a:xfrm>
            <a:off x="1543606" y="935105"/>
            <a:ext cx="167005" cy="757555"/>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1.0</a:t>
            </a:r>
            <a:endParaRPr sz="800">
              <a:latin typeface="Arial"/>
              <a:cs typeface="Arial"/>
            </a:endParaRPr>
          </a:p>
          <a:p>
            <a:pPr>
              <a:lnSpc>
                <a:spcPct val="100000"/>
              </a:lnSpc>
            </a:pPr>
            <a:endParaRPr sz="800">
              <a:latin typeface="Arial"/>
              <a:cs typeface="Arial"/>
            </a:endParaRPr>
          </a:p>
          <a:p>
            <a:pPr marL="12700">
              <a:lnSpc>
                <a:spcPct val="100000"/>
              </a:lnSpc>
              <a:spcBef>
                <a:spcPts val="520"/>
              </a:spcBef>
            </a:pPr>
            <a:r>
              <a:rPr sz="800" dirty="0">
                <a:solidFill>
                  <a:srgbClr val="231F20"/>
                </a:solidFill>
                <a:latin typeface="Arial"/>
                <a:cs typeface="Arial"/>
              </a:rPr>
              <a:t>0.8</a:t>
            </a:r>
            <a:endParaRPr sz="800">
              <a:latin typeface="Arial"/>
              <a:cs typeface="Arial"/>
            </a:endParaRPr>
          </a:p>
          <a:p>
            <a:pPr>
              <a:lnSpc>
                <a:spcPct val="100000"/>
              </a:lnSpc>
            </a:pPr>
            <a:endParaRPr sz="800">
              <a:latin typeface="Arial"/>
              <a:cs typeface="Arial"/>
            </a:endParaRPr>
          </a:p>
          <a:p>
            <a:pPr marL="12700">
              <a:lnSpc>
                <a:spcPct val="100000"/>
              </a:lnSpc>
              <a:spcBef>
                <a:spcPts val="520"/>
              </a:spcBef>
            </a:pPr>
            <a:r>
              <a:rPr sz="800" dirty="0">
                <a:solidFill>
                  <a:srgbClr val="231F20"/>
                </a:solidFill>
                <a:latin typeface="Arial"/>
                <a:cs typeface="Arial"/>
              </a:rPr>
              <a:t>0.6</a:t>
            </a:r>
            <a:endParaRPr sz="800">
              <a:latin typeface="Arial"/>
              <a:cs typeface="Arial"/>
            </a:endParaRPr>
          </a:p>
        </p:txBody>
      </p:sp>
      <p:sp>
        <p:nvSpPr>
          <p:cNvPr id="24" name="object 24"/>
          <p:cNvSpPr txBox="1"/>
          <p:nvPr/>
        </p:nvSpPr>
        <p:spPr>
          <a:xfrm>
            <a:off x="1878296" y="2686549"/>
            <a:ext cx="1290320"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Fraction</a:t>
            </a:r>
            <a:r>
              <a:rPr sz="800" spc="-10" dirty="0">
                <a:solidFill>
                  <a:srgbClr val="231F20"/>
                </a:solidFill>
                <a:latin typeface="Arial"/>
                <a:cs typeface="Arial"/>
              </a:rPr>
              <a:t> </a:t>
            </a:r>
            <a:r>
              <a:rPr sz="800" spc="-5" dirty="0">
                <a:solidFill>
                  <a:srgbClr val="231F20"/>
                </a:solidFill>
                <a:latin typeface="Arial"/>
                <a:cs typeface="Arial"/>
              </a:rPr>
              <a:t>pieces</a:t>
            </a:r>
            <a:r>
              <a:rPr sz="800" spc="-10" dirty="0">
                <a:solidFill>
                  <a:srgbClr val="231F20"/>
                </a:solidFill>
                <a:latin typeface="Arial"/>
                <a:cs typeface="Arial"/>
              </a:rPr>
              <a:t> </a:t>
            </a:r>
            <a:r>
              <a:rPr sz="800" spc="-5" dirty="0">
                <a:solidFill>
                  <a:srgbClr val="231F20"/>
                </a:solidFill>
                <a:latin typeface="Arial"/>
                <a:cs typeface="Arial"/>
              </a:rPr>
              <a:t>downloaded</a:t>
            </a:r>
            <a:endParaRPr sz="8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898</TotalTime>
  <Words>21127</Words>
  <Application>Microsoft Office PowerPoint</Application>
  <PresentationFormat>Custom</PresentationFormat>
  <Paragraphs>1287</Paragraphs>
  <Slides>40</Slides>
  <Notes>39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メイリオ</vt:lpstr>
      <vt:lpstr>Arial</vt:lpstr>
      <vt:lpstr>Calibri</vt:lpstr>
      <vt:lpstr>CMR10</vt:lpstr>
      <vt:lpstr>Courier New</vt:lpstr>
      <vt:lpstr>Inter</vt:lpstr>
      <vt:lpstr>KaTeX_Main</vt:lpstr>
      <vt:lpstr>KaTeX_Math</vt:lpstr>
      <vt:lpstr>Times New Roman</vt:lpstr>
      <vt:lpstr>URWPalladioL-Ital</vt:lpstr>
      <vt:lpstr>URWPalladioL-Roma</vt:lpstr>
      <vt:lpstr>Office Theme</vt:lpstr>
      <vt:lpstr>PowerPoint Presentation</vt:lpstr>
      <vt:lpstr>Architectural styles</vt:lpstr>
      <vt:lpstr>PowerPoint Presentation</vt:lpstr>
      <vt:lpstr>PowerPoint Presentation</vt:lpstr>
      <vt:lpstr>PowerPoint Presentation</vt:lpstr>
      <vt:lpstr>PowerPoint Presentation</vt:lpstr>
      <vt:lpstr>PowerPoint Presentation</vt:lpstr>
      <vt:lpstr>PowerPoint Presentation</vt:lpstr>
      <vt:lpstr>Object-based style</vt:lpstr>
      <vt:lpstr>RESTful architectures</vt:lpstr>
      <vt:lpstr>Example: Amazon’s Simple Storage Service</vt:lpstr>
      <vt:lpstr>On interfaces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Structured P2P</vt:lpstr>
      <vt:lpstr>PowerPoint Presentation</vt:lpstr>
      <vt:lpstr>PowerPoint Presentation</vt:lpstr>
      <vt:lpstr>PowerPoint Presentation</vt:lpstr>
      <vt:lpstr>PowerPoint Presentation</vt:lpstr>
      <vt:lpstr>PowerPoint Presentation</vt:lpstr>
      <vt:lpstr>Super-peer networks</vt:lpstr>
      <vt:lpstr>Skype’s principle operation: A wants to contact B</vt:lpstr>
      <vt:lpstr>PowerPoint Presentation</vt:lpstr>
      <vt:lpstr>PowerPoint Presentation</vt:lpstr>
      <vt:lpstr>BitTorrent under the hood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74</cp:revision>
  <dcterms:created xsi:type="dcterms:W3CDTF">2022-03-20T07:18:03Z</dcterms:created>
  <dcterms:modified xsi:type="dcterms:W3CDTF">2025-03-23T17:37:28Z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