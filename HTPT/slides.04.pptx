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9513" autoAdjust="0"/>
  </p:normalViewPr>
  <p:slideViewPr>
    <p:cSldViewPr>
      <p:cViewPr varScale="1">
        <p:scale>
          <a:sx n="105" d="100"/>
          <a:sy n="105" d="100"/>
        </p:scale>
        <p:origin x="3414"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618108A1-2FEE-44D1-81AC-E853EF7BD13D}" type="datetimeFigureOut">
              <a:rPr lang="en-US" smtClean="0"/>
              <a:t>10/8/2025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A1FC9D69-E42E-42B8-B79C-D6AC1CD55B56}" type="slidenum">
              <a:rPr lang="en-US" smtClean="0"/>
              <a:t>‹#›</a:t>
            </a:fld>
            <a:endParaRPr lang="en-US"/>
          </a:p>
        </p:txBody>
      </p:sp>
    </p:spTree>
    <p:extLst>
      <p:ext uri="{BB962C8B-B14F-4D97-AF65-F5344CB8AC3E}">
        <p14:creationId xmlns:p14="http://schemas.microsoft.com/office/powerpoint/2010/main" val="555646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DeepSeek-CJK-patch"/>
              </a:rPr>
              <a:t>Giao tiếp liên </a:t>
            </a:r>
            <a:r>
              <a:rPr lang="en-US" b="0" i="0" dirty="0" err="1">
                <a:solidFill>
                  <a:srgbClr val="404040"/>
                </a:solidFill>
                <a:effectLst/>
                <a:latin typeface="DeepSeek-CJK-patch"/>
              </a:rPr>
              <a:t>tiến</a:t>
            </a:r>
            <a:r>
              <a:rPr lang="vi-VN" b="0" i="0" dirty="0">
                <a:solidFill>
                  <a:srgbClr val="404040"/>
                </a:solidFill>
                <a:effectLst/>
                <a:latin typeface="DeepSeek-CJK-patch"/>
              </a:rPr>
              <a:t> trình (Interprocess Communication - IPC) là nền tảng của mọi hệ thống phân tán. Việc nghiên cứu hệ thống phân tán đòi hỏi phải hiểu rõ cách các tiến trình trên các máy khác nhau trao đổi thông tin.</a:t>
            </a:r>
          </a:p>
          <a:p>
            <a:pPr algn="l"/>
            <a:r>
              <a:rPr lang="vi-VN" b="1" i="0" dirty="0">
                <a:solidFill>
                  <a:srgbClr val="404040"/>
                </a:solidFill>
                <a:effectLst/>
                <a:latin typeface="DeepSeek-CJK-patch"/>
              </a:rPr>
              <a:t>1. Cơ sở giao tiếp trong hệ thống phân tán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Truyền thống:</a:t>
            </a:r>
            <a:r>
              <a:rPr lang="vi-VN" b="0" i="0" dirty="0">
                <a:solidFill>
                  <a:srgbClr val="404040"/>
                </a:solidFill>
                <a:effectLst/>
                <a:latin typeface="DeepSeek-CJK-patch"/>
              </a:rPr>
              <a:t> Dựa trên </a:t>
            </a:r>
            <a:r>
              <a:rPr lang="vi-VN" b="1" i="0" dirty="0">
                <a:solidFill>
                  <a:srgbClr val="404040"/>
                </a:solidFill>
                <a:effectLst/>
                <a:latin typeface="DeepSeek-CJK-patch"/>
              </a:rPr>
              <a:t>message passing</a:t>
            </a:r>
            <a:r>
              <a:rPr lang="vi-VN" b="0" i="0" dirty="0">
                <a:solidFill>
                  <a:srgbClr val="404040"/>
                </a:solidFill>
                <a:effectLst/>
                <a:latin typeface="DeepSeek-CJK-patch"/>
              </a:rPr>
              <a:t> (truyền thông điệp cấp thấp) do mạng máy tính cung cấp.</a:t>
            </a:r>
          </a:p>
          <a:p>
            <a:pPr algn="l">
              <a:buFont typeface="Arial" panose="020B0604020202020204" pitchFamily="34" charset="0"/>
              <a:buChar char="•"/>
            </a:pPr>
            <a:r>
              <a:rPr lang="vi-VN" b="1" i="0" dirty="0">
                <a:solidFill>
                  <a:srgbClr val="404040"/>
                </a:solidFill>
                <a:effectLst/>
                <a:latin typeface="DeepSeek-CJK-patch"/>
              </a:rPr>
              <a:t>Thách thức:</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Khó lập trình hơn so với mô hình </a:t>
            </a:r>
            <a:r>
              <a:rPr lang="vi-VN" b="1" i="0" dirty="0">
                <a:solidFill>
                  <a:srgbClr val="404040"/>
                </a:solidFill>
                <a:effectLst/>
                <a:latin typeface="DeepSeek-CJK-patch"/>
              </a:rPr>
              <a:t>bộ nhớ dùng chung</a:t>
            </a:r>
            <a:r>
              <a:rPr lang="vi-VN" b="0" i="0" dirty="0">
                <a:solidFill>
                  <a:srgbClr val="404040"/>
                </a:solidFill>
                <a:effectLst/>
                <a:latin typeface="DeepSeek-CJK-patch"/>
              </a:rPr>
              <a:t> (shared memory) trong hệ thống tập trung.</a:t>
            </a:r>
          </a:p>
          <a:p>
            <a:pPr marL="742950" lvl="1" indent="-285750" algn="l">
              <a:buFont typeface="Arial" panose="020B0604020202020204" pitchFamily="34" charset="0"/>
              <a:buChar char="•"/>
            </a:pPr>
            <a:r>
              <a:rPr lang="vi-VN" b="0" i="0" dirty="0">
                <a:solidFill>
                  <a:srgbClr val="404040"/>
                </a:solidFill>
                <a:effectLst/>
                <a:latin typeface="DeepSeek-CJK-patch"/>
              </a:rPr>
              <a:t>Mạng không đáng tin cậy (như Internet) làm phức tạp hóa việc phát triển ứng dụng quy mô lớn.</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Các mô hình giao tiếp chính</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RPC</a:t>
            </a:r>
            <a:r>
              <a:rPr lang="en-US" b="1" i="0" dirty="0">
                <a:solidFill>
                  <a:srgbClr val="404040"/>
                </a:solidFill>
                <a:effectLst/>
                <a:latin typeface="DeepSeek-CJK-patch"/>
              </a:rPr>
              <a:t> (</a:t>
            </a:r>
            <a:r>
              <a:rPr lang="en-US" b="1" i="0" dirty="0" err="1">
                <a:solidFill>
                  <a:srgbClr val="404040"/>
                </a:solidFill>
                <a:effectLst/>
                <a:latin typeface="DeepSeek-CJK-patch"/>
              </a:rPr>
              <a:t>thủ</a:t>
            </a:r>
            <a:r>
              <a:rPr lang="en-US" b="1" i="0" dirty="0">
                <a:solidFill>
                  <a:srgbClr val="404040"/>
                </a:solidFill>
                <a:effectLst/>
                <a:latin typeface="DeepSeek-CJK-patch"/>
              </a:rPr>
              <a:t> </a:t>
            </a:r>
            <a:r>
              <a:rPr lang="en-US" b="1" i="0" dirty="0" err="1">
                <a:solidFill>
                  <a:srgbClr val="404040"/>
                </a:solidFill>
                <a:effectLst/>
                <a:latin typeface="DeepSeek-CJK-patch"/>
              </a:rPr>
              <a:t>tục</a:t>
            </a:r>
            <a:r>
              <a:rPr lang="en-US" b="1" i="0" dirty="0">
                <a:solidFill>
                  <a:srgbClr val="404040"/>
                </a:solidFill>
                <a:effectLst/>
                <a:latin typeface="DeepSeek-CJK-patch"/>
              </a:rPr>
              <a:t> </a:t>
            </a:r>
            <a:r>
              <a:rPr lang="en-US" b="1" i="0" dirty="0" err="1">
                <a:solidFill>
                  <a:srgbClr val="404040"/>
                </a:solidFill>
                <a:effectLst/>
                <a:latin typeface="DeepSeek-CJK-patch"/>
              </a:rPr>
              <a:t>gọi</a:t>
            </a:r>
            <a:r>
              <a:rPr lang="en-US" b="1" i="0" dirty="0">
                <a:solidFill>
                  <a:srgbClr val="404040"/>
                </a:solidFill>
                <a:effectLst/>
                <a:latin typeface="DeepSeek-CJK-patch"/>
              </a:rPr>
              <a:t> </a:t>
            </a:r>
            <a:r>
              <a:rPr lang="en-US" b="1" i="0" dirty="0" err="1">
                <a:solidFill>
                  <a:srgbClr val="404040"/>
                </a:solidFill>
                <a:effectLst/>
                <a:latin typeface="DeepSeek-CJK-patch"/>
              </a:rPr>
              <a:t>xa</a:t>
            </a:r>
            <a:r>
              <a:rPr lang="en-US" b="1" i="0" dirty="0">
                <a:solidFill>
                  <a:srgbClr val="404040"/>
                </a:solidFill>
                <a:effectLst/>
                <a:latin typeface="DeepSeek-CJK-patch"/>
              </a:rPr>
              <a:t>)</a:t>
            </a:r>
            <a:r>
              <a:rPr lang="vi-VN" b="0" i="0" dirty="0">
                <a:solidFill>
                  <a:srgbClr val="404040"/>
                </a:solidFill>
                <a:effectLst/>
                <a:latin typeface="DeepSeek-CJK-patch"/>
              </a:rPr>
              <a:t> phù hợp cho tương tác client-server có cấu trúc.</a:t>
            </a:r>
          </a:p>
          <a:p>
            <a:pPr algn="l">
              <a:buFont typeface="Arial" panose="020B0604020202020204" pitchFamily="34" charset="0"/>
              <a:buChar char="•"/>
            </a:pPr>
            <a:r>
              <a:rPr lang="vi-VN" b="1" i="0" dirty="0">
                <a:solidFill>
                  <a:srgbClr val="404040"/>
                </a:solidFill>
                <a:effectLst/>
                <a:latin typeface="DeepSeek-CJK-patch"/>
              </a:rPr>
              <a:t>MOM</a:t>
            </a:r>
            <a:r>
              <a:rPr lang="en-US" b="1" i="0" dirty="0">
                <a:solidFill>
                  <a:srgbClr val="404040"/>
                </a:solidFill>
                <a:effectLst/>
                <a:latin typeface="DeepSeek-CJK-patch"/>
              </a:rPr>
              <a:t> (Giao </a:t>
            </a:r>
            <a:r>
              <a:rPr lang="en-US" b="1" i="0" dirty="0" err="1">
                <a:solidFill>
                  <a:srgbClr val="404040"/>
                </a:solidFill>
                <a:effectLst/>
                <a:latin typeface="DeepSeek-CJK-patch"/>
              </a:rPr>
              <a:t>tiếp</a:t>
            </a:r>
            <a:r>
              <a:rPr lang="en-US" b="1" i="0" dirty="0">
                <a:solidFill>
                  <a:srgbClr val="404040"/>
                </a:solidFill>
                <a:effectLst/>
                <a:latin typeface="DeepSeek-CJK-patch"/>
              </a:rPr>
              <a:t> </a:t>
            </a:r>
            <a:r>
              <a:rPr lang="en-US" b="1" i="0" dirty="0" err="1">
                <a:solidFill>
                  <a:srgbClr val="404040"/>
                </a:solidFill>
                <a:effectLst/>
                <a:latin typeface="DeepSeek-CJK-patch"/>
              </a:rPr>
              <a:t>hướng</a:t>
            </a:r>
            <a:r>
              <a:rPr lang="en-US" b="1" i="0" dirty="0">
                <a:solidFill>
                  <a:srgbClr val="404040"/>
                </a:solidFill>
                <a:effectLst/>
                <a:latin typeface="DeepSeek-CJK-patch"/>
              </a:rPr>
              <a:t> </a:t>
            </a:r>
            <a:r>
              <a:rPr lang="en-US" b="1" i="0" dirty="0" err="1">
                <a:solidFill>
                  <a:srgbClr val="404040"/>
                </a:solidFill>
                <a:effectLst/>
                <a:latin typeface="DeepSeek-CJK-patch"/>
              </a:rPr>
              <a:t>thông</a:t>
            </a:r>
            <a:r>
              <a:rPr lang="en-US" b="1" i="0" dirty="0">
                <a:solidFill>
                  <a:srgbClr val="404040"/>
                </a:solidFill>
                <a:effectLst/>
                <a:latin typeface="DeepSeek-CJK-patch"/>
              </a:rPr>
              <a:t> </a:t>
            </a:r>
            <a:r>
              <a:rPr lang="en-US" b="1" i="0" dirty="0" err="1">
                <a:solidFill>
                  <a:srgbClr val="404040"/>
                </a:solidFill>
                <a:effectLst/>
                <a:latin typeface="DeepSeek-CJK-patch"/>
              </a:rPr>
              <a:t>điệp</a:t>
            </a:r>
            <a:r>
              <a:rPr lang="en-US" b="1" i="0" dirty="0">
                <a:solidFill>
                  <a:srgbClr val="404040"/>
                </a:solidFill>
                <a:effectLst/>
                <a:latin typeface="DeepSeek-CJK-patch"/>
              </a:rPr>
              <a:t>)</a:t>
            </a:r>
            <a:r>
              <a:rPr lang="vi-VN" b="0" i="0" dirty="0">
                <a:solidFill>
                  <a:srgbClr val="404040"/>
                </a:solidFill>
                <a:effectLst/>
                <a:latin typeface="DeepSeek-CJK-patch"/>
              </a:rPr>
              <a:t> linh hoạt hơn cho giao tiếp bất đồng bộ.</a:t>
            </a:r>
          </a:p>
          <a:p>
            <a:pPr algn="l">
              <a:buFont typeface="Arial" panose="020B0604020202020204" pitchFamily="34" charset="0"/>
              <a:buChar char="•"/>
            </a:pPr>
            <a:r>
              <a:rPr lang="vi-VN" b="1" i="0" dirty="0">
                <a:solidFill>
                  <a:srgbClr val="404040"/>
                </a:solidFill>
                <a:effectLst/>
                <a:latin typeface="DeepSeek-CJK-patch"/>
              </a:rPr>
              <a:t>Multicasting</a:t>
            </a:r>
            <a:r>
              <a:rPr lang="vi-VN" b="0" i="0" dirty="0">
                <a:solidFill>
                  <a:srgbClr val="404040"/>
                </a:solidFill>
                <a:effectLst/>
                <a:latin typeface="DeepSeek-CJK-patch"/>
              </a:rPr>
              <a:t> quan trọng cho phân phối dữ liệu hàng loạt.</a:t>
            </a:r>
          </a:p>
          <a:p>
            <a:pPr algn="l">
              <a:buFont typeface="Arial" panose="020B0604020202020204" pitchFamily="34" charset="0"/>
              <a:buChar char="•"/>
            </a:pPr>
            <a:r>
              <a:rPr lang="vi-VN" b="0" i="0" dirty="0">
                <a:solidFill>
                  <a:srgbClr val="404040"/>
                </a:solidFill>
                <a:effectLst/>
                <a:latin typeface="DeepSeek-CJK-patch"/>
              </a:rPr>
              <a:t>Các giải pháp hiện đại (gossiping, message queue) giúp hệ thống phân tán mở rộng và chịu lỗi tốt hơn.</a:t>
            </a:r>
          </a:p>
          <a:p>
            <a:pPr algn="l"/>
            <a:endParaRPr lang="en-US" b="0" i="0" dirty="0">
              <a:solidFill>
                <a:srgbClr val="404040"/>
              </a:solidFill>
              <a:effectLst/>
              <a:latin typeface="DeepSeek-CJK-patch"/>
            </a:endParaRPr>
          </a:p>
          <a:p>
            <a:pPr algn="l"/>
            <a:r>
              <a:rPr lang="vi-VN" b="0" i="0" dirty="0">
                <a:solidFill>
                  <a:srgbClr val="404040"/>
                </a:solidFill>
                <a:effectLst/>
                <a:latin typeface="DeepSeek-CJK-patch"/>
              </a:rPr>
              <a:t>→ Chương này tập trung vào </a:t>
            </a:r>
            <a:r>
              <a:rPr lang="vi-VN" b="1" i="0" dirty="0">
                <a:solidFill>
                  <a:srgbClr val="404040"/>
                </a:solidFill>
                <a:effectLst/>
                <a:latin typeface="DeepSeek-CJK-patch"/>
              </a:rPr>
              <a:t>các giao thức</a:t>
            </a:r>
            <a:r>
              <a:rPr lang="vi-VN" b="0" i="0" dirty="0">
                <a:solidFill>
                  <a:srgbClr val="404040"/>
                </a:solidFill>
                <a:effectLst/>
                <a:latin typeface="DeepSeek-CJK-patch"/>
              </a:rPr>
              <a:t>, </a:t>
            </a:r>
            <a:r>
              <a:rPr lang="vi-VN" b="1" i="0" dirty="0">
                <a:solidFill>
                  <a:srgbClr val="404040"/>
                </a:solidFill>
                <a:effectLst/>
                <a:latin typeface="DeepSeek-CJK-patch"/>
              </a:rPr>
              <a:t>mô hình giao tiếp</a:t>
            </a:r>
            <a:r>
              <a:rPr lang="vi-VN" b="0" i="0" dirty="0">
                <a:solidFill>
                  <a:srgbClr val="404040"/>
                </a:solidFill>
                <a:effectLst/>
                <a:latin typeface="DeepSeek-CJK-patch"/>
              </a:rPr>
              <a:t>, và </a:t>
            </a:r>
            <a:r>
              <a:rPr lang="vi-VN" b="1" i="0" dirty="0">
                <a:solidFill>
                  <a:srgbClr val="404040"/>
                </a:solidFill>
                <a:effectLst/>
                <a:latin typeface="DeepSeek-CJK-patch"/>
              </a:rPr>
              <a:t>cách đạt được </a:t>
            </a:r>
            <a:r>
              <a:rPr lang="en-US" b="1" i="0" dirty="0" err="1">
                <a:solidFill>
                  <a:srgbClr val="404040"/>
                </a:solidFill>
                <a:effectLst/>
                <a:latin typeface="DeepSeek-CJK-patch"/>
              </a:rPr>
              <a:t>tính</a:t>
            </a:r>
            <a:r>
              <a:rPr lang="en-US" b="1" i="0" dirty="0">
                <a:solidFill>
                  <a:srgbClr val="404040"/>
                </a:solidFill>
                <a:effectLst/>
                <a:latin typeface="DeepSeek-CJK-patch"/>
              </a:rPr>
              <a:t> </a:t>
            </a:r>
            <a:r>
              <a:rPr lang="en-US" b="1" i="0" dirty="0" err="1">
                <a:solidFill>
                  <a:srgbClr val="404040"/>
                </a:solidFill>
                <a:effectLst/>
                <a:latin typeface="DeepSeek-CJK-patch"/>
              </a:rPr>
              <a:t>trong</a:t>
            </a:r>
            <a:r>
              <a:rPr lang="en-US" b="1" i="0" dirty="0">
                <a:solidFill>
                  <a:srgbClr val="404040"/>
                </a:solidFill>
                <a:effectLst/>
                <a:latin typeface="DeepSeek-CJK-patch"/>
              </a:rPr>
              <a:t> </a:t>
            </a:r>
            <a:r>
              <a:rPr lang="en-US" b="1" i="0" dirty="0" err="1">
                <a:solidFill>
                  <a:srgbClr val="404040"/>
                </a:solidFill>
                <a:effectLst/>
                <a:latin typeface="DeepSeek-CJK-patch"/>
              </a:rPr>
              <a:t>suốt</a:t>
            </a:r>
            <a:r>
              <a:rPr lang="vi-VN" b="1" i="0" dirty="0">
                <a:solidFill>
                  <a:srgbClr val="404040"/>
                </a:solidFill>
                <a:effectLst/>
                <a:latin typeface="DeepSeek-CJK-patch"/>
              </a:rPr>
              <a:t> trong hệ thống phân tán</a:t>
            </a:r>
            <a:r>
              <a:rPr lang="vi-VN" b="0" i="0" dirty="0">
                <a:solidFill>
                  <a:srgbClr val="404040"/>
                </a:solidFill>
                <a:effectLst/>
                <a:latin typeface="DeepSeek-CJK-patch"/>
              </a:rPr>
              <a:t>.</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1</a:t>
            </a:fld>
            <a:endParaRPr lang="en-US"/>
          </a:p>
        </p:txBody>
      </p:sp>
    </p:spTree>
    <p:extLst>
      <p:ext uri="{BB962C8B-B14F-4D97-AF65-F5344CB8AC3E}">
        <p14:creationId xmlns:p14="http://schemas.microsoft.com/office/powerpoint/2010/main" val="4184102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Nền tảng Giao tiếp trong Hệ thống Phân tán</a:t>
            </a:r>
            <a:endParaRPr lang="vi-VN" b="0" i="0" dirty="0">
              <a:solidFill>
                <a:srgbClr val="404040"/>
              </a:solidFill>
              <a:effectLst/>
              <a:latin typeface="DeepSeek-CJK-patch"/>
            </a:endParaRP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Giới thiệu</a:t>
            </a:r>
            <a:endParaRPr lang="vi-VN" b="0" i="0" dirty="0">
              <a:solidFill>
                <a:srgbClr val="404040"/>
              </a:solidFill>
              <a:effectLst/>
              <a:latin typeface="DeepSeek-CJK-patch"/>
            </a:endParaRPr>
          </a:p>
          <a:p>
            <a:pPr algn="l"/>
            <a:r>
              <a:rPr lang="vi-VN" b="0" i="0" dirty="0">
                <a:solidFill>
                  <a:srgbClr val="404040"/>
                </a:solidFill>
                <a:effectLst/>
                <a:latin typeface="DeepSeek-CJK-patch"/>
              </a:rPr>
              <a:t>Trước khi đi sâu vào giao tiếp trong hệ thống phân tán, cần nắm vững một số vấn đề cơ bản:</a:t>
            </a:r>
          </a:p>
          <a:p>
            <a:pPr algn="l">
              <a:buFont typeface="Arial" panose="020B0604020202020204" pitchFamily="34" charset="0"/>
              <a:buChar char="•"/>
            </a:pPr>
            <a:r>
              <a:rPr lang="vi-VN" b="1" i="0" dirty="0">
                <a:solidFill>
                  <a:srgbClr val="404040"/>
                </a:solidFill>
                <a:effectLst/>
                <a:latin typeface="DeepSeek-CJK-patch"/>
              </a:rPr>
              <a:t>Giao thức mạng</a:t>
            </a:r>
            <a:r>
              <a:rPr lang="vi-VN" b="0" i="0" dirty="0">
                <a:solidFill>
                  <a:srgbClr val="404040"/>
                </a:solidFill>
                <a:effectLst/>
                <a:latin typeface="DeepSeek-CJK-patch"/>
              </a:rPr>
              <a:t> là nền tảng của mọi hệ thống phân tán.</a:t>
            </a:r>
          </a:p>
          <a:p>
            <a:pPr algn="l">
              <a:buFont typeface="Arial" panose="020B0604020202020204" pitchFamily="34" charset="0"/>
              <a:buChar char="•"/>
            </a:pPr>
            <a:r>
              <a:rPr lang="vi-VN" b="0" i="0" dirty="0">
                <a:solidFill>
                  <a:srgbClr val="404040"/>
                </a:solidFill>
                <a:effectLst/>
                <a:latin typeface="DeepSeek-CJK-patch"/>
              </a:rPr>
              <a:t>Phân loại các </a:t>
            </a:r>
            <a:r>
              <a:rPr lang="vi-VN" b="1" i="0" dirty="0">
                <a:solidFill>
                  <a:srgbClr val="404040"/>
                </a:solidFill>
                <a:effectLst/>
                <a:latin typeface="DeepSeek-CJK-patch"/>
              </a:rPr>
              <a:t>kiểu giao tiếp</a:t>
            </a:r>
            <a:r>
              <a:rPr lang="vi-VN" b="0" i="0" dirty="0">
                <a:solidFill>
                  <a:srgbClr val="404040"/>
                </a:solidFill>
                <a:effectLst/>
                <a:latin typeface="DeepSeek-CJK-patch"/>
              </a:rPr>
              <a:t> phổ biến trong hệ thống phân tán.</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Giao thức Phân tầng (Layered Protocols)</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Do không có bộ nhớ dùng chung, giao tiếp dựa trên </a:t>
            </a:r>
            <a:r>
              <a:rPr lang="vi-VN" b="1" i="0" dirty="0">
                <a:solidFill>
                  <a:srgbClr val="404040"/>
                </a:solidFill>
                <a:effectLst/>
                <a:latin typeface="DeepSeek-CJK-patch"/>
              </a:rPr>
              <a:t>gửi/nhận thông điệp (message passing)</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Quy trình: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Tiến trình P xây dựng thông điệp → gọi hệ thống để gửi đến tiến trình Q.</a:t>
            </a:r>
          </a:p>
          <a:p>
            <a:pPr marL="742950" lvl="1" indent="-285750" algn="l">
              <a:buFont typeface="Arial" panose="020B0604020202020204" pitchFamily="34" charset="0"/>
              <a:buChar char="•"/>
            </a:pPr>
            <a:r>
              <a:rPr lang="vi-VN" b="0" i="0" dirty="0">
                <a:solidFill>
                  <a:srgbClr val="404040"/>
                </a:solidFill>
                <a:effectLst/>
                <a:latin typeface="DeepSeek-CJK-patch"/>
              </a:rPr>
              <a:t>P và Q phải </a:t>
            </a:r>
            <a:r>
              <a:rPr lang="vi-VN" b="1" i="0" dirty="0">
                <a:solidFill>
                  <a:srgbClr val="404040"/>
                </a:solidFill>
                <a:effectLst/>
                <a:latin typeface="DeepSeek-CJK-patch"/>
              </a:rPr>
              <a:t>thống nhất về cách hiểu dữ liệu</a:t>
            </a:r>
            <a:r>
              <a:rPr lang="vi-VN" b="0" i="0" dirty="0">
                <a:solidFill>
                  <a:srgbClr val="404040"/>
                </a:solidFill>
                <a:effectLst/>
                <a:latin typeface="DeepSeek-CJK-patch"/>
              </a:rPr>
              <a:t> để tránh xung đột.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Mô hình Tham chiếu OSI</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Do sự phức tạp của giao tiếp, ISO đã phát triển </a:t>
            </a:r>
            <a:r>
              <a:rPr lang="vi-VN" b="1" i="0" dirty="0">
                <a:solidFill>
                  <a:srgbClr val="404040"/>
                </a:solidFill>
                <a:effectLst/>
                <a:latin typeface="DeepSeek-CJK-patch"/>
              </a:rPr>
              <a:t>mô hình OSI</a:t>
            </a:r>
            <a:r>
              <a:rPr lang="vi-VN" b="0" i="0" dirty="0">
                <a:solidFill>
                  <a:srgbClr val="404040"/>
                </a:solidFill>
                <a:effectLst/>
                <a:latin typeface="DeepSeek-CJK-patch"/>
              </a:rPr>
              <a:t> (Open Systems Interconnection) gồm 7 tầng, mỗi tầng có nhiệm vụ riêng.</a:t>
            </a:r>
          </a:p>
          <a:p>
            <a:pPr algn="l">
              <a:buFont typeface="Arial" panose="020B0604020202020204" pitchFamily="34" charset="0"/>
              <a:buChar char="•"/>
            </a:pPr>
            <a:r>
              <a:rPr lang="vi-VN" b="1" i="0" dirty="0">
                <a:solidFill>
                  <a:srgbClr val="404040"/>
                </a:solidFill>
                <a:effectLst/>
                <a:latin typeface="DeepSeek-CJK-patch"/>
              </a:rPr>
              <a:t>Mục đích:</a:t>
            </a:r>
            <a:r>
              <a:rPr lang="vi-VN" b="0" i="0" dirty="0">
                <a:solidFill>
                  <a:srgbClr val="404040"/>
                </a:solidFill>
                <a:effectLst/>
                <a:latin typeface="DeepSeek-CJK-patch"/>
              </a:rPr>
              <a:t> Chuẩn hóa giao tiếp giữa các hệ thống mở (open systems).</a:t>
            </a:r>
          </a:p>
          <a:p>
            <a:pPr algn="l">
              <a:buFont typeface="Arial" panose="020B0604020202020204" pitchFamily="34" charset="0"/>
              <a:buChar char="•"/>
            </a:pPr>
            <a:r>
              <a:rPr lang="vi-VN" b="1" i="0" dirty="0">
                <a:solidFill>
                  <a:srgbClr val="404040"/>
                </a:solidFill>
                <a:effectLst/>
                <a:latin typeface="DeepSeek-CJK-patch"/>
              </a:rPr>
              <a:t>Lưu ý:</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Các giao thức OSI ít được sử dụng trong thực tế, nhưng mô hình vẫn hữu ích để hiểu nguyên lý mạng.</a:t>
            </a:r>
          </a:p>
          <a:p>
            <a:pPr marL="742950" lvl="1" indent="-285750" algn="l">
              <a:buFont typeface="Arial" panose="020B0604020202020204" pitchFamily="34" charset="0"/>
              <a:buChar char="•"/>
            </a:pPr>
            <a:r>
              <a:rPr lang="vi-VN" b="0" i="0" dirty="0">
                <a:solidFill>
                  <a:srgbClr val="404040"/>
                </a:solidFill>
                <a:effectLst/>
                <a:latin typeface="DeepSeek-CJK-patch"/>
              </a:rPr>
              <a:t>Chi tiết có thể tham khảo sách của Tanenbaum và Wetherall.</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4. Dịch vụ Giao tiếp</a:t>
            </a:r>
            <a:endParaRPr lang="vi-VN" b="0" i="0" dirty="0">
              <a:solidFill>
                <a:srgbClr val="404040"/>
              </a:solidFill>
              <a:effectLst/>
              <a:latin typeface="DeepSeek-CJK-patch"/>
            </a:endParaRPr>
          </a:p>
          <a:p>
            <a:pPr algn="l"/>
            <a:r>
              <a:rPr lang="vi-VN" b="0" i="0" dirty="0">
                <a:solidFill>
                  <a:srgbClr val="404040"/>
                </a:solidFill>
                <a:effectLst/>
                <a:latin typeface="DeepSeek-CJK-patch"/>
              </a:rPr>
              <a:t>Có hai loại dịch vụ dựa trên giao thức:</a:t>
            </a: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Dịch vụ hướng kết nối (Connection-oriented):</a:t>
            </a:r>
            <a:endParaRPr lang="vi-VN" b="0" i="0" dirty="0">
              <a:solidFill>
                <a:srgbClr val="404040"/>
              </a:solidFill>
              <a:effectLst/>
              <a:latin typeface="DeepSeek-CJK-patch"/>
            </a:endParaRP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Ví dụ:</a:t>
            </a:r>
            <a:r>
              <a:rPr lang="vi-VN" b="0" i="0" dirty="0">
                <a:solidFill>
                  <a:srgbClr val="404040"/>
                </a:solidFill>
                <a:effectLst/>
                <a:latin typeface="DeepSeek-CJK-patch"/>
              </a:rPr>
              <a:t> Cuộc gọi điện thoại.</a:t>
            </a: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Quy trình:</a:t>
            </a:r>
            <a:r>
              <a:rPr lang="vi-VN" b="0" i="0" dirty="0">
                <a:solidFill>
                  <a:srgbClr val="404040"/>
                </a:solidFill>
                <a:effectLst/>
                <a:latin typeface="DeepSeek-CJK-patch"/>
              </a:rPr>
              <a:t> Thiết lập kết nối → trao đổi dữ liệu → ngắt kết nối.</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Dịch vụ không kết nối (Connectionless):</a:t>
            </a:r>
            <a:endParaRPr lang="vi-VN" b="0" i="0" dirty="0">
              <a:solidFill>
                <a:srgbClr val="404040"/>
              </a:solidFill>
              <a:effectLst/>
              <a:latin typeface="DeepSeek-CJK-patch"/>
            </a:endParaRP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Ví dụ:</a:t>
            </a:r>
            <a:r>
              <a:rPr lang="vi-VN" b="0" i="0" dirty="0">
                <a:solidFill>
                  <a:srgbClr val="404040"/>
                </a:solidFill>
                <a:effectLst/>
                <a:latin typeface="DeepSeek-CJK-patch"/>
              </a:rPr>
              <a:t> Gửi thư qua bưu điện.</a:t>
            </a: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Đặc điểm:</a:t>
            </a:r>
            <a:r>
              <a:rPr lang="vi-VN" b="0" i="0" dirty="0">
                <a:solidFill>
                  <a:srgbClr val="404040"/>
                </a:solidFill>
                <a:effectLst/>
                <a:latin typeface="DeepSeek-CJK-patch"/>
              </a:rPr>
              <a:t> Không cần thiết lập trước, gửi ngay khi sẵn sàng.</a:t>
            </a:r>
          </a:p>
          <a:p>
            <a:pPr algn="l"/>
            <a:r>
              <a:rPr lang="vi-VN" b="0" i="0" dirty="0">
                <a:solidFill>
                  <a:srgbClr val="404040"/>
                </a:solidFill>
                <a:effectLst/>
                <a:latin typeface="DeepSeek-CJK-patch"/>
              </a:rPr>
              <a:t>→ Cả hai loại đều phổ biến trong hệ thống máy tính.</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5. </a:t>
            </a:r>
            <a:r>
              <a:rPr lang="en-US" b="1" i="0" dirty="0" err="1">
                <a:solidFill>
                  <a:srgbClr val="404040"/>
                </a:solidFill>
                <a:effectLst/>
                <a:latin typeface="DeepSeek-CJK-patch"/>
              </a:rPr>
              <a:t>Nhận</a:t>
            </a:r>
            <a:r>
              <a:rPr lang="en-US" b="1" i="0" dirty="0">
                <a:solidFill>
                  <a:srgbClr val="404040"/>
                </a:solidFill>
                <a:effectLst/>
                <a:latin typeface="DeepSeek-CJK-patch"/>
              </a:rPr>
              <a:t> </a:t>
            </a:r>
            <a:r>
              <a:rPr lang="en-US" b="1" i="0" dirty="0" err="1">
                <a:solidFill>
                  <a:srgbClr val="404040"/>
                </a:solidFill>
                <a:effectLst/>
                <a:latin typeface="DeepSeek-CJK-patch"/>
              </a:rPr>
              <a:t>xét</a:t>
            </a:r>
            <a:r>
              <a:rPr lang="en-US" b="1" i="0" dirty="0">
                <a:solidFill>
                  <a:srgbClr val="404040"/>
                </a:solidFill>
                <a:effectLst/>
                <a:latin typeface="DeepSeek-CJK-patch"/>
              </a:rPr>
              <a:t>:</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Mô hình OSI giúp hiểu cách tổ chức giao tiếp, dù không còn được triển khai rộng rãi.</a:t>
            </a:r>
          </a:p>
          <a:p>
            <a:pPr algn="l">
              <a:buFont typeface="Arial" panose="020B0604020202020204" pitchFamily="34" charset="0"/>
              <a:buChar char="•"/>
            </a:pPr>
            <a:r>
              <a:rPr lang="vi-VN" b="0" i="0" dirty="0">
                <a:solidFill>
                  <a:srgbClr val="404040"/>
                </a:solidFill>
                <a:effectLst/>
                <a:latin typeface="DeepSeek-CJK-patch"/>
              </a:rPr>
              <a:t>Giao tiếp trong hệ thống phân tán đòi hỏi sự thống nhất về giao thức và hỗ trợ cả hai hình thức </a:t>
            </a:r>
            <a:r>
              <a:rPr lang="vi-VN" b="1" i="0" dirty="0">
                <a:solidFill>
                  <a:srgbClr val="404040"/>
                </a:solidFill>
                <a:effectLst/>
                <a:latin typeface="DeepSeek-CJK-patch"/>
              </a:rPr>
              <a:t>có kết nối</a:t>
            </a:r>
            <a:r>
              <a:rPr lang="vi-VN" b="0" i="0" dirty="0">
                <a:solidFill>
                  <a:srgbClr val="404040"/>
                </a:solidFill>
                <a:effectLst/>
                <a:latin typeface="DeepSeek-CJK-patch"/>
              </a:rPr>
              <a:t> và </a:t>
            </a:r>
            <a:r>
              <a:rPr lang="vi-VN" b="1" i="0" dirty="0">
                <a:solidFill>
                  <a:srgbClr val="404040"/>
                </a:solidFill>
                <a:effectLst/>
                <a:latin typeface="DeepSeek-CJK-patch"/>
              </a:rPr>
              <a:t>không kết nối</a:t>
            </a:r>
            <a:r>
              <a:rPr lang="vi-VN" b="0" i="0" dirty="0">
                <a:solidFill>
                  <a:srgbClr val="404040"/>
                </a:solidFill>
                <a:effectLst/>
                <a:latin typeface="DeepSeek-CJK-patch"/>
              </a:rPr>
              <a:t>.</a:t>
            </a:r>
          </a:p>
          <a:p>
            <a:endParaRPr lang="en-US" dirty="0"/>
          </a:p>
          <a:p>
            <a:pPr algn="l"/>
            <a:r>
              <a:rPr lang="en-US" b="1" dirty="0"/>
              <a:t>6. </a:t>
            </a:r>
            <a:r>
              <a:rPr lang="vi-VN" b="1" i="0" dirty="0">
                <a:solidFill>
                  <a:srgbClr val="404040"/>
                </a:solidFill>
                <a:effectLst/>
                <a:latin typeface="DeepSeek-CJK-patch"/>
              </a:rPr>
              <a:t>Mô hình Mạng OSI 7 tầng (Basic Networking Model)</a:t>
            </a:r>
            <a:endParaRPr lang="vi-VN" b="0" i="0" dirty="0">
              <a:solidFill>
                <a:srgbClr val="404040"/>
              </a:solidFill>
              <a:effectLst/>
              <a:latin typeface="DeepSeek-CJK-patch"/>
            </a:endParaRPr>
          </a:p>
          <a:p>
            <a:pPr algn="l"/>
            <a:r>
              <a:rPr lang="en-US" b="0" i="0" dirty="0">
                <a:solidFill>
                  <a:srgbClr val="404040"/>
                </a:solidFill>
                <a:effectLst/>
                <a:latin typeface="DeepSeek-CJK-patch"/>
              </a:rPr>
              <a:t>M</a:t>
            </a:r>
            <a:r>
              <a:rPr lang="vi-VN" b="0" i="0" dirty="0">
                <a:solidFill>
                  <a:srgbClr val="404040"/>
                </a:solidFill>
                <a:effectLst/>
                <a:latin typeface="DeepSeek-CJK-patch"/>
              </a:rPr>
              <a:t>ô hình tham chiếu </a:t>
            </a:r>
            <a:r>
              <a:rPr lang="vi-VN" b="1" i="0" dirty="0">
                <a:solidFill>
                  <a:srgbClr val="404040"/>
                </a:solidFill>
                <a:effectLst/>
                <a:latin typeface="DeepSeek-CJK-patch"/>
              </a:rPr>
              <a:t>OSI (Open Systems Interconnection)</a:t>
            </a:r>
            <a:r>
              <a:rPr lang="vi-VN" b="0" i="0" dirty="0">
                <a:solidFill>
                  <a:srgbClr val="404040"/>
                </a:solidFill>
                <a:effectLst/>
                <a:latin typeface="DeepSeek-CJK-patch"/>
              </a:rPr>
              <a:t> gồm 7 tầng:</a:t>
            </a:r>
          </a:p>
          <a:p>
            <a:pPr algn="l">
              <a:buFont typeface="+mj-lt"/>
              <a:buNone/>
            </a:pPr>
            <a:r>
              <a:rPr lang="en-US" b="1" i="0" dirty="0">
                <a:solidFill>
                  <a:srgbClr val="404040"/>
                </a:solidFill>
                <a:effectLst/>
                <a:latin typeface="DeepSeek-CJK-patch"/>
              </a:rPr>
              <a:t>a.</a:t>
            </a:r>
            <a:r>
              <a:rPr lang="vi-VN" b="1" i="0" dirty="0">
                <a:solidFill>
                  <a:srgbClr val="404040"/>
                </a:solidFill>
                <a:effectLst/>
                <a:latin typeface="DeepSeek-CJK-patch"/>
              </a:rPr>
              <a:t>Application</a:t>
            </a:r>
            <a:r>
              <a:rPr lang="vi-VN" b="0" i="0" dirty="0">
                <a:solidFill>
                  <a:srgbClr val="404040"/>
                </a:solidFill>
                <a:effectLst/>
                <a:latin typeface="DeepSeek-CJK-patch"/>
              </a:rPr>
              <a:t> (Ứng dụng)</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Giao diện trực tiếp với người dùng (VD: HTTP, FTP).</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Presentation</a:t>
            </a:r>
            <a:r>
              <a:rPr lang="vi-VN" b="0" i="0" dirty="0">
                <a:solidFill>
                  <a:srgbClr val="404040"/>
                </a:solidFill>
                <a:effectLst/>
                <a:latin typeface="DeepSeek-CJK-patch"/>
              </a:rPr>
              <a:t> (Trình diễn)</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Chuyển đổi dữ liệu (mã hóa, nén) để ứng dụng hiểu được.</a:t>
            </a:r>
          </a:p>
          <a:p>
            <a:pPr algn="l">
              <a:buFont typeface="+mj-lt"/>
              <a:buNone/>
            </a:pPr>
            <a:r>
              <a:rPr lang="en-US" b="1" i="0" dirty="0">
                <a:solidFill>
                  <a:srgbClr val="404040"/>
                </a:solidFill>
                <a:effectLst/>
                <a:latin typeface="DeepSeek-CJK-patch"/>
              </a:rPr>
              <a:t>c. </a:t>
            </a:r>
            <a:r>
              <a:rPr lang="vi-VN" b="1" i="0" dirty="0">
                <a:solidFill>
                  <a:srgbClr val="404040"/>
                </a:solidFill>
                <a:effectLst/>
                <a:latin typeface="DeepSeek-CJK-patch"/>
              </a:rPr>
              <a:t>Session</a:t>
            </a:r>
            <a:r>
              <a:rPr lang="vi-VN" b="0" i="0" dirty="0">
                <a:solidFill>
                  <a:srgbClr val="404040"/>
                </a:solidFill>
                <a:effectLst/>
                <a:latin typeface="DeepSeek-CJK-patch"/>
              </a:rPr>
              <a:t> (Phiên)</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Quản lý kết nối giữa các ứng dụng (thiết lập/ngắt phiên).</a:t>
            </a:r>
          </a:p>
          <a:p>
            <a:pPr algn="l">
              <a:buFont typeface="+mj-lt"/>
              <a:buNone/>
            </a:pPr>
            <a:r>
              <a:rPr lang="en-US" b="1" i="0" dirty="0">
                <a:solidFill>
                  <a:srgbClr val="404040"/>
                </a:solidFill>
                <a:effectLst/>
                <a:latin typeface="DeepSeek-CJK-patch"/>
              </a:rPr>
              <a:t>d. </a:t>
            </a:r>
            <a:r>
              <a:rPr lang="vi-VN" b="1" i="0" dirty="0">
                <a:solidFill>
                  <a:srgbClr val="404040"/>
                </a:solidFill>
                <a:effectLst/>
                <a:latin typeface="DeepSeek-CJK-patch"/>
              </a:rPr>
              <a:t>Transport</a:t>
            </a:r>
            <a:r>
              <a:rPr lang="vi-VN" b="0" i="0" dirty="0">
                <a:solidFill>
                  <a:srgbClr val="404040"/>
                </a:solidFill>
                <a:effectLst/>
                <a:latin typeface="DeepSeek-CJK-patch"/>
              </a:rPr>
              <a:t> (Giao vận)</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Đảm bảo truyền dữ liệu tin cậy (TCP/UDP).</a:t>
            </a:r>
          </a:p>
          <a:p>
            <a:pPr algn="l">
              <a:buFont typeface="+mj-lt"/>
              <a:buNone/>
            </a:pPr>
            <a:r>
              <a:rPr lang="en-US" b="1" i="0" dirty="0">
                <a:solidFill>
                  <a:srgbClr val="404040"/>
                </a:solidFill>
                <a:effectLst/>
                <a:latin typeface="DeepSeek-CJK-patch"/>
              </a:rPr>
              <a:t>e. </a:t>
            </a:r>
            <a:r>
              <a:rPr lang="vi-VN" b="1" i="0" dirty="0">
                <a:solidFill>
                  <a:srgbClr val="404040"/>
                </a:solidFill>
                <a:effectLst/>
                <a:latin typeface="DeepSeek-CJK-patch"/>
              </a:rPr>
              <a:t>Network</a:t>
            </a:r>
            <a:r>
              <a:rPr lang="vi-VN" b="0" i="0" dirty="0">
                <a:solidFill>
                  <a:srgbClr val="404040"/>
                </a:solidFill>
                <a:effectLst/>
                <a:latin typeface="DeepSeek-CJK-patch"/>
              </a:rPr>
              <a:t> (Mạng)</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Định tuyến (routing) và địa chỉ hóa (IP).</a:t>
            </a:r>
          </a:p>
          <a:p>
            <a:pPr algn="l">
              <a:buFont typeface="+mj-lt"/>
              <a:buNone/>
            </a:pPr>
            <a:r>
              <a:rPr lang="en-US" b="1" i="0" dirty="0">
                <a:solidFill>
                  <a:srgbClr val="404040"/>
                </a:solidFill>
                <a:effectLst/>
                <a:latin typeface="DeepSeek-CJK-patch"/>
              </a:rPr>
              <a:t>f. </a:t>
            </a:r>
            <a:r>
              <a:rPr lang="vi-VN" b="1" i="0" dirty="0">
                <a:solidFill>
                  <a:srgbClr val="404040"/>
                </a:solidFill>
                <a:effectLst/>
                <a:latin typeface="DeepSeek-CJK-patch"/>
              </a:rPr>
              <a:t>Data Link</a:t>
            </a:r>
            <a:r>
              <a:rPr lang="vi-VN" b="0" i="0" dirty="0">
                <a:solidFill>
                  <a:srgbClr val="404040"/>
                </a:solidFill>
                <a:effectLst/>
                <a:latin typeface="DeepSeek-CJK-patch"/>
              </a:rPr>
              <a:t> (Liên kết dữ liệu)</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Truyền frame giữa các thiết bị trong mạng nội bộ (Ethernet).</a:t>
            </a:r>
          </a:p>
          <a:p>
            <a:pPr algn="l">
              <a:buFont typeface="+mj-lt"/>
              <a:buNone/>
            </a:pPr>
            <a:r>
              <a:rPr lang="en-US" b="1" i="0" dirty="0">
                <a:solidFill>
                  <a:srgbClr val="404040"/>
                </a:solidFill>
                <a:effectLst/>
                <a:latin typeface="DeepSeek-CJK-patch"/>
              </a:rPr>
              <a:t>g. </a:t>
            </a:r>
            <a:r>
              <a:rPr lang="vi-VN" b="1" i="0" dirty="0">
                <a:solidFill>
                  <a:srgbClr val="404040"/>
                </a:solidFill>
                <a:effectLst/>
                <a:latin typeface="DeepSeek-CJK-patch"/>
              </a:rPr>
              <a:t>Physical</a:t>
            </a:r>
            <a:r>
              <a:rPr lang="vi-VN" b="0" i="0" dirty="0">
                <a:solidFill>
                  <a:srgbClr val="404040"/>
                </a:solidFill>
                <a:effectLst/>
                <a:latin typeface="DeepSeek-CJK-patch"/>
              </a:rPr>
              <a:t> (Vật lý)</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Truyền tín hiệu điện/quang qua cáp hoặc sóng.</a:t>
            </a:r>
          </a:p>
          <a:p>
            <a:pPr algn="l"/>
            <a:r>
              <a:rPr lang="vi-VN" b="0" i="0" dirty="0">
                <a:solidFill>
                  <a:srgbClr val="404040"/>
                </a:solidFill>
                <a:effectLst/>
                <a:latin typeface="DeepSeek-CJK-patch"/>
              </a:rPr>
              <a:t>→ Mỗi tầng có </a:t>
            </a:r>
            <a:r>
              <a:rPr lang="vi-VN" b="1" i="0" dirty="0">
                <a:solidFill>
                  <a:srgbClr val="404040"/>
                </a:solidFill>
                <a:effectLst/>
                <a:latin typeface="DeepSeek-CJK-patch"/>
              </a:rPr>
              <a:t>giao thức (protocol)</a:t>
            </a:r>
            <a:r>
              <a:rPr lang="vi-VN" b="0" i="0" dirty="0">
                <a:solidFill>
                  <a:srgbClr val="404040"/>
                </a:solidFill>
                <a:effectLst/>
                <a:latin typeface="DeepSeek-CJK-patch"/>
              </a:rPr>
              <a:t> riêng, hoạt động độc lập nhưng phối hợp với các tầng khác.</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7</a:t>
            </a:r>
            <a:r>
              <a:rPr lang="vi-VN" b="1" i="0" dirty="0">
                <a:solidFill>
                  <a:srgbClr val="404040"/>
                </a:solidFill>
                <a:effectLst/>
                <a:latin typeface="DeepSeek-CJK-patch"/>
              </a:rPr>
              <a:t>. Nhược Điểm Của Mô hình Này</a:t>
            </a:r>
            <a:endParaRPr lang="vi-VN" b="0" i="0" dirty="0">
              <a:solidFill>
                <a:srgbClr val="404040"/>
              </a:solidFill>
              <a:effectLst/>
              <a:latin typeface="DeepSeek-CJK-patch"/>
            </a:endParaRPr>
          </a:p>
          <a:p>
            <a:pPr algn="l"/>
            <a:r>
              <a:rPr lang="vi-VN" b="0" i="0" dirty="0">
                <a:solidFill>
                  <a:srgbClr val="404040"/>
                </a:solidFill>
                <a:effectLst/>
                <a:latin typeface="DeepSeek-CJK-patch"/>
              </a:rPr>
              <a:t>Mặc dù OSI là nền tảng lý thuyết quan trọng, nó có </a:t>
            </a:r>
            <a:r>
              <a:rPr lang="vi-VN" b="1" i="0" dirty="0">
                <a:solidFill>
                  <a:srgbClr val="404040"/>
                </a:solidFill>
                <a:effectLst/>
                <a:latin typeface="DeepSeek-CJK-patch"/>
              </a:rPr>
              <a:t>3 hạn chế chính</a:t>
            </a:r>
            <a:r>
              <a:rPr lang="vi-VN" b="0" i="0" dirty="0">
                <a:solidFill>
                  <a:srgbClr val="404040"/>
                </a:solidFill>
                <a:effectLst/>
                <a:latin typeface="DeepSeek-CJK-patch"/>
              </a:rPr>
              <a:t> trong hệ thống phân tán hiện đại:</a:t>
            </a:r>
          </a:p>
          <a:p>
            <a:pPr algn="l"/>
            <a:r>
              <a:rPr lang="vi-VN" b="1" i="0" dirty="0">
                <a:solidFill>
                  <a:srgbClr val="404040"/>
                </a:solidFill>
                <a:effectLst/>
                <a:latin typeface="DeepSeek-CJK-patch"/>
              </a:rPr>
              <a:t>a) Chỉ tập trung vào Message-Passing (Truyền thông điệp)</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Vấn đề:</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OSI thiết kế cho </a:t>
            </a:r>
            <a:r>
              <a:rPr lang="vi-VN" b="1" i="0" dirty="0">
                <a:solidFill>
                  <a:srgbClr val="404040"/>
                </a:solidFill>
                <a:effectLst/>
                <a:latin typeface="DeepSeek-CJK-patch"/>
              </a:rPr>
              <a:t>giao tiếp dựa trên message</a:t>
            </a:r>
            <a:r>
              <a:rPr lang="vi-VN" b="0" i="0" dirty="0">
                <a:solidFill>
                  <a:srgbClr val="404040"/>
                </a:solidFill>
                <a:effectLst/>
                <a:latin typeface="DeepSeek-CJK-patch"/>
              </a:rPr>
              <a:t> (gửi/nhận gói tin), nhưng hệ thống phân tán cần các mô hình cao cấp hơn như </a:t>
            </a:r>
            <a:r>
              <a:rPr lang="vi-VN" b="1" i="0" dirty="0">
                <a:solidFill>
                  <a:srgbClr val="404040"/>
                </a:solidFill>
                <a:effectLst/>
                <a:latin typeface="DeepSeek-CJK-patch"/>
              </a:rPr>
              <a:t>RPC (Remote Procedure Call)</a:t>
            </a:r>
            <a:r>
              <a:rPr lang="vi-VN" b="0" i="0" dirty="0">
                <a:solidFill>
                  <a:srgbClr val="404040"/>
                </a:solidFill>
                <a:effectLst/>
                <a:latin typeface="DeepSeek-CJK-patch"/>
              </a:rPr>
              <a:t> hoặc </a:t>
            </a:r>
            <a:r>
              <a:rPr lang="vi-VN" b="1" i="0" dirty="0">
                <a:solidFill>
                  <a:srgbClr val="404040"/>
                </a:solidFill>
                <a:effectLst/>
                <a:latin typeface="DeepSeek-CJK-patch"/>
              </a:rPr>
              <a:t>shared memory</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Ứng dụng phân tán muốn gọi hàm từ xa (RPC) như gọi hàm local → OSI không hỗ trợ trực tiếp.</a:t>
            </a:r>
          </a:p>
          <a:p>
            <a:pPr algn="l"/>
            <a:r>
              <a:rPr lang="vi-VN" b="1" i="0" dirty="0">
                <a:solidFill>
                  <a:srgbClr val="404040"/>
                </a:solidFill>
                <a:effectLst/>
                <a:latin typeface="DeepSeek-CJK-patch"/>
              </a:rPr>
              <a:t>b) Chức năng thừa hoặc không cần thiết</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Vấn đề:</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Một số tầng (VD: </a:t>
            </a:r>
            <a:r>
              <a:rPr lang="vi-VN" b="1" i="0" dirty="0">
                <a:solidFill>
                  <a:srgbClr val="404040"/>
                </a:solidFill>
                <a:effectLst/>
                <a:latin typeface="DeepSeek-CJK-patch"/>
              </a:rPr>
              <a:t>Session</a:t>
            </a:r>
            <a:r>
              <a:rPr lang="vi-VN" b="0" i="0" dirty="0">
                <a:solidFill>
                  <a:srgbClr val="404040"/>
                </a:solidFill>
                <a:effectLst/>
                <a:latin typeface="DeepSeek-CJK-patch"/>
              </a:rPr>
              <a:t>, </a:t>
            </a:r>
            <a:r>
              <a:rPr lang="vi-VN" b="1" i="0" dirty="0">
                <a:solidFill>
                  <a:srgbClr val="404040"/>
                </a:solidFill>
                <a:effectLst/>
                <a:latin typeface="DeepSeek-CJK-patch"/>
              </a:rPr>
              <a:t>Presentation</a:t>
            </a:r>
            <a:r>
              <a:rPr lang="vi-VN" b="0" i="0" dirty="0">
                <a:solidFill>
                  <a:srgbClr val="404040"/>
                </a:solidFill>
                <a:effectLst/>
                <a:latin typeface="DeepSeek-CJK-patch"/>
              </a:rPr>
              <a:t>) ít được sử dụng trong thực tế.</a:t>
            </a:r>
          </a:p>
          <a:p>
            <a:pPr marL="742950" lvl="1" indent="-285750" algn="l">
              <a:buFont typeface="Arial" panose="020B0604020202020204" pitchFamily="34" charset="0"/>
              <a:buChar char="•"/>
            </a:pPr>
            <a:r>
              <a:rPr lang="vi-VN" b="0" i="0" dirty="0">
                <a:solidFill>
                  <a:srgbClr val="404040"/>
                </a:solidFill>
                <a:effectLst/>
                <a:latin typeface="DeepSeek-CJK-patch"/>
              </a:rPr>
              <a:t>Các giao thức phức tạp (VD: X.400 trong tầng Application) không phù hợp với nhu cầu đơn giản của nhiều ứng dụng.</a:t>
            </a:r>
          </a:p>
          <a:p>
            <a:pPr algn="l">
              <a:buFont typeface="Arial" panose="020B0604020202020204" pitchFamily="34" charset="0"/>
              <a:buChar char="•"/>
            </a:pP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Web (HTTP) bỏ qua tầng Session/Presentation, giao tiếp trực tiếp qua TCP/IP.</a:t>
            </a:r>
          </a:p>
          <a:p>
            <a:pPr algn="l"/>
            <a:r>
              <a:rPr lang="vi-VN" b="1" i="0" dirty="0">
                <a:solidFill>
                  <a:srgbClr val="404040"/>
                </a:solidFill>
                <a:effectLst/>
                <a:latin typeface="DeepSeek-CJK-patch"/>
              </a:rPr>
              <a:t>c) Vi phạm Tính Minh Bạch Truy Cập (Access Transparency)</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Vấn đề:</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OSI </a:t>
            </a:r>
            <a:r>
              <a:rPr lang="vi-VN" b="1" i="0" dirty="0">
                <a:solidFill>
                  <a:srgbClr val="404040"/>
                </a:solidFill>
                <a:effectLst/>
                <a:latin typeface="DeepSeek-CJK-patch"/>
              </a:rPr>
              <a:t>phân biệt rõ ràng</a:t>
            </a:r>
            <a:r>
              <a:rPr lang="vi-VN" b="0" i="0" dirty="0">
                <a:solidFill>
                  <a:srgbClr val="404040"/>
                </a:solidFill>
                <a:effectLst/>
                <a:latin typeface="DeepSeek-CJK-patch"/>
              </a:rPr>
              <a:t> giữa giao tiếp local và remote (qua mạng), trong khi hệ thống phân tán cần </a:t>
            </a:r>
            <a:r>
              <a:rPr lang="vi-VN" b="1" i="0" dirty="0">
                <a:solidFill>
                  <a:srgbClr val="404040"/>
                </a:solidFill>
                <a:effectLst/>
                <a:latin typeface="DeepSeek-CJK-patch"/>
              </a:rPr>
              <a:t>che giấu sự khác biệt</a:t>
            </a:r>
            <a:r>
              <a:rPr lang="vi-VN" b="0" i="0" dirty="0">
                <a:solidFill>
                  <a:srgbClr val="404040"/>
                </a:solidFill>
                <a:effectLst/>
                <a:latin typeface="DeepSeek-CJK-patch"/>
              </a:rPr>
              <a:t> này.</a:t>
            </a:r>
          </a:p>
          <a:p>
            <a:pPr marL="742950" lvl="1" indent="-285750" algn="l">
              <a:buFont typeface="Arial" panose="020B0604020202020204" pitchFamily="34" charset="0"/>
              <a:buChar char="•"/>
            </a:pPr>
            <a:r>
              <a:rPr lang="vi-VN" b="0" i="0" dirty="0">
                <a:solidFill>
                  <a:srgbClr val="404040"/>
                </a:solidFill>
                <a:effectLst/>
                <a:latin typeface="DeepSeek-CJK-patch"/>
              </a:rPr>
              <a:t>Người lập trình phải xử lý thủ công các vấn đề như timeout, lỗi mạng → phá vỡ tính minh bạch.</a:t>
            </a:r>
          </a:p>
          <a:p>
            <a:pPr algn="l">
              <a:buFont typeface="Arial" panose="020B0604020202020204" pitchFamily="34" charset="0"/>
              <a:buChar char="•"/>
            </a:pP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Trong RPC, lập trình viên muốn gọi hàm từ xa </a:t>
            </a:r>
            <a:r>
              <a:rPr lang="vi-VN" b="1" i="0" dirty="0">
                <a:solidFill>
                  <a:srgbClr val="404040"/>
                </a:solidFill>
                <a:effectLst/>
                <a:latin typeface="DeepSeek-CJK-patch"/>
              </a:rPr>
              <a:t>như hàm local</a:t>
            </a:r>
            <a:r>
              <a:rPr lang="vi-VN" b="0" i="0" dirty="0">
                <a:solidFill>
                  <a:srgbClr val="404040"/>
                </a:solidFill>
                <a:effectLst/>
                <a:latin typeface="DeepSeek-CJK-patch"/>
              </a:rPr>
              <a:t> mà không cần quan tâm đến message passing.</a:t>
            </a:r>
          </a:p>
          <a:p>
            <a:endParaRPr lang="en-US" b="1" dirty="0"/>
          </a:p>
        </p:txBody>
      </p:sp>
      <p:sp>
        <p:nvSpPr>
          <p:cNvPr id="4" name="Slide Number Placeholder 3"/>
          <p:cNvSpPr>
            <a:spLocks noGrp="1"/>
          </p:cNvSpPr>
          <p:nvPr>
            <p:ph type="sldNum" sz="quarter" idx="5"/>
          </p:nvPr>
        </p:nvSpPr>
        <p:spPr/>
        <p:txBody>
          <a:bodyPr/>
          <a:lstStyle/>
          <a:p>
            <a:fld id="{A1FC9D69-E42E-42B8-B79C-D6AC1CD55B56}" type="slidenum">
              <a:rPr lang="en-US" smtClean="0"/>
              <a:t>2</a:t>
            </a:fld>
            <a:endParaRPr lang="en-US"/>
          </a:p>
        </p:txBody>
      </p:sp>
    </p:spTree>
    <p:extLst>
      <p:ext uri="{BB962C8B-B14F-4D97-AF65-F5344CB8AC3E}">
        <p14:creationId xmlns:p14="http://schemas.microsoft.com/office/powerpoint/2010/main" val="411351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Các Tầng Mạng Cấp Thấp (Low-level Layers)</a:t>
            </a:r>
            <a:endParaRPr lang="en-US" b="1" i="0" dirty="0">
              <a:solidFill>
                <a:srgbClr val="404040"/>
              </a:solidFill>
              <a:effectLst/>
              <a:latin typeface="DeepSeek-CJK-patch"/>
            </a:endParaRPr>
          </a:p>
          <a:p>
            <a:pPr algn="l"/>
            <a:endParaRPr lang="vi-VN" b="0" i="0" dirty="0">
              <a:solidFill>
                <a:srgbClr val="404040"/>
              </a:solidFill>
              <a:effectLst/>
              <a:latin typeface="DeepSeek-CJK-patch"/>
            </a:endParaRPr>
          </a:p>
          <a:p>
            <a:pPr algn="l"/>
            <a:r>
              <a:rPr lang="vi-VN" b="1" i="0" dirty="0">
                <a:solidFill>
                  <a:srgbClr val="404040"/>
                </a:solidFill>
                <a:effectLst/>
                <a:latin typeface="DeepSeek-CJK-patch"/>
              </a:rPr>
              <a:t>1. Tóm tắt các tầng mạng cơ bản (Recap)</a:t>
            </a:r>
            <a:endParaRPr lang="vi-VN" b="0" i="0" dirty="0">
              <a:solidFill>
                <a:srgbClr val="404040"/>
              </a:solidFill>
              <a:effectLst/>
              <a:latin typeface="DeepSeek-CJK-patch"/>
            </a:endParaRPr>
          </a:p>
          <a:p>
            <a:pPr algn="l"/>
            <a:r>
              <a:rPr lang="vi-VN" b="0" i="0" dirty="0">
                <a:solidFill>
                  <a:srgbClr val="404040"/>
                </a:solidFill>
                <a:effectLst/>
                <a:latin typeface="DeepSeek-CJK-patch"/>
              </a:rPr>
              <a:t>Slide liệt kê 3 tầng mạng cấp thấp nhất trong mô hình OSI/TCP-IP, đóng vai trò nền tảng cho giao tiếp trong hệ thống phân tán:</a:t>
            </a: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Tầng Vật lý (Physical Layer)</a:t>
            </a:r>
            <a:endParaRPr lang="vi-VN" b="0" i="0" dirty="0">
              <a:solidFill>
                <a:srgbClr val="404040"/>
              </a:solidFill>
              <a:effectLst/>
              <a:latin typeface="DeepSeek-CJK-patch"/>
            </a:endParaRP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Nhiệm vụ:</a:t>
            </a:r>
            <a:endParaRPr lang="vi-VN" b="0" i="0" dirty="0">
              <a:solidFill>
                <a:srgbClr val="404040"/>
              </a:solidFill>
              <a:effectLst/>
              <a:latin typeface="DeepSeek-CJK-patch"/>
            </a:endParaRPr>
          </a:p>
          <a:p>
            <a:pPr marL="914400" lvl="2"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Định nghĩa cách truyền các </a:t>
            </a:r>
            <a:r>
              <a:rPr lang="vi-VN" b="1" i="0" dirty="0">
                <a:solidFill>
                  <a:srgbClr val="404040"/>
                </a:solidFill>
                <a:effectLst/>
                <a:latin typeface="DeepSeek-CJK-patch"/>
              </a:rPr>
              <a:t>bit (0/1)</a:t>
            </a:r>
            <a:r>
              <a:rPr lang="vi-VN" b="0" i="0" dirty="0">
                <a:solidFill>
                  <a:srgbClr val="404040"/>
                </a:solidFill>
                <a:effectLst/>
                <a:latin typeface="DeepSeek-CJK-patch"/>
              </a:rPr>
              <a:t> qua môi trường vật lý (cáp đồng, cáp quang, sóng radio).</a:t>
            </a:r>
          </a:p>
          <a:p>
            <a:pPr marL="914400" lvl="2"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Quy định chuẩn điện áp, tần số, tốc độ truyền (VD: Ethernet 100BASE-T).</a:t>
            </a: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914400" lvl="2"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Tín hiệu WiFi (802.11) hoặc tín hiệu qua cáp quang.</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Tầng Liên kết Dữ liệu (Data Link Layer)</a:t>
            </a:r>
            <a:endParaRPr lang="vi-VN" b="0" i="0" dirty="0">
              <a:solidFill>
                <a:srgbClr val="404040"/>
              </a:solidFill>
              <a:effectLst/>
              <a:latin typeface="DeepSeek-CJK-patch"/>
            </a:endParaRP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Nhiệm vụ:</a:t>
            </a:r>
            <a:endParaRPr lang="vi-VN" b="0" i="0" dirty="0">
              <a:solidFill>
                <a:srgbClr val="404040"/>
              </a:solidFill>
              <a:effectLst/>
              <a:latin typeface="DeepSeek-CJK-patch"/>
            </a:endParaRPr>
          </a:p>
          <a:p>
            <a:pPr marL="914400" lvl="2"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Đóng gói bit thành </a:t>
            </a:r>
            <a:r>
              <a:rPr lang="vi-VN" b="1" i="0" dirty="0">
                <a:solidFill>
                  <a:srgbClr val="404040"/>
                </a:solidFill>
                <a:effectLst/>
                <a:latin typeface="DeepSeek-CJK-patch"/>
              </a:rPr>
              <a:t>frame</a:t>
            </a:r>
            <a:r>
              <a:rPr lang="vi-VN" b="0" i="0" dirty="0">
                <a:solidFill>
                  <a:srgbClr val="404040"/>
                </a:solidFill>
                <a:effectLst/>
                <a:latin typeface="DeepSeek-CJK-patch"/>
              </a:rPr>
              <a:t> (khung dữ liệu) để truyền giữa các thiết bị trong cùng mạng nội bộ (LAN).</a:t>
            </a:r>
          </a:p>
          <a:p>
            <a:pPr marL="914400" lvl="2"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Kiểm soát lỗi (CRC checksum) và điều khiển luồng (flow control).</a:t>
            </a: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914400" lvl="2"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Giao thức Ethernet (MAC address), WiFi (802.11 frame).</a:t>
            </a:r>
          </a:p>
          <a:p>
            <a:pPr algn="l">
              <a:buFont typeface="+mj-lt"/>
              <a:buNone/>
            </a:pPr>
            <a:r>
              <a:rPr lang="en-US" b="1" i="0" dirty="0">
                <a:solidFill>
                  <a:srgbClr val="404040"/>
                </a:solidFill>
                <a:effectLst/>
                <a:latin typeface="DeepSeek-CJK-patch"/>
              </a:rPr>
              <a:t>c. </a:t>
            </a:r>
            <a:r>
              <a:rPr lang="vi-VN" b="1" i="0" dirty="0">
                <a:solidFill>
                  <a:srgbClr val="404040"/>
                </a:solidFill>
                <a:effectLst/>
                <a:latin typeface="DeepSeek-CJK-patch"/>
              </a:rPr>
              <a:t>Tầng Mạng (Network Layer)</a:t>
            </a:r>
            <a:endParaRPr lang="vi-VN" b="0" i="0" dirty="0">
              <a:solidFill>
                <a:srgbClr val="404040"/>
              </a:solidFill>
              <a:effectLst/>
              <a:latin typeface="DeepSeek-CJK-patch"/>
            </a:endParaRP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Nhiệm vụ:</a:t>
            </a:r>
            <a:endParaRPr lang="vi-VN" b="0" i="0" dirty="0">
              <a:solidFill>
                <a:srgbClr val="404040"/>
              </a:solidFill>
              <a:effectLst/>
              <a:latin typeface="DeepSeek-CJK-patch"/>
            </a:endParaRPr>
          </a:p>
          <a:p>
            <a:pPr marL="914400" lvl="2"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Định tuyến (routing) các </a:t>
            </a:r>
            <a:r>
              <a:rPr lang="vi-VN" b="1" i="0" dirty="0">
                <a:solidFill>
                  <a:srgbClr val="404040"/>
                </a:solidFill>
                <a:effectLst/>
                <a:latin typeface="DeepSeek-CJK-patch"/>
              </a:rPr>
              <a:t>gói tin (packets)</a:t>
            </a:r>
            <a:r>
              <a:rPr lang="vi-VN" b="0" i="0" dirty="0">
                <a:solidFill>
                  <a:srgbClr val="404040"/>
                </a:solidFill>
                <a:effectLst/>
                <a:latin typeface="DeepSeek-CJK-patch"/>
              </a:rPr>
              <a:t> giữa các mạng khác nhau (WAN).</a:t>
            </a:r>
          </a:p>
          <a:p>
            <a:pPr marL="914400" lvl="2"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Sử dụng địa chỉ logic (IP) để xác định đích đến.</a:t>
            </a: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914400" lvl="2"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Giao thức IP (IPv4/IPv6), định tuyến bằng BGP/OSPF.</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Nhận định quan trọng (Observation)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"Đối với nhiều hệ thống phân tán, giao diện thấp nhất cần quan tâm là tầng Mạng (Network Layer)"</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Ý nghĩa:</a:t>
            </a:r>
            <a:endParaRPr lang="vi-VN" b="0" i="0" dirty="0">
              <a:solidFill>
                <a:srgbClr val="404040"/>
              </a:solidFill>
              <a:effectLst/>
              <a:latin typeface="DeepSeek-CJK-patch"/>
            </a:endParaRPr>
          </a:p>
          <a:p>
            <a:pPr marL="1143000" lvl="2" indent="-228600" algn="l">
              <a:buFont typeface="Arial" panose="020B0604020202020204" pitchFamily="34" charset="0"/>
              <a:buChar char="•"/>
            </a:pPr>
            <a:r>
              <a:rPr lang="vi-VN" b="0" i="0" dirty="0">
                <a:solidFill>
                  <a:srgbClr val="404040"/>
                </a:solidFill>
                <a:effectLst/>
                <a:latin typeface="DeepSeek-CJK-patch"/>
              </a:rPr>
              <a:t>Hầu hết ứng dụng phân tán (VD: web, cloud) </a:t>
            </a:r>
            <a:r>
              <a:rPr lang="vi-VN" b="1" i="0" dirty="0">
                <a:solidFill>
                  <a:srgbClr val="404040"/>
                </a:solidFill>
                <a:effectLst/>
                <a:latin typeface="DeepSeek-CJK-patch"/>
              </a:rPr>
              <a:t>không tương tác trực tiếp</a:t>
            </a:r>
            <a:r>
              <a:rPr lang="vi-VN" b="0" i="0" dirty="0">
                <a:solidFill>
                  <a:srgbClr val="404040"/>
                </a:solidFill>
                <a:effectLst/>
                <a:latin typeface="DeepSeek-CJK-patch"/>
              </a:rPr>
              <a:t> với tầng Vật lý hay Liên kết Dữ liệu.</a:t>
            </a:r>
          </a:p>
          <a:p>
            <a:pPr marL="1143000" lvl="2" indent="-228600" algn="l">
              <a:buFont typeface="Arial" panose="020B0604020202020204" pitchFamily="34" charset="0"/>
              <a:buChar char="•"/>
            </a:pPr>
            <a:r>
              <a:rPr lang="vi-VN" b="0" i="0" dirty="0">
                <a:solidFill>
                  <a:srgbClr val="404040"/>
                </a:solidFill>
                <a:effectLst/>
                <a:latin typeface="DeepSeek-CJK-patch"/>
              </a:rPr>
              <a:t>Thay vào đó, chúng dựa trên </a:t>
            </a:r>
            <a:r>
              <a:rPr lang="vi-VN" b="1" i="0" dirty="0">
                <a:solidFill>
                  <a:srgbClr val="404040"/>
                </a:solidFill>
                <a:effectLst/>
                <a:latin typeface="DeepSeek-CJK-patch"/>
              </a:rPr>
              <a:t>địa chỉ IP</a:t>
            </a:r>
            <a:r>
              <a:rPr lang="vi-VN" b="0" i="0" dirty="0">
                <a:solidFill>
                  <a:srgbClr val="404040"/>
                </a:solidFill>
                <a:effectLst/>
                <a:latin typeface="DeepSeek-CJK-patch"/>
              </a:rPr>
              <a:t> (tầng Mạng) để giao tiếp qua Internet.</a:t>
            </a:r>
          </a:p>
          <a:p>
            <a:pPr marL="742950" lvl="1" indent="-285750" algn="l">
              <a:buFont typeface="Arial" panose="020B0604020202020204" pitchFamily="34" charset="0"/>
              <a:buChar char="•"/>
            </a:pPr>
            <a:r>
              <a:rPr lang="vi-VN" b="1" i="0" dirty="0">
                <a:solidFill>
                  <a:srgbClr val="404040"/>
                </a:solidFill>
                <a:effectLst/>
                <a:latin typeface="DeepSeek-CJK-patch"/>
              </a:rPr>
              <a:t>Lý do:</a:t>
            </a:r>
            <a:endParaRPr lang="vi-VN" b="0" i="0" dirty="0">
              <a:solidFill>
                <a:srgbClr val="404040"/>
              </a:solidFill>
              <a:effectLst/>
              <a:latin typeface="DeepSeek-CJK-patch"/>
            </a:endParaRPr>
          </a:p>
          <a:p>
            <a:pPr marL="1143000" lvl="2" indent="-228600" algn="l">
              <a:buFont typeface="Arial" panose="020B0604020202020204" pitchFamily="34" charset="0"/>
              <a:buChar char="•"/>
            </a:pPr>
            <a:r>
              <a:rPr lang="vi-VN" b="0" i="0" dirty="0">
                <a:solidFill>
                  <a:srgbClr val="404040"/>
                </a:solidFill>
                <a:effectLst/>
                <a:latin typeface="DeepSeek-CJK-patch"/>
              </a:rPr>
              <a:t>Tầng Mạng cung cấp khả năng </a:t>
            </a:r>
            <a:r>
              <a:rPr lang="vi-VN" b="1" i="0" dirty="0">
                <a:solidFill>
                  <a:srgbClr val="404040"/>
                </a:solidFill>
                <a:effectLst/>
                <a:latin typeface="DeepSeek-CJK-patch"/>
              </a:rPr>
              <a:t>kết nối toàn cầu</a:t>
            </a:r>
            <a:r>
              <a:rPr lang="vi-VN" b="0" i="0" dirty="0">
                <a:solidFill>
                  <a:srgbClr val="404040"/>
                </a:solidFill>
                <a:effectLst/>
                <a:latin typeface="DeepSeek-CJK-patch"/>
              </a:rPr>
              <a:t> (global addressing) và </a:t>
            </a:r>
            <a:r>
              <a:rPr lang="vi-VN" b="1" i="0" dirty="0">
                <a:solidFill>
                  <a:srgbClr val="404040"/>
                </a:solidFill>
                <a:effectLst/>
                <a:latin typeface="DeepSeek-CJK-patch"/>
              </a:rPr>
              <a:t>định tuyến linh hoạt</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0" i="0" dirty="0">
                <a:solidFill>
                  <a:srgbClr val="404040"/>
                </a:solidFill>
                <a:effectLst/>
                <a:latin typeface="DeepSeek-CJK-patch"/>
              </a:rPr>
              <a:t>Các tầng thấp hơn (Physical/Data Link) được ẩn bởi hệ điều hành hoặc phần cứng mạng.</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Ví dụ minh họa</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Khi bạn gửi request đến một website:</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Ứng dụng (tầng Application) dùng HTTP → TCP/IP (tầng Transport/Network).</a:t>
            </a:r>
          </a:p>
          <a:p>
            <a:pPr marL="742950" lvl="1" indent="-285750" algn="l">
              <a:buFont typeface="Arial" panose="020B0604020202020204" pitchFamily="34" charset="0"/>
              <a:buChar char="•"/>
            </a:pPr>
            <a:r>
              <a:rPr lang="vi-VN" b="0" i="0" dirty="0">
                <a:solidFill>
                  <a:srgbClr val="404040"/>
                </a:solidFill>
                <a:effectLst/>
                <a:latin typeface="DeepSeek-CJK-patch"/>
              </a:rPr>
              <a:t>TCP/IP đóng gói dữ liệu thành packets, gửi qua router (tầng Network).</a:t>
            </a:r>
          </a:p>
          <a:p>
            <a:pPr marL="742950" lvl="1" indent="-285750" algn="l">
              <a:buFont typeface="Arial" panose="020B0604020202020204" pitchFamily="34" charset="0"/>
              <a:buChar char="•"/>
            </a:pPr>
            <a:r>
              <a:rPr lang="vi-VN" b="0" i="0" dirty="0">
                <a:solidFill>
                  <a:srgbClr val="404040"/>
                </a:solidFill>
                <a:effectLst/>
                <a:latin typeface="DeepSeek-CJK-patch"/>
              </a:rPr>
              <a:t>Router định tuyến packet dựa trên địa chỉ IP, không cần biết đến cáp quang hay WiFi (tầng Physical/Data Link).</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4. 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3 tầng thấp nhất</a:t>
            </a:r>
            <a:r>
              <a:rPr lang="vi-VN" b="0" i="0" dirty="0">
                <a:solidFill>
                  <a:srgbClr val="404040"/>
                </a:solidFill>
                <a:effectLst/>
                <a:latin typeface="DeepSeek-CJK-patch"/>
              </a:rPr>
              <a:t> (Physical, Data Link, Network) là </a:t>
            </a:r>
            <a:r>
              <a:rPr lang="vi-VN" b="1" i="0" dirty="0">
                <a:solidFill>
                  <a:srgbClr val="404040"/>
                </a:solidFill>
                <a:effectLst/>
                <a:latin typeface="DeepSeek-CJK-patch"/>
              </a:rPr>
              <a:t>nền tảng vật lý</a:t>
            </a:r>
            <a:r>
              <a:rPr lang="vi-VN" b="0" i="0" dirty="0">
                <a:solidFill>
                  <a:srgbClr val="404040"/>
                </a:solidFill>
                <a:effectLst/>
                <a:latin typeface="DeepSeek-CJK-patch"/>
              </a:rPr>
              <a:t> của mọi hệ thống mạng.</a:t>
            </a:r>
          </a:p>
          <a:p>
            <a:pPr algn="l">
              <a:buFont typeface="Arial" panose="020B0604020202020204" pitchFamily="34" charset="0"/>
              <a:buChar char="•"/>
            </a:pPr>
            <a:r>
              <a:rPr lang="vi-VN" b="1" i="0" dirty="0">
                <a:solidFill>
                  <a:srgbClr val="404040"/>
                </a:solidFill>
                <a:effectLst/>
                <a:latin typeface="DeepSeek-CJK-patch"/>
              </a:rPr>
              <a:t>Ứng dụng phân tán chỉ cần quan tâm đến tầng Mạng (IP)</a:t>
            </a:r>
            <a:r>
              <a:rPr lang="vi-VN" b="0" i="0" dirty="0">
                <a:solidFill>
                  <a:srgbClr val="404040"/>
                </a:solidFill>
                <a:effectLst/>
                <a:latin typeface="DeepSeek-CJK-patch"/>
              </a:rPr>
              <a:t> để giao tiếp, các tầng thấp hơn được </a:t>
            </a:r>
            <a:r>
              <a:rPr lang="vi-VN" b="1" i="0" dirty="0">
                <a:solidFill>
                  <a:srgbClr val="404040"/>
                </a:solidFill>
                <a:effectLst/>
                <a:latin typeface="DeepSeek-CJK-patch"/>
              </a:rPr>
              <a:t>trừu tượng hóa</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Tại sao điều này quan trọng?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Giúp nhà phát triển tập trung vào logic ứng dụng thay vì lo lắng về cách truyền bit qua cáp.</a:t>
            </a:r>
          </a:p>
          <a:p>
            <a:pPr marL="742950" lvl="1" indent="-285750" algn="l">
              <a:buFont typeface="Arial" panose="020B0604020202020204" pitchFamily="34" charset="0"/>
              <a:buChar char="•"/>
            </a:pPr>
            <a:r>
              <a:rPr lang="vi-VN" b="0" i="0" dirty="0">
                <a:solidFill>
                  <a:srgbClr val="404040"/>
                </a:solidFill>
                <a:effectLst/>
                <a:latin typeface="DeepSeek-CJK-patch"/>
              </a:rPr>
              <a:t>Đảm bảo tính </a:t>
            </a:r>
            <a:r>
              <a:rPr lang="vi-VN" b="1" i="0" dirty="0">
                <a:solidFill>
                  <a:srgbClr val="404040"/>
                </a:solidFill>
                <a:effectLst/>
                <a:latin typeface="DeepSeek-CJK-patch"/>
              </a:rPr>
              <a:t>linh hoạt</a:t>
            </a:r>
            <a:r>
              <a:rPr lang="vi-VN" b="0" i="0" dirty="0">
                <a:solidFill>
                  <a:srgbClr val="404040"/>
                </a:solidFill>
                <a:effectLst/>
                <a:latin typeface="DeepSeek-CJK-patch"/>
              </a:rPr>
              <a:t> (VD: ứng dụng chạy trên mạng dây/WiFi mà không cần thay đổi code).</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3</a:t>
            </a:fld>
            <a:endParaRPr lang="en-US"/>
          </a:p>
        </p:txBody>
      </p:sp>
    </p:spTree>
    <p:extLst>
      <p:ext uri="{BB962C8B-B14F-4D97-AF65-F5344CB8AC3E}">
        <p14:creationId xmlns:p14="http://schemas.microsoft.com/office/powerpoint/2010/main" val="34626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Tầng Giao vận (Transport Layer)</a:t>
            </a:r>
            <a:endParaRPr lang="vi-VN" b="0" i="0" dirty="0">
              <a:solidFill>
                <a:srgbClr val="404040"/>
              </a:solidFill>
              <a:effectLst/>
              <a:latin typeface="DeepSeek-CJK-patch"/>
            </a:endParaRP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Vai trò quan trọng của tầng Giao vận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Tầng Giao vận (Transport Layer)</a:t>
            </a:r>
            <a:r>
              <a:rPr lang="vi-VN" b="0" i="0" dirty="0">
                <a:solidFill>
                  <a:srgbClr val="404040"/>
                </a:solidFill>
                <a:effectLst/>
                <a:latin typeface="DeepSeek-CJK-patch"/>
              </a:rPr>
              <a:t> là lớp cung cấp dịch vụ truyền thông </a:t>
            </a:r>
            <a:r>
              <a:rPr lang="vi-VN" b="1" i="0" dirty="0">
                <a:solidFill>
                  <a:srgbClr val="404040"/>
                </a:solidFill>
                <a:effectLst/>
                <a:latin typeface="DeepSeek-CJK-patch"/>
              </a:rPr>
              <a:t>trực tiếp</a:t>
            </a:r>
            <a:r>
              <a:rPr lang="vi-VN" b="0" i="0" dirty="0">
                <a:solidFill>
                  <a:srgbClr val="404040"/>
                </a:solidFill>
                <a:effectLst/>
                <a:latin typeface="DeepSeek-CJK-patch"/>
              </a:rPr>
              <a:t> cho hầu hết các hệ thống phân tán.</a:t>
            </a:r>
          </a:p>
          <a:p>
            <a:pPr algn="l">
              <a:buFont typeface="Arial" panose="020B0604020202020204" pitchFamily="34" charset="0"/>
              <a:buChar char="•"/>
            </a:pPr>
            <a:r>
              <a:rPr lang="vi-VN" b="1" i="0" dirty="0">
                <a:solidFill>
                  <a:srgbClr val="404040"/>
                </a:solidFill>
                <a:effectLst/>
                <a:latin typeface="DeepSeek-CJK-patch"/>
              </a:rPr>
              <a:t>Tại sao quan trọng?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Là cầu nối giữa các tầng mạng thấp (Network, Data Link, Physical) và ứng dụng phân tán.</a:t>
            </a:r>
          </a:p>
          <a:p>
            <a:pPr marL="742950" lvl="1" indent="-285750" algn="l">
              <a:buFont typeface="Arial" panose="020B0604020202020204" pitchFamily="34" charset="0"/>
              <a:buChar char="•"/>
            </a:pPr>
            <a:r>
              <a:rPr lang="vi-VN" b="0" i="0" dirty="0">
                <a:solidFill>
                  <a:srgbClr val="404040"/>
                </a:solidFill>
                <a:effectLst/>
                <a:latin typeface="DeepSeek-CJK-patch"/>
              </a:rPr>
              <a:t>Cung cấp cơ chế </a:t>
            </a:r>
            <a:r>
              <a:rPr lang="vi-VN" b="1" i="0" dirty="0">
                <a:solidFill>
                  <a:srgbClr val="404040"/>
                </a:solidFill>
                <a:effectLst/>
                <a:latin typeface="DeepSeek-CJK-patch"/>
              </a:rPr>
              <a:t>đảm bảo độ tin cậy</a:t>
            </a:r>
            <a:r>
              <a:rPr lang="vi-VN" b="0" i="0" dirty="0">
                <a:solidFill>
                  <a:srgbClr val="404040"/>
                </a:solidFill>
                <a:effectLst/>
                <a:latin typeface="DeepSeek-CJK-patch"/>
              </a:rPr>
              <a:t>, </a:t>
            </a:r>
            <a:r>
              <a:rPr lang="vi-VN" b="1" i="0" dirty="0">
                <a:solidFill>
                  <a:srgbClr val="404040"/>
                </a:solidFill>
                <a:effectLst/>
                <a:latin typeface="DeepSeek-CJK-patch"/>
              </a:rPr>
              <a:t>kiểm soát lỗi</a:t>
            </a:r>
            <a:r>
              <a:rPr lang="vi-VN" b="0" i="0" dirty="0">
                <a:solidFill>
                  <a:srgbClr val="404040"/>
                </a:solidFill>
                <a:effectLst/>
                <a:latin typeface="DeepSeek-CJK-patch"/>
              </a:rPr>
              <a:t>, và </a:t>
            </a:r>
            <a:r>
              <a:rPr lang="vi-VN" b="1" i="0" dirty="0">
                <a:solidFill>
                  <a:srgbClr val="404040"/>
                </a:solidFill>
                <a:effectLst/>
                <a:latin typeface="DeepSeek-CJK-patch"/>
              </a:rPr>
              <a:t>quản lý luồng dữ liệu</a:t>
            </a:r>
            <a:r>
              <a:rPr lang="vi-VN" b="0" i="0" dirty="0">
                <a:solidFill>
                  <a:srgbClr val="404040"/>
                </a:solidFill>
                <a:effectLst/>
                <a:latin typeface="DeepSeek-CJK-patch"/>
              </a:rPr>
              <a:t> (flow control).</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Các giao thức tiêu chuẩn trên Internet</a:t>
            </a:r>
            <a:endParaRPr lang="vi-VN" b="0" i="0" dirty="0">
              <a:solidFill>
                <a:srgbClr val="404040"/>
              </a:solidFill>
              <a:effectLst/>
              <a:latin typeface="DeepSeek-CJK-patch"/>
            </a:endParaRPr>
          </a:p>
          <a:p>
            <a:pPr algn="l"/>
            <a:r>
              <a:rPr lang="vi-VN" b="0" i="0" dirty="0">
                <a:solidFill>
                  <a:srgbClr val="404040"/>
                </a:solidFill>
                <a:effectLst/>
                <a:latin typeface="DeepSeek-CJK-patch"/>
              </a:rPr>
              <a:t>2 giao thức phổ biến nhất tại tầng này:</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a) TCP (Transmission Control Protocol)</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Đặc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Hướng kết nối (Connection-oriented):</a:t>
            </a:r>
            <a:r>
              <a:rPr lang="vi-VN" b="0" i="0" dirty="0">
                <a:solidFill>
                  <a:srgbClr val="404040"/>
                </a:solidFill>
                <a:effectLst/>
                <a:latin typeface="DeepSeek-CJK-patch"/>
              </a:rPr>
              <a:t> Phải thiết lập kết nối (handshake) trước khi truyền dữ liệu.</a:t>
            </a:r>
          </a:p>
          <a:p>
            <a:pPr marL="742950" lvl="1" indent="-285750" algn="l">
              <a:buFont typeface="Arial" panose="020B0604020202020204" pitchFamily="34" charset="0"/>
              <a:buChar char="•"/>
            </a:pPr>
            <a:r>
              <a:rPr lang="vi-VN" b="1" i="0" dirty="0">
                <a:solidFill>
                  <a:srgbClr val="404040"/>
                </a:solidFill>
                <a:effectLst/>
                <a:latin typeface="DeepSeek-CJK-patch"/>
              </a:rPr>
              <a:t>Tin cậy (Reliable):</a:t>
            </a:r>
            <a:r>
              <a:rPr lang="vi-VN" b="0" i="0" dirty="0">
                <a:solidFill>
                  <a:srgbClr val="404040"/>
                </a:solidFill>
                <a:effectLst/>
                <a:latin typeface="DeepSeek-CJK-patch"/>
              </a:rPr>
              <a:t> Đảm bảo dữ liệu không mất/lỗi, tự động gửi lại nếu cần.</a:t>
            </a:r>
          </a:p>
          <a:p>
            <a:pPr marL="742950" lvl="1" indent="-285750" algn="l">
              <a:buFont typeface="Arial" panose="020B0604020202020204" pitchFamily="34" charset="0"/>
              <a:buChar char="•"/>
            </a:pPr>
            <a:r>
              <a:rPr lang="vi-VN" b="1" i="0" dirty="0">
                <a:solidFill>
                  <a:srgbClr val="404040"/>
                </a:solidFill>
                <a:effectLst/>
                <a:latin typeface="DeepSeek-CJK-patch"/>
              </a:rPr>
              <a:t>Hướng luồng (Stream-oriented):</a:t>
            </a:r>
            <a:r>
              <a:rPr lang="vi-VN" b="0" i="0" dirty="0">
                <a:solidFill>
                  <a:srgbClr val="404040"/>
                </a:solidFill>
                <a:effectLst/>
                <a:latin typeface="DeepSeek-CJK-patch"/>
              </a:rPr>
              <a:t> Dữ liệu được truyền như một luồng byte liên tục, không chia nhỏ thành khung cố định.</a:t>
            </a:r>
          </a:p>
          <a:p>
            <a:pPr algn="l">
              <a:buFont typeface="Arial" panose="020B0604020202020204" pitchFamily="34" charset="0"/>
              <a:buChar char="•"/>
            </a:pPr>
            <a:r>
              <a:rPr lang="vi-VN" b="1" i="0" dirty="0">
                <a:solidFill>
                  <a:srgbClr val="404040"/>
                </a:solidFill>
                <a:effectLst/>
                <a:latin typeface="DeepSeek-CJK-patch"/>
              </a:rPr>
              <a:t>Ứng dụng: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Web (HTTP/HTTPS), email (SMTP), truyền file (FTP).</a:t>
            </a:r>
          </a:p>
          <a:p>
            <a:pPr algn="l">
              <a:buFont typeface="Arial" panose="020B0604020202020204" pitchFamily="34" charset="0"/>
              <a:buChar char="•"/>
            </a:pP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Khi bạn tải một trang web, TCP đảm bảo mọi gói tin đến đúng thứ tự và không bị thiếu.</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b) UDP (User Datagram Protocol)</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Đặc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Không kết nối (Connectionless):</a:t>
            </a:r>
            <a:r>
              <a:rPr lang="vi-VN" b="0" i="0" dirty="0">
                <a:solidFill>
                  <a:srgbClr val="404040"/>
                </a:solidFill>
                <a:effectLst/>
                <a:latin typeface="DeepSeek-CJK-patch"/>
              </a:rPr>
              <a:t> Không cần thiết lập kết nối, gửi dữ liệu ngay.</a:t>
            </a:r>
          </a:p>
          <a:p>
            <a:pPr marL="742950" lvl="1" indent="-285750" algn="l">
              <a:buFont typeface="Arial" panose="020B0604020202020204" pitchFamily="34" charset="0"/>
              <a:buChar char="•"/>
            </a:pPr>
            <a:r>
              <a:rPr lang="vi-VN" b="1" i="0" dirty="0">
                <a:solidFill>
                  <a:srgbClr val="404040"/>
                </a:solidFill>
                <a:effectLst/>
                <a:latin typeface="DeepSeek-CJK-patch"/>
              </a:rPr>
              <a:t>Không đảm bảo độ tin cậy (Best-effort):</a:t>
            </a:r>
            <a:r>
              <a:rPr lang="vi-VN" b="0" i="0" dirty="0">
                <a:solidFill>
                  <a:srgbClr val="404040"/>
                </a:solidFill>
                <a:effectLst/>
                <a:latin typeface="DeepSeek-CJK-patch"/>
              </a:rPr>
              <a:t> Dữ liệu có thể mất hoặc đến không đúng thứ tự.</a:t>
            </a:r>
          </a:p>
          <a:p>
            <a:pPr marL="742950" lvl="1" indent="-285750" algn="l">
              <a:buFont typeface="Arial" panose="020B0604020202020204" pitchFamily="34" charset="0"/>
              <a:buChar char="•"/>
            </a:pPr>
            <a:r>
              <a:rPr lang="vi-VN" b="1" i="0" dirty="0">
                <a:solidFill>
                  <a:srgbClr val="404040"/>
                </a:solidFill>
                <a:effectLst/>
                <a:latin typeface="DeepSeek-CJK-patch"/>
              </a:rPr>
              <a:t>Hướng thông điệp (Datagram):</a:t>
            </a:r>
            <a:r>
              <a:rPr lang="vi-VN" b="0" i="0" dirty="0">
                <a:solidFill>
                  <a:srgbClr val="404040"/>
                </a:solidFill>
                <a:effectLst/>
                <a:latin typeface="DeepSeek-CJK-patch"/>
              </a:rPr>
              <a:t> Dữ liệu được gửi thành từng gói độc lập.</a:t>
            </a:r>
          </a:p>
          <a:p>
            <a:pPr algn="l">
              <a:buFont typeface="Arial" panose="020B0604020202020204" pitchFamily="34" charset="0"/>
              <a:buChar char="•"/>
            </a:pPr>
            <a:r>
              <a:rPr lang="vi-VN" b="1" i="0" dirty="0">
                <a:solidFill>
                  <a:srgbClr val="404040"/>
                </a:solidFill>
                <a:effectLst/>
                <a:latin typeface="DeepSeek-CJK-patch"/>
              </a:rPr>
              <a:t>Ứng dụng: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Video streaming (Zoom, YouTube), VoIP (Skype), DNS lookup.</a:t>
            </a:r>
          </a:p>
          <a:p>
            <a:pPr algn="l">
              <a:buFont typeface="Arial" panose="020B0604020202020204" pitchFamily="34" charset="0"/>
              <a:buChar char="•"/>
            </a:pP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Trong game online, UDP được dùng để truyền vị trí nhân vật vì tốc độ quan trọng hơn độ chính xác.</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3</a:t>
            </a:r>
            <a:r>
              <a:rPr lang="vi-VN" b="1" i="0" dirty="0">
                <a:solidFill>
                  <a:srgbClr val="404040"/>
                </a:solidFill>
                <a:effectLst/>
                <a:latin typeface="DeepSeek-CJK-patch"/>
              </a:rPr>
              <a:t>. Tại sao tầng Giao vận quan trọng với hệ thống phân tán?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Che giấu sự phức tạp của mạng: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Ứng dụng không cần quan tâm đến việc định tuyến (Network Layer) hay truyền bit (Physical Layer).</a:t>
            </a:r>
          </a:p>
          <a:p>
            <a:pPr algn="l">
              <a:buFont typeface="Arial" panose="020B0604020202020204" pitchFamily="34" charset="0"/>
              <a:buChar char="•"/>
            </a:pPr>
            <a:r>
              <a:rPr lang="vi-VN" b="1" i="0" dirty="0">
                <a:solidFill>
                  <a:srgbClr val="404040"/>
                </a:solidFill>
                <a:effectLst/>
                <a:latin typeface="DeepSeek-CJK-patch"/>
              </a:rPr>
              <a:t>Cung cấp sự lựa chọn linh hoạt:</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Dùng </a:t>
            </a:r>
            <a:r>
              <a:rPr lang="vi-VN" b="1" i="0" dirty="0">
                <a:solidFill>
                  <a:srgbClr val="404040"/>
                </a:solidFill>
                <a:effectLst/>
                <a:latin typeface="DeepSeek-CJK-patch"/>
              </a:rPr>
              <a:t>TCP</a:t>
            </a:r>
            <a:r>
              <a:rPr lang="vi-VN" b="0" i="0" dirty="0">
                <a:solidFill>
                  <a:srgbClr val="404040"/>
                </a:solidFill>
                <a:effectLst/>
                <a:latin typeface="DeepSeek-CJK-patch"/>
              </a:rPr>
              <a:t> khi cần độ tin cậy (VD: giao dịch ngân hàng).</a:t>
            </a:r>
          </a:p>
          <a:p>
            <a:pPr marL="742950" lvl="1" indent="-285750" algn="l">
              <a:buFont typeface="Arial" panose="020B0604020202020204" pitchFamily="34" charset="0"/>
              <a:buChar char="•"/>
            </a:pPr>
            <a:r>
              <a:rPr lang="vi-VN" b="0" i="0" dirty="0">
                <a:solidFill>
                  <a:srgbClr val="404040"/>
                </a:solidFill>
                <a:effectLst/>
                <a:latin typeface="DeepSeek-CJK-patch"/>
              </a:rPr>
              <a:t>Dùng </a:t>
            </a:r>
            <a:r>
              <a:rPr lang="vi-VN" b="1" i="0" dirty="0">
                <a:solidFill>
                  <a:srgbClr val="404040"/>
                </a:solidFill>
                <a:effectLst/>
                <a:latin typeface="DeepSeek-CJK-patch"/>
              </a:rPr>
              <a:t>UDP</a:t>
            </a:r>
            <a:r>
              <a:rPr lang="vi-VN" b="0" i="0" dirty="0">
                <a:solidFill>
                  <a:srgbClr val="404040"/>
                </a:solidFill>
                <a:effectLst/>
                <a:latin typeface="DeepSeek-CJK-patch"/>
              </a:rPr>
              <a:t> khi cần tốc độ (VD: phát video trực tiếp).</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4</a:t>
            </a:r>
            <a:r>
              <a:rPr lang="vi-VN" b="1" i="0" dirty="0">
                <a:solidFill>
                  <a:srgbClr val="404040"/>
                </a:solidFill>
                <a:effectLst/>
                <a:latin typeface="DeepSeek-CJK-patch"/>
              </a:rPr>
              <a:t>. 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Tầng Giao vận là "xương sống" của giao tiếp phân tán</a:t>
            </a:r>
            <a:r>
              <a:rPr lang="vi-VN" b="0" i="0" dirty="0">
                <a:solidFill>
                  <a:srgbClr val="404040"/>
                </a:solidFill>
                <a:effectLst/>
                <a:latin typeface="DeepSeek-CJK-patch"/>
              </a:rPr>
              <a:t>, quyết định cách dữ liệu được vận chuyển giữa các máy tính.</a:t>
            </a:r>
          </a:p>
          <a:p>
            <a:pPr algn="l">
              <a:buFont typeface="Arial" panose="020B0604020202020204" pitchFamily="34" charset="0"/>
              <a:buChar char="•"/>
            </a:pPr>
            <a:r>
              <a:rPr lang="vi-VN" b="1" i="0" dirty="0">
                <a:solidFill>
                  <a:srgbClr val="404040"/>
                </a:solidFill>
                <a:effectLst/>
                <a:latin typeface="DeepSeek-CJK-patch"/>
              </a:rPr>
              <a:t>TCP và UDP</a:t>
            </a:r>
            <a:r>
              <a:rPr lang="vi-VN" b="0" i="0" dirty="0">
                <a:solidFill>
                  <a:srgbClr val="404040"/>
                </a:solidFill>
                <a:effectLst/>
                <a:latin typeface="DeepSeek-CJK-patch"/>
              </a:rPr>
              <a:t> bổ sung cho nhau:</a:t>
            </a:r>
          </a:p>
          <a:p>
            <a:pPr marL="742950" lvl="1" indent="-285750" algn="l">
              <a:buFont typeface="Arial" panose="020B0604020202020204" pitchFamily="34" charset="0"/>
              <a:buChar char="•"/>
            </a:pPr>
            <a:r>
              <a:rPr lang="vi-VN" b="0" i="0" dirty="0">
                <a:solidFill>
                  <a:srgbClr val="404040"/>
                </a:solidFill>
                <a:effectLst/>
                <a:latin typeface="DeepSeek-CJK-patch"/>
              </a:rPr>
              <a:t>TCP → Độ tin cậy.</a:t>
            </a:r>
          </a:p>
          <a:p>
            <a:pPr marL="742950" lvl="1" indent="-285750" algn="l">
              <a:buFont typeface="Arial" panose="020B0604020202020204" pitchFamily="34" charset="0"/>
              <a:buChar char="•"/>
            </a:pPr>
            <a:r>
              <a:rPr lang="vi-VN" b="0" i="0" dirty="0">
                <a:solidFill>
                  <a:srgbClr val="404040"/>
                </a:solidFill>
                <a:effectLst/>
                <a:latin typeface="DeepSeek-CJK-patch"/>
              </a:rPr>
              <a:t>UDP → Hiệu suất.</a:t>
            </a:r>
          </a:p>
          <a:p>
            <a:pPr algn="l">
              <a:buFont typeface="Arial" panose="020B0604020202020204" pitchFamily="34" charset="0"/>
              <a:buChar char="•"/>
            </a:pPr>
            <a:r>
              <a:rPr lang="vi-VN" b="1" i="0" dirty="0">
                <a:solidFill>
                  <a:srgbClr val="404040"/>
                </a:solidFill>
                <a:effectLst/>
                <a:latin typeface="DeepSeek-CJK-patch"/>
              </a:rPr>
              <a:t>Lựa chọn giao thức phụ thuộc vào yêu cầu ứng dụng</a:t>
            </a:r>
            <a:r>
              <a:rPr lang="vi-VN" b="0" i="0" dirty="0">
                <a:solidFill>
                  <a:srgbClr val="404040"/>
                </a:solidFill>
                <a:effectLst/>
                <a:latin typeface="DeepSeek-CJK-patch"/>
              </a:rPr>
              <a:t> (tốc độ vs. độ chính xác).</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4</a:t>
            </a:fld>
            <a:endParaRPr lang="en-US"/>
          </a:p>
        </p:txBody>
      </p:sp>
    </p:spTree>
    <p:extLst>
      <p:ext uri="{BB962C8B-B14F-4D97-AF65-F5344CB8AC3E}">
        <p14:creationId xmlns:p14="http://schemas.microsoft.com/office/powerpoint/2010/main" val="895675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Middleware Layer – Lớp trung gian</a:t>
            </a:r>
          </a:p>
          <a:p>
            <a:endParaRPr lang="en-US" b="1" dirty="0"/>
          </a:p>
          <a:p>
            <a:r>
              <a:rPr lang="vi-VN" b="1" dirty="0"/>
              <a:t>Observation – Nhận định chính:</a:t>
            </a:r>
          </a:p>
          <a:p>
            <a:r>
              <a:rPr lang="vi-VN" b="1" dirty="0"/>
              <a:t>Middleware</a:t>
            </a:r>
            <a:r>
              <a:rPr lang="vi-VN" dirty="0"/>
              <a:t> được phát minh ra để </a:t>
            </a:r>
            <a:r>
              <a:rPr lang="vi-VN" b="1" dirty="0"/>
              <a:t>cung cấp các dịch vụ và giao thức chung</a:t>
            </a:r>
            <a:r>
              <a:rPr lang="vi-VN" dirty="0"/>
              <a:t> có thể được </a:t>
            </a:r>
            <a:r>
              <a:rPr lang="vi-VN" b="1" dirty="0"/>
              <a:t>nhiều ứng dụng khác nhau</a:t>
            </a:r>
            <a:r>
              <a:rPr lang="vi-VN" dirty="0"/>
              <a:t> sử dụng, thay vì mỗi ứng dụng phải tự xây dựng lại những chức năng tương tự.</a:t>
            </a:r>
          </a:p>
          <a:p>
            <a:r>
              <a:rPr lang="vi-VN" dirty="0"/>
              <a:t>=&gt; Mục tiêu là </a:t>
            </a:r>
            <a:r>
              <a:rPr lang="vi-VN" b="1" dirty="0"/>
              <a:t>tái sử dụng</a:t>
            </a:r>
            <a:r>
              <a:rPr lang="vi-VN" dirty="0"/>
              <a:t>, </a:t>
            </a:r>
            <a:r>
              <a:rPr lang="vi-VN" b="1" dirty="0"/>
              <a:t>chuẩn hóa</a:t>
            </a:r>
            <a:r>
              <a:rPr lang="vi-VN" dirty="0"/>
              <a:t>, và </a:t>
            </a:r>
            <a:r>
              <a:rPr lang="vi-VN" b="1" dirty="0"/>
              <a:t>đơn giản hóa</a:t>
            </a:r>
            <a:r>
              <a:rPr lang="vi-VN" dirty="0"/>
              <a:t> việc xây dựng các hệ thống phân tán phức tạp.</a:t>
            </a:r>
          </a:p>
          <a:p>
            <a:endParaRPr lang="en-US" b="1" dirty="0"/>
          </a:p>
          <a:p>
            <a:r>
              <a:rPr lang="vi-VN" b="1" dirty="0"/>
              <a:t>Các chức năng chính của Middleware:</a:t>
            </a:r>
          </a:p>
          <a:p>
            <a:pPr>
              <a:buFont typeface="+mj-lt"/>
              <a:buAutoNum type="arabicPeriod"/>
            </a:pPr>
            <a:r>
              <a:rPr lang="vi-VN" b="1" dirty="0"/>
              <a:t>A rich set of communication protocols – Tập hợp phong phú các giao thức truyền thông</a:t>
            </a:r>
          </a:p>
          <a:p>
            <a:pPr marL="457200" lvl="1" indent="0">
              <a:buFont typeface="+mj-lt"/>
              <a:buNone/>
            </a:pPr>
            <a:r>
              <a:rPr lang="en-US" b="1" dirty="0"/>
              <a:t>- </a:t>
            </a:r>
            <a:r>
              <a:rPr lang="vi-VN" b="1" dirty="0"/>
              <a:t>Ví dụ:</a:t>
            </a:r>
            <a:r>
              <a:rPr lang="vi-VN" dirty="0"/>
              <a:t> </a:t>
            </a:r>
            <a:r>
              <a:rPr lang="vi-VN" i="1" dirty="0"/>
              <a:t>Remote Procedure Call (RPC)</a:t>
            </a:r>
            <a:r>
              <a:rPr lang="vi-VN" dirty="0"/>
              <a:t> – cho phép một tiến trình gọi thủ tục từ xa như thể nó là cục bộ.</a:t>
            </a:r>
          </a:p>
          <a:p>
            <a:pPr marL="457200" lvl="1" indent="0">
              <a:buFont typeface="+mj-lt"/>
              <a:buNone/>
            </a:pPr>
            <a:r>
              <a:rPr lang="en-US" dirty="0"/>
              <a:t>- </a:t>
            </a:r>
            <a:r>
              <a:rPr lang="vi-VN" dirty="0"/>
              <a:t>Cung cấp giao tiếp </a:t>
            </a:r>
            <a:r>
              <a:rPr lang="vi-VN" b="1" dirty="0"/>
              <a:t>mức cao</a:t>
            </a:r>
            <a:r>
              <a:rPr lang="vi-VN" dirty="0"/>
              <a:t>, không ràng buộc ứng dụng cụ thể → giúp hiện thực hóa </a:t>
            </a:r>
            <a:r>
              <a:rPr lang="vi-VN" b="1" dirty="0"/>
              <a:t>transparency</a:t>
            </a:r>
            <a:r>
              <a:rPr lang="vi-VN" dirty="0"/>
              <a:t> (ẩn chi tiết thực thi).</a:t>
            </a:r>
          </a:p>
          <a:p>
            <a:pPr>
              <a:buFont typeface="+mj-lt"/>
              <a:buAutoNum type="arabicPeriod"/>
            </a:pPr>
            <a:r>
              <a:rPr lang="en-US" b="1" dirty="0"/>
              <a:t> (</a:t>
            </a:r>
            <a:r>
              <a:rPr lang="vi-VN" b="1" dirty="0"/>
              <a:t>Un)marshaling of data – Gói và giải gói dữ liệu</a:t>
            </a:r>
          </a:p>
          <a:p>
            <a:pPr marL="457200" lvl="1" indent="0">
              <a:buFont typeface="+mj-lt"/>
              <a:buNone/>
            </a:pPr>
            <a:r>
              <a:rPr lang="en-US" dirty="0"/>
              <a:t>- </a:t>
            </a:r>
            <a:r>
              <a:rPr lang="vi-VN" dirty="0"/>
              <a:t>Cần thiết khi các tiến trình chạy trên </a:t>
            </a:r>
            <a:r>
              <a:rPr lang="vi-VN" b="1" dirty="0"/>
              <a:t>nền tảng khác nhau</a:t>
            </a:r>
            <a:r>
              <a:rPr lang="vi-VN" dirty="0"/>
              <a:t>, cần chuyển đổi dữ liệu về </a:t>
            </a:r>
            <a:r>
              <a:rPr lang="vi-VN" b="1" dirty="0"/>
              <a:t>định dạng chung</a:t>
            </a:r>
            <a:r>
              <a:rPr lang="vi-VN" dirty="0"/>
              <a:t> để hiểu nhau.</a:t>
            </a:r>
          </a:p>
          <a:p>
            <a:pPr marL="457200" lvl="1" indent="0">
              <a:buFont typeface="+mj-lt"/>
              <a:buNone/>
            </a:pPr>
            <a:r>
              <a:rPr lang="en-US" dirty="0"/>
              <a:t>- </a:t>
            </a:r>
            <a:r>
              <a:rPr lang="vi-VN" dirty="0"/>
              <a:t>Ví dụ: </a:t>
            </a:r>
            <a:r>
              <a:rPr lang="vi-VN" b="1" dirty="0"/>
              <a:t>truyền cấu trúc dữ liệu</a:t>
            </a:r>
            <a:r>
              <a:rPr lang="vi-VN" dirty="0"/>
              <a:t> qua mạng → phải chuyển đổi sang định dạng byte.</a:t>
            </a:r>
          </a:p>
          <a:p>
            <a:pPr>
              <a:buFont typeface="+mj-lt"/>
              <a:buAutoNum type="arabicPeriod"/>
            </a:pPr>
            <a:r>
              <a:rPr lang="vi-VN" b="1" dirty="0"/>
              <a:t>Naming protocols – Giao thức định danh</a:t>
            </a:r>
          </a:p>
          <a:p>
            <a:pPr marL="457200" lvl="1" indent="0">
              <a:buFont typeface="+mj-lt"/>
              <a:buNone/>
            </a:pPr>
            <a:r>
              <a:rPr lang="en-US" dirty="0"/>
              <a:t>- </a:t>
            </a:r>
            <a:r>
              <a:rPr lang="vi-VN" dirty="0"/>
              <a:t>Giúp </a:t>
            </a:r>
            <a:r>
              <a:rPr lang="vi-VN" b="1" dirty="0"/>
              <a:t>chia sẻ và truy cập tài nguyên dễ dàng</a:t>
            </a:r>
            <a:r>
              <a:rPr lang="vi-VN" dirty="0"/>
              <a:t> qua các tên dễ nhớ thay vì địa chỉ IP hay mã hóa phức tạp.</a:t>
            </a:r>
          </a:p>
          <a:p>
            <a:pPr marL="457200" lvl="1" indent="0">
              <a:buFont typeface="+mj-lt"/>
              <a:buNone/>
            </a:pPr>
            <a:r>
              <a:rPr lang="en-US" b="1" dirty="0"/>
              <a:t>- </a:t>
            </a:r>
            <a:r>
              <a:rPr lang="vi-VN" b="1" dirty="0"/>
              <a:t>Ví dụ:</a:t>
            </a:r>
            <a:r>
              <a:rPr lang="vi-VN" dirty="0"/>
              <a:t> </a:t>
            </a:r>
            <a:r>
              <a:rPr lang="vi-VN" i="1" dirty="0"/>
              <a:t>DNS</a:t>
            </a:r>
            <a:r>
              <a:rPr lang="vi-VN" dirty="0"/>
              <a:t> – ánh xạ tên miền (ví dụ: www.example.com) sang địa chỉ IP → là một </a:t>
            </a:r>
            <a:r>
              <a:rPr lang="vi-VN" b="1" dirty="0"/>
              <a:t>giao thức tầng middleware</a:t>
            </a:r>
            <a:r>
              <a:rPr lang="vi-VN" dirty="0"/>
              <a:t> dù được xếp vào ứng dụng trong mô hình OSI.</a:t>
            </a:r>
          </a:p>
          <a:p>
            <a:pPr>
              <a:buFont typeface="+mj-lt"/>
              <a:buAutoNum type="arabicPeriod"/>
            </a:pPr>
            <a:r>
              <a:rPr lang="en-US" b="1" dirty="0"/>
              <a:t> </a:t>
            </a:r>
            <a:r>
              <a:rPr lang="vi-VN" b="1" dirty="0"/>
              <a:t>Security protocols – Giao thức bảo mật</a:t>
            </a:r>
          </a:p>
          <a:p>
            <a:pPr marL="457200" lvl="1" indent="0">
              <a:buFont typeface="+mj-lt"/>
              <a:buNone/>
            </a:pPr>
            <a:r>
              <a:rPr lang="en-US" dirty="0"/>
              <a:t>- </a:t>
            </a:r>
            <a:r>
              <a:rPr lang="vi-VN" dirty="0"/>
              <a:t>Bao gồm:</a:t>
            </a:r>
          </a:p>
          <a:p>
            <a:pPr marL="914400" lvl="2" indent="0">
              <a:buFont typeface="+mj-lt"/>
              <a:buNone/>
            </a:pPr>
            <a:r>
              <a:rPr lang="en-US" b="1" dirty="0"/>
              <a:t>+ </a:t>
            </a:r>
            <a:r>
              <a:rPr lang="vi-VN" b="1" dirty="0"/>
              <a:t>Authentication</a:t>
            </a:r>
            <a:r>
              <a:rPr lang="vi-VN" dirty="0"/>
              <a:t>: xác minh danh tính (ai đang truy cập?)</a:t>
            </a:r>
          </a:p>
          <a:p>
            <a:pPr marL="914400" lvl="2" indent="0">
              <a:buFont typeface="+mj-lt"/>
              <a:buNone/>
            </a:pPr>
            <a:r>
              <a:rPr lang="en-US" b="1" dirty="0"/>
              <a:t>+ </a:t>
            </a:r>
            <a:r>
              <a:rPr lang="vi-VN" b="1" dirty="0"/>
              <a:t>Authorization</a:t>
            </a:r>
            <a:r>
              <a:rPr lang="vi-VN" dirty="0"/>
              <a:t>: kiểm tra quyền truy cập tài nguyên</a:t>
            </a:r>
          </a:p>
          <a:p>
            <a:pPr marL="457200" lvl="1" indent="0">
              <a:buFont typeface="+mj-lt"/>
              <a:buNone/>
            </a:pPr>
            <a:r>
              <a:rPr lang="en-US" dirty="0"/>
              <a:t>- </a:t>
            </a:r>
            <a:r>
              <a:rPr lang="vi-VN" dirty="0"/>
              <a:t>Ví dụ: Giao thức chứng thực có thể được </a:t>
            </a:r>
            <a:r>
              <a:rPr lang="vi-VN" b="1" dirty="0"/>
              <a:t>tái sử dụng bởi nhiều ứng dụng</a:t>
            </a:r>
            <a:r>
              <a:rPr lang="vi-VN" dirty="0"/>
              <a:t>, không gắn với một ứng dụng cụ thể → đặt trong middleware.</a:t>
            </a:r>
          </a:p>
          <a:p>
            <a:pPr>
              <a:buFont typeface="+mj-lt"/>
              <a:buAutoNum type="arabicPeriod"/>
            </a:pPr>
            <a:r>
              <a:rPr lang="en-US" b="1" dirty="0"/>
              <a:t> </a:t>
            </a:r>
            <a:r>
              <a:rPr lang="vi-VN" b="1" dirty="0"/>
              <a:t>Scaling mechanisms – Cơ chế mở rộng</a:t>
            </a:r>
          </a:p>
          <a:p>
            <a:pPr marL="457200" lvl="1" indent="0">
              <a:buFont typeface="+mj-lt"/>
              <a:buNone/>
            </a:pPr>
            <a:r>
              <a:rPr lang="en-US" dirty="0"/>
              <a:t>- </a:t>
            </a:r>
            <a:r>
              <a:rPr lang="vi-VN" dirty="0"/>
              <a:t>Đảm bảo hệ thống phân tán hoạt động tốt khi </a:t>
            </a:r>
            <a:r>
              <a:rPr lang="vi-VN" b="1" dirty="0"/>
              <a:t>tăng số lượng người dùng hoặc thiết bị</a:t>
            </a:r>
            <a:r>
              <a:rPr lang="vi-VN" dirty="0"/>
              <a:t>:</a:t>
            </a:r>
          </a:p>
          <a:p>
            <a:pPr marL="914400" lvl="2" indent="0">
              <a:buFont typeface="+mj-lt"/>
              <a:buNone/>
            </a:pPr>
            <a:r>
              <a:rPr lang="en-US" b="1" dirty="0"/>
              <a:t>+ </a:t>
            </a:r>
            <a:r>
              <a:rPr lang="vi-VN" b="1" dirty="0"/>
              <a:t>Replication</a:t>
            </a:r>
            <a:r>
              <a:rPr lang="vi-VN" dirty="0"/>
              <a:t>: sao chép dữ liệu hoặc dịch vụ để tăng hiệu suất và độ sẵn sàng.</a:t>
            </a:r>
          </a:p>
          <a:p>
            <a:pPr marL="914400" lvl="2" indent="0">
              <a:buFont typeface="+mj-lt"/>
              <a:buNone/>
            </a:pPr>
            <a:r>
              <a:rPr lang="en-US" b="1" dirty="0"/>
              <a:t>+ </a:t>
            </a:r>
            <a:r>
              <a:rPr lang="vi-VN" b="1" dirty="0"/>
              <a:t>Caching</a:t>
            </a:r>
            <a:r>
              <a:rPr lang="vi-VN" dirty="0"/>
              <a:t>: lưu trữ tạm dữ liệu để giảm tải truy xuất.</a:t>
            </a:r>
          </a:p>
          <a:p>
            <a:endParaRPr lang="en-US" b="1" dirty="0"/>
          </a:p>
          <a:p>
            <a:r>
              <a:rPr lang="vi-VN" b="1" dirty="0"/>
              <a:t>Note: What remains are truly application-specific protocols... such as?</a:t>
            </a:r>
          </a:p>
          <a:p>
            <a:r>
              <a:rPr lang="vi-VN" dirty="0"/>
              <a:t>Ý nói rằng: </a:t>
            </a:r>
            <a:r>
              <a:rPr lang="vi-VN" b="1" dirty="0"/>
              <a:t>mọi thứ chung đã được middleware xử lý</a:t>
            </a:r>
            <a:r>
              <a:rPr lang="vi-VN" dirty="0"/>
              <a:t>, những gì còn lại là các </a:t>
            </a:r>
            <a:r>
              <a:rPr lang="vi-VN" b="1" dirty="0"/>
              <a:t>giao thức đặc thù riêng cho ứng dụng cụ thể</a:t>
            </a:r>
            <a:r>
              <a:rPr lang="vi-VN" dirty="0"/>
              <a:t>.</a:t>
            </a:r>
          </a:p>
          <a:p>
            <a:r>
              <a:rPr lang="en-US" dirty="0"/>
              <a:t>=&gt; </a:t>
            </a:r>
            <a:r>
              <a:rPr lang="vi-VN" dirty="0"/>
              <a:t>Ví dụ:</a:t>
            </a:r>
          </a:p>
          <a:p>
            <a:pPr>
              <a:buFont typeface="Arial" panose="020B0604020202020204" pitchFamily="34" charset="0"/>
              <a:buChar char="•"/>
            </a:pPr>
            <a:r>
              <a:rPr lang="vi-VN" dirty="0"/>
              <a:t>Giao thức </a:t>
            </a:r>
            <a:r>
              <a:rPr lang="vi-VN" b="1" dirty="0"/>
              <a:t>gửi tin nhắn</a:t>
            </a:r>
            <a:r>
              <a:rPr lang="vi-VN" dirty="0"/>
              <a:t> trong ứng dụng chat.</a:t>
            </a:r>
          </a:p>
          <a:p>
            <a:pPr>
              <a:buFont typeface="Arial" panose="020B0604020202020204" pitchFamily="34" charset="0"/>
              <a:buChar char="•"/>
            </a:pPr>
            <a:r>
              <a:rPr lang="vi-VN" dirty="0"/>
              <a:t>Giao thức </a:t>
            </a:r>
            <a:r>
              <a:rPr lang="vi-VN" b="1" dirty="0"/>
              <a:t>chơi game nhiều người chơi</a:t>
            </a:r>
            <a:r>
              <a:rPr lang="vi-VN" dirty="0"/>
              <a:t> thời gian thực.</a:t>
            </a:r>
          </a:p>
          <a:p>
            <a:pPr>
              <a:buFont typeface="Arial" panose="020B0604020202020204" pitchFamily="34" charset="0"/>
              <a:buChar char="•"/>
            </a:pPr>
            <a:r>
              <a:rPr lang="vi-VN" dirty="0"/>
              <a:t>Giao thức </a:t>
            </a:r>
            <a:r>
              <a:rPr lang="vi-VN" b="1" dirty="0"/>
              <a:t>đồng bộ lịch</a:t>
            </a:r>
            <a:r>
              <a:rPr lang="vi-VN" dirty="0"/>
              <a:t> trong ứng dụng quản lý cá nhân.</a:t>
            </a:r>
          </a:p>
          <a:p>
            <a:r>
              <a:rPr lang="vi-VN" dirty="0"/>
              <a:t>Những thứ này </a:t>
            </a:r>
            <a:r>
              <a:rPr lang="vi-VN" b="1" dirty="0"/>
              <a:t>không thể tái sử dụng rộng rãi</a:t>
            </a:r>
            <a:r>
              <a:rPr lang="vi-VN" dirty="0"/>
              <a:t> và </a:t>
            </a:r>
            <a:r>
              <a:rPr lang="vi-VN" b="1" dirty="0"/>
              <a:t>gắn chặt với logic nghiệp vụ</a:t>
            </a:r>
            <a:r>
              <a:rPr lang="vi-VN" dirty="0"/>
              <a:t> của ứng dụng đó.</a:t>
            </a:r>
          </a:p>
          <a:p>
            <a:endParaRPr lang="en-US" b="1" dirty="0"/>
          </a:p>
          <a:p>
            <a:r>
              <a:rPr lang="vi-VN" b="1" dirty="0"/>
              <a:t>Tóm lại:</a:t>
            </a:r>
          </a:p>
          <a:p>
            <a:r>
              <a:rPr lang="vi-VN" dirty="0"/>
              <a:t>Middleware là </a:t>
            </a:r>
            <a:r>
              <a:rPr lang="vi-VN" b="1" dirty="0"/>
              <a:t>cầu nối giữa hệ điều hành và ứng dụng</a:t>
            </a:r>
            <a:r>
              <a:rPr lang="vi-VN" dirty="0"/>
              <a:t>, cung cấp các giao thức, dịch vụ phổ biến như bảo mật, đặt tên, truyền thông, giúp </a:t>
            </a:r>
            <a:r>
              <a:rPr lang="vi-VN" b="1" dirty="0"/>
              <a:t>ứng dụng tập trung vào phần việc riêng biệt của mình</a:t>
            </a:r>
            <a:r>
              <a:rPr lang="vi-VN" dirty="0"/>
              <a:t> mà không cần lo các chi tiết phức tạp ở tầng dưới.</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5</a:t>
            </a:fld>
            <a:endParaRPr lang="en-US"/>
          </a:p>
        </p:txBody>
      </p:sp>
    </p:spTree>
    <p:extLst>
      <p:ext uri="{BB962C8B-B14F-4D97-AF65-F5344CB8AC3E}">
        <p14:creationId xmlns:p14="http://schemas.microsoft.com/office/powerpoint/2010/main" val="3558605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An Adapted Layering Scheme – Mô hình phân lớp thích ứng</a:t>
            </a:r>
          </a:p>
          <a:p>
            <a:r>
              <a:rPr lang="vi-VN" b="1" dirty="0"/>
              <a:t>Nhận định chính:</a:t>
            </a:r>
          </a:p>
          <a:p>
            <a:r>
              <a:rPr lang="vi-VN" dirty="0"/>
              <a:t>Hình này mô tả một </a:t>
            </a:r>
            <a:r>
              <a:rPr lang="vi-VN" b="1" dirty="0"/>
              <a:t>mô hình phân lớp đơn giản hóa</a:t>
            </a:r>
            <a:r>
              <a:rPr lang="vi-VN" dirty="0"/>
              <a:t>, được </a:t>
            </a:r>
            <a:r>
              <a:rPr lang="vi-VN" b="1" dirty="0"/>
              <a:t>điều chỉnh từ mô hình OSI</a:t>
            </a:r>
            <a:r>
              <a:rPr lang="vi-VN" dirty="0"/>
              <a:t>, để phù hợp hơn với thực tế trong các hệ thống phân tán hiện đại – đặc biệt là khi nói về vai trò của </a:t>
            </a:r>
            <a:r>
              <a:rPr lang="vi-VN" b="1" dirty="0"/>
              <a:t>middleware</a:t>
            </a:r>
            <a:r>
              <a:rPr lang="vi-VN" dirty="0"/>
              <a:t>.</a:t>
            </a:r>
          </a:p>
          <a:p>
            <a:endParaRPr lang="en-US" b="1" dirty="0"/>
          </a:p>
          <a:p>
            <a:r>
              <a:rPr lang="vi-VN" b="1" dirty="0"/>
              <a:t>Giải thích từng lớp trong sơ đồ:</a:t>
            </a:r>
          </a:p>
          <a:p>
            <a:pPr marL="171450" indent="-171450">
              <a:buFontTx/>
              <a:buChar char="-"/>
            </a:pPr>
            <a:r>
              <a:rPr lang="vi-VN" b="1" dirty="0"/>
              <a:t>Application</a:t>
            </a:r>
            <a:r>
              <a:rPr lang="en-US" b="1" dirty="0"/>
              <a:t>:</a:t>
            </a:r>
          </a:p>
          <a:p>
            <a:pPr marL="0" indent="0">
              <a:buFontTx/>
              <a:buNone/>
            </a:pPr>
            <a:r>
              <a:rPr lang="en-US" b="1" dirty="0"/>
              <a:t>	+ </a:t>
            </a:r>
            <a:r>
              <a:rPr lang="vi-VN" dirty="0"/>
              <a:t>Chứa logic nghiệp vụ cụ thể của từng ứng dụng. Dùng các </a:t>
            </a:r>
            <a:r>
              <a:rPr lang="vi-VN" b="1" dirty="0"/>
              <a:t>application protocol</a:t>
            </a:r>
            <a:r>
              <a:rPr lang="vi-VN" dirty="0"/>
              <a:t> như HTTP, SMTP, v.v.</a:t>
            </a:r>
            <a:endParaRPr lang="en-US" dirty="0"/>
          </a:p>
          <a:p>
            <a:pPr marL="0" indent="0">
              <a:buFontTx/>
              <a:buNone/>
            </a:pPr>
            <a:r>
              <a:rPr lang="en-US" dirty="0"/>
              <a:t>	+ </a:t>
            </a:r>
            <a:r>
              <a:rPr lang="vi-VN" dirty="0"/>
              <a:t>Ứng với tầng Application trong OSI</a:t>
            </a:r>
            <a:endParaRPr lang="en-US" dirty="0"/>
          </a:p>
          <a:p>
            <a:pPr marL="171450" indent="-171450">
              <a:buFontTx/>
              <a:buChar char="-"/>
            </a:pPr>
            <a:r>
              <a:rPr lang="vi-VN" b="1" dirty="0"/>
              <a:t>Middleware</a:t>
            </a:r>
            <a:r>
              <a:rPr lang="en-US" b="1" dirty="0"/>
              <a:t>:</a:t>
            </a:r>
          </a:p>
          <a:p>
            <a:pPr marL="0" indent="0">
              <a:buFontTx/>
              <a:buNone/>
            </a:pPr>
            <a:r>
              <a:rPr lang="en-US" b="1" dirty="0"/>
              <a:t>	+ </a:t>
            </a:r>
            <a:r>
              <a:rPr lang="vi-VN" b="1" dirty="0"/>
              <a:t>Lớp mới được thêm vào</a:t>
            </a:r>
            <a:r>
              <a:rPr lang="vi-VN" dirty="0"/>
              <a:t>, cung cấp các </a:t>
            </a:r>
            <a:r>
              <a:rPr lang="vi-VN" b="1" dirty="0"/>
              <a:t>dịch vụ độc lập với ứng dụng</a:t>
            </a:r>
            <a:r>
              <a:rPr lang="vi-VN" dirty="0"/>
              <a:t>, như: </a:t>
            </a:r>
            <a:br>
              <a:rPr lang="vi-VN" dirty="0"/>
            </a:br>
            <a:r>
              <a:rPr lang="en-US" dirty="0"/>
              <a:t>		. </a:t>
            </a:r>
            <a:r>
              <a:rPr lang="vi-VN" dirty="0"/>
              <a:t>Remote Procedure Call (RPC)</a:t>
            </a:r>
            <a:br>
              <a:rPr lang="vi-VN" dirty="0"/>
            </a:br>
            <a:r>
              <a:rPr lang="en-US" dirty="0"/>
              <a:t>		. </a:t>
            </a:r>
            <a:r>
              <a:rPr lang="vi-VN" dirty="0"/>
              <a:t>Stream synchronization</a:t>
            </a:r>
            <a:br>
              <a:rPr lang="vi-VN" dirty="0"/>
            </a:br>
            <a:r>
              <a:rPr lang="en-US" dirty="0"/>
              <a:t>		. </a:t>
            </a:r>
            <a:r>
              <a:rPr lang="vi-VN" dirty="0"/>
              <a:t>Reliable multicast</a:t>
            </a:r>
            <a:endParaRPr lang="en-US" dirty="0"/>
          </a:p>
          <a:p>
            <a:pPr marL="0" indent="0">
              <a:buFontTx/>
              <a:buNone/>
            </a:pPr>
            <a:r>
              <a:rPr lang="en-US" dirty="0"/>
              <a:t>	+ </a:t>
            </a:r>
            <a:r>
              <a:rPr lang="vi-VN" b="1" dirty="0"/>
              <a:t>Thay thế tầng Presentation và Session</a:t>
            </a:r>
            <a:r>
              <a:rPr lang="vi-VN" dirty="0"/>
              <a:t> trong OSI, nhằm xử lý giao tiếp cấp cao một cách </a:t>
            </a:r>
            <a:r>
              <a:rPr lang="vi-VN" b="1" dirty="0"/>
              <a:t>tái sử dụng và trong suốt (transparency)</a:t>
            </a:r>
            <a:endParaRPr lang="en-US" b="1" dirty="0"/>
          </a:p>
          <a:p>
            <a:pPr marL="171450" indent="-171450">
              <a:buFontTx/>
              <a:buChar char="-"/>
            </a:pPr>
            <a:r>
              <a:rPr lang="vi-VN" b="1" dirty="0"/>
              <a:t>Operating System</a:t>
            </a:r>
            <a:r>
              <a:rPr lang="en-US" b="1" dirty="0"/>
              <a:t>:</a:t>
            </a:r>
          </a:p>
          <a:p>
            <a:pPr marL="457200" lvl="1" indent="0">
              <a:buFontTx/>
              <a:buNone/>
            </a:pPr>
            <a:r>
              <a:rPr lang="en-US" b="1" dirty="0"/>
              <a:t>	+ </a:t>
            </a:r>
            <a:r>
              <a:rPr lang="vi-VN" dirty="0"/>
              <a:t>Cung cấp các dịch vụ truyền thông mức thấp (communication services), ví dụ như </a:t>
            </a:r>
            <a:r>
              <a:rPr lang="vi-VN" b="1" dirty="0"/>
              <a:t>TCP/IP stack</a:t>
            </a:r>
            <a:endParaRPr lang="en-US" b="1" dirty="0"/>
          </a:p>
          <a:p>
            <a:pPr marL="457200" lvl="1" indent="0">
              <a:buFontTx/>
              <a:buNone/>
            </a:pPr>
            <a:r>
              <a:rPr lang="en-US" b="1" dirty="0"/>
              <a:t>	+ </a:t>
            </a:r>
            <a:r>
              <a:rPr lang="vi-VN" dirty="0"/>
              <a:t>Gộp chung tầng Network và Transport của</a:t>
            </a:r>
            <a:r>
              <a:rPr lang="en-US" dirty="0"/>
              <a:t> OSI</a:t>
            </a:r>
            <a:endParaRPr lang="vi-VN" dirty="0"/>
          </a:p>
          <a:p>
            <a:pPr marL="171450" indent="-171450">
              <a:buFontTx/>
              <a:buChar char="-"/>
            </a:pPr>
            <a:r>
              <a:rPr lang="vi-VN" b="1" dirty="0"/>
              <a:t>Hardware</a:t>
            </a:r>
            <a:r>
              <a:rPr lang="en-US" b="1" dirty="0"/>
              <a:t>:</a:t>
            </a:r>
          </a:p>
          <a:p>
            <a:pPr marL="457200" lvl="1" indent="0">
              <a:buFontTx/>
              <a:buNone/>
            </a:pPr>
            <a:r>
              <a:rPr lang="en-US" b="1" dirty="0"/>
              <a:t>	+ </a:t>
            </a:r>
            <a:r>
              <a:rPr lang="vi-VN" dirty="0"/>
              <a:t>Xử lý truyền thông vật lý: Ethernet, Wi-Fi, cáp quang...</a:t>
            </a:r>
            <a:endParaRPr lang="en-US" dirty="0"/>
          </a:p>
          <a:p>
            <a:pPr marL="457200" lvl="1" indent="0">
              <a:buFontTx/>
              <a:buNone/>
            </a:pPr>
            <a:r>
              <a:rPr lang="en-US" dirty="0"/>
              <a:t>	+ </a:t>
            </a:r>
            <a:r>
              <a:rPr lang="vi-VN" dirty="0"/>
              <a:t>Bao gồm tầng Physical và Data Link trong OSI</a:t>
            </a:r>
            <a:endParaRPr lang="en-US" b="1" dirty="0"/>
          </a:p>
          <a:p>
            <a:pPr marL="457200" lvl="1" indent="0">
              <a:buFontTx/>
              <a:buNone/>
            </a:pPr>
            <a:r>
              <a:rPr lang="en-US" b="1" dirty="0"/>
              <a:t>	</a:t>
            </a:r>
            <a:r>
              <a:rPr lang="vi-VN" dirty="0"/>
              <a:t> </a:t>
            </a:r>
            <a:endParaRPr lang="en-US" b="1" dirty="0"/>
          </a:p>
          <a:p>
            <a:r>
              <a:rPr lang="vi-VN" b="1" dirty="0"/>
              <a:t>Tóm tắt ý nghĩa hình vẽ:</a:t>
            </a:r>
          </a:p>
          <a:p>
            <a:pPr>
              <a:buFont typeface="Arial" panose="020B0604020202020204" pitchFamily="34" charset="0"/>
              <a:buChar char="•"/>
            </a:pPr>
            <a:r>
              <a:rPr lang="vi-VN" dirty="0"/>
              <a:t>Đây là một mô hình </a:t>
            </a:r>
            <a:r>
              <a:rPr lang="vi-VN" b="1" dirty="0"/>
              <a:t>thực tế hóa</a:t>
            </a:r>
            <a:r>
              <a:rPr lang="vi-VN" dirty="0"/>
              <a:t>, đơn giản và rõ ràng hơn so với OSI.</a:t>
            </a:r>
          </a:p>
          <a:p>
            <a:pPr>
              <a:buFont typeface="Arial" panose="020B0604020202020204" pitchFamily="34" charset="0"/>
              <a:buChar char="•"/>
            </a:pPr>
            <a:r>
              <a:rPr lang="vi-VN" b="1" dirty="0"/>
              <a:t>Middleware trở thành lớp riêng</a:t>
            </a:r>
            <a:r>
              <a:rPr lang="vi-VN" dirty="0"/>
              <a:t>, chứa các giao thức dùng chung, </a:t>
            </a:r>
            <a:r>
              <a:rPr lang="vi-VN" b="1" dirty="0"/>
              <a:t>độc lập với ứng dụng</a:t>
            </a:r>
            <a:r>
              <a:rPr lang="vi-VN" dirty="0"/>
              <a:t>, đặc biệt quan trọng trong hệ thống phân tán.</a:t>
            </a:r>
          </a:p>
          <a:p>
            <a:pPr>
              <a:buFont typeface="Arial" panose="020B0604020202020204" pitchFamily="34" charset="0"/>
              <a:buChar char="•"/>
            </a:pPr>
            <a:r>
              <a:rPr lang="vi-VN" dirty="0"/>
              <a:t>Các lớp vẫn tương tác "ngang hàng" thông qua </a:t>
            </a:r>
            <a:r>
              <a:rPr lang="vi-VN" b="1" dirty="0"/>
              <a:t>các loại giao thức ở từng tầng</a:t>
            </a:r>
            <a:r>
              <a:rPr lang="vi-VN" dirty="0"/>
              <a:t> (dashed arrows trong hình).</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6</a:t>
            </a:fld>
            <a:endParaRPr lang="en-US"/>
          </a:p>
        </p:txBody>
      </p:sp>
    </p:spTree>
    <p:extLst>
      <p:ext uri="{BB962C8B-B14F-4D97-AF65-F5344CB8AC3E}">
        <p14:creationId xmlns:p14="http://schemas.microsoft.com/office/powerpoint/2010/main" val="3986264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phần còn lại của chương này, chúng ta sẽ tập trung vào các dịch vụ truyền thông ở tầng middleware cấp cao. Trước khi đi sâu vào vấn đề đó, chúng ta cần xét đến một số tiêu chí tổng quát khác để phân biệt các hình thức truyền thông (trong middleware).</a:t>
            </a:r>
          </a:p>
          <a:p>
            <a:r>
              <a:rPr lang="vi-VN" dirty="0"/>
              <a:t>Để hiểu được các lựa chọn khác nhau trong truyền thông mà middleware có thể cung cấp cho các ứng dụng, ta có thể hình dung middleware như một dịch vụ bổ sung trong mô hình điện toán client-server, như minh họa trong Hình.</a:t>
            </a:r>
            <a:endParaRPr lang="en-US" dirty="0"/>
          </a:p>
          <a:p>
            <a:endParaRPr lang="en-US" dirty="0"/>
          </a:p>
          <a:p>
            <a:r>
              <a:rPr lang="en-US" dirty="0" err="1"/>
              <a:t>Chúng</a:t>
            </a:r>
            <a:r>
              <a:rPr lang="en-US" dirty="0"/>
              <a:t> ta </a:t>
            </a:r>
            <a:r>
              <a:rPr lang="en-US" dirty="0" err="1"/>
              <a:t>sẽ</a:t>
            </a:r>
            <a:r>
              <a:rPr lang="en-US" dirty="0"/>
              <a:t> </a:t>
            </a:r>
            <a:r>
              <a:rPr lang="en-US" dirty="0" err="1"/>
              <a:t>đi</a:t>
            </a:r>
            <a:r>
              <a:rPr lang="en-US" dirty="0"/>
              <a:t> </a:t>
            </a:r>
            <a:r>
              <a:rPr lang="en-US" dirty="0" err="1"/>
              <a:t>tìm</a:t>
            </a:r>
            <a:r>
              <a:rPr lang="en-US" dirty="0"/>
              <a:t> </a:t>
            </a:r>
            <a:r>
              <a:rPr lang="en-US" dirty="0" err="1"/>
              <a:t>hiểu</a:t>
            </a:r>
            <a:r>
              <a:rPr lang="en-US" dirty="0"/>
              <a:t> </a:t>
            </a:r>
            <a:r>
              <a:rPr lang="en-US" dirty="0" err="1"/>
              <a:t>và</a:t>
            </a:r>
            <a:r>
              <a:rPr lang="en-US" dirty="0"/>
              <a:t> </a:t>
            </a:r>
            <a:r>
              <a:rPr lang="en-US" dirty="0" err="1"/>
              <a:t>phân</a:t>
            </a:r>
            <a:r>
              <a:rPr lang="en-US" dirty="0"/>
              <a:t> </a:t>
            </a:r>
            <a:r>
              <a:rPr lang="en-US" dirty="0" err="1"/>
              <a:t>biệt</a:t>
            </a:r>
            <a:r>
              <a:rPr lang="en-US" dirty="0"/>
              <a:t> </a:t>
            </a:r>
            <a:r>
              <a:rPr lang="en-US" dirty="0" err="1"/>
              <a:t>truyền</a:t>
            </a:r>
            <a:r>
              <a:rPr lang="en-US" dirty="0"/>
              <a:t> </a:t>
            </a:r>
            <a:r>
              <a:rPr lang="en-US" dirty="0" err="1"/>
              <a:t>thông</a:t>
            </a:r>
            <a:r>
              <a:rPr lang="en-US" dirty="0"/>
              <a:t> </a:t>
            </a:r>
            <a:r>
              <a:rPr lang="en-US" b="1" dirty="0" err="1"/>
              <a:t>bền</a:t>
            </a:r>
            <a:r>
              <a:rPr lang="en-US" b="1" dirty="0"/>
              <a:t> </a:t>
            </a:r>
            <a:r>
              <a:rPr lang="en-US" b="1" dirty="0" err="1"/>
              <a:t>vững</a:t>
            </a:r>
            <a:r>
              <a:rPr lang="en-US" b="1" dirty="0"/>
              <a:t> </a:t>
            </a:r>
            <a:r>
              <a:rPr lang="en-US" b="0" dirty="0"/>
              <a:t> </a:t>
            </a:r>
            <a:r>
              <a:rPr lang="en-US" b="0" dirty="0" err="1"/>
              <a:t>và</a:t>
            </a:r>
            <a:r>
              <a:rPr lang="en-US" b="0" dirty="0"/>
              <a:t> </a:t>
            </a:r>
            <a:r>
              <a:rPr lang="en-US" b="0" dirty="0" err="1"/>
              <a:t>truyền</a:t>
            </a:r>
            <a:r>
              <a:rPr lang="en-US" b="0" dirty="0"/>
              <a:t> </a:t>
            </a:r>
            <a:r>
              <a:rPr lang="en-US" b="0" dirty="0" err="1"/>
              <a:t>thông</a:t>
            </a:r>
            <a:r>
              <a:rPr lang="en-US" b="0" dirty="0"/>
              <a:t> </a:t>
            </a:r>
            <a:r>
              <a:rPr lang="en-US" b="1" dirty="0" err="1"/>
              <a:t>tạm</a:t>
            </a:r>
            <a:r>
              <a:rPr lang="en-US" b="1" dirty="0"/>
              <a:t> </a:t>
            </a:r>
            <a:r>
              <a:rPr lang="en-US" b="1" dirty="0" err="1"/>
              <a:t>thời</a:t>
            </a:r>
            <a:r>
              <a:rPr lang="en-US" b="1" dirty="0"/>
              <a:t>.</a:t>
            </a:r>
          </a:p>
          <a:p>
            <a:r>
              <a:rPr lang="en-US" b="0" dirty="0" err="1"/>
              <a:t>Ngoài</a:t>
            </a:r>
            <a:r>
              <a:rPr lang="en-US" b="0" dirty="0"/>
              <a:t> </a:t>
            </a:r>
            <a:r>
              <a:rPr lang="en-US" b="0" dirty="0" err="1"/>
              <a:t>ra</a:t>
            </a:r>
            <a:r>
              <a:rPr lang="en-US" b="0" dirty="0"/>
              <a:t> </a:t>
            </a:r>
            <a:r>
              <a:rPr lang="en-US" b="0" dirty="0" err="1"/>
              <a:t>chúng</a:t>
            </a:r>
            <a:r>
              <a:rPr lang="en-US" b="0" dirty="0"/>
              <a:t> ta  </a:t>
            </a:r>
            <a:r>
              <a:rPr lang="en-US" b="0" dirty="0" err="1"/>
              <a:t>cũng</a:t>
            </a:r>
            <a:r>
              <a:rPr lang="en-US" b="0" dirty="0"/>
              <a:t> </a:t>
            </a:r>
            <a:r>
              <a:rPr lang="en-US" b="0" dirty="0" err="1"/>
              <a:t>phân</a:t>
            </a:r>
            <a:r>
              <a:rPr lang="en-US" b="0" dirty="0"/>
              <a:t> </a:t>
            </a:r>
            <a:r>
              <a:rPr lang="en-US" b="0" dirty="0" err="1"/>
              <a:t>biệt</a:t>
            </a:r>
            <a:r>
              <a:rPr lang="en-US" b="0" dirty="0"/>
              <a:t> </a:t>
            </a:r>
            <a:r>
              <a:rPr lang="en-US" b="0" dirty="0" err="1"/>
              <a:t>truyền</a:t>
            </a:r>
            <a:r>
              <a:rPr lang="en-US" b="0" dirty="0"/>
              <a:t> </a:t>
            </a:r>
            <a:r>
              <a:rPr lang="en-US" b="0" dirty="0" err="1"/>
              <a:t>thông</a:t>
            </a:r>
            <a:r>
              <a:rPr lang="en-US" b="0" dirty="0"/>
              <a:t> </a:t>
            </a:r>
            <a:r>
              <a:rPr lang="en-US" b="1" dirty="0" err="1"/>
              <a:t>đồng</a:t>
            </a:r>
            <a:r>
              <a:rPr lang="en-US" b="1" dirty="0"/>
              <a:t> </a:t>
            </a:r>
            <a:r>
              <a:rPr lang="en-US" b="1" dirty="0" err="1"/>
              <a:t>bộ</a:t>
            </a:r>
            <a:r>
              <a:rPr lang="en-US" b="1" dirty="0"/>
              <a:t> </a:t>
            </a:r>
            <a:r>
              <a:rPr lang="en-US" b="0" dirty="0" err="1"/>
              <a:t>và</a:t>
            </a:r>
            <a:r>
              <a:rPr lang="en-US" b="0" dirty="0"/>
              <a:t> </a:t>
            </a:r>
            <a:r>
              <a:rPr lang="en-US" b="1" dirty="0" err="1"/>
              <a:t>bất</a:t>
            </a:r>
            <a:r>
              <a:rPr lang="en-US" b="1" dirty="0"/>
              <a:t> </a:t>
            </a:r>
            <a:r>
              <a:rPr lang="en-US" b="1" dirty="0" err="1"/>
              <a:t>đồng</a:t>
            </a:r>
            <a:r>
              <a:rPr lang="en-US" b="1" dirty="0"/>
              <a:t> </a:t>
            </a:r>
            <a:r>
              <a:rPr lang="en-US" b="1" dirty="0" err="1"/>
              <a:t>bộ</a:t>
            </a:r>
            <a:r>
              <a:rPr lang="en-US" b="1" dirty="0"/>
              <a:t>.</a:t>
            </a:r>
            <a:endParaRPr lang="vi-VN" b="0" dirty="0"/>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7</a:t>
            </a:fld>
            <a:endParaRPr lang="en-US"/>
          </a:p>
        </p:txBody>
      </p:sp>
    </p:spTree>
    <p:extLst>
      <p:ext uri="{BB962C8B-B14F-4D97-AF65-F5344CB8AC3E}">
        <p14:creationId xmlns:p14="http://schemas.microsoft.com/office/powerpoint/2010/main" val="748251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Hãy xét ví dụ về hệ thống thư điện tử (email). Về nguyên tắc, lõi của hệ thống chuyển thư có thể được xem là một dịch vụ truyền thông của middleware. Mỗi máy chủ sẽ chạy một tác nhân người dùng (user agent), cho phép người dùng soạn, gửi và nhận email. Một tác nhân gửi sẽ chuyển thư đến hệ thống chuyển thư, và kỳ vọng rằng hệ thống này cuối cùng sẽ gửi thư đến đúng người nhận. Tương tự, tác nhân ở phía người nhận sẽ kết nối với hệ thống chuyển thư để kiểm tra xem có thư mới hay không. Nếu có, các tin nhắn sẽ được chuyển đến tác nhân người dùng để hiển thị và đọc.</a:t>
            </a:r>
          </a:p>
          <a:p>
            <a:endParaRPr lang="en-US" dirty="0"/>
          </a:p>
          <a:p>
            <a:r>
              <a:rPr lang="vi-VN" dirty="0"/>
              <a:t>Hệ thống thư điện tử là một ví dụ điển hình cho hình thức truyền thông </a:t>
            </a:r>
            <a:r>
              <a:rPr lang="vi-VN" b="1" dirty="0"/>
              <a:t>bền vững (persistent communication)</a:t>
            </a:r>
            <a:r>
              <a:rPr lang="vi-VN" dirty="0"/>
              <a:t>. Với truyền thông bền vững, một tin nhắn sau khi được gửi đi sẽ được middleware lưu trữ cho đến khi nó được chuyển đến người nhận. Trong trường hợp này, middleware sẽ lưu trữ tin nhắn tại một hoặc nhiều kho lưu trữ như được mô tả trong Hình. Do đó, ứng dụng gửi </a:t>
            </a:r>
            <a:r>
              <a:rPr lang="vi-VN" b="1" dirty="0"/>
              <a:t>không cần phải tiếp tục chạy sau khi đã gửi tin nhắn</a:t>
            </a:r>
            <a:r>
              <a:rPr lang="vi-VN" dirty="0"/>
              <a:t>, và ứng dụng nhận </a:t>
            </a:r>
            <a:r>
              <a:rPr lang="vi-VN" b="1" dirty="0"/>
              <a:t>cũng không cần đang chạy tại thời điểm tin nhắn được gửi</a:t>
            </a:r>
            <a:r>
              <a:rPr lang="vi-VN" dirty="0"/>
              <a:t>.</a:t>
            </a:r>
          </a:p>
          <a:p>
            <a:endParaRPr lang="en-US" dirty="0"/>
          </a:p>
          <a:p>
            <a:r>
              <a:rPr lang="vi-VN" dirty="0"/>
              <a:t>Ngược lại, với truyền thông </a:t>
            </a:r>
            <a:r>
              <a:rPr lang="vi-VN" b="1" dirty="0"/>
              <a:t>tạm thời (transient communication)</a:t>
            </a:r>
            <a:r>
              <a:rPr lang="vi-VN" dirty="0"/>
              <a:t>, tin nhắn chỉ được hệ thống truyền thông lưu lại </a:t>
            </a:r>
            <a:r>
              <a:rPr lang="vi-VN" b="1" dirty="0"/>
              <a:t>trong khi cả ứng dụng gửi và nhận đang hoạt động</a:t>
            </a:r>
            <a:r>
              <a:rPr lang="vi-VN" dirty="0"/>
              <a:t>. Cụ thể hơn, theo Hình, nếu middleware không thể chuyển tin nhắn do sự cố truyền hoặc vì người nhận chưa hoạt động, thì tin nhắn đó </a:t>
            </a:r>
            <a:r>
              <a:rPr lang="vi-VN" b="1" dirty="0"/>
              <a:t>sẽ bị loại bỏ</a:t>
            </a:r>
            <a:r>
              <a:rPr lang="vi-VN" dirty="0"/>
              <a:t>. Thông thường, các dịch vụ truyền thông ở tầng vận chuyển (transport-level) </a:t>
            </a:r>
            <a:r>
              <a:rPr lang="vi-VN" b="1" dirty="0"/>
              <a:t>chỉ hỗ trợ truyền thông tạm thời</a:t>
            </a:r>
            <a:r>
              <a:rPr lang="vi-VN" dirty="0"/>
              <a:t>. Trong trường hợp này, hệ thống truyền thông bao gồm các router truyền thống theo kiểu lưu và chuyển tiếp (store-and-forward). Nếu một router không thể chuyển tin nhắn tới router tiếp theo hoặc đến máy chủ đích, nó sẽ </a:t>
            </a:r>
            <a:r>
              <a:rPr lang="vi-VN" b="1" dirty="0"/>
              <a:t>đơn giản là hủy bỏ tin nhắn đó</a:t>
            </a:r>
            <a:r>
              <a:rPr lang="vi-VN" dirty="0"/>
              <a:t>.</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8</a:t>
            </a:fld>
            <a:endParaRPr lang="en-US"/>
          </a:p>
        </p:txBody>
      </p:sp>
    </p:spTree>
    <p:extLst>
      <p:ext uri="{BB962C8B-B14F-4D97-AF65-F5344CB8AC3E}">
        <p14:creationId xmlns:p14="http://schemas.microsoft.com/office/powerpoint/2010/main" val="2617550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Ngoài việc phân loại theo tính </a:t>
            </a:r>
            <a:r>
              <a:rPr lang="vi-VN" b="1" dirty="0"/>
              <a:t>bền vững hay tạm thời</a:t>
            </a:r>
            <a:r>
              <a:rPr lang="vi-VN" dirty="0"/>
              <a:t>, truyền thông còn có thể được phân loại theo tính </a:t>
            </a:r>
            <a:r>
              <a:rPr lang="vi-VN" b="1" dirty="0"/>
              <a:t>đồng bộ (synchronous)</a:t>
            </a:r>
            <a:r>
              <a:rPr lang="vi-VN" dirty="0"/>
              <a:t> hoặc </a:t>
            </a:r>
            <a:r>
              <a:rPr lang="vi-VN" b="1" dirty="0"/>
              <a:t>bất đồng bộ (asynchronous)</a:t>
            </a:r>
            <a:r>
              <a:rPr lang="vi-VN" dirty="0"/>
              <a:t>. Đặc điểm chính của truyền thông bất đồng bộ là bên gửi </a:t>
            </a:r>
            <a:r>
              <a:rPr lang="vi-VN" b="1" dirty="0"/>
              <a:t>tiếp tục thực thi ngay sau khi gửi tin nhắn</a:t>
            </a:r>
            <a:r>
              <a:rPr lang="vi-VN" dirty="0"/>
              <a:t>, tức là tin nhắn sẽ được middleware tạm thời lưu trữ ngay lập tức sau khi gửi. Ngược lại, với truyền thông đồng bộ, bên gửi </a:t>
            </a:r>
            <a:r>
              <a:rPr lang="vi-VN" b="1" dirty="0"/>
              <a:t>sẽ bị chặn (block)</a:t>
            </a:r>
            <a:r>
              <a:rPr lang="vi-VN" dirty="0"/>
              <a:t> cho đến khi yêu cầu được xác nhận là đã chấp nhận.</a:t>
            </a:r>
          </a:p>
          <a:p>
            <a:endParaRPr lang="en-US" dirty="0"/>
          </a:p>
          <a:p>
            <a:r>
              <a:rPr lang="vi-VN" dirty="0"/>
              <a:t>Có ba điểm chính nơi việc đồng bộ có thể xảy ra:</a:t>
            </a:r>
          </a:p>
          <a:p>
            <a:pPr>
              <a:buFont typeface="+mj-lt"/>
              <a:buAutoNum type="arabicPeriod"/>
            </a:pPr>
            <a:r>
              <a:rPr lang="vi-VN" dirty="0"/>
              <a:t>Bên gửi bị chặn cho đến khi middleware thông báo rằng nó sẽ tiếp nhận việc truyền yêu cầu.</a:t>
            </a:r>
          </a:p>
          <a:p>
            <a:pPr>
              <a:buFont typeface="+mj-lt"/>
              <a:buAutoNum type="arabicPeriod"/>
            </a:pPr>
            <a:r>
              <a:rPr lang="vi-VN" dirty="0"/>
              <a:t>Bên gửi bị chặn cho đến khi yêu cầu được chuyển đến người nhận.</a:t>
            </a:r>
          </a:p>
          <a:p>
            <a:pPr>
              <a:buFont typeface="+mj-lt"/>
              <a:buAutoNum type="arabicPeriod"/>
            </a:pPr>
            <a:r>
              <a:rPr lang="vi-VN" dirty="0"/>
              <a:t>Bên gửi bị chặn cho đến khi yêu cầu được </a:t>
            </a:r>
            <a:r>
              <a:rPr lang="vi-VN" b="1" dirty="0"/>
              <a:t>xử lý hoàn tất</a:t>
            </a:r>
            <a:r>
              <a:rPr lang="vi-VN" dirty="0"/>
              <a:t>, tức là người nhận đã phản hồi lại.</a:t>
            </a:r>
          </a:p>
          <a:p>
            <a:endParaRPr lang="en-US" dirty="0"/>
          </a:p>
          <a:p>
            <a:r>
              <a:rPr lang="vi-VN" dirty="0"/>
              <a:t>Trên thực tế, nhiều tổ hợp khác nhau giữa </a:t>
            </a:r>
            <a:r>
              <a:rPr lang="vi-VN" b="1" dirty="0"/>
              <a:t>tính bền vững</a:t>
            </a:r>
            <a:r>
              <a:rPr lang="vi-VN" dirty="0"/>
              <a:t> và </a:t>
            </a:r>
            <a:r>
              <a:rPr lang="vi-VN" b="1" dirty="0"/>
              <a:t>tính đồng bộ</a:t>
            </a:r>
            <a:r>
              <a:rPr lang="vi-VN" dirty="0"/>
              <a:t> được áp dụng. Một tổ hợp phổ biến là </a:t>
            </a:r>
            <a:r>
              <a:rPr lang="vi-VN" b="1" dirty="0"/>
              <a:t>truyền thông bền vững kết hợp với đồng bộ tại thời điểm gửi yêu cầu</a:t>
            </a:r>
            <a:r>
              <a:rPr lang="vi-VN" dirty="0"/>
              <a:t> – đây là cơ chế thường thấy trong các hệ thống hàng đợi tin nhắn (message queuing systems), mà chúng ta sẽ thảo luận ở phần sau của chương.</a:t>
            </a:r>
          </a:p>
          <a:p>
            <a:endParaRPr lang="en-US" dirty="0"/>
          </a:p>
          <a:p>
            <a:r>
              <a:rPr lang="vi-VN" dirty="0"/>
              <a:t>Tương tự, truyền thông </a:t>
            </a:r>
            <a:r>
              <a:rPr lang="vi-VN" b="1" dirty="0"/>
              <a:t>tạm thời kết hợp với đồng bộ sau khi yêu cầu được xử lý hoàn tất</a:t>
            </a:r>
            <a:r>
              <a:rPr lang="vi-VN" dirty="0"/>
              <a:t> cũng rất phổ biến – đây chính là mô hình </a:t>
            </a:r>
            <a:r>
              <a:rPr lang="vi-VN" b="1" dirty="0"/>
              <a:t>remote procedure call (RPC)</a:t>
            </a:r>
            <a:r>
              <a:rPr lang="vi-VN" dirty="0"/>
              <a:t>.</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9</a:t>
            </a:fld>
            <a:endParaRPr lang="en-US"/>
          </a:p>
        </p:txBody>
      </p:sp>
    </p:spTree>
    <p:extLst>
      <p:ext uri="{BB962C8B-B14F-4D97-AF65-F5344CB8AC3E}">
        <p14:creationId xmlns:p14="http://schemas.microsoft.com/office/powerpoint/2010/main" val="4100490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Client/Server</a:t>
            </a:r>
          </a:p>
          <a:p>
            <a:r>
              <a:rPr lang="vi-VN" b="1" dirty="0"/>
              <a:t>Một số nhận </a:t>
            </a:r>
            <a:r>
              <a:rPr lang="en-US" b="1" dirty="0" err="1"/>
              <a:t>định</a:t>
            </a:r>
            <a:r>
              <a:rPr lang="vi-VN" b="1" dirty="0"/>
              <a:t>:</a:t>
            </a:r>
          </a:p>
          <a:p>
            <a:r>
              <a:rPr lang="vi-VN" dirty="0"/>
              <a:t>Client/Server computing (mô hình điện toán khách-chủ) thường dựa trên </a:t>
            </a:r>
            <a:r>
              <a:rPr lang="vi-VN" b="1" dirty="0"/>
              <a:t>mô hình truyền thông tạm thời và đồng bộ (transient synchronous communication)</a:t>
            </a:r>
            <a:r>
              <a:rPr lang="vi-VN" dirty="0"/>
              <a:t>. Hãy cùng phân tích từng ý trong slide:</a:t>
            </a:r>
          </a:p>
          <a:p>
            <a:endParaRPr lang="en-US" b="1" dirty="0"/>
          </a:p>
          <a:p>
            <a:r>
              <a:rPr lang="en-US" b="1" dirty="0"/>
              <a:t>1. "</a:t>
            </a:r>
            <a:r>
              <a:rPr lang="vi-VN" b="1" dirty="0"/>
              <a:t>Client and server have to be active at time of communication"</a:t>
            </a:r>
          </a:p>
          <a:p>
            <a:r>
              <a:rPr lang="vi-VN" dirty="0"/>
              <a:t>Cả client (khách) và server (chủ) </a:t>
            </a:r>
            <a:r>
              <a:rPr lang="vi-VN" b="1" dirty="0"/>
              <a:t>phải đang hoạt động cùng lúc</a:t>
            </a:r>
            <a:r>
              <a:rPr lang="vi-VN" dirty="0"/>
              <a:t> khi diễn ra quá trình giao tiếp.</a:t>
            </a:r>
          </a:p>
          <a:p>
            <a:r>
              <a:rPr lang="vi-VN" b="1" dirty="0"/>
              <a:t>→ Giải thích:</a:t>
            </a:r>
            <a:br>
              <a:rPr lang="vi-VN" dirty="0"/>
            </a:br>
            <a:r>
              <a:rPr lang="vi-VN" dirty="0"/>
              <a:t>Vì đây là </a:t>
            </a:r>
            <a:r>
              <a:rPr lang="vi-VN" b="1" dirty="0"/>
              <a:t>truyền thông tạm thời</a:t>
            </a:r>
            <a:r>
              <a:rPr lang="vi-VN" dirty="0"/>
              <a:t>, nếu một bên (ví dụ server) không hoạt động tại thời điểm client gửi yêu cầu, thì yêu cầu đó sẽ </a:t>
            </a:r>
            <a:r>
              <a:rPr lang="vi-VN" b="1" dirty="0"/>
              <a:t>không được lưu lại và sẽ bị mất</a:t>
            </a:r>
            <a:r>
              <a:rPr lang="vi-VN" dirty="0"/>
              <a:t>. Không giống như email (truyền thông bền vững), mô hình client/server </a:t>
            </a:r>
            <a:r>
              <a:rPr lang="vi-VN" b="1" dirty="0"/>
              <a:t>không có chức năng lưu trữ tạm yêu cầu để xử lý sau</a:t>
            </a:r>
            <a:r>
              <a:rPr lang="vi-VN" dirty="0"/>
              <a:t>.</a:t>
            </a:r>
          </a:p>
          <a:p>
            <a:endParaRPr lang="en-US" b="1" dirty="0"/>
          </a:p>
          <a:p>
            <a:r>
              <a:rPr lang="en-US" b="1" dirty="0"/>
              <a:t>2. "</a:t>
            </a:r>
            <a:r>
              <a:rPr lang="vi-VN" b="1" dirty="0"/>
              <a:t>Client issues request and blocks until it receives reply"</a:t>
            </a:r>
          </a:p>
          <a:p>
            <a:r>
              <a:rPr lang="vi-VN" dirty="0"/>
              <a:t>Client sẽ gửi yêu cầu đến server, </a:t>
            </a:r>
            <a:r>
              <a:rPr lang="vi-VN" b="1" dirty="0"/>
              <a:t>sau đó tạm ngưng hoạt động (bị block)</a:t>
            </a:r>
            <a:r>
              <a:rPr lang="vi-VN" dirty="0"/>
              <a:t> và chờ phản hồi từ server trước khi tiếp tục.</a:t>
            </a:r>
          </a:p>
          <a:p>
            <a:r>
              <a:rPr lang="vi-VN" b="1" dirty="0"/>
              <a:t>→ Giải thích:</a:t>
            </a:r>
            <a:br>
              <a:rPr lang="vi-VN" dirty="0"/>
            </a:br>
            <a:r>
              <a:rPr lang="vi-VN" dirty="0"/>
              <a:t>Đây là đặc trưng của </a:t>
            </a:r>
            <a:r>
              <a:rPr lang="vi-VN" b="1" dirty="0"/>
              <a:t>truyền thông đồng bộ</a:t>
            </a:r>
            <a:r>
              <a:rPr lang="vi-VN" dirty="0"/>
              <a:t>: Client </a:t>
            </a:r>
            <a:r>
              <a:rPr lang="vi-VN" b="1" dirty="0"/>
              <a:t>không thể tiếp tục xử lý công việc</a:t>
            </a:r>
            <a:r>
              <a:rPr lang="vi-VN" dirty="0"/>
              <a:t> của nó cho đến khi server </a:t>
            </a:r>
            <a:r>
              <a:rPr lang="vi-VN" b="1" dirty="0"/>
              <a:t>phản hồi kết quả</a:t>
            </a:r>
            <a:r>
              <a:rPr lang="vi-VN" dirty="0"/>
              <a:t>. Điều này đơn giản hóa việc lập trình vì client chỉ cần chờ kết quả, nhưng lại </a:t>
            </a:r>
            <a:r>
              <a:rPr lang="vi-VN" b="1" dirty="0"/>
              <a:t>gây tốn thời gian chờ</a:t>
            </a:r>
            <a:r>
              <a:rPr lang="vi-VN" dirty="0"/>
              <a:t> nếu server xử lý chậm.</a:t>
            </a:r>
          </a:p>
          <a:p>
            <a:endParaRPr lang="en-US" b="1" dirty="0"/>
          </a:p>
          <a:p>
            <a:r>
              <a:rPr lang="en-US" b="1" dirty="0"/>
              <a:t>3. "</a:t>
            </a:r>
            <a:r>
              <a:rPr lang="vi-VN" b="1" dirty="0"/>
              <a:t>Server essentially waits only for incoming requests, and subsequently processes them"</a:t>
            </a:r>
          </a:p>
          <a:p>
            <a:r>
              <a:rPr lang="vi-VN" dirty="0"/>
              <a:t>Server thường ở trạng thái chờ, và chỉ thực hiện hành động khi nhận được yêu cầu từ client. Sau đó, nó sẽ xử lý và phản hồi.</a:t>
            </a:r>
          </a:p>
          <a:p>
            <a:r>
              <a:rPr lang="vi-VN" b="1" dirty="0"/>
              <a:t>→ Giải thích:</a:t>
            </a:r>
            <a:br>
              <a:rPr lang="vi-VN" dirty="0"/>
            </a:br>
            <a:r>
              <a:rPr lang="vi-VN" dirty="0"/>
              <a:t>Server đóng vai trò </a:t>
            </a:r>
            <a:r>
              <a:rPr lang="vi-VN" b="1" dirty="0"/>
              <a:t>thụ động</a:t>
            </a:r>
            <a:r>
              <a:rPr lang="vi-VN" dirty="0"/>
              <a:t>, luôn lắng nghe các kết nối đến từ client. Khi nhận được yêu cầu, nó sẽ </a:t>
            </a:r>
            <a:r>
              <a:rPr lang="vi-VN" b="1" dirty="0"/>
              <a:t>xử lý nội dung yêu cầu và gửi lại kết quả</a:t>
            </a:r>
            <a:r>
              <a:rPr lang="vi-VN" dirty="0"/>
              <a:t>. Điều này phù hợp với kiến trúc </a:t>
            </a:r>
            <a:r>
              <a:rPr lang="vi-VN" b="1" dirty="0"/>
              <a:t>remote procedure call (RPC)</a:t>
            </a:r>
            <a:r>
              <a:rPr lang="vi-VN" dirty="0"/>
              <a:t>, nơi client gọi "thủ tục" từ xa như thể gọi hàm nội bộ, còn server thực hiện xử lý thật sự.</a:t>
            </a:r>
          </a:p>
          <a:p>
            <a:endParaRPr lang="en-US" b="1" dirty="0"/>
          </a:p>
          <a:p>
            <a:r>
              <a:rPr lang="en-US" b="1" dirty="0"/>
              <a:t>4. </a:t>
            </a:r>
            <a:r>
              <a:rPr lang="vi-VN" b="1" dirty="0"/>
              <a:t>Tổng kết:</a:t>
            </a:r>
          </a:p>
          <a:p>
            <a:r>
              <a:rPr lang="vi-VN" dirty="0"/>
              <a:t>Mô hình client/server hoạt động dựa trên nguyên tắc:</a:t>
            </a:r>
          </a:p>
          <a:p>
            <a:pPr>
              <a:buFont typeface="Arial" panose="020B0604020202020204" pitchFamily="34" charset="0"/>
              <a:buChar char="•"/>
            </a:pPr>
            <a:r>
              <a:rPr lang="vi-VN" dirty="0"/>
              <a:t>Giao tiếp </a:t>
            </a:r>
            <a:r>
              <a:rPr lang="vi-VN" b="1" dirty="0"/>
              <a:t>tạm thời</a:t>
            </a:r>
            <a:r>
              <a:rPr lang="vi-VN" dirty="0"/>
              <a:t> (không lưu trữ yêu cầu nếu một bên không hoạt động).</a:t>
            </a:r>
          </a:p>
          <a:p>
            <a:pPr>
              <a:buFont typeface="Arial" panose="020B0604020202020204" pitchFamily="34" charset="0"/>
              <a:buChar char="•"/>
            </a:pPr>
            <a:r>
              <a:rPr lang="vi-VN" dirty="0"/>
              <a:t>Giao tiếp </a:t>
            </a:r>
            <a:r>
              <a:rPr lang="vi-VN" b="1" dirty="0"/>
              <a:t>đồng bộ</a:t>
            </a:r>
            <a:r>
              <a:rPr lang="vi-VN" dirty="0"/>
              <a:t> (client phải chờ phản hồi).</a:t>
            </a:r>
          </a:p>
          <a:p>
            <a:pPr>
              <a:buFont typeface="Arial" panose="020B0604020202020204" pitchFamily="34" charset="0"/>
              <a:buChar char="•"/>
            </a:pPr>
            <a:r>
              <a:rPr lang="vi-VN" dirty="0"/>
              <a:t>Rất phù hợp để triển khai thông qua </a:t>
            </a:r>
            <a:r>
              <a:rPr lang="vi-VN" b="1" dirty="0"/>
              <a:t>Remote Procedure Call (RPC)</a:t>
            </a:r>
            <a:r>
              <a:rPr lang="vi-VN" dirty="0"/>
              <a:t> vì RPC cũng hoạt động với logic tương tự: client gọi thủ tục từ xa, bị chặn, đợi kết quả trả về.</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10</a:t>
            </a:fld>
            <a:endParaRPr lang="en-US"/>
          </a:p>
        </p:txBody>
      </p:sp>
    </p:spTree>
    <p:extLst>
      <p:ext uri="{BB962C8B-B14F-4D97-AF65-F5344CB8AC3E}">
        <p14:creationId xmlns:p14="http://schemas.microsoft.com/office/powerpoint/2010/main" val="2845509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Client/Server Communication</a:t>
            </a:r>
          </a:p>
          <a:p>
            <a:r>
              <a:rPr lang="vi-VN" b="1" dirty="0"/>
              <a:t>I. Một số </a:t>
            </a:r>
            <a:r>
              <a:rPr lang="en-US" b="1" dirty="0" err="1"/>
              <a:t>nhận</a:t>
            </a:r>
            <a:r>
              <a:rPr lang="en-US" b="1" dirty="0"/>
              <a:t> </a:t>
            </a:r>
            <a:r>
              <a:rPr lang="en-US" b="1" dirty="0" err="1"/>
              <a:t>định</a:t>
            </a:r>
            <a:r>
              <a:rPr lang="vi-VN" b="1" dirty="0"/>
              <a:t> chính</a:t>
            </a:r>
          </a:p>
          <a:p>
            <a:r>
              <a:rPr lang="vi-VN" dirty="0"/>
              <a:t>Mô hình Client/Server trong hệ thống phân tán </a:t>
            </a:r>
            <a:r>
              <a:rPr lang="vi-VN" b="1" dirty="0"/>
              <a:t>thường sử dụng kiểu truyền thông đồng bộ và tạm thời</a:t>
            </a:r>
            <a:r>
              <a:rPr lang="vi-VN" dirty="0"/>
              <a:t>, nghĩa là:</a:t>
            </a:r>
          </a:p>
          <a:p>
            <a:endParaRPr lang="en-US" b="1" dirty="0"/>
          </a:p>
          <a:p>
            <a:r>
              <a:rPr lang="vi-VN" b="1" dirty="0"/>
              <a:t>1. Client và Server phải hoạt động cùng lúc</a:t>
            </a:r>
          </a:p>
          <a:p>
            <a:pPr>
              <a:buFont typeface="Arial" panose="020B0604020202020204" pitchFamily="34" charset="0"/>
              <a:buChar char="•"/>
            </a:pPr>
            <a:r>
              <a:rPr lang="vi-VN" b="1" dirty="0"/>
              <a:t>Giải thích:</a:t>
            </a:r>
            <a:br>
              <a:rPr lang="vi-VN" dirty="0"/>
            </a:br>
            <a:r>
              <a:rPr lang="vi-VN" dirty="0"/>
              <a:t>Cả client (bên yêu cầu) và server (bên phục vụ) </a:t>
            </a:r>
            <a:r>
              <a:rPr lang="vi-VN" b="1" dirty="0"/>
              <a:t>đều phải đang chạy (online)</a:t>
            </a:r>
            <a:r>
              <a:rPr lang="vi-VN" dirty="0"/>
              <a:t> tại thời điểm giao tiếp.</a:t>
            </a:r>
          </a:p>
          <a:p>
            <a:pPr>
              <a:buFont typeface="Arial" panose="020B0604020202020204" pitchFamily="34" charset="0"/>
              <a:buChar char="•"/>
            </a:pPr>
            <a:r>
              <a:rPr lang="vi-VN" b="1" dirty="0"/>
              <a:t>Ví dụ:</a:t>
            </a:r>
            <a:br>
              <a:rPr lang="vi-VN" dirty="0"/>
            </a:br>
            <a:r>
              <a:rPr lang="vi-VN" dirty="0"/>
              <a:t>Bạn mở trình duyệt (client) để truy cập một website (server). Nếu server đang tắt hoặc không phản hồi, bạn sẽ không nhận được gì cả.</a:t>
            </a:r>
          </a:p>
          <a:p>
            <a:endParaRPr lang="en-US" b="1" dirty="0"/>
          </a:p>
          <a:p>
            <a:r>
              <a:rPr lang="vi-VN" b="1" dirty="0"/>
              <a:t>2. Client gửi yêu cầu và bị chặn cho đến khi nhận được phản hồi</a:t>
            </a:r>
          </a:p>
          <a:p>
            <a:pPr>
              <a:buFont typeface="Arial" panose="020B0604020202020204" pitchFamily="34" charset="0"/>
              <a:buChar char="•"/>
            </a:pPr>
            <a:r>
              <a:rPr lang="vi-VN" b="1" dirty="0"/>
              <a:t>Giải thích:</a:t>
            </a:r>
            <a:br>
              <a:rPr lang="vi-VN" dirty="0"/>
            </a:br>
            <a:r>
              <a:rPr lang="vi-VN" dirty="0"/>
              <a:t>Sau khi gửi yêu cầu đến server, client sẽ </a:t>
            </a:r>
            <a:r>
              <a:rPr lang="vi-VN" b="1" dirty="0"/>
              <a:t>dừng lại và chờ đợi</a:t>
            </a:r>
            <a:r>
              <a:rPr lang="vi-VN" dirty="0"/>
              <a:t>. Trong thời gian này, nó </a:t>
            </a:r>
            <a:r>
              <a:rPr lang="vi-VN" b="1" dirty="0"/>
              <a:t>không thực hiện công việc nào khác</a:t>
            </a:r>
            <a:r>
              <a:rPr lang="vi-VN" dirty="0"/>
              <a:t> cho đến khi nhận phản hồi từ server.</a:t>
            </a:r>
          </a:p>
          <a:p>
            <a:pPr>
              <a:buFont typeface="Arial" panose="020B0604020202020204" pitchFamily="34" charset="0"/>
              <a:buChar char="•"/>
            </a:pPr>
            <a:r>
              <a:rPr lang="vi-VN" b="1" dirty="0"/>
              <a:t>Ví dụ:</a:t>
            </a:r>
            <a:br>
              <a:rPr lang="vi-VN" dirty="0"/>
            </a:br>
            <a:r>
              <a:rPr lang="vi-VN" dirty="0"/>
              <a:t>Bạn đăng nhập vào tài khoản – ứng dụng sẽ chờ server xác nhận thông tin rồi mới cho phép bạn tiếp tục sử dụng.</a:t>
            </a:r>
          </a:p>
          <a:p>
            <a:endParaRPr lang="en-US" b="1" dirty="0"/>
          </a:p>
          <a:p>
            <a:r>
              <a:rPr lang="vi-VN" b="1" dirty="0"/>
              <a:t>3. Server chờ yêu cầu đến và xử lý</a:t>
            </a:r>
          </a:p>
          <a:p>
            <a:pPr>
              <a:buFont typeface="Arial" panose="020B0604020202020204" pitchFamily="34" charset="0"/>
              <a:buChar char="•"/>
            </a:pPr>
            <a:r>
              <a:rPr lang="vi-VN" b="1" dirty="0"/>
              <a:t>Giải thích:</a:t>
            </a:r>
            <a:br>
              <a:rPr lang="vi-VN" dirty="0"/>
            </a:br>
            <a:r>
              <a:rPr lang="vi-VN" dirty="0"/>
              <a:t>Server </a:t>
            </a:r>
            <a:r>
              <a:rPr lang="vi-VN" b="1" dirty="0"/>
              <a:t>luôn ở trạng thái sẵn sàng</a:t>
            </a:r>
            <a:r>
              <a:rPr lang="vi-VN" dirty="0"/>
              <a:t>, chờ các yêu cầu từ client. Khi có yêu cầu, nó xử lý và trả về kết quả.</a:t>
            </a:r>
          </a:p>
          <a:p>
            <a:pPr>
              <a:buFont typeface="Arial" panose="020B0604020202020204" pitchFamily="34" charset="0"/>
              <a:buChar char="•"/>
            </a:pPr>
            <a:r>
              <a:rPr lang="vi-VN" b="1" dirty="0"/>
              <a:t>Ví dụ:</a:t>
            </a:r>
            <a:br>
              <a:rPr lang="vi-VN" dirty="0"/>
            </a:br>
            <a:r>
              <a:rPr lang="vi-VN" dirty="0"/>
              <a:t>Một server API chờ các ứng dụng mobile hoặc web gọi đến để trả dữ liệu về sản phẩm, người dùng...</a:t>
            </a:r>
          </a:p>
          <a:p>
            <a:endParaRPr lang="en-US" b="1" dirty="0"/>
          </a:p>
          <a:p>
            <a:r>
              <a:rPr lang="vi-VN" b="1" dirty="0"/>
              <a:t>II. Hạn chế của truyền thông đồng bộ</a:t>
            </a:r>
          </a:p>
          <a:p>
            <a:r>
              <a:rPr lang="vi-VN" dirty="0"/>
              <a:t>Dù mô hình này phổ biến, nhưng có một số nhược điểm quan trọng:</a:t>
            </a:r>
          </a:p>
          <a:p>
            <a:endParaRPr lang="en-US" b="1" dirty="0"/>
          </a:p>
          <a:p>
            <a:r>
              <a:rPr lang="vi-VN" b="1" dirty="0"/>
              <a:t>1. Client bị “đứng hình” khi chờ phản hồi</a:t>
            </a:r>
          </a:p>
          <a:p>
            <a:pPr>
              <a:buFont typeface="Arial" panose="020B0604020202020204" pitchFamily="34" charset="0"/>
              <a:buChar char="•"/>
            </a:pPr>
            <a:r>
              <a:rPr lang="vi-VN" b="1" dirty="0"/>
              <a:t>Giải thích:</a:t>
            </a:r>
            <a:br>
              <a:rPr lang="vi-VN" dirty="0"/>
            </a:br>
            <a:r>
              <a:rPr lang="vi-VN" dirty="0"/>
              <a:t>Trong thời gian chờ server phản hồi, client </a:t>
            </a:r>
            <a:r>
              <a:rPr lang="vi-VN" b="1" dirty="0"/>
              <a:t>không thể làm bất cứ việc gì khác</a:t>
            </a:r>
            <a:r>
              <a:rPr lang="vi-VN" dirty="0"/>
              <a:t>. Nếu server phản hồi chậm, hiệu suất bị giảm đáng kể.</a:t>
            </a:r>
          </a:p>
          <a:p>
            <a:pPr>
              <a:buFont typeface="Arial" panose="020B0604020202020204" pitchFamily="34" charset="0"/>
              <a:buChar char="•"/>
            </a:pPr>
            <a:r>
              <a:rPr lang="vi-VN" b="1" dirty="0"/>
              <a:t>Ví dụ:</a:t>
            </a:r>
            <a:br>
              <a:rPr lang="vi-VN" dirty="0"/>
            </a:br>
            <a:r>
              <a:rPr lang="vi-VN" dirty="0"/>
              <a:t>Ứng dụng bị "đơ" khi internet yếu hoặc server phản hồi chậm.</a:t>
            </a:r>
          </a:p>
          <a:p>
            <a:endParaRPr lang="en-US" b="1" dirty="0"/>
          </a:p>
          <a:p>
            <a:r>
              <a:rPr lang="vi-VN" b="1" dirty="0"/>
              <a:t>2. Phải xử lý lỗi ngay lập tức</a:t>
            </a:r>
          </a:p>
          <a:p>
            <a:pPr>
              <a:buFont typeface="Arial" panose="020B0604020202020204" pitchFamily="34" charset="0"/>
              <a:buChar char="•"/>
            </a:pPr>
            <a:r>
              <a:rPr lang="vi-VN" b="1" dirty="0"/>
              <a:t>Giải thích:</a:t>
            </a:r>
            <a:br>
              <a:rPr lang="vi-VN" dirty="0"/>
            </a:br>
            <a:r>
              <a:rPr lang="vi-VN" dirty="0"/>
              <a:t>Nếu xảy ra lỗi (server sập, mất mạng...), client sẽ biết ngay lập tức và </a:t>
            </a:r>
            <a:r>
              <a:rPr lang="vi-VN" b="1" dirty="0"/>
              <a:t>phải xử lý lỗi tại chỗ</a:t>
            </a:r>
            <a:r>
              <a:rPr lang="vi-VN" dirty="0"/>
              <a:t> – không có cơ chế trì hoãn hay thử lại sau.</a:t>
            </a:r>
          </a:p>
          <a:p>
            <a:pPr>
              <a:buFont typeface="Arial" panose="020B0604020202020204" pitchFamily="34" charset="0"/>
              <a:buChar char="•"/>
            </a:pPr>
            <a:r>
              <a:rPr lang="vi-VN" b="1" dirty="0"/>
              <a:t>Tác động:</a:t>
            </a:r>
            <a:br>
              <a:rPr lang="vi-VN" dirty="0"/>
            </a:br>
            <a:r>
              <a:rPr lang="vi-VN" dirty="0"/>
              <a:t>Tăng độ phức tạp trong lập trình – cần thêm code để xử lý lỗi, thử lại, hoặc thông báo cho người dùng.</a:t>
            </a:r>
          </a:p>
          <a:p>
            <a:endParaRPr lang="en-US" b="1" dirty="0"/>
          </a:p>
          <a:p>
            <a:r>
              <a:rPr lang="vi-VN" b="1" dirty="0"/>
              <a:t>3. Không phù hợp với một số loại ứng dụng</a:t>
            </a:r>
          </a:p>
          <a:p>
            <a:pPr>
              <a:buFont typeface="Arial" panose="020B0604020202020204" pitchFamily="34" charset="0"/>
              <a:buChar char="•"/>
            </a:pPr>
            <a:r>
              <a:rPr lang="vi-VN" b="1" dirty="0"/>
              <a:t>Giải thích:</a:t>
            </a:r>
            <a:br>
              <a:rPr lang="vi-VN" dirty="0"/>
            </a:br>
            <a:r>
              <a:rPr lang="vi-VN" dirty="0"/>
              <a:t>Những ứng dụng như </a:t>
            </a:r>
            <a:r>
              <a:rPr lang="vi-VN" b="1" dirty="0"/>
              <a:t>email, diễn đàn, hệ thống tin tức (news)</a:t>
            </a:r>
            <a:r>
              <a:rPr lang="vi-VN" dirty="0"/>
              <a:t> không cần client và server hoạt động đồng thời.</a:t>
            </a:r>
            <a:br>
              <a:rPr lang="vi-VN" dirty="0"/>
            </a:br>
            <a:r>
              <a:rPr lang="vi-VN" dirty="0"/>
              <a:t>→ Do đó, </a:t>
            </a:r>
            <a:r>
              <a:rPr lang="vi-VN" b="1" dirty="0"/>
              <a:t>mô hình đồng bộ tạm thời không phù hợp</a:t>
            </a:r>
            <a:r>
              <a:rPr lang="vi-VN" dirty="0"/>
              <a:t>.</a:t>
            </a:r>
          </a:p>
          <a:p>
            <a:pPr>
              <a:buFont typeface="Arial" panose="020B0604020202020204" pitchFamily="34" charset="0"/>
              <a:buChar char="•"/>
            </a:pPr>
            <a:r>
              <a:rPr lang="vi-VN" b="1" dirty="0"/>
              <a:t>Thay thế:</a:t>
            </a:r>
            <a:br>
              <a:rPr lang="vi-VN" dirty="0"/>
            </a:br>
            <a:r>
              <a:rPr lang="vi-VN" dirty="0"/>
              <a:t>Các hệ thống này thường dùng </a:t>
            </a:r>
            <a:r>
              <a:rPr lang="vi-VN" b="1" dirty="0"/>
              <a:t>giao tiếp bền (persistent communication)</a:t>
            </a:r>
            <a:r>
              <a:rPr lang="vi-VN" dirty="0"/>
              <a:t> – ví dụ: client gửi thư, server nhận và lưu lại, sau đó người nhận mở thư bất kỳ lúc nào.</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11</a:t>
            </a:fld>
            <a:endParaRPr lang="en-US"/>
          </a:p>
        </p:txBody>
      </p:sp>
    </p:spTree>
    <p:extLst>
      <p:ext uri="{BB962C8B-B14F-4D97-AF65-F5344CB8AC3E}">
        <p14:creationId xmlns:p14="http://schemas.microsoft.com/office/powerpoint/2010/main" val="1121674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Messaging (Truyền thông </a:t>
            </a:r>
            <a:r>
              <a:rPr lang="en-US" b="1" dirty="0" err="1"/>
              <a:t>hướng</a:t>
            </a:r>
            <a:r>
              <a:rPr lang="vi-VN" b="1" dirty="0"/>
              <a:t> thông điệp)</a:t>
            </a:r>
          </a:p>
          <a:p>
            <a:r>
              <a:rPr lang="vi-VN" b="1" dirty="0"/>
              <a:t>Message-Oriented Middleware (MOM) là gì?</a:t>
            </a:r>
          </a:p>
          <a:p>
            <a:r>
              <a:rPr lang="vi-VN" dirty="0"/>
              <a:t>Đây là một </a:t>
            </a:r>
            <a:r>
              <a:rPr lang="vi-VN" b="1" dirty="0"/>
              <a:t>kiểu middleware (phần mềm trung gian)</a:t>
            </a:r>
            <a:r>
              <a:rPr lang="vi-VN" dirty="0"/>
              <a:t> hỗ trợ </a:t>
            </a:r>
            <a:r>
              <a:rPr lang="vi-VN" b="1" dirty="0"/>
              <a:t>giao tiếp ở cấp độ cao giữa các tiến trình</a:t>
            </a:r>
            <a:r>
              <a:rPr lang="vi-VN" dirty="0"/>
              <a:t>, chủ yếu thông qua </a:t>
            </a:r>
            <a:r>
              <a:rPr lang="vi-VN" b="1" dirty="0"/>
              <a:t>các thông điệp (messages)</a:t>
            </a:r>
            <a:r>
              <a:rPr lang="vi-VN" dirty="0"/>
              <a:t>.</a:t>
            </a:r>
            <a:br>
              <a:rPr lang="vi-VN" dirty="0"/>
            </a:br>
            <a:r>
              <a:rPr lang="vi-VN" dirty="0"/>
              <a:t>Đặc điểm chính của MOM là hướng đến việc </a:t>
            </a:r>
            <a:r>
              <a:rPr lang="vi-VN" b="1" dirty="0"/>
              <a:t>giao tiếp bền vững (persistent)</a:t>
            </a:r>
            <a:r>
              <a:rPr lang="vi-VN" dirty="0"/>
              <a:t> và </a:t>
            </a:r>
            <a:r>
              <a:rPr lang="vi-VN" b="1" dirty="0"/>
              <a:t>không đồng bộ (asynchronous)</a:t>
            </a:r>
            <a:r>
              <a:rPr lang="vi-VN" dirty="0"/>
              <a:t>.</a:t>
            </a:r>
          </a:p>
          <a:p>
            <a:endParaRPr lang="en-US" b="1" dirty="0"/>
          </a:p>
          <a:p>
            <a:r>
              <a:rPr lang="en-US" b="1" dirty="0"/>
              <a:t>1. "</a:t>
            </a:r>
            <a:r>
              <a:rPr lang="vi-VN" b="1" dirty="0"/>
              <a:t>Processes send each other messages, which are queued"</a:t>
            </a:r>
          </a:p>
          <a:p>
            <a:pPr>
              <a:buFont typeface="Arial" panose="020B0604020202020204" pitchFamily="34" charset="0"/>
              <a:buChar char="•"/>
            </a:pPr>
            <a:r>
              <a:rPr lang="vi-VN" b="1" dirty="0"/>
              <a:t>Giải thích:</a:t>
            </a:r>
            <a:br>
              <a:rPr lang="vi-VN" dirty="0"/>
            </a:br>
            <a:r>
              <a:rPr lang="vi-VN" dirty="0"/>
              <a:t>Các tiến trình (processes) không giao tiếp trực tiếp, mà thông qua các </a:t>
            </a:r>
            <a:r>
              <a:rPr lang="vi-VN" b="1" dirty="0"/>
              <a:t>hàng đợi thông điệp (message queues)</a:t>
            </a:r>
            <a:r>
              <a:rPr lang="vi-VN" dirty="0"/>
              <a:t> do middleware quản lý.</a:t>
            </a:r>
          </a:p>
          <a:p>
            <a:pPr>
              <a:buFont typeface="Arial" panose="020B0604020202020204" pitchFamily="34" charset="0"/>
              <a:buChar char="•"/>
            </a:pPr>
            <a:r>
              <a:rPr lang="vi-VN" b="1" dirty="0"/>
              <a:t>Ví dụ:</a:t>
            </a:r>
            <a:br>
              <a:rPr lang="vi-VN" dirty="0"/>
            </a:br>
            <a:r>
              <a:rPr lang="vi-VN" dirty="0"/>
              <a:t>Tiến trình A gửi một thông điệp cho tiến trình B → Middleware sẽ </a:t>
            </a:r>
            <a:r>
              <a:rPr lang="vi-VN" b="1" dirty="0"/>
              <a:t>xếp thông điệp đó vào hàng đợi</a:t>
            </a:r>
            <a:r>
              <a:rPr lang="vi-VN" dirty="0"/>
              <a:t> để tiến trình B xử lý khi sẵn sàng.</a:t>
            </a:r>
          </a:p>
          <a:p>
            <a:endParaRPr lang="en-US" b="1" dirty="0"/>
          </a:p>
          <a:p>
            <a:r>
              <a:rPr lang="en-US" b="1" dirty="0"/>
              <a:t>2. "</a:t>
            </a:r>
            <a:r>
              <a:rPr lang="vi-VN" b="1" dirty="0"/>
              <a:t>Sender need not wait for immediate reply, but can do other things"</a:t>
            </a:r>
          </a:p>
          <a:p>
            <a:pPr>
              <a:buFont typeface="Arial" panose="020B0604020202020204" pitchFamily="34" charset="0"/>
              <a:buChar char="•"/>
            </a:pPr>
            <a:r>
              <a:rPr lang="vi-VN" b="1" dirty="0"/>
              <a:t>Giải thích:</a:t>
            </a:r>
            <a:br>
              <a:rPr lang="vi-VN" dirty="0"/>
            </a:br>
            <a:r>
              <a:rPr lang="vi-VN" dirty="0"/>
              <a:t>Giao tiếp </a:t>
            </a:r>
            <a:r>
              <a:rPr lang="vi-VN" b="1" dirty="0"/>
              <a:t>không đồng bộ</a:t>
            </a:r>
            <a:r>
              <a:rPr lang="vi-VN" dirty="0"/>
              <a:t>: bên gửi </a:t>
            </a:r>
            <a:r>
              <a:rPr lang="vi-VN" b="1" dirty="0"/>
              <a:t>không cần chờ phản hồi ngay lập tức</a:t>
            </a:r>
            <a:r>
              <a:rPr lang="vi-VN" dirty="0"/>
              <a:t> từ bên nhận.</a:t>
            </a:r>
            <a:br>
              <a:rPr lang="vi-VN" dirty="0"/>
            </a:br>
            <a:r>
              <a:rPr lang="vi-VN" dirty="0"/>
              <a:t>→ Trong khi chờ, tiến trình gửi có thể </a:t>
            </a:r>
            <a:r>
              <a:rPr lang="vi-VN" b="1" dirty="0"/>
              <a:t>tiếp tục thực hiện các công việc khác</a:t>
            </a:r>
            <a:r>
              <a:rPr lang="vi-VN" dirty="0"/>
              <a:t>.</a:t>
            </a:r>
          </a:p>
          <a:p>
            <a:pPr>
              <a:buFont typeface="Arial" panose="020B0604020202020204" pitchFamily="34" charset="0"/>
              <a:buChar char="•"/>
            </a:pPr>
            <a:r>
              <a:rPr lang="vi-VN" b="1" dirty="0"/>
              <a:t>Lợi ích:</a:t>
            </a:r>
            <a:br>
              <a:rPr lang="vi-VN" dirty="0"/>
            </a:br>
            <a:r>
              <a:rPr lang="vi-VN" dirty="0"/>
              <a:t>Tăng hiệu năng hệ thống, không làm “đứng” client khi chờ phản hồi.</a:t>
            </a:r>
          </a:p>
          <a:p>
            <a:pPr>
              <a:buFont typeface="Arial" panose="020B0604020202020204" pitchFamily="34" charset="0"/>
              <a:buChar char="•"/>
            </a:pPr>
            <a:r>
              <a:rPr lang="vi-VN" b="1" dirty="0"/>
              <a:t>Ví dụ:</a:t>
            </a:r>
            <a:br>
              <a:rPr lang="vi-VN" dirty="0"/>
            </a:br>
            <a:r>
              <a:rPr lang="vi-VN" dirty="0"/>
              <a:t>Một ứng dụng gửi yêu cầu thanh toán đến hệ thống xử lý, sau đó tiếp tục hiển thị giao diện khác mà không cần chờ thanh toán hoàn tất.</a:t>
            </a:r>
          </a:p>
          <a:p>
            <a:endParaRPr lang="en-US" b="1" dirty="0"/>
          </a:p>
          <a:p>
            <a:r>
              <a:rPr lang="en-US" b="1" dirty="0"/>
              <a:t>3. "</a:t>
            </a:r>
            <a:r>
              <a:rPr lang="vi-VN" b="1" dirty="0"/>
              <a:t>Middleware often ensures fault tolerance"</a:t>
            </a:r>
          </a:p>
          <a:p>
            <a:pPr>
              <a:buFont typeface="Arial" panose="020B0604020202020204" pitchFamily="34" charset="0"/>
              <a:buChar char="•"/>
            </a:pPr>
            <a:r>
              <a:rPr lang="vi-VN" b="1" dirty="0"/>
              <a:t>Giải thích:</a:t>
            </a:r>
            <a:br>
              <a:rPr lang="vi-VN" dirty="0"/>
            </a:br>
            <a:r>
              <a:rPr lang="vi-VN" dirty="0"/>
              <a:t>Middleware có thể hỗ trợ </a:t>
            </a:r>
            <a:r>
              <a:rPr lang="vi-VN" b="1" dirty="0"/>
              <a:t>chống lỗi (fault tolerance)</a:t>
            </a:r>
            <a:r>
              <a:rPr lang="vi-VN" dirty="0"/>
              <a:t>, ví dụ:</a:t>
            </a:r>
          </a:p>
          <a:p>
            <a:pPr marL="742950" lvl="1" indent="-285750">
              <a:buFont typeface="Arial" panose="020B0604020202020204" pitchFamily="34" charset="0"/>
              <a:buChar char="•"/>
            </a:pPr>
            <a:r>
              <a:rPr lang="vi-VN" b="1" dirty="0"/>
              <a:t>Lưu trữ tạm thời thông điệp</a:t>
            </a:r>
            <a:r>
              <a:rPr lang="vi-VN" dirty="0"/>
              <a:t> nếu bên nhận chưa sẵn sàng.</a:t>
            </a:r>
          </a:p>
          <a:p>
            <a:pPr marL="742950" lvl="1" indent="-285750">
              <a:buFont typeface="Arial" panose="020B0604020202020204" pitchFamily="34" charset="0"/>
              <a:buChar char="•"/>
            </a:pPr>
            <a:r>
              <a:rPr lang="vi-VN" b="1" dirty="0"/>
              <a:t>Tự động thử gửi lại</a:t>
            </a:r>
            <a:r>
              <a:rPr lang="vi-VN" dirty="0"/>
              <a:t> khi gặp lỗi mạng hoặc server bận.</a:t>
            </a:r>
          </a:p>
          <a:p>
            <a:pPr marL="742950" lvl="1" indent="-285750">
              <a:buFont typeface="Arial" panose="020B0604020202020204" pitchFamily="34" charset="0"/>
              <a:buChar char="•"/>
            </a:pPr>
            <a:r>
              <a:rPr lang="vi-VN" b="1" dirty="0"/>
              <a:t>Bảo đảm thông điệp không bị mất</a:t>
            </a:r>
            <a:r>
              <a:rPr lang="vi-VN" dirty="0"/>
              <a:t> (thường dùng trong hệ thống ngân hàng, giao dịch...).</a:t>
            </a:r>
          </a:p>
          <a:p>
            <a:endParaRPr lang="en-US" b="1" dirty="0"/>
          </a:p>
          <a:p>
            <a:r>
              <a:rPr lang="en-US" b="1" dirty="0"/>
              <a:t>4. </a:t>
            </a:r>
            <a:r>
              <a:rPr lang="vi-VN" b="1" dirty="0"/>
              <a:t>Ví dụ thực tế sử dụng MOM</a:t>
            </a:r>
          </a:p>
          <a:p>
            <a:pPr>
              <a:buFont typeface="Arial" panose="020B0604020202020204" pitchFamily="34" charset="0"/>
              <a:buChar char="•"/>
            </a:pPr>
            <a:r>
              <a:rPr lang="vi-VN" b="1" dirty="0"/>
              <a:t>RabbitMQ</a:t>
            </a:r>
            <a:r>
              <a:rPr lang="vi-VN" dirty="0"/>
              <a:t>, </a:t>
            </a:r>
            <a:r>
              <a:rPr lang="vi-VN" b="1" dirty="0"/>
              <a:t>Apache Kafka</a:t>
            </a:r>
            <a:r>
              <a:rPr lang="vi-VN" dirty="0"/>
              <a:t>, </a:t>
            </a:r>
            <a:r>
              <a:rPr lang="vi-VN" b="1" dirty="0"/>
              <a:t>ActiveMQ</a:t>
            </a:r>
            <a:r>
              <a:rPr lang="vi-VN" dirty="0"/>
              <a:t> – các hệ thống phổ biến để </a:t>
            </a:r>
            <a:r>
              <a:rPr lang="vi-VN" b="1" dirty="0"/>
              <a:t>gửi và nhận thông điệp</a:t>
            </a:r>
            <a:r>
              <a:rPr lang="vi-VN" dirty="0"/>
              <a:t> trong các hệ thống microservices.</a:t>
            </a:r>
          </a:p>
          <a:p>
            <a:pPr>
              <a:buFont typeface="Arial" panose="020B0604020202020204" pitchFamily="34" charset="0"/>
              <a:buChar char="•"/>
            </a:pPr>
            <a:r>
              <a:rPr lang="vi-VN" b="1" dirty="0"/>
              <a:t>Hệ thống ngân hàng</a:t>
            </a:r>
            <a:r>
              <a:rPr lang="vi-VN" dirty="0"/>
              <a:t>: gửi yêu cầu giao dịch, lưu trữ tạm nếu hệ thống lõi chưa sẵn sàng.</a:t>
            </a:r>
          </a:p>
          <a:p>
            <a:pPr>
              <a:buFont typeface="Arial" panose="020B0604020202020204" pitchFamily="34" charset="0"/>
              <a:buChar char="•"/>
            </a:pPr>
            <a:r>
              <a:rPr lang="vi-VN" b="1" dirty="0"/>
              <a:t>Ứng dụng đặt xe</a:t>
            </a:r>
            <a:r>
              <a:rPr lang="vi-VN" dirty="0"/>
              <a:t>: client gửi yêu cầu, backend xử lý và thông báo sau.</a:t>
            </a:r>
          </a:p>
          <a:p>
            <a:endParaRPr lang="en-US" b="1" dirty="0"/>
          </a:p>
          <a:p>
            <a:r>
              <a:rPr lang="en-US" b="1" dirty="0"/>
              <a:t>5. </a:t>
            </a:r>
            <a:r>
              <a:rPr lang="vi-VN" b="1" dirty="0"/>
              <a:t>Tóm gọn ý chính</a:t>
            </a:r>
          </a:p>
          <a:p>
            <a:r>
              <a:rPr lang="vi-VN" dirty="0"/>
              <a:t>Messaging là một mô hình giao tiếp mạnh mẽ trong hệ thống phân tán, giúp các tiến trình </a:t>
            </a:r>
            <a:r>
              <a:rPr lang="vi-VN" b="1" dirty="0"/>
              <a:t>gửi nhận thông điệp một cách linh hoạt, không đồng bộ, và có khả năng chống lỗi cao</a:t>
            </a:r>
            <a:r>
              <a:rPr lang="vi-VN" dirty="0"/>
              <a:t>, phù hợp với các ứng dụng hiện đại, quy mô lớn và cần xử lý rời rạc.</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12</a:t>
            </a:fld>
            <a:endParaRPr lang="en-US"/>
          </a:p>
        </p:txBody>
      </p:sp>
    </p:spTree>
    <p:extLst>
      <p:ext uri="{BB962C8B-B14F-4D97-AF65-F5344CB8AC3E}">
        <p14:creationId xmlns:p14="http://schemas.microsoft.com/office/powerpoint/2010/main" val="34115909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"Basic RPC operation</a:t>
            </a:r>
            <a:r>
              <a:rPr lang="en-US" b="1" dirty="0"/>
              <a:t>”</a:t>
            </a:r>
            <a:r>
              <a:rPr lang="vi-VN" dirty="0"/>
              <a:t> </a:t>
            </a:r>
            <a:endParaRPr lang="en-US" dirty="0"/>
          </a:p>
          <a:p>
            <a:r>
              <a:rPr lang="en-US" dirty="0" err="1"/>
              <a:t>Thảo</a:t>
            </a:r>
            <a:r>
              <a:rPr lang="en-US" dirty="0"/>
              <a:t> </a:t>
            </a:r>
            <a:r>
              <a:rPr lang="en-US" dirty="0" err="1"/>
              <a:t>luận</a:t>
            </a:r>
            <a:r>
              <a:rPr lang="vi-VN" dirty="0"/>
              <a:t> về các điểm then chốt rút ra từ cách hoạt động của </a:t>
            </a:r>
            <a:r>
              <a:rPr lang="vi-VN" b="1" dirty="0"/>
              <a:t>Remote Procedure Call (RPC)</a:t>
            </a:r>
            <a:r>
              <a:rPr lang="vi-VN" dirty="0"/>
              <a:t>.</a:t>
            </a:r>
          </a:p>
          <a:p>
            <a:endParaRPr lang="vi-VN" b="1" dirty="0"/>
          </a:p>
          <a:p>
            <a:r>
              <a:rPr lang="vi-VN" b="1" dirty="0"/>
              <a:t>Observations (Nhận định):</a:t>
            </a:r>
          </a:p>
          <a:p>
            <a:pPr>
              <a:buFont typeface="+mj-lt"/>
              <a:buAutoNum type="arabicPeriod"/>
            </a:pPr>
            <a:r>
              <a:rPr lang="vi-VN" b="1" dirty="0"/>
              <a:t>Application developers are familiar with simple procedure model</a:t>
            </a:r>
            <a:br>
              <a:rPr lang="vi-VN" dirty="0"/>
            </a:br>
            <a:r>
              <a:rPr lang="en-US" dirty="0"/>
              <a:t>- </a:t>
            </a:r>
            <a:r>
              <a:rPr lang="vi-VN" dirty="0"/>
              <a:t>Các lập trình viên ứng dụng </a:t>
            </a:r>
            <a:r>
              <a:rPr lang="vi-VN" b="1" dirty="0"/>
              <a:t>đã quen với cách gọi hàm (procedure call) thông thường</a:t>
            </a:r>
            <a:r>
              <a:rPr lang="vi-VN" dirty="0"/>
              <a:t>, nơi một hàm được gọi và trả về kết quả – đơn giản, dễ hiểu.</a:t>
            </a:r>
          </a:p>
          <a:p>
            <a:pPr>
              <a:buFont typeface="+mj-lt"/>
              <a:buAutoNum type="arabicPeriod"/>
            </a:pPr>
            <a:r>
              <a:rPr lang="vi-VN" b="1" dirty="0"/>
              <a:t>Well-engineered procedures operate in isolation (black box)</a:t>
            </a:r>
            <a:br>
              <a:rPr lang="vi-VN" dirty="0"/>
            </a:br>
            <a:r>
              <a:rPr lang="en-US" dirty="0"/>
              <a:t>- </a:t>
            </a:r>
            <a:r>
              <a:rPr lang="vi-VN" dirty="0"/>
              <a:t>Một hàm (procedure) được thiết kế tốt </a:t>
            </a:r>
            <a:r>
              <a:rPr lang="vi-VN" b="1" dirty="0"/>
              <a:t>hoạt động như một “hộp đen”</a:t>
            </a:r>
            <a:r>
              <a:rPr lang="vi-VN" dirty="0"/>
              <a:t>: chỉ cần biết đầu vào và đầu ra, không cần quan tâm bên trong nó hoạt động thế nào (giống như append(data, dbList) trong ví dụ).</a:t>
            </a:r>
          </a:p>
          <a:p>
            <a:pPr>
              <a:buFont typeface="+mj-lt"/>
              <a:buAutoNum type="arabicPeriod"/>
            </a:pPr>
            <a:r>
              <a:rPr lang="vi-VN" b="1" dirty="0"/>
              <a:t>There is no fundamental reason not to execute procedures on separate machine</a:t>
            </a:r>
            <a:br>
              <a:rPr lang="vi-VN" dirty="0"/>
            </a:br>
            <a:r>
              <a:rPr lang="en-US" dirty="0"/>
              <a:t>- </a:t>
            </a:r>
            <a:r>
              <a:rPr lang="vi-VN" dirty="0"/>
              <a:t>Không có lý do cốt lõi nào khiến ta </a:t>
            </a:r>
            <a:r>
              <a:rPr lang="vi-VN" b="1" dirty="0"/>
              <a:t>không thể thực thi một hàm trên một máy khác</a:t>
            </a:r>
            <a:r>
              <a:rPr lang="vi-VN" dirty="0"/>
              <a:t>, miễn là có thể đảm bảo giao tiếp giữa hai bên. Điều này mở đường cho ý tưởng thực hiện các hàm từ xa.</a:t>
            </a:r>
          </a:p>
          <a:p>
            <a:endParaRPr lang="en-US" b="1" dirty="0"/>
          </a:p>
          <a:p>
            <a:r>
              <a:rPr lang="vi-VN" b="1" dirty="0"/>
              <a:t>Conclusion (Kết luận):</a:t>
            </a:r>
          </a:p>
          <a:p>
            <a:pPr>
              <a:buFont typeface="Arial" panose="020B0604020202020204" pitchFamily="34" charset="0"/>
              <a:buChar char="•"/>
            </a:pPr>
            <a:r>
              <a:rPr lang="vi-VN" b="1" dirty="0"/>
              <a:t>Communication between caller &amp; callee can be hidden by using procedure-call mechanism.</a:t>
            </a:r>
            <a:br>
              <a:rPr lang="vi-VN" dirty="0"/>
            </a:br>
            <a:r>
              <a:rPr lang="en-US" dirty="0"/>
              <a:t>- </a:t>
            </a:r>
            <a:r>
              <a:rPr lang="vi-VN" dirty="0"/>
              <a:t>RPC </a:t>
            </a:r>
            <a:r>
              <a:rPr lang="vi-VN" b="1" dirty="0"/>
              <a:t>ẩn hoàn toàn quá trình giao tiếp giữa máy gọi và máy được gọi</a:t>
            </a:r>
            <a:r>
              <a:rPr lang="vi-VN" dirty="0"/>
              <a:t>, bằng cách </a:t>
            </a:r>
            <a:r>
              <a:rPr lang="vi-VN" b="1" dirty="0"/>
              <a:t>bắt chước một lời gọi hàm bình thường</a:t>
            </a:r>
            <a:r>
              <a:rPr lang="vi-VN" dirty="0"/>
              <a:t>.</a:t>
            </a:r>
            <a:br>
              <a:rPr lang="vi-VN" dirty="0"/>
            </a:br>
            <a:r>
              <a:rPr lang="vi-VN" dirty="0"/>
              <a:t>Người lập trình chỉ thấy: result = append(data, dbList)</a:t>
            </a:r>
            <a:br>
              <a:rPr lang="vi-VN" dirty="0"/>
            </a:br>
            <a:r>
              <a:rPr lang="vi-VN" dirty="0"/>
              <a:t>Nhưng thực tế:</a:t>
            </a:r>
          </a:p>
          <a:p>
            <a:pPr marL="742950" lvl="1" indent="-285750">
              <a:buFont typeface="Arial" panose="020B0604020202020204" pitchFamily="34" charset="0"/>
              <a:buChar char="•"/>
            </a:pPr>
            <a:r>
              <a:rPr lang="vi-VN" dirty="0"/>
              <a:t>Hàm được gọi ở một máy khác</a:t>
            </a:r>
          </a:p>
          <a:p>
            <a:pPr marL="742950" lvl="1" indent="-285750">
              <a:buFont typeface="Arial" panose="020B0604020202020204" pitchFamily="34" charset="0"/>
              <a:buChar char="•"/>
            </a:pPr>
            <a:r>
              <a:rPr lang="vi-VN" dirty="0"/>
              <a:t>Dữ liệu được đóng gói và gửi đi qua mạng</a:t>
            </a:r>
          </a:p>
          <a:p>
            <a:pPr marL="742950" lvl="1" indent="-285750">
              <a:buFont typeface="Arial" panose="020B0604020202020204" pitchFamily="34" charset="0"/>
              <a:buChar char="•"/>
            </a:pPr>
            <a:r>
              <a:rPr lang="vi-VN" dirty="0"/>
              <a:t>Kết quả được trả lại như thể tất cả diễn ra cục bộ.</a:t>
            </a:r>
          </a:p>
          <a:p>
            <a:endParaRPr lang="en-US" b="1" dirty="0"/>
          </a:p>
          <a:p>
            <a:r>
              <a:rPr lang="en-US" b="1" dirty="0"/>
              <a:t>- </a:t>
            </a:r>
            <a:r>
              <a:rPr lang="vi-VN" b="1" dirty="0"/>
              <a:t>Hình minh họa sequence diagram</a:t>
            </a:r>
          </a:p>
          <a:p>
            <a:r>
              <a:rPr lang="vi-VN" dirty="0"/>
              <a:t>Hình minh họa quy trình cơ bản của RPC:</a:t>
            </a:r>
          </a:p>
          <a:p>
            <a:pPr>
              <a:buFont typeface="Arial" panose="020B0604020202020204" pitchFamily="34" charset="0"/>
              <a:buChar char="•"/>
            </a:pPr>
            <a:r>
              <a:rPr lang="vi-VN" dirty="0"/>
              <a:t>Client gọi một thủ tục từ xa như gọi hàm cục bộ.</a:t>
            </a:r>
          </a:p>
          <a:p>
            <a:pPr>
              <a:buFont typeface="Arial" panose="020B0604020202020204" pitchFamily="34" charset="0"/>
              <a:buChar char="•"/>
            </a:pPr>
            <a:r>
              <a:rPr lang="vi-VN" dirty="0"/>
              <a:t>Dưới nền, các thông điệp Request và Reply được gửi qua mạng.</a:t>
            </a:r>
          </a:p>
          <a:p>
            <a:pPr>
              <a:buFont typeface="Arial" panose="020B0604020202020204" pitchFamily="34" charset="0"/>
              <a:buChar char="•"/>
            </a:pPr>
            <a:r>
              <a:rPr lang="vi-VN" b="1" dirty="0"/>
              <a:t>Client “đợi kết quả”</a:t>
            </a:r>
            <a:r>
              <a:rPr lang="vi-VN" dirty="0"/>
              <a:t> như thể hàm thực thi ngay tại đó, nhưng thực ra là từ xa.</a:t>
            </a:r>
          </a:p>
          <a:p>
            <a:endParaRPr lang="en-US" b="1" dirty="0"/>
          </a:p>
          <a:p>
            <a:r>
              <a:rPr lang="vi-VN" b="1" dirty="0"/>
              <a:t>Tóm gọn:</a:t>
            </a:r>
          </a:p>
          <a:p>
            <a:r>
              <a:rPr lang="vi-VN" dirty="0"/>
              <a:t>RPC là cách giúp lập trình viên </a:t>
            </a:r>
            <a:r>
              <a:rPr lang="vi-VN" b="1" dirty="0"/>
              <a:t>gọi hàm từ xa mà không nhận ra</a:t>
            </a:r>
            <a:r>
              <a:rPr lang="vi-VN" dirty="0"/>
              <a:t> đó là hàm từ xa – chính là sự "transparency" mà đoạn văn nhấn mạnh. Điều này </a:t>
            </a:r>
            <a:r>
              <a:rPr lang="vi-VN" b="1" dirty="0"/>
              <a:t>đơn giản hóa lập trình phân tán</a:t>
            </a:r>
            <a:r>
              <a:rPr lang="vi-VN" dirty="0"/>
              <a:t> mà không cần người viết chương trình phải xử lý chi tiết truyền thông mạng.</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13</a:t>
            </a:fld>
            <a:endParaRPr lang="en-US"/>
          </a:p>
        </p:txBody>
      </p:sp>
    </p:spTree>
    <p:extLst>
      <p:ext uri="{BB962C8B-B14F-4D97-AF65-F5344CB8AC3E}">
        <p14:creationId xmlns:p14="http://schemas.microsoft.com/office/powerpoint/2010/main" val="21066815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Tóm tắt quy trình RPC:</a:t>
            </a:r>
          </a:p>
          <a:p>
            <a:r>
              <a:rPr lang="vi-VN" dirty="0"/>
              <a:t>Giống như một lời gọi hàm (doit(a, b)) được thực hiện trên </a:t>
            </a:r>
            <a:r>
              <a:rPr lang="vi-VN" b="1" dirty="0"/>
              <a:t>máy client</a:t>
            </a:r>
            <a:r>
              <a:rPr lang="vi-VN" dirty="0"/>
              <a:t>, nhưng thực chất nó được xử lý </a:t>
            </a:r>
            <a:r>
              <a:rPr lang="vi-VN" b="1" dirty="0"/>
              <a:t>ở máy server</a:t>
            </a:r>
            <a:r>
              <a:rPr lang="vi-VN" dirty="0"/>
              <a:t> – thông qua các </a:t>
            </a:r>
            <a:r>
              <a:rPr lang="vi-VN" b="1" dirty="0"/>
              <a:t>stub</a:t>
            </a:r>
            <a:r>
              <a:rPr lang="vi-VN" dirty="0"/>
              <a:t> và hệ điều hành (OS) ở hai bên.</a:t>
            </a:r>
          </a:p>
          <a:p>
            <a:endParaRPr lang="en-US" b="1" dirty="0"/>
          </a:p>
          <a:p>
            <a:endParaRPr lang="en-US" b="1" dirty="0"/>
          </a:p>
          <a:p>
            <a:r>
              <a:rPr lang="vi-VN" b="1" dirty="0"/>
              <a:t>Các bước hoạt động chi tiết (tương ứng hình và mô tả):</a:t>
            </a:r>
          </a:p>
          <a:p>
            <a:endParaRPr lang="en-US" b="1" dirty="0"/>
          </a:p>
          <a:p>
            <a:r>
              <a:rPr lang="vi-VN" b="1" dirty="0"/>
              <a:t>Trên máy Client:</a:t>
            </a:r>
          </a:p>
          <a:p>
            <a:pPr>
              <a:buFont typeface="+mj-lt"/>
              <a:buAutoNum type="arabicPeriod"/>
            </a:pPr>
            <a:r>
              <a:rPr lang="vi-VN" b="1" dirty="0"/>
              <a:t>Client procedure calls client stub</a:t>
            </a:r>
            <a:br>
              <a:rPr lang="vi-VN" dirty="0"/>
            </a:br>
            <a:r>
              <a:rPr lang="vi-VN" dirty="0"/>
              <a:t>→ Ứng dụng (client) gọi hàm từ xa doit(a, b), thực chất gọi đến </a:t>
            </a:r>
            <a:r>
              <a:rPr lang="vi-VN" b="1" dirty="0"/>
              <a:t>client stub</a:t>
            </a:r>
            <a:r>
              <a:rPr lang="vi-VN" dirty="0"/>
              <a:t>.</a:t>
            </a:r>
          </a:p>
          <a:p>
            <a:pPr>
              <a:buFont typeface="+mj-lt"/>
              <a:buAutoNum type="arabicPeriod"/>
            </a:pPr>
            <a:r>
              <a:rPr lang="vi-VN" b="1" dirty="0"/>
              <a:t>Stub builds message; calls local OS</a:t>
            </a:r>
            <a:br>
              <a:rPr lang="vi-VN" dirty="0"/>
            </a:br>
            <a:r>
              <a:rPr lang="vi-VN" dirty="0"/>
              <a:t>→ Client stub </a:t>
            </a:r>
            <a:r>
              <a:rPr lang="vi-VN" b="1" dirty="0"/>
              <a:t>đóng gói lời gọi hàm</a:t>
            </a:r>
            <a:r>
              <a:rPr lang="vi-VN" dirty="0"/>
              <a:t> (tên hàm "doit", các tham số a, b) vào một </a:t>
            </a:r>
            <a:r>
              <a:rPr lang="vi-VN" b="1" dirty="0"/>
              <a:t>message</a:t>
            </a:r>
            <a:r>
              <a:rPr lang="vi-VN" dirty="0"/>
              <a:t> → gửi cho OS.</a:t>
            </a:r>
          </a:p>
          <a:p>
            <a:pPr>
              <a:buFont typeface="+mj-lt"/>
              <a:buAutoNum type="arabicPeriod"/>
            </a:pPr>
            <a:r>
              <a:rPr lang="vi-VN" b="1" dirty="0"/>
              <a:t>OS sends message to remote OS</a:t>
            </a:r>
            <a:br>
              <a:rPr lang="vi-VN" dirty="0"/>
            </a:br>
            <a:r>
              <a:rPr lang="vi-VN" dirty="0"/>
              <a:t>→ Hệ điều hành trên client </a:t>
            </a:r>
            <a:r>
              <a:rPr lang="vi-VN" b="1" dirty="0"/>
              <a:t>gửi message qua mạng</a:t>
            </a:r>
            <a:r>
              <a:rPr lang="vi-VN" dirty="0"/>
              <a:t> đến hệ điều hành bên server.</a:t>
            </a:r>
          </a:p>
          <a:p>
            <a:endParaRPr lang="en-US" b="1" dirty="0"/>
          </a:p>
          <a:p>
            <a:r>
              <a:rPr lang="vi-VN" b="1" dirty="0"/>
              <a:t>Trên máy Server:</a:t>
            </a:r>
          </a:p>
          <a:p>
            <a:pPr>
              <a:buFont typeface="+mj-lt"/>
              <a:buAutoNum type="arabicPeriod" startAt="4"/>
            </a:pPr>
            <a:r>
              <a:rPr lang="vi-VN" b="1" dirty="0"/>
              <a:t>Remote OS gives message to stub</a:t>
            </a:r>
            <a:br>
              <a:rPr lang="vi-VN" dirty="0"/>
            </a:br>
            <a:r>
              <a:rPr lang="vi-VN" dirty="0"/>
              <a:t>→ Hệ điều hành bên server </a:t>
            </a:r>
            <a:r>
              <a:rPr lang="vi-VN" b="1" dirty="0"/>
              <a:t>nhận message</a:t>
            </a:r>
            <a:r>
              <a:rPr lang="vi-VN" dirty="0"/>
              <a:t> và chuyển đến </a:t>
            </a:r>
            <a:r>
              <a:rPr lang="vi-VN" b="1" dirty="0"/>
              <a:t>server stub</a:t>
            </a:r>
            <a:r>
              <a:rPr lang="vi-VN" dirty="0"/>
              <a:t>.</a:t>
            </a:r>
          </a:p>
          <a:p>
            <a:pPr>
              <a:buFont typeface="+mj-lt"/>
              <a:buAutoNum type="arabicPeriod" startAt="4"/>
            </a:pPr>
            <a:r>
              <a:rPr lang="vi-VN" b="1" dirty="0"/>
              <a:t>Stub unpacks message</a:t>
            </a:r>
            <a:br>
              <a:rPr lang="vi-VN" dirty="0"/>
            </a:br>
            <a:r>
              <a:rPr lang="vi-VN" dirty="0"/>
              <a:t>→ Server stub </a:t>
            </a:r>
            <a:r>
              <a:rPr lang="vi-VN" b="1" dirty="0"/>
              <a:t>giải mã message</a:t>
            </a:r>
            <a:r>
              <a:rPr lang="vi-VN" dirty="0"/>
              <a:t> để lấy tên hàm và tham số.</a:t>
            </a:r>
          </a:p>
          <a:p>
            <a:pPr>
              <a:buFont typeface="+mj-lt"/>
              <a:buAutoNum type="arabicPeriod" startAt="4"/>
            </a:pPr>
            <a:r>
              <a:rPr lang="vi-VN" b="1" dirty="0"/>
              <a:t>Stub makes local call to "doit"</a:t>
            </a:r>
            <a:br>
              <a:rPr lang="vi-VN" dirty="0"/>
            </a:br>
            <a:r>
              <a:rPr lang="vi-VN" dirty="0"/>
              <a:t>→ Server stub </a:t>
            </a:r>
            <a:r>
              <a:rPr lang="vi-VN" b="1" dirty="0"/>
              <a:t>gọi hàm cục bộ</a:t>
            </a:r>
            <a:r>
              <a:rPr lang="vi-VN" dirty="0"/>
              <a:t> doit(a, b).</a:t>
            </a:r>
          </a:p>
          <a:p>
            <a:pPr>
              <a:buFont typeface="+mj-lt"/>
              <a:buAutoNum type="arabicPeriod" startAt="4"/>
            </a:pPr>
            <a:r>
              <a:rPr lang="vi-VN" b="1" dirty="0"/>
              <a:t>Server does local call; returns result to stub</a:t>
            </a:r>
            <a:br>
              <a:rPr lang="vi-VN" dirty="0"/>
            </a:br>
            <a:r>
              <a:rPr lang="vi-VN" dirty="0"/>
              <a:t>→ Hàm doit được thực thi như bình thường, kết quả được trả về server stub.</a:t>
            </a:r>
          </a:p>
          <a:p>
            <a:pPr>
              <a:buFont typeface="+mj-lt"/>
              <a:buAutoNum type="arabicPeriod" startAt="4"/>
            </a:pPr>
            <a:r>
              <a:rPr lang="vi-VN" b="1" dirty="0"/>
              <a:t>Stub builds message; calls OS</a:t>
            </a:r>
            <a:br>
              <a:rPr lang="vi-VN" dirty="0"/>
            </a:br>
            <a:r>
              <a:rPr lang="vi-VN" dirty="0"/>
              <a:t>→ Server stub </a:t>
            </a:r>
            <a:r>
              <a:rPr lang="vi-VN" b="1" dirty="0"/>
              <a:t>đóng gói kết quả</a:t>
            </a:r>
            <a:r>
              <a:rPr lang="vi-VN" dirty="0"/>
              <a:t> vào message → gửi cho hệ điều hành.</a:t>
            </a:r>
          </a:p>
          <a:p>
            <a:pPr>
              <a:buFont typeface="+mj-lt"/>
              <a:buAutoNum type="arabicPeriod" startAt="4"/>
            </a:pPr>
            <a:r>
              <a:rPr lang="vi-VN" b="1" dirty="0"/>
              <a:t>OS sends message to client’s OS</a:t>
            </a:r>
            <a:br>
              <a:rPr lang="vi-VN" dirty="0"/>
            </a:br>
            <a:r>
              <a:rPr lang="vi-VN" dirty="0"/>
              <a:t>→ Hệ điều hành server </a:t>
            </a:r>
            <a:r>
              <a:rPr lang="vi-VN" b="1" dirty="0"/>
              <a:t>gửi message kết quả</a:t>
            </a:r>
            <a:r>
              <a:rPr lang="vi-VN" dirty="0"/>
              <a:t> về cho client.</a:t>
            </a:r>
          </a:p>
          <a:p>
            <a:endParaRPr lang="en-US" b="1" dirty="0"/>
          </a:p>
          <a:p>
            <a:r>
              <a:rPr lang="vi-VN" b="1" dirty="0"/>
              <a:t>Quay lại máy Client:</a:t>
            </a:r>
          </a:p>
          <a:p>
            <a:pPr>
              <a:buFont typeface="+mj-lt"/>
              <a:buAutoNum type="arabicPeriod" startAt="10"/>
            </a:pPr>
            <a:r>
              <a:rPr lang="vi-VN" b="1" dirty="0"/>
              <a:t>Client’s OS gives message to stub</a:t>
            </a:r>
            <a:br>
              <a:rPr lang="vi-VN" dirty="0"/>
            </a:br>
            <a:r>
              <a:rPr lang="vi-VN" dirty="0"/>
              <a:t>→ Hệ điều hành bên client </a:t>
            </a:r>
            <a:r>
              <a:rPr lang="vi-VN" b="1" dirty="0"/>
              <a:t>nhận message kết quả</a:t>
            </a:r>
            <a:r>
              <a:rPr lang="vi-VN" dirty="0"/>
              <a:t>, chuyển cho client stub.</a:t>
            </a:r>
          </a:p>
          <a:p>
            <a:pPr>
              <a:buFont typeface="+mj-lt"/>
              <a:buAutoNum type="arabicPeriod" startAt="10"/>
            </a:pPr>
            <a:r>
              <a:rPr lang="vi-VN" b="1" dirty="0"/>
              <a:t>Client stub unpacks result; returns to caller</a:t>
            </a:r>
            <a:br>
              <a:rPr lang="vi-VN" dirty="0"/>
            </a:br>
            <a:r>
              <a:rPr lang="vi-VN" dirty="0"/>
              <a:t>→ Client stub </a:t>
            </a:r>
            <a:r>
              <a:rPr lang="vi-VN" b="1" dirty="0"/>
              <a:t>giải mã kết quả</a:t>
            </a:r>
            <a:r>
              <a:rPr lang="vi-VN" dirty="0"/>
              <a:t> và </a:t>
            </a:r>
            <a:r>
              <a:rPr lang="vi-VN" b="1" dirty="0"/>
              <a:t>trả về hàm gọi ban đầu</a:t>
            </a:r>
            <a:r>
              <a:rPr lang="vi-VN" dirty="0"/>
              <a:t> như thể đó là lời gọi cục bộ.</a:t>
            </a:r>
          </a:p>
          <a:p>
            <a:endParaRPr lang="en-US" b="1" dirty="0"/>
          </a:p>
          <a:p>
            <a:r>
              <a:rPr lang="vi-VN" b="1" dirty="0"/>
              <a:t>Tổng kết:</a:t>
            </a:r>
          </a:p>
          <a:p>
            <a:r>
              <a:rPr lang="vi-VN" dirty="0"/>
              <a:t>RPC làm cho một lời gọi hàm từ xa </a:t>
            </a:r>
            <a:r>
              <a:rPr lang="vi-VN" b="1" dirty="0"/>
              <a:t>giống hệt như lời gọi hàm bình thường</a:t>
            </a:r>
            <a:r>
              <a:rPr lang="vi-VN" dirty="0"/>
              <a:t>. Mọi phức tạp về mạng, đóng gói dữ liệu, gọi hàm đều được ẩn đi nhờ cơ chế </a:t>
            </a:r>
            <a:r>
              <a:rPr lang="vi-VN" b="1" dirty="0"/>
              <a:t>stub</a:t>
            </a:r>
            <a:r>
              <a:rPr lang="vi-VN" dirty="0"/>
              <a:t> và </a:t>
            </a:r>
            <a:r>
              <a:rPr lang="vi-VN" b="1" dirty="0"/>
              <a:t>hệ điều hành</a:t>
            </a:r>
            <a:r>
              <a:rPr lang="vi-VN" dirty="0"/>
              <a:t>.</a:t>
            </a:r>
          </a:p>
          <a:p>
            <a:endParaRPr lang="en-US" b="1" dirty="0"/>
          </a:p>
          <a:p>
            <a:r>
              <a:rPr lang="vi-VN" b="1" dirty="0"/>
              <a:t>Ý tưởng chính:</a:t>
            </a:r>
          </a:p>
          <a:p>
            <a:r>
              <a:rPr lang="vi-VN" dirty="0"/>
              <a:t>Lập trình viên chỉ thấy r = doit(a, b)</a:t>
            </a:r>
            <a:br>
              <a:rPr lang="vi-VN" dirty="0"/>
            </a:br>
            <a:r>
              <a:rPr lang="vi-VN" dirty="0"/>
              <a:t>Nhưng thực tế:</a:t>
            </a:r>
          </a:p>
          <a:p>
            <a:pPr>
              <a:buFont typeface="Arial" panose="020B0604020202020204" pitchFamily="34" charset="0"/>
              <a:buChar char="•"/>
            </a:pPr>
            <a:r>
              <a:rPr lang="vi-VN" dirty="0"/>
              <a:t>Gửi đi → nhận lại → giải mã → thực thi từ xa → trả kết quả</a:t>
            </a:r>
          </a:p>
          <a:p>
            <a:pPr>
              <a:buFont typeface="Arial" panose="020B0604020202020204" pitchFamily="34" charset="0"/>
              <a:buChar char="•"/>
            </a:pPr>
            <a:r>
              <a:rPr lang="vi-VN" b="1" dirty="0"/>
              <a:t>“Tưởng như local, nhưng thật ra remote”</a:t>
            </a:r>
            <a:endParaRPr lang="vi-VN" dirty="0"/>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14</a:t>
            </a:fld>
            <a:endParaRPr lang="en-US"/>
          </a:p>
        </p:txBody>
      </p:sp>
    </p:spTree>
    <p:extLst>
      <p:ext uri="{BB962C8B-B14F-4D97-AF65-F5344CB8AC3E}">
        <p14:creationId xmlns:p14="http://schemas.microsoft.com/office/powerpoint/2010/main" val="1630652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"RPC: Parameter Passing"</a:t>
            </a:r>
            <a:r>
              <a:rPr lang="vi-VN" dirty="0"/>
              <a:t> </a:t>
            </a:r>
            <a:endParaRPr lang="en-US" dirty="0"/>
          </a:p>
          <a:p>
            <a:endParaRPr lang="vi-VN" b="1" dirty="0"/>
          </a:p>
          <a:p>
            <a:r>
              <a:rPr lang="en-US" b="1" dirty="0"/>
              <a:t>- </a:t>
            </a:r>
            <a:r>
              <a:rPr lang="vi-VN" b="1" dirty="0"/>
              <a:t>There’s more than just wrapping parameters into a message</a:t>
            </a:r>
            <a:endParaRPr lang="vi-VN" dirty="0"/>
          </a:p>
          <a:p>
            <a:r>
              <a:rPr lang="vi-VN" dirty="0"/>
              <a:t>Khi một hàm từ xa được gọi (RPC), tham số không chỉ đơn giản là được "đóng gói" rồi gửi đi. Việc truyền tham số (parameter passing) trong RPC thực chất </a:t>
            </a:r>
            <a:r>
              <a:rPr lang="vi-VN" b="1" dirty="0"/>
              <a:t>phức tạp hơn nhiều</a:t>
            </a:r>
            <a:r>
              <a:rPr lang="vi-VN" dirty="0"/>
              <a:t> do sự khác biệt giữa hai máy (client/server).</a:t>
            </a:r>
          </a:p>
          <a:p>
            <a:endParaRPr lang="en-US" b="1" dirty="0"/>
          </a:p>
          <a:p>
            <a:r>
              <a:rPr lang="en-US" b="1" dirty="0"/>
              <a:t>- </a:t>
            </a:r>
            <a:r>
              <a:rPr lang="vi-VN" b="1" dirty="0"/>
              <a:t>Client and server machines may have different data representations (think of byte ordering)</a:t>
            </a:r>
            <a:endParaRPr lang="vi-VN" dirty="0"/>
          </a:p>
          <a:p>
            <a:r>
              <a:rPr lang="vi-VN" dirty="0"/>
              <a:t>Máy client và server có thể chạy trên </a:t>
            </a:r>
            <a:r>
              <a:rPr lang="vi-VN" b="1" dirty="0"/>
              <a:t>kiến trúc phần cứng khác nhau</a:t>
            </a:r>
            <a:r>
              <a:rPr lang="vi-VN" dirty="0"/>
              <a:t>, dẫn đến </a:t>
            </a:r>
            <a:r>
              <a:rPr lang="vi-VN" b="1" dirty="0"/>
              <a:t>cách lưu trữ dữ liệu cũng khác nhau</a:t>
            </a:r>
            <a:r>
              <a:rPr lang="vi-VN" dirty="0"/>
              <a:t>.</a:t>
            </a:r>
          </a:p>
          <a:p>
            <a:r>
              <a:rPr lang="vi-VN" dirty="0"/>
              <a:t>Ví dụ:</a:t>
            </a:r>
          </a:p>
          <a:p>
            <a:pPr>
              <a:buFont typeface="Arial" panose="020B0604020202020204" pitchFamily="34" charset="0"/>
              <a:buChar char="•"/>
            </a:pPr>
            <a:r>
              <a:rPr lang="vi-VN" dirty="0"/>
              <a:t>Máy dùng </a:t>
            </a:r>
            <a:r>
              <a:rPr lang="vi-VN" b="1" dirty="0"/>
              <a:t>Intel</a:t>
            </a:r>
            <a:r>
              <a:rPr lang="vi-VN" dirty="0"/>
              <a:t> (như PC) sử dụng </a:t>
            </a:r>
            <a:r>
              <a:rPr lang="vi-VN" b="1" dirty="0"/>
              <a:t>Little Endian</a:t>
            </a:r>
            <a:r>
              <a:rPr lang="vi-VN" dirty="0"/>
              <a:t>: byte thấp được lưu trước.</a:t>
            </a:r>
          </a:p>
          <a:p>
            <a:pPr>
              <a:buFont typeface="Arial" panose="020B0604020202020204" pitchFamily="34" charset="0"/>
              <a:buChar char="•"/>
            </a:pPr>
            <a:r>
              <a:rPr lang="vi-VN" dirty="0"/>
              <a:t>Máy dùng </a:t>
            </a:r>
            <a:r>
              <a:rPr lang="vi-VN" b="1" dirty="0"/>
              <a:t>(cũ) ARM</a:t>
            </a:r>
            <a:r>
              <a:rPr lang="vi-VN" dirty="0"/>
              <a:t> thì dùng </a:t>
            </a:r>
            <a:r>
              <a:rPr lang="vi-VN" b="1" dirty="0"/>
              <a:t>Big Endian</a:t>
            </a:r>
            <a:r>
              <a:rPr lang="vi-VN" dirty="0"/>
              <a:t>: byte cao lưu trước.</a:t>
            </a:r>
          </a:p>
          <a:p>
            <a:r>
              <a:rPr lang="vi-VN" dirty="0"/>
              <a:t>Do đó, nếu không chuẩn hóa khi truyền dữ liệu, </a:t>
            </a:r>
            <a:r>
              <a:rPr lang="vi-VN" b="1" dirty="0"/>
              <a:t>dữ liệu khi đến nơi có thể bị hiểu sai hoàn toàn</a:t>
            </a:r>
            <a:r>
              <a:rPr lang="vi-VN" dirty="0"/>
              <a:t>.</a:t>
            </a:r>
          </a:p>
          <a:p>
            <a:endParaRPr lang="en-US" b="1" dirty="0"/>
          </a:p>
          <a:p>
            <a:r>
              <a:rPr lang="en-US" b="1" dirty="0"/>
              <a:t>- </a:t>
            </a:r>
            <a:r>
              <a:rPr lang="vi-VN" b="1" dirty="0"/>
              <a:t>Wrapping a parameter means transforming a value into a sequence of bytes</a:t>
            </a:r>
            <a:endParaRPr lang="vi-VN" dirty="0"/>
          </a:p>
          <a:p>
            <a:r>
              <a:rPr lang="vi-VN" dirty="0"/>
              <a:t>Khi truyền tham số RPC, mỗi giá trị cần được </a:t>
            </a:r>
            <a:r>
              <a:rPr lang="vi-VN" b="1" dirty="0"/>
              <a:t>biến đổi thành một chuỗi byte</a:t>
            </a:r>
            <a:r>
              <a:rPr lang="vi-VN" dirty="0"/>
              <a:t> để gửi qua mạng. Quá trình này gọi là </a:t>
            </a:r>
            <a:r>
              <a:rPr lang="vi-VN" b="1" dirty="0"/>
              <a:t>marshaling</a:t>
            </a:r>
            <a:r>
              <a:rPr lang="vi-VN" dirty="0"/>
              <a:t> (đóng gói dữ liệu). Ở phía server, ta thực hiện </a:t>
            </a:r>
            <a:r>
              <a:rPr lang="vi-VN" b="1" dirty="0"/>
              <a:t>unmarshaling</a:t>
            </a:r>
            <a:r>
              <a:rPr lang="vi-VN" dirty="0"/>
              <a:t> (giải mã).</a:t>
            </a:r>
          </a:p>
          <a:p>
            <a:r>
              <a:rPr lang="vi-VN" dirty="0"/>
              <a:t>Ví dụ:</a:t>
            </a:r>
            <a:br>
              <a:rPr lang="vi-VN" dirty="0"/>
            </a:br>
            <a:r>
              <a:rPr lang="vi-VN" dirty="0"/>
              <a:t>Một số nguyên int x = 1000 cần được chuyển thành byte như 0x03E8 (theo thứ tự đúng) để có thể truyền đi.</a:t>
            </a:r>
          </a:p>
          <a:p>
            <a:endParaRPr lang="en-US" b="1" dirty="0"/>
          </a:p>
          <a:p>
            <a:r>
              <a:rPr lang="en-US" b="1" dirty="0"/>
              <a:t>- </a:t>
            </a:r>
            <a:r>
              <a:rPr lang="vi-VN" b="1" dirty="0"/>
              <a:t>Client and server have to agree on the same encoding:</a:t>
            </a:r>
            <a:endParaRPr lang="vi-VN" dirty="0"/>
          </a:p>
          <a:p>
            <a:r>
              <a:rPr lang="vi-VN" dirty="0"/>
              <a:t>Cả hai bên cần </a:t>
            </a:r>
            <a:r>
              <a:rPr lang="vi-VN" b="1" dirty="0"/>
              <a:t>đồng thuận về cách biểu diễn dữ liệu</a:t>
            </a:r>
            <a:r>
              <a:rPr lang="vi-VN" dirty="0"/>
              <a:t> để hiểu nhau đúng cách – giống như cả hai cùng nói chung một ngôn ngữ khi gửi/nhận dữ liệu.</a:t>
            </a:r>
            <a:endParaRPr lang="en-US" dirty="0"/>
          </a:p>
          <a:p>
            <a:r>
              <a:rPr lang="en-US" b="1" dirty="0"/>
              <a:t>	+ </a:t>
            </a:r>
            <a:r>
              <a:rPr lang="vi-VN" b="1" dirty="0"/>
              <a:t>How are basic data values represented (integers, floats, characters)</a:t>
            </a:r>
            <a:br>
              <a:rPr lang="vi-VN" dirty="0"/>
            </a:br>
            <a:r>
              <a:rPr lang="en-US" dirty="0"/>
              <a:t>	</a:t>
            </a:r>
            <a:r>
              <a:rPr lang="vi-VN" dirty="0"/>
              <a:t>Phải thống nhất xem:</a:t>
            </a:r>
          </a:p>
          <a:p>
            <a:pPr lvl="2">
              <a:buFont typeface="Arial" panose="020B0604020202020204" pitchFamily="34" charset="0"/>
              <a:buChar char="•"/>
            </a:pPr>
            <a:r>
              <a:rPr lang="vi-VN" dirty="0"/>
              <a:t>Số nguyên dùng mấy byte?</a:t>
            </a:r>
          </a:p>
          <a:p>
            <a:pPr lvl="2">
              <a:buFont typeface="Arial" panose="020B0604020202020204" pitchFamily="34" charset="0"/>
              <a:buChar char="•"/>
            </a:pPr>
            <a:r>
              <a:rPr lang="vi-VN" dirty="0"/>
              <a:t>Float dùng chuẩn IEEE nào?</a:t>
            </a:r>
          </a:p>
          <a:p>
            <a:pPr lvl="2">
              <a:buFont typeface="Arial" panose="020B0604020202020204" pitchFamily="34" charset="0"/>
              <a:buChar char="•"/>
            </a:pPr>
            <a:r>
              <a:rPr lang="vi-VN" dirty="0"/>
              <a:t>Ký tự dùng mã ASCII hay Unicode?</a:t>
            </a:r>
          </a:p>
          <a:p>
            <a:endParaRPr lang="en-US" b="1" dirty="0"/>
          </a:p>
          <a:p>
            <a:pPr lvl="2"/>
            <a:r>
              <a:rPr lang="en-US" b="1" dirty="0"/>
              <a:t>+ </a:t>
            </a:r>
            <a:r>
              <a:rPr lang="vi-VN" b="1" dirty="0"/>
              <a:t>How are complex data values represented (arrays, unions)</a:t>
            </a:r>
            <a:br>
              <a:rPr lang="vi-VN" dirty="0"/>
            </a:br>
            <a:r>
              <a:rPr lang="vi-VN" dirty="0"/>
              <a:t>Với các kiểu dữ liệu phức tạp như mảng, danh sách, hoặc đối tượng:</a:t>
            </a:r>
          </a:p>
          <a:p>
            <a:pPr lvl="2">
              <a:buFont typeface="Arial" panose="020B0604020202020204" pitchFamily="34" charset="0"/>
              <a:buChar char="•"/>
            </a:pPr>
            <a:r>
              <a:rPr lang="vi-VN" dirty="0"/>
              <a:t>Cần xác định cách sắp xếp từng phần tử.</a:t>
            </a:r>
          </a:p>
          <a:p>
            <a:pPr lvl="2">
              <a:buFont typeface="Arial" panose="020B0604020202020204" pitchFamily="34" charset="0"/>
              <a:buChar char="•"/>
            </a:pPr>
            <a:r>
              <a:rPr lang="vi-VN" dirty="0"/>
              <a:t>Nếu là mảng động, phải gửi kèm độ dài.</a:t>
            </a:r>
          </a:p>
          <a:p>
            <a:pPr lvl="2">
              <a:buFont typeface="Arial" panose="020B0604020202020204" pitchFamily="34" charset="0"/>
              <a:buChar char="•"/>
            </a:pPr>
            <a:r>
              <a:rPr lang="vi-VN" dirty="0"/>
              <a:t>Với struct/unions, cần đồng thuận về định dạng từng trường.</a:t>
            </a:r>
          </a:p>
          <a:p>
            <a:pPr lvl="2"/>
            <a:r>
              <a:rPr lang="vi-VN" dirty="0"/>
              <a:t>Ví dụ:</a:t>
            </a:r>
            <a:br>
              <a:rPr lang="vi-VN" dirty="0"/>
            </a:br>
            <a:r>
              <a:rPr lang="vi-VN" dirty="0"/>
              <a:t>Một mảng [1, 2, 3] có thể được đóng gói thành:</a:t>
            </a:r>
            <a:br>
              <a:rPr lang="vi-VN" dirty="0"/>
            </a:br>
            <a:r>
              <a:rPr lang="vi-VN" dirty="0"/>
              <a:t>length=3 | element1 | element2 | element3</a:t>
            </a:r>
          </a:p>
          <a:p>
            <a:endParaRPr lang="en-US" b="1" dirty="0"/>
          </a:p>
          <a:p>
            <a:r>
              <a:rPr lang="vi-VN" b="1" dirty="0"/>
              <a:t>Kết luận:</a:t>
            </a:r>
          </a:p>
          <a:p>
            <a:r>
              <a:rPr lang="vi-VN" b="1" dirty="0"/>
              <a:t>Client and server need to properly interpret messages, transforming them into machine-dependent representations.</a:t>
            </a:r>
            <a:endParaRPr lang="vi-VN" dirty="0"/>
          </a:p>
          <a:p>
            <a:r>
              <a:rPr lang="vi-VN" dirty="0"/>
              <a:t>Cuối cùng, client và server phải có khả năng </a:t>
            </a:r>
            <a:r>
              <a:rPr lang="vi-VN" b="1" dirty="0"/>
              <a:t>hiểu đúng thông điệp được gửi</a:t>
            </a:r>
            <a:r>
              <a:rPr lang="vi-VN" dirty="0"/>
              <a:t> và </a:t>
            </a:r>
            <a:r>
              <a:rPr lang="vi-VN" b="1" dirty="0"/>
              <a:t>chuyển đổi nó về dạng phù hợp với kiến trúc máy</a:t>
            </a:r>
            <a:r>
              <a:rPr lang="vi-VN" dirty="0"/>
              <a:t>.</a:t>
            </a:r>
            <a:br>
              <a:rPr lang="vi-VN" dirty="0"/>
            </a:br>
            <a:r>
              <a:rPr lang="vi-VN" dirty="0"/>
              <a:t>Nếu không có bước này, sẽ dẫn đến dữ liệu sai lệch, crash chương trình hoặc lỗi bảo mật.</a:t>
            </a:r>
          </a:p>
          <a:p>
            <a:endParaRPr lang="en-US" b="1" dirty="0"/>
          </a:p>
          <a:p>
            <a:r>
              <a:rPr lang="vi-VN" b="1" dirty="0"/>
              <a:t>Tóm tắt ngắn gọn:</a:t>
            </a:r>
          </a:p>
          <a:p>
            <a:pPr>
              <a:buFont typeface="Arial" panose="020B0604020202020204" pitchFamily="34" charset="0"/>
              <a:buChar char="•"/>
            </a:pPr>
            <a:r>
              <a:rPr lang="vi-VN" dirty="0"/>
              <a:t>RPC không chỉ là "gửi biến A cho server".</a:t>
            </a:r>
          </a:p>
          <a:p>
            <a:pPr>
              <a:buFont typeface="Arial" panose="020B0604020202020204" pitchFamily="34" charset="0"/>
              <a:buChar char="•"/>
            </a:pPr>
            <a:r>
              <a:rPr lang="vi-VN" dirty="0"/>
              <a:t>Dữ liệu cần chuẩn hóa thành dạng trung lập (machine-independent).</a:t>
            </a:r>
          </a:p>
          <a:p>
            <a:pPr>
              <a:buFont typeface="Arial" panose="020B0604020202020204" pitchFamily="34" charset="0"/>
              <a:buChar char="•"/>
            </a:pPr>
            <a:r>
              <a:rPr lang="vi-VN" dirty="0"/>
              <a:t>Client/server phải cùng </a:t>
            </a:r>
            <a:r>
              <a:rPr lang="vi-VN" b="1" dirty="0"/>
              <a:t>thống nhất cách hiểu dữ liệu</a:t>
            </a:r>
            <a:r>
              <a:rPr lang="vi-VN" dirty="0"/>
              <a:t>.</a:t>
            </a:r>
          </a:p>
          <a:p>
            <a:pPr>
              <a:buFont typeface="Arial" panose="020B0604020202020204" pitchFamily="34" charset="0"/>
              <a:buChar char="•"/>
            </a:pPr>
            <a:r>
              <a:rPr lang="vi-VN" dirty="0"/>
              <a:t>Quá trình này gọi là </a:t>
            </a:r>
            <a:r>
              <a:rPr lang="vi-VN" b="1" dirty="0"/>
              <a:t>marshaling/unmarshaling</a:t>
            </a:r>
            <a:r>
              <a:rPr lang="vi-VN" dirty="0"/>
              <a:t>.</a:t>
            </a:r>
          </a:p>
          <a:p>
            <a:pPr>
              <a:buFont typeface="Arial" panose="020B0604020202020204" pitchFamily="34" charset="0"/>
              <a:buChar char="•"/>
            </a:pPr>
            <a:r>
              <a:rPr lang="vi-VN" dirty="0"/>
              <a:t>Pointers và references phức tạp hơn – thường cần sao chép toàn bộ dữ liệu hoặc sử dụng các tham chiếu toàn cục.</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15</a:t>
            </a:fld>
            <a:endParaRPr lang="en-US"/>
          </a:p>
        </p:txBody>
      </p:sp>
    </p:spTree>
    <p:extLst>
      <p:ext uri="{BB962C8B-B14F-4D97-AF65-F5344CB8AC3E}">
        <p14:creationId xmlns:p14="http://schemas.microsoft.com/office/powerpoint/2010/main" val="17610507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RPC: Parameter passing</a:t>
            </a:r>
          </a:p>
          <a:p>
            <a:r>
              <a:rPr lang="vi-VN" dirty="0"/>
              <a:t>(</a:t>
            </a:r>
            <a:r>
              <a:rPr lang="vi-VN" i="1" dirty="0"/>
              <a:t>Truyền tham số trong RPC - Remote Procedure Call</a:t>
            </a:r>
            <a:r>
              <a:rPr lang="vi-VN" dirty="0"/>
              <a:t>)</a:t>
            </a:r>
          </a:p>
          <a:p>
            <a:endParaRPr lang="en-US" b="1" dirty="0"/>
          </a:p>
          <a:p>
            <a:r>
              <a:rPr lang="vi-VN" b="1" dirty="0"/>
              <a:t>1. Some assumptions</a:t>
            </a:r>
          </a:p>
          <a:p>
            <a:r>
              <a:rPr lang="vi-VN" dirty="0"/>
              <a:t>(</a:t>
            </a:r>
            <a:r>
              <a:rPr lang="vi-VN" i="1" dirty="0"/>
              <a:t>Một số giả định</a:t>
            </a:r>
            <a:r>
              <a:rPr lang="vi-VN" dirty="0"/>
              <a:t>)</a:t>
            </a:r>
          </a:p>
          <a:p>
            <a:r>
              <a:rPr lang="vi-VN" b="1" dirty="0"/>
              <a:t>➤ Copy in / Copy out semantics</a:t>
            </a:r>
          </a:p>
          <a:p>
            <a:pPr>
              <a:buFont typeface="Arial" panose="020B0604020202020204" pitchFamily="34" charset="0"/>
              <a:buChar char="•"/>
            </a:pPr>
            <a:r>
              <a:rPr lang="vi-VN" dirty="0"/>
              <a:t>Đây là cách thức phổ biến trong truyền tham số từ xa.</a:t>
            </a:r>
          </a:p>
          <a:p>
            <a:pPr>
              <a:buFont typeface="Arial" panose="020B0604020202020204" pitchFamily="34" charset="0"/>
              <a:buChar char="•"/>
            </a:pPr>
            <a:r>
              <a:rPr lang="vi-VN" dirty="0"/>
              <a:t>Có nghĩa là:</a:t>
            </a:r>
          </a:p>
          <a:p>
            <a:pPr marL="742950" lvl="1" indent="-285750">
              <a:buFont typeface="Arial" panose="020B0604020202020204" pitchFamily="34" charset="0"/>
              <a:buChar char="•"/>
            </a:pPr>
            <a:r>
              <a:rPr lang="vi-VN" dirty="0"/>
              <a:t>Khi client gọi thủ tục (procedure) từ xa, </a:t>
            </a:r>
            <a:r>
              <a:rPr lang="vi-VN" b="1" dirty="0"/>
              <a:t>tham số đầu vào được sao chép (copy in)</a:t>
            </a:r>
            <a:r>
              <a:rPr lang="vi-VN" dirty="0"/>
              <a:t> vào một thông điệp gửi cho server.</a:t>
            </a:r>
          </a:p>
          <a:p>
            <a:pPr marL="742950" lvl="1" indent="-285750">
              <a:buFont typeface="Arial" panose="020B0604020202020204" pitchFamily="34" charset="0"/>
              <a:buChar char="•"/>
            </a:pPr>
            <a:r>
              <a:rPr lang="vi-VN" dirty="0"/>
              <a:t>Khi server thực thi xong thủ tục, </a:t>
            </a:r>
            <a:r>
              <a:rPr lang="vi-VN" b="1" dirty="0"/>
              <a:t>giá trị mới của tham số đầu ra (nếu có)</a:t>
            </a:r>
            <a:r>
              <a:rPr lang="vi-VN" dirty="0"/>
              <a:t> sẽ được sao chép ngược trở lại client (</a:t>
            </a:r>
            <a:r>
              <a:rPr lang="vi-VN" b="1" dirty="0"/>
              <a:t>copy out</a:t>
            </a:r>
            <a:r>
              <a:rPr lang="vi-VN" dirty="0"/>
              <a:t>).</a:t>
            </a:r>
          </a:p>
          <a:p>
            <a:pPr>
              <a:buFont typeface="Arial" panose="020B0604020202020204" pitchFamily="34" charset="0"/>
              <a:buChar char="•"/>
            </a:pPr>
            <a:r>
              <a:rPr lang="vi-VN" dirty="0"/>
              <a:t>Do đó: </a:t>
            </a:r>
            <a:r>
              <a:rPr lang="vi-VN" b="1" dirty="0"/>
              <a:t>Trong lúc thực hiện thủ tục, không thể giả định rằng giá trị của tham số vẫn còn nguyên như ban đầu.</a:t>
            </a:r>
            <a:endParaRPr lang="vi-VN" dirty="0"/>
          </a:p>
          <a:p>
            <a:r>
              <a:rPr lang="vi-VN" dirty="0"/>
              <a:t>→ Điều này nhằm đảm bảo rằng quá trình xử lý từ xa không bị ảnh hưởng bởi sự thay đổi tham chiếu hay trạng thái dữ liệu cục bộ.</a:t>
            </a:r>
          </a:p>
          <a:p>
            <a:r>
              <a:rPr lang="vi-VN" b="1" dirty="0"/>
              <a:t>➤ Tất cả dữ liệu cần thao tác đều phải được truyền qua tham số</a:t>
            </a:r>
          </a:p>
          <a:p>
            <a:pPr>
              <a:buFont typeface="Arial" panose="020B0604020202020204" pitchFamily="34" charset="0"/>
              <a:buChar char="•"/>
            </a:pPr>
            <a:r>
              <a:rPr lang="vi-VN" dirty="0"/>
              <a:t>Không được </a:t>
            </a:r>
            <a:r>
              <a:rPr lang="vi-VN" b="1" dirty="0"/>
              <a:t>dựa vào các biến toàn cục</a:t>
            </a:r>
            <a:r>
              <a:rPr lang="vi-VN" dirty="0"/>
              <a:t> hay dữ liệu nằm sẵn trong bộ nhớ (vì client và server không chia sẻ không gian địa chỉ).</a:t>
            </a:r>
          </a:p>
          <a:p>
            <a:pPr>
              <a:buFont typeface="Arial" panose="020B0604020202020204" pitchFamily="34" charset="0"/>
              <a:buChar char="•"/>
            </a:pPr>
            <a:r>
              <a:rPr lang="vi-VN" dirty="0"/>
              <a:t>RPC </a:t>
            </a:r>
            <a:r>
              <a:rPr lang="vi-VN" b="1" dirty="0"/>
              <a:t>không hỗ trợ trực tiếp việc truyền con trỏ (pointers)</a:t>
            </a:r>
            <a:r>
              <a:rPr lang="vi-VN" dirty="0"/>
              <a:t> hay tham chiếu đến dữ liệu toàn cục.</a:t>
            </a:r>
          </a:p>
          <a:p>
            <a:pPr marL="742950" lvl="1" indent="-285750">
              <a:buFont typeface="Arial" panose="020B0604020202020204" pitchFamily="34" charset="0"/>
              <a:buChar char="•"/>
            </a:pPr>
            <a:r>
              <a:rPr lang="vi-VN" dirty="0"/>
              <a:t>Vì con trỏ ở client sẽ không có nghĩa gì ở server (vị trí trong bộ nhớ khác nhau).</a:t>
            </a:r>
          </a:p>
          <a:p>
            <a:pPr marL="742950" lvl="1" indent="-285750">
              <a:buFont typeface="Arial" panose="020B0604020202020204" pitchFamily="34" charset="0"/>
              <a:buChar char="•"/>
            </a:pPr>
            <a:r>
              <a:rPr lang="vi-VN" dirty="0"/>
              <a:t>Do đó, phải truyền bằng </a:t>
            </a:r>
            <a:r>
              <a:rPr lang="vi-VN" b="1" dirty="0"/>
              <a:t>giá trị (copy-by-value)</a:t>
            </a:r>
            <a:r>
              <a:rPr lang="vi-VN" dirty="0"/>
              <a:t> hoặc </a:t>
            </a:r>
            <a:r>
              <a:rPr lang="vi-VN" b="1" dirty="0"/>
              <a:t>dùng các cách thay thế như truyền handle, file name, object ID,...</a:t>
            </a:r>
            <a:endParaRPr lang="vi-VN" dirty="0"/>
          </a:p>
          <a:p>
            <a:endParaRPr lang="en-US" b="1" dirty="0"/>
          </a:p>
          <a:p>
            <a:r>
              <a:rPr lang="vi-VN" b="1" dirty="0"/>
              <a:t>2. Conclusion</a:t>
            </a:r>
          </a:p>
          <a:p>
            <a:r>
              <a:rPr lang="vi-VN" dirty="0"/>
              <a:t>(</a:t>
            </a:r>
            <a:r>
              <a:rPr lang="vi-VN" i="1" dirty="0"/>
              <a:t>Kết luận</a:t>
            </a:r>
            <a:r>
              <a:rPr lang="vi-VN" dirty="0"/>
              <a:t>)</a:t>
            </a:r>
          </a:p>
          <a:p>
            <a:r>
              <a:rPr lang="vi-VN" b="1" dirty="0"/>
              <a:t>➤ Không thể đạt được tính minh bạch truy cập (access transparency) hoàn toàn</a:t>
            </a:r>
          </a:p>
          <a:p>
            <a:pPr>
              <a:buFont typeface="Arial" panose="020B0604020202020204" pitchFamily="34" charset="0"/>
              <a:buChar char="•"/>
            </a:pPr>
            <a:r>
              <a:rPr lang="vi-VN" dirty="0"/>
              <a:t>Access transparency là khi client truy cập tài nguyên mà không quan tâm liệu nó là cục bộ hay từ xa.</a:t>
            </a:r>
          </a:p>
          <a:p>
            <a:pPr>
              <a:buFont typeface="Arial" panose="020B0604020202020204" pitchFamily="34" charset="0"/>
              <a:buChar char="•"/>
            </a:pPr>
            <a:r>
              <a:rPr lang="vi-VN" dirty="0"/>
              <a:t>Trong RPC, do các ràng buộc về truyền dữ liệu và môi trường tách biệt, nên </a:t>
            </a:r>
            <a:r>
              <a:rPr lang="vi-VN" b="1" dirty="0"/>
              <a:t>client không thể hoàn toàn truy cập dữ liệu từ xa giống như dữ liệu cục bộ</a:t>
            </a:r>
            <a:r>
              <a:rPr lang="vi-VN" dirty="0"/>
              <a:t>.</a:t>
            </a:r>
          </a:p>
          <a:p>
            <a:r>
              <a:rPr lang="vi-VN" b="1" dirty="0"/>
              <a:t>➤ Giải pháp: Cơ chế tham chiếu từ xa (Remote References)</a:t>
            </a:r>
          </a:p>
          <a:p>
            <a:pPr>
              <a:buFont typeface="Arial" panose="020B0604020202020204" pitchFamily="34" charset="0"/>
              <a:buChar char="•"/>
            </a:pPr>
            <a:r>
              <a:rPr lang="vi-VN" dirty="0"/>
              <a:t>Một cách để </a:t>
            </a:r>
            <a:r>
              <a:rPr lang="vi-VN" b="1" dirty="0"/>
              <a:t>giảm bớt khác biệt</a:t>
            </a:r>
            <a:r>
              <a:rPr lang="vi-VN" dirty="0"/>
              <a:t> giữa truy cập cục bộ và từ xa là </a:t>
            </a:r>
            <a:r>
              <a:rPr lang="vi-VN" b="1" dirty="0"/>
              <a:t>sử dụng tham chiếu từ xa (remote reference)</a:t>
            </a:r>
            <a:r>
              <a:rPr lang="vi-VN" dirty="0"/>
              <a:t>:</a:t>
            </a:r>
          </a:p>
          <a:p>
            <a:pPr marL="742950" lvl="1" indent="-285750">
              <a:buFont typeface="Arial" panose="020B0604020202020204" pitchFamily="34" charset="0"/>
              <a:buChar char="•"/>
            </a:pPr>
            <a:r>
              <a:rPr lang="vi-VN" dirty="0"/>
              <a:t>Cho phép client </a:t>
            </a:r>
            <a:r>
              <a:rPr lang="vi-VN" b="1" dirty="0"/>
              <a:t>gửi một tham chiếu</a:t>
            </a:r>
            <a:r>
              <a:rPr lang="vi-VN" dirty="0"/>
              <a:t> đến đối tượng/dữ liệu ở xa, để sử dụng tiếp trong các lời gọi thủ tục tiếp theo.</a:t>
            </a:r>
          </a:p>
          <a:p>
            <a:pPr marL="742950" lvl="1" indent="-285750">
              <a:buFont typeface="Arial" panose="020B0604020202020204" pitchFamily="34" charset="0"/>
              <a:buChar char="•"/>
            </a:pPr>
            <a:r>
              <a:rPr lang="vi-VN" dirty="0"/>
              <a:t>Ví dụ: client gửi tham chiếu đến một đối tượng danh sách nằm trên server, server có thể thao tác trên đó trong các lời gọi sau.</a:t>
            </a:r>
          </a:p>
          <a:p>
            <a:r>
              <a:rPr lang="vi-VN" b="1" dirty="0"/>
              <a:t>➤ Stubs có thể được dùng như là remote reference</a:t>
            </a:r>
          </a:p>
          <a:p>
            <a:pPr>
              <a:buFont typeface="Arial" panose="020B0604020202020204" pitchFamily="34" charset="0"/>
              <a:buChar char="•"/>
            </a:pPr>
            <a:r>
              <a:rPr lang="vi-VN" dirty="0"/>
              <a:t>Một số hệ thống RPC </a:t>
            </a:r>
            <a:r>
              <a:rPr lang="vi-VN" b="1" dirty="0"/>
              <a:t>triển khai "stub" như một cách để đại diện cho đối tượng từ xa</a:t>
            </a:r>
            <a:r>
              <a:rPr lang="vi-VN" dirty="0"/>
              <a:t>:</a:t>
            </a:r>
          </a:p>
          <a:p>
            <a:pPr marL="742950" lvl="1" indent="-285750">
              <a:buFont typeface="Arial" panose="020B0604020202020204" pitchFamily="34" charset="0"/>
              <a:buChar char="•"/>
            </a:pPr>
            <a:r>
              <a:rPr lang="vi-VN" dirty="0"/>
              <a:t>Stub là một đoạn mã nằm ở client, thay mặt cho đối tượng ở xa.</a:t>
            </a:r>
          </a:p>
          <a:p>
            <a:pPr marL="742950" lvl="1" indent="-285750">
              <a:buFont typeface="Arial" panose="020B0604020202020204" pitchFamily="34" charset="0"/>
              <a:buChar char="•"/>
            </a:pPr>
            <a:r>
              <a:rPr lang="vi-VN" dirty="0"/>
              <a:t>Khi gọi phương thức trên stub, lời gọi sẽ được chuyển đến server thật.</a:t>
            </a:r>
          </a:p>
          <a:p>
            <a:pPr marL="742950" lvl="1" indent="-285750">
              <a:buFont typeface="Arial" panose="020B0604020202020204" pitchFamily="34" charset="0"/>
              <a:buChar char="•"/>
            </a:pPr>
            <a:r>
              <a:rPr lang="vi-VN" dirty="0"/>
              <a:t>Điều này giúp giả lập việc có "con trỏ" đến dữ liệu từ xa mà không vi phạm các ràng buộc an toàn bộ nhớ.</a:t>
            </a:r>
          </a:p>
          <a:p>
            <a:endParaRPr lang="en-US" b="1" dirty="0"/>
          </a:p>
          <a:p>
            <a:r>
              <a:rPr lang="vi-VN" b="1" dirty="0"/>
              <a:t>Tóm lại:</a:t>
            </a:r>
          </a:p>
          <a:p>
            <a:pPr>
              <a:buFont typeface="Arial" panose="020B0604020202020204" pitchFamily="34" charset="0"/>
              <a:buChar char="•"/>
            </a:pPr>
            <a:r>
              <a:rPr lang="vi-VN" dirty="0"/>
              <a:t>RPC </a:t>
            </a:r>
            <a:r>
              <a:rPr lang="vi-VN" b="1" dirty="0"/>
              <a:t>không đơn giản là truyền tham số như trong nội bộ chương trình</a:t>
            </a:r>
            <a:r>
              <a:rPr lang="vi-VN" dirty="0"/>
              <a:t>, vì liên quan đến các vấn đề như không gian địa chỉ khác nhau, cách tổ chức dữ liệu khác biệt giữa client và server, và giới hạn trong việc dùng con trỏ.</a:t>
            </a:r>
          </a:p>
          <a:p>
            <a:pPr>
              <a:buFont typeface="Arial" panose="020B0604020202020204" pitchFamily="34" charset="0"/>
              <a:buChar char="•"/>
            </a:pPr>
            <a:r>
              <a:rPr lang="vi-VN" dirty="0"/>
              <a:t>Để </a:t>
            </a:r>
            <a:r>
              <a:rPr lang="vi-VN" b="1" dirty="0"/>
              <a:t>hạn chế sự khác biệt</a:t>
            </a:r>
            <a:r>
              <a:rPr lang="vi-VN" dirty="0"/>
              <a:t> giữa truy cập cục bộ và từ xa, cần thêm các cơ chế như </a:t>
            </a:r>
            <a:r>
              <a:rPr lang="vi-VN" b="1" dirty="0"/>
              <a:t>remote references</a:t>
            </a:r>
            <a:r>
              <a:rPr lang="vi-VN" dirty="0"/>
              <a:t> hoặc dùng </a:t>
            </a:r>
            <a:r>
              <a:rPr lang="vi-VN" b="1" dirty="0"/>
              <a:t>stub như đại diện đối tượng từ xa</a:t>
            </a:r>
            <a:r>
              <a:rPr lang="vi-VN" dirty="0"/>
              <a:t>.</a:t>
            </a:r>
          </a:p>
          <a:p>
            <a:endParaRPr lang="en-US" dirty="0"/>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18</a:t>
            </a:fld>
            <a:endParaRPr lang="en-US"/>
          </a:p>
        </p:txBody>
      </p:sp>
    </p:spTree>
    <p:extLst>
      <p:ext uri="{BB962C8B-B14F-4D97-AF65-F5344CB8AC3E}">
        <p14:creationId xmlns:p14="http://schemas.microsoft.com/office/powerpoint/2010/main" val="393741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Asynchronous RPCs</a:t>
            </a:r>
          </a:p>
          <a:p>
            <a:r>
              <a:rPr lang="en-US" b="1" i="1" dirty="0"/>
              <a:t>T</a:t>
            </a:r>
            <a:r>
              <a:rPr lang="vi-VN" b="1" i="1" dirty="0"/>
              <a:t>hủ tục </a:t>
            </a:r>
            <a:r>
              <a:rPr lang="en-US" b="1" i="1" dirty="0" err="1"/>
              <a:t>gọi</a:t>
            </a:r>
            <a:r>
              <a:rPr lang="vi-VN" b="1" i="1" dirty="0"/>
              <a:t> xa không đồng bộ</a:t>
            </a:r>
            <a:endParaRPr lang="vi-VN" b="1" dirty="0"/>
          </a:p>
          <a:p>
            <a:endParaRPr lang="en-US" b="1" dirty="0"/>
          </a:p>
          <a:p>
            <a:r>
              <a:rPr lang="vi-VN" b="1" dirty="0"/>
              <a:t>Essence (Bản chất)</a:t>
            </a:r>
          </a:p>
          <a:p>
            <a:r>
              <a:rPr lang="vi-VN" dirty="0"/>
              <a:t>“Try to get rid of the strict request-reply behavior, but let the client continue without waiting for an answer from the server.”</a:t>
            </a:r>
          </a:p>
          <a:p>
            <a:pPr>
              <a:buFont typeface="Arial" panose="020B0604020202020204" pitchFamily="34" charset="0"/>
              <a:buChar char="•"/>
            </a:pPr>
            <a:r>
              <a:rPr lang="vi-VN" dirty="0"/>
              <a:t>RPC thông thường hoạt động theo kiểu </a:t>
            </a:r>
            <a:r>
              <a:rPr lang="vi-VN" b="1" dirty="0"/>
              <a:t>"request-reply" chặt chẽ</a:t>
            </a:r>
            <a:r>
              <a:rPr lang="vi-VN" dirty="0"/>
              <a:t>: Client gửi yêu cầu đến server, rồi </a:t>
            </a:r>
            <a:r>
              <a:rPr lang="vi-VN" b="1" dirty="0"/>
              <a:t>chờ kết quả trả về</a:t>
            </a:r>
            <a:r>
              <a:rPr lang="vi-VN" dirty="0"/>
              <a:t> → mới tiếp tục làm việc tiếp.</a:t>
            </a:r>
          </a:p>
          <a:p>
            <a:pPr>
              <a:buFont typeface="Arial" panose="020B0604020202020204" pitchFamily="34" charset="0"/>
              <a:buChar char="•"/>
            </a:pPr>
            <a:r>
              <a:rPr lang="vi-VN" dirty="0"/>
              <a:t>Trong </a:t>
            </a:r>
            <a:r>
              <a:rPr lang="vi-VN" b="1" dirty="0"/>
              <a:t>Asynchronous RPC</a:t>
            </a:r>
            <a:r>
              <a:rPr lang="vi-VN" dirty="0"/>
              <a:t>, ta </a:t>
            </a:r>
            <a:r>
              <a:rPr lang="vi-VN" b="1" dirty="0"/>
              <a:t>nới lỏng</a:t>
            </a:r>
            <a:r>
              <a:rPr lang="vi-VN" dirty="0"/>
              <a:t> điều đó:</a:t>
            </a:r>
          </a:p>
          <a:p>
            <a:pPr marL="742950" lvl="1" indent="-285750">
              <a:buFont typeface="Arial" panose="020B0604020202020204" pitchFamily="34" charset="0"/>
              <a:buChar char="•"/>
            </a:pPr>
            <a:r>
              <a:rPr lang="vi-VN" dirty="0"/>
              <a:t>Client </a:t>
            </a:r>
            <a:r>
              <a:rPr lang="vi-VN" b="1" dirty="0"/>
              <a:t>gửi yêu cầu</a:t>
            </a:r>
            <a:r>
              <a:rPr lang="vi-VN" dirty="0"/>
              <a:t> rồi </a:t>
            </a:r>
            <a:r>
              <a:rPr lang="vi-VN" b="1" dirty="0"/>
              <a:t>tiếp tục xử lý công việc khác</a:t>
            </a:r>
            <a:r>
              <a:rPr lang="vi-VN" dirty="0"/>
              <a:t>, </a:t>
            </a:r>
            <a:r>
              <a:rPr lang="vi-VN" b="1" dirty="0"/>
              <a:t>không chờ</a:t>
            </a:r>
            <a:r>
              <a:rPr lang="vi-VN" dirty="0"/>
              <a:t> server phản hồi ngay lập tức.</a:t>
            </a:r>
          </a:p>
          <a:p>
            <a:pPr marL="742950" lvl="1" indent="-285750">
              <a:buFont typeface="Arial" panose="020B0604020202020204" pitchFamily="34" charset="0"/>
              <a:buChar char="•"/>
            </a:pPr>
            <a:r>
              <a:rPr lang="vi-VN" dirty="0"/>
              <a:t>Khi nào server hoàn thành xử lý, nó </a:t>
            </a:r>
            <a:r>
              <a:rPr lang="vi-VN" b="1" dirty="0"/>
              <a:t>chủ động trả kết quả lại</a:t>
            </a:r>
            <a:r>
              <a:rPr lang="vi-VN" dirty="0"/>
              <a:t> cho client (thường là qua callback hoặc một cơ chế thông báo nào đó).</a:t>
            </a:r>
          </a:p>
          <a:p>
            <a:endParaRPr lang="en-US" b="1" dirty="0"/>
          </a:p>
          <a:p>
            <a:r>
              <a:rPr lang="vi-VN" b="1" dirty="0"/>
              <a:t>Phân tích sơ đồ (Sequence Diagram)</a:t>
            </a:r>
          </a:p>
          <a:p>
            <a:r>
              <a:rPr lang="vi-VN" b="1" dirty="0"/>
              <a:t>Các bước chính (theo sơ đồ dòng thời gian):</a:t>
            </a:r>
          </a:p>
          <a:p>
            <a:pPr>
              <a:buFont typeface="+mj-lt"/>
              <a:buAutoNum type="arabicPeriod"/>
            </a:pPr>
            <a:r>
              <a:rPr lang="vi-VN" b="1" dirty="0"/>
              <a:t>Client gọi thủ tục từ xa (Call remote procedure)</a:t>
            </a:r>
            <a:endParaRPr lang="vi-VN" dirty="0"/>
          </a:p>
          <a:p>
            <a:pPr marL="457200" lvl="1" indent="0">
              <a:buFont typeface="+mj-lt"/>
              <a:buNone/>
            </a:pPr>
            <a:r>
              <a:rPr lang="en-US" dirty="0"/>
              <a:t>- </a:t>
            </a:r>
            <a:r>
              <a:rPr lang="vi-VN" dirty="0"/>
              <a:t>Gửi yêu cầu (request) đến server.</a:t>
            </a:r>
          </a:p>
          <a:p>
            <a:pPr>
              <a:buFont typeface="+mj-lt"/>
              <a:buAutoNum type="arabicPeriod"/>
            </a:pPr>
            <a:r>
              <a:rPr lang="vi-VN" b="1" dirty="0"/>
              <a:t>Server nhận yêu cầu (Accept request)</a:t>
            </a:r>
            <a:endParaRPr lang="vi-VN" dirty="0"/>
          </a:p>
          <a:p>
            <a:pPr marL="457200" lvl="1" indent="0">
              <a:buFont typeface="+mj-lt"/>
              <a:buNone/>
            </a:pPr>
            <a:r>
              <a:rPr lang="en-US" dirty="0"/>
              <a:t>- </a:t>
            </a:r>
            <a:r>
              <a:rPr lang="vi-VN" dirty="0"/>
              <a:t>Server </a:t>
            </a:r>
            <a:r>
              <a:rPr lang="vi-VN" b="1" dirty="0"/>
              <a:t>không xử lý ngay</a:t>
            </a:r>
            <a:r>
              <a:rPr lang="vi-VN" dirty="0"/>
              <a:t>, mà chỉ xác nhận là đã nhận yêu cầu.</a:t>
            </a:r>
          </a:p>
          <a:p>
            <a:pPr marL="457200" lvl="1" indent="0">
              <a:buFont typeface="+mj-lt"/>
              <a:buNone/>
            </a:pPr>
            <a:r>
              <a:rPr lang="en-US" dirty="0"/>
              <a:t>- </a:t>
            </a:r>
            <a:r>
              <a:rPr lang="vi-VN" dirty="0"/>
              <a:t>Sau đó gửi phản hồi </a:t>
            </a:r>
            <a:r>
              <a:rPr lang="vi-VN" b="1" dirty="0"/>
              <a:t>xác nhận đã nhận</a:t>
            </a:r>
            <a:r>
              <a:rPr lang="vi-VN" dirty="0"/>
              <a:t> lại cho client → gọi là </a:t>
            </a:r>
            <a:r>
              <a:rPr lang="vi-VN" b="1" dirty="0"/>
              <a:t>“Wait for acceptance”</a:t>
            </a:r>
            <a:r>
              <a:rPr lang="vi-VN" dirty="0"/>
              <a:t>.</a:t>
            </a:r>
          </a:p>
          <a:p>
            <a:pPr>
              <a:buFont typeface="+mj-lt"/>
              <a:buAutoNum type="arabicPeriod"/>
            </a:pPr>
            <a:r>
              <a:rPr lang="vi-VN" b="1" dirty="0"/>
              <a:t>Client nhận xác nhận và tiếp tục làm việc (Return from call)</a:t>
            </a:r>
            <a:endParaRPr lang="vi-VN" dirty="0"/>
          </a:p>
          <a:p>
            <a:pPr marL="457200" lvl="1" indent="0">
              <a:buFont typeface="+mj-lt"/>
              <a:buNone/>
            </a:pPr>
            <a:r>
              <a:rPr lang="en-US" dirty="0"/>
              <a:t>- </a:t>
            </a:r>
            <a:r>
              <a:rPr lang="vi-VN" dirty="0"/>
              <a:t>Ngay khi nhận xác nhận, client </a:t>
            </a:r>
            <a:r>
              <a:rPr lang="vi-VN" b="1" dirty="0"/>
              <a:t>thoát khỏi lời gọi thủ tục</a:t>
            </a:r>
            <a:r>
              <a:rPr lang="vi-VN" dirty="0"/>
              <a:t> → </a:t>
            </a:r>
            <a:r>
              <a:rPr lang="vi-VN" b="1" dirty="0"/>
              <a:t>không chờ kết quả xử lý</a:t>
            </a:r>
            <a:r>
              <a:rPr lang="vi-VN" dirty="0"/>
              <a:t> nữa.</a:t>
            </a:r>
          </a:p>
          <a:p>
            <a:pPr marL="457200" lvl="1" indent="0">
              <a:buFont typeface="+mj-lt"/>
              <a:buNone/>
            </a:pPr>
            <a:r>
              <a:rPr lang="en-US" dirty="0"/>
              <a:t>- </a:t>
            </a:r>
            <a:r>
              <a:rPr lang="vi-VN" dirty="0"/>
              <a:t>Lúc này client vẫn đang tiếp tục công việc khác.</a:t>
            </a:r>
          </a:p>
          <a:p>
            <a:pPr>
              <a:buFont typeface="+mj-lt"/>
              <a:buAutoNum type="arabicPeriod"/>
            </a:pPr>
            <a:r>
              <a:rPr lang="vi-VN" b="1" dirty="0"/>
              <a:t>Server xử lý thủ tục cục bộ (Call local procedure)</a:t>
            </a:r>
            <a:endParaRPr lang="vi-VN" dirty="0"/>
          </a:p>
          <a:p>
            <a:pPr marL="457200" lvl="1" indent="0">
              <a:buFont typeface="+mj-lt"/>
              <a:buNone/>
            </a:pPr>
            <a:r>
              <a:rPr lang="en-US" dirty="0"/>
              <a:t>- </a:t>
            </a:r>
            <a:r>
              <a:rPr lang="vi-VN" dirty="0"/>
              <a:t>Server tiến hành xử lý yêu cầu từ client.</a:t>
            </a:r>
          </a:p>
          <a:p>
            <a:pPr>
              <a:buFont typeface="+mj-lt"/>
              <a:buAutoNum type="arabicPeriod"/>
            </a:pPr>
            <a:r>
              <a:rPr lang="vi-VN" b="1" dirty="0"/>
              <a:t>Khi có kết quả, server gửi trả về (Return results)</a:t>
            </a:r>
            <a:endParaRPr lang="vi-VN" dirty="0"/>
          </a:p>
          <a:p>
            <a:pPr marL="457200" lvl="1" indent="0">
              <a:buFont typeface="+mj-lt"/>
              <a:buNone/>
            </a:pPr>
            <a:r>
              <a:rPr lang="en-US" dirty="0"/>
              <a:t>- </a:t>
            </a:r>
            <a:r>
              <a:rPr lang="vi-VN" dirty="0"/>
              <a:t>Server </a:t>
            </a:r>
            <a:r>
              <a:rPr lang="vi-VN" b="1" dirty="0"/>
              <a:t>gửi kết quả trả về client</a:t>
            </a:r>
            <a:r>
              <a:rPr lang="vi-VN" dirty="0"/>
              <a:t> bằng một phương pháp bất đồng bộ (ví dụ như callback, tín hiệu,...).</a:t>
            </a:r>
          </a:p>
          <a:p>
            <a:pPr>
              <a:buFont typeface="+mj-lt"/>
              <a:buAutoNum type="arabicPeriod"/>
            </a:pPr>
            <a:r>
              <a:rPr lang="vi-VN" b="1" dirty="0"/>
              <a:t>Client nhận kết quả (Callback to client)</a:t>
            </a:r>
            <a:endParaRPr lang="vi-VN" dirty="0"/>
          </a:p>
          <a:p>
            <a:pPr marL="457200" lvl="1" indent="0">
              <a:buFont typeface="+mj-lt"/>
              <a:buNone/>
            </a:pPr>
            <a:r>
              <a:rPr lang="en-US" dirty="0"/>
              <a:t>- </a:t>
            </a:r>
            <a:r>
              <a:rPr lang="vi-VN" dirty="0"/>
              <a:t>Client nhận kết quả thông qua </a:t>
            </a:r>
            <a:r>
              <a:rPr lang="vi-VN" b="1" dirty="0"/>
              <a:t>cơ chế callback hoặc xử lý sự kiện (event)</a:t>
            </a:r>
            <a:r>
              <a:rPr lang="vi-VN" dirty="0"/>
              <a:t> và có thể phản ứng tiếp nếu cần.</a:t>
            </a:r>
          </a:p>
          <a:p>
            <a:endParaRPr lang="en-US" b="1" dirty="0"/>
          </a:p>
          <a:p>
            <a:r>
              <a:rPr lang="vi-VN" b="1" dirty="0"/>
              <a:t>Lợi ích của Asynchronous RPCs</a:t>
            </a:r>
          </a:p>
          <a:p>
            <a:pPr>
              <a:buFont typeface="Arial" panose="020B0604020202020204" pitchFamily="34" charset="0"/>
              <a:buChar char="•"/>
            </a:pPr>
            <a:r>
              <a:rPr lang="vi-VN" b="1" dirty="0"/>
              <a:t>Không block (khóa) client</a:t>
            </a:r>
            <a:r>
              <a:rPr lang="vi-VN" dirty="0"/>
              <a:t> trong lúc server xử lý → tăng hiệu suất.</a:t>
            </a:r>
          </a:p>
          <a:p>
            <a:pPr>
              <a:buFont typeface="Arial" panose="020B0604020202020204" pitchFamily="34" charset="0"/>
              <a:buChar char="•"/>
            </a:pPr>
            <a:r>
              <a:rPr lang="vi-VN" dirty="0"/>
              <a:t>Phù hợp cho </a:t>
            </a:r>
            <a:r>
              <a:rPr lang="vi-VN" b="1" dirty="0"/>
              <a:t>tác vụ tốn thời gian</a:t>
            </a:r>
            <a:r>
              <a:rPr lang="vi-VN" dirty="0"/>
              <a:t> như truy xuất CSDL, xử lý tính toán nặng,...</a:t>
            </a:r>
          </a:p>
          <a:p>
            <a:pPr>
              <a:buFont typeface="Arial" panose="020B0604020202020204" pitchFamily="34" charset="0"/>
              <a:buChar char="•"/>
            </a:pPr>
            <a:r>
              <a:rPr lang="vi-VN" dirty="0"/>
              <a:t>Client có thể </a:t>
            </a:r>
            <a:r>
              <a:rPr lang="vi-VN" b="1" dirty="0"/>
              <a:t>gửi nhiều yêu cầu song song</a:t>
            </a:r>
            <a:r>
              <a:rPr lang="vi-VN" dirty="0"/>
              <a:t>, không cần đợi từng cái hoàn thành.</a:t>
            </a:r>
          </a:p>
          <a:p>
            <a:endParaRPr lang="en-US" b="1" dirty="0"/>
          </a:p>
          <a:p>
            <a:r>
              <a:rPr lang="vi-VN" b="1" dirty="0"/>
              <a:t>Lưu ý / Thách thức</a:t>
            </a:r>
          </a:p>
          <a:p>
            <a:pPr>
              <a:buFont typeface="Arial" panose="020B0604020202020204" pitchFamily="34" charset="0"/>
              <a:buChar char="•"/>
            </a:pPr>
            <a:r>
              <a:rPr lang="vi-VN" b="1" dirty="0"/>
              <a:t>Phức tạp hơn</a:t>
            </a:r>
            <a:r>
              <a:rPr lang="vi-VN" dirty="0"/>
              <a:t> trong xử lý logic: cần có cách quản lý callback, trạng thái, đồng bộ hóa.</a:t>
            </a:r>
          </a:p>
          <a:p>
            <a:pPr>
              <a:buFont typeface="Arial" panose="020B0604020202020204" pitchFamily="34" charset="0"/>
              <a:buChar char="•"/>
            </a:pPr>
            <a:r>
              <a:rPr lang="vi-VN" dirty="0"/>
              <a:t>Cần xử lý </a:t>
            </a:r>
            <a:r>
              <a:rPr lang="vi-VN" b="1" dirty="0"/>
              <a:t>callback đúng cách</a:t>
            </a:r>
            <a:r>
              <a:rPr lang="vi-VN" dirty="0"/>
              <a:t> để tránh race conditions, deadlock,...</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19</a:t>
            </a:fld>
            <a:endParaRPr lang="en-US"/>
          </a:p>
        </p:txBody>
      </p:sp>
    </p:spTree>
    <p:extLst>
      <p:ext uri="{BB962C8B-B14F-4D97-AF65-F5344CB8AC3E}">
        <p14:creationId xmlns:p14="http://schemas.microsoft.com/office/powerpoint/2010/main" val="331468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Sending out multiple RPCs</a:t>
            </a:r>
          </a:p>
          <a:p>
            <a:r>
              <a:rPr lang="vi-VN" b="1" dirty="0"/>
              <a:t>Gửi nhiều lời gọi thủ tục từ xa đồng thời</a:t>
            </a:r>
          </a:p>
          <a:p>
            <a:endParaRPr lang="en-US" b="1" dirty="0"/>
          </a:p>
          <a:p>
            <a:r>
              <a:rPr lang="vi-VN" b="1" dirty="0"/>
              <a:t>Essence (Bản chất)</a:t>
            </a:r>
          </a:p>
          <a:p>
            <a:r>
              <a:rPr lang="vi-VN" b="1" dirty="0"/>
              <a:t>Sending an RPC request to a group of servers.</a:t>
            </a:r>
            <a:endParaRPr lang="vi-VN" dirty="0"/>
          </a:p>
          <a:p>
            <a:pPr>
              <a:buFont typeface="Arial" panose="020B0604020202020204" pitchFamily="34" charset="0"/>
              <a:buChar char="•"/>
            </a:pPr>
            <a:r>
              <a:rPr lang="vi-VN" dirty="0"/>
              <a:t>Thay vì gửi yêu cầu đến </a:t>
            </a:r>
            <a:r>
              <a:rPr lang="vi-VN" b="1" dirty="0"/>
              <a:t>một server duy nhất</a:t>
            </a:r>
            <a:r>
              <a:rPr lang="vi-VN" dirty="0"/>
              <a:t>, client sẽ </a:t>
            </a:r>
            <a:r>
              <a:rPr lang="vi-VN" b="1" dirty="0"/>
              <a:t>gửi cùng lúc nhiều yêu cầu RPC đến một nhóm server</a:t>
            </a:r>
            <a:r>
              <a:rPr lang="vi-VN" dirty="0"/>
              <a:t>.</a:t>
            </a:r>
          </a:p>
          <a:p>
            <a:pPr>
              <a:buFont typeface="Arial" panose="020B0604020202020204" pitchFamily="34" charset="0"/>
              <a:buChar char="•"/>
            </a:pPr>
            <a:r>
              <a:rPr lang="vi-VN" dirty="0"/>
              <a:t>Mỗi server sẽ </a:t>
            </a:r>
            <a:r>
              <a:rPr lang="vi-VN" b="1" dirty="0"/>
              <a:t>xử lý độc lập</a:t>
            </a:r>
            <a:r>
              <a:rPr lang="vi-VN" dirty="0"/>
              <a:t> yêu cầu của mình và sau đó gửi </a:t>
            </a:r>
            <a:r>
              <a:rPr lang="vi-VN" b="1" dirty="0"/>
              <a:t>kết quả về lại client</a:t>
            </a:r>
            <a:r>
              <a:rPr lang="vi-VN" dirty="0"/>
              <a:t>.</a:t>
            </a:r>
          </a:p>
          <a:p>
            <a:pPr>
              <a:buFont typeface="Arial" panose="020B0604020202020204" pitchFamily="34" charset="0"/>
              <a:buChar char="•"/>
            </a:pPr>
            <a:r>
              <a:rPr lang="vi-VN" dirty="0"/>
              <a:t>Đây là kỹ thuật quan trọng trong các hệ thống phân tán, đặc biệt là khi:</a:t>
            </a:r>
          </a:p>
          <a:p>
            <a:pPr marL="742950" lvl="1" indent="-285750">
              <a:buFont typeface="Arial" panose="020B0604020202020204" pitchFamily="34" charset="0"/>
              <a:buChar char="•"/>
            </a:pPr>
            <a:r>
              <a:rPr lang="vi-VN" dirty="0"/>
              <a:t>Cần </a:t>
            </a:r>
            <a:r>
              <a:rPr lang="vi-VN" b="1" dirty="0"/>
              <a:t>thu thập dữ liệu từ nhiều nguồn</a:t>
            </a:r>
            <a:r>
              <a:rPr lang="vi-VN" dirty="0"/>
              <a:t>.</a:t>
            </a:r>
          </a:p>
          <a:p>
            <a:pPr marL="742950" lvl="1" indent="-285750">
              <a:buFont typeface="Arial" panose="020B0604020202020204" pitchFamily="34" charset="0"/>
              <a:buChar char="•"/>
            </a:pPr>
            <a:r>
              <a:rPr lang="vi-VN" dirty="0"/>
              <a:t>Hoặc cần xử lý song song để </a:t>
            </a:r>
            <a:r>
              <a:rPr lang="vi-VN" b="1" dirty="0"/>
              <a:t>tăng tốc độ phản hồi</a:t>
            </a:r>
            <a:r>
              <a:rPr lang="vi-VN" dirty="0"/>
              <a:t>.</a:t>
            </a:r>
          </a:p>
          <a:p>
            <a:endParaRPr lang="en-US" b="1" dirty="0"/>
          </a:p>
          <a:p>
            <a:r>
              <a:rPr lang="vi-VN" b="1" dirty="0"/>
              <a:t>Giải thích sơ đồ (Sequence Diagram)</a:t>
            </a:r>
          </a:p>
          <a:p>
            <a:r>
              <a:rPr lang="vi-VN" b="1" dirty="0"/>
              <a:t>Các thành phần:</a:t>
            </a:r>
          </a:p>
          <a:p>
            <a:pPr>
              <a:buFont typeface="Arial" panose="020B0604020202020204" pitchFamily="34" charset="0"/>
              <a:buChar char="•"/>
            </a:pPr>
            <a:r>
              <a:rPr lang="vi-VN" dirty="0"/>
              <a:t>Có một </a:t>
            </a:r>
            <a:r>
              <a:rPr lang="vi-VN" b="1" dirty="0"/>
              <a:t>Client</a:t>
            </a:r>
            <a:r>
              <a:rPr lang="vi-VN" dirty="0"/>
              <a:t> và nhiều </a:t>
            </a:r>
            <a:r>
              <a:rPr lang="vi-VN" b="1" dirty="0"/>
              <a:t>Server</a:t>
            </a:r>
            <a:r>
              <a:rPr lang="vi-VN" dirty="0"/>
              <a:t> (ít nhất 2 server như hình).</a:t>
            </a:r>
          </a:p>
          <a:p>
            <a:pPr>
              <a:buFont typeface="Arial" panose="020B0604020202020204" pitchFamily="34" charset="0"/>
              <a:buChar char="•"/>
            </a:pPr>
            <a:r>
              <a:rPr lang="vi-VN" dirty="0"/>
              <a:t>Mỗi server có khả năng xử lý thủ tục cục bộ (local procedure).</a:t>
            </a:r>
          </a:p>
          <a:p>
            <a:endParaRPr lang="en-US" b="1" dirty="0"/>
          </a:p>
          <a:p>
            <a:r>
              <a:rPr lang="vi-VN" b="1" dirty="0"/>
              <a:t>Quy trình thời gian thực:</a:t>
            </a:r>
          </a:p>
          <a:p>
            <a:pPr>
              <a:buFont typeface="+mj-lt"/>
              <a:buAutoNum type="arabicPeriod"/>
            </a:pPr>
            <a:r>
              <a:rPr lang="vi-VN" b="1" dirty="0"/>
              <a:t>Client gọi nhiều RPC (Call remote procedures)</a:t>
            </a:r>
            <a:endParaRPr lang="vi-VN" dirty="0"/>
          </a:p>
          <a:p>
            <a:pPr marL="457200" lvl="1" indent="0">
              <a:buFont typeface="+mj-lt"/>
              <a:buNone/>
            </a:pPr>
            <a:r>
              <a:rPr lang="en-US" dirty="0"/>
              <a:t>- </a:t>
            </a:r>
            <a:r>
              <a:rPr lang="vi-VN" dirty="0"/>
              <a:t>Client đồng thời gửi yêu cầu RPC đến nhiều server.</a:t>
            </a:r>
          </a:p>
          <a:p>
            <a:pPr>
              <a:buFont typeface="+mj-lt"/>
              <a:buAutoNum type="arabicPeriod"/>
            </a:pPr>
            <a:r>
              <a:rPr lang="vi-VN" b="1" dirty="0"/>
              <a:t>Các server xử lý yêu cầu cục bộ (Call local procedure)</a:t>
            </a:r>
            <a:endParaRPr lang="vi-VN" dirty="0"/>
          </a:p>
          <a:p>
            <a:pPr marL="457200" lvl="1" indent="0">
              <a:buFont typeface="+mj-lt"/>
              <a:buNone/>
            </a:pPr>
            <a:r>
              <a:rPr lang="en-US" dirty="0"/>
              <a:t>- </a:t>
            </a:r>
            <a:r>
              <a:rPr lang="vi-VN" dirty="0"/>
              <a:t>Mỗi server nhận được yêu cầu và thực hiện xử lý độc lập.</a:t>
            </a:r>
          </a:p>
          <a:p>
            <a:pPr>
              <a:buFont typeface="+mj-lt"/>
              <a:buAutoNum type="arabicPeriod"/>
            </a:pPr>
            <a:r>
              <a:rPr lang="vi-VN" b="1" dirty="0"/>
              <a:t>Server trả kết quả về client (Callbacks to client)</a:t>
            </a:r>
            <a:endParaRPr lang="vi-VN" dirty="0"/>
          </a:p>
          <a:p>
            <a:pPr marL="457200" lvl="1" indent="0">
              <a:buFont typeface="+mj-lt"/>
              <a:buNone/>
            </a:pPr>
            <a:r>
              <a:rPr lang="en-US" dirty="0"/>
              <a:t>- </a:t>
            </a:r>
            <a:r>
              <a:rPr lang="vi-VN" dirty="0"/>
              <a:t>Khi server xử lý xong, nó </a:t>
            </a:r>
            <a:r>
              <a:rPr lang="vi-VN" b="1" dirty="0"/>
              <a:t>gửi kết quả trả về client</a:t>
            </a:r>
            <a:r>
              <a:rPr lang="vi-VN" dirty="0"/>
              <a:t> theo kiểu bất đồng bộ (callback).</a:t>
            </a:r>
          </a:p>
          <a:p>
            <a:pPr marL="457200" lvl="1" indent="0">
              <a:buFont typeface="+mj-lt"/>
              <a:buNone/>
            </a:pPr>
            <a:r>
              <a:rPr lang="en-US" dirty="0"/>
              <a:t>- </a:t>
            </a:r>
            <a:r>
              <a:rPr lang="vi-VN" dirty="0"/>
              <a:t>Các kết quả này </a:t>
            </a:r>
            <a:r>
              <a:rPr lang="vi-VN" b="1" dirty="0"/>
              <a:t>có thể đến không theo thứ tự</a:t>
            </a:r>
            <a:r>
              <a:rPr lang="vi-VN" dirty="0"/>
              <a:t> vì thời gian xử lý ở mỗi server khác nhau.</a:t>
            </a:r>
          </a:p>
          <a:p>
            <a:endParaRPr lang="en-US" b="1" dirty="0"/>
          </a:p>
          <a:p>
            <a:r>
              <a:rPr lang="vi-VN" b="1" dirty="0"/>
              <a:t>Lợi ích của cách làm này</a:t>
            </a:r>
          </a:p>
          <a:p>
            <a:pPr>
              <a:buFont typeface="Arial" panose="020B0604020202020204" pitchFamily="34" charset="0"/>
              <a:buChar char="•"/>
            </a:pPr>
            <a:r>
              <a:rPr lang="vi-VN" b="1" dirty="0"/>
              <a:t>Tăng hiệu suất:</a:t>
            </a:r>
            <a:r>
              <a:rPr lang="vi-VN" dirty="0"/>
              <a:t> Có thể xử lý song song nhiều tác vụ.</a:t>
            </a:r>
          </a:p>
          <a:p>
            <a:pPr>
              <a:buFont typeface="Arial" panose="020B0604020202020204" pitchFamily="34" charset="0"/>
              <a:buChar char="•"/>
            </a:pPr>
            <a:r>
              <a:rPr lang="vi-VN" b="1" dirty="0"/>
              <a:t>Độ trễ thấp hơn:</a:t>
            </a:r>
            <a:r>
              <a:rPr lang="vi-VN" dirty="0"/>
              <a:t> Client không phải chờ xử lý tuần tự.</a:t>
            </a:r>
          </a:p>
          <a:p>
            <a:pPr>
              <a:buFont typeface="Arial" panose="020B0604020202020204" pitchFamily="34" charset="0"/>
              <a:buChar char="•"/>
            </a:pPr>
            <a:r>
              <a:rPr lang="vi-VN" b="1" dirty="0"/>
              <a:t>Khả năng mở rộng tốt hơn</a:t>
            </a:r>
            <a:r>
              <a:rPr lang="vi-VN" dirty="0"/>
              <a:t> trong các hệ thống phân tán.</a:t>
            </a:r>
            <a:endParaRPr lang="en-US" dirty="0"/>
          </a:p>
          <a:p>
            <a:pPr>
              <a:buFont typeface="Arial" panose="020B0604020202020204" pitchFamily="34" charset="0"/>
              <a:buChar char="•"/>
            </a:pPr>
            <a:endParaRPr lang="en-US" b="1" dirty="0"/>
          </a:p>
          <a:p>
            <a:pPr>
              <a:buFont typeface="Arial" panose="020B0604020202020204" pitchFamily="34" charset="0"/>
              <a:buNone/>
            </a:pPr>
            <a:r>
              <a:rPr lang="vi-VN" b="1" dirty="0"/>
              <a:t>Thách thức cần lưu ý</a:t>
            </a:r>
          </a:p>
          <a:p>
            <a:pPr>
              <a:buFont typeface="Arial" panose="020B0604020202020204" pitchFamily="34" charset="0"/>
              <a:buChar char="•"/>
            </a:pPr>
            <a:r>
              <a:rPr lang="vi-VN" b="1" dirty="0"/>
              <a:t>Đồng bộ kết quả từ nhiều server</a:t>
            </a:r>
            <a:r>
              <a:rPr lang="vi-VN" dirty="0"/>
              <a:t> có thể khó khăn (phải đợi tất cả server phản hồi).</a:t>
            </a:r>
          </a:p>
          <a:p>
            <a:pPr>
              <a:buFont typeface="Arial" panose="020B0604020202020204" pitchFamily="34" charset="0"/>
              <a:buChar char="•"/>
            </a:pPr>
            <a:r>
              <a:rPr lang="vi-VN" dirty="0"/>
              <a:t>Phải có </a:t>
            </a:r>
            <a:r>
              <a:rPr lang="vi-VN" b="1" dirty="0"/>
              <a:t>cách xử lý timeout, lỗi kết nối</a:t>
            </a:r>
            <a:r>
              <a:rPr lang="vi-VN" dirty="0"/>
              <a:t> hoặc phản hồi chậm từ một số server.</a:t>
            </a:r>
          </a:p>
          <a:p>
            <a:pPr>
              <a:buFont typeface="Arial" panose="020B0604020202020204" pitchFamily="34" charset="0"/>
              <a:buChar char="•"/>
            </a:pPr>
            <a:r>
              <a:rPr lang="vi-VN" dirty="0"/>
              <a:t>Cần một </a:t>
            </a:r>
            <a:r>
              <a:rPr lang="vi-VN" b="1" dirty="0"/>
              <a:t>chiến lược hợp nhất kết quả</a:t>
            </a:r>
            <a:r>
              <a:rPr lang="vi-VN" dirty="0"/>
              <a:t> (aggregation).</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20</a:t>
            </a:fld>
            <a:endParaRPr lang="en-US"/>
          </a:p>
        </p:txBody>
      </p:sp>
    </p:spTree>
    <p:extLst>
      <p:ext uri="{BB962C8B-B14F-4D97-AF65-F5344CB8AC3E}">
        <p14:creationId xmlns:p14="http://schemas.microsoft.com/office/powerpoint/2010/main" val="22194963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"RPC in practice"</a:t>
            </a:r>
            <a:r>
              <a:rPr lang="vi-VN" dirty="0"/>
              <a:t>, mô tả quy trình thực tế để </a:t>
            </a:r>
            <a:r>
              <a:rPr lang="vi-VN" b="1" dirty="0"/>
              <a:t>xây dựng hệ thống RPC</a:t>
            </a:r>
            <a:r>
              <a:rPr lang="vi-VN" dirty="0"/>
              <a:t> từ việc định nghĩa giao diện đến biên dịch mã thực thi cho client và server.</a:t>
            </a:r>
          </a:p>
          <a:p>
            <a:r>
              <a:rPr lang="vi-VN" b="1" dirty="0"/>
              <a:t>Mục đích:</a:t>
            </a:r>
          </a:p>
          <a:p>
            <a:r>
              <a:rPr lang="vi-VN" dirty="0"/>
              <a:t>Giới thiệu quy trình </a:t>
            </a:r>
            <a:r>
              <a:rPr lang="vi-VN" b="1" dirty="0"/>
              <a:t>hiện thực hóa một hệ thống gọi thủ tục từ xa (Remote Procedure Call)</a:t>
            </a:r>
            <a:r>
              <a:rPr lang="vi-VN" dirty="0"/>
              <a:t> – tức là làm thế nào để RPC hoạt động trong thực tế.</a:t>
            </a:r>
          </a:p>
          <a:p>
            <a:endParaRPr lang="en-US" b="1" dirty="0"/>
          </a:p>
          <a:p>
            <a:r>
              <a:rPr lang="vi-VN" b="1" dirty="0"/>
              <a:t>Sơ đồ mô tả các bước phát triển hệ thống RPC bao gồm:</a:t>
            </a:r>
          </a:p>
          <a:p>
            <a:r>
              <a:rPr lang="en-US" b="1" dirty="0"/>
              <a:t>1. </a:t>
            </a:r>
            <a:r>
              <a:rPr lang="vi-VN" b="1" dirty="0"/>
              <a:t>Uuidgen:</a:t>
            </a:r>
            <a:r>
              <a:rPr lang="en-US" b="1" dirty="0"/>
              <a:t> (</a:t>
            </a:r>
            <a:r>
              <a:rPr lang="en-US" b="1" dirty="0" err="1"/>
              <a:t>bộ</a:t>
            </a:r>
            <a:r>
              <a:rPr lang="en-US" b="1" dirty="0"/>
              <a:t> </a:t>
            </a:r>
            <a:r>
              <a:rPr lang="en-US" b="1" dirty="0" err="1"/>
              <a:t>tạo</a:t>
            </a:r>
            <a:r>
              <a:rPr lang="en-US" b="1" dirty="0"/>
              <a:t> </a:t>
            </a:r>
            <a:r>
              <a:rPr lang="en-US" b="1" dirty="0" err="1"/>
              <a:t>uuid</a:t>
            </a:r>
            <a:r>
              <a:rPr lang="en-US" b="1" dirty="0"/>
              <a:t>)</a:t>
            </a:r>
            <a:endParaRPr lang="vi-VN" b="1" dirty="0"/>
          </a:p>
          <a:p>
            <a:pPr>
              <a:buFont typeface="Arial" panose="020B0604020202020204" pitchFamily="34" charset="0"/>
              <a:buChar char="•"/>
            </a:pPr>
            <a:r>
              <a:rPr lang="vi-VN" dirty="0"/>
              <a:t>Dùng để tạo một </a:t>
            </a:r>
            <a:r>
              <a:rPr lang="vi-VN" b="1" dirty="0"/>
              <a:t>UUID</a:t>
            </a:r>
            <a:r>
              <a:rPr lang="vi-VN" dirty="0"/>
              <a:t> (Universally Unique Identifier), giúp định danh duy nhất cho interface.</a:t>
            </a:r>
          </a:p>
          <a:p>
            <a:pPr>
              <a:buFont typeface="Arial" panose="020B0604020202020204" pitchFamily="34" charset="0"/>
              <a:buChar char="•"/>
            </a:pPr>
            <a:r>
              <a:rPr lang="vi-VN" dirty="0"/>
              <a:t>UUID đảm bảo các interface RPC không bị xung đột.</a:t>
            </a:r>
          </a:p>
          <a:p>
            <a:endParaRPr lang="en-US" b="1" dirty="0"/>
          </a:p>
          <a:p>
            <a:r>
              <a:rPr lang="en-US" b="1" dirty="0"/>
              <a:t>2. </a:t>
            </a:r>
            <a:r>
              <a:rPr lang="vi-VN" b="1" dirty="0"/>
              <a:t>Interface Definition File (IDL - Interface Definition Language):</a:t>
            </a:r>
          </a:p>
          <a:p>
            <a:pPr>
              <a:buFont typeface="Arial" panose="020B0604020202020204" pitchFamily="34" charset="0"/>
              <a:buChar char="•"/>
            </a:pPr>
            <a:r>
              <a:rPr lang="vi-VN" dirty="0"/>
              <a:t>Đây là tệp định nghĩa giao diện RPC – nơi mô tả các hàm mà client có thể gọi từ xa.</a:t>
            </a:r>
          </a:p>
          <a:p>
            <a:pPr>
              <a:buFont typeface="Arial" panose="020B0604020202020204" pitchFamily="34" charset="0"/>
              <a:buChar char="•"/>
            </a:pPr>
            <a:r>
              <a:rPr lang="vi-VN" dirty="0"/>
              <a:t>VD: Khai báo một hàm int add(int a, int b);</a:t>
            </a:r>
          </a:p>
          <a:p>
            <a:endParaRPr lang="en-US" b="1" dirty="0"/>
          </a:p>
          <a:p>
            <a:r>
              <a:rPr lang="en-US" b="1" dirty="0"/>
              <a:t>3. </a:t>
            </a:r>
            <a:r>
              <a:rPr lang="vi-VN" b="1" dirty="0"/>
              <a:t>IDL Compiler:</a:t>
            </a:r>
          </a:p>
          <a:p>
            <a:pPr>
              <a:buFont typeface="Arial" panose="020B0604020202020204" pitchFamily="34" charset="0"/>
              <a:buChar char="•"/>
            </a:pPr>
            <a:r>
              <a:rPr lang="vi-VN" dirty="0"/>
              <a:t>Dịch tệp IDL thành các thành phần cần thiết:</a:t>
            </a:r>
          </a:p>
          <a:p>
            <a:pPr marL="742950" lvl="1" indent="-285750">
              <a:buFont typeface="Arial" panose="020B0604020202020204" pitchFamily="34" charset="0"/>
              <a:buChar char="•"/>
            </a:pPr>
            <a:r>
              <a:rPr lang="vi-VN" b="1" dirty="0"/>
              <a:t>Client stub</a:t>
            </a:r>
            <a:r>
              <a:rPr lang="vi-VN" dirty="0"/>
              <a:t>: mô phỏng hàm ở phía client (đóng vai trò proxy).</a:t>
            </a:r>
          </a:p>
          <a:p>
            <a:pPr marL="742950" lvl="1" indent="-285750">
              <a:buFont typeface="Arial" panose="020B0604020202020204" pitchFamily="34" charset="0"/>
              <a:buChar char="•"/>
            </a:pPr>
            <a:r>
              <a:rPr lang="vi-VN" b="1" dirty="0"/>
              <a:t>Server stub</a:t>
            </a:r>
            <a:r>
              <a:rPr lang="vi-VN" dirty="0"/>
              <a:t>: mô phỏng hàm ở phía server (nhận dữ liệu RPC và gọi hàm thực tế).</a:t>
            </a:r>
          </a:p>
          <a:p>
            <a:pPr marL="742950" lvl="1" indent="-285750">
              <a:buFont typeface="Arial" panose="020B0604020202020204" pitchFamily="34" charset="0"/>
              <a:buChar char="•"/>
            </a:pPr>
            <a:r>
              <a:rPr lang="vi-VN" b="1" dirty="0"/>
              <a:t>Header file</a:t>
            </a:r>
            <a:r>
              <a:rPr lang="vi-VN" dirty="0"/>
              <a:t>: chứa định nghĩa chung (được cả client và server #include vào).</a:t>
            </a:r>
          </a:p>
          <a:p>
            <a:endParaRPr lang="en-US" b="1" dirty="0"/>
          </a:p>
          <a:p>
            <a:r>
              <a:rPr lang="en-US" b="1" dirty="0"/>
              <a:t>4. </a:t>
            </a:r>
            <a:r>
              <a:rPr lang="vi-VN" b="1" dirty="0"/>
              <a:t>Viết mã nguồn riêng:</a:t>
            </a:r>
          </a:p>
          <a:p>
            <a:pPr>
              <a:buFont typeface="Arial" panose="020B0604020202020204" pitchFamily="34" charset="0"/>
              <a:buChar char="•"/>
            </a:pPr>
            <a:r>
              <a:rPr lang="vi-VN" b="1" dirty="0"/>
              <a:t>Client code</a:t>
            </a:r>
            <a:r>
              <a:rPr lang="vi-VN" dirty="0"/>
              <a:t>: mã ứng dụng phía client, sẽ gọi hàm RPC.</a:t>
            </a:r>
          </a:p>
          <a:p>
            <a:pPr>
              <a:buFont typeface="Arial" panose="020B0604020202020204" pitchFamily="34" charset="0"/>
              <a:buChar char="•"/>
            </a:pPr>
            <a:r>
              <a:rPr lang="vi-VN" b="1" dirty="0"/>
              <a:t>Server code</a:t>
            </a:r>
            <a:r>
              <a:rPr lang="vi-VN" dirty="0"/>
              <a:t>: mã xử lý thực tế được thực thi trên server.</a:t>
            </a:r>
          </a:p>
          <a:p>
            <a:endParaRPr lang="en-US" b="1" dirty="0"/>
          </a:p>
          <a:p>
            <a:r>
              <a:rPr lang="en-US" b="1" dirty="0"/>
              <a:t>5. </a:t>
            </a:r>
            <a:r>
              <a:rPr lang="vi-VN" b="1" dirty="0"/>
              <a:t>Biên dịch từng phần (C compiler):</a:t>
            </a:r>
          </a:p>
          <a:p>
            <a:pPr>
              <a:buFont typeface="Arial" panose="020B0604020202020204" pitchFamily="34" charset="0"/>
              <a:buChar char="•"/>
            </a:pPr>
            <a:r>
              <a:rPr lang="vi-VN" dirty="0"/>
              <a:t>Mỗi phần (client/server code và stub) được biên dịch thành </a:t>
            </a:r>
            <a:r>
              <a:rPr lang="vi-VN" b="1" dirty="0"/>
              <a:t>object file</a:t>
            </a:r>
            <a:r>
              <a:rPr lang="vi-VN" dirty="0"/>
              <a:t> (.o).</a:t>
            </a:r>
          </a:p>
          <a:p>
            <a:pPr>
              <a:buFont typeface="Arial" panose="020B0604020202020204" pitchFamily="34" charset="0"/>
              <a:buChar char="•"/>
            </a:pPr>
            <a:r>
              <a:rPr lang="vi-VN" dirty="0"/>
              <a:t>Các file này là các đoạn mã máy chưa liên kết.</a:t>
            </a:r>
          </a:p>
          <a:p>
            <a:endParaRPr lang="en-US" b="1" dirty="0"/>
          </a:p>
          <a:p>
            <a:r>
              <a:rPr lang="en-US" b="1" dirty="0"/>
              <a:t>6. </a:t>
            </a:r>
            <a:r>
              <a:rPr lang="vi-VN" b="1" dirty="0"/>
              <a:t>Linker &amp; Runtime Library:</a:t>
            </a:r>
          </a:p>
          <a:p>
            <a:pPr>
              <a:buFont typeface="Arial" panose="020B0604020202020204" pitchFamily="34" charset="0"/>
              <a:buChar char="•"/>
            </a:pPr>
            <a:r>
              <a:rPr lang="vi-VN" dirty="0"/>
              <a:t>Linker kết hợp các object file với </a:t>
            </a:r>
            <a:r>
              <a:rPr lang="vi-VN" b="1" dirty="0"/>
              <a:t>thư viện thời gian chạy (runtime library)</a:t>
            </a:r>
            <a:r>
              <a:rPr lang="vi-VN" dirty="0"/>
              <a:t> của RPC để tạo ra:</a:t>
            </a:r>
          </a:p>
          <a:p>
            <a:pPr marL="742950" lvl="1" indent="-285750">
              <a:buFont typeface="Arial" panose="020B0604020202020204" pitchFamily="34" charset="0"/>
              <a:buChar char="•"/>
            </a:pPr>
            <a:r>
              <a:rPr lang="vi-VN" b="1" dirty="0"/>
              <a:t>Client binary</a:t>
            </a:r>
            <a:r>
              <a:rPr lang="vi-VN" dirty="0"/>
              <a:t>: chương trình chạy phía client.</a:t>
            </a:r>
          </a:p>
          <a:p>
            <a:pPr marL="742950" lvl="1" indent="-285750">
              <a:buFont typeface="Arial" panose="020B0604020202020204" pitchFamily="34" charset="0"/>
              <a:buChar char="•"/>
            </a:pPr>
            <a:r>
              <a:rPr lang="vi-VN" b="1" dirty="0"/>
              <a:t>Server binary</a:t>
            </a:r>
            <a:r>
              <a:rPr lang="vi-VN" dirty="0"/>
              <a:t>: chương trình chạy phía server.</a:t>
            </a:r>
          </a:p>
          <a:p>
            <a:endParaRPr lang="en-US" b="1" dirty="0"/>
          </a:p>
          <a:p>
            <a:r>
              <a:rPr lang="vi-VN" b="1" dirty="0"/>
              <a:t>Tổng kết quy trình:</a:t>
            </a:r>
          </a:p>
          <a:p>
            <a:pPr marL="228600" indent="-228600" rtl="0">
              <a:buAutoNum type="arabicPeriod"/>
            </a:pPr>
            <a:r>
              <a:rPr lang="vi-VN" dirty="0"/>
              <a:t>Viết IDL → sinh ra mã stub + header</a:t>
            </a:r>
            <a:endParaRPr lang="en-US" dirty="0"/>
          </a:p>
          <a:p>
            <a:pPr marL="228600" indent="-228600" rtl="0">
              <a:buAutoNum type="arabicPeriod"/>
            </a:pPr>
            <a:r>
              <a:rPr lang="vi-VN" dirty="0"/>
              <a:t>Viết mã client/server → include header</a:t>
            </a:r>
            <a:endParaRPr lang="en-US" dirty="0"/>
          </a:p>
          <a:p>
            <a:pPr marL="228600" indent="-228600" rtl="0">
              <a:buAutoNum type="arabicPeriod"/>
            </a:pPr>
            <a:r>
              <a:rPr lang="vi-VN" dirty="0"/>
              <a:t>Biên dịch từng phần</a:t>
            </a:r>
            <a:endParaRPr lang="en-US" dirty="0"/>
          </a:p>
          <a:p>
            <a:pPr marL="228600" indent="-228600" rtl="0">
              <a:buAutoNum type="arabicPeriod"/>
            </a:pPr>
            <a:r>
              <a:rPr lang="vi-VN" dirty="0"/>
              <a:t>Liên kết các object file và thư viện RPC</a:t>
            </a:r>
            <a:endParaRPr lang="en-US" dirty="0"/>
          </a:p>
          <a:p>
            <a:pPr marL="228600" indent="-228600" rtl="0">
              <a:buAutoNum type="arabicPeriod"/>
            </a:pPr>
            <a:r>
              <a:rPr lang="vi-VN" dirty="0"/>
              <a:t>Kết quả: file thực thi client &amp; server </a:t>
            </a:r>
          </a:p>
          <a:p>
            <a:endParaRPr lang="en-US" b="1" dirty="0"/>
          </a:p>
          <a:p>
            <a:r>
              <a:rPr lang="vi-VN" b="1" dirty="0"/>
              <a:t>Tại sao cần stub?</a:t>
            </a:r>
          </a:p>
          <a:p>
            <a:pPr>
              <a:buFont typeface="Arial" panose="020B0604020202020204" pitchFamily="34" charset="0"/>
              <a:buChar char="•"/>
            </a:pPr>
            <a:r>
              <a:rPr lang="vi-VN" b="1" dirty="0"/>
              <a:t>Client stub</a:t>
            </a:r>
            <a:r>
              <a:rPr lang="vi-VN" dirty="0"/>
              <a:t>: giúp client gọi hàm từ xa </a:t>
            </a:r>
            <a:r>
              <a:rPr lang="vi-VN" b="1" dirty="0"/>
              <a:t>giống như gọi hàm cục bộ</a:t>
            </a:r>
            <a:r>
              <a:rPr lang="vi-VN" dirty="0"/>
              <a:t>.</a:t>
            </a:r>
          </a:p>
          <a:p>
            <a:pPr>
              <a:buFont typeface="Arial" panose="020B0604020202020204" pitchFamily="34" charset="0"/>
              <a:buChar char="•"/>
            </a:pPr>
            <a:r>
              <a:rPr lang="vi-VN" b="1" dirty="0"/>
              <a:t>Server stub</a:t>
            </a:r>
            <a:r>
              <a:rPr lang="vi-VN" dirty="0"/>
              <a:t>: nhận request từ client, giải mã và gọi hàm thật.</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21</a:t>
            </a:fld>
            <a:endParaRPr lang="en-US"/>
          </a:p>
        </p:txBody>
      </p:sp>
    </p:spTree>
    <p:extLst>
      <p:ext uri="{BB962C8B-B14F-4D97-AF65-F5344CB8AC3E}">
        <p14:creationId xmlns:p14="http://schemas.microsoft.com/office/powerpoint/2010/main" val="3249021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Liên kết một client với một server</a:t>
            </a:r>
          </a:p>
          <a:p>
            <a:r>
              <a:rPr lang="vi-VN" dirty="0"/>
              <a:t>Để một client có thể gọi tới một server, điều kiện cần thiết là server đó </a:t>
            </a:r>
            <a:r>
              <a:rPr lang="vi-VN" b="1" dirty="0"/>
              <a:t>phải được đăng ký</a:t>
            </a:r>
            <a:r>
              <a:rPr lang="vi-VN" dirty="0"/>
              <a:t> và </a:t>
            </a:r>
            <a:r>
              <a:rPr lang="vi-VN" b="1" dirty="0"/>
              <a:t>sẵn sàng chấp nhận các cuộc gọi đến</a:t>
            </a:r>
            <a:r>
              <a:rPr lang="vi-VN" dirty="0"/>
              <a:t>. Việc đăng ký server giúp client có thể </a:t>
            </a:r>
            <a:r>
              <a:rPr lang="vi-VN" b="1" dirty="0"/>
              <a:t>tìm và liên kết</a:t>
            </a:r>
            <a:r>
              <a:rPr lang="vi-VN" dirty="0"/>
              <a:t> với server. Quá trình tìm vị trí của server diễn ra theo hai bước:</a:t>
            </a:r>
          </a:p>
          <a:p>
            <a:pPr>
              <a:buFont typeface="+mj-lt"/>
              <a:buAutoNum type="arabicPeriod"/>
            </a:pPr>
            <a:r>
              <a:rPr lang="vi-VN" b="1" dirty="0"/>
              <a:t>Xác định vị trí máy của server</a:t>
            </a:r>
            <a:r>
              <a:rPr lang="vi-VN" dirty="0"/>
              <a:t>.</a:t>
            </a:r>
          </a:p>
          <a:p>
            <a:pPr>
              <a:buFont typeface="+mj-lt"/>
              <a:buAutoNum type="arabicPeriod"/>
            </a:pPr>
            <a:r>
              <a:rPr lang="vi-VN" b="1" dirty="0"/>
              <a:t>Xác định vị trí server (tức là đúng tiến trình) trên máy đó</a:t>
            </a:r>
            <a:r>
              <a:rPr lang="vi-VN" dirty="0"/>
              <a:t>.</a:t>
            </a:r>
          </a:p>
          <a:p>
            <a:endParaRPr lang="en-US" dirty="0"/>
          </a:p>
          <a:p>
            <a:r>
              <a:rPr lang="vi-VN" dirty="0"/>
              <a:t>Bước thứ hai có phần tinh tế hơn. Về cơ bản, điều đó nghĩa là: để giao tiếp với server, client cần biết </a:t>
            </a:r>
            <a:r>
              <a:rPr lang="vi-VN" b="1" dirty="0"/>
              <a:t>cổng (port)</a:t>
            </a:r>
            <a:r>
              <a:rPr lang="vi-VN" dirty="0"/>
              <a:t> trên máy của server — nơi nó có thể gửi thông điệp đến. </a:t>
            </a:r>
            <a:r>
              <a:rPr lang="vi-VN" b="1" dirty="0"/>
              <a:t>Cổng</a:t>
            </a:r>
            <a:r>
              <a:rPr lang="vi-VN" dirty="0"/>
              <a:t> được hệ điều hành sử dụng để phân biệt các thông điệp đến cho các tiến trình khác nhau.</a:t>
            </a:r>
          </a:p>
          <a:p>
            <a:endParaRPr lang="en-US" dirty="0"/>
          </a:p>
          <a:p>
            <a:r>
              <a:rPr lang="vi-VN" dirty="0"/>
              <a:t>Trong hệ thống </a:t>
            </a:r>
            <a:r>
              <a:rPr lang="vi-VN" b="1" dirty="0"/>
              <a:t>DCE (Distributed Computing Environment)</a:t>
            </a:r>
            <a:r>
              <a:rPr lang="vi-VN" dirty="0"/>
              <a:t>, trên mỗi máy chủ đều có một tiến trình gọi là </a:t>
            </a:r>
            <a:r>
              <a:rPr lang="vi-VN" b="1" dirty="0"/>
              <a:t>DCE daemon</a:t>
            </a:r>
            <a:r>
              <a:rPr lang="vi-VN" dirty="0"/>
              <a:t> chịu trách nhiệm duy trì </a:t>
            </a:r>
            <a:r>
              <a:rPr lang="vi-VN" b="1" dirty="0"/>
              <a:t>bảng ánh xạ (server, port)</a:t>
            </a:r>
            <a:r>
              <a:rPr lang="vi-VN" dirty="0"/>
              <a:t>. Trước khi server có thể chấp nhận các yêu cầu từ client, nó cần yêu cầu hệ điều hành cấp một cổng. Sau đó, server </a:t>
            </a:r>
            <a:r>
              <a:rPr lang="vi-VN" b="1" dirty="0"/>
              <a:t>đăng ký cổng này với DCE daemon</a:t>
            </a:r>
            <a:r>
              <a:rPr lang="vi-VN" dirty="0"/>
              <a:t>.</a:t>
            </a:r>
          </a:p>
          <a:p>
            <a:r>
              <a:rPr lang="vi-VN" b="1" dirty="0"/>
              <a:t>DCE daemon</a:t>
            </a:r>
            <a:r>
              <a:rPr lang="vi-VN" dirty="0"/>
              <a:t> lưu thông tin đó (bao gồm cả giao thức mà server hỗ trợ) trong </a:t>
            </a:r>
            <a:r>
              <a:rPr lang="vi-VN" b="1" dirty="0"/>
              <a:t>bảng cổng (port table)</a:t>
            </a:r>
            <a:r>
              <a:rPr lang="vi-VN" dirty="0"/>
              <a:t> để dùng trong tương lai. Đồng thời, server cũng đăng ký với </a:t>
            </a:r>
            <a:r>
              <a:rPr lang="vi-VN" b="1" dirty="0"/>
              <a:t>dịch vụ thư mục (directory service)</a:t>
            </a:r>
            <a:r>
              <a:rPr lang="vi-VN" dirty="0"/>
              <a:t> bằng cách cung cấp địa chỉ mạng của máy chủ và tên định danh mà client có thể dùng để tìm kiếm.</a:t>
            </a:r>
          </a:p>
          <a:p>
            <a:endParaRPr lang="en-US" dirty="0"/>
          </a:p>
          <a:p>
            <a:r>
              <a:rPr lang="vi-VN" dirty="0"/>
              <a:t>Quá trình liên kết một client với server được mô tả như trong Hình (giả định). Giả sử client muốn liên kết tới một </a:t>
            </a:r>
            <a:r>
              <a:rPr lang="vi-VN" b="1" dirty="0"/>
              <a:t>video server</a:t>
            </a:r>
            <a:r>
              <a:rPr lang="vi-VN" dirty="0"/>
              <a:t> có tên nội bộ là:</a:t>
            </a:r>
            <a:br>
              <a:rPr lang="vi-VN" dirty="0"/>
            </a:br>
            <a:r>
              <a:rPr lang="vi-VN" dirty="0"/>
              <a:t>/local/multimedia/video/movies.</a:t>
            </a:r>
          </a:p>
          <a:p>
            <a:endParaRPr lang="en-US" dirty="0"/>
          </a:p>
          <a:p>
            <a:r>
              <a:rPr lang="vi-VN" dirty="0"/>
              <a:t>Client sẽ gửi tên này đến </a:t>
            </a:r>
            <a:r>
              <a:rPr lang="vi-VN" b="1" dirty="0"/>
              <a:t>server thư mục</a:t>
            </a:r>
            <a:r>
              <a:rPr lang="vi-VN" dirty="0"/>
              <a:t>, server này sẽ trả về địa chỉ mạng của máy đang chạy video server. Client sau đó gửi yêu cầu đến </a:t>
            </a:r>
            <a:r>
              <a:rPr lang="vi-VN" b="1" dirty="0"/>
              <a:t>DCE daemon</a:t>
            </a:r>
            <a:r>
              <a:rPr lang="vi-VN" dirty="0"/>
              <a:t> của máy đó (daemon này có một cổng đã biết trước), yêu cầu nó </a:t>
            </a:r>
            <a:r>
              <a:rPr lang="vi-VN" b="1" dirty="0"/>
              <a:t>tra cứu cổng</a:t>
            </a:r>
            <a:r>
              <a:rPr lang="vi-VN" dirty="0"/>
              <a:t> của video server trong bảng cổng.</a:t>
            </a:r>
          </a:p>
          <a:p>
            <a:endParaRPr lang="en-US" dirty="0"/>
          </a:p>
          <a:p>
            <a:r>
              <a:rPr lang="vi-VN" dirty="0"/>
              <a:t>Khi đã có được thông tin cổng, client có thể </a:t>
            </a:r>
            <a:r>
              <a:rPr lang="vi-VN" b="1" dirty="0"/>
              <a:t>bắt đầu thực hiện RPC (Remote Procedure Call)</a:t>
            </a:r>
            <a:r>
              <a:rPr lang="vi-VN" dirty="0"/>
              <a:t>. Trong những lần gọi tiếp theo, bước tra cứu này không cần thực hiện nữa.</a:t>
            </a:r>
          </a:p>
          <a:p>
            <a:endParaRPr lang="en-US" dirty="0"/>
          </a:p>
          <a:p>
            <a:r>
              <a:rPr lang="vi-VN" dirty="0"/>
              <a:t>Hệ thống DCE cũng cung cấp khả năng cho client </a:t>
            </a:r>
            <a:r>
              <a:rPr lang="vi-VN" b="1" dirty="0"/>
              <a:t>tìm kiếm nâng cao</a:t>
            </a:r>
            <a:r>
              <a:rPr lang="vi-VN" dirty="0"/>
              <a:t> để chọn được server phù hợp khi cần. Ngoài ra, </a:t>
            </a:r>
            <a:r>
              <a:rPr lang="vi-VN" b="1" dirty="0"/>
              <a:t>RPC bảo mật</a:t>
            </a:r>
            <a:r>
              <a:rPr lang="vi-VN" dirty="0"/>
              <a:t> cũng là một tùy chọn trong các trường hợp yêu cầu bảo mật hoặc toàn vẹn dữ liệu.</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22</a:t>
            </a:fld>
            <a:endParaRPr lang="en-US"/>
          </a:p>
        </p:txBody>
      </p:sp>
    </p:spTree>
    <p:extLst>
      <p:ext uri="{BB962C8B-B14F-4D97-AF65-F5344CB8AC3E}">
        <p14:creationId xmlns:p14="http://schemas.microsoft.com/office/powerpoint/2010/main" val="2527823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Giao tiếp tạm thời đơn giản bằng sockets</a:t>
            </a:r>
          </a:p>
          <a:p>
            <a:r>
              <a:rPr lang="vi-VN" dirty="0"/>
              <a:t>Nhiều hệ thống và ứng dụng phân tán được xây dựng trực tiếp dựa trên mô hình </a:t>
            </a:r>
            <a:r>
              <a:rPr lang="vi-VN" b="1" dirty="0"/>
              <a:t>gửi thông điệp đơn giản</a:t>
            </a:r>
            <a:r>
              <a:rPr lang="vi-VN" dirty="0"/>
              <a:t> được cung cấp bởi </a:t>
            </a:r>
            <a:r>
              <a:rPr lang="vi-VN" b="1" dirty="0"/>
              <a:t>lớp vận chuyển (transport layer)</a:t>
            </a:r>
            <a:r>
              <a:rPr lang="vi-VN" dirty="0"/>
              <a:t>. Để hiểu rõ hơn và đánh giá cao các hệ thống hướng thông điệp trong vai trò là một phần của các giải pháp middleware (phần mềm trung gian), trước tiên chúng ta sẽ thảo luận về cách gửi thông điệp thông qua </a:t>
            </a:r>
            <a:r>
              <a:rPr lang="vi-VN" b="1" dirty="0"/>
              <a:t>socket ở tầng vận chuyển</a:t>
            </a:r>
            <a:r>
              <a:rPr lang="vi-VN" dirty="0"/>
              <a:t>.</a:t>
            </a:r>
          </a:p>
          <a:p>
            <a:r>
              <a:rPr lang="vi-VN" dirty="0"/>
              <a:t>Đã có nhiều nỗ lực chuẩn hóa giao diện của tầng vận chuyển để cho phép lập trình viên sử dụng toàn bộ bộ giao thức (gửi thông điệp) thông qua một </a:t>
            </a:r>
            <a:r>
              <a:rPr lang="vi-VN" b="1" dirty="0"/>
              <a:t>tập hợp thao tác đơn giản</a:t>
            </a:r>
            <a:r>
              <a:rPr lang="vi-VN" dirty="0"/>
              <a:t>. Các giao diện chuẩn hóa cũng giúp việc </a:t>
            </a:r>
            <a:r>
              <a:rPr lang="vi-VN" b="1" dirty="0"/>
              <a:t>chuyển ứng dụng sang máy khác</a:t>
            </a:r>
            <a:r>
              <a:rPr lang="vi-VN" dirty="0"/>
              <a:t> trở nên dễ dàng hơn.</a:t>
            </a:r>
          </a:p>
          <a:p>
            <a:r>
              <a:rPr lang="vi-VN" dirty="0"/>
              <a:t>Lấy ví dụ, chúng ta sẽ nói đến </a:t>
            </a:r>
            <a:r>
              <a:rPr lang="vi-VN" b="1" dirty="0"/>
              <a:t>giao diện socket</a:t>
            </a:r>
            <a:r>
              <a:rPr lang="vi-VN" dirty="0"/>
              <a:t> được giới thiệu từ những năm 1970 trong </a:t>
            </a:r>
            <a:r>
              <a:rPr lang="vi-VN" b="1" dirty="0"/>
              <a:t>Berkeley Unix</a:t>
            </a:r>
            <a:r>
              <a:rPr lang="vi-VN" dirty="0"/>
              <a:t>, và sau đó được chấp nhận như một </a:t>
            </a:r>
            <a:r>
              <a:rPr lang="vi-VN" b="1" dirty="0"/>
              <a:t>chuẩn POSIX</a:t>
            </a:r>
            <a:r>
              <a:rPr lang="vi-VN" dirty="0"/>
              <a:t> (với rất ít sửa đổi).</a:t>
            </a:r>
          </a:p>
          <a:p>
            <a:r>
              <a:rPr lang="vi-VN" dirty="0"/>
              <a:t>Về mặt khái niệm, một </a:t>
            </a:r>
            <a:r>
              <a:rPr lang="vi-VN" b="1" dirty="0"/>
              <a:t>socket là một điểm cuối giao tiếp</a:t>
            </a:r>
            <a:r>
              <a:rPr lang="vi-VN" dirty="0"/>
              <a:t>, nơi mà một ứng dụng có thể </a:t>
            </a:r>
            <a:r>
              <a:rPr lang="vi-VN" b="1" dirty="0"/>
              <a:t>ghi dữ liệu để gửi ra mạng</a:t>
            </a:r>
            <a:r>
              <a:rPr lang="vi-VN" dirty="0"/>
              <a:t>, và </a:t>
            </a:r>
            <a:r>
              <a:rPr lang="vi-VN" b="1" dirty="0"/>
              <a:t>đọc dữ liệu đến từ mạng</a:t>
            </a:r>
            <a:r>
              <a:rPr lang="vi-VN" dirty="0"/>
              <a:t>. Socket là một lớp trừu tượng bao phủ lên </a:t>
            </a:r>
            <a:r>
              <a:rPr lang="vi-VN" b="1" dirty="0"/>
              <a:t>cổng thực tế</a:t>
            </a:r>
            <a:r>
              <a:rPr lang="vi-VN" dirty="0"/>
              <a:t> mà hệ điều hành sử dụng cho một </a:t>
            </a:r>
            <a:r>
              <a:rPr lang="vi-VN" b="1" dirty="0"/>
              <a:t>giao thức vận chuyển cụ thể</a:t>
            </a:r>
            <a:r>
              <a:rPr lang="vi-VN" dirty="0"/>
              <a:t>.</a:t>
            </a:r>
            <a:endParaRPr lang="en-US" dirty="0"/>
          </a:p>
          <a:p>
            <a:endParaRPr lang="vi-VN" dirty="0"/>
          </a:p>
          <a:p>
            <a:r>
              <a:rPr lang="vi-VN" dirty="0"/>
              <a:t>Trong phần tiếp theo, chúng ta tập trung vào các thao tác socket dành cho giao thức </a:t>
            </a:r>
            <a:r>
              <a:rPr lang="vi-VN" b="1" dirty="0"/>
              <a:t>TCP</a:t>
            </a:r>
            <a:r>
              <a:rPr lang="vi-VN" dirty="0"/>
              <a:t>, được minh họa trong </a:t>
            </a:r>
            <a:r>
              <a:rPr lang="en-US" dirty="0" err="1"/>
              <a:t>Bảng</a:t>
            </a:r>
            <a:r>
              <a:rPr lang="vi-VN" dirty="0"/>
              <a:t>.</a:t>
            </a:r>
          </a:p>
          <a:p>
            <a:r>
              <a:rPr lang="vi-VN" dirty="0"/>
              <a:t>Thông thường, phía </a:t>
            </a:r>
            <a:r>
              <a:rPr lang="vi-VN" b="1" dirty="0"/>
              <a:t>server</a:t>
            </a:r>
            <a:r>
              <a:rPr lang="vi-VN" dirty="0"/>
              <a:t> sẽ thực hiện bốn thao tác đầu tiên, theo thứ tự như sau:</a:t>
            </a:r>
          </a:p>
          <a:p>
            <a:pPr>
              <a:buFont typeface="+mj-lt"/>
              <a:buAutoNum type="arabicPeriod"/>
            </a:pPr>
            <a:r>
              <a:rPr lang="vi-VN" b="1" dirty="0"/>
              <a:t>socket()</a:t>
            </a:r>
            <a:r>
              <a:rPr lang="vi-VN" dirty="0"/>
              <a:t> – Gọi thao tác này sẽ tạo một điểm cuối giao tiếp mới cho một giao thức vận chuyển cụ thể. Bên trong, hệ điều hành sẽ </a:t>
            </a:r>
            <a:r>
              <a:rPr lang="vi-VN" b="1" dirty="0"/>
              <a:t>dành tài nguyên để gửi và nhận thông điệp</a:t>
            </a:r>
            <a:r>
              <a:rPr lang="vi-VN" dirty="0"/>
              <a:t> cho giao thức được chỉ định.</a:t>
            </a:r>
          </a:p>
          <a:p>
            <a:pPr>
              <a:buFont typeface="+mj-lt"/>
              <a:buAutoNum type="arabicPeriod"/>
            </a:pPr>
            <a:r>
              <a:rPr lang="vi-VN" b="1" dirty="0"/>
              <a:t>bind()</a:t>
            </a:r>
            <a:r>
              <a:rPr lang="vi-VN" dirty="0"/>
              <a:t> – Gắn một địa chỉ cục bộ vào socket vừa tạo. Ví dụ: server cần </a:t>
            </a:r>
            <a:r>
              <a:rPr lang="vi-VN" b="1" dirty="0"/>
              <a:t>gắn địa chỉ IP của máy</a:t>
            </a:r>
            <a:r>
              <a:rPr lang="vi-VN" dirty="0"/>
              <a:t> và một </a:t>
            </a:r>
            <a:r>
              <a:rPr lang="vi-VN" b="1" dirty="0"/>
              <a:t>số cổng</a:t>
            </a:r>
            <a:r>
              <a:rPr lang="vi-VN" dirty="0"/>
              <a:t> (có thể là số cổng đã biết trước) vào socket. Việc bind cho hệ điều hành biết server chỉ muốn nhận thông điệp gửi đến </a:t>
            </a:r>
            <a:r>
              <a:rPr lang="vi-VN" b="1" dirty="0"/>
              <a:t>đúng địa chỉ và cổng đó</a:t>
            </a:r>
            <a:r>
              <a:rPr lang="vi-VN" dirty="0"/>
              <a:t>. Với giao tiếp có kết nối (connection-oriented), địa chỉ này được dùng để nhận các yêu cầu kết nối đến.</a:t>
            </a:r>
          </a:p>
          <a:p>
            <a:pPr>
              <a:buFont typeface="+mj-lt"/>
              <a:buAutoNum type="arabicPeriod"/>
            </a:pPr>
            <a:r>
              <a:rPr lang="vi-VN" b="1" dirty="0"/>
              <a:t>listen()</a:t>
            </a:r>
            <a:r>
              <a:rPr lang="vi-VN" dirty="0"/>
              <a:t> – Được gọi trong giao tiếp có kết nối. Đây là lệnh </a:t>
            </a:r>
            <a:r>
              <a:rPr lang="vi-VN" b="1" dirty="0"/>
              <a:t>không chặn</a:t>
            </a:r>
            <a:r>
              <a:rPr lang="vi-VN" dirty="0"/>
              <a:t>, cho phép hệ điều hành </a:t>
            </a:r>
            <a:r>
              <a:rPr lang="vi-VN" b="1" dirty="0"/>
              <a:t>dự trữ bộ đệm (buffer)</a:t>
            </a:r>
            <a:r>
              <a:rPr lang="vi-VN" dirty="0"/>
              <a:t> cho một số lượng tối đa các yêu cầu kết nối đang chờ mà server sẵn sàng chấp nhận.</a:t>
            </a:r>
          </a:p>
          <a:p>
            <a:pPr>
              <a:buFont typeface="+mj-lt"/>
              <a:buAutoNum type="arabicPeriod"/>
            </a:pPr>
            <a:r>
              <a:rPr lang="vi-VN" b="1" dirty="0"/>
              <a:t>accept()</a:t>
            </a:r>
            <a:r>
              <a:rPr lang="vi-VN" dirty="0"/>
              <a:t> – Lệnh này sẽ </a:t>
            </a:r>
            <a:r>
              <a:rPr lang="vi-VN" b="1" dirty="0"/>
              <a:t>chặn chương trình cho đến khi có yêu cầu kết nối đến</a:t>
            </a:r>
            <a:r>
              <a:rPr lang="vi-VN" dirty="0"/>
              <a:t>. Khi có kết nối, hệ điều hành sẽ tạo một </a:t>
            </a:r>
            <a:r>
              <a:rPr lang="vi-VN" b="1" dirty="0"/>
              <a:t>socket mới có cùng thuộc tính</a:t>
            </a:r>
            <a:r>
              <a:rPr lang="vi-VN" dirty="0"/>
              <a:t> với socket ban đầu, rồi trả socket đó về cho chương trình. Cách làm này cho phép server </a:t>
            </a:r>
            <a:r>
              <a:rPr lang="vi-VN" b="1" dirty="0"/>
              <a:t>tạo một tiến trình con (fork)</a:t>
            </a:r>
            <a:r>
              <a:rPr lang="vi-VN" dirty="0"/>
              <a:t> để xử lý giao tiếp qua kết nối mới. Server có thể quay lại </a:t>
            </a:r>
            <a:r>
              <a:rPr lang="vi-VN" b="1" dirty="0"/>
              <a:t>chờ các kết nối khác</a:t>
            </a:r>
            <a:r>
              <a:rPr lang="vi-VN" dirty="0"/>
              <a:t> trên socket ban đầu.</a:t>
            </a:r>
          </a:p>
          <a:p>
            <a:endParaRPr lang="en-US" b="1" dirty="0"/>
          </a:p>
          <a:p>
            <a:r>
              <a:rPr lang="vi-VN" b="1" dirty="0"/>
              <a:t>Phía client</a:t>
            </a:r>
          </a:p>
          <a:p>
            <a:r>
              <a:rPr lang="vi-VN" dirty="0"/>
              <a:t>Phía </a:t>
            </a:r>
            <a:r>
              <a:rPr lang="vi-VN" b="1" dirty="0"/>
              <a:t>client</a:t>
            </a:r>
            <a:r>
              <a:rPr lang="vi-VN" dirty="0"/>
              <a:t> cũng phải </a:t>
            </a:r>
            <a:r>
              <a:rPr lang="vi-VN" b="1" dirty="0"/>
              <a:t>tạo socket trước</a:t>
            </a:r>
            <a:r>
              <a:rPr lang="vi-VN" dirty="0"/>
              <a:t> bằng thao tác socket(). Tuy nhiên, </a:t>
            </a:r>
            <a:r>
              <a:rPr lang="vi-VN" b="1" dirty="0"/>
              <a:t>không cần bind rõ ràng socket với địa chỉ cục bộ</a:t>
            </a:r>
            <a:r>
              <a:rPr lang="vi-VN" dirty="0"/>
              <a:t>, vì hệ điều hành có thể </a:t>
            </a:r>
            <a:r>
              <a:rPr lang="vi-VN" b="1" dirty="0"/>
              <a:t>gán động một cổng</a:t>
            </a:r>
            <a:r>
              <a:rPr lang="vi-VN" dirty="0"/>
              <a:t> khi thiết lập kết nối.</a:t>
            </a:r>
          </a:p>
          <a:p>
            <a:r>
              <a:rPr lang="vi-VN" dirty="0"/>
              <a:t>Sau đó, client gọi connect(), cung cấp địa chỉ ở tầng vận chuyển (transport address) mà nó muốn kết nối đến. Client sẽ bị </a:t>
            </a:r>
            <a:r>
              <a:rPr lang="vi-VN" b="1" dirty="0"/>
              <a:t>chặn (blocking)</a:t>
            </a:r>
            <a:r>
              <a:rPr lang="vi-VN" dirty="0"/>
              <a:t> cho đến khi kết nối được thiết lập thành công. Sau đó, </a:t>
            </a:r>
            <a:r>
              <a:rPr lang="vi-VN" b="1" dirty="0"/>
              <a:t>cả hai bên có thể trao đổi thông tin</a:t>
            </a:r>
            <a:r>
              <a:rPr lang="vi-VN" dirty="0"/>
              <a:t> qua các thao tác send và receive.</a:t>
            </a:r>
          </a:p>
          <a:p>
            <a:r>
              <a:rPr lang="vi-VN" dirty="0"/>
              <a:t>Kết thúc kết nối là </a:t>
            </a:r>
            <a:r>
              <a:rPr lang="vi-VN" b="1" dirty="0"/>
              <a:t>quá trình đối xứng</a:t>
            </a:r>
            <a:r>
              <a:rPr lang="vi-VN" dirty="0"/>
              <a:t> giữa client và server: </a:t>
            </a:r>
            <a:r>
              <a:rPr lang="vi-VN" b="1" dirty="0"/>
              <a:t>cả hai đều gọi close()</a:t>
            </a:r>
            <a:r>
              <a:rPr lang="vi-VN" dirty="0"/>
              <a:t> để đóng socket.</a:t>
            </a:r>
          </a:p>
          <a:p>
            <a:r>
              <a:rPr lang="vi-VN" dirty="0"/>
              <a:t>Dù có nhiều ngoại lệ trong thực tế, nhưng mô hình giao tiếp điển hình giữa client và server </a:t>
            </a:r>
            <a:r>
              <a:rPr lang="vi-VN" b="1" dirty="0"/>
              <a:t>theo kiểu kết nối (connection-oriented)</a:t>
            </a:r>
            <a:r>
              <a:rPr lang="vi-VN" dirty="0"/>
              <a:t> bằng socket được mô tả trong Hình.</a:t>
            </a:r>
          </a:p>
          <a:p>
            <a:r>
              <a:rPr lang="vi-VN" dirty="0"/>
              <a:t>Thông tin chi tiết hơn về lập trình mạng với socket và các giao diện khác trong Unix có thể tìm thấy trong tài liệu:</a:t>
            </a:r>
            <a:br>
              <a:rPr lang="vi-VN" dirty="0"/>
            </a:br>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23</a:t>
            </a:fld>
            <a:endParaRPr lang="en-US"/>
          </a:p>
        </p:txBody>
      </p:sp>
    </p:spTree>
    <p:extLst>
      <p:ext uri="{BB962C8B-B14F-4D97-AF65-F5344CB8AC3E}">
        <p14:creationId xmlns:p14="http://schemas.microsoft.com/office/powerpoint/2010/main" val="30902449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Để minh họa cho mẫu lặp lại như trong Hình </a:t>
            </a:r>
            <a:r>
              <a:rPr lang="en-US" dirty="0"/>
              <a:t>slide </a:t>
            </a:r>
            <a:r>
              <a:rPr lang="en-US" dirty="0" err="1"/>
              <a:t>trước</a:t>
            </a:r>
            <a:r>
              <a:rPr lang="vi-VN" dirty="0"/>
              <a:t>, hãy xem xét hệ thống </a:t>
            </a:r>
            <a:r>
              <a:rPr lang="vi-VN" b="1" dirty="0"/>
              <a:t>client-server đơn giản sử dụng socket</a:t>
            </a:r>
            <a:r>
              <a:rPr lang="vi-VN" dirty="0"/>
              <a:t>.</a:t>
            </a:r>
            <a:endParaRPr lang="en-US" dirty="0"/>
          </a:p>
          <a:p>
            <a:endParaRPr lang="vi-VN" dirty="0"/>
          </a:p>
          <a:p>
            <a:r>
              <a:rPr lang="vi-VN" dirty="0"/>
              <a:t>Ta thấy </a:t>
            </a:r>
            <a:r>
              <a:rPr lang="vi-VN" b="1" dirty="0"/>
              <a:t>phía server</a:t>
            </a:r>
            <a:r>
              <a:rPr lang="vi-VN" dirty="0"/>
              <a:t> [</a:t>
            </a:r>
            <a:r>
              <a:rPr lang="en-US" dirty="0" err="1"/>
              <a:t>Đoạn</a:t>
            </a:r>
            <a:r>
              <a:rPr lang="en-US" dirty="0"/>
              <a:t> code 1</a:t>
            </a:r>
            <a:r>
              <a:rPr lang="vi-VN" dirty="0"/>
              <a:t>] bắt đầu bằng cách </a:t>
            </a:r>
            <a:r>
              <a:rPr lang="vi-VN" b="1" dirty="0"/>
              <a:t>tạo một socket</a:t>
            </a:r>
            <a:r>
              <a:rPr lang="vi-VN" dirty="0"/>
              <a:t>, sau đó </a:t>
            </a:r>
            <a:r>
              <a:rPr lang="vi-VN" b="1" dirty="0"/>
              <a:t>gắn một địa chỉ</a:t>
            </a:r>
            <a:r>
              <a:rPr lang="vi-VN" dirty="0"/>
              <a:t> vào socket đó (bind). Server tiếp tục gọi thao tác listen và </a:t>
            </a:r>
            <a:r>
              <a:rPr lang="vi-VN" b="1" dirty="0"/>
              <a:t>chờ đợi yêu cầu kết nối đến</a:t>
            </a:r>
            <a:r>
              <a:rPr lang="vi-VN" dirty="0"/>
              <a:t>.</a:t>
            </a:r>
          </a:p>
          <a:p>
            <a:r>
              <a:rPr lang="vi-VN" dirty="0"/>
              <a:t>Khi server </a:t>
            </a:r>
            <a:r>
              <a:rPr lang="vi-VN" b="1" dirty="0"/>
              <a:t>chấp nhận một kết nối</a:t>
            </a:r>
            <a:r>
              <a:rPr lang="vi-VN" dirty="0"/>
              <a:t> (accept), thư viện socket sẽ </a:t>
            </a:r>
            <a:r>
              <a:rPr lang="vi-VN" b="1" dirty="0"/>
              <a:t>tạo ra một kết nối riêng biệt</a:t>
            </a:r>
            <a:r>
              <a:rPr lang="vi-VN" dirty="0"/>
              <a:t>, gọi là conn, được sử dụng để </a:t>
            </a:r>
            <a:r>
              <a:rPr lang="vi-VN" b="1" dirty="0"/>
              <a:t>nhận dữ liệu</a:t>
            </a:r>
            <a:r>
              <a:rPr lang="vi-VN" dirty="0"/>
              <a:t> và </a:t>
            </a:r>
            <a:r>
              <a:rPr lang="vi-VN" b="1" dirty="0"/>
              <a:t>gửi phản hồi lại</a:t>
            </a:r>
            <a:r>
              <a:rPr lang="vi-VN" dirty="0"/>
              <a:t> cho client đã kết nối.</a:t>
            </a:r>
          </a:p>
          <a:p>
            <a:r>
              <a:rPr lang="vi-VN" dirty="0"/>
              <a:t>Sau đó, server </a:t>
            </a:r>
            <a:r>
              <a:rPr lang="vi-VN" b="1" dirty="0"/>
              <a:t>vào vòng lặp</a:t>
            </a:r>
            <a:r>
              <a:rPr lang="vi-VN" dirty="0"/>
              <a:t>, trong đó nó </a:t>
            </a:r>
            <a:r>
              <a:rPr lang="vi-VN" b="1" dirty="0"/>
              <a:t>liên tục nhận và gửi thông điệp</a:t>
            </a:r>
            <a:r>
              <a:rPr lang="vi-VN" dirty="0"/>
              <a:t>, cho đến khi </a:t>
            </a:r>
            <a:r>
              <a:rPr lang="vi-VN" b="1" dirty="0"/>
              <a:t>không còn dữ liệu nào được nhận thêm</a:t>
            </a:r>
            <a:r>
              <a:rPr lang="vi-VN" dirty="0"/>
              <a:t>. Cuối cùng, nó </a:t>
            </a:r>
            <a:r>
              <a:rPr lang="vi-VN" b="1" dirty="0"/>
              <a:t>đóng kết nối</a:t>
            </a:r>
            <a:r>
              <a:rPr lang="vi-VN" dirty="0"/>
              <a:t> lại.</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24</a:t>
            </a:fld>
            <a:endParaRPr lang="en-US"/>
          </a:p>
        </p:txBody>
      </p:sp>
    </p:spTree>
    <p:extLst>
      <p:ext uri="{BB962C8B-B14F-4D97-AF65-F5344CB8AC3E}">
        <p14:creationId xmlns:p14="http://schemas.microsoft.com/office/powerpoint/2010/main" val="14431370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Giới thiệu </a:t>
            </a:r>
            <a:r>
              <a:rPr lang="vi-VN" b="1" dirty="0"/>
              <a:t>những hạn chế của lập trình socket thông thường</a:t>
            </a:r>
            <a:r>
              <a:rPr lang="vi-VN" dirty="0"/>
              <a:t>, và đưa ra một giải pháp giúp đơn giản hóa: </a:t>
            </a:r>
            <a:r>
              <a:rPr lang="vi-VN" b="1" dirty="0"/>
              <a:t>ZeroMQ</a:t>
            </a:r>
            <a:r>
              <a:rPr lang="vi-VN" dirty="0"/>
              <a:t>.</a:t>
            </a:r>
          </a:p>
          <a:p>
            <a:endParaRPr lang="en-US" b="1" dirty="0"/>
          </a:p>
          <a:p>
            <a:r>
              <a:rPr lang="vi-VN" b="1" dirty="0"/>
              <a:t>Observation (Quan sát</a:t>
            </a:r>
            <a:r>
              <a:rPr lang="en-US" b="1" dirty="0"/>
              <a:t>/ </a:t>
            </a:r>
            <a:r>
              <a:rPr lang="en-US" b="1" dirty="0" err="1"/>
              <a:t>Nhận</a:t>
            </a:r>
            <a:r>
              <a:rPr lang="en-US" b="1" dirty="0"/>
              <a:t> </a:t>
            </a:r>
            <a:r>
              <a:rPr lang="en-US" b="1" dirty="0" err="1"/>
              <a:t>định</a:t>
            </a:r>
            <a:r>
              <a:rPr lang="vi-VN" b="1" dirty="0"/>
              <a:t>)</a:t>
            </a:r>
          </a:p>
          <a:p>
            <a:r>
              <a:rPr lang="vi-VN" i="1" dirty="0"/>
              <a:t>"Sockets are rather low level and programming mistakes are easily made."</a:t>
            </a:r>
            <a:endParaRPr lang="vi-VN" dirty="0"/>
          </a:p>
          <a:p>
            <a:pPr>
              <a:buFont typeface="Arial" panose="020B0604020202020204" pitchFamily="34" charset="0"/>
              <a:buChar char="•"/>
            </a:pPr>
            <a:r>
              <a:rPr lang="vi-VN" b="1" dirty="0"/>
              <a:t>Lập trình socket</a:t>
            </a:r>
            <a:r>
              <a:rPr lang="vi-VN" dirty="0"/>
              <a:t> (như TCP/UDP với socket(), bind(), listen(), accept()...) </a:t>
            </a:r>
            <a:r>
              <a:rPr lang="vi-VN" b="1" dirty="0"/>
              <a:t>khá phức tạp và dễ sai</a:t>
            </a:r>
            <a:r>
              <a:rPr lang="vi-VN" dirty="0"/>
              <a:t>:</a:t>
            </a:r>
          </a:p>
          <a:p>
            <a:pPr marL="742950" lvl="1" indent="-285750">
              <a:buFont typeface="Arial" panose="020B0604020202020204" pitchFamily="34" charset="0"/>
              <a:buChar char="•"/>
            </a:pPr>
            <a:r>
              <a:rPr lang="vi-VN" dirty="0"/>
              <a:t>Cần quản lý chi tiết như địa chỉ IP, cổng, bộ đệm (buffer), xử lý đồng bộ...</a:t>
            </a:r>
          </a:p>
          <a:p>
            <a:pPr marL="742950" lvl="1" indent="-285750">
              <a:buFont typeface="Arial" panose="020B0604020202020204" pitchFamily="34" charset="0"/>
              <a:buChar char="•"/>
            </a:pPr>
            <a:r>
              <a:rPr lang="vi-VN" dirty="0"/>
              <a:t>Dễ xảy ra lỗi như rò rỉ kết nối, deadlock, mất gói tin, v.v.</a:t>
            </a:r>
          </a:p>
          <a:p>
            <a:r>
              <a:rPr lang="vi-VN" i="1" dirty="0"/>
              <a:t>"The way that they are used is often the same (such as in a client-server setting)."</a:t>
            </a:r>
            <a:endParaRPr lang="vi-VN" dirty="0"/>
          </a:p>
          <a:p>
            <a:pPr>
              <a:buFont typeface="Arial" panose="020B0604020202020204" pitchFamily="34" charset="0"/>
              <a:buChar char="•"/>
            </a:pPr>
            <a:r>
              <a:rPr lang="vi-VN" dirty="0"/>
              <a:t>Dù chi tiết phức tạp, </a:t>
            </a:r>
            <a:r>
              <a:rPr lang="vi-VN" b="1" dirty="0"/>
              <a:t>mô hình sử dụng socket lại thường lặp lại</a:t>
            </a:r>
            <a:r>
              <a:rPr lang="vi-VN" dirty="0"/>
              <a:t>:</a:t>
            </a:r>
          </a:p>
          <a:p>
            <a:pPr marL="742950" lvl="1" indent="-285750">
              <a:buFont typeface="Arial" panose="020B0604020202020204" pitchFamily="34" charset="0"/>
              <a:buChar char="•"/>
            </a:pPr>
            <a:r>
              <a:rPr lang="vi-VN" dirty="0"/>
              <a:t>Ví dụ: </a:t>
            </a:r>
            <a:r>
              <a:rPr lang="vi-VN" b="1" dirty="0"/>
              <a:t>client-server</a:t>
            </a:r>
            <a:r>
              <a:rPr lang="vi-VN" dirty="0"/>
              <a:t>, </a:t>
            </a:r>
            <a:r>
              <a:rPr lang="vi-VN" b="1" dirty="0"/>
              <a:t>gửi/nhận dữ liệu</a:t>
            </a:r>
            <a:r>
              <a:rPr lang="vi-VN" dirty="0"/>
              <a:t>, </a:t>
            </a:r>
            <a:r>
              <a:rPr lang="vi-VN" b="1" dirty="0"/>
              <a:t>nghe và phản hồi</a:t>
            </a:r>
            <a:r>
              <a:rPr lang="vi-VN" dirty="0"/>
              <a:t>...</a:t>
            </a:r>
          </a:p>
          <a:p>
            <a:r>
              <a:rPr lang="vi-VN" dirty="0"/>
              <a:t>→ Vậy nên, chúng ta cần một cách </a:t>
            </a:r>
            <a:r>
              <a:rPr lang="vi-VN" b="1" dirty="0"/>
              <a:t>trừu tượng hóa</a:t>
            </a:r>
            <a:r>
              <a:rPr lang="vi-VN" dirty="0"/>
              <a:t> (abstraction) để làm mọi thứ đơn giản hơn.</a:t>
            </a:r>
          </a:p>
          <a:p>
            <a:endParaRPr lang="en-US" b="1" dirty="0"/>
          </a:p>
          <a:p>
            <a:r>
              <a:rPr lang="vi-VN" b="1" dirty="0"/>
              <a:t>Alternative</a:t>
            </a:r>
            <a:r>
              <a:rPr lang="en-US" b="1" dirty="0"/>
              <a:t>/ </a:t>
            </a:r>
            <a:r>
              <a:rPr lang="en-US" b="1" dirty="0" err="1"/>
              <a:t>Lựa</a:t>
            </a:r>
            <a:r>
              <a:rPr lang="en-US" b="1" dirty="0"/>
              <a:t> </a:t>
            </a:r>
            <a:r>
              <a:rPr lang="en-US" b="1" dirty="0" err="1"/>
              <a:t>chọn</a:t>
            </a:r>
            <a:r>
              <a:rPr lang="vi-VN" b="1" dirty="0"/>
              <a:t>: ZeroMQ</a:t>
            </a:r>
          </a:p>
          <a:p>
            <a:r>
              <a:rPr lang="vi-VN" i="1" dirty="0"/>
              <a:t>"Provides a higher level of expression by pairing sockets..."</a:t>
            </a:r>
            <a:endParaRPr lang="vi-VN" dirty="0"/>
          </a:p>
          <a:p>
            <a:pPr>
              <a:buFont typeface="Arial" panose="020B0604020202020204" pitchFamily="34" charset="0"/>
              <a:buChar char="•"/>
            </a:pPr>
            <a:r>
              <a:rPr lang="vi-VN" b="1" dirty="0"/>
              <a:t>ZeroMQ</a:t>
            </a:r>
            <a:r>
              <a:rPr lang="vi-VN" dirty="0"/>
              <a:t> là một </a:t>
            </a:r>
            <a:r>
              <a:rPr lang="vi-VN" b="1" dirty="0"/>
              <a:t>thư viện messaging</a:t>
            </a:r>
            <a:r>
              <a:rPr lang="vi-VN" dirty="0"/>
              <a:t> giúp </a:t>
            </a:r>
            <a:r>
              <a:rPr lang="vi-VN" b="1" dirty="0"/>
              <a:t>trừu tượng hóa lập trình socket</a:t>
            </a:r>
            <a:r>
              <a:rPr lang="vi-VN" dirty="0"/>
              <a:t>.</a:t>
            </a:r>
          </a:p>
          <a:p>
            <a:pPr>
              <a:buFont typeface="Arial" panose="020B0604020202020204" pitchFamily="34" charset="0"/>
              <a:buChar char="•"/>
            </a:pPr>
            <a:r>
              <a:rPr lang="vi-VN" dirty="0"/>
              <a:t>Nó không thay thế socket hoàn toàn, mà </a:t>
            </a:r>
            <a:r>
              <a:rPr lang="vi-VN" b="1" dirty="0"/>
              <a:t>xây dựng trên socket</a:t>
            </a:r>
            <a:r>
              <a:rPr lang="vi-VN" dirty="0"/>
              <a:t>, nhưng theo một cách </a:t>
            </a:r>
            <a:r>
              <a:rPr lang="vi-VN" b="1" dirty="0"/>
              <a:t>thân thiện với lập trình viên hơn</a:t>
            </a:r>
            <a:r>
              <a:rPr lang="vi-VN" dirty="0"/>
              <a:t>.</a:t>
            </a:r>
          </a:p>
          <a:p>
            <a:r>
              <a:rPr lang="vi-VN" b="1" dirty="0"/>
              <a:t>Cách hoạt động:</a:t>
            </a:r>
            <a:endParaRPr lang="vi-VN" dirty="0"/>
          </a:p>
          <a:p>
            <a:pPr>
              <a:buFont typeface="Arial" panose="020B0604020202020204" pitchFamily="34" charset="0"/>
              <a:buChar char="•"/>
            </a:pPr>
            <a:r>
              <a:rPr lang="vi-VN" dirty="0"/>
              <a:t>Mỗi </a:t>
            </a:r>
            <a:r>
              <a:rPr lang="vi-VN" b="1" dirty="0"/>
              <a:t>socket trong ZeroMQ</a:t>
            </a:r>
            <a:r>
              <a:rPr lang="vi-VN" dirty="0"/>
              <a:t> có một vai trò cụ thể:</a:t>
            </a:r>
          </a:p>
          <a:p>
            <a:pPr marL="742950" lvl="1" indent="-285750">
              <a:buFont typeface="Arial" panose="020B0604020202020204" pitchFamily="34" charset="0"/>
              <a:buChar char="•"/>
            </a:pPr>
            <a:r>
              <a:rPr lang="vi-VN" dirty="0"/>
              <a:t>Một bên chỉ </a:t>
            </a:r>
            <a:r>
              <a:rPr lang="vi-VN" b="1" dirty="0"/>
              <a:t>gửi</a:t>
            </a:r>
            <a:r>
              <a:rPr lang="vi-VN" dirty="0"/>
              <a:t> (send)</a:t>
            </a:r>
          </a:p>
          <a:p>
            <a:pPr marL="742950" lvl="1" indent="-285750">
              <a:buFont typeface="Arial" panose="020B0604020202020204" pitchFamily="34" charset="0"/>
              <a:buChar char="•"/>
            </a:pPr>
            <a:r>
              <a:rPr lang="vi-VN" dirty="0"/>
              <a:t>Một bên chỉ </a:t>
            </a:r>
            <a:r>
              <a:rPr lang="vi-VN" b="1" dirty="0"/>
              <a:t>nhận</a:t>
            </a:r>
            <a:r>
              <a:rPr lang="vi-VN" dirty="0"/>
              <a:t> (receive)</a:t>
            </a:r>
          </a:p>
          <a:p>
            <a:pPr>
              <a:buFont typeface="Arial" panose="020B0604020202020204" pitchFamily="34" charset="0"/>
              <a:buChar char="•"/>
            </a:pPr>
            <a:r>
              <a:rPr lang="vi-VN" dirty="0"/>
              <a:t>Việc kết nối giữa các tiến trình (processes) hay máy (hosts) trở nên </a:t>
            </a:r>
            <a:r>
              <a:rPr lang="vi-VN" b="1" dirty="0"/>
              <a:t>đơn giản, rõ ràng, bất đồng bộ (asynchronous)</a:t>
            </a:r>
            <a:r>
              <a:rPr lang="vi-VN" dirty="0"/>
              <a:t>.</a:t>
            </a:r>
          </a:p>
          <a:p>
            <a:endParaRPr lang="en-US" b="1" dirty="0"/>
          </a:p>
          <a:p>
            <a:r>
              <a:rPr lang="vi-VN" b="1" dirty="0"/>
              <a:t>Three patterns (3 mô hình chính)</a:t>
            </a:r>
          </a:p>
          <a:p>
            <a:r>
              <a:rPr lang="vi-VN" dirty="0"/>
              <a:t>ZeroMQ cung cấp sẵn </a:t>
            </a:r>
            <a:r>
              <a:rPr lang="vi-VN" b="1" dirty="0"/>
              <a:t>3 mô hình giao tiếp phổ biến</a:t>
            </a:r>
            <a:r>
              <a:rPr lang="vi-VN" dirty="0"/>
              <a:t> (patterns), bạn không cần viết lại logic thủ công:</a:t>
            </a:r>
          </a:p>
          <a:p>
            <a:r>
              <a:rPr lang="vi-VN" b="1" dirty="0"/>
              <a:t>1. Request-Reply (Yêu cầu – Phản hồi)</a:t>
            </a:r>
          </a:p>
          <a:p>
            <a:pPr>
              <a:buFont typeface="Arial" panose="020B0604020202020204" pitchFamily="34" charset="0"/>
              <a:buChar char="•"/>
            </a:pPr>
            <a:r>
              <a:rPr lang="vi-VN" dirty="0"/>
              <a:t>Mô hình </a:t>
            </a:r>
            <a:r>
              <a:rPr lang="vi-VN" b="1" dirty="0"/>
              <a:t>client-server</a:t>
            </a:r>
            <a:r>
              <a:rPr lang="vi-VN" dirty="0"/>
              <a:t> cổ điển:</a:t>
            </a:r>
          </a:p>
          <a:p>
            <a:pPr marL="742950" lvl="1" indent="-285750">
              <a:buFont typeface="Arial" panose="020B0604020202020204" pitchFamily="34" charset="0"/>
              <a:buChar char="•"/>
            </a:pPr>
            <a:r>
              <a:rPr lang="vi-VN" dirty="0"/>
              <a:t>Client gửi yêu cầu (REQ)</a:t>
            </a:r>
          </a:p>
          <a:p>
            <a:pPr marL="742950" lvl="1" indent="-285750">
              <a:buFont typeface="Arial" panose="020B0604020202020204" pitchFamily="34" charset="0"/>
              <a:buChar char="•"/>
            </a:pPr>
            <a:r>
              <a:rPr lang="vi-VN" dirty="0"/>
              <a:t>Server phản hồi (REP)</a:t>
            </a:r>
          </a:p>
          <a:p>
            <a:r>
              <a:rPr lang="vi-VN" dirty="0"/>
              <a:t>Ví dụ: Client gọi API, server trả kết quả.</a:t>
            </a:r>
          </a:p>
          <a:p>
            <a:r>
              <a:rPr lang="vi-VN" b="1" dirty="0"/>
              <a:t>2. Publish-Subscribe (Phát – Đăng ký)</a:t>
            </a:r>
          </a:p>
          <a:p>
            <a:pPr>
              <a:buFont typeface="Arial" panose="020B0604020202020204" pitchFamily="34" charset="0"/>
              <a:buChar char="•"/>
            </a:pPr>
            <a:r>
              <a:rPr lang="vi-VN" dirty="0"/>
              <a:t>Một tiến trình </a:t>
            </a:r>
            <a:r>
              <a:rPr lang="vi-VN" b="1" dirty="0"/>
              <a:t>phát dữ liệu (PUB)</a:t>
            </a:r>
            <a:r>
              <a:rPr lang="vi-VN" dirty="0"/>
              <a:t> cho nhiều tiến trình khác </a:t>
            </a:r>
            <a:r>
              <a:rPr lang="vi-VN" b="1" dirty="0"/>
              <a:t>đăng ký nhận (SUB)</a:t>
            </a:r>
            <a:r>
              <a:rPr lang="vi-VN" dirty="0"/>
              <a:t>.</a:t>
            </a:r>
          </a:p>
          <a:p>
            <a:pPr>
              <a:buFont typeface="Arial" panose="020B0604020202020204" pitchFamily="34" charset="0"/>
              <a:buChar char="•"/>
            </a:pPr>
            <a:r>
              <a:rPr lang="vi-VN" dirty="0"/>
              <a:t>Giống như </a:t>
            </a:r>
            <a:r>
              <a:rPr lang="vi-VN" b="1" dirty="0"/>
              <a:t>bảng tin</a:t>
            </a:r>
            <a:r>
              <a:rPr lang="vi-VN" dirty="0"/>
              <a:t> hoặc </a:t>
            </a:r>
            <a:r>
              <a:rPr lang="vi-VN" b="1" dirty="0"/>
              <a:t>live stream</a:t>
            </a:r>
            <a:r>
              <a:rPr lang="vi-VN" dirty="0"/>
              <a:t>.</a:t>
            </a:r>
          </a:p>
          <a:p>
            <a:r>
              <a:rPr lang="vi-VN" dirty="0"/>
              <a:t>Ví dụ: server gửi cập nhật giá cổ phiếu, nhiều client nhận dữ liệu theo thời gian thực.</a:t>
            </a:r>
          </a:p>
          <a:p>
            <a:r>
              <a:rPr lang="vi-VN" b="1" dirty="0"/>
              <a:t>3. Pipeline (Đường ống xử lý)</a:t>
            </a:r>
          </a:p>
          <a:p>
            <a:pPr>
              <a:buFont typeface="Arial" panose="020B0604020202020204" pitchFamily="34" charset="0"/>
              <a:buChar char="•"/>
            </a:pPr>
            <a:r>
              <a:rPr lang="vi-VN" dirty="0"/>
              <a:t>Dành cho </a:t>
            </a:r>
            <a:r>
              <a:rPr lang="vi-VN" b="1" dirty="0"/>
              <a:t>xử lý song song / phân tán</a:t>
            </a:r>
            <a:r>
              <a:rPr lang="vi-VN" dirty="0"/>
              <a:t>:</a:t>
            </a:r>
          </a:p>
          <a:p>
            <a:pPr marL="742950" lvl="1" indent="-285750">
              <a:buFont typeface="Arial" panose="020B0604020202020204" pitchFamily="34" charset="0"/>
              <a:buChar char="•"/>
            </a:pPr>
            <a:r>
              <a:rPr lang="vi-VN" dirty="0"/>
              <a:t>Một tiến trình đẩy dữ liệu (PUSH)</a:t>
            </a:r>
          </a:p>
          <a:p>
            <a:pPr marL="742950" lvl="1" indent="-285750">
              <a:buFont typeface="Arial" panose="020B0604020202020204" pitchFamily="34" charset="0"/>
              <a:buChar char="•"/>
            </a:pPr>
            <a:r>
              <a:rPr lang="vi-VN" dirty="0"/>
              <a:t>Nhiều tiến trình khác nhận và xử lý (PULL)</a:t>
            </a:r>
          </a:p>
          <a:p>
            <a:r>
              <a:rPr lang="vi-VN" dirty="0"/>
              <a:t>Ví dụ: hệ thống xử lý ảnh/video nhiều công đoạn (filtering, detecting, labeling...)</a:t>
            </a:r>
          </a:p>
          <a:p>
            <a:endParaRPr lang="en-US" b="1" dirty="0"/>
          </a:p>
          <a:p>
            <a:r>
              <a:rPr lang="vi-VN" b="1" dirty="0"/>
              <a:t>Tóm lại:</a:t>
            </a:r>
          </a:p>
          <a:p>
            <a:r>
              <a:rPr lang="vi-VN" dirty="0"/>
              <a:t>Thành phần</a:t>
            </a:r>
            <a:r>
              <a:rPr lang="en-US" dirty="0"/>
              <a:t>		</a:t>
            </a:r>
            <a:r>
              <a:rPr lang="vi-VN" dirty="0"/>
              <a:t>Mô tả dễ hiểu</a:t>
            </a:r>
            <a:endParaRPr lang="en-US" dirty="0"/>
          </a:p>
          <a:p>
            <a:r>
              <a:rPr lang="vi-VN" dirty="0"/>
              <a:t>Socket truyền thống</a:t>
            </a:r>
            <a:r>
              <a:rPr lang="en-US" dirty="0"/>
              <a:t>	</a:t>
            </a:r>
            <a:r>
              <a:rPr lang="vi-VN" dirty="0"/>
              <a:t>Phức tạp, dễ sai, thường lặp lại cách dùng</a:t>
            </a:r>
            <a:endParaRPr lang="en-US" dirty="0"/>
          </a:p>
          <a:p>
            <a:r>
              <a:rPr lang="vi-VN" dirty="0"/>
              <a:t>ZeroMQ</a:t>
            </a:r>
            <a:r>
              <a:rPr lang="en-US" dirty="0"/>
              <a:t>		</a:t>
            </a:r>
            <a:r>
              <a:rPr lang="vi-VN" dirty="0"/>
              <a:t>Cung cấp API cấp cao, trừu tượng hóa socket</a:t>
            </a:r>
            <a:endParaRPr lang="en-US" dirty="0"/>
          </a:p>
          <a:p>
            <a:r>
              <a:rPr lang="vi-VN" dirty="0"/>
              <a:t>Mô hình giao tiếp</a:t>
            </a:r>
            <a:r>
              <a:rPr lang="en-US" dirty="0"/>
              <a:t>	</a:t>
            </a:r>
            <a:r>
              <a:rPr lang="vi-VN" dirty="0"/>
              <a:t>REQ-REP, PUB-SUB, PUSH-PULL giúp dễ xây dựng ứng dụng</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25</a:t>
            </a:fld>
            <a:endParaRPr lang="en-US"/>
          </a:p>
        </p:txBody>
      </p:sp>
    </p:spTree>
    <p:extLst>
      <p:ext uri="{BB962C8B-B14F-4D97-AF65-F5344CB8AC3E}">
        <p14:creationId xmlns:p14="http://schemas.microsoft.com/office/powerpoint/2010/main" val="7055916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Ví dụ: Mô hình yêu cầu – phản hồi</a:t>
            </a:r>
            <a:endParaRPr lang="vi-VN" dirty="0"/>
          </a:p>
          <a:p>
            <a:r>
              <a:rPr lang="vi-VN" dirty="0"/>
              <a:t>Chúng ta hãy xem một ví dụ lập trình đơn giản để minh họa mô hình </a:t>
            </a:r>
            <a:r>
              <a:rPr lang="vi-VN" b="1" dirty="0"/>
              <a:t>yêu cầu – phản hồi (request-reply)</a:t>
            </a:r>
            <a:r>
              <a:rPr lang="vi-VN" dirty="0"/>
              <a:t>. </a:t>
            </a:r>
            <a:r>
              <a:rPr lang="en-US" dirty="0" err="1"/>
              <a:t>Đoạn</a:t>
            </a:r>
            <a:r>
              <a:rPr lang="en-US" dirty="0"/>
              <a:t> code </a:t>
            </a:r>
            <a:r>
              <a:rPr lang="en-US" dirty="0" err="1"/>
              <a:t>trên</a:t>
            </a:r>
            <a:r>
              <a:rPr lang="vi-VN" dirty="0"/>
              <a:t> cho thấy một </a:t>
            </a:r>
            <a:r>
              <a:rPr lang="vi-VN" b="1" dirty="0"/>
              <a:t>máy chủ (server)</a:t>
            </a:r>
            <a:r>
              <a:rPr lang="vi-VN" dirty="0"/>
              <a:t> thêm một dấu sao (*) vào cuối một thông điệp mà nó nhận được. Như thường lệ, server sẽ tạo một </a:t>
            </a:r>
            <a:r>
              <a:rPr lang="vi-VN" b="1" dirty="0"/>
              <a:t>socket</a:t>
            </a:r>
            <a:r>
              <a:rPr lang="vi-VN" dirty="0"/>
              <a:t> và gắn (bind) nó với một giao thức (trong ví dụ này là </a:t>
            </a:r>
            <a:r>
              <a:rPr lang="vi-VN" b="1" dirty="0"/>
              <a:t>TCP</a:t>
            </a:r>
            <a:r>
              <a:rPr lang="vi-VN" dirty="0"/>
              <a:t>), cùng với một địa chỉ host và cổng (port). Trong ví dụ của chúng ta, server có thể chấp nhận các yêu cầu kết nối đến từ </a:t>
            </a:r>
            <a:r>
              <a:rPr lang="vi-VN" b="1" dirty="0"/>
              <a:t>hai cổng khác nhau</a:t>
            </a:r>
            <a:r>
              <a:rPr lang="vi-VN" dirty="0"/>
              <a:t>. Sau đó, nó chờ nhận các thông điệp đến.</a:t>
            </a:r>
          </a:p>
          <a:p>
            <a:r>
              <a:rPr lang="vi-VN" dirty="0"/>
              <a:t>Mô hình </a:t>
            </a:r>
            <a:r>
              <a:rPr lang="vi-VN" b="1" dirty="0"/>
              <a:t>yêu cầu – phản hồi</a:t>
            </a:r>
            <a:r>
              <a:rPr lang="vi-VN" dirty="0"/>
              <a:t> ràng buộc rõ ràng giữa </a:t>
            </a:r>
            <a:r>
              <a:rPr lang="vi-VN" b="1" dirty="0"/>
              <a:t>việc nhận một thông điệp</a:t>
            </a:r>
            <a:r>
              <a:rPr lang="vi-VN" dirty="0"/>
              <a:t> và </a:t>
            </a:r>
            <a:r>
              <a:rPr lang="vi-VN" b="1" dirty="0"/>
              <a:t>việc phản hồi sau đó</a:t>
            </a:r>
            <a:r>
              <a:rPr lang="vi-VN" dirty="0"/>
              <a:t>. Nói cách khác, khi server gọi send, nó sẽ gửi thông điệp trở lại </a:t>
            </a:r>
            <a:r>
              <a:rPr lang="vi-VN" b="1" dirty="0"/>
              <a:t>đúng client</a:t>
            </a:r>
            <a:r>
              <a:rPr lang="vi-VN" dirty="0"/>
              <a:t> mà nó vừa nhận thông điệp trước đó. Tất nhiên, sự đơn giản này chỉ đạt được </a:t>
            </a:r>
            <a:r>
              <a:rPr lang="vi-VN" b="1" dirty="0"/>
              <a:t>nếu lập trình viên tuân thủ nghiêm túc mô hình yêu cầu – phản hồi</a:t>
            </a:r>
            <a:r>
              <a:rPr lang="vi-VN" dirty="0"/>
              <a:t>.</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26</a:t>
            </a:fld>
            <a:endParaRPr lang="en-US"/>
          </a:p>
        </p:txBody>
      </p:sp>
    </p:spTree>
    <p:extLst>
      <p:ext uri="{BB962C8B-B14F-4D97-AF65-F5344CB8AC3E}">
        <p14:creationId xmlns:p14="http://schemas.microsoft.com/office/powerpoint/2010/main" val="26275186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Phía </a:t>
            </a:r>
            <a:r>
              <a:rPr lang="vi-VN" b="1" dirty="0"/>
              <a:t>client</a:t>
            </a:r>
            <a:r>
              <a:rPr lang="vi-VN" dirty="0"/>
              <a:t>, được mô tả trong </a:t>
            </a:r>
            <a:r>
              <a:rPr lang="en-US" dirty="0" err="1"/>
              <a:t>đoạn</a:t>
            </a:r>
            <a:r>
              <a:rPr lang="en-US" dirty="0"/>
              <a:t> code </a:t>
            </a:r>
            <a:r>
              <a:rPr lang="en-US" dirty="0" err="1"/>
              <a:t>trên</a:t>
            </a:r>
            <a:r>
              <a:rPr lang="vi-VN" dirty="0"/>
              <a:t>, thực hiện những điều được mong đợi: nó tạo một socket và kết nối đến server tương ứng. Khi client gửi một thông điệp, nó có thể kỳ vọng sẽ </a:t>
            </a:r>
            <a:r>
              <a:rPr lang="vi-VN" b="1" dirty="0"/>
              <a:t>nhận được phản hồi từ chính server đó</a:t>
            </a:r>
            <a:r>
              <a:rPr lang="vi-VN" dirty="0"/>
              <a:t>. Bằng cách gửi chuỗi "STOP", client báo cho server biết rằng nó đã hoàn tất, và sau đó server sẽ thực sự dừng lại.</a:t>
            </a:r>
          </a:p>
          <a:p>
            <a:r>
              <a:rPr lang="vi-VN" dirty="0"/>
              <a:t>Một điều thú vị là </a:t>
            </a:r>
            <a:r>
              <a:rPr lang="vi-VN" b="1" dirty="0"/>
              <a:t>ZeroMQ có tính bất đồng bộ (asynchronous)</a:t>
            </a:r>
            <a:r>
              <a:rPr lang="vi-VN" dirty="0"/>
              <a:t>, điều này cho phép </a:t>
            </a:r>
            <a:r>
              <a:rPr lang="vi-VN" b="1" dirty="0"/>
              <a:t>khởi động client trước khi khởi động server</a:t>
            </a:r>
            <a:r>
              <a:rPr lang="vi-VN" dirty="0"/>
              <a:t>. Hệ quả là nếu trong ví dụ này, chúng ta khởi động server trước, sau đó khởi động một client, và một lúc sau lại khởi động một client thứ hai, thì client thứ hai sẽ </a:t>
            </a:r>
            <a:r>
              <a:rPr lang="vi-VN" b="1" dirty="0"/>
              <a:t>bị chặn (blocked)</a:t>
            </a:r>
            <a:r>
              <a:rPr lang="vi-VN" dirty="0"/>
              <a:t> cho đến khi server được khởi động lại.</a:t>
            </a:r>
          </a:p>
          <a:p>
            <a:r>
              <a:rPr lang="vi-VN" dirty="0"/>
              <a:t>Ngoài ra, cần lưu ý rằng </a:t>
            </a:r>
            <a:r>
              <a:rPr lang="vi-VN" b="1" dirty="0"/>
              <a:t>ZeroMQ không yêu cầu lập trình viên chỉ định trước số byte sẽ được nhận</a:t>
            </a:r>
            <a:r>
              <a:rPr lang="vi-VN" dirty="0"/>
              <a:t>. Không giống như TCP sử dụng </a:t>
            </a:r>
            <a:r>
              <a:rPr lang="vi-VN" b="1" dirty="0"/>
              <a:t>luồng byte (bytestream)</a:t>
            </a:r>
            <a:r>
              <a:rPr lang="vi-VN" dirty="0"/>
              <a:t>, ZeroMQ sử dụng </a:t>
            </a:r>
            <a:r>
              <a:rPr lang="vi-VN" b="1" dirty="0"/>
              <a:t>thông điệp (message)</a:t>
            </a:r>
            <a:r>
              <a:rPr lang="vi-VN" dirty="0"/>
              <a:t> làm mô hình giao tiếp cơ bản.</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27</a:t>
            </a:fld>
            <a:endParaRPr lang="en-US"/>
          </a:p>
        </p:txBody>
      </p:sp>
    </p:spTree>
    <p:extLst>
      <p:ext uri="{BB962C8B-B14F-4D97-AF65-F5344CB8AC3E}">
        <p14:creationId xmlns:p14="http://schemas.microsoft.com/office/powerpoint/2010/main" val="6562620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mô hình </a:t>
            </a:r>
            <a:r>
              <a:rPr lang="vi-VN" b="1" dirty="0"/>
              <a:t>publish-subscribe (phát – đăng ký)</a:t>
            </a:r>
            <a:r>
              <a:rPr lang="vi-VN" dirty="0"/>
              <a:t>, các </a:t>
            </a:r>
            <a:r>
              <a:rPr lang="vi-VN" b="1" dirty="0"/>
              <a:t>client sẽ đăng ký (subscribe)</a:t>
            </a:r>
            <a:r>
              <a:rPr lang="vi-VN" dirty="0"/>
              <a:t> để nhận những thông điệp cụ thể được </a:t>
            </a:r>
            <a:r>
              <a:rPr lang="vi-VN" b="1" dirty="0"/>
              <a:t>server phát đi (publish)</a:t>
            </a:r>
            <a:r>
              <a:rPr lang="vi-VN" dirty="0"/>
              <a:t>. Chúng ta đã từng gặp mô hình này sơ lược trong </a:t>
            </a:r>
            <a:r>
              <a:rPr lang="vi-VN" b="1" dirty="0"/>
              <a:t>Chương 1</a:t>
            </a:r>
            <a:r>
              <a:rPr lang="vi-VN" dirty="0"/>
              <a:t> khi thảo luận về </a:t>
            </a:r>
            <a:r>
              <a:rPr lang="vi-VN" b="1" dirty="0"/>
              <a:t>phối hợp dựa trên sự kiện (event-based coordination)</a:t>
            </a:r>
            <a:r>
              <a:rPr lang="vi-VN" dirty="0"/>
              <a:t>. Thực chất, </a:t>
            </a:r>
            <a:r>
              <a:rPr lang="vi-VN" b="1" dirty="0"/>
              <a:t>chỉ những thông điệp mà client đã đăng ký mới được truyền đến</a:t>
            </a:r>
            <a:r>
              <a:rPr lang="vi-VN" dirty="0"/>
              <a:t>. Nếu server phát đi những thông điệp mà </a:t>
            </a:r>
            <a:r>
              <a:rPr lang="vi-VN" b="1" dirty="0"/>
              <a:t>không có client nào đăng ký</a:t>
            </a:r>
            <a:r>
              <a:rPr lang="vi-VN" dirty="0"/>
              <a:t>, thì những thông điệp đó </a:t>
            </a:r>
            <a:r>
              <a:rPr lang="vi-VN" b="1" dirty="0"/>
              <a:t>sẽ bị mất</a:t>
            </a:r>
            <a:r>
              <a:rPr lang="vi-VN" dirty="0"/>
              <a:t>.</a:t>
            </a:r>
          </a:p>
          <a:p>
            <a:r>
              <a:rPr lang="vi-VN" dirty="0"/>
              <a:t>Ở dạng đơn giản nhất, mô hình này thiết lập cơ chế </a:t>
            </a:r>
            <a:r>
              <a:rPr lang="vi-VN" b="1" dirty="0"/>
              <a:t>gửi thông điệp đến nhiều client cùng lúc (multicasting)</a:t>
            </a:r>
            <a:r>
              <a:rPr lang="vi-VN" dirty="0"/>
              <a:t> từ server. Server được giả định là sử dụng </a:t>
            </a:r>
            <a:r>
              <a:rPr lang="vi-VN" b="1" dirty="0"/>
              <a:t>socket loại PUB</a:t>
            </a:r>
            <a:r>
              <a:rPr lang="vi-VN" dirty="0"/>
              <a:t>, trong khi mỗi client phải sử dụng </a:t>
            </a:r>
            <a:r>
              <a:rPr lang="vi-VN" b="1" dirty="0"/>
              <a:t>socket loại SUB</a:t>
            </a:r>
            <a:r>
              <a:rPr lang="vi-VN" dirty="0"/>
              <a:t>. Mỗi socket client sẽ được </a:t>
            </a:r>
            <a:r>
              <a:rPr lang="vi-VN" b="1" dirty="0"/>
              <a:t>kết nối với socket của server</a:t>
            </a:r>
            <a:r>
              <a:rPr lang="vi-VN" dirty="0"/>
              <a:t>.</a:t>
            </a:r>
          </a:p>
          <a:p>
            <a:endParaRPr lang="en-US" dirty="0"/>
          </a:p>
          <a:p>
            <a:r>
              <a:rPr lang="vi-VN" dirty="0"/>
              <a:t>Theo mặc định, một client </a:t>
            </a:r>
            <a:r>
              <a:rPr lang="vi-VN" b="1" dirty="0"/>
              <a:t>không đăng ký bất kỳ thông điệp cụ thể nào</a:t>
            </a:r>
            <a:r>
              <a:rPr lang="vi-VN" dirty="0"/>
              <a:t>. Điều này có nghĩa là, </a:t>
            </a:r>
            <a:r>
              <a:rPr lang="vi-VN" b="1" dirty="0"/>
              <a:t>chừng nào chưa có đăng ký rõ ràng</a:t>
            </a:r>
            <a:r>
              <a:rPr lang="vi-VN" dirty="0"/>
              <a:t>, thì client </a:t>
            </a:r>
            <a:r>
              <a:rPr lang="vi-VN" b="1" dirty="0"/>
              <a:t>sẽ không nhận được bất kỳ thông điệp nào mà server phát đi</a:t>
            </a:r>
            <a:r>
              <a:rPr lang="vi-VN" dirty="0"/>
              <a:t>.</a:t>
            </a:r>
          </a:p>
          <a:p>
            <a:endParaRPr lang="en-US" dirty="0"/>
          </a:p>
          <a:p>
            <a:r>
              <a:rPr lang="en-US" dirty="0" err="1"/>
              <a:t>Đoan</a:t>
            </a:r>
            <a:r>
              <a:rPr lang="en-US" dirty="0"/>
              <a:t> code </a:t>
            </a:r>
            <a:r>
              <a:rPr lang="en-US" dirty="0" err="1"/>
              <a:t>minh</a:t>
            </a:r>
            <a:r>
              <a:rPr lang="en-US" dirty="0"/>
              <a:t> </a:t>
            </a:r>
            <a:r>
              <a:rPr lang="en-US" dirty="0" err="1"/>
              <a:t>họa</a:t>
            </a:r>
            <a:r>
              <a:rPr lang="en-US" dirty="0"/>
              <a:t> </a:t>
            </a:r>
            <a:r>
              <a:rPr lang="en-US" dirty="0" err="1"/>
              <a:t>phía</a:t>
            </a:r>
            <a:r>
              <a:rPr lang="en-US" dirty="0"/>
              <a:t> </a:t>
            </a:r>
            <a:r>
              <a:rPr lang="en-US" dirty="0" err="1"/>
              <a:t>trên</a:t>
            </a:r>
            <a:r>
              <a:rPr lang="en-US" dirty="0"/>
              <a:t> </a:t>
            </a:r>
            <a:r>
              <a:rPr lang="vi-VN" dirty="0"/>
              <a:t>cho thấy một </a:t>
            </a:r>
            <a:r>
              <a:rPr lang="vi-VN" b="1" dirty="0"/>
              <a:t>server thời gian đơn giản</a:t>
            </a:r>
            <a:r>
              <a:rPr lang="vi-VN" dirty="0"/>
              <a:t> (mặc dù có phần ngây ngô) phát đi thời gian hiện tại của nó thông qua một </a:t>
            </a:r>
            <a:r>
              <a:rPr lang="vi-VN" b="1" dirty="0"/>
              <a:t>socket loại PUB</a:t>
            </a:r>
            <a:r>
              <a:rPr lang="vi-VN" dirty="0"/>
              <a:t>. Thời gian cục bộ sẽ được </a:t>
            </a:r>
            <a:r>
              <a:rPr lang="vi-VN" b="1" dirty="0"/>
              <a:t>phát đi cứ mỗi năm giây</a:t>
            </a:r>
            <a:r>
              <a:rPr lang="vi-VN" dirty="0"/>
              <a:t>, dành cho bất kỳ client nào quan tâm.</a:t>
            </a:r>
          </a:p>
          <a:p>
            <a:r>
              <a:rPr lang="vi-VN" b="1" dirty="0"/>
              <a:t>Client cũng đơn giản không kém</a:t>
            </a:r>
            <a:r>
              <a:rPr lang="vi-VN" dirty="0"/>
              <a:t>, như thể hiện trong </a:t>
            </a:r>
            <a:r>
              <a:rPr lang="en-US" b="1" dirty="0" err="1"/>
              <a:t>đoạn</a:t>
            </a:r>
            <a:r>
              <a:rPr lang="en-US" b="1" dirty="0"/>
              <a:t> code </a:t>
            </a:r>
            <a:r>
              <a:rPr lang="en-US" b="1" dirty="0" err="1"/>
              <a:t>thứ</a:t>
            </a:r>
            <a:r>
              <a:rPr lang="en-US" b="1" dirty="0"/>
              <a:t> 2</a:t>
            </a:r>
            <a:r>
              <a:rPr lang="vi-VN" dirty="0"/>
              <a:t>. Đầu tiên, nó tạo một </a:t>
            </a:r>
            <a:r>
              <a:rPr lang="vi-VN" b="1" dirty="0"/>
              <a:t>socket loại SUB</a:t>
            </a:r>
            <a:r>
              <a:rPr lang="vi-VN" dirty="0"/>
              <a:t> và kết nối nó với socket PUB tương ứng của server. Để nhận được các thông điệp phù hợp, </a:t>
            </a:r>
            <a:r>
              <a:rPr lang="vi-VN" b="1" dirty="0"/>
              <a:t>client cần đăng ký (subscribe) các thông điệp có thẻ (tag) là "TIME"</a:t>
            </a:r>
            <a:r>
              <a:rPr lang="vi-VN" dirty="0"/>
              <a:t>. Trong ví dụ này, một client sẽ </a:t>
            </a:r>
            <a:r>
              <a:rPr lang="vi-VN" b="1" dirty="0"/>
              <a:t>đơn giản chỉ in ra năm thông điệp đầu tiên</a:t>
            </a:r>
            <a:r>
              <a:rPr lang="vi-VN" dirty="0"/>
              <a:t> nhận được từ server.</a:t>
            </a:r>
          </a:p>
          <a:p>
            <a:r>
              <a:rPr lang="vi-VN" dirty="0"/>
              <a:t>Lưu ý rằng </a:t>
            </a:r>
            <a:r>
              <a:rPr lang="vi-VN" b="1" dirty="0"/>
              <a:t>chúng ta có thể có bao nhiêu client tùy ý</a:t>
            </a:r>
            <a:r>
              <a:rPr lang="vi-VN" dirty="0"/>
              <a:t>: thông điệp của server sẽ được </a:t>
            </a:r>
            <a:r>
              <a:rPr lang="vi-VN" b="1" dirty="0"/>
              <a:t>gửi đa hướng (multicast)</a:t>
            </a:r>
            <a:r>
              <a:rPr lang="vi-VN" dirty="0"/>
              <a:t> đến tất cả các client đã đăng ký nhận.</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28</a:t>
            </a:fld>
            <a:endParaRPr lang="en-US"/>
          </a:p>
        </p:txBody>
      </p:sp>
    </p:spTree>
    <p:extLst>
      <p:ext uri="{BB962C8B-B14F-4D97-AF65-F5344CB8AC3E}">
        <p14:creationId xmlns:p14="http://schemas.microsoft.com/office/powerpoint/2010/main" val="36151023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mô hình pipeline (đường ống)</a:t>
            </a:r>
            <a:r>
              <a:rPr lang="vi-VN" dirty="0"/>
              <a:t> được đặc trưng bởi việc một tiến trình (process) muốn </a:t>
            </a:r>
            <a:r>
              <a:rPr lang="vi-VN" b="1" dirty="0"/>
              <a:t>đẩy kết quả của nó ra ngoài</a:t>
            </a:r>
            <a:r>
              <a:rPr lang="vi-VN" dirty="0"/>
              <a:t>, với giả định rằng </a:t>
            </a:r>
            <a:r>
              <a:rPr lang="vi-VN" b="1" dirty="0"/>
              <a:t>có những tiến trình khác muốn nhận (kéo) các kết quả đó</a:t>
            </a:r>
            <a:r>
              <a:rPr lang="vi-VN" dirty="0"/>
              <a:t>.</a:t>
            </a:r>
          </a:p>
          <a:p>
            <a:r>
              <a:rPr lang="vi-VN" b="1" dirty="0"/>
              <a:t>Cốt lõi của mô hình pipeline</a:t>
            </a:r>
            <a:r>
              <a:rPr lang="vi-VN" dirty="0"/>
              <a:t> là: một tiến trình "đẩy" </a:t>
            </a:r>
            <a:r>
              <a:rPr lang="vi-VN" b="1" dirty="0"/>
              <a:t>không quan tâm cụ thể tiến trình nào sẽ nhận kết quả của nó</a:t>
            </a:r>
            <a:r>
              <a:rPr lang="vi-VN" dirty="0"/>
              <a:t> — </a:t>
            </a:r>
            <a:r>
              <a:rPr lang="vi-VN" b="1" dirty="0"/>
              <a:t>tiến trình sẵn sàng đầu tiên là đủ</a:t>
            </a:r>
            <a:r>
              <a:rPr lang="vi-VN" dirty="0"/>
              <a:t>. Tương tự, </a:t>
            </a:r>
            <a:r>
              <a:rPr lang="vi-VN" b="1" dirty="0"/>
              <a:t>bất kỳ tiến trình nào đang nhận kết quả từ nhiều tiến trình khác</a:t>
            </a:r>
            <a:r>
              <a:rPr lang="vi-VN" dirty="0"/>
              <a:t> cũng sẽ </a:t>
            </a:r>
            <a:r>
              <a:rPr lang="vi-VN" b="1" dirty="0"/>
              <a:t>lấy kết quả từ tiến trình đẩy đầu tiên</a:t>
            </a:r>
            <a:r>
              <a:rPr lang="vi-VN" dirty="0"/>
              <a:t> sẵn sàng cung cấp dữ liệu.</a:t>
            </a:r>
          </a:p>
          <a:p>
            <a:r>
              <a:rPr lang="vi-VN" b="1" dirty="0"/>
              <a:t>Mục đích của mô hình pipeline</a:t>
            </a:r>
            <a:r>
              <a:rPr lang="vi-VN" dirty="0"/>
              <a:t> là </a:t>
            </a:r>
            <a:r>
              <a:rPr lang="vi-VN" b="1" dirty="0"/>
              <a:t>giữ cho càng nhiều tiến trình hoạt động càng tốt</a:t>
            </a:r>
            <a:r>
              <a:rPr lang="vi-VN" dirty="0"/>
              <a:t>, và </a:t>
            </a:r>
            <a:r>
              <a:rPr lang="vi-VN" b="1" dirty="0"/>
              <a:t>đẩy dữ liệu qua một chuỗi các tiến trình càng nhanh càng tốt</a:t>
            </a:r>
            <a:r>
              <a:rPr lang="vi-VN" dirty="0"/>
              <a:t>.</a:t>
            </a:r>
          </a:p>
          <a:p>
            <a:endParaRPr lang="en-US" b="0" dirty="0"/>
          </a:p>
          <a:p>
            <a:r>
              <a:rPr lang="vi-VN" b="1" dirty="0"/>
              <a:t>(Ví dụ: Mô hình pipeline)</a:t>
            </a:r>
            <a:br>
              <a:rPr lang="vi-VN" dirty="0"/>
            </a:br>
            <a:r>
              <a:rPr lang="vi-VN" dirty="0"/>
              <a:t>Là ví dụ cuối cùng, hãy xét một khuôn mẫu (template) đơn giản nhằm </a:t>
            </a:r>
            <a:r>
              <a:rPr lang="vi-VN" b="1" dirty="0"/>
              <a:t>giữ cho một tập hợp các tiến trình công nhân (worker tasks) luôn bận rộn</a:t>
            </a:r>
            <a:r>
              <a:rPr lang="vi-VN" dirty="0"/>
              <a:t>.</a:t>
            </a:r>
          </a:p>
          <a:p>
            <a:r>
              <a:rPr lang="en-US" dirty="0" err="1"/>
              <a:t>Đoạn</a:t>
            </a:r>
            <a:r>
              <a:rPr lang="en-US" dirty="0"/>
              <a:t> code</a:t>
            </a:r>
            <a:r>
              <a:rPr lang="vi-VN" dirty="0"/>
              <a:t> minh họa một tiến trình gọi là </a:t>
            </a:r>
            <a:r>
              <a:rPr lang="vi-VN" b="1" dirty="0"/>
              <a:t>nhiệm vụ nông dân (farmer task)</a:t>
            </a:r>
            <a:r>
              <a:rPr lang="vi-VN" dirty="0"/>
              <a:t> — tức là một tiến trình </a:t>
            </a:r>
            <a:r>
              <a:rPr lang="vi-VN" b="1" dirty="0"/>
              <a:t>tạo ra các công việc</a:t>
            </a:r>
            <a:r>
              <a:rPr lang="vi-VN" dirty="0"/>
              <a:t> để các tiến trình khác xử lý. Trong ví dụ này, ta mô phỏng công việc bằng cách để "nông dân" </a:t>
            </a:r>
            <a:r>
              <a:rPr lang="vi-VN" b="1" dirty="0"/>
              <a:t>chọn một số ngẫu nhiên</a:t>
            </a:r>
            <a:r>
              <a:rPr lang="vi-VN" dirty="0"/>
              <a:t>, đại diện cho </a:t>
            </a:r>
            <a:r>
              <a:rPr lang="vi-VN" b="1" dirty="0"/>
              <a:t>thời lượng hoặc mức độ nặng nhẹ của công việc</a:t>
            </a:r>
            <a:r>
              <a:rPr lang="vi-VN" dirty="0"/>
              <a:t>. Khối lượng công việc này sau đó </a:t>
            </a:r>
            <a:r>
              <a:rPr lang="vi-VN" b="1" dirty="0"/>
              <a:t>được gửi qua socket dạng push</a:t>
            </a:r>
            <a:r>
              <a:rPr lang="vi-VN" dirty="0"/>
              <a:t>, và được </a:t>
            </a:r>
            <a:r>
              <a:rPr lang="vi-VN" b="1" dirty="0"/>
              <a:t>xếp hàng cho đến khi có tiến trình khác nhận nó</a:t>
            </a:r>
            <a:r>
              <a:rPr lang="vi-VN" dirty="0"/>
              <a:t>.</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29</a:t>
            </a:fld>
            <a:endParaRPr lang="en-US"/>
          </a:p>
        </p:txBody>
      </p:sp>
    </p:spTree>
    <p:extLst>
      <p:ext uri="{BB962C8B-B14F-4D97-AF65-F5344CB8AC3E}">
        <p14:creationId xmlns:p14="http://schemas.microsoft.com/office/powerpoint/2010/main" val="807400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Những tiến trình còn lại gọi là </a:t>
            </a:r>
            <a:r>
              <a:rPr lang="vi-VN" b="1" dirty="0"/>
              <a:t>nhiệm vụ công nhân (worker tasks)</a:t>
            </a:r>
            <a:r>
              <a:rPr lang="vi-VN" dirty="0"/>
              <a:t>, một bản phác thảo được thể hiện ở </a:t>
            </a:r>
            <a:r>
              <a:rPr lang="en-US" dirty="0" err="1"/>
              <a:t>đoạn</a:t>
            </a:r>
            <a:r>
              <a:rPr lang="en-US" dirty="0"/>
              <a:t> code </a:t>
            </a:r>
            <a:r>
              <a:rPr lang="en-US" dirty="0" err="1"/>
              <a:t>minh</a:t>
            </a:r>
            <a:r>
              <a:rPr lang="en-US" dirty="0"/>
              <a:t> </a:t>
            </a:r>
            <a:r>
              <a:rPr lang="en-US" dirty="0" err="1"/>
              <a:t>họa</a:t>
            </a:r>
            <a:r>
              <a:rPr lang="vi-VN" dirty="0"/>
              <a:t>. Một tiến trình công nhân sẽ </a:t>
            </a:r>
            <a:r>
              <a:rPr lang="vi-VN" b="1" dirty="0"/>
              <a:t>kết nối một socket dạng pull</a:t>
            </a:r>
            <a:r>
              <a:rPr lang="vi-VN" dirty="0"/>
              <a:t> tới, trong ví dụ này, </a:t>
            </a:r>
            <a:r>
              <a:rPr lang="vi-VN" b="1" dirty="0"/>
              <a:t>hai tiến trình nông dân cụ thể</a:t>
            </a:r>
            <a:r>
              <a:rPr lang="vi-VN" dirty="0"/>
              <a:t>. Khi nhận được một công việc, tiến trình công nhân sẽ </a:t>
            </a:r>
            <a:r>
              <a:rPr lang="vi-VN" b="1" dirty="0"/>
              <a:t>giả lập việc xử lý công việc đó bằng cách “ngủ” (sleep)</a:t>
            </a:r>
            <a:r>
              <a:rPr lang="vi-VN" dirty="0"/>
              <a:t> trong một khoảng thời gian tính bằng vài chục mili-giây, </a:t>
            </a:r>
            <a:r>
              <a:rPr lang="vi-VN" b="1" dirty="0"/>
              <a:t>tỷ lệ thuận với khối lượng công việc đã nhận</a:t>
            </a:r>
            <a:r>
              <a:rPr lang="vi-VN" dirty="0"/>
              <a:t>.</a:t>
            </a:r>
          </a:p>
          <a:p>
            <a:r>
              <a:rPr lang="vi-VN" b="1" dirty="0"/>
              <a:t>Ý nghĩa của mô hình push-pull</a:t>
            </a:r>
            <a:r>
              <a:rPr lang="vi-VN" dirty="0"/>
              <a:t> là: </a:t>
            </a:r>
            <a:r>
              <a:rPr lang="vi-VN" b="1" dirty="0"/>
              <a:t>công nhân nào sẵn sàng đầu tiên sẽ nhận công việc từ một trong các nông dân</a:t>
            </a:r>
            <a:r>
              <a:rPr lang="vi-VN" dirty="0"/>
              <a:t>, và </a:t>
            </a:r>
            <a:r>
              <a:rPr lang="vi-VN" b="1" dirty="0"/>
              <a:t>nếu có nhiều công nhân cùng sẵn sàng, mỗi người sẽ nhận một công việc</a:t>
            </a:r>
            <a:r>
              <a:rPr lang="vi-VN" dirty="0"/>
              <a:t>. Việc </a:t>
            </a:r>
            <a:r>
              <a:rPr lang="vi-VN" b="1" dirty="0"/>
              <a:t>phân phối công việc sao cho công bằng</a:t>
            </a:r>
            <a:r>
              <a:rPr lang="vi-VN" dirty="0"/>
              <a:t> là một vấn đề </a:t>
            </a:r>
            <a:r>
              <a:rPr lang="vi-VN" b="1" dirty="0"/>
              <a:t>cần xử lý riêng biệt</a:t>
            </a:r>
            <a:r>
              <a:rPr lang="vi-VN" dirty="0"/>
              <a:t>, và </a:t>
            </a:r>
            <a:r>
              <a:rPr lang="vi-VN" b="1" dirty="0"/>
              <a:t>không được bàn sâu trong phần này</a:t>
            </a:r>
            <a:r>
              <a:rPr lang="vi-VN" dirty="0"/>
              <a:t>.</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30</a:t>
            </a:fld>
            <a:endParaRPr lang="en-US"/>
          </a:p>
        </p:txBody>
      </p:sp>
    </p:spTree>
    <p:extLst>
      <p:ext uri="{BB962C8B-B14F-4D97-AF65-F5344CB8AC3E}">
        <p14:creationId xmlns:p14="http://schemas.microsoft.com/office/powerpoint/2010/main" val="39341951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“MPI: When lots of flexibility is needed”</a:t>
            </a:r>
            <a:endParaRPr lang="en-US" b="1" dirty="0"/>
          </a:p>
          <a:p>
            <a:r>
              <a:rPr lang="vi-VN" b="1" dirty="0"/>
              <a:t>giao tiếp giữa các tiến trình</a:t>
            </a:r>
            <a:r>
              <a:rPr lang="vi-VN" dirty="0"/>
              <a:t> trong lập trình song song/phân tán bằng </a:t>
            </a:r>
            <a:r>
              <a:rPr lang="vi-VN" b="1" dirty="0"/>
              <a:t>MPI (Message Passing Interface)</a:t>
            </a:r>
            <a:r>
              <a:rPr lang="vi-VN" dirty="0"/>
              <a:t> — một thư viện phổ biến dùng trong các hệ thống song song, siêu máy tính, hoặc các cụm máy chủ.</a:t>
            </a:r>
          </a:p>
          <a:p>
            <a:endParaRPr lang="en-US" b="1" dirty="0"/>
          </a:p>
          <a:p>
            <a:r>
              <a:rPr lang="vi-VN" b="1" dirty="0"/>
              <a:t>Ý tưởng chính:</a:t>
            </a:r>
          </a:p>
          <a:p>
            <a:r>
              <a:rPr lang="vi-VN"/>
              <a:t>Giao </a:t>
            </a:r>
            <a:r>
              <a:rPr lang="vi-VN" dirty="0"/>
              <a:t>diện truyền thông điệp (MPI - Message Passing Interface) ra đời nhằm hỗ trợ phát triển các ứng dụng hiệu năng cao trên các hệ thống đa máy tính (multicomputers). Trước đây, </a:t>
            </a:r>
            <a:r>
              <a:rPr lang="vi-VN" b="1" dirty="0"/>
              <a:t>sockets không đáp ứng tốt nhu cầu</a:t>
            </a:r>
            <a:r>
              <a:rPr lang="vi-VN" dirty="0"/>
              <a:t> do chúng quá đơn giản và không phù hợp với các giao thức tốc độ cao chuyên dụng. Do đó, </a:t>
            </a:r>
            <a:r>
              <a:rPr lang="vi-VN" b="1" dirty="0"/>
              <a:t>nhiều thư viện truyền thông độc quyền</a:t>
            </a:r>
            <a:r>
              <a:rPr lang="vi-VN" dirty="0"/>
              <a:t> đã được phát triển, nhưng lại </a:t>
            </a:r>
            <a:r>
              <a:rPr lang="vi-VN" b="1" dirty="0"/>
              <a:t>không tương thích với nhau</a:t>
            </a:r>
            <a:r>
              <a:rPr lang="vi-VN" dirty="0"/>
              <a:t>, gây khó khăn trong việc phát triển phần mềm đa nền tảng.</a:t>
            </a:r>
          </a:p>
          <a:p>
            <a:r>
              <a:rPr lang="vi-VN" dirty="0"/>
              <a:t>Để giải quyết vấn đề này, </a:t>
            </a:r>
            <a:r>
              <a:rPr lang="vi-VN" b="1" dirty="0"/>
              <a:t>MPI được chuẩn hóa</a:t>
            </a:r>
            <a:r>
              <a:rPr lang="vi-VN" dirty="0"/>
              <a:t> nhằm cung cấp giao diện truyền thông hiệu quả, độc lập phần cứng, phù hợp cho các ứng dụng song song. MPI </a:t>
            </a:r>
            <a:r>
              <a:rPr lang="vi-VN" b="1" dirty="0"/>
              <a:t>dựa vào nhóm tiến trình có định danh rõ ràng</a:t>
            </a:r>
            <a:r>
              <a:rPr lang="vi-VN" dirty="0"/>
              <a:t>, cho phép truyền thông giữa các tiến trình thông qua các thao tác gửi/nhận nâng cao, thay vì dùng địa chỉ mạng. MPI </a:t>
            </a:r>
            <a:r>
              <a:rPr lang="vi-VN" b="1" dirty="0"/>
              <a:t>không hỗ trợ xử lý lỗi tự động</a:t>
            </a:r>
            <a:r>
              <a:rPr lang="vi-VN" dirty="0"/>
              <a:t>, và giả định rằng lỗi nghiêm trọng sẽ khiến ứng dụng dừng lại.</a:t>
            </a:r>
          </a:p>
          <a:p>
            <a:r>
              <a:rPr lang="vi-VN" dirty="0"/>
              <a:t>Tóm lại, </a:t>
            </a:r>
            <a:r>
              <a:rPr lang="vi-VN" b="1" dirty="0"/>
              <a:t>MPI cung cấp một cách tiếp cận hiệu quả, linh hoạt và tiêu chuẩn hóa để truyền thông giữa các tiến trình trong môi trường tính toán song song.</a:t>
            </a:r>
            <a:endParaRPr lang="vi-VN" dirty="0"/>
          </a:p>
          <a:p>
            <a:endParaRPr lang="en-US" b="1" dirty="0"/>
          </a:p>
          <a:p>
            <a:endParaRPr lang="en-US" b="1" dirty="0"/>
          </a:p>
          <a:p>
            <a:r>
              <a:rPr lang="vi-VN" b="1" dirty="0"/>
              <a:t>Giải thích các thao tác tiêu biểu trong bảng:</a:t>
            </a:r>
          </a:p>
          <a:p>
            <a:r>
              <a:rPr lang="vi-VN" b="1" dirty="0"/>
              <a:t>Lệnh</a:t>
            </a:r>
            <a:r>
              <a:rPr lang="en-US" b="1" dirty="0"/>
              <a:t>	</a:t>
            </a:r>
            <a:r>
              <a:rPr lang="vi-VN" b="1" dirty="0"/>
              <a:t>Giải thích</a:t>
            </a:r>
            <a:endParaRPr lang="en-US" b="1" dirty="0"/>
          </a:p>
          <a:p>
            <a:r>
              <a:rPr lang="vi-VN" dirty="0"/>
              <a:t>MPI_Bsend</a:t>
            </a:r>
            <a:r>
              <a:rPr lang="en-US" dirty="0"/>
              <a:t>	</a:t>
            </a:r>
            <a:r>
              <a:rPr lang="vi-VN" dirty="0"/>
              <a:t>Gửi thông điệp bằng cách </a:t>
            </a:r>
            <a:r>
              <a:rPr lang="vi-VN" b="1" dirty="0"/>
              <a:t>thêm vào bộ đệm gửi cục bộ (buffer)</a:t>
            </a:r>
            <a:r>
              <a:rPr lang="vi-VN" dirty="0"/>
              <a:t>. Nhanh nhưng cần quản lý bộ đệm.</a:t>
            </a:r>
            <a:endParaRPr lang="en-US" dirty="0"/>
          </a:p>
          <a:p>
            <a:r>
              <a:rPr lang="vi-VN" dirty="0"/>
              <a:t>MPI_Send</a:t>
            </a:r>
            <a:r>
              <a:rPr lang="en-US" dirty="0"/>
              <a:t>	</a:t>
            </a:r>
            <a:r>
              <a:rPr lang="vi-VN" dirty="0"/>
              <a:t>Gửi một thông điệp và </a:t>
            </a:r>
            <a:r>
              <a:rPr lang="vi-VN" b="1" dirty="0"/>
              <a:t>chờ cho đến khi thông điệp được sao chép</a:t>
            </a:r>
            <a:r>
              <a:rPr lang="vi-VN" dirty="0"/>
              <a:t> sang bộ đệm cục bộ hoặc từ xa.</a:t>
            </a:r>
            <a:endParaRPr lang="en-US" dirty="0"/>
          </a:p>
          <a:p>
            <a:r>
              <a:rPr lang="vi-VN" dirty="0"/>
              <a:t>MPI_Ssend</a:t>
            </a:r>
            <a:r>
              <a:rPr lang="en-US" dirty="0"/>
              <a:t>	</a:t>
            </a:r>
            <a:r>
              <a:rPr lang="vi-VN" dirty="0"/>
              <a:t>Gửi và </a:t>
            </a:r>
            <a:r>
              <a:rPr lang="vi-VN" b="1" dirty="0"/>
              <a:t>chờ đến khi việc truyền thực sự bắt đầu</a:t>
            </a:r>
            <a:r>
              <a:rPr lang="vi-VN" dirty="0"/>
              <a:t> (đảm bảo người nhận đã sẵn sàng). Dùng cho đồng bộ.</a:t>
            </a:r>
            <a:endParaRPr lang="en-US" dirty="0"/>
          </a:p>
          <a:p>
            <a:r>
              <a:rPr lang="vi-VN" dirty="0"/>
              <a:t>MPI_Sendrecv</a:t>
            </a:r>
            <a:r>
              <a:rPr lang="en-US" dirty="0"/>
              <a:t>	</a:t>
            </a:r>
            <a:r>
              <a:rPr lang="vi-VN" dirty="0"/>
              <a:t>Gửi một thông điệp và </a:t>
            </a:r>
            <a:r>
              <a:rPr lang="vi-VN" b="1" dirty="0"/>
              <a:t>chờ nhận phản hồi</a:t>
            </a:r>
            <a:r>
              <a:rPr lang="vi-VN" dirty="0"/>
              <a:t> (tiện cho trao đổi dữ liệu hai chiều).</a:t>
            </a:r>
            <a:endParaRPr lang="en-US" dirty="0"/>
          </a:p>
          <a:p>
            <a:r>
              <a:rPr lang="vi-VN" dirty="0"/>
              <a:t>MPI_Isend</a:t>
            </a:r>
            <a:r>
              <a:rPr lang="en-US" dirty="0"/>
              <a:t>	</a:t>
            </a:r>
            <a:r>
              <a:rPr lang="vi-VN" dirty="0"/>
              <a:t>Gửi không đồng bộ: </a:t>
            </a:r>
            <a:r>
              <a:rPr lang="vi-VN" b="1" dirty="0"/>
              <a:t>chuyển con trỏ đến thông điệp và tiếp tục làm việc</a:t>
            </a:r>
            <a:r>
              <a:rPr lang="vi-VN" dirty="0"/>
              <a:t> (không cần chờ gửi xong).</a:t>
            </a:r>
            <a:endParaRPr lang="en-US" dirty="0"/>
          </a:p>
          <a:p>
            <a:r>
              <a:rPr lang="vi-VN" dirty="0"/>
              <a:t>MPI_Issend</a:t>
            </a:r>
            <a:r>
              <a:rPr lang="en-US" dirty="0"/>
              <a:t>	</a:t>
            </a:r>
            <a:r>
              <a:rPr lang="vi-VN" dirty="0"/>
              <a:t>Gửi không đồng bộ có đồng bộ hóa: </a:t>
            </a:r>
            <a:r>
              <a:rPr lang="vi-VN" b="1" dirty="0"/>
              <a:t>chuyển con trỏ và chờ đến khi người nhận bắt đầu nhận</a:t>
            </a:r>
            <a:r>
              <a:rPr lang="vi-VN" dirty="0"/>
              <a:t>.</a:t>
            </a:r>
            <a:endParaRPr lang="en-US" dirty="0"/>
          </a:p>
          <a:p>
            <a:r>
              <a:rPr lang="vi-VN" dirty="0"/>
              <a:t>MPI_Recv</a:t>
            </a:r>
            <a:r>
              <a:rPr lang="en-US" dirty="0"/>
              <a:t>	</a:t>
            </a:r>
            <a:r>
              <a:rPr lang="vi-VN" dirty="0"/>
              <a:t>Nhận thông điệp. </a:t>
            </a:r>
            <a:r>
              <a:rPr lang="vi-VN" b="1" dirty="0"/>
              <a:t>Chặn tiến trình nếu chưa có thông điệp đến</a:t>
            </a:r>
            <a:r>
              <a:rPr lang="vi-VN" dirty="0"/>
              <a:t>.</a:t>
            </a:r>
            <a:endParaRPr lang="en-US" dirty="0"/>
          </a:p>
          <a:p>
            <a:r>
              <a:rPr lang="vi-VN" dirty="0"/>
              <a:t>MPI_Irecv</a:t>
            </a:r>
            <a:r>
              <a:rPr lang="en-US" dirty="0"/>
              <a:t>	</a:t>
            </a:r>
            <a:r>
              <a:rPr lang="vi-VN" dirty="0"/>
              <a:t>Nhận không đồng bộ: </a:t>
            </a:r>
            <a:r>
              <a:rPr lang="vi-VN" b="1" dirty="0"/>
              <a:t>kiểm tra có thông điệp hay không nhưng không chặn</a:t>
            </a:r>
            <a:r>
              <a:rPr lang="vi-VN" dirty="0"/>
              <a:t> nếu chưa có.</a:t>
            </a:r>
          </a:p>
          <a:p>
            <a:endParaRPr lang="en-US" b="1" dirty="0"/>
          </a:p>
          <a:p>
            <a:r>
              <a:rPr lang="vi-VN" b="1" dirty="0"/>
              <a:t>Lợi ích của sự linh hoạt này:</a:t>
            </a:r>
          </a:p>
          <a:p>
            <a:pPr>
              <a:buFont typeface="Arial" panose="020B0604020202020204" pitchFamily="34" charset="0"/>
              <a:buChar char="•"/>
            </a:pPr>
            <a:r>
              <a:rPr lang="vi-VN" dirty="0"/>
              <a:t>Lập trình viên có thể chọn </a:t>
            </a:r>
            <a:r>
              <a:rPr lang="vi-VN" b="1" dirty="0"/>
              <a:t>giữa hiệu năng và độ an toàn/đồng bộ hóa</a:t>
            </a:r>
            <a:r>
              <a:rPr lang="vi-VN" dirty="0"/>
              <a:t>.</a:t>
            </a:r>
          </a:p>
          <a:p>
            <a:pPr>
              <a:buFont typeface="Arial" panose="020B0604020202020204" pitchFamily="34" charset="0"/>
              <a:buChar char="•"/>
            </a:pPr>
            <a:r>
              <a:rPr lang="vi-VN" b="1" dirty="0"/>
              <a:t>Gửi không đồng bộ</a:t>
            </a:r>
            <a:r>
              <a:rPr lang="vi-VN" dirty="0"/>
              <a:t> (Isend, Irecv) cho phép </a:t>
            </a:r>
            <a:r>
              <a:rPr lang="vi-VN" b="1" dirty="0"/>
              <a:t>tối ưu hiệu năng</a:t>
            </a:r>
            <a:r>
              <a:rPr lang="vi-VN" dirty="0"/>
              <a:t> bằng cách làm nhiều việc cùng lúc.</a:t>
            </a:r>
          </a:p>
          <a:p>
            <a:pPr>
              <a:buFont typeface="Arial" panose="020B0604020202020204" pitchFamily="34" charset="0"/>
              <a:buChar char="•"/>
            </a:pPr>
            <a:r>
              <a:rPr lang="vi-VN" b="1" dirty="0"/>
              <a:t>Gửi/nhận đồng bộ</a:t>
            </a:r>
            <a:r>
              <a:rPr lang="vi-VN" dirty="0"/>
              <a:t> giúp tránh lỗi race condition hoặc mất dữ liệu.</a:t>
            </a:r>
          </a:p>
          <a:p>
            <a:endParaRPr lang="en-US" dirty="0"/>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31</a:t>
            </a:fld>
            <a:endParaRPr lang="en-US"/>
          </a:p>
        </p:txBody>
      </p:sp>
    </p:spTree>
    <p:extLst>
      <p:ext uri="{BB962C8B-B14F-4D97-AF65-F5344CB8AC3E}">
        <p14:creationId xmlns:p14="http://schemas.microsoft.com/office/powerpoint/2010/main" val="249254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"Message-oriented middleware"</a:t>
            </a:r>
          </a:p>
          <a:p>
            <a:endParaRPr lang="en-US" b="1" dirty="0"/>
          </a:p>
          <a:p>
            <a:r>
              <a:rPr lang="vi-VN" b="1" dirty="0"/>
              <a:t>Essence (Bản chất):</a:t>
            </a:r>
            <a:endParaRPr lang="vi-VN" dirty="0"/>
          </a:p>
          <a:p>
            <a:pPr>
              <a:buFont typeface="Arial" panose="020B0604020202020204" pitchFamily="34" charset="0"/>
              <a:buChar char="•"/>
            </a:pPr>
            <a:r>
              <a:rPr lang="vi-VN" dirty="0"/>
              <a:t>Middleware dạng thông điệp (</a:t>
            </a:r>
            <a:r>
              <a:rPr lang="vi-VN" b="1" dirty="0"/>
              <a:t>Message-oriented middleware</a:t>
            </a:r>
            <a:r>
              <a:rPr lang="vi-VN" dirty="0"/>
              <a:t>, viết tắt là </a:t>
            </a:r>
            <a:r>
              <a:rPr lang="vi-VN" b="1" dirty="0"/>
              <a:t>MOM</a:t>
            </a:r>
            <a:r>
              <a:rPr lang="vi-VN" dirty="0"/>
              <a:t>) hỗ trợ </a:t>
            </a:r>
            <a:r>
              <a:rPr lang="vi-VN" b="1" dirty="0"/>
              <a:t>giao tiếp bất đồng bộ và bền vững</a:t>
            </a:r>
            <a:r>
              <a:rPr lang="vi-VN" dirty="0"/>
              <a:t>.</a:t>
            </a:r>
          </a:p>
          <a:p>
            <a:pPr>
              <a:buFont typeface="Arial" panose="020B0604020202020204" pitchFamily="34" charset="0"/>
              <a:buChar char="•"/>
            </a:pPr>
            <a:r>
              <a:rPr lang="vi-VN" dirty="0"/>
              <a:t>Nó sử dụng các </a:t>
            </a:r>
            <a:r>
              <a:rPr lang="vi-VN" b="1" dirty="0"/>
              <a:t>hàng đợi (queues)</a:t>
            </a:r>
            <a:r>
              <a:rPr lang="vi-VN" dirty="0"/>
              <a:t> ở mức middleware để lưu trữ trung gian các thông điệp.</a:t>
            </a:r>
          </a:p>
          <a:p>
            <a:pPr>
              <a:buFont typeface="Arial" panose="020B0604020202020204" pitchFamily="34" charset="0"/>
              <a:buChar char="•"/>
            </a:pPr>
            <a:r>
              <a:rPr lang="vi-VN" dirty="0"/>
              <a:t>Các hàng đợi này </a:t>
            </a:r>
            <a:r>
              <a:rPr lang="vi-VN" b="1" dirty="0"/>
              <a:t>tồn tại độc lập</a:t>
            </a:r>
            <a:r>
              <a:rPr lang="vi-VN" dirty="0"/>
              <a:t> với người gửi và người nhận: người gửi có thể gửi tin nhắn rồi đi làm việc khác; người nhận sẽ lấy tin nhắn ra sau khi rảnh.</a:t>
            </a:r>
          </a:p>
          <a:p>
            <a:pPr>
              <a:buFont typeface="Arial" panose="020B0604020202020204" pitchFamily="34" charset="0"/>
              <a:buChar char="•"/>
            </a:pPr>
            <a:r>
              <a:rPr lang="vi-VN" dirty="0"/>
              <a:t>Đây là điểm </a:t>
            </a:r>
            <a:r>
              <a:rPr lang="vi-VN" b="1" dirty="0"/>
              <a:t>khác biệt lớn</a:t>
            </a:r>
            <a:r>
              <a:rPr lang="vi-VN" dirty="0"/>
              <a:t> với </a:t>
            </a:r>
            <a:r>
              <a:rPr lang="vi-VN" b="1" dirty="0"/>
              <a:t>sockets</a:t>
            </a:r>
            <a:r>
              <a:rPr lang="vi-VN" dirty="0"/>
              <a:t> hay </a:t>
            </a:r>
            <a:r>
              <a:rPr lang="vi-VN" b="1" dirty="0"/>
              <a:t>MPI</a:t>
            </a:r>
            <a:r>
              <a:rPr lang="vi-VN" dirty="0"/>
              <a:t>, vì:</a:t>
            </a:r>
          </a:p>
          <a:p>
            <a:pPr marL="742950" lvl="1" indent="-285750">
              <a:buFont typeface="Arial" panose="020B0604020202020204" pitchFamily="34" charset="0"/>
              <a:buChar char="•"/>
            </a:pPr>
            <a:r>
              <a:rPr lang="vi-VN" dirty="0"/>
              <a:t>Sockets và MPI yêu cầu cả hai bên (gửi và nhận) phải </a:t>
            </a:r>
            <a:r>
              <a:rPr lang="vi-VN" b="1" dirty="0"/>
              <a:t>đang hoạt động</a:t>
            </a:r>
            <a:r>
              <a:rPr lang="vi-VN" dirty="0"/>
              <a:t> cùng lúc.</a:t>
            </a:r>
          </a:p>
          <a:p>
            <a:pPr marL="742950" lvl="1" indent="-285750">
              <a:buFont typeface="Arial" panose="020B0604020202020204" pitchFamily="34" charset="0"/>
              <a:buChar char="•"/>
            </a:pPr>
            <a:r>
              <a:rPr lang="vi-VN" dirty="0"/>
              <a:t>MOM </a:t>
            </a:r>
            <a:r>
              <a:rPr lang="vi-VN" b="1" dirty="0"/>
              <a:t>không yêu cầu</a:t>
            </a:r>
            <a:r>
              <a:rPr lang="vi-VN" dirty="0"/>
              <a:t> vậy, thậm chí thông điệp có thể truyền chậm (vài phút mới tới cũng được).</a:t>
            </a:r>
          </a:p>
          <a:p>
            <a:endParaRPr lang="en-US" b="1" dirty="0"/>
          </a:p>
          <a:p>
            <a:r>
              <a:rPr lang="vi-VN" b="1" dirty="0"/>
              <a:t>Operations (Các thao tác chính):</a:t>
            </a:r>
            <a:endParaRPr lang="vi-VN" dirty="0"/>
          </a:p>
          <a:p>
            <a:r>
              <a:rPr lang="vi-VN" b="1" dirty="0"/>
              <a:t>Operation</a:t>
            </a:r>
            <a:r>
              <a:rPr lang="en-US" b="1" dirty="0"/>
              <a:t>	</a:t>
            </a:r>
            <a:r>
              <a:rPr lang="vi-VN" b="1" dirty="0"/>
              <a:t>Giải thích</a:t>
            </a:r>
            <a:endParaRPr lang="en-US" b="1" dirty="0"/>
          </a:p>
          <a:p>
            <a:r>
              <a:rPr lang="vi-VN" b="1" dirty="0"/>
              <a:t>Put</a:t>
            </a:r>
            <a:r>
              <a:rPr lang="en-US" b="1" dirty="0"/>
              <a:t>	</a:t>
            </a:r>
            <a:r>
              <a:rPr lang="vi-VN" dirty="0"/>
              <a:t>Thêm một thông điệp vào hàng đợi đã chỉ định.</a:t>
            </a:r>
            <a:endParaRPr lang="en-US" dirty="0"/>
          </a:p>
          <a:p>
            <a:r>
              <a:rPr lang="vi-VN" b="1" dirty="0"/>
              <a:t>Get</a:t>
            </a:r>
            <a:r>
              <a:rPr lang="en-US" b="1" dirty="0"/>
              <a:t>	</a:t>
            </a:r>
            <a:r>
              <a:rPr lang="vi-VN" dirty="0"/>
              <a:t>Đợi (block) cho đến khi hàng đợi có ít nhất một thông điệp, sau đó lấy thông điệp đầu tiên ra.</a:t>
            </a:r>
            <a:endParaRPr lang="en-US" dirty="0"/>
          </a:p>
          <a:p>
            <a:r>
              <a:rPr lang="vi-VN" b="1" dirty="0"/>
              <a:t>Poll</a:t>
            </a:r>
            <a:r>
              <a:rPr lang="en-US" b="1" dirty="0"/>
              <a:t>	</a:t>
            </a:r>
            <a:r>
              <a:rPr lang="vi-VN" dirty="0"/>
              <a:t>Kiểm tra ngay lập tức xem hàng đợi có thông điệp không, nếu có thì lấy ra. </a:t>
            </a:r>
            <a:r>
              <a:rPr lang="vi-VN" b="1" dirty="0"/>
              <a:t>Không chặn (non-blocking)</a:t>
            </a:r>
            <a:r>
              <a:rPr lang="vi-VN" dirty="0"/>
              <a:t> nếu không có gì.</a:t>
            </a:r>
            <a:endParaRPr lang="en-US" dirty="0"/>
          </a:p>
          <a:p>
            <a:r>
              <a:rPr lang="vi-VN" b="1" dirty="0"/>
              <a:t>Notify</a:t>
            </a:r>
            <a:r>
              <a:rPr lang="en-US" b="1" dirty="0"/>
              <a:t>	</a:t>
            </a:r>
            <a:r>
              <a:rPr lang="vi-VN" dirty="0"/>
              <a:t>Đăng ký một trình xử lý (handler) sẽ được kích hoạt tự động khi có thông điệp mới được thêm vào hàng đợi.</a:t>
            </a:r>
          </a:p>
          <a:p>
            <a:endParaRPr lang="en-US" b="1" dirty="0"/>
          </a:p>
          <a:p>
            <a:r>
              <a:rPr lang="vi-VN" b="1" dirty="0"/>
              <a:t>Tóm lại:</a:t>
            </a:r>
          </a:p>
          <a:p>
            <a:pPr>
              <a:buFont typeface="Arial" panose="020B0604020202020204" pitchFamily="34" charset="0"/>
              <a:buChar char="•"/>
            </a:pPr>
            <a:r>
              <a:rPr lang="vi-VN" b="1" dirty="0"/>
              <a:t>Mục tiêu</a:t>
            </a:r>
            <a:r>
              <a:rPr lang="vi-VN" dirty="0"/>
              <a:t> của Message-oriented middleware là cho phép gửi/nhận thông điệp một cách </a:t>
            </a:r>
            <a:r>
              <a:rPr lang="vi-VN" b="1" dirty="0"/>
              <a:t>an toàn, linh hoạt, và không đồng bộ</a:t>
            </a:r>
            <a:r>
              <a:rPr lang="vi-VN" dirty="0"/>
              <a:t>.</a:t>
            </a:r>
          </a:p>
          <a:p>
            <a:pPr>
              <a:buFont typeface="Arial" panose="020B0604020202020204" pitchFamily="34" charset="0"/>
              <a:buChar char="•"/>
            </a:pPr>
            <a:r>
              <a:rPr lang="vi-VN" dirty="0"/>
              <a:t>Các thao tác như </a:t>
            </a:r>
            <a:r>
              <a:rPr lang="vi-VN" b="1" dirty="0"/>
              <a:t>put</a:t>
            </a:r>
            <a:r>
              <a:rPr lang="vi-VN" dirty="0"/>
              <a:t>, </a:t>
            </a:r>
            <a:r>
              <a:rPr lang="vi-VN" b="1" dirty="0"/>
              <a:t>get</a:t>
            </a:r>
            <a:r>
              <a:rPr lang="vi-VN" dirty="0"/>
              <a:t>, </a:t>
            </a:r>
            <a:r>
              <a:rPr lang="vi-VN" b="1" dirty="0"/>
              <a:t>poll</a:t>
            </a:r>
            <a:r>
              <a:rPr lang="vi-VN" dirty="0"/>
              <a:t>, và </a:t>
            </a:r>
            <a:r>
              <a:rPr lang="vi-VN" b="1" dirty="0"/>
              <a:t>notify</a:t>
            </a:r>
            <a:r>
              <a:rPr lang="vi-VN" dirty="0"/>
              <a:t> cung cấp nhiều cách để tương tác với hàng đợi phù hợp với nhu cầu từng ứng dụng: chặn đợi, kiểm tra nhanh, hoặc phản ứng tự động.</a:t>
            </a:r>
          </a:p>
          <a:p>
            <a:pPr>
              <a:buFont typeface="Arial" panose="020B0604020202020204" pitchFamily="34" charset="0"/>
              <a:buChar char="•"/>
            </a:pPr>
            <a:r>
              <a:rPr lang="vi-VN" dirty="0"/>
              <a:t>Đây là giải pháp rất phù hợp cho các hệ thống phân tán, nơi các thành phần hoạt động độc lập về thời gian.</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32</a:t>
            </a:fld>
            <a:endParaRPr lang="en-US"/>
          </a:p>
        </p:txBody>
      </p:sp>
    </p:spTree>
    <p:extLst>
      <p:ext uri="{BB962C8B-B14F-4D97-AF65-F5344CB8AC3E}">
        <p14:creationId xmlns:p14="http://schemas.microsoft.com/office/powerpoint/2010/main" val="3381689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1. General Model (Mô hình tổng quát)</a:t>
            </a:r>
            <a:endParaRPr lang="vi-VN" dirty="0"/>
          </a:p>
          <a:p>
            <a:pPr>
              <a:buFont typeface="Arial" panose="020B0604020202020204" pitchFamily="34" charset="0"/>
              <a:buChar char="•"/>
            </a:pPr>
            <a:r>
              <a:rPr lang="vi-VN" b="1" dirty="0"/>
              <a:t>Queue Managers (Bộ quản lý hàng đợi):</a:t>
            </a:r>
            <a:br>
              <a:rPr lang="vi-VN" dirty="0"/>
            </a:br>
            <a:r>
              <a:rPr lang="vi-VN" dirty="0"/>
              <a:t>Hàng đợi (queue) trong hệ thống message-queuing được quản lý bởi các </a:t>
            </a:r>
            <a:r>
              <a:rPr lang="vi-VN" b="1" dirty="0"/>
              <a:t>queue managers</a:t>
            </a:r>
            <a:r>
              <a:rPr lang="vi-VN" dirty="0"/>
              <a:t>.</a:t>
            </a:r>
          </a:p>
          <a:p>
            <a:pPr marL="742950" lvl="1" indent="-285750">
              <a:buFont typeface="Arial" panose="020B0604020202020204" pitchFamily="34" charset="0"/>
              <a:buChar char="•"/>
            </a:pPr>
            <a:r>
              <a:rPr lang="vi-VN" dirty="0"/>
              <a:t>Một ứng dụng chỉ có thể </a:t>
            </a:r>
            <a:r>
              <a:rPr lang="vi-VN" b="1" dirty="0"/>
              <a:t>đưa message vào một queue local</a:t>
            </a:r>
            <a:r>
              <a:rPr lang="vi-VN" dirty="0"/>
              <a:t> (cục bộ) mà thôi.</a:t>
            </a:r>
          </a:p>
          <a:p>
            <a:pPr marL="742950" lvl="1" indent="-285750">
              <a:buFont typeface="Arial" panose="020B0604020202020204" pitchFamily="34" charset="0"/>
              <a:buChar char="•"/>
            </a:pPr>
            <a:r>
              <a:rPr lang="vi-VN" dirty="0"/>
              <a:t>Tương tự, ứng dụng chỉ có thể </a:t>
            </a:r>
            <a:r>
              <a:rPr lang="vi-VN" b="1" dirty="0"/>
              <a:t>lấy message từ một queue local</a:t>
            </a:r>
            <a:r>
              <a:rPr lang="vi-VN" dirty="0"/>
              <a:t>.</a:t>
            </a:r>
          </a:p>
          <a:p>
            <a:pPr marL="742950" lvl="1" indent="-285750">
              <a:buFont typeface="Arial" panose="020B0604020202020204" pitchFamily="34" charset="0"/>
              <a:buChar char="•"/>
            </a:pPr>
            <a:r>
              <a:rPr lang="vi-VN" dirty="0"/>
              <a:t>Vì vậy, </a:t>
            </a:r>
            <a:r>
              <a:rPr lang="vi-VN" b="1" dirty="0"/>
              <a:t>queue managers cần đảm nhận việc "routing" (định tuyến)</a:t>
            </a:r>
            <a:r>
              <a:rPr lang="vi-VN" dirty="0"/>
              <a:t> để đảm bảo message được gửi đúng nơi, dù đích đến thực tế có thể nằm trên một máy chủ khác.</a:t>
            </a:r>
            <a:endParaRPr lang="en-US" dirty="0"/>
          </a:p>
          <a:p>
            <a:pPr>
              <a:buFont typeface="Arial" panose="020B0604020202020204" pitchFamily="34" charset="0"/>
              <a:buChar char="•"/>
            </a:pPr>
            <a:r>
              <a:rPr lang="vi-VN" b="1" dirty="0"/>
              <a:t>Queue Manager</a:t>
            </a:r>
            <a:r>
              <a:rPr lang="vi-VN" dirty="0"/>
              <a:t> có thể là một tiến trình riêng biệt hoặc chỉ đơn giản là một thư viện nhúng trong ứng dụng.</a:t>
            </a:r>
          </a:p>
          <a:p>
            <a:pPr>
              <a:buFont typeface="Arial" panose="020B0604020202020204" pitchFamily="34" charset="0"/>
              <a:buChar char="•"/>
            </a:pPr>
            <a:r>
              <a:rPr lang="vi-VN" dirty="0"/>
              <a:t>Nếu message chỉ được đưa vào và lấy ra từ </a:t>
            </a:r>
            <a:r>
              <a:rPr lang="vi-VN" b="1" dirty="0"/>
              <a:t>local queue</a:t>
            </a:r>
            <a:r>
              <a:rPr lang="vi-VN" dirty="0"/>
              <a:t>, thì để gửi đi nơi khác, cần </a:t>
            </a:r>
            <a:r>
              <a:rPr lang="vi-VN" b="1" dirty="0"/>
              <a:t>thông tin định tuyến</a:t>
            </a:r>
            <a:r>
              <a:rPr lang="vi-VN" dirty="0"/>
              <a:t> bên trong message.</a:t>
            </a:r>
          </a:p>
          <a:p>
            <a:pPr>
              <a:buFont typeface="Arial" panose="020B0604020202020204" pitchFamily="34" charset="0"/>
              <a:buChar char="•"/>
            </a:pPr>
            <a:r>
              <a:rPr lang="vi-VN" b="1" dirty="0"/>
              <a:t>Tên queue</a:t>
            </a:r>
            <a:r>
              <a:rPr lang="vi-VN" dirty="0"/>
              <a:t> nên </a:t>
            </a:r>
            <a:r>
              <a:rPr lang="vi-VN" b="1" dirty="0"/>
              <a:t>logic và không phụ thuộc vị trí vật lý</a:t>
            </a:r>
            <a:r>
              <a:rPr lang="vi-VN" dirty="0"/>
              <a:t>, nhằm tăng tính "location transparency" (không cần biết vị trí thực tế).</a:t>
            </a:r>
          </a:p>
          <a:p>
            <a:pPr>
              <a:buFont typeface="Arial" panose="020B0604020202020204" pitchFamily="34" charset="0"/>
              <a:buChar char="•"/>
            </a:pPr>
            <a:r>
              <a:rPr lang="vi-VN" b="1" dirty="0"/>
              <a:t>Name-to-address mapping</a:t>
            </a:r>
            <a:r>
              <a:rPr lang="vi-VN" dirty="0"/>
              <a:t> thường được lưu dưới dạng bảng tra cứu, nhưng nếu hệ thống lớn, sẽ phát sinh vấn đề bảo trì vì mỗi lần thay đổi phải cập nhật nhiều nơi.</a:t>
            </a:r>
          </a:p>
          <a:p>
            <a:pPr>
              <a:buFont typeface="Arial" panose="020B0604020202020204" pitchFamily="34" charset="0"/>
              <a:buChar char="•"/>
            </a:pPr>
            <a:r>
              <a:rPr lang="vi-VN" dirty="0"/>
              <a:t>Khi hệ thống mở rộng lớn, sẽ xuất hiện </a:t>
            </a:r>
            <a:r>
              <a:rPr lang="vi-VN" b="1" dirty="0"/>
              <a:t>các queue manager chuyên trách routing</a:t>
            </a:r>
            <a:r>
              <a:rPr lang="vi-VN" dirty="0"/>
              <a:t> (router queue manager), giúp giảm gánh nặng lookup trên mỗi node nhỏ.</a:t>
            </a:r>
          </a:p>
          <a:p>
            <a:pPr marL="742950" lvl="1" indent="-285750">
              <a:buFont typeface="Arial" panose="020B0604020202020204" pitchFamily="34" charset="0"/>
              <a:buChar char="•"/>
            </a:pPr>
            <a:endParaRPr lang="vi-VN" dirty="0"/>
          </a:p>
          <a:p>
            <a:r>
              <a:rPr lang="vi-VN" b="1" dirty="0"/>
              <a:t>2. Routing (Định tuyến)</a:t>
            </a:r>
            <a:endParaRPr lang="vi-VN" dirty="0"/>
          </a:p>
          <a:p>
            <a:pPr>
              <a:buFont typeface="Arial" panose="020B0604020202020204" pitchFamily="34" charset="0"/>
              <a:buChar char="•"/>
            </a:pPr>
            <a:r>
              <a:rPr lang="vi-VN" dirty="0"/>
              <a:t>Để thực hiện định tuyến:</a:t>
            </a:r>
          </a:p>
          <a:p>
            <a:pPr marL="742950" lvl="1" indent="-285750">
              <a:buFont typeface="Arial" panose="020B0604020202020204" pitchFamily="34" charset="0"/>
              <a:buChar char="•"/>
            </a:pPr>
            <a:r>
              <a:rPr lang="vi-VN" dirty="0"/>
              <a:t>Khi một message được gửi từ </a:t>
            </a:r>
            <a:r>
              <a:rPr lang="vi-VN" b="1" dirty="0"/>
              <a:t>queue manager nguồn (Source queue manager)</a:t>
            </a:r>
            <a:r>
              <a:rPr lang="vi-VN" dirty="0"/>
              <a:t>, nó cần biết địa chỉ liên hệ (contact address) của </a:t>
            </a:r>
            <a:r>
              <a:rPr lang="vi-VN" b="1" dirty="0"/>
              <a:t>queue manager đích (Destination queue manager)</a:t>
            </a:r>
            <a:r>
              <a:rPr lang="vi-VN" dirty="0"/>
              <a:t>.</a:t>
            </a:r>
          </a:p>
          <a:p>
            <a:pPr marL="742950" lvl="1" indent="-285750">
              <a:buFont typeface="Arial" panose="020B0604020202020204" pitchFamily="34" charset="0"/>
              <a:buChar char="•"/>
            </a:pPr>
            <a:r>
              <a:rPr lang="vi-VN" dirty="0"/>
              <a:t>Việc này được thực hiện thông qua </a:t>
            </a:r>
            <a:r>
              <a:rPr lang="vi-VN" b="1" dirty="0"/>
              <a:t>tra cứu địa chỉ</a:t>
            </a:r>
            <a:r>
              <a:rPr lang="vi-VN" dirty="0"/>
              <a:t> (lookup) trong </a:t>
            </a:r>
            <a:r>
              <a:rPr lang="vi-VN" b="1" dirty="0"/>
              <a:t>cơ sở dữ liệu ánh xạ tên-địa chỉ</a:t>
            </a:r>
            <a:r>
              <a:rPr lang="vi-VN" dirty="0"/>
              <a:t> (address lookup database).</a:t>
            </a:r>
          </a:p>
          <a:p>
            <a:pPr marL="742950" lvl="1" indent="-285750">
              <a:buFont typeface="Arial" panose="020B0604020202020204" pitchFamily="34" charset="0"/>
              <a:buChar char="•"/>
            </a:pPr>
            <a:r>
              <a:rPr lang="vi-VN" dirty="0"/>
              <a:t>Ban đầu, mỗi queue chỉ có </a:t>
            </a:r>
            <a:r>
              <a:rPr lang="vi-VN" b="1" dirty="0"/>
              <a:t>tên logic</a:t>
            </a:r>
            <a:r>
              <a:rPr lang="vi-VN" dirty="0"/>
              <a:t> (logical name), không gắn liền với vị trí vật lý.</a:t>
            </a:r>
          </a:p>
          <a:p>
            <a:pPr marL="742950" lvl="1" indent="-285750">
              <a:buFont typeface="Arial" panose="020B0604020202020204" pitchFamily="34" charset="0"/>
              <a:buChar char="•"/>
            </a:pPr>
            <a:r>
              <a:rPr lang="vi-VN" dirty="0"/>
              <a:t>Thông qua lookup, tên này được ánh xạ ra địa chỉ cụ thể như (host, port, protocol TCP/UDP).</a:t>
            </a:r>
          </a:p>
          <a:p>
            <a:pPr>
              <a:buFont typeface="Arial" panose="020B0604020202020204" pitchFamily="34" charset="0"/>
              <a:buChar char="•"/>
            </a:pPr>
            <a:r>
              <a:rPr lang="vi-VN" b="1" dirty="0"/>
              <a:t>Quá trình tổng quát trong hình vẽ:</a:t>
            </a:r>
            <a:endParaRPr lang="vi-VN" dirty="0"/>
          </a:p>
          <a:p>
            <a:pPr marL="742950" lvl="1" indent="-285750">
              <a:buFont typeface="Arial" panose="020B0604020202020204" pitchFamily="34" charset="0"/>
              <a:buChar char="•"/>
            </a:pPr>
            <a:r>
              <a:rPr lang="vi-VN" dirty="0"/>
              <a:t>Ứng dụng gửi message vào local queue tại </a:t>
            </a:r>
            <a:r>
              <a:rPr lang="vi-VN" b="1" dirty="0"/>
              <a:t>Source Queue Manager</a:t>
            </a:r>
            <a:r>
              <a:rPr lang="vi-VN" dirty="0"/>
              <a:t>.</a:t>
            </a:r>
          </a:p>
          <a:p>
            <a:pPr marL="742950" lvl="1" indent="-285750">
              <a:buFont typeface="Arial" panose="020B0604020202020204" pitchFamily="34" charset="0"/>
              <a:buChar char="•"/>
            </a:pPr>
            <a:r>
              <a:rPr lang="vi-VN" dirty="0"/>
              <a:t>Source Queue Manager </a:t>
            </a:r>
            <a:r>
              <a:rPr lang="vi-VN" b="1" dirty="0"/>
              <a:t>tra cứu địa chỉ</a:t>
            </a:r>
            <a:r>
              <a:rPr lang="vi-VN" dirty="0"/>
              <a:t> đích dựa trên tên queue.</a:t>
            </a:r>
          </a:p>
          <a:p>
            <a:pPr marL="742950" lvl="1" indent="-285750">
              <a:buFont typeface="Arial" panose="020B0604020202020204" pitchFamily="34" charset="0"/>
              <a:buChar char="•"/>
            </a:pPr>
            <a:r>
              <a:rPr lang="vi-VN" dirty="0"/>
              <a:t>Dựa trên kết quả lookup, Source Queue Manager biết được </a:t>
            </a:r>
            <a:r>
              <a:rPr lang="vi-VN" b="1" dirty="0"/>
              <a:t>contact address</a:t>
            </a:r>
            <a:r>
              <a:rPr lang="vi-VN" dirty="0"/>
              <a:t> để gửi message tới </a:t>
            </a:r>
            <a:r>
              <a:rPr lang="vi-VN" b="1" dirty="0"/>
              <a:t>Destination Queue Manager</a:t>
            </a:r>
            <a:r>
              <a:rPr lang="vi-VN" dirty="0"/>
              <a:t>.</a:t>
            </a:r>
          </a:p>
          <a:p>
            <a:pPr marL="742950" lvl="1" indent="-285750">
              <a:buFont typeface="Arial" panose="020B0604020202020204" pitchFamily="34" charset="0"/>
              <a:buChar char="•"/>
            </a:pPr>
            <a:r>
              <a:rPr lang="vi-VN" dirty="0"/>
              <a:t>Message được chuyển qua mạng và tiếp nhận tại Destination Queue Manager.</a:t>
            </a:r>
          </a:p>
          <a:p>
            <a:endParaRPr lang="en-US" b="1" dirty="0"/>
          </a:p>
          <a:p>
            <a:r>
              <a:rPr lang="vi-VN" b="1" dirty="0"/>
              <a:t>Tóm tắt ngắn gọn:</a:t>
            </a:r>
          </a:p>
          <a:p>
            <a:pPr>
              <a:buFont typeface="Arial" panose="020B0604020202020204" pitchFamily="34" charset="0"/>
              <a:buChar char="•"/>
            </a:pPr>
            <a:r>
              <a:rPr lang="vi-VN" dirty="0"/>
              <a:t>Ứng dụng chỉ giao tiếp với queue local.</a:t>
            </a:r>
          </a:p>
          <a:p>
            <a:pPr>
              <a:buFont typeface="Arial" panose="020B0604020202020204" pitchFamily="34" charset="0"/>
              <a:buChar char="•"/>
            </a:pPr>
            <a:r>
              <a:rPr lang="vi-VN" dirty="0"/>
              <a:t>Queue Manager chịu trách nhiệm định tuyến messages đến đích cuối cùng thông qua lookup bảng tên-địa chỉ.</a:t>
            </a:r>
          </a:p>
          <a:p>
            <a:pPr>
              <a:buFont typeface="Arial" panose="020B0604020202020204" pitchFamily="34" charset="0"/>
              <a:buChar char="•"/>
            </a:pPr>
            <a:r>
              <a:rPr lang="vi-VN" dirty="0"/>
              <a:t>Mô hình hỗ trợ khả năng mở rộng khi có thể dùng các </a:t>
            </a:r>
            <a:r>
              <a:rPr lang="vi-VN" b="1" dirty="0"/>
              <a:t>router queue managers</a:t>
            </a:r>
            <a:r>
              <a:rPr lang="vi-VN" dirty="0"/>
              <a:t> để chuyển tiếp message.</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33</a:t>
            </a:fld>
            <a:endParaRPr lang="en-US"/>
          </a:p>
        </p:txBody>
      </p:sp>
    </p:spTree>
    <p:extLst>
      <p:ext uri="{BB962C8B-B14F-4D97-AF65-F5344CB8AC3E}">
        <p14:creationId xmlns:p14="http://schemas.microsoft.com/office/powerpoint/2010/main" val="8673753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1. Observation</a:t>
            </a:r>
            <a:r>
              <a:rPr lang="en-US" b="1" dirty="0"/>
              <a:t>/</a:t>
            </a:r>
            <a:r>
              <a:rPr lang="en-US" b="1" dirty="0" err="1"/>
              <a:t>Nhận</a:t>
            </a:r>
            <a:r>
              <a:rPr lang="en-US" b="1" dirty="0"/>
              <a:t> </a:t>
            </a:r>
            <a:r>
              <a:rPr lang="en-US" b="1" dirty="0" err="1"/>
              <a:t>định</a:t>
            </a:r>
            <a:r>
              <a:rPr lang="vi-VN" b="1" dirty="0"/>
              <a:t>: Message queuing systems assume a common messaging protocol</a:t>
            </a:r>
            <a:endParaRPr lang="vi-VN" dirty="0"/>
          </a:p>
          <a:p>
            <a:pPr>
              <a:buFont typeface="Arial" panose="020B0604020202020204" pitchFamily="34" charset="0"/>
              <a:buChar char="•"/>
            </a:pPr>
            <a:r>
              <a:rPr lang="vi-VN" dirty="0"/>
              <a:t>Trong các </a:t>
            </a:r>
            <a:r>
              <a:rPr lang="vi-VN" b="1" dirty="0"/>
              <a:t>hệ thống message queuing (MQ)</a:t>
            </a:r>
            <a:r>
              <a:rPr lang="vi-VN" dirty="0"/>
              <a:t>, người ta </a:t>
            </a:r>
            <a:r>
              <a:rPr lang="vi-VN" b="1" dirty="0"/>
              <a:t>giả định rằng tất cả các ứng dụng giao tiếp qua message đều tuân theo cùng một giao thức nhắn tin</a:t>
            </a:r>
            <a:r>
              <a:rPr lang="vi-VN" dirty="0"/>
              <a:t> — tức là:</a:t>
            </a:r>
          </a:p>
          <a:p>
            <a:pPr marL="742950" lvl="1" indent="-285750">
              <a:buFont typeface="Arial" panose="020B0604020202020204" pitchFamily="34" charset="0"/>
              <a:buChar char="•"/>
            </a:pPr>
            <a:r>
              <a:rPr lang="vi-VN" b="1" dirty="0"/>
              <a:t>Định dạng message (structure)</a:t>
            </a:r>
            <a:r>
              <a:rPr lang="vi-VN" dirty="0"/>
              <a:t> giống nhau (ví dụ: cách tổ chức fields, records, delimiters, v.v.).</a:t>
            </a:r>
          </a:p>
          <a:p>
            <a:pPr marL="742950" lvl="1" indent="-285750">
              <a:buFont typeface="Arial" panose="020B0604020202020204" pitchFamily="34" charset="0"/>
              <a:buChar char="•"/>
            </a:pPr>
            <a:r>
              <a:rPr lang="vi-VN" b="1" dirty="0"/>
              <a:t>Biểu diễn dữ liệu (data representation)</a:t>
            </a:r>
            <a:r>
              <a:rPr lang="vi-VN" dirty="0"/>
              <a:t> giống nhau (ví dụ: encoding kiểu UTF-8, kiểu dữ liệu số, ngày tháng, v.v.).</a:t>
            </a:r>
          </a:p>
          <a:p>
            <a:pPr>
              <a:buFont typeface="Arial" panose="020B0604020202020204" pitchFamily="34" charset="0"/>
              <a:buChar char="•"/>
            </a:pPr>
            <a:r>
              <a:rPr lang="vi-VN" dirty="0"/>
              <a:t>Tuy nhiên, </a:t>
            </a:r>
            <a:r>
              <a:rPr lang="vi-VN" b="1" dirty="0"/>
              <a:t>trong thực tế</a:t>
            </a:r>
            <a:r>
              <a:rPr lang="vi-VN" dirty="0"/>
              <a:t>, mỗi ứng dụng thường có </a:t>
            </a:r>
            <a:r>
              <a:rPr lang="vi-VN" b="1" dirty="0"/>
              <a:t>cách định dạng và hiểu thông tin khác nhau</a:t>
            </a:r>
            <a:r>
              <a:rPr lang="vi-VN" dirty="0"/>
              <a:t>, nên giả định này thường </a:t>
            </a:r>
            <a:r>
              <a:rPr lang="vi-VN" b="1" dirty="0"/>
              <a:t>không thực tế</a:t>
            </a:r>
            <a:r>
              <a:rPr lang="vi-VN" dirty="0"/>
              <a:t>, đặc biệt khi tích hợp các hệ thống cũ và mới (EAI - Enterprise Application Integration).</a:t>
            </a:r>
          </a:p>
          <a:p>
            <a:endParaRPr lang="en-US" b="1" dirty="0"/>
          </a:p>
          <a:p>
            <a:r>
              <a:rPr lang="vi-VN" b="1" dirty="0"/>
              <a:t>2. Broker handles application heterogeneity in an MQ system</a:t>
            </a:r>
            <a:endParaRPr lang="vi-VN" dirty="0"/>
          </a:p>
          <a:p>
            <a:pPr>
              <a:buFont typeface="Arial" panose="020B0604020202020204" pitchFamily="34" charset="0"/>
              <a:buChar char="•"/>
            </a:pPr>
            <a:r>
              <a:rPr lang="vi-VN" b="1" dirty="0"/>
              <a:t>Message Broker</a:t>
            </a:r>
            <a:r>
              <a:rPr lang="vi-VN" dirty="0"/>
              <a:t> xuất hiện để </a:t>
            </a:r>
            <a:r>
              <a:rPr lang="vi-VN" b="1" dirty="0"/>
              <a:t>giải quyết sự khác biệt (heterogeneity)</a:t>
            </a:r>
            <a:r>
              <a:rPr lang="vi-VN" dirty="0"/>
              <a:t> giữa các ứng dụng:</a:t>
            </a:r>
          </a:p>
          <a:p>
            <a:pPr marL="742950" lvl="1" indent="-285750">
              <a:buFont typeface="Arial" panose="020B0604020202020204" pitchFamily="34" charset="0"/>
              <a:buChar char="•"/>
            </a:pPr>
            <a:r>
              <a:rPr lang="vi-VN" b="1" dirty="0"/>
              <a:t>Broker nhận message từ một ứng dụng</a:t>
            </a:r>
            <a:r>
              <a:rPr lang="vi-VN" dirty="0"/>
              <a:t>, </a:t>
            </a:r>
            <a:r>
              <a:rPr lang="vi-VN" b="1" dirty="0"/>
              <a:t>chuyển đổi (transform)</a:t>
            </a:r>
            <a:r>
              <a:rPr lang="vi-VN" dirty="0"/>
              <a:t> nó sang định dạng hoặc giao thức </a:t>
            </a:r>
            <a:r>
              <a:rPr lang="vi-VN" b="1" dirty="0"/>
              <a:t>mà ứng dụng đích yêu cầu</a:t>
            </a:r>
            <a:r>
              <a:rPr lang="vi-VN" dirty="0"/>
              <a:t>.</a:t>
            </a:r>
          </a:p>
          <a:p>
            <a:pPr marL="742950" lvl="1" indent="-285750">
              <a:buFont typeface="Arial" panose="020B0604020202020204" pitchFamily="34" charset="0"/>
              <a:buChar char="•"/>
            </a:pPr>
            <a:r>
              <a:rPr lang="vi-VN" dirty="0"/>
              <a:t>Việc chuyển đổi này có thể đơn giản (chỉ reformat) hoặc phức tạp (chuyển đổi cả về mặt ngữ nghĩa và cấu trúc message).</a:t>
            </a:r>
          </a:p>
          <a:p>
            <a:pPr>
              <a:buFont typeface="Arial" panose="020B0604020202020204" pitchFamily="34" charset="0"/>
              <a:buChar char="•"/>
            </a:pPr>
            <a:r>
              <a:rPr lang="vi-VN" dirty="0"/>
              <a:t>Vì vậy, </a:t>
            </a:r>
            <a:r>
              <a:rPr lang="vi-VN" b="1" dirty="0"/>
              <a:t>message broker đóng vai trò như một "application gateway"</a:t>
            </a:r>
            <a:r>
              <a:rPr lang="vi-VN" dirty="0"/>
              <a:t>, đứng trung gian để dịch và truyền tải messages một cách thích hợp.</a:t>
            </a:r>
            <a:endParaRPr lang="en-US" dirty="0"/>
          </a:p>
          <a:p>
            <a:pPr>
              <a:buFont typeface="Arial" panose="020B0604020202020204" pitchFamily="34" charset="0"/>
              <a:buChar char="•"/>
            </a:pPr>
            <a:endParaRPr lang="en-US" b="1" dirty="0"/>
          </a:p>
          <a:p>
            <a:pPr>
              <a:buFont typeface="Arial" panose="020B0604020202020204" pitchFamily="34" charset="0"/>
              <a:buChar char="•"/>
            </a:pPr>
            <a:r>
              <a:rPr lang="vi-VN" b="1" dirty="0"/>
              <a:t>May provide subject-based routing capabilities (i.e., publish-subscribe capabilities)</a:t>
            </a:r>
            <a:endParaRPr lang="vi-VN" dirty="0"/>
          </a:p>
          <a:p>
            <a:pPr>
              <a:buFont typeface="Arial" panose="020B0604020202020204" pitchFamily="34" charset="0"/>
              <a:buChar char="•"/>
            </a:pPr>
            <a:r>
              <a:rPr lang="vi-VN" dirty="0"/>
              <a:t>Một số </a:t>
            </a:r>
            <a:r>
              <a:rPr lang="vi-VN" b="1" dirty="0"/>
              <a:t>message brokers nâng cao</a:t>
            </a:r>
            <a:r>
              <a:rPr lang="vi-VN" dirty="0"/>
              <a:t> còn hỗ trợ mô hình </a:t>
            </a:r>
            <a:r>
              <a:rPr lang="vi-VN" b="1" dirty="0"/>
              <a:t>publish-subscribe</a:t>
            </a:r>
            <a:r>
              <a:rPr lang="vi-VN" dirty="0"/>
              <a:t>:</a:t>
            </a:r>
          </a:p>
          <a:p>
            <a:pPr marL="742950" lvl="1" indent="-285750">
              <a:buFont typeface="Arial" panose="020B0604020202020204" pitchFamily="34" charset="0"/>
              <a:buChar char="•"/>
            </a:pPr>
            <a:r>
              <a:rPr lang="vi-VN" dirty="0"/>
              <a:t>Các ứng dụng </a:t>
            </a:r>
            <a:r>
              <a:rPr lang="vi-VN" b="1" dirty="0"/>
              <a:t>publish</a:t>
            </a:r>
            <a:r>
              <a:rPr lang="vi-VN" dirty="0"/>
              <a:t> (xuất bản) messages dựa trên </a:t>
            </a:r>
            <a:r>
              <a:rPr lang="vi-VN" b="1" dirty="0"/>
              <a:t>chủ đề (subject/topic)</a:t>
            </a:r>
            <a:r>
              <a:rPr lang="vi-VN" dirty="0"/>
              <a:t> như "tin tức", "cập nhật đơn hàng", v.v.</a:t>
            </a:r>
          </a:p>
          <a:p>
            <a:pPr marL="742950" lvl="1" indent="-285750">
              <a:buFont typeface="Arial" panose="020B0604020202020204" pitchFamily="34" charset="0"/>
              <a:buChar char="•"/>
            </a:pPr>
            <a:r>
              <a:rPr lang="vi-VN" dirty="0"/>
              <a:t>Các ứng dụng </a:t>
            </a:r>
            <a:r>
              <a:rPr lang="vi-VN" b="1" dirty="0"/>
              <a:t>subscribe</a:t>
            </a:r>
            <a:r>
              <a:rPr lang="vi-VN" dirty="0"/>
              <a:t> (đăng ký) nhận messages liên quan đến các chủ đề mà chúng quan tâm.</a:t>
            </a:r>
          </a:p>
          <a:p>
            <a:pPr marL="742950" lvl="1" indent="-285750">
              <a:buFont typeface="Arial" panose="020B0604020202020204" pitchFamily="34" charset="0"/>
              <a:buChar char="•"/>
            </a:pPr>
            <a:r>
              <a:rPr lang="vi-VN" b="1" dirty="0"/>
              <a:t>Message broker chịu trách nhiệm nhận message, kiểm tra chủ đề, và phân phối đúng cho các ứng dụng đã đăng ký</a:t>
            </a:r>
            <a:r>
              <a:rPr lang="vi-VN" dirty="0"/>
              <a:t>.</a:t>
            </a:r>
          </a:p>
          <a:p>
            <a:pPr>
              <a:buFont typeface="Arial" panose="020B0604020202020204" pitchFamily="34" charset="0"/>
              <a:buChar char="•"/>
            </a:pPr>
            <a:r>
              <a:rPr lang="vi-VN" dirty="0"/>
              <a:t>Đây là một dạng </a:t>
            </a:r>
            <a:r>
              <a:rPr lang="vi-VN" b="1" dirty="0"/>
              <a:t>subject-based routing</a:t>
            </a:r>
            <a:r>
              <a:rPr lang="vi-VN" dirty="0"/>
              <a:t> — định tuyến message không dựa vào địa chỉ cụ thể mà dựa trên nội dung thông tin.</a:t>
            </a:r>
          </a:p>
          <a:p>
            <a:endParaRPr lang="en-US" b="1" dirty="0"/>
          </a:p>
          <a:p>
            <a:r>
              <a:rPr lang="vi-VN" b="1" dirty="0"/>
              <a:t>Giải thích kỹ hơn:</a:t>
            </a:r>
          </a:p>
          <a:p>
            <a:pPr>
              <a:buFont typeface="Arial" panose="020B0604020202020204" pitchFamily="34" charset="0"/>
              <a:buChar char="•"/>
            </a:pPr>
            <a:r>
              <a:rPr lang="vi-VN" dirty="0"/>
              <a:t>Nếu không có broker, </a:t>
            </a:r>
            <a:r>
              <a:rPr lang="vi-VN" b="1" dirty="0"/>
              <a:t>mỗi cặp ứng dụng</a:t>
            </a:r>
            <a:r>
              <a:rPr lang="vi-VN" dirty="0"/>
              <a:t> cần tự phát triển </a:t>
            </a:r>
            <a:r>
              <a:rPr lang="vi-VN" b="1" dirty="0"/>
              <a:t>N×N bộ chuyển đổi</a:t>
            </a:r>
            <a:r>
              <a:rPr lang="vi-VN" dirty="0"/>
              <a:t> để hiểu nhau — cực kỳ khó bảo trì khi hệ thống lớn.</a:t>
            </a:r>
          </a:p>
          <a:p>
            <a:pPr>
              <a:buFont typeface="Arial" panose="020B0604020202020204" pitchFamily="34" charset="0"/>
              <a:buChar char="•"/>
            </a:pPr>
            <a:r>
              <a:rPr lang="vi-VN" b="1" dirty="0"/>
              <a:t>Giải pháp "thống nhất một chuẩn chung"</a:t>
            </a:r>
            <a:r>
              <a:rPr lang="vi-VN" dirty="0"/>
              <a:t> cho message cũng không khả thi vì các hệ thống ứng dụng thường rất đa dạng.</a:t>
            </a:r>
          </a:p>
          <a:p>
            <a:pPr>
              <a:buFont typeface="Arial" panose="020B0604020202020204" pitchFamily="34" charset="0"/>
              <a:buChar char="•"/>
            </a:pPr>
            <a:r>
              <a:rPr lang="vi-VN" b="1" dirty="0"/>
              <a:t>XML</a:t>
            </a:r>
            <a:r>
              <a:rPr lang="vi-VN" dirty="0"/>
              <a:t> là một cách để nâng mức trừu tượng (cho phép tự mô tả thông tin), nhưng </a:t>
            </a:r>
            <a:r>
              <a:rPr lang="vi-VN" b="1" dirty="0"/>
              <a:t>không giải quyết hoàn toàn vấn đề ngữ nghĩa</a:t>
            </a:r>
            <a:r>
              <a:rPr lang="vi-VN" dirty="0"/>
              <a:t>.</a:t>
            </a:r>
          </a:p>
          <a:p>
            <a:pPr>
              <a:buFont typeface="Arial" panose="020B0604020202020204" pitchFamily="34" charset="0"/>
              <a:buChar char="•"/>
            </a:pPr>
            <a:r>
              <a:rPr lang="vi-VN" b="1" dirty="0"/>
              <a:t>Message broker</a:t>
            </a:r>
            <a:r>
              <a:rPr lang="vi-VN" dirty="0"/>
              <a:t> giúp trung gian chuyển đổi format và ngữ nghĩa giữa các hệ thống, và có thể thêm logic như </a:t>
            </a:r>
            <a:r>
              <a:rPr lang="vi-VN" b="1" dirty="0"/>
              <a:t>matching ứng dụng</a:t>
            </a:r>
            <a:r>
              <a:rPr lang="vi-VN" dirty="0"/>
              <a:t> theo chủ đề message.</a:t>
            </a:r>
          </a:p>
          <a:p>
            <a:pPr>
              <a:buFont typeface="Arial" panose="020B0604020202020204" pitchFamily="34" charset="0"/>
              <a:buChar char="•"/>
            </a:pPr>
            <a:r>
              <a:rPr lang="vi-VN" b="1" dirty="0"/>
              <a:t>Broker không phải phần "cứng" của hệ thống MQ</a:t>
            </a:r>
            <a:r>
              <a:rPr lang="vi-VN" dirty="0"/>
              <a:t> — nó chỉ là </a:t>
            </a:r>
            <a:r>
              <a:rPr lang="vi-VN" b="1" dirty="0"/>
              <a:t>một ứng dụng đặc biệt</a:t>
            </a:r>
            <a:r>
              <a:rPr lang="vi-VN" dirty="0"/>
              <a:t> trong mạng MQ, thực hiện các chức năng chuyển đổi.</a:t>
            </a:r>
          </a:p>
          <a:p>
            <a:endParaRPr lang="en-US" b="1" dirty="0"/>
          </a:p>
          <a:p>
            <a:r>
              <a:rPr lang="vi-VN" b="1" dirty="0"/>
              <a:t>Tóm lại</a:t>
            </a:r>
            <a:r>
              <a:rPr lang="en-US" b="1" dirty="0"/>
              <a:t>:</a:t>
            </a:r>
            <a:endParaRPr lang="vi-VN" b="1" dirty="0"/>
          </a:p>
          <a:p>
            <a:r>
              <a:rPr lang="vi-VN" dirty="0"/>
              <a:t>Nội dung</a:t>
            </a:r>
            <a:r>
              <a:rPr lang="en-US" dirty="0"/>
              <a:t>				</a:t>
            </a:r>
            <a:r>
              <a:rPr lang="vi-VN" dirty="0"/>
              <a:t>Ý nghĩa</a:t>
            </a:r>
            <a:endParaRPr lang="en-US" dirty="0"/>
          </a:p>
          <a:p>
            <a:r>
              <a:rPr lang="vi-VN" dirty="0"/>
              <a:t>Message Queuing cần giả định chung về message format</a:t>
            </a:r>
            <a:r>
              <a:rPr lang="en-US" dirty="0"/>
              <a:t>	</a:t>
            </a:r>
            <a:r>
              <a:rPr lang="vi-VN" dirty="0"/>
              <a:t>Nhưng thực tế các ứng dụng không đồng bộ về định dạng hoặc giao thức</a:t>
            </a:r>
            <a:endParaRPr lang="en-US" dirty="0"/>
          </a:p>
          <a:p>
            <a:r>
              <a:rPr lang="vi-VN" dirty="0"/>
              <a:t>Broker xử lý sự khác biệt này</a:t>
            </a:r>
            <a:r>
              <a:rPr lang="en-US" dirty="0"/>
              <a:t>			</a:t>
            </a:r>
            <a:r>
              <a:rPr lang="vi-VN" dirty="0"/>
              <a:t>Chuyển đổi messages từ format này sang format khác để ứng dụng đích hiểu được</a:t>
            </a:r>
            <a:endParaRPr lang="en-US" dirty="0"/>
          </a:p>
          <a:p>
            <a:r>
              <a:rPr lang="vi-VN" dirty="0"/>
              <a:t>Broker còn có thể làm publish-subscribe routing</a:t>
            </a:r>
            <a:r>
              <a:rPr lang="en-US" dirty="0"/>
              <a:t>	</a:t>
            </a:r>
            <a:r>
              <a:rPr lang="vi-VN" dirty="0"/>
              <a:t>Định tuyến message dựa trên chủ đề, thay vì địa chỉ cụ thể</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34</a:t>
            </a:fld>
            <a:endParaRPr lang="en-US"/>
          </a:p>
        </p:txBody>
      </p:sp>
    </p:spTree>
    <p:extLst>
      <p:ext uri="{BB962C8B-B14F-4D97-AF65-F5344CB8AC3E}">
        <p14:creationId xmlns:p14="http://schemas.microsoft.com/office/powerpoint/2010/main" val="33958297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"Message broker: general architecture"</a:t>
            </a:r>
            <a:endParaRPr lang="vi-VN" dirty="0"/>
          </a:p>
          <a:p>
            <a:endParaRPr lang="en-US" b="1" dirty="0"/>
          </a:p>
          <a:p>
            <a:r>
              <a:rPr lang="vi-VN" b="1" dirty="0"/>
              <a:t>Tổng quan:</a:t>
            </a:r>
          </a:p>
          <a:p>
            <a:r>
              <a:rPr lang="vi-VN" dirty="0"/>
              <a:t>Hình này mô tả kiến trúc </a:t>
            </a:r>
            <a:r>
              <a:rPr lang="vi-VN" b="1" dirty="0"/>
              <a:t>chung</a:t>
            </a:r>
            <a:r>
              <a:rPr lang="vi-VN" dirty="0"/>
              <a:t> (general architecture) của một hệ thống </a:t>
            </a:r>
            <a:r>
              <a:rPr lang="vi-VN" b="1" dirty="0"/>
              <a:t>Message Broker</a:t>
            </a:r>
            <a:r>
              <a:rPr lang="vi-VN" dirty="0"/>
              <a:t>, gồm </a:t>
            </a:r>
            <a:r>
              <a:rPr lang="vi-VN" b="1" dirty="0"/>
              <a:t>ba thành phần chính</a:t>
            </a:r>
            <a:r>
              <a:rPr lang="vi-VN" dirty="0"/>
              <a:t>:</a:t>
            </a:r>
          </a:p>
          <a:p>
            <a:r>
              <a:rPr lang="vi-VN" dirty="0"/>
              <a:t>Thành phần</a:t>
            </a:r>
            <a:r>
              <a:rPr lang="en-US" dirty="0"/>
              <a:t>		</a:t>
            </a:r>
            <a:r>
              <a:rPr lang="vi-VN" dirty="0"/>
              <a:t>Vai trò</a:t>
            </a:r>
            <a:endParaRPr lang="en-US" dirty="0"/>
          </a:p>
          <a:p>
            <a:r>
              <a:rPr lang="vi-VN" b="1" dirty="0"/>
              <a:t>Source</a:t>
            </a:r>
            <a:r>
              <a:rPr lang="en-US" b="1" dirty="0"/>
              <a:t>		</a:t>
            </a:r>
            <a:r>
              <a:rPr lang="vi-VN" dirty="0"/>
              <a:t>Ứng dụng gửi message</a:t>
            </a:r>
            <a:endParaRPr lang="en-US" dirty="0"/>
          </a:p>
          <a:p>
            <a:r>
              <a:rPr lang="vi-VN" b="1" dirty="0"/>
              <a:t>Message broker</a:t>
            </a:r>
            <a:r>
              <a:rPr lang="en-US" b="1" dirty="0"/>
              <a:t>	</a:t>
            </a:r>
            <a:r>
              <a:rPr lang="vi-VN" dirty="0"/>
              <a:t>Trung gian nhận message từ Source, xử lý (biến đổi, định tuyến), và gửi đi</a:t>
            </a:r>
            <a:endParaRPr lang="en-US" dirty="0"/>
          </a:p>
          <a:p>
            <a:r>
              <a:rPr lang="vi-VN" b="1" dirty="0"/>
              <a:t>Destination</a:t>
            </a:r>
            <a:r>
              <a:rPr lang="en-US" b="1" dirty="0"/>
              <a:t>		</a:t>
            </a:r>
            <a:r>
              <a:rPr lang="vi-VN" dirty="0"/>
              <a:t>Ứng dụng nhận message</a:t>
            </a:r>
          </a:p>
          <a:p>
            <a:endParaRPr lang="en-US" dirty="0"/>
          </a:p>
          <a:p>
            <a:r>
              <a:rPr lang="vi-VN" dirty="0"/>
              <a:t>Ba thành phần đều </a:t>
            </a:r>
            <a:r>
              <a:rPr lang="vi-VN" b="1" dirty="0"/>
              <a:t>chạy trên hệ điều hành riêng</a:t>
            </a:r>
            <a:r>
              <a:rPr lang="vi-VN" dirty="0"/>
              <a:t> (Local OS).</a:t>
            </a:r>
          </a:p>
          <a:p>
            <a:r>
              <a:rPr lang="vi-VN" b="1" dirty="0"/>
              <a:t>Các chi tiết cụ thể:</a:t>
            </a:r>
          </a:p>
          <a:p>
            <a:r>
              <a:rPr lang="vi-VN" b="1" dirty="0"/>
              <a:t>1. Source (Nguồn gửi)</a:t>
            </a:r>
          </a:p>
          <a:p>
            <a:pPr>
              <a:buFont typeface="Arial" panose="020B0604020202020204" pitchFamily="34" charset="0"/>
              <a:buChar char="•"/>
            </a:pPr>
            <a:r>
              <a:rPr lang="vi-VN" b="1" dirty="0"/>
              <a:t>Application</a:t>
            </a:r>
            <a:r>
              <a:rPr lang="vi-VN" dirty="0"/>
              <a:t>: Đây là ứng dụng tạo ra thông điệp (message).</a:t>
            </a:r>
          </a:p>
          <a:p>
            <a:pPr>
              <a:buFont typeface="Arial" panose="020B0604020202020204" pitchFamily="34" charset="0"/>
              <a:buChar char="•"/>
            </a:pPr>
            <a:r>
              <a:rPr lang="vi-VN" b="1" dirty="0"/>
              <a:t>Interface</a:t>
            </a:r>
            <a:r>
              <a:rPr lang="vi-VN" dirty="0"/>
              <a:t>: Là lớp giao tiếp giữa ứng dụng và bên ngoài (ví dụ: API gửi message).</a:t>
            </a:r>
          </a:p>
          <a:p>
            <a:pPr>
              <a:buFont typeface="Arial" panose="020B0604020202020204" pitchFamily="34" charset="0"/>
              <a:buChar char="•"/>
            </a:pPr>
            <a:r>
              <a:rPr lang="vi-VN" b="1" dirty="0"/>
              <a:t>Local OS</a:t>
            </a:r>
            <a:r>
              <a:rPr lang="vi-VN" dirty="0"/>
              <a:t>: Hệ điều hành cục bộ hỗ trợ ứng dụng.</a:t>
            </a:r>
          </a:p>
          <a:p>
            <a:r>
              <a:rPr lang="en-US" dirty="0"/>
              <a:t>=&gt;</a:t>
            </a:r>
            <a:r>
              <a:rPr lang="vi-VN" dirty="0"/>
              <a:t> Ứng dụng Source gửi message thông qua Interface ra ngoài.</a:t>
            </a:r>
          </a:p>
          <a:p>
            <a:r>
              <a:rPr lang="vi-VN" b="1" dirty="0"/>
              <a:t>2. Message Broker (Trung gian)</a:t>
            </a:r>
          </a:p>
          <a:p>
            <a:pPr>
              <a:buFont typeface="Arial" panose="020B0604020202020204" pitchFamily="34" charset="0"/>
              <a:buChar char="•"/>
            </a:pPr>
            <a:r>
              <a:rPr lang="vi-VN" b="1" dirty="0"/>
              <a:t>Queuing Layer</a:t>
            </a:r>
            <a:r>
              <a:rPr lang="vi-VN" dirty="0"/>
              <a:t>:</a:t>
            </a:r>
          </a:p>
          <a:p>
            <a:pPr marL="742950" lvl="1" indent="-285750">
              <a:buFont typeface="Arial" panose="020B0604020202020204" pitchFamily="34" charset="0"/>
              <a:buChar char="•"/>
            </a:pPr>
            <a:r>
              <a:rPr lang="vi-VN" dirty="0"/>
              <a:t>Lớp quản lý hàng đợi (queue) để lưu tạm thời các message.</a:t>
            </a:r>
          </a:p>
          <a:p>
            <a:pPr marL="742950" lvl="1" indent="-285750">
              <a:buFont typeface="Arial" panose="020B0604020202020204" pitchFamily="34" charset="0"/>
              <a:buChar char="•"/>
            </a:pPr>
            <a:r>
              <a:rPr lang="vi-VN" dirty="0"/>
              <a:t>Đảm bảo message không bị mất, kể cả khi đích đến (destination) tạm thời không khả dụng.</a:t>
            </a:r>
          </a:p>
          <a:p>
            <a:pPr>
              <a:buFont typeface="Arial" panose="020B0604020202020204" pitchFamily="34" charset="0"/>
              <a:buChar char="•"/>
            </a:pPr>
            <a:r>
              <a:rPr lang="vi-VN" b="1" dirty="0"/>
              <a:t>Broker Plugins</a:t>
            </a:r>
            <a:r>
              <a:rPr lang="vi-VN" dirty="0"/>
              <a:t>:</a:t>
            </a:r>
          </a:p>
          <a:p>
            <a:pPr marL="742950" lvl="1" indent="-285750">
              <a:buFont typeface="Arial" panose="020B0604020202020204" pitchFamily="34" charset="0"/>
              <a:buChar char="•"/>
            </a:pPr>
            <a:r>
              <a:rPr lang="vi-VN" dirty="0"/>
              <a:t>Các module bổ sung giúp broker hỗ trợ các chức năng khác nhau (ví dụ: chuyển đổi định dạng, nén message, xác thực, v.v.).</a:t>
            </a:r>
          </a:p>
          <a:p>
            <a:pPr>
              <a:buFont typeface="Arial" panose="020B0604020202020204" pitchFamily="34" charset="0"/>
              <a:buChar char="•"/>
            </a:pPr>
            <a:r>
              <a:rPr lang="vi-VN" b="1" dirty="0"/>
              <a:t>Rules</a:t>
            </a:r>
            <a:r>
              <a:rPr lang="vi-VN" dirty="0"/>
              <a:t>:</a:t>
            </a:r>
          </a:p>
          <a:p>
            <a:pPr marL="742950" lvl="1" indent="-285750">
              <a:buFont typeface="Arial" panose="020B0604020202020204" pitchFamily="34" charset="0"/>
              <a:buChar char="•"/>
            </a:pPr>
            <a:r>
              <a:rPr lang="vi-VN" dirty="0"/>
              <a:t>Tập hợp các quy tắc để xử lý và định tuyến messages.</a:t>
            </a:r>
          </a:p>
          <a:p>
            <a:pPr marL="742950" lvl="1" indent="-285750">
              <a:buFont typeface="Arial" panose="020B0604020202020204" pitchFamily="34" charset="0"/>
              <a:buChar char="•"/>
            </a:pPr>
            <a:r>
              <a:rPr lang="vi-VN" dirty="0"/>
              <a:t>Ví dụ: "Nếu message là loại A, thì chuyển đến hệ thống X; nếu là loại B, thì cần chuyển đổi sang XML rồi gửi đi hệ thống Y."</a:t>
            </a:r>
          </a:p>
          <a:p>
            <a:pPr>
              <a:buFont typeface="Arial" panose="020B0604020202020204" pitchFamily="34" charset="0"/>
              <a:buChar char="•"/>
            </a:pPr>
            <a:r>
              <a:rPr lang="vi-VN" b="1" dirty="0"/>
              <a:t>Local OS</a:t>
            </a:r>
            <a:r>
              <a:rPr lang="vi-VN" dirty="0"/>
              <a:t>:</a:t>
            </a:r>
          </a:p>
          <a:p>
            <a:pPr marL="742950" lvl="1" indent="-285750">
              <a:buFont typeface="Arial" panose="020B0604020202020204" pitchFamily="34" charset="0"/>
              <a:buChar char="•"/>
            </a:pPr>
            <a:r>
              <a:rPr lang="vi-VN" dirty="0"/>
              <a:t>Hệ điều hành nơi broker chạy.</a:t>
            </a:r>
          </a:p>
          <a:p>
            <a:r>
              <a:rPr lang="en-US" dirty="0"/>
              <a:t>=&gt;</a:t>
            </a:r>
            <a:r>
              <a:rPr lang="vi-VN" dirty="0"/>
              <a:t> Broker nhận message từ Source, kiểm tra theo Rules, dùng Plugins để biến đổi message (nếu cần), sau đó lưu vào Queue rồi gửi đến Destination.</a:t>
            </a:r>
          </a:p>
          <a:p>
            <a:r>
              <a:rPr lang="vi-VN" b="1" dirty="0"/>
              <a:t>3. Destination (Đích đến)</a:t>
            </a:r>
          </a:p>
          <a:p>
            <a:pPr>
              <a:buFont typeface="Arial" panose="020B0604020202020204" pitchFamily="34" charset="0"/>
              <a:buChar char="•"/>
            </a:pPr>
            <a:r>
              <a:rPr lang="vi-VN" b="1" dirty="0"/>
              <a:t>Application</a:t>
            </a:r>
            <a:r>
              <a:rPr lang="vi-VN" dirty="0"/>
              <a:t>: Ứng dụng nhận và xử lý thông điệp.</a:t>
            </a:r>
          </a:p>
          <a:p>
            <a:pPr>
              <a:buFont typeface="Arial" panose="020B0604020202020204" pitchFamily="34" charset="0"/>
              <a:buChar char="•"/>
            </a:pPr>
            <a:r>
              <a:rPr lang="vi-VN" b="1" dirty="0"/>
              <a:t>Interface</a:t>
            </a:r>
            <a:r>
              <a:rPr lang="vi-VN" dirty="0"/>
              <a:t>: Lớp giao tiếp cho phép ứng dụng nhận thông điệp từ bên ngoài.</a:t>
            </a:r>
          </a:p>
          <a:p>
            <a:pPr>
              <a:buFont typeface="Arial" panose="020B0604020202020204" pitchFamily="34" charset="0"/>
              <a:buChar char="•"/>
            </a:pPr>
            <a:r>
              <a:rPr lang="vi-VN" b="1" dirty="0"/>
              <a:t>Local OS</a:t>
            </a:r>
            <a:r>
              <a:rPr lang="vi-VN" dirty="0"/>
              <a:t>: Hệ điều hành chạy ứng dụng.</a:t>
            </a:r>
          </a:p>
          <a:p>
            <a:r>
              <a:rPr lang="en-US" dirty="0"/>
              <a:t>=&gt; </a:t>
            </a:r>
            <a:r>
              <a:rPr lang="vi-VN" dirty="0"/>
              <a:t>Ứng dụng Destination đọc thông điệp qua Interface để xử lý tiếp.</a:t>
            </a:r>
          </a:p>
          <a:p>
            <a:endParaRPr lang="en-US" b="1" dirty="0"/>
          </a:p>
          <a:p>
            <a:r>
              <a:rPr lang="vi-VN" b="1" dirty="0"/>
              <a:t>Luồng tổng quát:</a:t>
            </a:r>
          </a:p>
          <a:p>
            <a:pPr>
              <a:buFont typeface="+mj-lt"/>
              <a:buAutoNum type="arabicPeriod"/>
            </a:pPr>
            <a:r>
              <a:rPr lang="vi-VN" b="1" dirty="0"/>
              <a:t>Source Application</a:t>
            </a:r>
            <a:r>
              <a:rPr lang="vi-VN" dirty="0"/>
              <a:t> </a:t>
            </a:r>
            <a:r>
              <a:rPr lang="en-US" dirty="0"/>
              <a:t>=&gt;</a:t>
            </a:r>
            <a:r>
              <a:rPr lang="vi-VN" dirty="0"/>
              <a:t> gửi message </a:t>
            </a:r>
            <a:r>
              <a:rPr lang="en-US" dirty="0"/>
              <a:t>=&gt;</a:t>
            </a:r>
            <a:r>
              <a:rPr lang="vi-VN" dirty="0"/>
              <a:t> </a:t>
            </a:r>
            <a:r>
              <a:rPr lang="vi-VN" b="1" dirty="0"/>
              <a:t>Interface</a:t>
            </a:r>
            <a:r>
              <a:rPr lang="vi-VN" dirty="0"/>
              <a:t>.</a:t>
            </a:r>
          </a:p>
          <a:p>
            <a:pPr>
              <a:buFont typeface="+mj-lt"/>
              <a:buAutoNum type="arabicPeriod"/>
            </a:pPr>
            <a:r>
              <a:rPr lang="vi-VN" dirty="0"/>
              <a:t>Message </a:t>
            </a:r>
            <a:r>
              <a:rPr lang="en-US" dirty="0"/>
              <a:t>=&gt;</a:t>
            </a:r>
            <a:r>
              <a:rPr lang="vi-VN" dirty="0"/>
              <a:t> truyền qua mạng </a:t>
            </a:r>
            <a:r>
              <a:rPr lang="en-US" dirty="0"/>
              <a:t>=&gt;</a:t>
            </a:r>
            <a:r>
              <a:rPr lang="vi-VN" dirty="0"/>
              <a:t> tới </a:t>
            </a:r>
            <a:r>
              <a:rPr lang="vi-VN" b="1" dirty="0"/>
              <a:t>Message Broker</a:t>
            </a:r>
            <a:r>
              <a:rPr lang="vi-VN" dirty="0"/>
              <a:t>.</a:t>
            </a:r>
          </a:p>
          <a:p>
            <a:pPr>
              <a:buFont typeface="+mj-lt"/>
              <a:buAutoNum type="arabicPeriod"/>
            </a:pPr>
            <a:r>
              <a:rPr lang="vi-VN" b="1" dirty="0"/>
              <a:t>Broker</a:t>
            </a:r>
            <a:r>
              <a:rPr lang="vi-VN" dirty="0"/>
              <a:t>:</a:t>
            </a:r>
          </a:p>
          <a:p>
            <a:pPr marL="457200" lvl="1" indent="0">
              <a:buFont typeface="+mj-lt"/>
              <a:buNone/>
            </a:pPr>
            <a:r>
              <a:rPr lang="en-US" dirty="0"/>
              <a:t>- </a:t>
            </a:r>
            <a:r>
              <a:rPr lang="vi-VN" dirty="0"/>
              <a:t>Nhận message.</a:t>
            </a:r>
          </a:p>
          <a:p>
            <a:pPr marL="457200" lvl="1" indent="0">
              <a:buFont typeface="+mj-lt"/>
              <a:buNone/>
            </a:pPr>
            <a:r>
              <a:rPr lang="en-US" dirty="0"/>
              <a:t>- </a:t>
            </a:r>
            <a:r>
              <a:rPr lang="vi-VN" dirty="0"/>
              <a:t>Xử lý theo các </a:t>
            </a:r>
            <a:r>
              <a:rPr lang="vi-VN" b="1" dirty="0"/>
              <a:t>Plugins</a:t>
            </a:r>
            <a:r>
              <a:rPr lang="vi-VN" dirty="0"/>
              <a:t> và </a:t>
            </a:r>
            <a:r>
              <a:rPr lang="vi-VN" b="1" dirty="0"/>
              <a:t>Rules</a:t>
            </a:r>
            <a:r>
              <a:rPr lang="vi-VN" dirty="0"/>
              <a:t>.</a:t>
            </a:r>
          </a:p>
          <a:p>
            <a:pPr marL="457200" lvl="1" indent="0">
              <a:buFont typeface="+mj-lt"/>
              <a:buNone/>
            </a:pPr>
            <a:r>
              <a:rPr lang="en-US" dirty="0"/>
              <a:t>- </a:t>
            </a:r>
            <a:r>
              <a:rPr lang="vi-VN" dirty="0"/>
              <a:t>Gửi message vào </a:t>
            </a:r>
            <a:r>
              <a:rPr lang="vi-VN" b="1" dirty="0"/>
              <a:t>Queuing Layer</a:t>
            </a:r>
            <a:r>
              <a:rPr lang="vi-VN" dirty="0"/>
              <a:t>.</a:t>
            </a:r>
          </a:p>
          <a:p>
            <a:pPr>
              <a:buFont typeface="+mj-lt"/>
              <a:buAutoNum type="arabicPeriod"/>
            </a:pPr>
            <a:r>
              <a:rPr lang="vi-VN" dirty="0"/>
              <a:t>Khi sẵn sàng, message </a:t>
            </a:r>
            <a:r>
              <a:rPr lang="en-US" dirty="0"/>
              <a:t>=&gt;</a:t>
            </a:r>
            <a:r>
              <a:rPr lang="vi-VN" dirty="0"/>
              <a:t> truyền từ </a:t>
            </a:r>
            <a:r>
              <a:rPr lang="vi-VN" b="1" dirty="0"/>
              <a:t>Broker</a:t>
            </a:r>
            <a:r>
              <a:rPr lang="vi-VN" dirty="0"/>
              <a:t> đến </a:t>
            </a:r>
            <a:r>
              <a:rPr lang="vi-VN" b="1" dirty="0"/>
              <a:t>Destination Application</a:t>
            </a:r>
            <a:r>
              <a:rPr lang="vi-VN" dirty="0"/>
              <a:t> qua </a:t>
            </a:r>
            <a:r>
              <a:rPr lang="vi-VN" b="1" dirty="0"/>
              <a:t>Interface</a:t>
            </a:r>
            <a:r>
              <a:rPr lang="vi-VN" dirty="0"/>
              <a:t>.</a:t>
            </a:r>
          </a:p>
          <a:p>
            <a:endParaRPr lang="en-US" b="1" dirty="0"/>
          </a:p>
          <a:p>
            <a:r>
              <a:rPr lang="vi-VN" b="1" dirty="0"/>
              <a:t>Ý nghĩa:</a:t>
            </a:r>
          </a:p>
          <a:p>
            <a:pPr>
              <a:buFont typeface="Arial" panose="020B0604020202020204" pitchFamily="34" charset="0"/>
              <a:buChar char="•"/>
            </a:pPr>
            <a:r>
              <a:rPr lang="vi-VN" dirty="0"/>
              <a:t>Broker giúp </a:t>
            </a:r>
            <a:r>
              <a:rPr lang="vi-VN" b="1" dirty="0"/>
              <a:t>ẩn</a:t>
            </a:r>
            <a:r>
              <a:rPr lang="vi-VN" dirty="0"/>
              <a:t> đi các khác biệt giữa các hệ thống (hệ điều hành, định dạng dữ liệu, giao thức truyền tin...).</a:t>
            </a:r>
          </a:p>
          <a:p>
            <a:pPr>
              <a:buFont typeface="Arial" panose="020B0604020202020204" pitchFamily="34" charset="0"/>
              <a:buChar char="•"/>
            </a:pPr>
            <a:r>
              <a:rPr lang="vi-VN" dirty="0"/>
              <a:t>Broker có thể thực hiện </a:t>
            </a:r>
            <a:r>
              <a:rPr lang="vi-VN" b="1" dirty="0"/>
              <a:t>chuyển đổi nội dung, routing thông minh, và lưu trữ tạm thời</a:t>
            </a:r>
            <a:r>
              <a:rPr lang="vi-VN" dirty="0"/>
              <a:t>.</a:t>
            </a:r>
          </a:p>
          <a:p>
            <a:pPr>
              <a:buFont typeface="Arial" panose="020B0604020202020204" pitchFamily="34" charset="0"/>
              <a:buChar char="•"/>
            </a:pPr>
            <a:r>
              <a:rPr lang="vi-VN" dirty="0"/>
              <a:t>Mô hình này phù hợp với các môi trường phức tạp, nơi nhiều ứng dụng khác nhau cần giao tiếp với nhau.</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35</a:t>
            </a:fld>
            <a:endParaRPr lang="en-US"/>
          </a:p>
        </p:txBody>
      </p:sp>
    </p:spTree>
    <p:extLst>
      <p:ext uri="{BB962C8B-B14F-4D97-AF65-F5344CB8AC3E}">
        <p14:creationId xmlns:p14="http://schemas.microsoft.com/office/powerpoint/2010/main" val="8313611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IBM’s WebSphere MQ</a:t>
            </a:r>
            <a:endParaRPr lang="en-US" b="1" dirty="0"/>
          </a:p>
          <a:p>
            <a:endParaRPr lang="en-US" b="1" dirty="0"/>
          </a:p>
          <a:p>
            <a:r>
              <a:rPr lang="vi-VN" b="1" dirty="0"/>
              <a:t>Tổng quan về WebSphere MQ</a:t>
            </a:r>
          </a:p>
          <a:p>
            <a:pPr>
              <a:buFont typeface="Arial" panose="020B0604020202020204" pitchFamily="34" charset="0"/>
              <a:buChar char="•"/>
            </a:pPr>
            <a:r>
              <a:rPr lang="vi-VN" dirty="0"/>
              <a:t>WebSphere MQ (trước đây gọi là MQSeries) là hệ thống </a:t>
            </a:r>
            <a:r>
              <a:rPr lang="vi-VN" b="1" dirty="0"/>
              <a:t>message-queuing</a:t>
            </a:r>
            <a:r>
              <a:rPr lang="vi-VN" dirty="0"/>
              <a:t> của IBM.</a:t>
            </a:r>
          </a:p>
          <a:p>
            <a:pPr>
              <a:buFont typeface="Arial" panose="020B0604020202020204" pitchFamily="34" charset="0"/>
              <a:buChar char="•"/>
            </a:pPr>
            <a:r>
              <a:rPr lang="vi-VN" dirty="0"/>
              <a:t>Hệ thống này vận hành dựa trên mô hình </a:t>
            </a:r>
            <a:r>
              <a:rPr lang="vi-VN" b="1" dirty="0"/>
              <a:t>hàng đợi (queue)</a:t>
            </a:r>
            <a:r>
              <a:rPr lang="vi-VN" dirty="0"/>
              <a:t>, </a:t>
            </a:r>
            <a:r>
              <a:rPr lang="vi-VN" b="1" dirty="0"/>
              <a:t>trình quản lý hàng đợi (queue manager)</a:t>
            </a:r>
            <a:r>
              <a:rPr lang="vi-VN" dirty="0"/>
              <a:t> và </a:t>
            </a:r>
            <a:r>
              <a:rPr lang="vi-VN" b="1" dirty="0"/>
              <a:t>kênh truyền (message channel)</a:t>
            </a:r>
            <a:r>
              <a:rPr lang="vi-VN" dirty="0"/>
              <a:t>.</a:t>
            </a:r>
          </a:p>
          <a:p>
            <a:endParaRPr lang="vi-VN" b="1" dirty="0"/>
          </a:p>
          <a:p>
            <a:r>
              <a:rPr lang="vi-VN" b="1" dirty="0"/>
              <a:t>1. Basic concepts</a:t>
            </a:r>
          </a:p>
          <a:p>
            <a:r>
              <a:rPr lang="vi-VN" b="1" dirty="0"/>
              <a:t>- Application-specific messages are put into, and removed from queues</a:t>
            </a:r>
          </a:p>
          <a:p>
            <a:pPr>
              <a:buFont typeface="Arial" panose="020B0604020202020204" pitchFamily="34" charset="0"/>
              <a:buChar char="•"/>
            </a:pPr>
            <a:r>
              <a:rPr lang="vi-VN" dirty="0"/>
              <a:t>Các </a:t>
            </a:r>
            <a:r>
              <a:rPr lang="vi-VN" b="1" dirty="0"/>
              <a:t>ứng dụng</a:t>
            </a:r>
            <a:r>
              <a:rPr lang="vi-VN" dirty="0"/>
              <a:t> sẽ tạo ra các </a:t>
            </a:r>
            <a:r>
              <a:rPr lang="vi-VN" b="1" dirty="0"/>
              <a:t>tin nhắn</a:t>
            </a:r>
            <a:r>
              <a:rPr lang="vi-VN" dirty="0"/>
              <a:t> (messages) phù hợp với nhu cầu riêng của mình.</a:t>
            </a:r>
          </a:p>
          <a:p>
            <a:pPr>
              <a:buFont typeface="Arial" panose="020B0604020202020204" pitchFamily="34" charset="0"/>
              <a:buChar char="•"/>
            </a:pPr>
            <a:r>
              <a:rPr lang="vi-VN" dirty="0"/>
              <a:t>Các tin nhắn này được </a:t>
            </a:r>
            <a:r>
              <a:rPr lang="vi-VN" b="1" dirty="0"/>
              <a:t>đưa vào</a:t>
            </a:r>
            <a:r>
              <a:rPr lang="vi-VN" dirty="0"/>
              <a:t> (put) hoặc </a:t>
            </a:r>
            <a:r>
              <a:rPr lang="vi-VN" b="1" dirty="0"/>
              <a:t>lấy ra</a:t>
            </a:r>
            <a:r>
              <a:rPr lang="vi-VN" dirty="0"/>
              <a:t> (get) từ </a:t>
            </a:r>
            <a:r>
              <a:rPr lang="vi-VN" b="1" dirty="0"/>
              <a:t>các queue</a:t>
            </a:r>
            <a:r>
              <a:rPr lang="vi-VN" dirty="0"/>
              <a:t> (hàng đợi).</a:t>
            </a:r>
          </a:p>
          <a:p>
            <a:r>
              <a:rPr lang="vi-VN" b="1" dirty="0"/>
              <a:t>- Queues reside under the regime of a queue manager</a:t>
            </a:r>
          </a:p>
          <a:p>
            <a:pPr>
              <a:buFont typeface="Arial" panose="020B0604020202020204" pitchFamily="34" charset="0"/>
              <a:buChar char="•"/>
            </a:pPr>
            <a:r>
              <a:rPr lang="vi-VN" dirty="0"/>
              <a:t>Các </a:t>
            </a:r>
            <a:r>
              <a:rPr lang="vi-VN" b="1" dirty="0"/>
              <a:t>queue</a:t>
            </a:r>
            <a:r>
              <a:rPr lang="vi-VN" dirty="0"/>
              <a:t> không tự tồn tại độc lập, mà </a:t>
            </a:r>
            <a:r>
              <a:rPr lang="vi-VN" b="1" dirty="0"/>
              <a:t>thuộc quyền quản lý</a:t>
            </a:r>
            <a:r>
              <a:rPr lang="vi-VN" dirty="0"/>
              <a:t> của một thực thể gọi là </a:t>
            </a:r>
            <a:r>
              <a:rPr lang="vi-VN" b="1" dirty="0"/>
              <a:t>Queue Manager</a:t>
            </a:r>
            <a:r>
              <a:rPr lang="vi-VN" dirty="0"/>
              <a:t>.</a:t>
            </a:r>
          </a:p>
          <a:p>
            <a:pPr>
              <a:buFont typeface="Arial" panose="020B0604020202020204" pitchFamily="34" charset="0"/>
              <a:buChar char="•"/>
            </a:pPr>
            <a:r>
              <a:rPr lang="vi-VN" b="1" dirty="0"/>
              <a:t>Queue Manager</a:t>
            </a:r>
            <a:r>
              <a:rPr lang="vi-VN" dirty="0"/>
              <a:t> chịu trách nhiệm kiểm soát, bảo vệ và vận hành các queue.</a:t>
            </a:r>
          </a:p>
          <a:p>
            <a:r>
              <a:rPr lang="vi-VN" b="1" dirty="0"/>
              <a:t>- Processes can put messages only in local queues, or through an RPC mechanism</a:t>
            </a:r>
          </a:p>
          <a:p>
            <a:pPr>
              <a:buFont typeface="Arial" panose="020B0604020202020204" pitchFamily="34" charset="0"/>
              <a:buChar char="•"/>
            </a:pPr>
            <a:r>
              <a:rPr lang="vi-VN" dirty="0"/>
              <a:t>Một </a:t>
            </a:r>
            <a:r>
              <a:rPr lang="vi-VN" b="1" dirty="0"/>
              <a:t>process</a:t>
            </a:r>
            <a:r>
              <a:rPr lang="vi-VN" dirty="0"/>
              <a:t> (tiến trình) chỉ có thể:</a:t>
            </a:r>
          </a:p>
          <a:p>
            <a:pPr marL="742950" lvl="1" indent="-285750">
              <a:buFont typeface="Arial" panose="020B0604020202020204" pitchFamily="34" charset="0"/>
              <a:buChar char="•"/>
            </a:pPr>
            <a:r>
              <a:rPr lang="vi-VN" b="1" dirty="0"/>
              <a:t>Đưa tin nhắn</a:t>
            </a:r>
            <a:r>
              <a:rPr lang="vi-VN" dirty="0"/>
              <a:t> vào các queue </a:t>
            </a:r>
            <a:r>
              <a:rPr lang="vi-VN" b="1" dirty="0"/>
              <a:t>nội bộ</a:t>
            </a:r>
            <a:r>
              <a:rPr lang="vi-VN" dirty="0"/>
              <a:t> (local queue, thuộc cùng Queue Manager).</a:t>
            </a:r>
          </a:p>
          <a:p>
            <a:pPr marL="742950" lvl="1" indent="-285750">
              <a:buFont typeface="Arial" panose="020B0604020202020204" pitchFamily="34" charset="0"/>
              <a:buChar char="•"/>
            </a:pPr>
            <a:r>
              <a:rPr lang="vi-VN" dirty="0"/>
              <a:t>Hoặc </a:t>
            </a:r>
            <a:r>
              <a:rPr lang="vi-VN" b="1" dirty="0"/>
              <a:t>gửi tin nhắn</a:t>
            </a:r>
            <a:r>
              <a:rPr lang="vi-VN" dirty="0"/>
              <a:t> tới queue từ xa bằng cách sử dụng một </a:t>
            </a:r>
            <a:r>
              <a:rPr lang="vi-VN" b="1" dirty="0"/>
              <a:t>cơ chế RPC</a:t>
            </a:r>
            <a:r>
              <a:rPr lang="vi-VN" dirty="0"/>
              <a:t> (Remote Procedure Call), tức là nhờ một quy trình trung gian để chuyển tin nhắn đi xa.</a:t>
            </a:r>
          </a:p>
          <a:p>
            <a:endParaRPr lang="en-US" b="1" dirty="0"/>
          </a:p>
          <a:p>
            <a:r>
              <a:rPr lang="vi-VN" b="1" dirty="0"/>
              <a:t>2. Message transfer</a:t>
            </a:r>
          </a:p>
          <a:p>
            <a:r>
              <a:rPr lang="vi-VN" b="1" dirty="0"/>
              <a:t>- Messages are transferred between queues</a:t>
            </a:r>
          </a:p>
          <a:p>
            <a:pPr>
              <a:buFont typeface="Arial" panose="020B0604020202020204" pitchFamily="34" charset="0"/>
              <a:buChar char="•"/>
            </a:pPr>
            <a:r>
              <a:rPr lang="vi-VN" dirty="0"/>
              <a:t>Các tin nhắn có thể được </a:t>
            </a:r>
            <a:r>
              <a:rPr lang="vi-VN" b="1" dirty="0"/>
              <a:t>chuyển từ queue này sang queue khác</a:t>
            </a:r>
            <a:r>
              <a:rPr lang="vi-VN" dirty="0"/>
              <a:t>.</a:t>
            </a:r>
          </a:p>
          <a:p>
            <a:r>
              <a:rPr lang="vi-VN" b="1" dirty="0"/>
              <a:t>- Message transfer between queues at different processes requires a channel</a:t>
            </a:r>
          </a:p>
          <a:p>
            <a:pPr>
              <a:buFont typeface="Arial" panose="020B0604020202020204" pitchFamily="34" charset="0"/>
              <a:buChar char="•"/>
            </a:pPr>
            <a:r>
              <a:rPr lang="vi-VN" dirty="0"/>
              <a:t>Nếu hai queue nằm ở </a:t>
            </a:r>
            <a:r>
              <a:rPr lang="vi-VN" b="1" dirty="0"/>
              <a:t>hai process khác nhau</a:t>
            </a:r>
            <a:r>
              <a:rPr lang="vi-VN" dirty="0"/>
              <a:t> (khác Queue Manager), thì việc chuyển tin nhắn sẽ cần một </a:t>
            </a:r>
            <a:r>
              <a:rPr lang="vi-VN" b="1" dirty="0"/>
              <a:t>channel</a:t>
            </a:r>
            <a:r>
              <a:rPr lang="vi-VN" dirty="0"/>
              <a:t> (kênh truyền thông) để kết nối hai Queue Manager này.</a:t>
            </a:r>
          </a:p>
          <a:p>
            <a:r>
              <a:rPr lang="vi-VN" b="1" dirty="0"/>
              <a:t>- At each end point of channel is a message channel agent</a:t>
            </a:r>
          </a:p>
          <a:p>
            <a:pPr>
              <a:buFont typeface="Arial" panose="020B0604020202020204" pitchFamily="34" charset="0"/>
              <a:buChar char="•"/>
            </a:pPr>
            <a:r>
              <a:rPr lang="vi-VN" dirty="0"/>
              <a:t>Mỗi đầu của channel sẽ có một </a:t>
            </a:r>
            <a:r>
              <a:rPr lang="vi-VN" b="1" dirty="0"/>
              <a:t>Message Channel Agent</a:t>
            </a:r>
            <a:r>
              <a:rPr lang="vi-VN" dirty="0"/>
              <a:t> (MCA):</a:t>
            </a:r>
          </a:p>
          <a:p>
            <a:pPr marL="742950" lvl="1" indent="-285750">
              <a:buFont typeface="Arial" panose="020B0604020202020204" pitchFamily="34" charset="0"/>
              <a:buChar char="•"/>
            </a:pPr>
            <a:r>
              <a:rPr lang="vi-VN" dirty="0"/>
              <a:t>Một MCA gửi tin nhắn từ đầu nguồn.</a:t>
            </a:r>
          </a:p>
          <a:p>
            <a:pPr marL="742950" lvl="1" indent="-285750">
              <a:buFont typeface="Arial" panose="020B0604020202020204" pitchFamily="34" charset="0"/>
              <a:buChar char="•"/>
            </a:pPr>
            <a:r>
              <a:rPr lang="vi-VN" dirty="0"/>
              <a:t>Một MCA nhận tin nhắn ở đầu đích.</a:t>
            </a:r>
          </a:p>
          <a:p>
            <a:r>
              <a:rPr lang="vi-VN" b="1" dirty="0"/>
              <a:t>- Message channel agents are responsible for:</a:t>
            </a:r>
          </a:p>
          <a:p>
            <a:pPr>
              <a:buFont typeface="+mj-lt"/>
              <a:buNone/>
            </a:pPr>
            <a:r>
              <a:rPr lang="en-US" b="1" dirty="0"/>
              <a:t>+ </a:t>
            </a:r>
            <a:r>
              <a:rPr lang="vi-VN" b="1" dirty="0"/>
              <a:t>Setting up channels using lower-level network communication facilities (e.g., TCP/IP)</a:t>
            </a:r>
            <a:endParaRPr lang="vi-VN" dirty="0"/>
          </a:p>
          <a:p>
            <a:pPr marL="457200" lvl="1" indent="0">
              <a:buFont typeface="+mj-lt"/>
              <a:buNone/>
            </a:pPr>
            <a:r>
              <a:rPr lang="en-US" dirty="0"/>
              <a:t>- </a:t>
            </a:r>
            <a:r>
              <a:rPr lang="vi-VN" dirty="0"/>
              <a:t>MCA sẽ thiết lập kênh truyền bằng cách sử dụng </a:t>
            </a:r>
            <a:r>
              <a:rPr lang="vi-VN" b="1" dirty="0"/>
              <a:t>giao thức mạng cơ bản</a:t>
            </a:r>
            <a:r>
              <a:rPr lang="vi-VN" dirty="0"/>
              <a:t> như </a:t>
            </a:r>
            <a:r>
              <a:rPr lang="vi-VN" b="1" dirty="0"/>
              <a:t>TCP/IP</a:t>
            </a:r>
            <a:r>
              <a:rPr lang="vi-VN" dirty="0"/>
              <a:t>.</a:t>
            </a:r>
          </a:p>
          <a:p>
            <a:pPr>
              <a:buFont typeface="+mj-lt"/>
              <a:buNone/>
            </a:pPr>
            <a:r>
              <a:rPr lang="en-US" b="1" dirty="0"/>
              <a:t>+ </a:t>
            </a:r>
            <a:r>
              <a:rPr lang="vi-VN" b="1" dirty="0"/>
              <a:t>(Un)wrapping messages from/in transport-level packets</a:t>
            </a:r>
            <a:endParaRPr lang="vi-VN" dirty="0"/>
          </a:p>
          <a:p>
            <a:pPr marL="457200" lvl="1" indent="0">
              <a:buFont typeface="+mj-lt"/>
              <a:buNone/>
            </a:pPr>
            <a:r>
              <a:rPr lang="en-US" dirty="0"/>
              <a:t>- </a:t>
            </a:r>
            <a:r>
              <a:rPr lang="vi-VN" dirty="0"/>
              <a:t>MCA cũng chịu trách nhiệm </a:t>
            </a:r>
            <a:r>
              <a:rPr lang="vi-VN" b="1" dirty="0"/>
              <a:t>gói</a:t>
            </a:r>
            <a:r>
              <a:rPr lang="vi-VN" dirty="0"/>
              <a:t> (wrap) tin nhắn vào các </a:t>
            </a:r>
            <a:r>
              <a:rPr lang="vi-VN" b="1" dirty="0"/>
              <a:t>gói tin mạng</a:t>
            </a:r>
            <a:r>
              <a:rPr lang="vi-VN" dirty="0"/>
              <a:t> để gửi đi, hoặc </a:t>
            </a:r>
            <a:r>
              <a:rPr lang="vi-VN" b="1" dirty="0"/>
              <a:t>mở gói</a:t>
            </a:r>
            <a:r>
              <a:rPr lang="vi-VN" dirty="0"/>
              <a:t> (unwrap) khi nhận về.</a:t>
            </a:r>
          </a:p>
          <a:p>
            <a:pPr>
              <a:buFont typeface="+mj-lt"/>
              <a:buNone/>
            </a:pPr>
            <a:r>
              <a:rPr lang="en-US" b="1" dirty="0"/>
              <a:t>+ </a:t>
            </a:r>
            <a:r>
              <a:rPr lang="vi-VN" b="1" dirty="0"/>
              <a:t>Sending/receiving packets</a:t>
            </a:r>
            <a:endParaRPr lang="vi-VN" dirty="0"/>
          </a:p>
          <a:p>
            <a:pPr marL="457200" lvl="1" indent="0">
              <a:buFont typeface="+mj-lt"/>
              <a:buNone/>
            </a:pPr>
            <a:r>
              <a:rPr lang="en-US" dirty="0"/>
              <a:t>- </a:t>
            </a:r>
            <a:r>
              <a:rPr lang="vi-VN" dirty="0"/>
              <a:t>Cuối cùng, MCA sẽ thực hiện việc </a:t>
            </a:r>
            <a:r>
              <a:rPr lang="vi-VN" b="1" dirty="0"/>
              <a:t>gửi</a:t>
            </a:r>
            <a:r>
              <a:rPr lang="vi-VN" dirty="0"/>
              <a:t> các packet tin nhắn đi và </a:t>
            </a:r>
            <a:r>
              <a:rPr lang="vi-VN" b="1" dirty="0"/>
              <a:t>nhận</a:t>
            </a:r>
            <a:r>
              <a:rPr lang="vi-VN" dirty="0"/>
              <a:t> các packet tin nhắn về.</a:t>
            </a:r>
          </a:p>
          <a:p>
            <a:endParaRPr lang="en-US" b="1" dirty="0"/>
          </a:p>
          <a:p>
            <a:r>
              <a:rPr lang="vi-VN" b="1" dirty="0"/>
              <a:t>Tóm tắt nhanh:</a:t>
            </a:r>
          </a:p>
          <a:p>
            <a:r>
              <a:rPr lang="vi-VN" dirty="0"/>
              <a:t>Phần</a:t>
            </a:r>
            <a:r>
              <a:rPr lang="en-US" dirty="0"/>
              <a:t>		</a:t>
            </a:r>
            <a:r>
              <a:rPr lang="vi-VN" dirty="0"/>
              <a:t>Ý chính</a:t>
            </a:r>
            <a:endParaRPr lang="en-US" dirty="0"/>
          </a:p>
          <a:p>
            <a:r>
              <a:rPr lang="vi-VN" dirty="0"/>
              <a:t>Basic concepts</a:t>
            </a:r>
            <a:r>
              <a:rPr lang="en-US" dirty="0"/>
              <a:t>		</a:t>
            </a:r>
            <a:r>
              <a:rPr lang="vi-VN" dirty="0"/>
              <a:t>Ứng dụng làm việc với queue; Queue được quản lý bởi Queue Manager; Gửi tin vào local queue hoặc dùng RPC.</a:t>
            </a:r>
            <a:endParaRPr lang="en-US" dirty="0"/>
          </a:p>
          <a:p>
            <a:r>
              <a:rPr lang="vi-VN" dirty="0"/>
              <a:t>Message transfer</a:t>
            </a:r>
            <a:r>
              <a:rPr lang="en-US" dirty="0"/>
              <a:t>	</a:t>
            </a:r>
            <a:r>
              <a:rPr lang="vi-VN" dirty="0"/>
              <a:t>Chuyển tin nhắn cần channel khi khác process; Mỗi đầu channel có MCA; MCA thiết lập kênh, gói/mở gói, gửi/nhận tin.</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36</a:t>
            </a:fld>
            <a:endParaRPr lang="en-US"/>
          </a:p>
        </p:txBody>
      </p:sp>
    </p:spTree>
    <p:extLst>
      <p:ext uri="{BB962C8B-B14F-4D97-AF65-F5344CB8AC3E}">
        <p14:creationId xmlns:p14="http://schemas.microsoft.com/office/powerpoint/2010/main" val="29994842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DeepSeek-CJK-patch"/>
              </a:rPr>
              <a:t>Hình vẽ mô tả kiến trúc hoạt động của </a:t>
            </a:r>
            <a:r>
              <a:rPr lang="vi-VN" b="1" i="0" dirty="0">
                <a:solidFill>
                  <a:srgbClr val="404040"/>
                </a:solidFill>
                <a:effectLst/>
                <a:latin typeface="DeepSeek-CJK-patch"/>
              </a:rPr>
              <a:t>IBM WebSphere MQ</a:t>
            </a:r>
            <a:r>
              <a:rPr lang="vi-VN" b="0" i="0" dirty="0">
                <a:solidFill>
                  <a:srgbClr val="404040"/>
                </a:solidFill>
                <a:effectLst/>
                <a:latin typeface="DeepSeek-CJK-patch"/>
              </a:rPr>
              <a:t> – một hệ thống </a:t>
            </a:r>
            <a:r>
              <a:rPr lang="vi-VN" b="1" i="0" dirty="0">
                <a:solidFill>
                  <a:srgbClr val="404040"/>
                </a:solidFill>
                <a:effectLst/>
                <a:latin typeface="DeepSeek-CJK-patch"/>
              </a:rPr>
              <a:t>message-queuing</a:t>
            </a:r>
            <a:r>
              <a:rPr lang="vi-VN" b="0" i="0" dirty="0">
                <a:solidFill>
                  <a:srgbClr val="404040"/>
                </a:solidFill>
                <a:effectLst/>
                <a:latin typeface="DeepSeek-CJK-patch"/>
              </a:rPr>
              <a:t> dùng để giao tiếp bất đồng bộ giữa các ứng dụng phân tán. Dưới đây là giải thích chi tiết từng thành phần và luồng dữ liệu:</a:t>
            </a:r>
            <a:endParaRPr lang="en-US" b="0" i="0" dirty="0">
              <a:solidFill>
                <a:srgbClr val="404040"/>
              </a:solidFill>
              <a:effectLst/>
              <a:latin typeface="DeepSeek-CJK-patch"/>
            </a:endParaRPr>
          </a:p>
          <a:p>
            <a:pPr algn="l"/>
            <a:endParaRPr lang="vi-VN" b="0" i="0" dirty="0">
              <a:solidFill>
                <a:srgbClr val="404040"/>
              </a:solidFill>
              <a:effectLst/>
              <a:latin typeface="DeepSeek-CJK-patch"/>
            </a:endParaRPr>
          </a:p>
          <a:p>
            <a:pPr algn="l"/>
            <a:r>
              <a:rPr lang="vi-VN" b="1" i="0" dirty="0">
                <a:solidFill>
                  <a:srgbClr val="404040"/>
                </a:solidFill>
                <a:effectLst/>
                <a:latin typeface="DeepSeek-CJK-patch"/>
              </a:rPr>
              <a:t>1. Các thành phần chính</a:t>
            </a:r>
            <a:endParaRPr lang="vi-VN" b="0" i="0" dirty="0">
              <a:solidFill>
                <a:srgbClr val="404040"/>
              </a:solidFill>
              <a:effectLst/>
              <a:latin typeface="DeepSeek-CJK-patch"/>
            </a:endParaRPr>
          </a:p>
          <a:p>
            <a:pPr algn="l"/>
            <a:r>
              <a:rPr lang="vi-VN" b="1" i="0" dirty="0">
                <a:solidFill>
                  <a:srgbClr val="404040"/>
                </a:solidFill>
                <a:effectLst/>
                <a:latin typeface="DeepSeek-CJK-patch"/>
              </a:rPr>
              <a:t>Thành phần</a:t>
            </a:r>
            <a:r>
              <a:rPr lang="en-US" b="1" i="0" dirty="0">
                <a:solidFill>
                  <a:srgbClr val="404040"/>
                </a:solidFill>
                <a:effectLst/>
                <a:latin typeface="DeepSeek-CJK-patch"/>
              </a:rPr>
              <a:t>			</a:t>
            </a:r>
            <a:r>
              <a:rPr lang="vi-VN" b="1" i="0" dirty="0">
                <a:solidFill>
                  <a:srgbClr val="404040"/>
                </a:solidFill>
                <a:effectLst/>
                <a:latin typeface="DeepSeek-CJK-patch"/>
              </a:rPr>
              <a:t>Vai trò</a:t>
            </a:r>
            <a:endParaRPr lang="en-US" b="1" i="0" dirty="0">
              <a:solidFill>
                <a:srgbClr val="404040"/>
              </a:solidFill>
              <a:effectLst/>
              <a:latin typeface="DeepSeek-CJK-patch"/>
            </a:endParaRPr>
          </a:p>
          <a:p>
            <a:pPr algn="l"/>
            <a:r>
              <a:rPr lang="vi-VN" b="1" i="0" dirty="0">
                <a:solidFill>
                  <a:srgbClr val="404040"/>
                </a:solidFill>
                <a:effectLst/>
                <a:latin typeface="DeepSeek-CJK-patch"/>
              </a:rPr>
              <a:t>Sending Client</a:t>
            </a:r>
            <a:r>
              <a:rPr lang="en-US" b="1" i="0" dirty="0">
                <a:solidFill>
                  <a:srgbClr val="404040"/>
                </a:solidFill>
                <a:effectLst/>
                <a:latin typeface="DeepSeek-CJK-patch"/>
              </a:rPr>
              <a:t>		</a:t>
            </a:r>
            <a:r>
              <a:rPr lang="vi-VN" b="0" i="0" dirty="0">
                <a:solidFill>
                  <a:srgbClr val="404040"/>
                </a:solidFill>
                <a:effectLst/>
                <a:latin typeface="DeepSeek-CJK-patch"/>
              </a:rPr>
              <a:t>Ứng dụng/tiến trình gửi thông điệp (message).</a:t>
            </a:r>
            <a:endParaRPr lang="en-US" b="0" i="0" dirty="0">
              <a:solidFill>
                <a:srgbClr val="404040"/>
              </a:solidFill>
              <a:effectLst/>
              <a:latin typeface="DeepSeek-CJK-patch"/>
            </a:endParaRPr>
          </a:p>
          <a:p>
            <a:pPr algn="l"/>
            <a:r>
              <a:rPr lang="vi-VN" b="1" i="0" dirty="0">
                <a:solidFill>
                  <a:srgbClr val="404040"/>
                </a:solidFill>
                <a:effectLst/>
                <a:latin typeface="DeepSeek-CJK-patch"/>
              </a:rPr>
              <a:t>Receiving Client</a:t>
            </a:r>
            <a:r>
              <a:rPr lang="en-US" b="1" i="0" dirty="0">
                <a:solidFill>
                  <a:srgbClr val="404040"/>
                </a:solidFill>
                <a:effectLst/>
                <a:latin typeface="DeepSeek-CJK-patch"/>
              </a:rPr>
              <a:t>		</a:t>
            </a:r>
            <a:r>
              <a:rPr lang="vi-VN" b="0" i="0" dirty="0">
                <a:solidFill>
                  <a:srgbClr val="404040"/>
                </a:solidFill>
                <a:effectLst/>
                <a:latin typeface="DeepSeek-CJK-patch"/>
              </a:rPr>
              <a:t>Ứng dụng/tiến trình nhận thông điệp.</a:t>
            </a:r>
            <a:endParaRPr lang="en-US" b="0" i="0" dirty="0">
              <a:solidFill>
                <a:srgbClr val="404040"/>
              </a:solidFill>
              <a:effectLst/>
              <a:latin typeface="DeepSeek-CJK-patch"/>
            </a:endParaRPr>
          </a:p>
          <a:p>
            <a:pPr algn="l"/>
            <a:r>
              <a:rPr lang="vi-VN" b="1" i="0" dirty="0">
                <a:solidFill>
                  <a:srgbClr val="404040"/>
                </a:solidFill>
                <a:effectLst/>
                <a:latin typeface="DeepSeek-CJK-patch"/>
              </a:rPr>
              <a:t>MQ Interface</a:t>
            </a:r>
            <a:r>
              <a:rPr lang="en-US" b="1" i="0" dirty="0">
                <a:solidFill>
                  <a:srgbClr val="404040"/>
                </a:solidFill>
                <a:effectLst/>
                <a:latin typeface="DeepSeek-CJK-patch"/>
              </a:rPr>
              <a:t>			</a:t>
            </a:r>
            <a:r>
              <a:rPr lang="vi-VN" b="0" i="0" dirty="0">
                <a:solidFill>
                  <a:srgbClr val="404040"/>
                </a:solidFill>
                <a:effectLst/>
                <a:latin typeface="DeepSeek-CJK-patch"/>
              </a:rPr>
              <a:t>Giao diện lập trình (API) để tương tác với hàng đợi (gọi MQPUT/MQGET).</a:t>
            </a:r>
            <a:endParaRPr lang="en-US" b="0" i="0" dirty="0">
              <a:solidFill>
                <a:srgbClr val="404040"/>
              </a:solidFill>
              <a:effectLst/>
              <a:latin typeface="DeepSeek-CJK-patch"/>
            </a:endParaRPr>
          </a:p>
          <a:p>
            <a:pPr algn="l"/>
            <a:r>
              <a:rPr lang="vi-VN" b="1" i="0" dirty="0">
                <a:solidFill>
                  <a:srgbClr val="404040"/>
                </a:solidFill>
                <a:effectLst/>
                <a:latin typeface="DeepSeek-CJK-patch"/>
              </a:rPr>
              <a:t>Queue Manager</a:t>
            </a:r>
            <a:r>
              <a:rPr lang="en-US" b="1" i="0" dirty="0">
                <a:solidFill>
                  <a:srgbClr val="404040"/>
                </a:solidFill>
                <a:effectLst/>
                <a:latin typeface="DeepSeek-CJK-patch"/>
              </a:rPr>
              <a:t>		</a:t>
            </a:r>
            <a:r>
              <a:rPr lang="vi-VN" b="0" i="0" dirty="0">
                <a:solidFill>
                  <a:srgbClr val="404040"/>
                </a:solidFill>
                <a:effectLst/>
                <a:latin typeface="DeepSeek-CJK-patch"/>
              </a:rPr>
              <a:t>Quản lý hàng đợi (send/receive queues) và định tuyến thông điệp.</a:t>
            </a:r>
            <a:endParaRPr lang="en-US" b="0" i="0" dirty="0">
              <a:solidFill>
                <a:srgbClr val="404040"/>
              </a:solidFill>
              <a:effectLst/>
              <a:latin typeface="DeepSeek-CJK-patch"/>
            </a:endParaRPr>
          </a:p>
          <a:p>
            <a:pPr algn="l"/>
            <a:r>
              <a:rPr lang="vi-VN" b="1" i="0" dirty="0">
                <a:solidFill>
                  <a:srgbClr val="404040"/>
                </a:solidFill>
                <a:effectLst/>
                <a:latin typeface="DeepSeek-CJK-patch"/>
              </a:rPr>
              <a:t>Send Queue</a:t>
            </a:r>
            <a:r>
              <a:rPr lang="en-US" b="1" i="0" dirty="0">
                <a:solidFill>
                  <a:srgbClr val="404040"/>
                </a:solidFill>
                <a:effectLst/>
                <a:latin typeface="DeepSeek-CJK-patch"/>
              </a:rPr>
              <a:t>			</a:t>
            </a:r>
            <a:r>
              <a:rPr lang="vi-VN" b="0" i="0" dirty="0">
                <a:solidFill>
                  <a:srgbClr val="404040"/>
                </a:solidFill>
                <a:effectLst/>
                <a:latin typeface="DeepSeek-CJK-patch"/>
              </a:rPr>
              <a:t>Hàng đợi chứa thông điệp chờ gửi đi.</a:t>
            </a:r>
            <a:endParaRPr lang="en-US" b="0" i="0" dirty="0">
              <a:solidFill>
                <a:srgbClr val="404040"/>
              </a:solidFill>
              <a:effectLst/>
              <a:latin typeface="DeepSeek-CJK-patch"/>
            </a:endParaRPr>
          </a:p>
          <a:p>
            <a:pPr algn="l"/>
            <a:r>
              <a:rPr lang="vi-VN" b="1" i="0" dirty="0">
                <a:solidFill>
                  <a:srgbClr val="404040"/>
                </a:solidFill>
                <a:effectLst/>
                <a:latin typeface="DeepSeek-CJK-patch"/>
              </a:rPr>
              <a:t>Client’s Receive Queue</a:t>
            </a:r>
            <a:r>
              <a:rPr lang="en-US" b="1" i="0" dirty="0">
                <a:solidFill>
                  <a:srgbClr val="404040"/>
                </a:solidFill>
                <a:effectLst/>
                <a:latin typeface="DeepSeek-CJK-patch"/>
              </a:rPr>
              <a:t>		</a:t>
            </a:r>
            <a:r>
              <a:rPr lang="vi-VN" b="0" i="0" dirty="0">
                <a:solidFill>
                  <a:srgbClr val="404040"/>
                </a:solidFill>
                <a:effectLst/>
                <a:latin typeface="DeepSeek-CJK-patch"/>
              </a:rPr>
              <a:t>Hàng đợi chứa thông điệp nhận được từ ứng dụng khác.</a:t>
            </a:r>
            <a:endParaRPr lang="en-US" b="0" i="0" dirty="0">
              <a:solidFill>
                <a:srgbClr val="404040"/>
              </a:solidFill>
              <a:effectLst/>
              <a:latin typeface="DeepSeek-CJK-patch"/>
            </a:endParaRPr>
          </a:p>
          <a:p>
            <a:pPr algn="l"/>
            <a:r>
              <a:rPr lang="vi-VN" b="1" i="0" dirty="0">
                <a:solidFill>
                  <a:srgbClr val="404040"/>
                </a:solidFill>
                <a:effectLst/>
                <a:latin typeface="DeepSeek-CJK-patch"/>
              </a:rPr>
              <a:t>Routing Table</a:t>
            </a:r>
            <a:r>
              <a:rPr lang="en-US" b="1" i="0" dirty="0">
                <a:solidFill>
                  <a:srgbClr val="404040"/>
                </a:solidFill>
                <a:effectLst/>
                <a:latin typeface="DeepSeek-CJK-patch"/>
              </a:rPr>
              <a:t>		</a:t>
            </a:r>
            <a:r>
              <a:rPr lang="vi-VN" b="0" i="0" dirty="0">
                <a:solidFill>
                  <a:srgbClr val="404040"/>
                </a:solidFill>
                <a:effectLst/>
                <a:latin typeface="DeepSeek-CJK-patch"/>
              </a:rPr>
              <a:t>Bảng ánh xạ đích đến → hàng đợi gửi nội bộ.</a:t>
            </a:r>
            <a:endParaRPr lang="en-US" b="0" i="0" dirty="0">
              <a:solidFill>
                <a:srgbClr val="404040"/>
              </a:solidFill>
              <a:effectLst/>
              <a:latin typeface="DeepSeek-CJK-patch"/>
            </a:endParaRPr>
          </a:p>
          <a:p>
            <a:pPr algn="l"/>
            <a:r>
              <a:rPr lang="vi-VN" b="1" i="0" dirty="0">
                <a:solidFill>
                  <a:srgbClr val="404040"/>
                </a:solidFill>
                <a:effectLst/>
                <a:latin typeface="DeepSeek-CJK-patch"/>
              </a:rPr>
              <a:t>Message Channel Agent (MCA)</a:t>
            </a:r>
            <a:r>
              <a:rPr lang="en-US" b="1" i="0" dirty="0">
                <a:solidFill>
                  <a:srgbClr val="404040"/>
                </a:solidFill>
                <a:effectLst/>
                <a:latin typeface="DeepSeek-CJK-patch"/>
              </a:rPr>
              <a:t>	</a:t>
            </a:r>
            <a:r>
              <a:rPr lang="vi-VN" b="0" i="0" dirty="0">
                <a:solidFill>
                  <a:srgbClr val="404040"/>
                </a:solidFill>
                <a:effectLst/>
                <a:latin typeface="DeepSeek-CJK-patch"/>
              </a:rPr>
              <a:t>Thành phần truyền thông điệp qua kênh (channel) dựa trên TCP.</a:t>
            </a:r>
            <a:endParaRPr lang="en-US" b="0" i="0" dirty="0">
              <a:solidFill>
                <a:srgbClr val="404040"/>
              </a:solidFill>
              <a:effectLst/>
              <a:latin typeface="DeepSeek-CJK-patch"/>
            </a:endParaRPr>
          </a:p>
          <a:p>
            <a:pPr algn="l"/>
            <a:r>
              <a:rPr lang="vi-VN" b="1" i="0" dirty="0">
                <a:solidFill>
                  <a:srgbClr val="404040"/>
                </a:solidFill>
                <a:effectLst/>
                <a:latin typeface="DeepSeek-CJK-patch"/>
              </a:rPr>
              <a:t>Server Stub</a:t>
            </a:r>
            <a:r>
              <a:rPr lang="en-US" b="1" i="0" dirty="0">
                <a:solidFill>
                  <a:srgbClr val="404040"/>
                </a:solidFill>
                <a:effectLst/>
                <a:latin typeface="DeepSeek-CJK-patch"/>
              </a:rPr>
              <a:t>			</a:t>
            </a:r>
            <a:r>
              <a:rPr lang="vi-VN" b="0" i="0" dirty="0">
                <a:solidFill>
                  <a:srgbClr val="404040"/>
                </a:solidFill>
                <a:effectLst/>
                <a:latin typeface="DeepSeek-CJK-patch"/>
              </a:rPr>
              <a:t>Proxy để giao tiếp với queue manager từ xa (nếu queue manager nằm trên máy khác).</a:t>
            </a:r>
          </a:p>
          <a:p>
            <a:pPr algn="l"/>
            <a:endParaRPr lang="en-US" b="1" i="0" dirty="0">
              <a:solidFill>
                <a:srgbClr val="404040"/>
              </a:solidFill>
              <a:effectLst/>
              <a:latin typeface="DeepSeek-CJK-patch"/>
            </a:endParaRPr>
          </a:p>
          <a:p>
            <a:pPr algn="l"/>
            <a:r>
              <a:rPr lang="vi-VN" sz="2800" b="1" i="0" dirty="0">
                <a:solidFill>
                  <a:srgbClr val="404040"/>
                </a:solidFill>
                <a:effectLst/>
                <a:latin typeface="DeepSeek-CJK-patch"/>
              </a:rPr>
              <a:t>Các thao tác quan trọng nhất của MQI</a:t>
            </a:r>
            <a:endParaRPr lang="vi-VN" sz="2800" b="0" i="0" dirty="0">
              <a:solidFill>
                <a:srgbClr val="404040"/>
              </a:solidFill>
              <a:effectLst/>
              <a:latin typeface="DeepSeek-CJK-patch"/>
            </a:endParaRPr>
          </a:p>
          <a:p>
            <a:pPr algn="l"/>
            <a:r>
              <a:rPr lang="vi-VN" sz="2800" b="0" i="0" dirty="0">
                <a:solidFill>
                  <a:srgbClr val="404040"/>
                </a:solidFill>
                <a:effectLst/>
                <a:latin typeface="DeepSeek-CJK-patch"/>
              </a:rPr>
              <a:t>Thao tác</a:t>
            </a:r>
            <a:r>
              <a:rPr lang="en-US" sz="2800" b="0" i="0" dirty="0">
                <a:solidFill>
                  <a:srgbClr val="404040"/>
                </a:solidFill>
                <a:effectLst/>
                <a:latin typeface="DeepSeek-CJK-patch"/>
              </a:rPr>
              <a:t>	</a:t>
            </a:r>
            <a:r>
              <a:rPr lang="vi-VN" sz="2800" b="0" i="0" dirty="0">
                <a:solidFill>
                  <a:srgbClr val="404040"/>
                </a:solidFill>
                <a:effectLst/>
                <a:latin typeface="DeepSeek-CJK-patch"/>
              </a:rPr>
              <a:t>Mô tả</a:t>
            </a:r>
            <a:endParaRPr lang="en-US" sz="2800" b="0" i="0" dirty="0">
              <a:solidFill>
                <a:srgbClr val="404040"/>
              </a:solidFill>
              <a:effectLst/>
              <a:latin typeface="DeepSeek-CJK-patch"/>
            </a:endParaRPr>
          </a:p>
          <a:p>
            <a:pPr algn="l"/>
            <a:r>
              <a:rPr lang="vi-VN" sz="2800" b="1" i="0" dirty="0">
                <a:solidFill>
                  <a:srgbClr val="404040"/>
                </a:solidFill>
                <a:effectLst/>
                <a:latin typeface="DeepSeek-CJK-patch"/>
              </a:rPr>
              <a:t>MQOPEN</a:t>
            </a:r>
            <a:r>
              <a:rPr lang="en-US" sz="2800" b="1" i="0" dirty="0">
                <a:solidFill>
                  <a:srgbClr val="404040"/>
                </a:solidFill>
                <a:effectLst/>
                <a:latin typeface="DeepSeek-CJK-patch"/>
              </a:rPr>
              <a:t>	</a:t>
            </a:r>
            <a:r>
              <a:rPr lang="vi-VN" sz="2800" b="0" i="0" dirty="0">
                <a:solidFill>
                  <a:srgbClr val="404040"/>
                </a:solidFill>
                <a:effectLst/>
                <a:latin typeface="DeepSeek-CJK-patch"/>
              </a:rPr>
              <a:t>Mở một hàng đợi (có thể nằm ở xa)</a:t>
            </a:r>
            <a:endParaRPr lang="en-US" sz="2800" b="0" i="0" dirty="0">
              <a:solidFill>
                <a:srgbClr val="404040"/>
              </a:solidFill>
              <a:effectLst/>
              <a:latin typeface="DeepSeek-CJK-patch"/>
            </a:endParaRPr>
          </a:p>
          <a:p>
            <a:pPr algn="l"/>
            <a:r>
              <a:rPr lang="vi-VN" sz="2800" b="1" i="0" dirty="0">
                <a:solidFill>
                  <a:srgbClr val="404040"/>
                </a:solidFill>
                <a:effectLst/>
                <a:latin typeface="DeepSeek-CJK-patch"/>
              </a:rPr>
              <a:t>MQCLOSE</a:t>
            </a:r>
            <a:r>
              <a:rPr lang="en-US" sz="2800" b="1" i="0" dirty="0">
                <a:solidFill>
                  <a:srgbClr val="404040"/>
                </a:solidFill>
                <a:effectLst/>
                <a:latin typeface="DeepSeek-CJK-patch"/>
              </a:rPr>
              <a:t>	</a:t>
            </a:r>
            <a:r>
              <a:rPr lang="vi-VN" sz="2800" b="0" i="0" dirty="0">
                <a:solidFill>
                  <a:srgbClr val="404040"/>
                </a:solidFill>
                <a:effectLst/>
                <a:latin typeface="DeepSeek-CJK-patch"/>
              </a:rPr>
              <a:t>Đóng một hàng đợi</a:t>
            </a:r>
            <a:endParaRPr lang="en-US" sz="2800" b="0" i="0" dirty="0">
              <a:solidFill>
                <a:srgbClr val="404040"/>
              </a:solidFill>
              <a:effectLst/>
              <a:latin typeface="DeepSeek-CJK-patch"/>
            </a:endParaRPr>
          </a:p>
          <a:p>
            <a:pPr algn="l"/>
            <a:r>
              <a:rPr lang="vi-VN" sz="2800" b="1" i="0" dirty="0">
                <a:solidFill>
                  <a:srgbClr val="404040"/>
                </a:solidFill>
                <a:effectLst/>
                <a:latin typeface="DeepSeek-CJK-patch"/>
              </a:rPr>
              <a:t>MQPUT</a:t>
            </a:r>
            <a:r>
              <a:rPr lang="en-US" sz="2800" b="1" i="0" dirty="0">
                <a:solidFill>
                  <a:srgbClr val="404040"/>
                </a:solidFill>
                <a:effectLst/>
                <a:latin typeface="DeepSeek-CJK-patch"/>
              </a:rPr>
              <a:t>	</a:t>
            </a:r>
            <a:r>
              <a:rPr lang="vi-VN" sz="2800" b="0" i="0" dirty="0">
                <a:solidFill>
                  <a:srgbClr val="404040"/>
                </a:solidFill>
                <a:effectLst/>
                <a:latin typeface="DeepSeek-CJK-patch"/>
              </a:rPr>
              <a:t>Đưa một tin nhắn vào hàng đợi đã mở</a:t>
            </a:r>
            <a:endParaRPr lang="en-US" sz="2800" b="0" i="0" dirty="0">
              <a:solidFill>
                <a:srgbClr val="404040"/>
              </a:solidFill>
              <a:effectLst/>
              <a:latin typeface="DeepSeek-CJK-patch"/>
            </a:endParaRPr>
          </a:p>
          <a:p>
            <a:pPr algn="l"/>
            <a:r>
              <a:rPr lang="vi-VN" sz="2800" b="1" i="0" dirty="0">
                <a:solidFill>
                  <a:srgbClr val="404040"/>
                </a:solidFill>
                <a:effectLst/>
                <a:latin typeface="DeepSeek-CJK-patch"/>
              </a:rPr>
              <a:t>MQGET</a:t>
            </a:r>
            <a:r>
              <a:rPr lang="vi-VN" sz="2800" b="0" i="0" dirty="0">
                <a:solidFill>
                  <a:srgbClr val="404040"/>
                </a:solidFill>
                <a:effectLst/>
                <a:latin typeface="DeepSeek-CJK-patch"/>
              </a:rPr>
              <a:t>Lấy một tin nhắn từ hàng đợi (cục bộ)</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Luồng hoạt động</a:t>
            </a:r>
            <a:endParaRPr lang="vi-VN" b="0" i="0" dirty="0">
              <a:solidFill>
                <a:srgbClr val="404040"/>
              </a:solidFill>
              <a:effectLst/>
              <a:latin typeface="DeepSeek-CJK-patch"/>
            </a:endParaRP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Gửi thông điệp (Sending Client → Send Queue):</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Ứng dụng gửi (Sending Client) gọi </a:t>
            </a:r>
            <a:r>
              <a:rPr lang="vi-VN" b="1" i="0" dirty="0">
                <a:solidFill>
                  <a:srgbClr val="404040"/>
                </a:solidFill>
                <a:effectLst/>
                <a:latin typeface="DeepSeek-CJK-patch"/>
              </a:rPr>
              <a:t>MQPUT</a:t>
            </a:r>
            <a:r>
              <a:rPr lang="vi-VN" b="0" i="0" dirty="0">
                <a:solidFill>
                  <a:srgbClr val="404040"/>
                </a:solidFill>
                <a:effectLst/>
                <a:latin typeface="DeepSeek-CJK-patch"/>
              </a:rPr>
              <a:t> qua </a:t>
            </a:r>
            <a:r>
              <a:rPr lang="vi-VN" b="1" i="0" dirty="0">
                <a:solidFill>
                  <a:srgbClr val="404040"/>
                </a:solidFill>
                <a:effectLst/>
                <a:latin typeface="DeepSeek-CJK-patch"/>
              </a:rPr>
              <a:t>MQ Interface</a:t>
            </a:r>
            <a:r>
              <a:rPr lang="vi-VN" b="0" i="0" dirty="0">
                <a:solidFill>
                  <a:srgbClr val="404040"/>
                </a:solidFill>
                <a:effectLst/>
                <a:latin typeface="DeepSeek-CJK-patch"/>
              </a:rPr>
              <a:t> để đưa thông điệp vào </a:t>
            </a:r>
            <a:r>
              <a:rPr lang="vi-VN" b="1" i="0" dirty="0">
                <a:solidFill>
                  <a:srgbClr val="404040"/>
                </a:solidFill>
                <a:effectLst/>
                <a:latin typeface="DeepSeek-CJK-patch"/>
              </a:rPr>
              <a:t>Send Queue</a:t>
            </a:r>
            <a:r>
              <a:rPr lang="vi-VN" b="0" i="0" dirty="0">
                <a:solidFill>
                  <a:srgbClr val="404040"/>
                </a:solidFill>
                <a:effectLst/>
                <a:latin typeface="DeepSeek-CJK-patch"/>
              </a:rPr>
              <a:t>.</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Thông điệp chứa:</a:t>
            </a:r>
          </a:p>
          <a:p>
            <a:pPr marL="914400" lvl="2"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Đích đến</a:t>
            </a:r>
            <a:r>
              <a:rPr lang="vi-VN" b="0" i="0" dirty="0">
                <a:solidFill>
                  <a:srgbClr val="404040"/>
                </a:solidFill>
                <a:effectLst/>
                <a:latin typeface="DeepSeek-CJK-patch"/>
              </a:rPr>
              <a:t> (tên queue manager và hàng đợi đích, VD: QM2/QueueA).</a:t>
            </a:r>
          </a:p>
          <a:p>
            <a:pPr marL="914400" lvl="2"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Route</a:t>
            </a:r>
            <a:r>
              <a:rPr lang="vi-VN" b="0" i="0" dirty="0">
                <a:solidFill>
                  <a:srgbClr val="404040"/>
                </a:solidFill>
                <a:effectLst/>
                <a:latin typeface="DeepSeek-CJK-patch"/>
              </a:rPr>
              <a:t> được tra cứu từ </a:t>
            </a:r>
            <a:r>
              <a:rPr lang="vi-VN" b="1" i="0" dirty="0">
                <a:solidFill>
                  <a:srgbClr val="404040"/>
                </a:solidFill>
                <a:effectLst/>
                <a:latin typeface="DeepSeek-CJK-patch"/>
              </a:rPr>
              <a:t>Routing Table</a:t>
            </a:r>
            <a:r>
              <a:rPr lang="vi-VN" b="0" i="0" dirty="0">
                <a:solidFill>
                  <a:srgbClr val="404040"/>
                </a:solidFill>
                <a:effectLst/>
                <a:latin typeface="DeepSeek-CJK-patch"/>
              </a:rPr>
              <a:t>.</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Định tuyến và truyền thông điệp (Queue Manager → MCA):</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Queue Manager kiểm tra </a:t>
            </a:r>
            <a:r>
              <a:rPr lang="vi-VN" b="1" i="0" dirty="0">
                <a:solidFill>
                  <a:srgbClr val="404040"/>
                </a:solidFill>
                <a:effectLst/>
                <a:latin typeface="DeepSeek-CJK-patch"/>
              </a:rPr>
              <a:t>Routing Table</a:t>
            </a:r>
            <a:r>
              <a:rPr lang="vi-VN" b="0" i="0" dirty="0">
                <a:solidFill>
                  <a:srgbClr val="404040"/>
                </a:solidFill>
                <a:effectLst/>
                <a:latin typeface="DeepSeek-CJK-patch"/>
              </a:rPr>
              <a:t> để xác định </a:t>
            </a:r>
            <a:r>
              <a:rPr lang="vi-VN" b="1" i="0" dirty="0">
                <a:solidFill>
                  <a:srgbClr val="404040"/>
                </a:solidFill>
                <a:effectLst/>
                <a:latin typeface="DeepSeek-CJK-patch"/>
              </a:rPr>
              <a:t>Send Queue</a:t>
            </a:r>
            <a:r>
              <a:rPr lang="vi-VN" b="0" i="0" dirty="0">
                <a:solidFill>
                  <a:srgbClr val="404040"/>
                </a:solidFill>
                <a:effectLst/>
                <a:latin typeface="DeepSeek-CJK-patch"/>
              </a:rPr>
              <a:t> tương ứng.</a:t>
            </a: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MCA Sender</a:t>
            </a:r>
            <a:r>
              <a:rPr lang="vi-VN" b="0" i="0" dirty="0">
                <a:solidFill>
                  <a:srgbClr val="404040"/>
                </a:solidFill>
                <a:effectLst/>
                <a:latin typeface="DeepSeek-CJK-patch"/>
              </a:rPr>
              <a:t> lấy thông điệp từ Send Queue, đóng gói và gửi qua kênh TCP đến </a:t>
            </a:r>
            <a:r>
              <a:rPr lang="vi-VN" b="1" i="0" dirty="0">
                <a:solidFill>
                  <a:srgbClr val="404040"/>
                </a:solidFill>
                <a:effectLst/>
                <a:latin typeface="DeepSeek-CJK-patch"/>
              </a:rPr>
              <a:t>MCA Receiver</a:t>
            </a:r>
            <a:r>
              <a:rPr lang="vi-VN" b="0" i="0" dirty="0">
                <a:solidFill>
                  <a:srgbClr val="404040"/>
                </a:solidFill>
                <a:effectLst/>
                <a:latin typeface="DeepSeek-CJK-patch"/>
              </a:rPr>
              <a:t> ở phía nhận.</a:t>
            </a:r>
          </a:p>
          <a:p>
            <a:pPr algn="l">
              <a:buFont typeface="+mj-lt"/>
              <a:buNone/>
            </a:pPr>
            <a:r>
              <a:rPr lang="en-US" b="1" i="0" dirty="0">
                <a:solidFill>
                  <a:srgbClr val="404040"/>
                </a:solidFill>
                <a:effectLst/>
                <a:latin typeface="DeepSeek-CJK-patch"/>
              </a:rPr>
              <a:t>c. </a:t>
            </a:r>
            <a:r>
              <a:rPr lang="vi-VN" b="1" i="0" dirty="0">
                <a:solidFill>
                  <a:srgbClr val="404040"/>
                </a:solidFill>
                <a:effectLst/>
                <a:latin typeface="DeepSeek-CJK-patch"/>
              </a:rPr>
              <a:t>Nhận thông điệp (MCA → Receive Queue → Receiving Client):</a:t>
            </a:r>
            <a:endParaRPr lang="vi-VN" b="0" i="0" dirty="0">
              <a:solidFill>
                <a:srgbClr val="404040"/>
              </a:solidFill>
              <a:effectLst/>
              <a:latin typeface="DeepSeek-CJK-patch"/>
            </a:endParaRP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MCA Receiver</a:t>
            </a:r>
            <a:r>
              <a:rPr lang="vi-VN" b="0" i="0" dirty="0">
                <a:solidFill>
                  <a:srgbClr val="404040"/>
                </a:solidFill>
                <a:effectLst/>
                <a:latin typeface="DeepSeek-CJK-patch"/>
              </a:rPr>
              <a:t> nhận thông điệp, lưu vào </a:t>
            </a:r>
            <a:r>
              <a:rPr lang="vi-VN" b="1" i="0" dirty="0">
                <a:solidFill>
                  <a:srgbClr val="404040"/>
                </a:solidFill>
                <a:effectLst/>
                <a:latin typeface="DeepSeek-CJK-patch"/>
              </a:rPr>
              <a:t>Client’s Receive Queue</a:t>
            </a:r>
            <a:r>
              <a:rPr lang="vi-VN" b="0" i="0" dirty="0">
                <a:solidFill>
                  <a:srgbClr val="404040"/>
                </a:solidFill>
                <a:effectLst/>
                <a:latin typeface="DeepSeek-CJK-patch"/>
              </a:rPr>
              <a:t>.</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Ứng dụng nhận (Receiving Client) gọi </a:t>
            </a:r>
            <a:r>
              <a:rPr lang="vi-VN" b="1" i="0" dirty="0">
                <a:solidFill>
                  <a:srgbClr val="404040"/>
                </a:solidFill>
                <a:effectLst/>
                <a:latin typeface="DeepSeek-CJK-patch"/>
              </a:rPr>
              <a:t>MQGET</a:t>
            </a:r>
            <a:r>
              <a:rPr lang="vi-VN" b="0" i="0" dirty="0">
                <a:solidFill>
                  <a:srgbClr val="404040"/>
                </a:solidFill>
                <a:effectLst/>
                <a:latin typeface="DeepSeek-CJK-patch"/>
              </a:rPr>
              <a:t> để lấy thông điệp từ hàng đợi.</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Giao tiếp đồng bộ (RPC) vs. Bất đồng bộ (Message Passing)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RPC (Remote Procedure Call – Đồng bộ):</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Ứng dụng gửi yêu cầu và </a:t>
            </a:r>
            <a:r>
              <a:rPr lang="vi-VN" b="1" i="0" dirty="0">
                <a:solidFill>
                  <a:srgbClr val="404040"/>
                </a:solidFill>
                <a:effectLst/>
                <a:latin typeface="DeepSeek-CJK-patch"/>
              </a:rPr>
              <a:t>chờ phản hồi ngay</a:t>
            </a:r>
            <a:r>
              <a:rPr lang="vi-VN" b="0" i="0" dirty="0">
                <a:solidFill>
                  <a:srgbClr val="404040"/>
                </a:solidFill>
                <a:effectLst/>
                <a:latin typeface="DeepSeek-CJK-patch"/>
              </a:rPr>
              <a:t> (qua </a:t>
            </a:r>
            <a:r>
              <a:rPr lang="vi-VN" b="1" i="0" dirty="0">
                <a:solidFill>
                  <a:srgbClr val="404040"/>
                </a:solidFill>
                <a:effectLst/>
                <a:latin typeface="DeepSeek-CJK-patch"/>
              </a:rPr>
              <a:t>Server Stub</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Dùng cho tương tác client-server truyền thống (VD: gọi hàm từ xa).</a:t>
            </a:r>
          </a:p>
          <a:p>
            <a:pPr algn="l">
              <a:buFont typeface="Arial" panose="020B0604020202020204" pitchFamily="34" charset="0"/>
              <a:buChar char="•"/>
            </a:pPr>
            <a:r>
              <a:rPr lang="vi-VN" b="1" i="0" dirty="0">
                <a:solidFill>
                  <a:srgbClr val="404040"/>
                </a:solidFill>
                <a:effectLst/>
                <a:latin typeface="DeepSeek-CJK-patch"/>
              </a:rPr>
              <a:t>Message Passing (Bất đồng bộ):</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Thông điệp được đưa vào hàng đợi và xử lý sau (không chờ phản hồi tức thì).</a:t>
            </a:r>
          </a:p>
          <a:p>
            <a:pPr marL="742950" lvl="1" indent="-285750" algn="l">
              <a:buFont typeface="Arial" panose="020B0604020202020204" pitchFamily="34" charset="0"/>
              <a:buChar char="•"/>
            </a:pPr>
            <a:r>
              <a:rPr lang="vi-VN" b="0" i="0" dirty="0">
                <a:solidFill>
                  <a:srgbClr val="404040"/>
                </a:solidFill>
                <a:effectLst/>
                <a:latin typeface="DeepSeek-CJK-patch"/>
              </a:rPr>
              <a:t>Phù hợp cho hệ thống </a:t>
            </a:r>
            <a:r>
              <a:rPr lang="vi-VN" b="1" i="0" dirty="0">
                <a:solidFill>
                  <a:srgbClr val="404040"/>
                </a:solidFill>
                <a:effectLst/>
                <a:latin typeface="DeepSeek-CJK-patch"/>
              </a:rPr>
              <a:t>event-driven</a:t>
            </a:r>
            <a:r>
              <a:rPr lang="vi-VN" b="0" i="0" dirty="0">
                <a:solidFill>
                  <a:srgbClr val="404040"/>
                </a:solidFill>
                <a:effectLst/>
                <a:latin typeface="DeepSeek-CJK-patch"/>
              </a:rPr>
              <a:t> hoặc tích hợp giữa các dịch vụ.</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4. Kết nối mạng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Enterprise Network/Local Network:</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Các queue manager có thể kết nối qua mạng nội bộ (LAN) hoặc mạng doanh nghiệp (WAN).</a:t>
            </a:r>
          </a:p>
          <a:p>
            <a:pPr algn="l">
              <a:buFont typeface="Arial" panose="020B0604020202020204" pitchFamily="34" charset="0"/>
              <a:buChar char="•"/>
            </a:pPr>
            <a:r>
              <a:rPr lang="vi-VN" b="1" i="0" dirty="0">
                <a:solidFill>
                  <a:srgbClr val="404040"/>
                </a:solidFill>
                <a:effectLst/>
                <a:latin typeface="DeepSeek-CJK-patch"/>
              </a:rPr>
              <a:t>Remote Queue Managers:</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Thông điệp có thể được chuyển tiếp qua nhiều queue manager trung gian trước khi đến đích.</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5. Đặc điểm nổi bật</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Kênh truyền (Channels) 1 chiều:</a:t>
            </a:r>
            <a:r>
              <a:rPr lang="vi-VN" b="0" i="0" dirty="0">
                <a:solidFill>
                  <a:srgbClr val="404040"/>
                </a:solidFill>
                <a:effectLst/>
                <a:latin typeface="DeepSeek-CJK-patch"/>
              </a:rPr>
              <a:t> Mỗi kênh chỉ truyền từ sender → receiver.</a:t>
            </a:r>
          </a:p>
          <a:p>
            <a:pPr algn="l">
              <a:buFont typeface="Arial" panose="020B0604020202020204" pitchFamily="34" charset="0"/>
              <a:buChar char="•"/>
            </a:pPr>
            <a:r>
              <a:rPr lang="vi-VN" b="1" i="0" dirty="0">
                <a:solidFill>
                  <a:srgbClr val="404040"/>
                </a:solidFill>
                <a:effectLst/>
                <a:latin typeface="DeepSeek-CJK-patch"/>
              </a:rPr>
              <a:t>Tự động kích hoạt MCA:</a:t>
            </a:r>
            <a:r>
              <a:rPr lang="vi-VN" b="0" i="0" dirty="0">
                <a:solidFill>
                  <a:srgbClr val="404040"/>
                </a:solidFill>
                <a:effectLst/>
                <a:latin typeface="DeepSeek-CJK-patch"/>
              </a:rPr>
              <a:t> Khi thông điệp đến hàng đợi gửi, MCA tự động khởi động.</a:t>
            </a:r>
          </a:p>
          <a:p>
            <a:pPr algn="l">
              <a:buFont typeface="Arial" panose="020B0604020202020204" pitchFamily="34" charset="0"/>
              <a:buChar char="•"/>
            </a:pPr>
            <a:r>
              <a:rPr lang="vi-VN" b="1" i="0" dirty="0">
                <a:solidFill>
                  <a:srgbClr val="404040"/>
                </a:solidFill>
                <a:effectLst/>
                <a:latin typeface="DeepSeek-CJK-patch"/>
              </a:rPr>
              <a:t>Bảng định tuyến (Routing Table):</a:t>
            </a:r>
            <a:r>
              <a:rPr lang="vi-VN" b="0" i="0" dirty="0">
                <a:solidFill>
                  <a:srgbClr val="404040"/>
                </a:solidFill>
                <a:effectLst/>
                <a:latin typeface="DeepSeek-CJK-patch"/>
              </a:rPr>
              <a:t> Cho phép linh hoạt thay đổi route mà không ảnh hưởng đến ứng dụng.</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6. Ứng dụng thực tế</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Tích hợp hệ thống doanh nghiệp (EAI):</a:t>
            </a:r>
            <a:r>
              <a:rPr lang="vi-VN" b="0" i="0" dirty="0">
                <a:solidFill>
                  <a:srgbClr val="404040"/>
                </a:solidFill>
                <a:effectLst/>
                <a:latin typeface="DeepSeek-CJK-patch"/>
              </a:rPr>
              <a:t> Kết nối ứng dụng legacy (VD: SAP ↔ Oracle).</a:t>
            </a:r>
          </a:p>
          <a:p>
            <a:pPr algn="l">
              <a:buFont typeface="Arial" panose="020B0604020202020204" pitchFamily="34" charset="0"/>
              <a:buChar char="•"/>
            </a:pPr>
            <a:r>
              <a:rPr lang="vi-VN" b="1" i="0" dirty="0">
                <a:solidFill>
                  <a:srgbClr val="404040"/>
                </a:solidFill>
                <a:effectLst/>
                <a:latin typeface="DeepSeek-CJK-patch"/>
              </a:rPr>
              <a:t>Xử lý sự kiện (Event Processing):</a:t>
            </a:r>
            <a:r>
              <a:rPr lang="vi-VN" b="0" i="0" dirty="0">
                <a:solidFill>
                  <a:srgbClr val="404040"/>
                </a:solidFill>
                <a:effectLst/>
                <a:latin typeface="DeepSeek-CJK-patch"/>
              </a:rPr>
              <a:t> Chống tắc nghẽn khi tải cao (VD: đơn hàng Black Friday).</a:t>
            </a:r>
          </a:p>
          <a:p>
            <a:pPr algn="l">
              <a:buFont typeface="Arial" panose="020B0604020202020204" pitchFamily="34" charset="0"/>
              <a:buChar char="•"/>
            </a:pPr>
            <a:r>
              <a:rPr lang="vi-VN" b="1" i="0" dirty="0">
                <a:solidFill>
                  <a:srgbClr val="404040"/>
                </a:solidFill>
                <a:effectLst/>
                <a:latin typeface="DeepSeek-CJK-patch"/>
              </a:rPr>
              <a:t>Hỗ trợ persistent messaging:</a:t>
            </a:r>
            <a:r>
              <a:rPr lang="vi-VN" b="0" i="0" dirty="0">
                <a:solidFill>
                  <a:srgbClr val="404040"/>
                </a:solidFill>
                <a:effectLst/>
                <a:latin typeface="DeepSeek-CJK-patch"/>
              </a:rPr>
              <a:t> Thông điệp vẫn tồn tại nếu hệ thống sự cố.</a:t>
            </a:r>
          </a:p>
          <a:p>
            <a:pPr algn="l"/>
            <a:r>
              <a:rPr lang="vi-VN" b="0" i="0" dirty="0">
                <a:solidFill>
                  <a:srgbClr val="404040"/>
                </a:solidFill>
                <a:effectLst/>
                <a:latin typeface="DeepSeek-CJK-patch"/>
              </a:rPr>
              <a:t>→ </a:t>
            </a:r>
            <a:r>
              <a:rPr lang="vi-VN" b="1" i="0" dirty="0">
                <a:solidFill>
                  <a:srgbClr val="404040"/>
                </a:solidFill>
                <a:effectLst/>
                <a:latin typeface="DeepSeek-CJK-patch"/>
              </a:rPr>
              <a:t>Tóm tắt:</a:t>
            </a:r>
            <a:r>
              <a:rPr lang="vi-VN" b="0" i="0" dirty="0">
                <a:solidFill>
                  <a:srgbClr val="404040"/>
                </a:solidFill>
                <a:effectLst/>
                <a:latin typeface="DeepSeek-CJK-patch"/>
              </a:rPr>
              <a:t> Hình vẽ minh họa cách WebSphere MQ </a:t>
            </a:r>
            <a:r>
              <a:rPr lang="vi-VN" b="1" i="0" dirty="0">
                <a:solidFill>
                  <a:srgbClr val="404040"/>
                </a:solidFill>
                <a:effectLst/>
                <a:latin typeface="DeepSeek-CJK-patch"/>
              </a:rPr>
              <a:t>tách biệt ứng dụng khỏi sự phức tạp của mạng</a:t>
            </a:r>
            <a:r>
              <a:rPr lang="vi-VN" b="0" i="0" dirty="0">
                <a:solidFill>
                  <a:srgbClr val="404040"/>
                </a:solidFill>
                <a:effectLst/>
                <a:latin typeface="DeepSeek-CJK-patch"/>
              </a:rPr>
              <a:t> thông qua hàng đợi và kênh ảo, đảm bảo giao tiếp tin cậy giữa các hệ thống phân tán.</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37</a:t>
            </a:fld>
            <a:endParaRPr lang="en-US"/>
          </a:p>
        </p:txBody>
      </p:sp>
    </p:spTree>
    <p:extLst>
      <p:ext uri="{BB962C8B-B14F-4D97-AF65-F5344CB8AC3E}">
        <p14:creationId xmlns:p14="http://schemas.microsoft.com/office/powerpoint/2010/main" val="37669830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Message Channel Agents (MCAs) trong IBM WebSphere MQ</a:t>
            </a:r>
            <a:endParaRPr lang="vi-VN" b="0" i="0" dirty="0">
              <a:solidFill>
                <a:srgbClr val="404040"/>
              </a:solidFill>
              <a:effectLst/>
              <a:latin typeface="DeepSeek-CJK-patch"/>
            </a:endParaRPr>
          </a:p>
          <a:p>
            <a:pPr algn="l"/>
            <a:r>
              <a:rPr lang="en-US" b="0" i="0" dirty="0">
                <a:solidFill>
                  <a:srgbClr val="404040"/>
                </a:solidFill>
                <a:effectLst/>
                <a:latin typeface="DeepSeek-CJK-patch"/>
              </a:rPr>
              <a:t>T</a:t>
            </a:r>
            <a:r>
              <a:rPr lang="vi-VN" b="0" i="0" dirty="0">
                <a:solidFill>
                  <a:srgbClr val="404040"/>
                </a:solidFill>
                <a:effectLst/>
                <a:latin typeface="DeepSeek-CJK-patch"/>
              </a:rPr>
              <a:t>rình bày các </a:t>
            </a:r>
            <a:r>
              <a:rPr lang="vi-VN" b="1" i="0" dirty="0">
                <a:solidFill>
                  <a:srgbClr val="404040"/>
                </a:solidFill>
                <a:effectLst/>
                <a:latin typeface="DeepSeek-CJK-patch"/>
              </a:rPr>
              <a:t>thuộc tính (attributes)</a:t>
            </a:r>
            <a:r>
              <a:rPr lang="vi-VN" b="0" i="0" dirty="0">
                <a:solidFill>
                  <a:srgbClr val="404040"/>
                </a:solidFill>
                <a:effectLst/>
                <a:latin typeface="DeepSeek-CJK-patch"/>
              </a:rPr>
              <a:t> quan trọng của </a:t>
            </a:r>
            <a:r>
              <a:rPr lang="vi-VN" b="1" i="0" dirty="0">
                <a:solidFill>
                  <a:srgbClr val="404040"/>
                </a:solidFill>
                <a:effectLst/>
                <a:latin typeface="DeepSeek-CJK-patch"/>
              </a:rPr>
              <a:t>Message Channel Agents (MCA)</a:t>
            </a:r>
            <a:r>
              <a:rPr lang="vi-VN" b="0" i="0" dirty="0">
                <a:solidFill>
                  <a:srgbClr val="404040"/>
                </a:solidFill>
                <a:effectLst/>
                <a:latin typeface="DeepSeek-CJK-patch"/>
              </a:rPr>
              <a:t> – thành phần quản lý kênh truyền thông điệp trong hệ thống </a:t>
            </a:r>
            <a:r>
              <a:rPr lang="vi-VN" b="1" i="0" dirty="0">
                <a:solidFill>
                  <a:srgbClr val="404040"/>
                </a:solidFill>
                <a:effectLst/>
                <a:latin typeface="DeepSeek-CJK-patch"/>
              </a:rPr>
              <a:t>IBM WebSphere MQ</a:t>
            </a:r>
            <a:r>
              <a:rPr lang="vi-VN" b="0" i="0" dirty="0">
                <a:solidFill>
                  <a:srgbClr val="404040"/>
                </a:solidFill>
                <a:effectLst/>
                <a:latin typeface="DeepSeek-CJK-patch"/>
              </a:rPr>
              <a:t>. Dưới đây là phân tích chi tiết:</a:t>
            </a:r>
            <a:endParaRPr lang="en-US" b="0" i="0" dirty="0">
              <a:solidFill>
                <a:srgbClr val="404040"/>
              </a:solidFill>
              <a:effectLst/>
              <a:latin typeface="DeepSeek-CJK-patch"/>
            </a:endParaRPr>
          </a:p>
          <a:p>
            <a:pPr algn="l"/>
            <a:endParaRPr lang="vi-VN" b="0" i="0" dirty="0">
              <a:solidFill>
                <a:srgbClr val="404040"/>
              </a:solidFill>
              <a:effectLst/>
              <a:latin typeface="DeepSeek-CJK-patch"/>
            </a:endParaRPr>
          </a:p>
          <a:p>
            <a:pPr algn="l"/>
            <a:r>
              <a:rPr lang="vi-VN" b="1" i="0" dirty="0">
                <a:solidFill>
                  <a:srgbClr val="404040"/>
                </a:solidFill>
                <a:effectLst/>
                <a:latin typeface="DeepSeek-CJK-patch"/>
              </a:rPr>
              <a:t>1. Message Channel Agents (MCA) là gì?</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Vai trò:</a:t>
            </a:r>
            <a:br>
              <a:rPr lang="vi-VN" b="0" i="0" dirty="0">
                <a:solidFill>
                  <a:srgbClr val="404040"/>
                </a:solidFill>
                <a:effectLst/>
                <a:latin typeface="DeepSeek-CJK-patch"/>
              </a:rPr>
            </a:br>
            <a:r>
              <a:rPr lang="vi-VN" b="0" i="0" dirty="0">
                <a:solidFill>
                  <a:srgbClr val="404040"/>
                </a:solidFill>
                <a:effectLst/>
                <a:latin typeface="DeepSeek-CJK-patch"/>
              </a:rPr>
              <a:t>MCA là cầu nối giữa các </a:t>
            </a:r>
            <a:r>
              <a:rPr lang="vi-VN" b="1" i="0" dirty="0">
                <a:solidFill>
                  <a:srgbClr val="404040"/>
                </a:solidFill>
                <a:effectLst/>
                <a:latin typeface="DeepSeek-CJK-patch"/>
              </a:rPr>
              <a:t>Queue Manager</a:t>
            </a:r>
            <a:r>
              <a:rPr lang="vi-VN" b="0" i="0" dirty="0">
                <a:solidFill>
                  <a:srgbClr val="404040"/>
                </a:solidFill>
                <a:effectLst/>
                <a:latin typeface="DeepSeek-CJK-patch"/>
              </a:rPr>
              <a:t>, đảm nhận việc truyền thông điệp qua kênh (channel) dựa trên giao thức TCP/IP.</a:t>
            </a:r>
          </a:p>
          <a:p>
            <a:pPr marL="742950" lvl="1" indent="-285750" algn="l">
              <a:buFont typeface="Arial" panose="020B0604020202020204" pitchFamily="34" charset="0"/>
              <a:buChar char="•"/>
            </a:pPr>
            <a:r>
              <a:rPr lang="vi-VN" b="1" i="0" dirty="0">
                <a:solidFill>
                  <a:srgbClr val="404040"/>
                </a:solidFill>
                <a:effectLst/>
                <a:latin typeface="DeepSeek-CJK-patch"/>
              </a:rPr>
              <a:t>MCA Sender:</a:t>
            </a:r>
            <a:r>
              <a:rPr lang="vi-VN" b="0" i="0" dirty="0">
                <a:solidFill>
                  <a:srgbClr val="404040"/>
                </a:solidFill>
                <a:effectLst/>
                <a:latin typeface="DeepSeek-CJK-patch"/>
              </a:rPr>
              <a:t> Lấy thông điệp từ </a:t>
            </a:r>
            <a:r>
              <a:rPr lang="vi-VN" b="1" i="0" dirty="0">
                <a:solidFill>
                  <a:srgbClr val="404040"/>
                </a:solidFill>
                <a:effectLst/>
                <a:latin typeface="DeepSeek-CJK-patch"/>
              </a:rPr>
              <a:t>Send Queue</a:t>
            </a:r>
            <a:r>
              <a:rPr lang="vi-VN" b="0" i="0" dirty="0">
                <a:solidFill>
                  <a:srgbClr val="404040"/>
                </a:solidFill>
                <a:effectLst/>
                <a:latin typeface="DeepSeek-CJK-patch"/>
              </a:rPr>
              <a:t>, đóng gói và gửi đi.</a:t>
            </a:r>
          </a:p>
          <a:p>
            <a:pPr marL="742950" lvl="1" indent="-285750" algn="l">
              <a:buFont typeface="Arial" panose="020B0604020202020204" pitchFamily="34" charset="0"/>
              <a:buChar char="•"/>
            </a:pPr>
            <a:r>
              <a:rPr lang="vi-VN" b="1" i="0" dirty="0">
                <a:solidFill>
                  <a:srgbClr val="404040"/>
                </a:solidFill>
                <a:effectLst/>
                <a:latin typeface="DeepSeek-CJK-patch"/>
              </a:rPr>
              <a:t>MCA Receiver:</a:t>
            </a:r>
            <a:r>
              <a:rPr lang="vi-VN" b="0" i="0" dirty="0">
                <a:solidFill>
                  <a:srgbClr val="404040"/>
                </a:solidFill>
                <a:effectLst/>
                <a:latin typeface="DeepSeek-CJK-patch"/>
              </a:rPr>
              <a:t> Nhận thông điệp, giải mã và lưu vào </a:t>
            </a:r>
            <a:r>
              <a:rPr lang="vi-VN" b="1" i="0" dirty="0">
                <a:solidFill>
                  <a:srgbClr val="404040"/>
                </a:solidFill>
                <a:effectLst/>
                <a:latin typeface="DeepSeek-CJK-patch"/>
              </a:rPr>
              <a:t>Receive Queue</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Đặc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Mỗi kênh truyền là </a:t>
            </a:r>
            <a:r>
              <a:rPr lang="vi-VN" b="1" i="0" dirty="0">
                <a:solidFill>
                  <a:srgbClr val="404040"/>
                </a:solidFill>
                <a:effectLst/>
                <a:latin typeface="DeepSeek-CJK-patch"/>
              </a:rPr>
              <a:t>1 chiều</a:t>
            </a:r>
            <a:r>
              <a:rPr lang="vi-VN" b="0" i="0" dirty="0">
                <a:solidFill>
                  <a:srgbClr val="404040"/>
                </a:solidFill>
                <a:effectLst/>
                <a:latin typeface="DeepSeek-CJK-patch"/>
              </a:rPr>
              <a:t> (unidirectional).</a:t>
            </a:r>
          </a:p>
          <a:p>
            <a:pPr marL="742950" lvl="1" indent="-285750" algn="l">
              <a:buFont typeface="Arial" panose="020B0604020202020204" pitchFamily="34" charset="0"/>
              <a:buChar char="•"/>
            </a:pPr>
            <a:r>
              <a:rPr lang="vi-VN" b="0" i="0" dirty="0">
                <a:solidFill>
                  <a:srgbClr val="404040"/>
                </a:solidFill>
                <a:effectLst/>
                <a:latin typeface="DeepSeek-CJK-patch"/>
              </a:rPr>
              <a:t>Hoạt động như một </a:t>
            </a:r>
            <a:r>
              <a:rPr lang="vi-VN" b="1" i="0" dirty="0">
                <a:solidFill>
                  <a:srgbClr val="404040"/>
                </a:solidFill>
                <a:effectLst/>
                <a:latin typeface="DeepSeek-CJK-patch"/>
              </a:rPr>
              <a:t>dịch vụ tin cậy</a:t>
            </a:r>
            <a:r>
              <a:rPr lang="vi-VN" b="0" i="0" dirty="0">
                <a:solidFill>
                  <a:srgbClr val="404040"/>
                </a:solidFill>
                <a:effectLst/>
                <a:latin typeface="DeepSeek-CJK-patch"/>
              </a:rPr>
              <a:t> (reliable), đảm bảo thông điệp không bị mất.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Các thuộc tính chính của MCA</a:t>
            </a:r>
            <a:endParaRPr lang="vi-VN" b="0" i="0" dirty="0">
              <a:solidFill>
                <a:srgbClr val="404040"/>
              </a:solidFill>
              <a:effectLst/>
              <a:latin typeface="DeepSeek-CJK-patch"/>
            </a:endParaRPr>
          </a:p>
          <a:p>
            <a:pPr algn="l"/>
            <a:r>
              <a:rPr lang="vi-VN" b="0" i="0" dirty="0">
                <a:solidFill>
                  <a:srgbClr val="404040"/>
                </a:solidFill>
                <a:effectLst/>
                <a:latin typeface="DeepSeek-CJK-patch"/>
              </a:rPr>
              <a:t>5 thuộc tính quan trọng để cấu hình hành vi của MCA:</a:t>
            </a:r>
          </a:p>
          <a:p>
            <a:pPr algn="l"/>
            <a:r>
              <a:rPr lang="vi-VN" b="1" i="0" dirty="0">
                <a:solidFill>
                  <a:srgbClr val="404040"/>
                </a:solidFill>
                <a:effectLst/>
                <a:latin typeface="DeepSeek-CJK-patch"/>
              </a:rPr>
              <a:t>Thuộc tính</a:t>
            </a:r>
            <a:r>
              <a:rPr lang="en-US" b="1" i="0" dirty="0">
                <a:solidFill>
                  <a:srgbClr val="404040"/>
                </a:solidFill>
                <a:effectLst/>
                <a:latin typeface="DeepSeek-CJK-patch"/>
              </a:rPr>
              <a:t>		</a:t>
            </a:r>
            <a:r>
              <a:rPr lang="vi-VN" b="1" i="0" dirty="0">
                <a:solidFill>
                  <a:srgbClr val="404040"/>
                </a:solidFill>
                <a:effectLst/>
                <a:latin typeface="DeepSeek-CJK-patch"/>
              </a:rPr>
              <a:t>Mô tả</a:t>
            </a:r>
            <a:r>
              <a:rPr lang="en-US" b="1" i="0" dirty="0">
                <a:solidFill>
                  <a:srgbClr val="404040"/>
                </a:solidFill>
                <a:effectLst/>
                <a:latin typeface="DeepSeek-CJK-patch"/>
              </a:rPr>
              <a:t>						</a:t>
            </a:r>
            <a:r>
              <a:rPr lang="vi-VN" b="1" i="0" dirty="0">
                <a:solidFill>
                  <a:srgbClr val="404040"/>
                </a:solidFill>
                <a:effectLst/>
                <a:latin typeface="DeepSeek-CJK-patch"/>
              </a:rPr>
              <a:t>Ví dụ/Ý nghĩa</a:t>
            </a:r>
            <a:endParaRPr lang="en-US" b="1" i="0" dirty="0">
              <a:solidFill>
                <a:srgbClr val="404040"/>
              </a:solidFill>
              <a:effectLst/>
              <a:latin typeface="DeepSeek-CJK-patch"/>
            </a:endParaRPr>
          </a:p>
          <a:p>
            <a:pPr algn="l"/>
            <a:r>
              <a:rPr lang="vi-VN" b="1" i="0" dirty="0">
                <a:solidFill>
                  <a:srgbClr val="404040"/>
                </a:solidFill>
                <a:effectLst/>
                <a:latin typeface="DeepSeek-CJK-patch"/>
              </a:rPr>
              <a:t>Transport type</a:t>
            </a:r>
            <a:r>
              <a:rPr lang="en-US" b="1" i="0" dirty="0">
                <a:solidFill>
                  <a:srgbClr val="404040"/>
                </a:solidFill>
                <a:effectLst/>
                <a:latin typeface="DeepSeek-CJK-patch"/>
              </a:rPr>
              <a:t>	</a:t>
            </a:r>
            <a:r>
              <a:rPr lang="vi-VN" b="0" i="0" dirty="0">
                <a:solidFill>
                  <a:srgbClr val="404040"/>
                </a:solidFill>
                <a:effectLst/>
                <a:latin typeface="DeepSeek-CJK-patch"/>
              </a:rPr>
              <a:t>Giao thức truyền tải được sử dụng</a:t>
            </a:r>
            <a:r>
              <a:rPr lang="en-US" b="0" i="0" dirty="0">
                <a:solidFill>
                  <a:srgbClr val="404040"/>
                </a:solidFill>
                <a:effectLst/>
                <a:latin typeface="DeepSeek-CJK-patch"/>
              </a:rPr>
              <a:t>				</a:t>
            </a:r>
            <a:r>
              <a:rPr lang="vi-VN" b="0" i="0" dirty="0">
                <a:solidFill>
                  <a:srgbClr val="404040"/>
                </a:solidFill>
                <a:effectLst/>
                <a:latin typeface="DeepSeek-CJK-patch"/>
              </a:rPr>
              <a:t>TCP (mặc định), LU6.2 (cho hệ thống cũ), hoặc SSL/TLS (bảo mật).</a:t>
            </a:r>
            <a:endParaRPr lang="en-US" b="0" i="0" dirty="0">
              <a:solidFill>
                <a:srgbClr val="404040"/>
              </a:solidFill>
              <a:effectLst/>
              <a:latin typeface="DeepSeek-CJK-patch"/>
            </a:endParaRPr>
          </a:p>
          <a:p>
            <a:pPr algn="l"/>
            <a:r>
              <a:rPr lang="vi-VN" b="1" i="0" dirty="0">
                <a:solidFill>
                  <a:srgbClr val="404040"/>
                </a:solidFill>
                <a:effectLst/>
                <a:latin typeface="DeepSeek-CJK-patch"/>
              </a:rPr>
              <a:t>FIFO delivery</a:t>
            </a:r>
            <a:r>
              <a:rPr lang="en-US" b="1" i="0" dirty="0">
                <a:solidFill>
                  <a:srgbClr val="404040"/>
                </a:solidFill>
                <a:effectLst/>
                <a:latin typeface="DeepSeek-CJK-patch"/>
              </a:rPr>
              <a:t>		</a:t>
            </a:r>
            <a:r>
              <a:rPr lang="vi-VN" b="0" i="0" dirty="0">
                <a:solidFill>
                  <a:srgbClr val="404040"/>
                </a:solidFill>
                <a:effectLst/>
                <a:latin typeface="DeepSeek-CJK-patch"/>
              </a:rPr>
              <a:t>Xác định thông điệp có được giao theo thứ tự gửi (First-In-First-Out) hay không</a:t>
            </a:r>
            <a:r>
              <a:rPr lang="en-US" b="0" i="0" dirty="0">
                <a:solidFill>
                  <a:srgbClr val="404040"/>
                </a:solidFill>
                <a:effectLst/>
                <a:latin typeface="DeepSeek-CJK-patch"/>
              </a:rPr>
              <a:t>	</a:t>
            </a:r>
            <a:r>
              <a:rPr lang="vi-VN" b="0" i="0" dirty="0">
                <a:solidFill>
                  <a:srgbClr val="404040"/>
                </a:solidFill>
                <a:effectLst/>
                <a:latin typeface="DeepSeek-CJK-patch"/>
              </a:rPr>
              <a:t>Nếu TRUE, thông điệp gửi trước sẽ được xử lý trước.</a:t>
            </a:r>
            <a:endParaRPr lang="en-US" b="0" i="0" dirty="0">
              <a:solidFill>
                <a:srgbClr val="404040"/>
              </a:solidFill>
              <a:effectLst/>
              <a:latin typeface="DeepSeek-CJK-patch"/>
            </a:endParaRPr>
          </a:p>
          <a:p>
            <a:pPr algn="l"/>
            <a:r>
              <a:rPr lang="vi-VN" b="1" i="0" dirty="0">
                <a:solidFill>
                  <a:srgbClr val="404040"/>
                </a:solidFill>
                <a:effectLst/>
                <a:latin typeface="DeepSeek-CJK-patch"/>
              </a:rPr>
              <a:t>Message length</a:t>
            </a:r>
            <a:r>
              <a:rPr lang="en-US" b="1" i="0" dirty="0">
                <a:solidFill>
                  <a:srgbClr val="404040"/>
                </a:solidFill>
                <a:effectLst/>
                <a:latin typeface="DeepSeek-CJK-patch"/>
              </a:rPr>
              <a:t>	</a:t>
            </a:r>
            <a:r>
              <a:rPr lang="vi-VN" b="0" i="0" dirty="0">
                <a:solidFill>
                  <a:srgbClr val="404040"/>
                </a:solidFill>
                <a:effectLst/>
                <a:latin typeface="DeepSeek-CJK-patch"/>
              </a:rPr>
              <a:t>Kích thước tối đa của một thông điệp</a:t>
            </a:r>
            <a:r>
              <a:rPr lang="en-US" b="0" i="0" dirty="0">
                <a:solidFill>
                  <a:srgbClr val="404040"/>
                </a:solidFill>
                <a:effectLst/>
                <a:latin typeface="DeepSeek-CJK-patch"/>
              </a:rPr>
              <a:t>				</a:t>
            </a:r>
            <a:r>
              <a:rPr lang="vi-VN" b="0" i="0" dirty="0">
                <a:solidFill>
                  <a:srgbClr val="404040"/>
                </a:solidFill>
                <a:effectLst/>
                <a:latin typeface="DeepSeek-CJK-patch"/>
              </a:rPr>
              <a:t>Mặc định: 4 MB, có thể mở rộng đến 100 MB.</a:t>
            </a:r>
            <a:endParaRPr lang="en-US" b="0" i="0" dirty="0">
              <a:solidFill>
                <a:srgbClr val="404040"/>
              </a:solidFill>
              <a:effectLst/>
              <a:latin typeface="DeepSeek-CJK-patch"/>
            </a:endParaRPr>
          </a:p>
          <a:p>
            <a:pPr algn="l"/>
            <a:r>
              <a:rPr lang="vi-VN" b="1" i="0" dirty="0">
                <a:solidFill>
                  <a:srgbClr val="404040"/>
                </a:solidFill>
                <a:effectLst/>
                <a:latin typeface="DeepSeek-CJK-patch"/>
              </a:rPr>
              <a:t>Setup retry count</a:t>
            </a:r>
            <a:r>
              <a:rPr lang="en-US" b="1" i="0" dirty="0">
                <a:solidFill>
                  <a:srgbClr val="404040"/>
                </a:solidFill>
                <a:effectLst/>
                <a:latin typeface="DeepSeek-CJK-patch"/>
              </a:rPr>
              <a:t>	</a:t>
            </a:r>
            <a:r>
              <a:rPr lang="vi-VN" b="0" i="0" dirty="0">
                <a:solidFill>
                  <a:srgbClr val="404040"/>
                </a:solidFill>
                <a:effectLst/>
                <a:latin typeface="DeepSeek-CJK-patch"/>
              </a:rPr>
              <a:t>Số lần thử tối đa để khởi động MCA phía nhận nếu kết nối thất bại.</a:t>
            </a:r>
            <a:r>
              <a:rPr lang="en-US" b="0" i="0" dirty="0">
                <a:solidFill>
                  <a:srgbClr val="404040"/>
                </a:solidFill>
                <a:effectLst/>
                <a:latin typeface="DeepSeek-CJK-patch"/>
              </a:rPr>
              <a:t>		</a:t>
            </a:r>
            <a:r>
              <a:rPr lang="vi-VN" b="0" i="0" dirty="0">
                <a:solidFill>
                  <a:srgbClr val="404040"/>
                </a:solidFill>
                <a:effectLst/>
                <a:latin typeface="DeepSeek-CJK-patch"/>
              </a:rPr>
              <a:t>VD: 3 lần thử, mỗi lần cách nhau 30 giây.</a:t>
            </a:r>
            <a:endParaRPr lang="en-US" b="0" i="0" dirty="0">
              <a:solidFill>
                <a:srgbClr val="404040"/>
              </a:solidFill>
              <a:effectLst/>
              <a:latin typeface="DeepSeek-CJK-patch"/>
            </a:endParaRPr>
          </a:p>
          <a:p>
            <a:pPr algn="l"/>
            <a:r>
              <a:rPr lang="vi-VN" b="1" i="0" dirty="0">
                <a:solidFill>
                  <a:srgbClr val="404040"/>
                </a:solidFill>
                <a:effectLst/>
                <a:latin typeface="DeepSeek-CJK-patch"/>
              </a:rPr>
              <a:t>Delivery retries</a:t>
            </a:r>
            <a:r>
              <a:rPr lang="en-US" b="1" i="0" dirty="0">
                <a:solidFill>
                  <a:srgbClr val="404040"/>
                </a:solidFill>
                <a:effectLst/>
                <a:latin typeface="DeepSeek-CJK-patch"/>
              </a:rPr>
              <a:t>	</a:t>
            </a:r>
            <a:r>
              <a:rPr lang="vi-VN" b="0" i="0" dirty="0">
                <a:solidFill>
                  <a:srgbClr val="404040"/>
                </a:solidFill>
                <a:effectLst/>
                <a:latin typeface="DeepSeek-CJK-patch"/>
              </a:rPr>
              <a:t>Số lần thử tối đa để đưa thông điệp vào hàng đợi nhận khi có lỗi.</a:t>
            </a:r>
            <a:r>
              <a:rPr lang="en-US" b="0" i="0" dirty="0">
                <a:solidFill>
                  <a:srgbClr val="404040"/>
                </a:solidFill>
                <a:effectLst/>
                <a:latin typeface="DeepSeek-CJK-patch"/>
              </a:rPr>
              <a:t>		</a:t>
            </a:r>
            <a:r>
              <a:rPr lang="vi-VN" b="0" i="0" dirty="0">
                <a:solidFill>
                  <a:srgbClr val="404040"/>
                </a:solidFill>
                <a:effectLst/>
                <a:latin typeface="DeepSeek-CJK-patch"/>
              </a:rPr>
              <a:t>VD: Thử 5 lần trước khi báo lỗi.</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Tại sao các thuộc tính này quan trọng?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Đảm bảo tính tương thích giữa các MCA:</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Ví dụ: Nếu </a:t>
            </a:r>
            <a:r>
              <a:rPr lang="vi-VN" b="1" i="0" dirty="0">
                <a:solidFill>
                  <a:srgbClr val="404040"/>
                </a:solidFill>
                <a:effectLst/>
                <a:latin typeface="DeepSeek-CJK-patch"/>
              </a:rPr>
              <a:t>MCA Sender</a:t>
            </a:r>
            <a:r>
              <a:rPr lang="vi-VN" b="0" i="0" dirty="0">
                <a:solidFill>
                  <a:srgbClr val="404040"/>
                </a:solidFill>
                <a:effectLst/>
                <a:latin typeface="DeepSeek-CJK-patch"/>
              </a:rPr>
              <a:t> dùng TCP, </a:t>
            </a:r>
            <a:r>
              <a:rPr lang="vi-VN" b="1" i="0" dirty="0">
                <a:solidFill>
                  <a:srgbClr val="404040"/>
                </a:solidFill>
                <a:effectLst/>
                <a:latin typeface="DeepSeek-CJK-patch"/>
              </a:rPr>
              <a:t>MCA Receiver</a:t>
            </a:r>
            <a:r>
              <a:rPr lang="vi-VN" b="0" i="0" dirty="0">
                <a:solidFill>
                  <a:srgbClr val="404040"/>
                </a:solidFill>
                <a:effectLst/>
                <a:latin typeface="DeepSeek-CJK-patch"/>
              </a:rPr>
              <a:t> cũng phải hỗ trợ TCP.</a:t>
            </a:r>
          </a:p>
          <a:p>
            <a:pPr marL="742950" lvl="1" indent="-285750" algn="l">
              <a:buFont typeface="Arial" panose="020B0604020202020204" pitchFamily="34" charset="0"/>
              <a:buChar char="•"/>
            </a:pPr>
            <a:r>
              <a:rPr lang="vi-VN" b="0" i="0" dirty="0">
                <a:solidFill>
                  <a:srgbClr val="404040"/>
                </a:solidFill>
                <a:effectLst/>
                <a:latin typeface="DeepSeek-CJK-patch"/>
              </a:rPr>
              <a:t>Thuộc tính </a:t>
            </a:r>
            <a:r>
              <a:rPr lang="vi-VN" b="1" i="0" dirty="0">
                <a:solidFill>
                  <a:srgbClr val="404040"/>
                </a:solidFill>
                <a:effectLst/>
                <a:latin typeface="DeepSeek-CJK-patch"/>
              </a:rPr>
              <a:t>FIFO delivery</a:t>
            </a:r>
            <a:r>
              <a:rPr lang="vi-VN" b="0" i="0" dirty="0">
                <a:solidFill>
                  <a:srgbClr val="404040"/>
                </a:solidFill>
                <a:effectLst/>
                <a:latin typeface="DeepSeek-CJK-patch"/>
              </a:rPr>
              <a:t> phải giống nhau ở cả hai đầu để tránh xung đột.</a:t>
            </a:r>
          </a:p>
          <a:p>
            <a:pPr algn="l">
              <a:buFont typeface="Arial" panose="020B0604020202020204" pitchFamily="34" charset="0"/>
              <a:buChar char="•"/>
            </a:pPr>
            <a:r>
              <a:rPr lang="vi-VN" b="1" i="0" dirty="0">
                <a:solidFill>
                  <a:srgbClr val="404040"/>
                </a:solidFill>
                <a:effectLst/>
                <a:latin typeface="DeepSeek-CJK-patch"/>
              </a:rPr>
              <a:t>Tối ưu hiệu suất và độ tin cậy:</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Message length</a:t>
            </a:r>
            <a:r>
              <a:rPr lang="vi-VN" b="0" i="0" dirty="0">
                <a:solidFill>
                  <a:srgbClr val="404040"/>
                </a:solidFill>
                <a:effectLst/>
                <a:latin typeface="DeepSeek-CJK-patch"/>
              </a:rPr>
              <a:t> giúp tránh tràn bộ nhớ.</a:t>
            </a:r>
          </a:p>
          <a:p>
            <a:pPr marL="742950" lvl="1" indent="-285750" algn="l">
              <a:buFont typeface="Arial" panose="020B0604020202020204" pitchFamily="34" charset="0"/>
              <a:buChar char="•"/>
            </a:pPr>
            <a:r>
              <a:rPr lang="vi-VN" b="1" i="0" dirty="0">
                <a:solidFill>
                  <a:srgbClr val="404040"/>
                </a:solidFill>
                <a:effectLst/>
                <a:latin typeface="DeepSeek-CJK-patch"/>
              </a:rPr>
              <a:t>Setup/Delivery retries</a:t>
            </a:r>
            <a:r>
              <a:rPr lang="vi-VN" b="0" i="0" dirty="0">
                <a:solidFill>
                  <a:srgbClr val="404040"/>
                </a:solidFill>
                <a:effectLst/>
                <a:latin typeface="DeepSeek-CJK-patch"/>
              </a:rPr>
              <a:t> giảm thiểu lỗi do mạng không ổn định.</a:t>
            </a:r>
          </a:p>
          <a:p>
            <a:br>
              <a:rPr lang="vi-VN" dirty="0"/>
            </a:br>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38</a:t>
            </a:fld>
            <a:endParaRPr lang="en-US"/>
          </a:p>
        </p:txBody>
      </p:sp>
    </p:spTree>
    <p:extLst>
      <p:ext uri="{BB962C8B-B14F-4D97-AF65-F5344CB8AC3E}">
        <p14:creationId xmlns:p14="http://schemas.microsoft.com/office/powerpoint/2010/main" val="10563248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1. Tổng quan</a:t>
            </a:r>
            <a:endParaRPr lang="vi-VN" b="0" i="0" dirty="0">
              <a:solidFill>
                <a:srgbClr val="404040"/>
              </a:solidFill>
              <a:effectLst/>
              <a:latin typeface="DeepSeek-CJK-patch"/>
            </a:endParaRPr>
          </a:p>
          <a:p>
            <a:pPr algn="l"/>
            <a:r>
              <a:rPr lang="en-US" b="0" i="0" dirty="0" err="1">
                <a:solidFill>
                  <a:srgbClr val="404040"/>
                </a:solidFill>
                <a:effectLst/>
                <a:latin typeface="DeepSeek-CJK-patch"/>
              </a:rPr>
              <a:t>Hình</a:t>
            </a:r>
            <a:r>
              <a:rPr lang="en-US" b="0" i="0" dirty="0">
                <a:solidFill>
                  <a:srgbClr val="404040"/>
                </a:solidFill>
                <a:effectLst/>
                <a:latin typeface="DeepSeek-CJK-patch"/>
              </a:rPr>
              <a:t> </a:t>
            </a:r>
            <a:r>
              <a:rPr lang="en-US" b="0" i="0" dirty="0" err="1">
                <a:solidFill>
                  <a:srgbClr val="404040"/>
                </a:solidFill>
                <a:effectLst/>
                <a:latin typeface="DeepSeek-CJK-patch"/>
              </a:rPr>
              <a:t>vẽ</a:t>
            </a:r>
            <a:r>
              <a:rPr lang="vi-VN" b="0" i="0" dirty="0">
                <a:solidFill>
                  <a:srgbClr val="404040"/>
                </a:solidFill>
                <a:effectLst/>
                <a:latin typeface="DeepSeek-CJK-patch"/>
              </a:rPr>
              <a:t> minh họa cơ chế </a:t>
            </a:r>
            <a:r>
              <a:rPr lang="vi-VN" b="1" i="0" dirty="0">
                <a:solidFill>
                  <a:srgbClr val="404040"/>
                </a:solidFill>
                <a:effectLst/>
                <a:latin typeface="DeepSeek-CJK-patch"/>
              </a:rPr>
              <a:t>định tuyến thông điệp (message routing)</a:t>
            </a:r>
            <a:r>
              <a:rPr lang="vi-VN" b="0" i="0" dirty="0">
                <a:solidFill>
                  <a:srgbClr val="404040"/>
                </a:solidFill>
                <a:effectLst/>
                <a:latin typeface="DeepSeek-CJK-patch"/>
              </a:rPr>
              <a:t> trong </a:t>
            </a:r>
            <a:r>
              <a:rPr lang="vi-VN" b="1" i="0" dirty="0">
                <a:solidFill>
                  <a:srgbClr val="404040"/>
                </a:solidFill>
                <a:effectLst/>
                <a:latin typeface="DeepSeek-CJK-patch"/>
              </a:rPr>
              <a:t>IBM WebSphere MQ</a:t>
            </a:r>
            <a:r>
              <a:rPr lang="vi-VN" b="0" i="0" dirty="0">
                <a:solidFill>
                  <a:srgbClr val="404040"/>
                </a:solidFill>
                <a:effectLst/>
                <a:latin typeface="DeepSeek-CJK-patch"/>
              </a:rPr>
              <a:t> (hệ thống middleware quản lý hàng đợi tin nhắn), sử dụng:</a:t>
            </a:r>
          </a:p>
          <a:p>
            <a:pPr algn="l">
              <a:buFont typeface="Arial" panose="020B0604020202020204" pitchFamily="34" charset="0"/>
              <a:buChar char="•"/>
            </a:pPr>
            <a:r>
              <a:rPr lang="vi-VN" b="1" i="0" dirty="0">
                <a:solidFill>
                  <a:srgbClr val="404040"/>
                </a:solidFill>
                <a:effectLst/>
                <a:latin typeface="DeepSeek-CJK-patch"/>
              </a:rPr>
              <a:t>Bảng định tuyến (Routing Table)</a:t>
            </a:r>
            <a:r>
              <a:rPr lang="vi-VN" b="0" i="0" dirty="0">
                <a:solidFill>
                  <a:srgbClr val="404040"/>
                </a:solidFill>
                <a:effectLst/>
                <a:latin typeface="DeepSeek-CJK-patch"/>
              </a:rPr>
              <a:t>: Ánh xạ tên hàng đợi đến hàng đợi vật lý hoặc hàng đợi truyền tải.</a:t>
            </a:r>
          </a:p>
          <a:p>
            <a:pPr algn="l">
              <a:buFont typeface="Arial" panose="020B0604020202020204" pitchFamily="34" charset="0"/>
              <a:buChar char="•"/>
            </a:pPr>
            <a:r>
              <a:rPr lang="vi-VN" b="1" i="0" dirty="0">
                <a:solidFill>
                  <a:srgbClr val="404040"/>
                </a:solidFill>
                <a:effectLst/>
                <a:latin typeface="DeepSeek-CJK-patch"/>
              </a:rPr>
              <a:t>Bảng bí danh (Alias Table)</a:t>
            </a:r>
            <a:r>
              <a:rPr lang="vi-VN" b="0" i="0" dirty="0">
                <a:solidFill>
                  <a:srgbClr val="404040"/>
                </a:solidFill>
                <a:effectLst/>
                <a:latin typeface="DeepSeek-CJK-patch"/>
              </a:rPr>
              <a:t>: Cho phép tham chiếu hàng đợi bằng tên logic (alias) thay vì tên thật.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Thành phần chính</a:t>
            </a:r>
            <a:endParaRPr lang="vi-VN" b="0" i="0" dirty="0">
              <a:solidFill>
                <a:srgbClr val="404040"/>
              </a:solidFill>
              <a:effectLst/>
              <a:latin typeface="DeepSeek-CJK-patch"/>
            </a:endParaRPr>
          </a:p>
          <a:p>
            <a:pPr algn="l"/>
            <a:r>
              <a:rPr lang="vi-VN" b="1" i="0" dirty="0">
                <a:solidFill>
                  <a:srgbClr val="404040"/>
                </a:solidFill>
                <a:effectLst/>
                <a:latin typeface="DeepSeek-CJK-patch"/>
              </a:rPr>
              <a:t>a. Bảng bí danh (Alias Table)</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Mục đích</a:t>
            </a:r>
            <a:r>
              <a:rPr lang="vi-VN" b="0" i="0" dirty="0">
                <a:solidFill>
                  <a:srgbClr val="404040"/>
                </a:solidFill>
                <a:effectLst/>
                <a:latin typeface="DeepSeek-CJK-patch"/>
              </a:rPr>
              <a:t>: Giúp ứng dụng gửi tin nhắn đến hàng đợi thông qua </a:t>
            </a:r>
            <a:r>
              <a:rPr lang="vi-VN" b="1" i="0" dirty="0">
                <a:solidFill>
                  <a:srgbClr val="404040"/>
                </a:solidFill>
                <a:effectLst/>
                <a:latin typeface="DeepSeek-CJK-patch"/>
              </a:rPr>
              <a:t>tên logic</a:t>
            </a:r>
            <a:r>
              <a:rPr lang="vi-VN" b="0" i="0" dirty="0">
                <a:solidFill>
                  <a:srgbClr val="404040"/>
                </a:solidFill>
                <a:effectLst/>
                <a:latin typeface="DeepSeek-CJK-patch"/>
              </a:rPr>
              <a:t> (dễ nhớ) thay vì tên vật lý phức tạp.</a:t>
            </a:r>
          </a:p>
          <a:p>
            <a:pPr algn="l">
              <a:buFont typeface="Arial" panose="020B0604020202020204" pitchFamily="34" charset="0"/>
              <a:buChar char="•"/>
            </a:pPr>
            <a:r>
              <a:rPr lang="vi-VN" b="1" i="0" dirty="0">
                <a:solidFill>
                  <a:srgbClr val="404040"/>
                </a:solidFill>
                <a:effectLst/>
                <a:latin typeface="DeepSeek-CJK-patch"/>
              </a:rPr>
              <a:t>Ví dụ</a:t>
            </a:r>
            <a:r>
              <a:rPr lang="vi-VN" b="0" i="0" dirty="0">
                <a:solidFill>
                  <a:srgbClr val="404040"/>
                </a:solidFill>
                <a:effectLst/>
                <a:latin typeface="DeepSeek-CJK-patch"/>
              </a:rPr>
              <a:t>:</a:t>
            </a:r>
          </a:p>
          <a:p>
            <a:pPr algn="l">
              <a:buFont typeface="Arial" panose="020B0604020202020204" pitchFamily="34" charset="0"/>
              <a:buNone/>
            </a:pPr>
            <a:r>
              <a:rPr lang="vi-VN" b="0" i="0" dirty="0">
                <a:solidFill>
                  <a:srgbClr val="404040"/>
                </a:solidFill>
                <a:effectLst/>
                <a:latin typeface="DeepSeek-CJK-patch"/>
              </a:rPr>
              <a:t>Alias</a:t>
            </a:r>
            <a:r>
              <a:rPr lang="en-US" b="0" i="0" dirty="0">
                <a:solidFill>
                  <a:srgbClr val="404040"/>
                </a:solidFill>
                <a:effectLst/>
                <a:latin typeface="DeepSeek-CJK-patch"/>
              </a:rPr>
              <a:t>	</a:t>
            </a:r>
            <a:r>
              <a:rPr lang="vi-VN" b="0" i="0" dirty="0">
                <a:solidFill>
                  <a:srgbClr val="404040"/>
                </a:solidFill>
                <a:effectLst/>
                <a:latin typeface="DeepSeek-CJK-patch"/>
              </a:rPr>
              <a:t>Tên hàng đợi thật</a:t>
            </a:r>
            <a:endParaRPr lang="en-US" b="0" i="0" dirty="0">
              <a:solidFill>
                <a:srgbClr val="404040"/>
              </a:solidFill>
              <a:effectLst/>
              <a:latin typeface="DeepSeek-CJK-patch"/>
            </a:endParaRPr>
          </a:p>
          <a:p>
            <a:pPr algn="l">
              <a:buFont typeface="Arial" panose="020B0604020202020204" pitchFamily="34" charset="0"/>
              <a:buNone/>
            </a:pPr>
            <a:r>
              <a:rPr lang="vi-VN" b="0" i="0" dirty="0">
                <a:solidFill>
                  <a:srgbClr val="404040"/>
                </a:solidFill>
                <a:effectLst/>
                <a:latin typeface="DeepSeek-CJK-patch"/>
              </a:rPr>
              <a:t>LA1</a:t>
            </a:r>
            <a:r>
              <a:rPr lang="en-US" b="0" i="0" dirty="0">
                <a:solidFill>
                  <a:srgbClr val="404040"/>
                </a:solidFill>
                <a:effectLst/>
                <a:latin typeface="DeepSeek-CJK-patch"/>
              </a:rPr>
              <a:t>	</a:t>
            </a:r>
            <a:r>
              <a:rPr lang="vi-VN" b="0" i="0" dirty="0">
                <a:solidFill>
                  <a:srgbClr val="404040"/>
                </a:solidFill>
                <a:effectLst/>
                <a:latin typeface="DeepSeek-CJK-patch"/>
              </a:rPr>
              <a:t>QMC</a:t>
            </a:r>
            <a:endParaRPr lang="en-US" b="0" i="0" dirty="0">
              <a:solidFill>
                <a:srgbClr val="404040"/>
              </a:solidFill>
              <a:effectLst/>
              <a:latin typeface="DeepSeek-CJK-patch"/>
            </a:endParaRPr>
          </a:p>
          <a:p>
            <a:pPr algn="l">
              <a:buFont typeface="Arial" panose="020B0604020202020204" pitchFamily="34" charset="0"/>
              <a:buNone/>
            </a:pPr>
            <a:r>
              <a:rPr lang="vi-VN" b="0" i="0" dirty="0">
                <a:solidFill>
                  <a:srgbClr val="404040"/>
                </a:solidFill>
                <a:effectLst/>
                <a:latin typeface="DeepSeek-CJK-patch"/>
              </a:rPr>
              <a:t>LA2</a:t>
            </a:r>
            <a:r>
              <a:rPr lang="en-US" b="0" i="0" dirty="0">
                <a:solidFill>
                  <a:srgbClr val="404040"/>
                </a:solidFill>
                <a:effectLst/>
                <a:latin typeface="DeepSeek-CJK-patch"/>
              </a:rPr>
              <a:t>	</a:t>
            </a:r>
            <a:r>
              <a:rPr lang="vi-VN" b="0" i="0" dirty="0">
                <a:solidFill>
                  <a:srgbClr val="404040"/>
                </a:solidFill>
                <a:effectLst/>
                <a:latin typeface="DeepSeek-CJK-patch"/>
              </a:rPr>
              <a:t>QMD</a:t>
            </a:r>
            <a:endParaRPr lang="en-US" b="0" i="0" dirty="0">
              <a:solidFill>
                <a:srgbClr val="404040"/>
              </a:solidFill>
              <a:effectLst/>
              <a:latin typeface="DeepSeek-CJK-patch"/>
            </a:endParaRPr>
          </a:p>
          <a:p>
            <a:pPr algn="l">
              <a:buFont typeface="Arial" panose="020B0604020202020204" pitchFamily="34" charset="0"/>
              <a:buNone/>
            </a:pPr>
            <a:r>
              <a:rPr lang="en-US" b="0" i="0" dirty="0">
                <a:solidFill>
                  <a:srgbClr val="404040"/>
                </a:solidFill>
                <a:effectLst/>
                <a:latin typeface="DeepSeek-CJK-patch"/>
              </a:rPr>
              <a:t>=&gt; </a:t>
            </a:r>
            <a:r>
              <a:rPr lang="vi-VN" b="0" i="0" dirty="0">
                <a:solidFill>
                  <a:srgbClr val="404040"/>
                </a:solidFill>
                <a:effectLst/>
                <a:latin typeface="DeepSeek-CJK-patch"/>
              </a:rPr>
              <a:t>Ứng dụng chỉ cần gửi tin nhắn đến </a:t>
            </a:r>
            <a:r>
              <a:rPr lang="vi-VN" b="1" i="0" dirty="0">
                <a:solidFill>
                  <a:srgbClr val="404040"/>
                </a:solidFill>
                <a:effectLst/>
                <a:latin typeface="DeepSeek-CJK-patch"/>
              </a:rPr>
              <a:t>LA1</a:t>
            </a:r>
            <a:r>
              <a:rPr lang="vi-VN" b="0" i="0" dirty="0">
                <a:solidFill>
                  <a:srgbClr val="404040"/>
                </a:solidFill>
                <a:effectLst/>
                <a:latin typeface="DeepSeek-CJK-patch"/>
              </a:rPr>
              <a:t>, hệ thống tự động chuyển đến hàng đợi </a:t>
            </a:r>
            <a:r>
              <a:rPr lang="vi-VN" b="1" i="0" dirty="0">
                <a:solidFill>
                  <a:srgbClr val="404040"/>
                </a:solidFill>
                <a:effectLst/>
                <a:latin typeface="DeepSeek-CJK-patch"/>
              </a:rPr>
              <a:t>QMC</a:t>
            </a:r>
            <a:r>
              <a:rPr lang="vi-VN" b="0" i="0" dirty="0">
                <a:solidFill>
                  <a:srgbClr val="404040"/>
                </a:solidFill>
                <a:effectLst/>
                <a:latin typeface="DeepSeek-CJK-patch"/>
              </a:rPr>
              <a:t>.</a:t>
            </a:r>
          </a:p>
          <a:p>
            <a:pPr algn="l"/>
            <a:r>
              <a:rPr lang="vi-VN" b="1" i="0" dirty="0">
                <a:solidFill>
                  <a:srgbClr val="404040"/>
                </a:solidFill>
                <a:effectLst/>
                <a:latin typeface="DeepSeek-CJK-patch"/>
              </a:rPr>
              <a:t>b. Bảng định tuyến (Routing Table)</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Mục đích</a:t>
            </a:r>
            <a:r>
              <a:rPr lang="vi-VN" b="0" i="0" dirty="0">
                <a:solidFill>
                  <a:srgbClr val="404040"/>
                </a:solidFill>
                <a:effectLst/>
                <a:latin typeface="DeepSeek-CJK-patch"/>
              </a:rPr>
              <a:t>: Xác định cách tin nhắn được chuyển tiếp giữa các </a:t>
            </a:r>
            <a:r>
              <a:rPr lang="vi-VN" b="1" i="0" dirty="0">
                <a:solidFill>
                  <a:srgbClr val="404040"/>
                </a:solidFill>
                <a:effectLst/>
                <a:latin typeface="DeepSeek-CJK-patch"/>
              </a:rPr>
              <a:t>hàng đợi cục bộ (local queue)</a:t>
            </a:r>
            <a:r>
              <a:rPr lang="vi-VN" b="0" i="0" dirty="0">
                <a:solidFill>
                  <a:srgbClr val="404040"/>
                </a:solidFill>
                <a:effectLst/>
                <a:latin typeface="DeepSeek-CJK-patch"/>
              </a:rPr>
              <a:t> và </a:t>
            </a:r>
            <a:r>
              <a:rPr lang="vi-VN" b="1" i="0" dirty="0">
                <a:solidFill>
                  <a:srgbClr val="404040"/>
                </a:solidFill>
                <a:effectLst/>
                <a:latin typeface="DeepSeek-CJK-patch"/>
              </a:rPr>
              <a:t>hàng đợi truyền tải (transmission queue)</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Cú pháp</a:t>
            </a:r>
            <a:r>
              <a:rPr lang="vi-VN" b="0" i="0" dirty="0">
                <a:solidFill>
                  <a:srgbClr val="404040"/>
                </a:solidFill>
                <a:effectLst/>
                <a:latin typeface="DeepSeek-CJK-patch"/>
              </a:rPr>
              <a:t>:</a:t>
            </a:r>
          </a:p>
          <a:p>
            <a:pPr algn="l">
              <a:buFont typeface="Arial" panose="020B0604020202020204" pitchFamily="34" charset="0"/>
              <a:buNone/>
            </a:pPr>
            <a:r>
              <a:rPr lang="vi-VN" b="0" i="0" dirty="0">
                <a:solidFill>
                  <a:srgbClr val="404040"/>
                </a:solidFill>
                <a:effectLst/>
                <a:latin typeface="DeepSeek-CJK-patch"/>
              </a:rPr>
              <a:t>Tên hàng đợi đích</a:t>
            </a:r>
            <a:r>
              <a:rPr lang="en-US" b="0" i="0" dirty="0">
                <a:solidFill>
                  <a:srgbClr val="404040"/>
                </a:solidFill>
                <a:effectLst/>
                <a:latin typeface="DeepSeek-CJK-patch"/>
              </a:rPr>
              <a:t>	</a:t>
            </a:r>
            <a:r>
              <a:rPr lang="vi-VN" b="0" i="0" dirty="0">
                <a:solidFill>
                  <a:srgbClr val="404040"/>
                </a:solidFill>
                <a:effectLst/>
                <a:latin typeface="DeepSeek-CJK-patch"/>
              </a:rPr>
              <a:t>Hàng đợi truyền tải (SQ)</a:t>
            </a:r>
            <a:endParaRPr lang="en-US" b="0" i="0" dirty="0">
              <a:solidFill>
                <a:srgbClr val="404040"/>
              </a:solidFill>
              <a:effectLst/>
              <a:latin typeface="DeepSeek-CJK-patch"/>
            </a:endParaRPr>
          </a:p>
          <a:p>
            <a:pPr algn="l">
              <a:buFont typeface="Arial" panose="020B0604020202020204" pitchFamily="34" charset="0"/>
              <a:buNone/>
            </a:pPr>
            <a:r>
              <a:rPr lang="vi-VN" b="0" i="0" dirty="0">
                <a:solidFill>
                  <a:srgbClr val="404040"/>
                </a:solidFill>
                <a:effectLst/>
                <a:latin typeface="DeepSeek-CJK-patch"/>
              </a:rPr>
              <a:t>QMB</a:t>
            </a:r>
            <a:r>
              <a:rPr lang="en-US" b="0" i="0" dirty="0">
                <a:solidFill>
                  <a:srgbClr val="404040"/>
                </a:solidFill>
                <a:effectLst/>
                <a:latin typeface="DeepSeek-CJK-patch"/>
              </a:rPr>
              <a:t>		</a:t>
            </a:r>
            <a:r>
              <a:rPr lang="vi-VN" b="0" i="0" dirty="0">
                <a:solidFill>
                  <a:srgbClr val="404040"/>
                </a:solidFill>
                <a:effectLst/>
                <a:latin typeface="DeepSeek-CJK-patch"/>
              </a:rPr>
              <a:t>SQ1</a:t>
            </a:r>
            <a:endParaRPr lang="en-US" b="0" i="0" dirty="0">
              <a:solidFill>
                <a:srgbClr val="404040"/>
              </a:solidFill>
              <a:effectLst/>
              <a:latin typeface="DeepSeek-CJK-patch"/>
            </a:endParaRPr>
          </a:p>
          <a:p>
            <a:pPr algn="l">
              <a:buFont typeface="Arial" panose="020B0604020202020204" pitchFamily="34" charset="0"/>
              <a:buNone/>
            </a:pPr>
            <a:r>
              <a:rPr lang="vi-VN" b="0" i="0" dirty="0">
                <a:solidFill>
                  <a:srgbClr val="404040"/>
                </a:solidFill>
                <a:effectLst/>
                <a:latin typeface="DeepSeek-CJK-patch"/>
              </a:rPr>
              <a:t>QMC</a:t>
            </a:r>
            <a:r>
              <a:rPr lang="en-US" b="0" i="0" dirty="0">
                <a:solidFill>
                  <a:srgbClr val="404040"/>
                </a:solidFill>
                <a:effectLst/>
                <a:latin typeface="DeepSeek-CJK-patch"/>
              </a:rPr>
              <a:t>		</a:t>
            </a:r>
            <a:r>
              <a:rPr lang="vi-VN" b="0" i="0" dirty="0">
                <a:solidFill>
                  <a:srgbClr val="404040"/>
                </a:solidFill>
                <a:effectLst/>
                <a:latin typeface="DeepSeek-CJK-patch"/>
              </a:rPr>
              <a:t>SQ1</a:t>
            </a:r>
            <a:endParaRPr lang="en-US" b="0" i="0" dirty="0">
              <a:solidFill>
                <a:srgbClr val="404040"/>
              </a:solidFill>
              <a:effectLst/>
              <a:latin typeface="DeepSeek-CJK-patch"/>
            </a:endParaRPr>
          </a:p>
          <a:p>
            <a:pPr algn="l">
              <a:buFont typeface="Arial" panose="020B0604020202020204" pitchFamily="34" charset="0"/>
              <a:buNone/>
            </a:pPr>
            <a:r>
              <a:rPr lang="en-US" b="0" i="0" dirty="0">
                <a:solidFill>
                  <a:srgbClr val="404040"/>
                </a:solidFill>
                <a:effectLst/>
                <a:latin typeface="DeepSeek-CJK-patch"/>
              </a:rPr>
              <a:t>=&gt;</a:t>
            </a:r>
            <a:r>
              <a:rPr lang="vi-VN" b="0" i="0" dirty="0">
                <a:solidFill>
                  <a:srgbClr val="404040"/>
                </a:solidFill>
                <a:effectLst/>
                <a:latin typeface="DeepSeek-CJK-patch"/>
              </a:rPr>
              <a:t>Tin nhắn gửi đến </a:t>
            </a:r>
            <a:r>
              <a:rPr lang="vi-VN" b="1" i="0" dirty="0">
                <a:solidFill>
                  <a:srgbClr val="404040"/>
                </a:solidFill>
                <a:effectLst/>
                <a:latin typeface="DeepSeek-CJK-patch"/>
              </a:rPr>
              <a:t>QMC/QMB</a:t>
            </a:r>
            <a:r>
              <a:rPr lang="vi-VN" b="0" i="0" dirty="0">
                <a:solidFill>
                  <a:srgbClr val="404040"/>
                </a:solidFill>
                <a:effectLst/>
                <a:latin typeface="DeepSeek-CJK-patch"/>
              </a:rPr>
              <a:t> sẽ được đưa vào hàng đợi truyền tải </a:t>
            </a:r>
            <a:r>
              <a:rPr lang="vi-VN" b="1" i="0" dirty="0">
                <a:solidFill>
                  <a:srgbClr val="404040"/>
                </a:solidFill>
                <a:effectLst/>
                <a:latin typeface="DeepSeek-CJK-patch"/>
              </a:rPr>
              <a:t>SQ1</a:t>
            </a:r>
            <a:r>
              <a:rPr lang="vi-VN" b="0" i="0" dirty="0">
                <a:solidFill>
                  <a:srgbClr val="404040"/>
                </a:solidFill>
                <a:effectLst/>
                <a:latin typeface="DeepSeek-CJK-patch"/>
              </a:rPr>
              <a:t> để gửi đi.</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Ví dụ minh họa</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Scenario</a:t>
            </a:r>
            <a:r>
              <a:rPr lang="vi-VN" b="0" i="0" dirty="0">
                <a:solidFill>
                  <a:srgbClr val="404040"/>
                </a:solidFill>
                <a:effectLst/>
                <a:latin typeface="DeepSeek-CJK-patch"/>
              </a:rPr>
              <a:t>: Tin nhắn được gửi từ ứng dụng đến </a:t>
            </a:r>
            <a:r>
              <a:rPr lang="vi-VN" b="1" i="0" dirty="0">
                <a:solidFill>
                  <a:srgbClr val="404040"/>
                </a:solidFill>
                <a:effectLst/>
                <a:latin typeface="DeepSeek-CJK-patch"/>
              </a:rPr>
              <a:t>LA1</a:t>
            </a:r>
            <a:r>
              <a:rPr lang="vi-VN" b="0" i="0" dirty="0">
                <a:solidFill>
                  <a:srgbClr val="404040"/>
                </a:solidFill>
                <a:effectLst/>
                <a:latin typeface="DeepSeek-CJK-patch"/>
              </a:rPr>
              <a:t> (alias của QMC).</a:t>
            </a:r>
          </a:p>
          <a:p>
            <a:pPr marL="742950" lvl="1" indent="-285750" algn="l">
              <a:buFont typeface="Arial" panose="020B0604020202020204" pitchFamily="34" charset="0"/>
              <a:buChar char="•"/>
            </a:pPr>
            <a:r>
              <a:rPr lang="vi-VN" b="1" i="0" dirty="0">
                <a:solidFill>
                  <a:srgbClr val="404040"/>
                </a:solidFill>
                <a:effectLst/>
                <a:latin typeface="DeepSeek-CJK-patch"/>
              </a:rPr>
              <a:t>Bước 1</a:t>
            </a:r>
            <a:r>
              <a:rPr lang="vi-VN" b="0" i="0" dirty="0">
                <a:solidFill>
                  <a:srgbClr val="404040"/>
                </a:solidFill>
                <a:effectLst/>
                <a:latin typeface="DeepSeek-CJK-patch"/>
              </a:rPr>
              <a:t>: Hệ thống tra </a:t>
            </a:r>
            <a:r>
              <a:rPr lang="vi-VN" b="1" i="0" dirty="0">
                <a:solidFill>
                  <a:srgbClr val="404040"/>
                </a:solidFill>
                <a:effectLst/>
                <a:latin typeface="DeepSeek-CJK-patch"/>
              </a:rPr>
              <a:t>Alias Table</a:t>
            </a:r>
            <a:r>
              <a:rPr lang="vi-VN" b="0" i="0" dirty="0">
                <a:solidFill>
                  <a:srgbClr val="404040"/>
                </a:solidFill>
                <a:effectLst/>
                <a:latin typeface="DeepSeek-CJK-patch"/>
              </a:rPr>
              <a:t> → Chuyển đổi </a:t>
            </a:r>
            <a:r>
              <a:rPr lang="vi-VN" b="1" i="0" dirty="0">
                <a:solidFill>
                  <a:srgbClr val="404040"/>
                </a:solidFill>
                <a:effectLst/>
                <a:latin typeface="DeepSeek-CJK-patch"/>
              </a:rPr>
              <a:t>LA1 → QMC</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Bước 2</a:t>
            </a:r>
            <a:r>
              <a:rPr lang="vi-VN" b="0" i="0" dirty="0">
                <a:solidFill>
                  <a:srgbClr val="404040"/>
                </a:solidFill>
                <a:effectLst/>
                <a:latin typeface="DeepSeek-CJK-patch"/>
              </a:rPr>
              <a:t>: Tra </a:t>
            </a:r>
            <a:r>
              <a:rPr lang="vi-VN" b="1" i="0" dirty="0">
                <a:solidFill>
                  <a:srgbClr val="404040"/>
                </a:solidFill>
                <a:effectLst/>
                <a:latin typeface="DeepSeek-CJK-patch"/>
              </a:rPr>
              <a:t>Routing Table</a:t>
            </a:r>
            <a:r>
              <a:rPr lang="vi-VN" b="0" i="0" dirty="0">
                <a:solidFill>
                  <a:srgbClr val="404040"/>
                </a:solidFill>
                <a:effectLst/>
                <a:latin typeface="DeepSeek-CJK-patch"/>
              </a:rPr>
              <a:t> → QMC được ánh xạ đến </a:t>
            </a:r>
            <a:r>
              <a:rPr lang="vi-VN" b="1" i="0" dirty="0">
                <a:solidFill>
                  <a:srgbClr val="404040"/>
                </a:solidFill>
                <a:effectLst/>
                <a:latin typeface="DeepSeek-CJK-patch"/>
              </a:rPr>
              <a:t>SQ1</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Bước 3</a:t>
            </a:r>
            <a:r>
              <a:rPr lang="vi-VN" b="0" i="0" dirty="0">
                <a:solidFill>
                  <a:srgbClr val="404040"/>
                </a:solidFill>
                <a:effectLst/>
                <a:latin typeface="DeepSeek-CJK-patch"/>
              </a:rPr>
              <a:t>: Tin nhắn được đưa vào </a:t>
            </a:r>
            <a:r>
              <a:rPr lang="vi-VN" b="1" i="0" dirty="0">
                <a:solidFill>
                  <a:srgbClr val="404040"/>
                </a:solidFill>
                <a:effectLst/>
                <a:latin typeface="DeepSeek-CJK-patch"/>
              </a:rPr>
              <a:t>SQ1</a:t>
            </a:r>
            <a:r>
              <a:rPr lang="vi-VN" b="0" i="0" dirty="0">
                <a:solidFill>
                  <a:srgbClr val="404040"/>
                </a:solidFill>
                <a:effectLst/>
                <a:latin typeface="DeepSeek-CJK-patch"/>
              </a:rPr>
              <a:t> để truyền đến hàng đợi vật lý tương ứng (có thể là hàng đợi cục bộ hoặc hàng đợi trên máy chủ khác).</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4. Ưu điểm của cơ chế</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Tính linh hoạt</a:t>
            </a:r>
            <a:r>
              <a:rPr lang="vi-VN" b="0" i="0" dirty="0">
                <a:solidFill>
                  <a:srgbClr val="404040"/>
                </a:solidFill>
                <a:effectLst/>
                <a:latin typeface="DeepSeek-CJK-patch"/>
              </a:rPr>
              <a:t>: Thay đổi routing mà không cần sửa code ứng dụng (chỉ cập nhật bảng).</a:t>
            </a:r>
          </a:p>
          <a:p>
            <a:pPr algn="l">
              <a:buFont typeface="Arial" panose="020B0604020202020204" pitchFamily="34" charset="0"/>
              <a:buChar char="•"/>
            </a:pPr>
            <a:r>
              <a:rPr lang="vi-VN" b="1" i="0" dirty="0">
                <a:solidFill>
                  <a:srgbClr val="404040"/>
                </a:solidFill>
                <a:effectLst/>
                <a:latin typeface="DeepSeek-CJK-patch"/>
              </a:rPr>
              <a:t>Che giấu độ phức tạp</a:t>
            </a:r>
            <a:r>
              <a:rPr lang="vi-VN" b="0" i="0" dirty="0">
                <a:solidFill>
                  <a:srgbClr val="404040"/>
                </a:solidFill>
                <a:effectLst/>
                <a:latin typeface="DeepSeek-CJK-patch"/>
              </a:rPr>
              <a:t>: Ứng dụng không cần biết vị trí thật của hàng đợi.</a:t>
            </a:r>
          </a:p>
          <a:p>
            <a:pPr algn="l">
              <a:buFont typeface="Arial" panose="020B0604020202020204" pitchFamily="34" charset="0"/>
              <a:buChar char="•"/>
            </a:pPr>
            <a:r>
              <a:rPr lang="vi-VN" b="1" i="0" dirty="0">
                <a:solidFill>
                  <a:srgbClr val="404040"/>
                </a:solidFill>
                <a:effectLst/>
                <a:latin typeface="DeepSeek-CJK-patch"/>
              </a:rPr>
              <a:t>Hỗ trợ kiến trúc phân tán</a:t>
            </a:r>
            <a:r>
              <a:rPr lang="vi-VN" b="0" i="0" dirty="0">
                <a:solidFill>
                  <a:srgbClr val="404040"/>
                </a:solidFill>
                <a:effectLst/>
                <a:latin typeface="DeepSeek-CJK-patch"/>
              </a:rPr>
              <a:t>: Dễ dàng mở rộng bằng cách thêm bí danh hoặc hàng đợi truyền tải mới.</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5. Lưu ý quan trọng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SQ1/SQ2</a:t>
            </a:r>
            <a:r>
              <a:rPr lang="vi-VN" b="0" i="0" dirty="0">
                <a:solidFill>
                  <a:srgbClr val="404040"/>
                </a:solidFill>
                <a:effectLst/>
                <a:latin typeface="DeepSeek-CJK-patch"/>
              </a:rPr>
              <a:t>: Là các </a:t>
            </a:r>
            <a:r>
              <a:rPr lang="vi-VN" b="1" i="0" dirty="0">
                <a:solidFill>
                  <a:srgbClr val="404040"/>
                </a:solidFill>
                <a:effectLst/>
                <a:latin typeface="DeepSeek-CJK-patch"/>
              </a:rPr>
              <a:t>hàng đợi truyền tải (transmission queues)</a:t>
            </a:r>
            <a:r>
              <a:rPr lang="vi-VN" b="0" i="0" dirty="0">
                <a:solidFill>
                  <a:srgbClr val="404040"/>
                </a:solidFill>
                <a:effectLst/>
                <a:latin typeface="DeepSeek-CJK-patch"/>
              </a:rPr>
              <a:t>, dùng để tạm chứa tin nhắn trước khi gửi đến hệ thống đích.</a:t>
            </a:r>
          </a:p>
          <a:p>
            <a:pPr algn="l">
              <a:buFont typeface="Arial" panose="020B0604020202020204" pitchFamily="34" charset="0"/>
              <a:buChar char="•"/>
            </a:pPr>
            <a:r>
              <a:rPr lang="vi-VN" b="1" i="0" dirty="0">
                <a:solidFill>
                  <a:srgbClr val="404040"/>
                </a:solidFill>
                <a:effectLst/>
                <a:latin typeface="DeepSeek-CJK-patch"/>
              </a:rPr>
              <a:t>Tính nhất quán</a:t>
            </a:r>
            <a:r>
              <a:rPr lang="vi-VN" b="0" i="0" dirty="0">
                <a:solidFill>
                  <a:srgbClr val="404040"/>
                </a:solidFill>
                <a:effectLst/>
                <a:latin typeface="DeepSeek-CJK-patch"/>
              </a:rPr>
              <a:t>: Bảng alias và routing phải đồng bộ giữa các máy chủ để tránh lỗi định tuyến.</a:t>
            </a:r>
          </a:p>
          <a:p>
            <a:pPr algn="l"/>
            <a:r>
              <a:rPr lang="vi-VN" b="1" i="0" dirty="0">
                <a:solidFill>
                  <a:srgbClr val="404040"/>
                </a:solidFill>
                <a:effectLst/>
                <a:latin typeface="DeepSeek-CJK-patch"/>
              </a:rPr>
              <a:t>Câu hỏi kiểm tra</a:t>
            </a:r>
            <a:r>
              <a:rPr lang="vi-VN" b="0" i="0" dirty="0">
                <a:solidFill>
                  <a:srgbClr val="404040"/>
                </a:solidFill>
                <a:effectLst/>
                <a:latin typeface="DeepSeek-CJK-patch"/>
              </a:rPr>
              <a:t>:</a:t>
            </a:r>
          </a:p>
          <a:p>
            <a:pPr algn="l">
              <a:buFont typeface="Arial" panose="020B0604020202020204" pitchFamily="34" charset="0"/>
              <a:buChar char="•"/>
            </a:pPr>
            <a:r>
              <a:rPr lang="vi-VN" b="0" i="1" dirty="0">
                <a:solidFill>
                  <a:srgbClr val="404040"/>
                </a:solidFill>
                <a:effectLst/>
                <a:latin typeface="DeepSeek-CJK-patch"/>
              </a:rPr>
              <a:t>"Nếu tin nhắn được gửi đến LA2 (alias của QMD), hàng đợi truyền tải nào sẽ được sử dụng?"</a:t>
            </a:r>
            <a:br>
              <a:rPr lang="vi-VN" b="0" i="0" dirty="0">
                <a:solidFill>
                  <a:srgbClr val="404040"/>
                </a:solidFill>
                <a:effectLst/>
                <a:latin typeface="DeepSeek-CJK-patch"/>
              </a:rPr>
            </a:br>
            <a:r>
              <a:rPr lang="en-US" b="0" i="0" dirty="0">
                <a:solidFill>
                  <a:srgbClr val="404040"/>
                </a:solidFill>
                <a:effectLst/>
                <a:latin typeface="DeepSeek-CJK-patch"/>
              </a:rPr>
              <a:t>=&gt;</a:t>
            </a:r>
            <a:r>
              <a:rPr lang="vi-VN" b="0" i="0" dirty="0">
                <a:solidFill>
                  <a:srgbClr val="404040"/>
                </a:solidFill>
                <a:effectLst/>
                <a:latin typeface="DeepSeek-CJK-patch"/>
              </a:rPr>
              <a:t> Tra bảng: </a:t>
            </a:r>
            <a:r>
              <a:rPr lang="vi-VN" b="1" i="0" dirty="0">
                <a:solidFill>
                  <a:srgbClr val="404040"/>
                </a:solidFill>
                <a:effectLst/>
                <a:latin typeface="DeepSeek-CJK-patch"/>
              </a:rPr>
              <a:t>QMD → SQ1</a:t>
            </a:r>
            <a:r>
              <a:rPr lang="vi-VN" b="0" i="0" dirty="0">
                <a:solidFill>
                  <a:srgbClr val="404040"/>
                </a:solidFill>
                <a:effectLst/>
                <a:latin typeface="DeepSeek-CJK-patch"/>
              </a:rPr>
              <a:t> (theo ví dụ trong slide).</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39</a:t>
            </a:fld>
            <a:endParaRPr lang="en-US"/>
          </a:p>
        </p:txBody>
      </p:sp>
    </p:spTree>
    <p:extLst>
      <p:ext uri="{BB962C8B-B14F-4D97-AF65-F5344CB8AC3E}">
        <p14:creationId xmlns:p14="http://schemas.microsoft.com/office/powerpoint/2010/main" val="7272388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Một chủ đề quan trọng trong hệ thống phân tán là </a:t>
            </a:r>
            <a:r>
              <a:rPr lang="vi-VN" b="1" dirty="0"/>
              <a:t>giao tiếp multicast</a:t>
            </a:r>
            <a:r>
              <a:rPr lang="vi-VN" dirty="0"/>
              <a:t> (gửi dữ liệu đến nhiều người nhận). Trước đây, multicast chủ yếu được giải quyết ở </a:t>
            </a:r>
            <a:r>
              <a:rPr lang="vi-VN" b="1" dirty="0"/>
              <a:t>tầng mạng</a:t>
            </a:r>
            <a:r>
              <a:rPr lang="vi-VN" dirty="0"/>
              <a:t> và </a:t>
            </a:r>
            <a:r>
              <a:rPr lang="vi-VN" b="1" dirty="0"/>
              <a:t>tầng vận chuyển</a:t>
            </a:r>
            <a:r>
              <a:rPr lang="vi-VN" dirty="0"/>
              <a:t>, nhưng gặp nhiều khó khăn như việc thiết lập đường truyền phức tạp và thiếu sự hỗ trợ từ các ISP.</a:t>
            </a:r>
          </a:p>
          <a:p>
            <a:endParaRPr lang="en-US" dirty="0"/>
          </a:p>
          <a:p>
            <a:r>
              <a:rPr lang="vi-VN" dirty="0"/>
              <a:t>Với sự phát triển của </a:t>
            </a:r>
            <a:r>
              <a:rPr lang="vi-VN" b="1" dirty="0"/>
              <a:t>công nghệ peer-to-peer</a:t>
            </a:r>
            <a:r>
              <a:rPr lang="vi-VN" dirty="0"/>
              <a:t> và </a:t>
            </a:r>
            <a:r>
              <a:rPr lang="vi-VN" b="1" dirty="0"/>
              <a:t>overlay networks</a:t>
            </a:r>
            <a:r>
              <a:rPr lang="vi-VN" dirty="0"/>
              <a:t>, multicast ở </a:t>
            </a:r>
            <a:r>
              <a:rPr lang="vi-VN" b="1" dirty="0"/>
              <a:t>tầng ứng dụng</a:t>
            </a:r>
            <a:r>
              <a:rPr lang="vi-VN" dirty="0"/>
              <a:t> trở nên khả thi hơn. Trong đó, các nút tổ chức thành mạng overlay dạng </a:t>
            </a:r>
            <a:r>
              <a:rPr lang="vi-VN" b="1" dirty="0"/>
              <a:t>cây</a:t>
            </a:r>
            <a:r>
              <a:rPr lang="vi-VN" dirty="0"/>
              <a:t> (tree) hoặc </a:t>
            </a:r>
            <a:r>
              <a:rPr lang="vi-VN" b="1" dirty="0"/>
              <a:t>lưới</a:t>
            </a:r>
            <a:r>
              <a:rPr lang="vi-VN" dirty="0"/>
              <a:t> (mesh). Mạng </a:t>
            </a:r>
            <a:r>
              <a:rPr lang="vi-VN" b="1" dirty="0"/>
              <a:t>mesh</a:t>
            </a:r>
            <a:r>
              <a:rPr lang="vi-VN" dirty="0"/>
              <a:t> có độ bền cao hơn vì vẫn hoạt động được khi một nút hỏng.</a:t>
            </a:r>
          </a:p>
          <a:p>
            <a:endParaRPr lang="en-US" dirty="0"/>
          </a:p>
          <a:p>
            <a:r>
              <a:rPr lang="vi-VN" dirty="0"/>
              <a:t>Có hai cách tổ chức phổ biến:</a:t>
            </a:r>
          </a:p>
          <a:p>
            <a:pPr>
              <a:buFont typeface="+mj-lt"/>
              <a:buAutoNum type="arabicPeriod"/>
            </a:pPr>
            <a:r>
              <a:rPr lang="vi-VN" b="1" dirty="0"/>
              <a:t>Dạng cây (Tree)</a:t>
            </a:r>
            <a:r>
              <a:rPr lang="vi-VN" dirty="0"/>
              <a:t>:</a:t>
            </a:r>
          </a:p>
          <a:p>
            <a:pPr marL="742950" lvl="1" indent="-285750">
              <a:buFont typeface="+mj-lt"/>
              <a:buAutoNum type="arabicPeriod"/>
            </a:pPr>
            <a:r>
              <a:rPr lang="vi-VN" dirty="0"/>
              <a:t>Mỗi cặp nút sẽ có một </a:t>
            </a:r>
            <a:r>
              <a:rPr lang="vi-VN" b="1" dirty="0"/>
              <a:t>đường đi duy nhất</a:t>
            </a:r>
            <a:r>
              <a:rPr lang="vi-VN" dirty="0"/>
              <a:t>.</a:t>
            </a:r>
          </a:p>
          <a:p>
            <a:pPr marL="742950" lvl="1" indent="-285750">
              <a:buFont typeface="+mj-lt"/>
              <a:buAutoNum type="arabicPeriod"/>
            </a:pPr>
            <a:r>
              <a:rPr lang="vi-VN" dirty="0"/>
              <a:t>Dễ thiết kế, nhưng nếu một nút trong cây hỏng, có thể ảnh hưởng đến nhiều nút khác.</a:t>
            </a:r>
          </a:p>
          <a:p>
            <a:pPr>
              <a:buFont typeface="+mj-lt"/>
              <a:buAutoNum type="arabicPeriod"/>
            </a:pPr>
            <a:r>
              <a:rPr lang="vi-VN" b="1" dirty="0"/>
              <a:t>Dạng lưới (Mesh)</a:t>
            </a:r>
            <a:r>
              <a:rPr lang="vi-VN" dirty="0"/>
              <a:t>:</a:t>
            </a:r>
          </a:p>
          <a:p>
            <a:pPr marL="742950" lvl="1" indent="-285750">
              <a:buFont typeface="+mj-lt"/>
              <a:buAutoNum type="arabicPeriod"/>
            </a:pPr>
            <a:r>
              <a:rPr lang="vi-VN" dirty="0"/>
              <a:t>Các nút kết nối với </a:t>
            </a:r>
            <a:r>
              <a:rPr lang="vi-VN" b="1" dirty="0"/>
              <a:t>nhiều nút khác</a:t>
            </a:r>
            <a:r>
              <a:rPr lang="vi-VN" dirty="0"/>
              <a:t>.</a:t>
            </a:r>
          </a:p>
          <a:p>
            <a:pPr marL="742950" lvl="1" indent="-285750">
              <a:buFont typeface="+mj-lt"/>
              <a:buAutoNum type="arabicPeriod"/>
            </a:pPr>
            <a:r>
              <a:rPr lang="vi-VN" dirty="0"/>
              <a:t>Có </a:t>
            </a:r>
            <a:r>
              <a:rPr lang="vi-VN" b="1" dirty="0"/>
              <a:t>nhiều đường đi thay thế</a:t>
            </a:r>
            <a:r>
              <a:rPr lang="vi-VN" dirty="0"/>
              <a:t>, giúp hệ thống </a:t>
            </a:r>
            <a:r>
              <a:rPr lang="vi-VN" b="1" dirty="0"/>
              <a:t>bền vững</a:t>
            </a:r>
            <a:r>
              <a:rPr lang="vi-VN" dirty="0"/>
              <a:t> hơn, nhưng cần thêm </a:t>
            </a:r>
            <a:r>
              <a:rPr lang="vi-VN" b="1" dirty="0"/>
              <a:t>các thuật toán định tuyến</a:t>
            </a:r>
            <a:r>
              <a:rPr lang="vi-VN" dirty="0"/>
              <a:t> để chọn đường đi dữ liệu phù hợp.</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40</a:t>
            </a:fld>
            <a:endParaRPr lang="en-US"/>
          </a:p>
        </p:txBody>
      </p:sp>
    </p:spTree>
    <p:extLst>
      <p:ext uri="{BB962C8B-B14F-4D97-AF65-F5344CB8AC3E}">
        <p14:creationId xmlns:p14="http://schemas.microsoft.com/office/powerpoint/2010/main" val="39062607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Application-level multicasting trong Chord</a:t>
            </a:r>
            <a:r>
              <a:rPr lang="vi-VN" dirty="0"/>
              <a:t> (một giao thức phân tán dạng vòng):</a:t>
            </a:r>
          </a:p>
          <a:p>
            <a:r>
              <a:rPr lang="vi-VN" b="1" dirty="0"/>
              <a:t>Cách tiếp cận cơ bản</a:t>
            </a:r>
            <a:r>
              <a:rPr lang="vi-VN" dirty="0"/>
              <a:t>:</a:t>
            </a:r>
          </a:p>
          <a:p>
            <a:pPr>
              <a:buFont typeface="+mj-lt"/>
              <a:buAutoNum type="arabicPeriod"/>
            </a:pPr>
            <a:r>
              <a:rPr lang="vi-VN" b="1" dirty="0"/>
              <a:t>Khởi tạo</a:t>
            </a:r>
            <a:r>
              <a:rPr lang="vi-VN" dirty="0"/>
              <a:t>:</a:t>
            </a:r>
          </a:p>
          <a:p>
            <a:pPr marL="457200" lvl="1" indent="0">
              <a:buFont typeface="+mj-lt"/>
              <a:buNone/>
            </a:pPr>
            <a:r>
              <a:rPr lang="en-US" dirty="0"/>
              <a:t>- </a:t>
            </a:r>
            <a:r>
              <a:rPr lang="vi-VN" dirty="0"/>
              <a:t>Một nút bắt đầu (initiator) sẽ tạo ra một </a:t>
            </a:r>
            <a:r>
              <a:rPr lang="vi-VN" b="1" dirty="0"/>
              <a:t>mã định danh multicast</a:t>
            </a:r>
            <a:r>
              <a:rPr lang="vi-VN" dirty="0"/>
              <a:t> (gọi là mid).</a:t>
            </a:r>
          </a:p>
          <a:p>
            <a:pPr>
              <a:buFont typeface="+mj-lt"/>
              <a:buAutoNum type="arabicPeriod"/>
            </a:pPr>
            <a:r>
              <a:rPr lang="vi-VN" b="1" dirty="0"/>
              <a:t>Tìm nút gốc</a:t>
            </a:r>
            <a:r>
              <a:rPr lang="vi-VN" dirty="0"/>
              <a:t>:</a:t>
            </a:r>
          </a:p>
          <a:p>
            <a:pPr marL="457200" lvl="1" indent="0">
              <a:buFont typeface="+mj-lt"/>
              <a:buNone/>
            </a:pPr>
            <a:r>
              <a:rPr lang="en-US" dirty="0"/>
              <a:t>- </a:t>
            </a:r>
            <a:r>
              <a:rPr lang="vi-VN" dirty="0"/>
              <a:t>Hệ thống Chord sẽ </a:t>
            </a:r>
            <a:r>
              <a:rPr lang="vi-VN" b="1" dirty="0"/>
              <a:t>tra cứu (lookup)</a:t>
            </a:r>
            <a:r>
              <a:rPr lang="vi-VN" dirty="0"/>
              <a:t> để tìm </a:t>
            </a:r>
            <a:r>
              <a:rPr lang="vi-VN" b="1" dirty="0"/>
              <a:t>succ(mid)</a:t>
            </a:r>
            <a:r>
              <a:rPr lang="vi-VN" dirty="0"/>
              <a:t> — tức là nút chịu trách nhiệm cho mã mid.</a:t>
            </a:r>
          </a:p>
          <a:p>
            <a:pPr marL="457200" lvl="1" indent="0">
              <a:buFont typeface="+mj-lt"/>
              <a:buNone/>
            </a:pPr>
            <a:r>
              <a:rPr lang="en-US" b="1" dirty="0"/>
              <a:t>- </a:t>
            </a:r>
            <a:r>
              <a:rPr lang="vi-VN" b="1" dirty="0"/>
              <a:t>succ(mid)</a:t>
            </a:r>
            <a:r>
              <a:rPr lang="vi-VN" dirty="0"/>
              <a:t> sẽ trở thành </a:t>
            </a:r>
            <a:r>
              <a:rPr lang="vi-VN" b="1" dirty="0"/>
              <a:t>gốc (root)</a:t>
            </a:r>
            <a:r>
              <a:rPr lang="vi-VN" dirty="0"/>
              <a:t> của cây multicast.</a:t>
            </a:r>
          </a:p>
          <a:p>
            <a:pPr>
              <a:buFont typeface="+mj-lt"/>
              <a:buAutoNum type="arabicPeriod"/>
            </a:pPr>
            <a:r>
              <a:rPr lang="vi-VN" b="1" dirty="0"/>
              <a:t>Thiết lập cây</a:t>
            </a:r>
            <a:r>
              <a:rPr lang="vi-VN" dirty="0"/>
              <a:t>:</a:t>
            </a:r>
          </a:p>
          <a:p>
            <a:pPr marL="457200" lvl="1" indent="0">
              <a:buFont typeface="+mj-lt"/>
              <a:buNone/>
            </a:pPr>
            <a:r>
              <a:rPr lang="en-US" dirty="0"/>
              <a:t>- </a:t>
            </a:r>
            <a:r>
              <a:rPr lang="vi-VN" dirty="0"/>
              <a:t>Nếu một nút </a:t>
            </a:r>
            <a:r>
              <a:rPr lang="vi-VN" b="1" dirty="0"/>
              <a:t>P</a:t>
            </a:r>
            <a:r>
              <a:rPr lang="vi-VN" dirty="0"/>
              <a:t> muốn </a:t>
            </a:r>
            <a:r>
              <a:rPr lang="vi-VN" b="1" dirty="0"/>
              <a:t>tham gia</a:t>
            </a:r>
            <a:r>
              <a:rPr lang="vi-VN" dirty="0"/>
              <a:t> nhóm multicast:</a:t>
            </a:r>
            <a:r>
              <a:rPr lang="en-US" dirty="0"/>
              <a:t> </a:t>
            </a:r>
            <a:r>
              <a:rPr lang="vi-VN" dirty="0"/>
              <a:t>Nó sẽ </a:t>
            </a:r>
            <a:r>
              <a:rPr lang="vi-VN" b="1" dirty="0"/>
              <a:t>gửi yêu cầu join</a:t>
            </a:r>
            <a:r>
              <a:rPr lang="vi-VN" dirty="0"/>
              <a:t> tới </a:t>
            </a:r>
            <a:r>
              <a:rPr lang="vi-VN" b="1" dirty="0"/>
              <a:t>root</a:t>
            </a:r>
            <a:r>
              <a:rPr lang="vi-VN" dirty="0"/>
              <a:t>.</a:t>
            </a:r>
          </a:p>
          <a:p>
            <a:pPr>
              <a:buFont typeface="+mj-lt"/>
              <a:buAutoNum type="arabicPeriod"/>
            </a:pPr>
            <a:r>
              <a:rPr lang="vi-VN" b="1" dirty="0"/>
              <a:t>Xử lý yêu cầu join tại Q</a:t>
            </a:r>
            <a:r>
              <a:rPr lang="vi-VN" dirty="0"/>
              <a:t>:</a:t>
            </a:r>
          </a:p>
          <a:p>
            <a:pPr marL="457200" lvl="1" indent="0">
              <a:buFont typeface="+mj-lt"/>
              <a:buNone/>
            </a:pPr>
            <a:r>
              <a:rPr lang="en-US" dirty="0"/>
              <a:t>- </a:t>
            </a:r>
            <a:r>
              <a:rPr lang="vi-VN" dirty="0"/>
              <a:t>Khi yêu cầu đến một nút </a:t>
            </a:r>
            <a:r>
              <a:rPr lang="vi-VN" b="1" dirty="0"/>
              <a:t>Q</a:t>
            </a:r>
            <a:r>
              <a:rPr lang="vi-VN" dirty="0"/>
              <a:t>:</a:t>
            </a:r>
          </a:p>
          <a:p>
            <a:pPr marL="914400" lvl="2" indent="0">
              <a:buFont typeface="+mj-lt"/>
              <a:buNone/>
            </a:pPr>
            <a:r>
              <a:rPr lang="en-US" dirty="0"/>
              <a:t>+ </a:t>
            </a:r>
            <a:r>
              <a:rPr lang="vi-VN" dirty="0"/>
              <a:t>Nếu </a:t>
            </a:r>
            <a:r>
              <a:rPr lang="vi-VN" b="1" dirty="0"/>
              <a:t>Q chưa từng thấy yêu cầu join nào trước đó</a:t>
            </a:r>
            <a:r>
              <a:rPr lang="vi-VN" dirty="0"/>
              <a:t> → Q </a:t>
            </a:r>
            <a:r>
              <a:rPr lang="vi-VN" b="1" dirty="0"/>
              <a:t>biến thành forwarder</a:t>
            </a:r>
            <a:r>
              <a:rPr lang="vi-VN" dirty="0"/>
              <a:t>, và </a:t>
            </a:r>
            <a:r>
              <a:rPr lang="vi-VN" b="1" dirty="0"/>
              <a:t>P trở thành con (child)</a:t>
            </a:r>
            <a:r>
              <a:rPr lang="vi-VN" dirty="0"/>
              <a:t> của Q. Yêu cầu join </a:t>
            </a:r>
            <a:r>
              <a:rPr lang="vi-VN" b="1" dirty="0"/>
              <a:t>tiếp tục được chuyển tiếp</a:t>
            </a:r>
            <a:r>
              <a:rPr lang="vi-VN" dirty="0"/>
              <a:t>.</a:t>
            </a:r>
          </a:p>
          <a:p>
            <a:pPr marL="914400" lvl="2" indent="0">
              <a:buFont typeface="+mj-lt"/>
              <a:buNone/>
            </a:pPr>
            <a:r>
              <a:rPr lang="en-US" dirty="0"/>
              <a:t>+ </a:t>
            </a:r>
            <a:r>
              <a:rPr lang="vi-VN" dirty="0"/>
              <a:t>Nếu </a:t>
            </a:r>
            <a:r>
              <a:rPr lang="vi-VN" b="1" dirty="0"/>
              <a:t>Q đã biết về cây multicast</a:t>
            </a:r>
            <a:r>
              <a:rPr lang="vi-VN" dirty="0"/>
              <a:t> rồi → Q chỉ việc </a:t>
            </a:r>
            <a:r>
              <a:rPr lang="vi-VN" b="1" dirty="0"/>
              <a:t>gắn P làm con</a:t>
            </a:r>
            <a:r>
              <a:rPr lang="vi-VN" dirty="0"/>
              <a:t>, </a:t>
            </a:r>
            <a:r>
              <a:rPr lang="vi-VN" b="1" dirty="0"/>
              <a:t>không cần chuyển tiếp</a:t>
            </a:r>
            <a:r>
              <a:rPr lang="vi-VN" dirty="0"/>
              <a:t> yêu cầu nữa.</a:t>
            </a:r>
          </a:p>
          <a:p>
            <a:r>
              <a:rPr lang="vi-VN" b="1" dirty="0"/>
              <a:t>Tóm lại:</a:t>
            </a:r>
            <a:endParaRPr lang="vi-VN" dirty="0"/>
          </a:p>
          <a:p>
            <a:pPr>
              <a:buFont typeface="Arial" panose="020B0604020202020204" pitchFamily="34" charset="0"/>
              <a:buChar char="•"/>
            </a:pPr>
            <a:r>
              <a:rPr lang="vi-VN" dirty="0"/>
              <a:t>Đầu tiên, tìm gốc cây multicast.</a:t>
            </a:r>
          </a:p>
          <a:p>
            <a:pPr>
              <a:buFont typeface="Arial" panose="020B0604020202020204" pitchFamily="34" charset="0"/>
              <a:buChar char="•"/>
            </a:pPr>
            <a:r>
              <a:rPr lang="vi-VN" dirty="0"/>
              <a:t>Các nút gia nhập bằng cách lần lượt gửi yêu cầu.</a:t>
            </a:r>
          </a:p>
          <a:p>
            <a:pPr>
              <a:buFont typeface="Arial" panose="020B0604020202020204" pitchFamily="34" charset="0"/>
              <a:buChar char="•"/>
            </a:pPr>
            <a:r>
              <a:rPr lang="vi-VN" dirty="0"/>
              <a:t>Một số nút sẽ thành forwarder (gửi tiếp yêu cầu), một số thì chỉ gắn nút mới vào cây.</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41</a:t>
            </a:fld>
            <a:endParaRPr lang="en-US"/>
          </a:p>
        </p:txBody>
      </p:sp>
    </p:spTree>
    <p:extLst>
      <p:ext uri="{BB962C8B-B14F-4D97-AF65-F5344CB8AC3E}">
        <p14:creationId xmlns:p14="http://schemas.microsoft.com/office/powerpoint/2010/main" val="25981671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"ALM: Some costs"</a:t>
            </a:r>
            <a:r>
              <a:rPr lang="vi-VN" dirty="0"/>
              <a:t> (Chi phí trong Application-Level Multicasting):</a:t>
            </a:r>
          </a:p>
          <a:p>
            <a:r>
              <a:rPr lang="vi-VN" dirty="0"/>
              <a:t>Trong Application-Level Multicasting (ALM), có </a:t>
            </a:r>
            <a:r>
              <a:rPr lang="vi-VN" b="1" dirty="0"/>
              <a:t>hai loại chi phí</a:t>
            </a:r>
            <a:r>
              <a:rPr lang="vi-VN" dirty="0"/>
              <a:t> quan trọng cần đo:</a:t>
            </a:r>
          </a:p>
          <a:p>
            <a:pPr>
              <a:buFont typeface="+mj-lt"/>
              <a:buAutoNum type="arabicPeriod"/>
            </a:pPr>
            <a:r>
              <a:rPr lang="vi-VN" b="1" dirty="0"/>
              <a:t>Link stress</a:t>
            </a:r>
            <a:r>
              <a:rPr lang="vi-VN" dirty="0"/>
              <a:t> (áp lực trên đường truyền):</a:t>
            </a:r>
          </a:p>
          <a:p>
            <a:pPr marL="457200" lvl="1" indent="0">
              <a:buFont typeface="+mj-lt"/>
              <a:buNone/>
            </a:pPr>
            <a:r>
              <a:rPr lang="en-US" dirty="0"/>
              <a:t>- </a:t>
            </a:r>
            <a:r>
              <a:rPr lang="vi-VN" dirty="0"/>
              <a:t>Là </a:t>
            </a:r>
            <a:r>
              <a:rPr lang="vi-VN" b="1" dirty="0"/>
              <a:t>số lần</a:t>
            </a:r>
            <a:r>
              <a:rPr lang="vi-VN" dirty="0"/>
              <a:t> một gói tin multicast </a:t>
            </a:r>
            <a:r>
              <a:rPr lang="vi-VN" b="1" dirty="0"/>
              <a:t>đi qua cùng một đường truyền vật lý</a:t>
            </a:r>
            <a:r>
              <a:rPr lang="vi-VN" dirty="0"/>
              <a:t>.</a:t>
            </a:r>
          </a:p>
          <a:p>
            <a:pPr marL="457200" lvl="1" indent="0">
              <a:buFont typeface="+mj-lt"/>
              <a:buNone/>
            </a:pPr>
            <a:r>
              <a:rPr lang="en-US" b="1" dirty="0"/>
              <a:t>- </a:t>
            </a:r>
            <a:r>
              <a:rPr lang="vi-VN" b="1" dirty="0"/>
              <a:t>Ví dụ</a:t>
            </a:r>
            <a:r>
              <a:rPr lang="vi-VN" dirty="0"/>
              <a:t> trong hình:</a:t>
            </a:r>
          </a:p>
          <a:p>
            <a:pPr marL="914400" lvl="2" indent="0">
              <a:buFont typeface="+mj-lt"/>
              <a:buNone/>
            </a:pPr>
            <a:r>
              <a:rPr lang="en-US" dirty="0"/>
              <a:t>+ </a:t>
            </a:r>
            <a:r>
              <a:rPr lang="vi-VN" dirty="0"/>
              <a:t>Gửi tin nhắn từ </a:t>
            </a:r>
            <a:r>
              <a:rPr lang="vi-VN" b="1" dirty="0"/>
              <a:t>A</a:t>
            </a:r>
            <a:r>
              <a:rPr lang="vi-VN" dirty="0"/>
              <a:t> đến </a:t>
            </a:r>
            <a:r>
              <a:rPr lang="vi-VN" b="1" dirty="0"/>
              <a:t>D</a:t>
            </a:r>
            <a:r>
              <a:rPr lang="vi-VN" dirty="0"/>
              <a:t> sẽ phải đi qua liên kết giữa </a:t>
            </a:r>
            <a:r>
              <a:rPr lang="vi-VN" b="1" dirty="0"/>
              <a:t>Ra</a:t>
            </a:r>
            <a:r>
              <a:rPr lang="vi-VN" dirty="0"/>
              <a:t> và </a:t>
            </a:r>
            <a:r>
              <a:rPr lang="vi-VN" b="1" dirty="0"/>
              <a:t>Rb</a:t>
            </a:r>
            <a:r>
              <a:rPr lang="vi-VN" dirty="0"/>
              <a:t> </a:t>
            </a:r>
            <a:r>
              <a:rPr lang="vi-VN" b="1" dirty="0"/>
              <a:t>hai lần</a:t>
            </a:r>
            <a:r>
              <a:rPr lang="vi-VN" dirty="0"/>
              <a:t>.</a:t>
            </a:r>
          </a:p>
          <a:p>
            <a:pPr marL="914400" lvl="2" indent="0">
              <a:buFont typeface="+mj-lt"/>
              <a:buNone/>
            </a:pPr>
            <a:r>
              <a:rPr lang="en-US" dirty="0"/>
              <a:t>+ </a:t>
            </a:r>
            <a:r>
              <a:rPr lang="vi-VN" dirty="0"/>
              <a:t>Điều này làm tăng "stress" trên đường truyền (vì nhiều bản sao gói tin phải đi qua cùng một kết nối vật lý).</a:t>
            </a:r>
          </a:p>
          <a:p>
            <a:pPr>
              <a:buFont typeface="+mj-lt"/>
              <a:buAutoNum type="arabicPeriod"/>
            </a:pPr>
            <a:r>
              <a:rPr lang="vi-VN" b="1" dirty="0"/>
              <a:t>Stretch</a:t>
            </a:r>
            <a:r>
              <a:rPr lang="vi-VN" dirty="0"/>
              <a:t> (độ kéo giãn đường đi):</a:t>
            </a:r>
          </a:p>
          <a:p>
            <a:pPr marL="457200" lvl="1" indent="0">
              <a:buFont typeface="+mj-lt"/>
              <a:buNone/>
            </a:pPr>
            <a:r>
              <a:rPr lang="en-US" dirty="0"/>
              <a:t>- </a:t>
            </a:r>
            <a:r>
              <a:rPr lang="vi-VN" dirty="0"/>
              <a:t>Là </a:t>
            </a:r>
            <a:r>
              <a:rPr lang="vi-VN" b="1" dirty="0"/>
              <a:t>tỷ lệ</a:t>
            </a:r>
            <a:r>
              <a:rPr lang="vi-VN" dirty="0"/>
              <a:t> giữa độ trễ </a:t>
            </a:r>
            <a:r>
              <a:rPr lang="vi-VN" b="1" dirty="0"/>
              <a:t>trên overlay network</a:t>
            </a:r>
            <a:r>
              <a:rPr lang="vi-VN" dirty="0"/>
              <a:t> (mạng lớp ứng dụng) so với </a:t>
            </a:r>
            <a:r>
              <a:rPr lang="vi-VN" b="1" dirty="0"/>
              <a:t>mạng vật lý thực</a:t>
            </a:r>
            <a:r>
              <a:rPr lang="vi-VN" dirty="0"/>
              <a:t>.</a:t>
            </a:r>
          </a:p>
          <a:p>
            <a:pPr marL="457200" lvl="1" indent="0">
              <a:buFont typeface="+mj-lt"/>
              <a:buNone/>
            </a:pPr>
            <a:r>
              <a:rPr lang="en-US" b="1" dirty="0"/>
              <a:t>- </a:t>
            </a:r>
            <a:r>
              <a:rPr lang="vi-VN" b="1" dirty="0"/>
              <a:t>Ví dụ</a:t>
            </a:r>
            <a:r>
              <a:rPr lang="vi-VN" dirty="0"/>
              <a:t>:</a:t>
            </a:r>
          </a:p>
          <a:p>
            <a:pPr marL="914400" lvl="2" indent="0">
              <a:buFont typeface="+mj-lt"/>
              <a:buNone/>
            </a:pPr>
            <a:r>
              <a:rPr lang="en-US" dirty="0"/>
              <a:t>+ </a:t>
            </a:r>
            <a:r>
              <a:rPr lang="vi-VN" dirty="0"/>
              <a:t>Gửi tin nhắn từ </a:t>
            </a:r>
            <a:r>
              <a:rPr lang="vi-VN" b="1" dirty="0"/>
              <a:t>B</a:t>
            </a:r>
            <a:r>
              <a:rPr lang="vi-VN" dirty="0"/>
              <a:t> đến </a:t>
            </a:r>
            <a:r>
              <a:rPr lang="vi-VN" b="1" dirty="0"/>
              <a:t>C</a:t>
            </a:r>
            <a:r>
              <a:rPr lang="vi-VN" dirty="0"/>
              <a:t>:</a:t>
            </a:r>
          </a:p>
          <a:p>
            <a:pPr marL="1371600" lvl="3" indent="0">
              <a:buFont typeface="+mj-lt"/>
              <a:buNone/>
            </a:pPr>
            <a:r>
              <a:rPr lang="en-US" b="1" dirty="0"/>
              <a:t>. </a:t>
            </a:r>
            <a:r>
              <a:rPr lang="vi-VN" b="1" dirty="0"/>
              <a:t>Độ dài đường đi qua overlay</a:t>
            </a:r>
            <a:r>
              <a:rPr lang="vi-VN" dirty="0"/>
              <a:t>: 73 đơn vị (số liệu cộng các đoạn).</a:t>
            </a:r>
          </a:p>
          <a:p>
            <a:pPr marL="1371600" lvl="3" indent="0">
              <a:buFont typeface="+mj-lt"/>
              <a:buNone/>
            </a:pPr>
            <a:r>
              <a:rPr lang="en-US" b="1" dirty="0"/>
              <a:t>. </a:t>
            </a:r>
            <a:r>
              <a:rPr lang="vi-VN" b="1" dirty="0"/>
              <a:t>Độ dài đường đi trên mạng vật lý</a:t>
            </a:r>
            <a:r>
              <a:rPr lang="vi-VN" dirty="0"/>
              <a:t>: 47 đơn vị.</a:t>
            </a:r>
          </a:p>
          <a:p>
            <a:pPr marL="1371600" lvl="3" indent="0">
              <a:buFont typeface="+mj-lt"/>
              <a:buNone/>
            </a:pPr>
            <a:r>
              <a:rPr lang="en-US" dirty="0"/>
              <a:t>. =&gt;</a:t>
            </a:r>
            <a:r>
              <a:rPr lang="vi-VN" dirty="0"/>
              <a:t> </a:t>
            </a:r>
            <a:r>
              <a:rPr lang="vi-VN" b="1" dirty="0"/>
              <a:t>Stretch = 73/47 ≈ 1.55</a:t>
            </a:r>
            <a:r>
              <a:rPr lang="vi-VN" dirty="0"/>
              <a:t>.</a:t>
            </a:r>
          </a:p>
          <a:p>
            <a:pPr marL="457200" lvl="1" indent="0">
              <a:buFont typeface="+mj-lt"/>
              <a:buNone/>
            </a:pPr>
            <a:r>
              <a:rPr lang="en-US" dirty="0"/>
              <a:t>- </a:t>
            </a:r>
            <a:r>
              <a:rPr lang="vi-VN" dirty="0"/>
              <a:t>Stretch &gt; 1 nghĩa là gói tin đi xa hơn (hoặc lâu hơn) so với đường đi trực tiếp.</a:t>
            </a:r>
          </a:p>
          <a:p>
            <a:endParaRPr lang="en-US" b="1" dirty="0"/>
          </a:p>
          <a:p>
            <a:r>
              <a:rPr lang="vi-VN" b="1" dirty="0"/>
              <a:t>Giải thích hình minh họa</a:t>
            </a:r>
            <a:r>
              <a:rPr lang="vi-VN" dirty="0"/>
              <a:t>:</a:t>
            </a:r>
          </a:p>
          <a:p>
            <a:pPr>
              <a:buFont typeface="Arial" panose="020B0604020202020204" pitchFamily="34" charset="0"/>
              <a:buChar char="•"/>
            </a:pPr>
            <a:r>
              <a:rPr lang="vi-VN" b="1" dirty="0"/>
              <a:t>A, B, C, D</a:t>
            </a:r>
            <a:r>
              <a:rPr lang="vi-VN" dirty="0"/>
              <a:t>: Các máy chủ đầu cuối (end hosts).</a:t>
            </a:r>
          </a:p>
          <a:p>
            <a:pPr>
              <a:buFont typeface="Arial" panose="020B0604020202020204" pitchFamily="34" charset="0"/>
              <a:buChar char="•"/>
            </a:pPr>
            <a:r>
              <a:rPr lang="vi-VN" b="1" dirty="0"/>
              <a:t>Ra, Rb, Rc, Rd, Re</a:t>
            </a:r>
            <a:r>
              <a:rPr lang="vi-VN" dirty="0"/>
              <a:t>: Các router trung gian (node trong overlay network).</a:t>
            </a:r>
          </a:p>
          <a:p>
            <a:pPr>
              <a:buFont typeface="Arial" panose="020B0604020202020204" pitchFamily="34" charset="0"/>
              <a:buChar char="•"/>
            </a:pPr>
            <a:r>
              <a:rPr lang="vi-VN" dirty="0"/>
              <a:t>Các </a:t>
            </a:r>
            <a:r>
              <a:rPr lang="vi-VN" b="1" dirty="0"/>
              <a:t>đường đậm</a:t>
            </a:r>
            <a:r>
              <a:rPr lang="vi-VN" dirty="0"/>
              <a:t>: Chính là </a:t>
            </a:r>
            <a:r>
              <a:rPr lang="vi-VN" b="1" dirty="0"/>
              <a:t>overlay network</a:t>
            </a:r>
            <a:r>
              <a:rPr lang="vi-VN" dirty="0"/>
              <a:t> – nơi các node giao tiếp với nhau theo cấp ứng dụng (không trực tiếp dùng đường vật lý).</a:t>
            </a:r>
          </a:p>
          <a:p>
            <a:pPr>
              <a:buFont typeface="Arial" panose="020B0604020202020204" pitchFamily="34" charset="0"/>
              <a:buChar char="•"/>
            </a:pPr>
            <a:r>
              <a:rPr lang="vi-VN" dirty="0"/>
              <a:t>Các </a:t>
            </a:r>
            <a:r>
              <a:rPr lang="vi-VN" b="1" dirty="0"/>
              <a:t>số cạnh</a:t>
            </a:r>
            <a:r>
              <a:rPr lang="vi-VN" dirty="0"/>
              <a:t> (ví dụ: 1, 7, 30...) là </a:t>
            </a:r>
            <a:r>
              <a:rPr lang="vi-VN" b="1" dirty="0"/>
              <a:t>cost</a:t>
            </a:r>
            <a:r>
              <a:rPr lang="vi-VN" dirty="0"/>
              <a:t> hoặc </a:t>
            </a:r>
            <a:r>
              <a:rPr lang="vi-VN" b="1" dirty="0"/>
              <a:t>độ trễ</a:t>
            </a:r>
            <a:r>
              <a:rPr lang="vi-VN" dirty="0"/>
              <a:t> của từng liên kết vật lý.</a:t>
            </a:r>
          </a:p>
          <a:p>
            <a:pPr>
              <a:buFont typeface="Arial" panose="020B0604020202020204" pitchFamily="34" charset="0"/>
              <a:buChar char="•"/>
            </a:pPr>
            <a:r>
              <a:rPr lang="vi-VN" dirty="0"/>
              <a:t>Các </a:t>
            </a:r>
            <a:r>
              <a:rPr lang="vi-VN" b="1" dirty="0"/>
              <a:t>đường chấm</a:t>
            </a:r>
            <a:r>
              <a:rPr lang="vi-VN" dirty="0"/>
              <a:t> là đường vật lý trong Internet thực tế.</a:t>
            </a:r>
          </a:p>
          <a:p>
            <a:endParaRPr lang="en-US" b="1" dirty="0"/>
          </a:p>
          <a:p>
            <a:r>
              <a:rPr lang="vi-VN" b="1" dirty="0"/>
              <a:t>Tóm lại</a:t>
            </a:r>
            <a:r>
              <a:rPr lang="vi-VN" dirty="0"/>
              <a:t>:</a:t>
            </a:r>
          </a:p>
          <a:p>
            <a:pPr>
              <a:buFont typeface="Arial" panose="020B0604020202020204" pitchFamily="34" charset="0"/>
              <a:buChar char="•"/>
            </a:pPr>
            <a:r>
              <a:rPr lang="vi-VN" b="1" dirty="0"/>
              <a:t>Link stress</a:t>
            </a:r>
            <a:r>
              <a:rPr lang="vi-VN" dirty="0"/>
              <a:t> đo sự </a:t>
            </a:r>
            <a:r>
              <a:rPr lang="vi-VN" b="1" dirty="0"/>
              <a:t>lặp lại</a:t>
            </a:r>
            <a:r>
              <a:rPr lang="vi-VN" dirty="0"/>
              <a:t> của gói tin trên các đường vật lý.</a:t>
            </a:r>
          </a:p>
          <a:p>
            <a:pPr>
              <a:buFont typeface="Arial" panose="020B0604020202020204" pitchFamily="34" charset="0"/>
              <a:buChar char="•"/>
            </a:pPr>
            <a:r>
              <a:rPr lang="vi-VN" b="1" dirty="0"/>
              <a:t>Stretch</a:t>
            </a:r>
            <a:r>
              <a:rPr lang="vi-VN" dirty="0"/>
              <a:t> đo mức độ </a:t>
            </a:r>
            <a:r>
              <a:rPr lang="vi-VN" b="1" dirty="0"/>
              <a:t>kém hiệu quả</a:t>
            </a:r>
            <a:r>
              <a:rPr lang="vi-VN" dirty="0"/>
              <a:t> về độ trễ khi dùng overlay so với đường ngắn nhất vật lý.</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42</a:t>
            </a:fld>
            <a:endParaRPr lang="en-US"/>
          </a:p>
        </p:txBody>
      </p:sp>
    </p:spTree>
    <p:extLst>
      <p:ext uri="{BB962C8B-B14F-4D97-AF65-F5344CB8AC3E}">
        <p14:creationId xmlns:p14="http://schemas.microsoft.com/office/powerpoint/2010/main" val="39717300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43</a:t>
            </a:fld>
            <a:endParaRPr lang="en-US"/>
          </a:p>
        </p:txBody>
      </p:sp>
    </p:spTree>
    <p:extLst>
      <p:ext uri="{BB962C8B-B14F-4D97-AF65-F5344CB8AC3E}">
        <p14:creationId xmlns:p14="http://schemas.microsoft.com/office/powerpoint/2010/main" val="6556066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"Flooding"</a:t>
            </a:r>
          </a:p>
          <a:p>
            <a:endParaRPr lang="en-US" b="1" dirty="0"/>
          </a:p>
          <a:p>
            <a:r>
              <a:rPr lang="vi-VN" b="1" dirty="0"/>
              <a:t>Flooding</a:t>
            </a:r>
            <a:r>
              <a:rPr lang="vi-VN" dirty="0"/>
              <a:t> trong mạng overlay nghĩa là:</a:t>
            </a:r>
          </a:p>
          <a:p>
            <a:pPr>
              <a:buFont typeface="Arial" panose="020B0604020202020204" pitchFamily="34" charset="0"/>
              <a:buChar char="•"/>
            </a:pPr>
            <a:r>
              <a:rPr lang="vi-VN" dirty="0"/>
              <a:t>Khi một node </a:t>
            </a:r>
            <a:r>
              <a:rPr lang="vi-VN" b="1" dirty="0"/>
              <a:t>P</a:t>
            </a:r>
            <a:r>
              <a:rPr lang="vi-VN" dirty="0"/>
              <a:t> nhận được một thông điệp </a:t>
            </a:r>
            <a:r>
              <a:rPr lang="vi-VN" b="1" dirty="0"/>
              <a:t>m</a:t>
            </a:r>
            <a:r>
              <a:rPr lang="vi-VN" dirty="0"/>
              <a:t>, </a:t>
            </a:r>
            <a:r>
              <a:rPr lang="vi-VN" b="1" dirty="0"/>
              <a:t>P sẽ gửi m cho tất cả các neighbor</a:t>
            </a:r>
            <a:r>
              <a:rPr lang="vi-VN" dirty="0"/>
              <a:t> (các nút lân cận của P).</a:t>
            </a:r>
          </a:p>
          <a:p>
            <a:pPr>
              <a:buFont typeface="Arial" panose="020B0604020202020204" pitchFamily="34" charset="0"/>
              <a:buChar char="•"/>
            </a:pPr>
            <a:r>
              <a:rPr lang="vi-VN" dirty="0"/>
              <a:t>Mỗi neighbor khi nhận được </a:t>
            </a:r>
            <a:r>
              <a:rPr lang="vi-VN" b="1" dirty="0"/>
              <a:t>m</a:t>
            </a:r>
            <a:r>
              <a:rPr lang="vi-VN" dirty="0"/>
              <a:t> sẽ:</a:t>
            </a:r>
          </a:p>
          <a:p>
            <a:pPr marL="742950" lvl="1" indent="-285750">
              <a:buFont typeface="Arial" panose="020B0604020202020204" pitchFamily="34" charset="0"/>
              <a:buChar char="•"/>
            </a:pPr>
            <a:r>
              <a:rPr lang="vi-VN" dirty="0"/>
              <a:t>Tiếp tục </a:t>
            </a:r>
            <a:r>
              <a:rPr lang="vi-VN" b="1" dirty="0"/>
              <a:t>forward</a:t>
            </a:r>
            <a:r>
              <a:rPr lang="vi-VN" dirty="0"/>
              <a:t> (chuyển tiếp) thông điệp cho </a:t>
            </a:r>
            <a:r>
              <a:rPr lang="vi-VN" b="1" dirty="0"/>
              <a:t>các neighbor khác</a:t>
            </a:r>
            <a:r>
              <a:rPr lang="vi-VN" dirty="0"/>
              <a:t>, </a:t>
            </a:r>
            <a:r>
              <a:rPr lang="vi-VN" b="1" dirty="0"/>
              <a:t>trừ</a:t>
            </a:r>
            <a:r>
              <a:rPr lang="vi-VN" dirty="0"/>
              <a:t> node đã gửi cho nó.</a:t>
            </a:r>
          </a:p>
          <a:p>
            <a:pPr marL="742950" lvl="1" indent="-285750">
              <a:buFont typeface="Arial" panose="020B0604020202020204" pitchFamily="34" charset="0"/>
              <a:buChar char="•"/>
            </a:pPr>
            <a:r>
              <a:rPr lang="vi-VN" b="1" dirty="0"/>
              <a:t>Chỉ forward nếu nó chưa từng nhận được thông điệp đó trước đây</a:t>
            </a:r>
            <a:r>
              <a:rPr lang="vi-VN" dirty="0"/>
              <a:t> (để tránh vòng lặp vô hạn).</a:t>
            </a:r>
          </a:p>
          <a:p>
            <a:endParaRPr lang="en-US" b="1" dirty="0"/>
          </a:p>
          <a:p>
            <a:r>
              <a:rPr lang="vi-VN" b="1" dirty="0"/>
              <a:t>Ý chính</a:t>
            </a:r>
            <a:r>
              <a:rPr lang="vi-VN" dirty="0"/>
              <a:t>:</a:t>
            </a:r>
          </a:p>
          <a:p>
            <a:pPr>
              <a:buFont typeface="Arial" panose="020B0604020202020204" pitchFamily="34" charset="0"/>
              <a:buChar char="•"/>
            </a:pPr>
            <a:r>
              <a:rPr lang="vi-VN" dirty="0"/>
              <a:t>Flooding </a:t>
            </a:r>
            <a:r>
              <a:rPr lang="vi-VN" b="1" dirty="0"/>
              <a:t>rất đơn giản</a:t>
            </a:r>
            <a:r>
              <a:rPr lang="vi-VN" dirty="0"/>
              <a:t> (không cần routing phức tạp).</a:t>
            </a:r>
          </a:p>
          <a:p>
            <a:pPr>
              <a:buFont typeface="Arial" panose="020B0604020202020204" pitchFamily="34" charset="0"/>
              <a:buChar char="•"/>
            </a:pPr>
            <a:r>
              <a:rPr lang="vi-VN" b="1" dirty="0"/>
              <a:t>Nhưng</a:t>
            </a:r>
            <a:r>
              <a:rPr lang="vi-VN" dirty="0"/>
              <a:t>: Nếu overlay có </a:t>
            </a:r>
            <a:r>
              <a:rPr lang="vi-VN" b="1" dirty="0"/>
              <a:t>nhiều liên kết (edges)</a:t>
            </a:r>
            <a:r>
              <a:rPr lang="vi-VN" dirty="0"/>
              <a:t> thì flooding sẽ </a:t>
            </a:r>
            <a:r>
              <a:rPr lang="vi-VN" b="1" dirty="0"/>
              <a:t>tốn nhiều tài nguyên</a:t>
            </a:r>
            <a:r>
              <a:rPr lang="vi-VN" dirty="0"/>
              <a:t> hơn, vì mỗi thông điệp phải </a:t>
            </a:r>
            <a:r>
              <a:rPr lang="vi-VN" b="1" dirty="0"/>
              <a:t>đi qua nhiều cạnh hơn</a:t>
            </a:r>
            <a:r>
              <a:rPr lang="vi-VN" dirty="0"/>
              <a:t>.</a:t>
            </a:r>
          </a:p>
          <a:p>
            <a:endParaRPr lang="en-US" b="1" dirty="0"/>
          </a:p>
          <a:p>
            <a:r>
              <a:rPr lang="vi-VN" b="1" dirty="0"/>
              <a:t>Biểu đồ</a:t>
            </a:r>
          </a:p>
          <a:p>
            <a:r>
              <a:rPr lang="vi-VN" dirty="0"/>
              <a:t>Biểu đồ cho thấy:</a:t>
            </a:r>
          </a:p>
          <a:p>
            <a:pPr>
              <a:buFont typeface="Arial" panose="020B0604020202020204" pitchFamily="34" charset="0"/>
              <a:buChar char="•"/>
            </a:pPr>
            <a:r>
              <a:rPr lang="vi-VN" b="1" dirty="0"/>
              <a:t>Trục X</a:t>
            </a:r>
            <a:r>
              <a:rPr lang="vi-VN" dirty="0"/>
              <a:t>: Số lượng node trong mạng (từ 100 đến 1000 node).</a:t>
            </a:r>
          </a:p>
          <a:p>
            <a:pPr>
              <a:buFont typeface="Arial" panose="020B0604020202020204" pitchFamily="34" charset="0"/>
              <a:buChar char="•"/>
            </a:pPr>
            <a:r>
              <a:rPr lang="vi-VN" b="1" dirty="0"/>
              <a:t>Trục Y</a:t>
            </a:r>
            <a:r>
              <a:rPr lang="vi-VN" dirty="0"/>
              <a:t>: Số lượng cạnh (edges) trong overlay (tính theo nghìn – ×1000).</a:t>
            </a:r>
          </a:p>
          <a:p>
            <a:pPr>
              <a:buFont typeface="Arial" panose="020B0604020202020204" pitchFamily="34" charset="0"/>
              <a:buChar char="•"/>
            </a:pPr>
            <a:r>
              <a:rPr lang="vi-VN" dirty="0"/>
              <a:t>Có </a:t>
            </a:r>
            <a:r>
              <a:rPr lang="vi-VN" b="1" dirty="0"/>
              <a:t>ba đường cong</a:t>
            </a:r>
            <a:r>
              <a:rPr lang="vi-VN" dirty="0"/>
              <a:t>, ứng với ba xác suất tồn tại cạnh giữa 2 node bất kỳ (</a:t>
            </a:r>
            <a:r>
              <a:rPr lang="vi-VN" b="1" dirty="0"/>
              <a:t>p_edge</a:t>
            </a:r>
            <a:r>
              <a:rPr lang="vi-VN" dirty="0"/>
              <a:t>):</a:t>
            </a:r>
          </a:p>
          <a:p>
            <a:pPr marL="742950" lvl="1" indent="-285750">
              <a:buFont typeface="Arial" panose="020B0604020202020204" pitchFamily="34" charset="0"/>
              <a:buChar char="•"/>
            </a:pPr>
            <a:r>
              <a:rPr lang="vi-VN" b="1" dirty="0"/>
              <a:t>p_edge = 0.6</a:t>
            </a:r>
            <a:r>
              <a:rPr lang="vi-VN" dirty="0"/>
              <a:t> (mật độ mạng cao)</a:t>
            </a:r>
          </a:p>
          <a:p>
            <a:pPr marL="742950" lvl="1" indent="-285750">
              <a:buFont typeface="Arial" panose="020B0604020202020204" pitchFamily="34" charset="0"/>
              <a:buChar char="•"/>
            </a:pPr>
            <a:r>
              <a:rPr lang="vi-VN" b="1" dirty="0"/>
              <a:t>p_edge = 0.4</a:t>
            </a:r>
            <a:r>
              <a:rPr lang="vi-VN" dirty="0"/>
              <a:t> (mật độ trung bình)</a:t>
            </a:r>
          </a:p>
          <a:p>
            <a:pPr marL="742950" lvl="1" indent="-285750">
              <a:buFont typeface="Arial" panose="020B0604020202020204" pitchFamily="34" charset="0"/>
              <a:buChar char="•"/>
            </a:pPr>
            <a:r>
              <a:rPr lang="vi-VN" b="1" dirty="0"/>
              <a:t>p_edge = 0.2</a:t>
            </a:r>
            <a:r>
              <a:rPr lang="vi-VN" dirty="0"/>
              <a:t> (mật độ thấp)</a:t>
            </a:r>
          </a:p>
          <a:p>
            <a:endParaRPr lang="en-US" b="1" dirty="0"/>
          </a:p>
          <a:p>
            <a:r>
              <a:rPr lang="vi-VN" b="1" dirty="0"/>
              <a:t>Ý nghĩa</a:t>
            </a:r>
            <a:r>
              <a:rPr lang="vi-VN" dirty="0"/>
              <a:t>:</a:t>
            </a:r>
          </a:p>
          <a:p>
            <a:pPr>
              <a:buFont typeface="Arial" panose="020B0604020202020204" pitchFamily="34" charset="0"/>
              <a:buChar char="•"/>
            </a:pPr>
            <a:r>
              <a:rPr lang="vi-VN" dirty="0"/>
              <a:t>Khi </a:t>
            </a:r>
            <a:r>
              <a:rPr lang="vi-VN" b="1" dirty="0"/>
              <a:t>số lượng node tăng lên</a:t>
            </a:r>
            <a:r>
              <a:rPr lang="vi-VN" dirty="0"/>
              <a:t>, số lượng cạnh trong overlay cũng </a:t>
            </a:r>
            <a:r>
              <a:rPr lang="vi-VN" b="1" dirty="0"/>
              <a:t>tăng mạnh</a:t>
            </a:r>
            <a:r>
              <a:rPr lang="vi-VN" dirty="0"/>
              <a:t> (nhanh hơn tuyến tính – dạng bậc hai).</a:t>
            </a:r>
          </a:p>
          <a:p>
            <a:pPr>
              <a:buFont typeface="Arial" panose="020B0604020202020204" pitchFamily="34" charset="0"/>
              <a:buChar char="•"/>
            </a:pPr>
            <a:r>
              <a:rPr lang="vi-VN" dirty="0"/>
              <a:t>Với </a:t>
            </a:r>
            <a:r>
              <a:rPr lang="vi-VN" b="1" dirty="0"/>
              <a:t>p_edge cao</a:t>
            </a:r>
            <a:r>
              <a:rPr lang="vi-VN" dirty="0"/>
              <a:t> (ví dụ 0.6), overlay sẽ có </a:t>
            </a:r>
            <a:r>
              <a:rPr lang="vi-VN" b="1" dirty="0"/>
              <a:t>nhiều cạnh hơn</a:t>
            </a:r>
            <a:r>
              <a:rPr lang="vi-VN" dirty="0"/>
              <a:t> → flooding </a:t>
            </a:r>
            <a:r>
              <a:rPr lang="vi-VN" b="1" dirty="0"/>
              <a:t>càng tốn nhiều thông điệp hơn</a:t>
            </a:r>
            <a:r>
              <a:rPr lang="vi-VN" dirty="0"/>
              <a:t>.</a:t>
            </a:r>
          </a:p>
          <a:p>
            <a:pPr>
              <a:buFont typeface="Arial" panose="020B0604020202020204" pitchFamily="34" charset="0"/>
              <a:buChar char="•"/>
            </a:pPr>
            <a:r>
              <a:rPr lang="vi-VN" dirty="0"/>
              <a:t>Với </a:t>
            </a:r>
            <a:r>
              <a:rPr lang="vi-VN" b="1" dirty="0"/>
              <a:t>p_edge thấp</a:t>
            </a:r>
            <a:r>
              <a:rPr lang="vi-VN" dirty="0"/>
              <a:t> (ví dụ 0.2), overlay </a:t>
            </a:r>
            <a:r>
              <a:rPr lang="vi-VN" b="1" dirty="0"/>
              <a:t>thưa hơn</a:t>
            </a:r>
            <a:r>
              <a:rPr lang="vi-VN" dirty="0"/>
              <a:t>, flooding </a:t>
            </a:r>
            <a:r>
              <a:rPr lang="vi-VN" b="1" dirty="0"/>
              <a:t>ít tốn hơn</a:t>
            </a:r>
            <a:r>
              <a:rPr lang="vi-VN" dirty="0"/>
              <a:t>, nhưng </a:t>
            </a:r>
            <a:r>
              <a:rPr lang="vi-VN" b="1" dirty="0"/>
              <a:t>khả năng phủ sóng</a:t>
            </a:r>
            <a:r>
              <a:rPr lang="vi-VN" dirty="0"/>
              <a:t> (reachability) cũng thấp hơn.</a:t>
            </a:r>
          </a:p>
          <a:p>
            <a:endParaRPr lang="en-US" b="1" dirty="0"/>
          </a:p>
          <a:p>
            <a:r>
              <a:rPr lang="vi-VN" b="1" dirty="0"/>
              <a:t>Tóm tắt:</a:t>
            </a:r>
          </a:p>
          <a:p>
            <a:pPr>
              <a:buFont typeface="Arial" panose="020B0604020202020204" pitchFamily="34" charset="0"/>
              <a:buChar char="•"/>
            </a:pPr>
            <a:r>
              <a:rPr lang="vi-VN" dirty="0"/>
              <a:t>Flooding dễ triển khai, nhưng </a:t>
            </a:r>
            <a:r>
              <a:rPr lang="vi-VN" b="1" dirty="0"/>
              <a:t>cực kỳ tốn băng thông</a:t>
            </a:r>
            <a:r>
              <a:rPr lang="vi-VN" dirty="0"/>
              <a:t> nếu mạng overlay có nhiều cạnh.</a:t>
            </a:r>
          </a:p>
          <a:p>
            <a:pPr>
              <a:buFont typeface="Arial" panose="020B0604020202020204" pitchFamily="34" charset="0"/>
              <a:buChar char="•"/>
            </a:pPr>
            <a:r>
              <a:rPr lang="vi-VN" dirty="0"/>
              <a:t>Số lượng cạnh phụ thuộc vào xác suất </a:t>
            </a:r>
            <a:r>
              <a:rPr lang="vi-VN" b="1" dirty="0"/>
              <a:t>p_edge</a:t>
            </a:r>
            <a:r>
              <a:rPr lang="vi-VN" dirty="0"/>
              <a:t>: càng cao thì mạng càng "đậm đặc", càng tốn chi phí khi flooding.</a:t>
            </a:r>
          </a:p>
          <a:p>
            <a:endParaRPr lang="en-US" dirty="0"/>
          </a:p>
          <a:p>
            <a:r>
              <a:rPr lang="vi-VN" b="1" dirty="0"/>
              <a:t>Biến thể (Variation)</a:t>
            </a:r>
          </a:p>
          <a:p>
            <a:r>
              <a:rPr lang="vi-VN" dirty="0"/>
              <a:t>Để giảm chi phí của flooding, có một </a:t>
            </a:r>
            <a:r>
              <a:rPr lang="vi-VN" b="1" dirty="0"/>
              <a:t>biến thể</a:t>
            </a:r>
            <a:r>
              <a:rPr lang="vi-VN" dirty="0"/>
              <a:t>:</a:t>
            </a:r>
          </a:p>
          <a:p>
            <a:pPr>
              <a:buFont typeface="Arial" panose="020B0604020202020204" pitchFamily="34" charset="0"/>
              <a:buChar char="•"/>
            </a:pPr>
            <a:r>
              <a:rPr lang="vi-VN" b="1" dirty="0"/>
              <a:t>Node Q</a:t>
            </a:r>
            <a:r>
              <a:rPr lang="vi-VN" dirty="0"/>
              <a:t> (nhận được thông điệp) </a:t>
            </a:r>
            <a:r>
              <a:rPr lang="vi-VN" b="1" dirty="0"/>
              <a:t>chỉ forward message với xác suất p_flood nhất định</a:t>
            </a:r>
            <a:r>
              <a:rPr lang="vi-VN" dirty="0"/>
              <a:t>, thay vì luôn forward.</a:t>
            </a:r>
          </a:p>
          <a:p>
            <a:pPr>
              <a:buFont typeface="Arial" panose="020B0604020202020204" pitchFamily="34" charset="0"/>
              <a:buChar char="•"/>
            </a:pPr>
            <a:r>
              <a:rPr lang="vi-VN" b="1" dirty="0"/>
              <a:t>p_flood</a:t>
            </a:r>
            <a:r>
              <a:rPr lang="vi-VN" dirty="0"/>
              <a:t> có thể:</a:t>
            </a:r>
          </a:p>
          <a:p>
            <a:pPr marL="742950" lvl="1" indent="-285750">
              <a:buFont typeface="Arial" panose="020B0604020202020204" pitchFamily="34" charset="0"/>
              <a:buChar char="•"/>
            </a:pPr>
            <a:r>
              <a:rPr lang="vi-VN" dirty="0"/>
              <a:t>Là </a:t>
            </a:r>
            <a:r>
              <a:rPr lang="vi-VN" b="1" dirty="0"/>
              <a:t>một giá trị cố định</a:t>
            </a:r>
            <a:r>
              <a:rPr lang="vi-VN" dirty="0"/>
              <a:t> (ví dụ, luôn forward với xác suất 0.5).</a:t>
            </a:r>
          </a:p>
          <a:p>
            <a:pPr marL="742950" lvl="1" indent="-285750">
              <a:buFont typeface="Arial" panose="020B0604020202020204" pitchFamily="34" charset="0"/>
              <a:buChar char="•"/>
            </a:pPr>
            <a:r>
              <a:rPr lang="vi-VN" b="1" dirty="0"/>
              <a:t>Phụ thuộc vào node degree</a:t>
            </a:r>
            <a:r>
              <a:rPr lang="vi-VN" dirty="0"/>
              <a:t>: node có nhiều neighbors thì có thể chọn </a:t>
            </a:r>
            <a:r>
              <a:rPr lang="vi-VN" b="1" dirty="0"/>
              <a:t>p_flood thấp hơn</a:t>
            </a:r>
            <a:r>
              <a:rPr lang="vi-VN" dirty="0"/>
              <a:t>, vì nhiều đường đi dự phòng.</a:t>
            </a:r>
          </a:p>
          <a:p>
            <a:pPr marL="742950" lvl="1" indent="-285750">
              <a:buFont typeface="Arial" panose="020B0604020202020204" pitchFamily="34" charset="0"/>
              <a:buChar char="•"/>
            </a:pPr>
            <a:r>
              <a:rPr lang="vi-VN" b="1" dirty="0"/>
              <a:t>Phụ thuộc vào degree của neighbor</a:t>
            </a:r>
            <a:r>
              <a:rPr lang="vi-VN" dirty="0"/>
              <a:t>: nếu neighbor có nhiều neighbors, mình có thể forward ít hơn, vì neighbor đó cũng có thể cover các khu vực khác.</a:t>
            </a:r>
          </a:p>
          <a:p>
            <a:r>
              <a:rPr lang="vi-VN" b="1" dirty="0"/>
              <a:t>Ý tưởng chính</a:t>
            </a:r>
            <a:r>
              <a:rPr lang="vi-VN" dirty="0"/>
              <a:t>: </a:t>
            </a:r>
            <a:r>
              <a:rPr lang="vi-VN" b="1" dirty="0"/>
              <a:t>Tiết kiệm tài nguyên</a:t>
            </a:r>
            <a:r>
              <a:rPr lang="vi-VN" dirty="0"/>
              <a:t> bằng cách </a:t>
            </a:r>
            <a:r>
              <a:rPr lang="vi-VN" b="1" dirty="0"/>
              <a:t>giảm số lần forward</a:t>
            </a:r>
            <a:r>
              <a:rPr lang="vi-VN" dirty="0"/>
              <a:t>, nhưng vẫn cố gắng giữ độ phủ</a:t>
            </a:r>
          </a:p>
          <a:p>
            <a:endParaRPr lang="en-US" dirty="0"/>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44</a:t>
            </a:fld>
            <a:endParaRPr lang="en-US"/>
          </a:p>
        </p:txBody>
      </p:sp>
    </p:spTree>
    <p:extLst>
      <p:ext uri="{BB962C8B-B14F-4D97-AF65-F5344CB8AC3E}">
        <p14:creationId xmlns:p14="http://schemas.microsoft.com/office/powerpoint/2010/main" val="28454631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Epidemic protocols – Giao thức lan truyền kiểu dịch bệnh</a:t>
            </a:r>
          </a:p>
          <a:p>
            <a:endParaRPr lang="en-US" b="1" dirty="0"/>
          </a:p>
          <a:p>
            <a:r>
              <a:rPr lang="vi-VN" b="1" dirty="0"/>
              <a:t>Ý tưởng chung</a:t>
            </a:r>
            <a:r>
              <a:rPr lang="vi-VN" dirty="0"/>
              <a:t>:</a:t>
            </a:r>
          </a:p>
          <a:p>
            <a:pPr>
              <a:buFont typeface="Arial" panose="020B0604020202020204" pitchFamily="34" charset="0"/>
              <a:buChar char="•"/>
            </a:pPr>
            <a:r>
              <a:rPr lang="vi-VN" b="1" dirty="0"/>
              <a:t>Truyền dữ liệu cập nhật</a:t>
            </a:r>
            <a:r>
              <a:rPr lang="vi-VN" dirty="0"/>
              <a:t> trong hệ thống </a:t>
            </a:r>
            <a:r>
              <a:rPr lang="vi-VN" b="1" dirty="0"/>
              <a:t>giống như cách bệnh dịch lan truyền</a:t>
            </a:r>
            <a:r>
              <a:rPr lang="vi-VN" dirty="0"/>
              <a:t>: từng bước, từ một vài node sang các node khác, cho tới khi cả hệ thống đều "lây nhiễm" (cùng cập nhật).</a:t>
            </a:r>
          </a:p>
          <a:p>
            <a:endParaRPr lang="en-US" b="1" dirty="0"/>
          </a:p>
          <a:p>
            <a:r>
              <a:rPr lang="vi-VN" b="1" dirty="0"/>
              <a:t>Giả định ban đầu</a:t>
            </a:r>
          </a:p>
          <a:p>
            <a:pPr>
              <a:buFont typeface="Arial" panose="020B0604020202020204" pitchFamily="34" charset="0"/>
              <a:buChar char="•"/>
            </a:pPr>
            <a:r>
              <a:rPr lang="vi-VN" b="1" dirty="0"/>
              <a:t>Không có xung đột ghi–ghi</a:t>
            </a:r>
            <a:r>
              <a:rPr lang="vi-VN" dirty="0"/>
              <a:t> (write-write conflict):</a:t>
            </a:r>
            <a:br>
              <a:rPr lang="vi-VN" dirty="0"/>
            </a:br>
            <a:r>
              <a:rPr lang="vi-VN" dirty="0"/>
              <a:t>→ Chỉ có </a:t>
            </a:r>
            <a:r>
              <a:rPr lang="vi-VN" b="1" dirty="0"/>
              <a:t>1 server thực hiện việc update</a:t>
            </a:r>
            <a:r>
              <a:rPr lang="vi-VN" dirty="0"/>
              <a:t> (nên các bản cập nhật không bị "đụng nhau").</a:t>
            </a:r>
          </a:p>
          <a:p>
            <a:pPr>
              <a:buFont typeface="Arial" panose="020B0604020202020204" pitchFamily="34" charset="0"/>
              <a:buChar char="•"/>
            </a:pPr>
            <a:r>
              <a:rPr lang="vi-VN" b="1" dirty="0"/>
              <a:t>Quá trình cập nhật diễn ra như sau</a:t>
            </a:r>
            <a:r>
              <a:rPr lang="vi-VN" dirty="0"/>
              <a:t>:</a:t>
            </a:r>
          </a:p>
          <a:p>
            <a:pPr marL="742950" lvl="1" indent="-285750">
              <a:buFont typeface="Arial" panose="020B0604020202020204" pitchFamily="34" charset="0"/>
              <a:buChar char="•"/>
            </a:pPr>
            <a:r>
              <a:rPr lang="vi-VN" b="1" dirty="0"/>
              <a:t>Một replica</a:t>
            </a:r>
            <a:r>
              <a:rPr lang="vi-VN" dirty="0"/>
              <a:t> (bản sao) </a:t>
            </a:r>
            <a:r>
              <a:rPr lang="vi-VN" b="1" dirty="0"/>
              <a:t>cập nhật trạng thái</a:t>
            </a:r>
            <a:r>
              <a:rPr lang="vi-VN" dirty="0"/>
              <a:t>.</a:t>
            </a:r>
          </a:p>
          <a:p>
            <a:pPr marL="742950" lvl="1" indent="-285750">
              <a:buFont typeface="Arial" panose="020B0604020202020204" pitchFamily="34" charset="0"/>
              <a:buChar char="•"/>
            </a:pPr>
            <a:r>
              <a:rPr lang="vi-VN" dirty="0"/>
              <a:t>Replica đó </a:t>
            </a:r>
            <a:r>
              <a:rPr lang="vi-VN" b="1" dirty="0"/>
              <a:t>chỉ truyền cập nhật cho một vài hàng xóm</a:t>
            </a:r>
            <a:r>
              <a:rPr lang="vi-VN" dirty="0"/>
              <a:t> (không gửi toàn mạng).</a:t>
            </a:r>
          </a:p>
          <a:p>
            <a:pPr marL="742950" lvl="1" indent="-285750">
              <a:buFont typeface="Arial" panose="020B0604020202020204" pitchFamily="34" charset="0"/>
              <a:buChar char="•"/>
            </a:pPr>
            <a:r>
              <a:rPr lang="vi-VN" b="1" dirty="0"/>
              <a:t>Propagation (lan truyền) là "lười biếng"</a:t>
            </a:r>
            <a:r>
              <a:rPr lang="vi-VN" dirty="0"/>
              <a:t>:</a:t>
            </a:r>
            <a:br>
              <a:rPr lang="vi-VN" dirty="0"/>
            </a:br>
            <a:r>
              <a:rPr lang="vi-VN" dirty="0"/>
              <a:t>→ Không ngay lập tức, </a:t>
            </a:r>
            <a:r>
              <a:rPr lang="vi-VN" b="1" dirty="0"/>
              <a:t>mà dần dần theo thời gian</a:t>
            </a:r>
            <a:r>
              <a:rPr lang="vi-VN" dirty="0"/>
              <a:t>.</a:t>
            </a:r>
          </a:p>
          <a:p>
            <a:pPr marL="742950" lvl="1" indent="-285750">
              <a:buFont typeface="Arial" panose="020B0604020202020204" pitchFamily="34" charset="0"/>
              <a:buChar char="•"/>
            </a:pPr>
            <a:r>
              <a:rPr lang="vi-VN" b="1" dirty="0"/>
              <a:t>Kỳ vọng</a:t>
            </a:r>
            <a:r>
              <a:rPr lang="vi-VN" dirty="0"/>
              <a:t>:</a:t>
            </a:r>
            <a:br>
              <a:rPr lang="vi-VN" dirty="0"/>
            </a:br>
            <a:r>
              <a:rPr lang="vi-VN" dirty="0"/>
              <a:t>→ Cuối cùng, </a:t>
            </a:r>
            <a:r>
              <a:rPr lang="vi-VN" b="1" dirty="0"/>
              <a:t>mọi replica đều nhận được bản cập nhật</a:t>
            </a:r>
            <a:r>
              <a:rPr lang="vi-VN" dirty="0"/>
              <a:t>.</a:t>
            </a:r>
          </a:p>
          <a:p>
            <a:endParaRPr lang="en-US" b="1" dirty="0"/>
          </a:p>
          <a:p>
            <a:r>
              <a:rPr lang="vi-VN" b="1" dirty="0"/>
              <a:t>Hai hình thức dịch bệnh</a:t>
            </a:r>
          </a:p>
          <a:p>
            <a:r>
              <a:rPr lang="vi-VN" dirty="0"/>
              <a:t>Anti-entropyRumor spreadingReplica </a:t>
            </a:r>
            <a:r>
              <a:rPr lang="vi-VN" b="1" dirty="0"/>
              <a:t>chọn 1 replica ngẫu nhiên</a:t>
            </a:r>
            <a:r>
              <a:rPr lang="vi-VN" dirty="0"/>
              <a:t> và </a:t>
            </a:r>
            <a:r>
              <a:rPr lang="vi-VN" b="1" dirty="0"/>
              <a:t>so sánh/truyền các khác biệt</a:t>
            </a:r>
            <a:r>
              <a:rPr lang="vi-VN" dirty="0"/>
              <a:t>Replica </a:t>
            </a:r>
            <a:r>
              <a:rPr lang="vi-VN" b="1" dirty="0"/>
              <a:t>vừa nhận cập nhật</a:t>
            </a:r>
            <a:r>
              <a:rPr lang="vi-VN" dirty="0"/>
              <a:t> sẽ </a:t>
            </a:r>
            <a:r>
              <a:rPr lang="vi-VN" b="1" dirty="0"/>
              <a:t>chủ động "kể" cho vài replica khácCả hai</a:t>
            </a:r>
            <a:r>
              <a:rPr lang="vi-VN" dirty="0"/>
              <a:t> đồng bộ với nhau =&gt; cùng trạng tháiCác replica được "kể" sẽ tiếp tục đi "kể" cho người khácNhịp đồng bộ đều đặn theo chu kỳLan truyền mạnh mẽ lúc mới có cập nhật</a:t>
            </a:r>
          </a:p>
          <a:p>
            <a:pPr>
              <a:buFont typeface="Arial" panose="020B0604020202020204" pitchFamily="34" charset="0"/>
              <a:buChar char="•"/>
            </a:pPr>
            <a:r>
              <a:rPr lang="vi-VN" b="1" dirty="0"/>
              <a:t>Anti-entropy</a:t>
            </a:r>
            <a:r>
              <a:rPr lang="vi-VN" dirty="0"/>
              <a:t> (kháng entropy):</a:t>
            </a:r>
          </a:p>
          <a:p>
            <a:pPr marL="742950" lvl="1" indent="-285750">
              <a:buFont typeface="Arial" panose="020B0604020202020204" pitchFamily="34" charset="0"/>
              <a:buChar char="•"/>
            </a:pPr>
            <a:r>
              <a:rPr lang="vi-VN" dirty="0"/>
              <a:t>Replica A chọn random một Replica B.</a:t>
            </a:r>
          </a:p>
          <a:p>
            <a:pPr marL="742950" lvl="1" indent="-285750">
              <a:buFont typeface="Arial" panose="020B0604020202020204" pitchFamily="34" charset="0"/>
              <a:buChar char="•"/>
            </a:pPr>
            <a:r>
              <a:rPr lang="vi-VN" dirty="0"/>
              <a:t>Hai replica </a:t>
            </a:r>
            <a:r>
              <a:rPr lang="vi-VN" b="1" dirty="0"/>
              <a:t>so sánh sự khác biệt trạng thái</a:t>
            </a:r>
            <a:r>
              <a:rPr lang="vi-VN" dirty="0"/>
              <a:t>.</a:t>
            </a:r>
          </a:p>
          <a:p>
            <a:pPr marL="742950" lvl="1" indent="-285750">
              <a:buFont typeface="Arial" panose="020B0604020202020204" pitchFamily="34" charset="0"/>
              <a:buChar char="•"/>
            </a:pPr>
            <a:r>
              <a:rPr lang="vi-VN" b="1" dirty="0"/>
              <a:t>Sau khi trao đổi</a:t>
            </a:r>
            <a:r>
              <a:rPr lang="vi-VN" dirty="0"/>
              <a:t>, </a:t>
            </a:r>
            <a:r>
              <a:rPr lang="vi-VN" b="1" dirty="0"/>
              <a:t>A và B giống hệt nhau</a:t>
            </a:r>
            <a:r>
              <a:rPr lang="vi-VN" dirty="0"/>
              <a:t>.</a:t>
            </a:r>
          </a:p>
          <a:p>
            <a:pPr>
              <a:buFont typeface="Arial" panose="020B0604020202020204" pitchFamily="34" charset="0"/>
              <a:buChar char="•"/>
            </a:pPr>
            <a:r>
              <a:rPr lang="vi-VN" b="1" dirty="0"/>
              <a:t>Rumor spreading</a:t>
            </a:r>
            <a:r>
              <a:rPr lang="vi-VN" dirty="0"/>
              <a:t> (lan truyền tin đồn):</a:t>
            </a:r>
          </a:p>
          <a:p>
            <a:pPr marL="742950" lvl="1" indent="-285750">
              <a:buFont typeface="Arial" panose="020B0604020202020204" pitchFamily="34" charset="0"/>
              <a:buChar char="•"/>
            </a:pPr>
            <a:r>
              <a:rPr lang="vi-VN" dirty="0"/>
              <a:t>Khi replica A </a:t>
            </a:r>
            <a:r>
              <a:rPr lang="vi-VN" b="1" dirty="0"/>
              <a:t>vừa được cập nhật</a:t>
            </a:r>
            <a:r>
              <a:rPr lang="vi-VN" dirty="0"/>
              <a:t> → nó nhanh chóng "kể" cho 1 hoặc vài replica khác.</a:t>
            </a:r>
          </a:p>
          <a:p>
            <a:pPr marL="742950" lvl="1" indent="-285750">
              <a:buFont typeface="Arial" panose="020B0604020202020204" pitchFamily="34" charset="0"/>
              <a:buChar char="•"/>
            </a:pPr>
            <a:r>
              <a:rPr lang="vi-VN" dirty="0"/>
              <a:t>Các replica này </a:t>
            </a:r>
            <a:r>
              <a:rPr lang="vi-VN" b="1" dirty="0"/>
              <a:t>sau đó cũng kể tiếp</a:t>
            </a:r>
            <a:r>
              <a:rPr lang="vi-VN" dirty="0"/>
              <a:t> cho người khác.</a:t>
            </a:r>
          </a:p>
          <a:p>
            <a:pPr marL="742950" lvl="1" indent="-285750">
              <a:buFont typeface="Arial" panose="020B0604020202020204" pitchFamily="34" charset="0"/>
              <a:buChar char="•"/>
            </a:pPr>
            <a:r>
              <a:rPr lang="vi-VN" b="1" dirty="0"/>
              <a:t>Sóng cập nhật lan rất nhanh</a:t>
            </a:r>
            <a:r>
              <a:rPr lang="vi-VN" dirty="0"/>
              <a:t> lúc ban đầu, rồi chậm dần.</a:t>
            </a:r>
          </a:p>
          <a:p>
            <a:endParaRPr lang="en-US" b="1" dirty="0"/>
          </a:p>
          <a:p>
            <a:r>
              <a:rPr lang="vi-VN" b="1" dirty="0"/>
              <a:t>Điểm mạnh của Epidemic protocols</a:t>
            </a:r>
          </a:p>
          <a:p>
            <a:pPr>
              <a:buFont typeface="Arial" panose="020B0604020202020204" pitchFamily="34" charset="0"/>
              <a:buChar char="•"/>
            </a:pPr>
            <a:r>
              <a:rPr lang="vi-VN" dirty="0"/>
              <a:t>Rất bền vững với lỗi (fault tolerant).</a:t>
            </a:r>
          </a:p>
          <a:p>
            <a:pPr>
              <a:buFont typeface="Arial" panose="020B0604020202020204" pitchFamily="34" charset="0"/>
              <a:buChar char="•"/>
            </a:pPr>
            <a:r>
              <a:rPr lang="vi-VN" dirty="0"/>
              <a:t>Hiệu quả trong môi trường phân tán lớn.</a:t>
            </a:r>
          </a:p>
          <a:p>
            <a:pPr>
              <a:buFont typeface="Arial" panose="020B0604020202020204" pitchFamily="34" charset="0"/>
              <a:buChar char="•"/>
            </a:pPr>
            <a:r>
              <a:rPr lang="vi-VN" dirty="0"/>
              <a:t>Không yêu cầu đồng bộ chặt chẽ, phù hợp cho mạng có độ trễ.</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45</a:t>
            </a:fld>
            <a:endParaRPr lang="en-US"/>
          </a:p>
        </p:txBody>
      </p:sp>
    </p:spTree>
    <p:extLst>
      <p:ext uri="{BB962C8B-B14F-4D97-AF65-F5344CB8AC3E}">
        <p14:creationId xmlns:p14="http://schemas.microsoft.com/office/powerpoint/2010/main" val="1683107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1. Nguyên lý hoạt động của Anti-entropy:</a:t>
            </a:r>
            <a:br>
              <a:rPr lang="vi-VN" b="0" i="0" dirty="0">
                <a:solidFill>
                  <a:srgbClr val="404040"/>
                </a:solidFill>
                <a:effectLst/>
                <a:latin typeface="DeepSeek-CJK-patch"/>
              </a:rPr>
            </a:br>
            <a:r>
              <a:rPr lang="vi-VN" b="0" i="0" dirty="0">
                <a:solidFill>
                  <a:srgbClr val="404040"/>
                </a:solidFill>
                <a:effectLst/>
                <a:latin typeface="DeepSeek-CJK-patch"/>
              </a:rPr>
              <a:t>Anti-entropy là một cơ chế lan truyền thông tin trong hệ thống phân tán dựa trên mô hình </a:t>
            </a:r>
            <a:r>
              <a:rPr lang="vi-VN" b="1" i="0" dirty="0">
                <a:solidFill>
                  <a:srgbClr val="404040"/>
                </a:solidFill>
                <a:effectLst/>
                <a:latin typeface="DeepSeek-CJK-patch"/>
              </a:rPr>
              <a:t>gossip</a:t>
            </a:r>
            <a:r>
              <a:rPr lang="vi-VN" b="0" i="0" dirty="0">
                <a:solidFill>
                  <a:srgbClr val="404040"/>
                </a:solidFill>
                <a:effectLst/>
                <a:latin typeface="DeepSeek-CJK-patch"/>
              </a:rPr>
              <a:t> (tán gẫu), giúp các nút đồng bộ dữ liệu một cách hiệu quả mà không cần điều phối tập trung.</a:t>
            </a:r>
          </a:p>
          <a:p>
            <a:pPr algn="l">
              <a:buFont typeface="Arial" panose="020B0604020202020204" pitchFamily="34" charset="0"/>
              <a:buChar char="•"/>
            </a:pPr>
            <a:r>
              <a:rPr lang="vi-VN" b="1" i="0" dirty="0">
                <a:solidFill>
                  <a:srgbClr val="404040"/>
                </a:solidFill>
                <a:effectLst/>
                <a:latin typeface="DeepSeek-CJK-patch"/>
              </a:rPr>
              <a:t>Bước 1:</a:t>
            </a:r>
            <a:r>
              <a:rPr lang="vi-VN" b="0" i="0" dirty="0">
                <a:solidFill>
                  <a:srgbClr val="404040"/>
                </a:solidFill>
                <a:effectLst/>
                <a:latin typeface="DeepSeek-CJK-patch"/>
              </a:rPr>
              <a:t> Một nút </a:t>
            </a:r>
            <a:r>
              <a:rPr lang="vi-VN" b="1" i="0" dirty="0">
                <a:solidFill>
                  <a:srgbClr val="404040"/>
                </a:solidFill>
                <a:effectLst/>
                <a:latin typeface="DeepSeek-CJK-patch"/>
              </a:rPr>
              <a:t>P</a:t>
            </a:r>
            <a:r>
              <a:rPr lang="vi-VN" b="0" i="0" dirty="0">
                <a:solidFill>
                  <a:srgbClr val="404040"/>
                </a:solidFill>
                <a:effectLst/>
                <a:latin typeface="DeepSeek-CJK-patch"/>
              </a:rPr>
              <a:t> chọn ngẫu nhiên một nút </a:t>
            </a:r>
            <a:r>
              <a:rPr lang="vi-VN" b="1" i="0" dirty="0">
                <a:solidFill>
                  <a:srgbClr val="404040"/>
                </a:solidFill>
                <a:effectLst/>
                <a:latin typeface="DeepSeek-CJK-patch"/>
              </a:rPr>
              <a:t>Q</a:t>
            </a:r>
            <a:r>
              <a:rPr lang="vi-VN" b="0" i="0" dirty="0">
                <a:solidFill>
                  <a:srgbClr val="404040"/>
                </a:solidFill>
                <a:effectLst/>
                <a:latin typeface="DeepSeek-CJK-patch"/>
              </a:rPr>
              <a:t> khác trong hệ thống.</a:t>
            </a:r>
          </a:p>
          <a:p>
            <a:pPr algn="l">
              <a:buFont typeface="Arial" panose="020B0604020202020204" pitchFamily="34" charset="0"/>
              <a:buChar char="•"/>
            </a:pPr>
            <a:r>
              <a:rPr lang="vi-VN" b="1" i="0" dirty="0">
                <a:solidFill>
                  <a:srgbClr val="404040"/>
                </a:solidFill>
                <a:effectLst/>
                <a:latin typeface="DeepSeek-CJK-patch"/>
              </a:rPr>
              <a:t>Bước 2:</a:t>
            </a:r>
            <a:r>
              <a:rPr lang="vi-VN" b="0" i="0" dirty="0">
                <a:solidFill>
                  <a:srgbClr val="404040"/>
                </a:solidFill>
                <a:effectLst/>
                <a:latin typeface="DeepSeek-CJK-patch"/>
              </a:rPr>
              <a:t> P và Q trao đổi dữ liệu theo một trong ba cách:</a:t>
            </a:r>
          </a:p>
          <a:p>
            <a:pPr marL="742950" lvl="1" indent="-285750" algn="l">
              <a:buFont typeface="Arial" panose="020B0604020202020204" pitchFamily="34" charset="0"/>
              <a:buChar char="•"/>
            </a:pPr>
            <a:r>
              <a:rPr lang="vi-VN" b="1" i="0" dirty="0">
                <a:solidFill>
                  <a:srgbClr val="404040"/>
                </a:solidFill>
                <a:effectLst/>
                <a:latin typeface="DeepSeek-CJK-patch"/>
              </a:rPr>
              <a:t>Pull (Kéo):</a:t>
            </a:r>
            <a:r>
              <a:rPr lang="vi-VN" b="0" i="0" dirty="0">
                <a:solidFill>
                  <a:srgbClr val="404040"/>
                </a:solidFill>
                <a:effectLst/>
                <a:latin typeface="DeepSeek-CJK-patch"/>
              </a:rPr>
              <a:t> P chỉ </a:t>
            </a:r>
            <a:r>
              <a:rPr lang="vi-VN" b="1" i="0" dirty="0">
                <a:solidFill>
                  <a:srgbClr val="404040"/>
                </a:solidFill>
                <a:effectLst/>
                <a:latin typeface="DeepSeek-CJK-patch"/>
              </a:rPr>
              <a:t>lấy (kéo)</a:t>
            </a:r>
            <a:r>
              <a:rPr lang="vi-VN" b="0" i="0" dirty="0">
                <a:solidFill>
                  <a:srgbClr val="404040"/>
                </a:solidFill>
                <a:effectLst/>
                <a:latin typeface="DeepSeek-CJK-patch"/>
              </a:rPr>
              <a:t> các bản cập nhật mới từ Q.</a:t>
            </a:r>
            <a:br>
              <a:rPr lang="vi-VN" b="0" i="0" dirty="0">
                <a:solidFill>
                  <a:srgbClr val="404040"/>
                </a:solidFill>
                <a:effectLst/>
                <a:latin typeface="DeepSeek-CJK-patch"/>
              </a:rPr>
            </a:br>
            <a:r>
              <a:rPr lang="en-US" b="0" i="0" dirty="0">
                <a:solidFill>
                  <a:srgbClr val="404040"/>
                </a:solidFill>
                <a:effectLst/>
                <a:latin typeface="DeepSeek-CJK-patch"/>
              </a:rPr>
              <a:t>=&gt;</a:t>
            </a:r>
            <a:r>
              <a:rPr lang="vi-VN" b="0" i="0" dirty="0">
                <a:solidFill>
                  <a:srgbClr val="404040"/>
                </a:solidFill>
                <a:effectLst/>
                <a:latin typeface="DeepSeek-CJK-patch"/>
              </a:rPr>
              <a:t> Hiệu quả khi nhiều nút đã có dữ liệu mới.</a:t>
            </a:r>
          </a:p>
          <a:p>
            <a:pPr marL="742950" lvl="1" indent="-285750" algn="l">
              <a:buFont typeface="Arial" panose="020B0604020202020204" pitchFamily="34" charset="0"/>
              <a:buChar char="•"/>
            </a:pPr>
            <a:r>
              <a:rPr lang="vi-VN" b="1" i="0" dirty="0">
                <a:solidFill>
                  <a:srgbClr val="404040"/>
                </a:solidFill>
                <a:effectLst/>
                <a:latin typeface="DeepSeek-CJK-patch"/>
              </a:rPr>
              <a:t>Push (Đẩy):</a:t>
            </a:r>
            <a:r>
              <a:rPr lang="vi-VN" b="0" i="0" dirty="0">
                <a:solidFill>
                  <a:srgbClr val="404040"/>
                </a:solidFill>
                <a:effectLst/>
                <a:latin typeface="DeepSeek-CJK-patch"/>
              </a:rPr>
              <a:t> P chỉ </a:t>
            </a:r>
            <a:r>
              <a:rPr lang="vi-VN" b="1" i="0" dirty="0">
                <a:solidFill>
                  <a:srgbClr val="404040"/>
                </a:solidFill>
                <a:effectLst/>
                <a:latin typeface="DeepSeek-CJK-patch"/>
              </a:rPr>
              <a:t>gửi (đẩy)</a:t>
            </a:r>
            <a:r>
              <a:rPr lang="vi-VN" b="0" i="0" dirty="0">
                <a:solidFill>
                  <a:srgbClr val="404040"/>
                </a:solidFill>
                <a:effectLst/>
                <a:latin typeface="DeepSeek-CJK-patch"/>
              </a:rPr>
              <a:t> dữ liệu của mình cho Q.</a:t>
            </a:r>
            <a:br>
              <a:rPr lang="vi-VN" b="0" i="0" dirty="0">
                <a:solidFill>
                  <a:srgbClr val="404040"/>
                </a:solidFill>
                <a:effectLst/>
                <a:latin typeface="DeepSeek-CJK-patch"/>
              </a:rPr>
            </a:br>
            <a:r>
              <a:rPr lang="en-US" b="0" i="0" dirty="0">
                <a:solidFill>
                  <a:srgbClr val="404040"/>
                </a:solidFill>
                <a:effectLst/>
                <a:latin typeface="DeepSeek-CJK-patch"/>
              </a:rPr>
              <a:t>=&gt;</a:t>
            </a:r>
            <a:r>
              <a:rPr lang="vi-VN" b="0" i="0" dirty="0">
                <a:solidFill>
                  <a:srgbClr val="404040"/>
                </a:solidFill>
                <a:effectLst/>
                <a:latin typeface="DeepSeek-CJK-patch"/>
              </a:rPr>
              <a:t> Hiệu quả khi ít nút có dữ liệu mới.</a:t>
            </a:r>
          </a:p>
          <a:p>
            <a:pPr marL="742950" lvl="1" indent="-285750" algn="l">
              <a:buFont typeface="Arial" panose="020B0604020202020204" pitchFamily="34" charset="0"/>
              <a:buChar char="•"/>
            </a:pPr>
            <a:r>
              <a:rPr lang="vi-VN" b="1" i="0" dirty="0">
                <a:solidFill>
                  <a:srgbClr val="404040"/>
                </a:solidFill>
                <a:effectLst/>
                <a:latin typeface="DeepSeek-CJK-patch"/>
              </a:rPr>
              <a:t>Push-Pull (Kết hợp):</a:t>
            </a:r>
            <a:r>
              <a:rPr lang="vi-VN" b="0" i="0" dirty="0">
                <a:solidFill>
                  <a:srgbClr val="404040"/>
                </a:solidFill>
                <a:effectLst/>
                <a:latin typeface="DeepSeek-CJK-patch"/>
              </a:rPr>
              <a:t> P và Q </a:t>
            </a:r>
            <a:r>
              <a:rPr lang="vi-VN" b="1" i="0" dirty="0">
                <a:solidFill>
                  <a:srgbClr val="404040"/>
                </a:solidFill>
                <a:effectLst/>
                <a:latin typeface="DeepSeek-CJK-patch"/>
              </a:rPr>
              <a:t>vừa gửi vừa nhận</a:t>
            </a:r>
            <a:r>
              <a:rPr lang="vi-VN" b="0" i="0" dirty="0">
                <a:solidFill>
                  <a:srgbClr val="404040"/>
                </a:solidFill>
                <a:effectLst/>
                <a:latin typeface="DeepSeek-CJK-patch"/>
              </a:rPr>
              <a:t> dữ liệu từ nhau.</a:t>
            </a:r>
            <a:br>
              <a:rPr lang="vi-VN" b="0" i="0" dirty="0">
                <a:solidFill>
                  <a:srgbClr val="404040"/>
                </a:solidFill>
                <a:effectLst/>
                <a:latin typeface="DeepSeek-CJK-patch"/>
              </a:rPr>
            </a:br>
            <a:r>
              <a:rPr lang="en-US" b="0" i="0" dirty="0">
                <a:solidFill>
                  <a:srgbClr val="404040"/>
                </a:solidFill>
                <a:effectLst/>
                <a:latin typeface="DeepSeek-CJK-patch"/>
              </a:rPr>
              <a:t>=&gt;</a:t>
            </a:r>
            <a:r>
              <a:rPr lang="vi-VN" b="0" i="0" dirty="0">
                <a:solidFill>
                  <a:srgbClr val="404040"/>
                </a:solidFill>
                <a:effectLst/>
                <a:latin typeface="DeepSeek-CJK-patch"/>
              </a:rPr>
              <a:t> </a:t>
            </a:r>
            <a:r>
              <a:rPr lang="vi-VN" b="1" i="0" dirty="0">
                <a:solidFill>
                  <a:srgbClr val="404040"/>
                </a:solidFill>
                <a:effectLst/>
                <a:latin typeface="DeepSeek-CJK-patch"/>
              </a:rPr>
              <a:t>Hiệu quả nhất</a:t>
            </a:r>
            <a:r>
              <a:rPr lang="vi-VN" b="0" i="0" dirty="0">
                <a:solidFill>
                  <a:srgbClr val="404040"/>
                </a:solidFill>
                <a:effectLst/>
                <a:latin typeface="DeepSeek-CJK-patch"/>
              </a:rPr>
              <a:t> vì tận dụng cả hai chiều.</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Tại sao Push-Pull hiệu quả?</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Push đơn thuần</a:t>
            </a:r>
            <a:r>
              <a:rPr lang="vi-VN" b="0" i="0" dirty="0">
                <a:solidFill>
                  <a:srgbClr val="404040"/>
                </a:solidFill>
                <a:effectLst/>
                <a:latin typeface="DeepSeek-CJK-patch"/>
              </a:rPr>
              <a:t> gặp vấn đề khi nhiều nút đã có dữ liệu (xác suất chọn nút chưa có dữ liệu thấp).</a:t>
            </a:r>
          </a:p>
          <a:p>
            <a:pPr algn="l">
              <a:buFont typeface="Arial" panose="020B0604020202020204" pitchFamily="34" charset="0"/>
              <a:buChar char="•"/>
            </a:pPr>
            <a:r>
              <a:rPr lang="vi-VN" b="1" i="0" dirty="0">
                <a:solidFill>
                  <a:srgbClr val="404040"/>
                </a:solidFill>
                <a:effectLst/>
                <a:latin typeface="DeepSeek-CJK-patch"/>
              </a:rPr>
              <a:t>Pull đơn thuần</a:t>
            </a:r>
            <a:r>
              <a:rPr lang="vi-VN" b="0" i="0" dirty="0">
                <a:solidFill>
                  <a:srgbClr val="404040"/>
                </a:solidFill>
                <a:effectLst/>
                <a:latin typeface="DeepSeek-CJK-patch"/>
              </a:rPr>
              <a:t> hoạt động tốt khi nhiều nút đã cập nhật, nhưng chậm nếu chỉ một vài nút có dữ liệu mới.</a:t>
            </a:r>
          </a:p>
          <a:p>
            <a:pPr algn="l">
              <a:buFont typeface="Arial" panose="020B0604020202020204" pitchFamily="34" charset="0"/>
              <a:buChar char="•"/>
            </a:pPr>
            <a:r>
              <a:rPr lang="vi-VN" b="1" i="0" dirty="0">
                <a:solidFill>
                  <a:srgbClr val="404040"/>
                </a:solidFill>
                <a:effectLst/>
                <a:latin typeface="DeepSeek-CJK-patch"/>
              </a:rPr>
              <a:t>Push-Pull</a:t>
            </a:r>
            <a:r>
              <a:rPr lang="vi-VN" b="0" i="0" dirty="0">
                <a:solidFill>
                  <a:srgbClr val="404040"/>
                </a:solidFill>
                <a:effectLst/>
                <a:latin typeface="DeepSeek-CJK-patch"/>
              </a:rPr>
              <a:t> cân bằng cả hai, đảm bảo lan truyền nhanh trong mọi trường hợp.</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Độ phức tạp O(log N) rounds: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Round:</a:t>
            </a:r>
            <a:r>
              <a:rPr lang="vi-VN" b="0" i="0" dirty="0">
                <a:solidFill>
                  <a:srgbClr val="404040"/>
                </a:solidFill>
                <a:effectLst/>
                <a:latin typeface="DeepSeek-CJK-patch"/>
              </a:rPr>
              <a:t> Một khoảng thời gian mà </a:t>
            </a:r>
            <a:r>
              <a:rPr lang="vi-VN" b="1" i="0" dirty="0">
                <a:solidFill>
                  <a:srgbClr val="404040"/>
                </a:solidFill>
                <a:effectLst/>
                <a:latin typeface="DeepSeek-CJK-patch"/>
              </a:rPr>
              <a:t>mọi nút đều chủ động trao đổi dữ liệu ít nhất một lần</a:t>
            </a:r>
            <a:r>
              <a:rPr lang="vi-VN" b="0" i="0" dirty="0">
                <a:solidFill>
                  <a:srgbClr val="404040"/>
                </a:solidFill>
                <a:effectLst/>
                <a:latin typeface="DeepSeek-CJK-patch"/>
              </a:rPr>
              <a:t>.</a:t>
            </a:r>
          </a:p>
          <a:p>
            <a:pPr algn="l">
              <a:buFont typeface="Arial" panose="020B0604020202020204" pitchFamily="34" charset="0"/>
              <a:buChar char="•"/>
            </a:pPr>
            <a:r>
              <a:rPr lang="vi-VN" b="0" i="0" dirty="0">
                <a:solidFill>
                  <a:srgbClr val="404040"/>
                </a:solidFill>
                <a:effectLst/>
                <a:latin typeface="DeepSeek-CJK-patch"/>
              </a:rPr>
              <a:t>Với </a:t>
            </a:r>
            <a:r>
              <a:rPr lang="vi-VN" b="1" i="0" dirty="0">
                <a:solidFill>
                  <a:srgbClr val="404040"/>
                </a:solidFill>
                <a:effectLst/>
                <a:latin typeface="DeepSeek-CJK-patch"/>
              </a:rPr>
              <a:t>N nút</a:t>
            </a:r>
            <a:r>
              <a:rPr lang="vi-VN" b="0" i="0" dirty="0">
                <a:solidFill>
                  <a:srgbClr val="404040"/>
                </a:solidFill>
                <a:effectLst/>
                <a:latin typeface="DeepSeek-CJK-patch"/>
              </a:rPr>
              <a:t>, chỉ cần </a:t>
            </a:r>
            <a:r>
              <a:rPr lang="vi-VN" b="1" i="0" dirty="0">
                <a:solidFill>
                  <a:srgbClr val="404040"/>
                </a:solidFill>
                <a:effectLst/>
                <a:latin typeface="DeepSeek-CJK-patch"/>
              </a:rPr>
              <a:t>O(log N) rounds</a:t>
            </a:r>
            <a:r>
              <a:rPr lang="vi-VN" b="0" i="0" dirty="0">
                <a:solidFill>
                  <a:srgbClr val="404040"/>
                </a:solidFill>
                <a:effectLst/>
                <a:latin typeface="DeepSeek-CJK-patch"/>
              </a:rPr>
              <a:t> để lan truyền dữ liệu đến toàn bộ hệ thống.</a:t>
            </a:r>
          </a:p>
          <a:p>
            <a:pPr marL="742950" lvl="1" indent="-285750" algn="l">
              <a:buFont typeface="Arial" panose="020B0604020202020204" pitchFamily="34" charset="0"/>
              <a:buChar char="•"/>
            </a:pPr>
            <a:r>
              <a:rPr lang="vi-VN" b="1" i="0" dirty="0">
                <a:solidFill>
                  <a:srgbClr val="404040"/>
                </a:solidFill>
                <a:effectLst/>
                <a:latin typeface="DeepSeek-CJK-patch"/>
              </a:rPr>
              <a:t>Ví dụ:</a:t>
            </a:r>
            <a:r>
              <a:rPr lang="vi-VN" b="0" i="0" dirty="0">
                <a:solidFill>
                  <a:srgbClr val="404040"/>
                </a:solidFill>
                <a:effectLst/>
                <a:latin typeface="DeepSeek-CJK-patch"/>
              </a:rPr>
              <a:t> Nếu hệ thống có 1.000 nút (N = 1.000), chỉ cần ~10 rounds (vì log₂1000 ≈ 10).</a:t>
            </a:r>
          </a:p>
          <a:p>
            <a:pPr algn="l">
              <a:buFont typeface="Arial" panose="020B0604020202020204" pitchFamily="34" charset="0"/>
              <a:buChar char="•"/>
            </a:pPr>
            <a:r>
              <a:rPr lang="vi-VN" b="1" i="0" dirty="0">
                <a:solidFill>
                  <a:srgbClr val="404040"/>
                </a:solidFill>
                <a:effectLst/>
                <a:latin typeface="DeepSeek-CJK-patch"/>
              </a:rPr>
              <a:t>Tại sao nhanh?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Mỗi round, số nút được cập nhật tăng theo cấp số nhân (giống lây lan dịch bệnh).</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4. Ứng dụng thực tế:</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Dùng trong các hệ thống phân tán như </a:t>
            </a:r>
            <a:r>
              <a:rPr lang="vi-VN" b="1" i="0" dirty="0">
                <a:solidFill>
                  <a:srgbClr val="404040"/>
                </a:solidFill>
                <a:effectLst/>
                <a:latin typeface="DeepSeek-CJK-patch"/>
              </a:rPr>
              <a:t>Cassandra, DynamoDB</a:t>
            </a:r>
            <a:r>
              <a:rPr lang="vi-VN" b="0" i="0" dirty="0">
                <a:solidFill>
                  <a:srgbClr val="404040"/>
                </a:solidFill>
                <a:effectLst/>
                <a:latin typeface="DeepSeek-CJK-patch"/>
              </a:rPr>
              <a:t> để đồng bộ dữ liệu.</a:t>
            </a:r>
          </a:p>
          <a:p>
            <a:pPr algn="l">
              <a:buFont typeface="Arial" panose="020B0604020202020204" pitchFamily="34" charset="0"/>
              <a:buChar char="•"/>
            </a:pPr>
            <a:r>
              <a:rPr lang="vi-VN" b="0" i="0" dirty="0">
                <a:solidFill>
                  <a:srgbClr val="404040"/>
                </a:solidFill>
                <a:effectLst/>
                <a:latin typeface="DeepSeek-CJK-patch"/>
              </a:rPr>
              <a:t>Đảm bảo </a:t>
            </a:r>
            <a:r>
              <a:rPr lang="vi-VN" b="1" i="0" dirty="0">
                <a:solidFill>
                  <a:srgbClr val="404040"/>
                </a:solidFill>
                <a:effectLst/>
                <a:latin typeface="DeepSeek-CJK-patch"/>
              </a:rPr>
              <a:t>tính mở rộng (scalability)</a:t>
            </a:r>
            <a:r>
              <a:rPr lang="vi-VN" b="0" i="0" dirty="0">
                <a:solidFill>
                  <a:srgbClr val="404040"/>
                </a:solidFill>
                <a:effectLst/>
                <a:latin typeface="DeepSeek-CJK-patch"/>
              </a:rPr>
              <a:t> và </a:t>
            </a:r>
            <a:r>
              <a:rPr lang="vi-VN" b="1" i="0" dirty="0">
                <a:solidFill>
                  <a:srgbClr val="404040"/>
                </a:solidFill>
                <a:effectLst/>
                <a:latin typeface="DeepSeek-CJK-patch"/>
              </a:rPr>
              <a:t>khả năng chịu lỗi (fault tolerance)</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=&gt;</a:t>
            </a:r>
            <a:r>
              <a:rPr lang="vi-VN" b="1" i="0" dirty="0">
                <a:solidFill>
                  <a:srgbClr val="404040"/>
                </a:solidFill>
                <a:effectLst/>
                <a:latin typeface="DeepSeek-CJK-patch"/>
              </a:rPr>
              <a:t> Tóm lại:</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Anti-entropy</a:t>
            </a:r>
            <a:r>
              <a:rPr lang="vi-VN" b="0" i="0" dirty="0">
                <a:solidFill>
                  <a:srgbClr val="404040"/>
                </a:solidFill>
                <a:effectLst/>
                <a:latin typeface="DeepSeek-CJK-patch"/>
              </a:rPr>
              <a:t> là cơ chế lan truyền dữ liệu ngẫu nhiên, hiệu quả nhờ </a:t>
            </a:r>
            <a:r>
              <a:rPr lang="vi-VN" b="1" i="0" dirty="0">
                <a:solidFill>
                  <a:srgbClr val="404040"/>
                </a:solidFill>
                <a:effectLst/>
                <a:latin typeface="DeepSeek-CJK-patch"/>
              </a:rPr>
              <a:t>push-pull</a:t>
            </a:r>
            <a:r>
              <a:rPr lang="vi-VN" b="0" i="0" dirty="0">
                <a:solidFill>
                  <a:srgbClr val="404040"/>
                </a:solidFill>
                <a:effectLst/>
                <a:latin typeface="DeepSeek-CJK-patch"/>
              </a:rPr>
              <a:t>.</a:t>
            </a:r>
          </a:p>
          <a:p>
            <a:pPr algn="l">
              <a:buFont typeface="Arial" panose="020B0604020202020204" pitchFamily="34" charset="0"/>
              <a:buChar char="•"/>
            </a:pPr>
            <a:r>
              <a:rPr lang="vi-VN" b="0" i="0" dirty="0">
                <a:solidFill>
                  <a:srgbClr val="404040"/>
                </a:solidFill>
                <a:effectLst/>
                <a:latin typeface="DeepSeek-CJK-patch"/>
              </a:rPr>
              <a:t>Chỉ cần </a:t>
            </a:r>
            <a:r>
              <a:rPr lang="vi-VN" b="1" i="0" dirty="0">
                <a:solidFill>
                  <a:srgbClr val="404040"/>
                </a:solidFill>
                <a:effectLst/>
                <a:latin typeface="DeepSeek-CJK-patch"/>
              </a:rPr>
              <a:t>O(log N) rounds</a:t>
            </a:r>
            <a:r>
              <a:rPr lang="vi-VN" b="0" i="0" dirty="0">
                <a:solidFill>
                  <a:srgbClr val="404040"/>
                </a:solidFill>
                <a:effectLst/>
                <a:latin typeface="DeepSeek-CJK-patch"/>
              </a:rPr>
              <a:t> để cập nhật toàn bộ hệ thống → </a:t>
            </a:r>
            <a:r>
              <a:rPr lang="vi-VN" b="1" i="0" dirty="0">
                <a:solidFill>
                  <a:srgbClr val="404040"/>
                </a:solidFill>
                <a:effectLst/>
                <a:latin typeface="DeepSeek-CJK-patch"/>
              </a:rPr>
              <a:t>Nhanh &amp; Scalable!</a:t>
            </a:r>
            <a:endParaRPr lang="vi-VN" b="0" i="0" dirty="0">
              <a:solidFill>
                <a:srgbClr val="404040"/>
              </a:solidFill>
              <a:effectLst/>
              <a:latin typeface="DeepSeek-CJK-patch"/>
            </a:endParaRP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46</a:t>
            </a:fld>
            <a:endParaRPr lang="en-US"/>
          </a:p>
        </p:txBody>
      </p:sp>
    </p:spTree>
    <p:extLst>
      <p:ext uri="{BB962C8B-B14F-4D97-AF65-F5344CB8AC3E}">
        <p14:creationId xmlns:p14="http://schemas.microsoft.com/office/powerpoint/2010/main" val="15560912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"Anti-entropy: Analysis"</a:t>
            </a:r>
            <a:endParaRPr lang="vi-VN" b="0" i="0" dirty="0">
              <a:solidFill>
                <a:srgbClr val="404040"/>
              </a:solidFill>
              <a:effectLst/>
              <a:latin typeface="DeepSeek-CJK-patch"/>
            </a:endParaRPr>
          </a:p>
          <a:p>
            <a:pPr algn="l"/>
            <a:r>
              <a:rPr lang="vi-VN" b="1" i="0" dirty="0">
                <a:solidFill>
                  <a:srgbClr val="404040"/>
                </a:solidFill>
                <a:effectLst/>
                <a:latin typeface="DeepSeek-CJK-patch"/>
              </a:rPr>
              <a:t>Mục tiêu:</a:t>
            </a:r>
            <a:r>
              <a:rPr lang="vi-VN" b="0" i="0" dirty="0">
                <a:solidFill>
                  <a:srgbClr val="404040"/>
                </a:solidFill>
                <a:effectLst/>
                <a:latin typeface="DeepSeek-CJK-patch"/>
              </a:rPr>
              <a:t> Phân tích xác suất một nút </a:t>
            </a:r>
            <a:r>
              <a:rPr lang="vi-VN" b="1" i="0" dirty="0">
                <a:solidFill>
                  <a:srgbClr val="404040"/>
                </a:solidFill>
                <a:effectLst/>
                <a:latin typeface="DeepSeek-CJK-patch"/>
              </a:rPr>
              <a:t>chưa nhận được bản cập nhật</a:t>
            </a:r>
            <a:r>
              <a:rPr lang="vi-VN" b="0" i="0" dirty="0">
                <a:solidFill>
                  <a:srgbClr val="404040"/>
                </a:solidFill>
                <a:effectLst/>
                <a:latin typeface="DeepSeek-CJK-patch"/>
              </a:rPr>
              <a:t> sau mỗi round trong các phương pháp </a:t>
            </a:r>
            <a:r>
              <a:rPr lang="vi-VN" b="1" i="0" dirty="0">
                <a:solidFill>
                  <a:srgbClr val="404040"/>
                </a:solidFill>
                <a:effectLst/>
                <a:latin typeface="DeepSeek-CJK-patch"/>
              </a:rPr>
              <a:t>pull, push và push-pull</a:t>
            </a:r>
            <a:r>
              <a:rPr lang="vi-VN" b="0" i="0" dirty="0">
                <a:solidFill>
                  <a:srgbClr val="404040"/>
                </a:solidFill>
                <a:effectLst/>
                <a:latin typeface="DeepSeek-CJK-patch"/>
              </a:rPr>
              <a:t>.</a:t>
            </a:r>
          </a:p>
          <a:p>
            <a:pPr algn="l"/>
            <a:r>
              <a:rPr lang="vi-VN" b="1" i="0" dirty="0">
                <a:solidFill>
                  <a:srgbClr val="404040"/>
                </a:solidFill>
                <a:effectLst/>
                <a:latin typeface="DeepSeek-CJK-patch"/>
              </a:rPr>
              <a:t>1. Thiết lập bài toán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Giả định: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Có </a:t>
            </a:r>
            <a:r>
              <a:rPr lang="vi-VN" b="1" i="0" dirty="0">
                <a:solidFill>
                  <a:srgbClr val="404040"/>
                </a:solidFill>
                <a:effectLst/>
                <a:latin typeface="DeepSeek-CJK-patch"/>
              </a:rPr>
              <a:t>một nút nguồn</a:t>
            </a:r>
            <a:r>
              <a:rPr lang="vi-VN" b="0" i="0" dirty="0">
                <a:solidFill>
                  <a:srgbClr val="404040"/>
                </a:solidFill>
                <a:effectLst/>
                <a:latin typeface="DeepSeek-CJK-patch"/>
              </a:rPr>
              <a:t> bắt đầu lan truyền bản cập nhật.</a:t>
            </a:r>
          </a:p>
          <a:p>
            <a:pPr marL="742950" lvl="1" indent="-285750" algn="l">
              <a:buFont typeface="Arial" panose="020B0604020202020204" pitchFamily="34" charset="0"/>
              <a:buChar char="•"/>
            </a:pPr>
            <a:r>
              <a:rPr lang="vi-VN" b="0" i="0" dirty="0">
                <a:solidFill>
                  <a:srgbClr val="404040"/>
                </a:solidFill>
                <a:effectLst/>
                <a:latin typeface="DeepSeek-CJK-patch"/>
              </a:rPr>
              <a:t>Gọi </a:t>
            </a:r>
            <a:r>
              <a:rPr lang="vi-VN" b="1" i="0" dirty="0">
                <a:solidFill>
                  <a:srgbClr val="404040"/>
                </a:solidFill>
                <a:effectLst/>
                <a:latin typeface="KaTeX_Main"/>
              </a:rPr>
              <a:t>pi</a:t>
            </a:r>
            <a:r>
              <a:rPr lang="vi-VN" b="0" i="0" dirty="0">
                <a:solidFill>
                  <a:srgbClr val="404040"/>
                </a:solidFill>
                <a:effectLst/>
                <a:latin typeface="DeepSeek-CJK-patch"/>
              </a:rPr>
              <a:t> là xác suất một nút </a:t>
            </a:r>
            <a:r>
              <a:rPr lang="vi-VN" b="1" i="0" dirty="0">
                <a:solidFill>
                  <a:srgbClr val="404040"/>
                </a:solidFill>
                <a:effectLst/>
                <a:latin typeface="DeepSeek-CJK-patch"/>
              </a:rPr>
              <a:t>chưa nhận được cập nhật</a:t>
            </a:r>
            <a:r>
              <a:rPr lang="vi-VN" b="0" i="0" dirty="0">
                <a:solidFill>
                  <a:srgbClr val="404040"/>
                </a:solidFill>
                <a:effectLst/>
                <a:latin typeface="DeepSeek-CJK-patch"/>
              </a:rPr>
              <a:t> sau round thứ </a:t>
            </a:r>
            <a:r>
              <a:rPr lang="vi-VN" b="1" i="0" dirty="0">
                <a:solidFill>
                  <a:srgbClr val="404040"/>
                </a:solidFill>
                <a:effectLst/>
                <a:latin typeface="KaTeX_Main"/>
              </a:rPr>
              <a:t>i</a:t>
            </a:r>
            <a:r>
              <a:rPr lang="vi-VN" b="0" i="0" dirty="0">
                <a:solidFill>
                  <a:srgbClr val="404040"/>
                </a:solidFill>
                <a:effectLst/>
                <a:latin typeface="DeepSeek-CJK-patch"/>
              </a:rPr>
              <a:t> (gọi là </a:t>
            </a:r>
            <a:r>
              <a:rPr lang="vi-VN" b="1" i="0" dirty="0">
                <a:solidFill>
                  <a:srgbClr val="404040"/>
                </a:solidFill>
                <a:effectLst/>
                <a:latin typeface="DeepSeek-CJK-patch"/>
              </a:rPr>
              <a:t>"ignorant node"</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Phân tích từng phương pháp</a:t>
            </a:r>
            <a:endParaRPr lang="vi-VN" b="0" i="0" dirty="0">
              <a:solidFill>
                <a:srgbClr val="404040"/>
              </a:solidFill>
              <a:effectLst/>
              <a:latin typeface="DeepSeek-CJK-patch"/>
            </a:endParaRPr>
          </a:p>
          <a:p>
            <a:pPr algn="l"/>
            <a:r>
              <a:rPr lang="vi-VN" b="1" i="0" dirty="0">
                <a:solidFill>
                  <a:srgbClr val="404040"/>
                </a:solidFill>
                <a:effectLst/>
                <a:latin typeface="DeepSeek-CJK-patch"/>
              </a:rPr>
              <a:t>a) Pull-Based Anti-entropy</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Cơ chế:</a:t>
            </a:r>
            <a:r>
              <a:rPr lang="vi-VN" b="0" i="0" dirty="0">
                <a:solidFill>
                  <a:srgbClr val="404040"/>
                </a:solidFill>
                <a:effectLst/>
                <a:latin typeface="DeepSeek-CJK-patch"/>
              </a:rPr>
              <a:t> Nút </a:t>
            </a:r>
            <a:r>
              <a:rPr lang="vi-VN" b="1" i="0" dirty="0">
                <a:solidFill>
                  <a:srgbClr val="404040"/>
                </a:solidFill>
                <a:effectLst/>
                <a:latin typeface="DeepSeek-CJK-patch"/>
              </a:rPr>
              <a:t>"kéo" (pull)</a:t>
            </a:r>
            <a:r>
              <a:rPr lang="vi-VN" b="0" i="0" dirty="0">
                <a:solidFill>
                  <a:srgbClr val="404040"/>
                </a:solidFill>
                <a:effectLst/>
                <a:latin typeface="DeepSeek-CJK-patch"/>
              </a:rPr>
              <a:t> dữ liệu từ một nút ngẫu nhiên khác.</a:t>
            </a:r>
          </a:p>
          <a:p>
            <a:pPr algn="l">
              <a:buFont typeface="Arial" panose="020B0604020202020204" pitchFamily="34" charset="0"/>
              <a:buChar char="•"/>
            </a:pPr>
            <a:r>
              <a:rPr lang="vi-VN" b="1" i="0" dirty="0">
                <a:solidFill>
                  <a:srgbClr val="404040"/>
                </a:solidFill>
                <a:effectLst/>
                <a:latin typeface="DeepSeek-CJK-patch"/>
              </a:rPr>
              <a:t>Xác suất </a:t>
            </a:r>
            <a:r>
              <a:rPr lang="vi-VN" b="1" i="0" dirty="0">
                <a:solidFill>
                  <a:srgbClr val="404040"/>
                </a:solidFill>
                <a:effectLst/>
                <a:latin typeface="KaTeX_Main"/>
              </a:rPr>
              <a:t>p</a:t>
            </a:r>
            <a:r>
              <a:rPr lang="en-US" b="1" i="0" dirty="0">
                <a:solidFill>
                  <a:srgbClr val="404040"/>
                </a:solidFill>
                <a:effectLst/>
                <a:latin typeface="KaTeX_Main"/>
              </a:rPr>
              <a:t>_(</a:t>
            </a:r>
            <a:r>
              <a:rPr lang="vi-VN" b="1" i="0" dirty="0">
                <a:solidFill>
                  <a:srgbClr val="404040"/>
                </a:solidFill>
                <a:effectLst/>
                <a:latin typeface="KaTeX_Main"/>
              </a:rPr>
              <a:t>i+1</a:t>
            </a:r>
            <a:r>
              <a:rPr lang="en-US" b="1" i="0" dirty="0">
                <a:solidFill>
                  <a:srgbClr val="404040"/>
                </a:solidFill>
                <a:effectLst/>
                <a:latin typeface="KaTeX_Main"/>
              </a:rPr>
              <a:t>)</a:t>
            </a:r>
            <a:r>
              <a:rPr lang="vi-VN" b="1" i="0" dirty="0">
                <a:solidFill>
                  <a:srgbClr val="404040"/>
                </a:solidFill>
                <a:effectLst/>
                <a:latin typeface="KaTeX_Main"/>
              </a:rPr>
              <a:t>​</a:t>
            </a:r>
            <a:r>
              <a:rPr lang="vi-VN" b="1" i="0" dirty="0">
                <a:solidFill>
                  <a:srgbClr val="404040"/>
                </a:solidFill>
                <a:effectLst/>
                <a:latin typeface="DeepSeek-CJK-patch"/>
              </a:rPr>
              <a:t>:</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i+1</a:t>
            </a:r>
            <a:r>
              <a:rPr lang="en-US" b="0" i="0" dirty="0">
                <a:solidFill>
                  <a:srgbClr val="404040"/>
                </a:solidFill>
                <a:effectLst/>
                <a:latin typeface="KaTeX_Main"/>
              </a:rPr>
              <a:t>)</a:t>
            </a:r>
            <a:r>
              <a:rPr lang="vi-VN" b="0" i="0" dirty="0">
                <a:solidFill>
                  <a:srgbClr val="404040"/>
                </a:solidFill>
                <a:effectLst/>
                <a:latin typeface="KaTeX_Main"/>
              </a:rPr>
              <a:t>=(pi)</a:t>
            </a:r>
            <a:r>
              <a:rPr lang="en-US" b="0" i="0" dirty="0">
                <a:solidFill>
                  <a:srgbClr val="404040"/>
                </a:solidFill>
                <a:effectLst/>
                <a:latin typeface="KaTeX_Main"/>
              </a:rPr>
              <a:t>^</a:t>
            </a:r>
            <a:r>
              <a:rPr lang="vi-VN" b="0" i="0" dirty="0">
                <a:solidFill>
                  <a:srgbClr val="404040"/>
                </a:solidFill>
                <a:effectLst/>
                <a:latin typeface="KaTeX_Main"/>
              </a:rPr>
              <a:t>2</a:t>
            </a:r>
            <a:endParaRPr lang="en-US" b="0" i="0" dirty="0">
              <a:solidFill>
                <a:srgbClr val="404040"/>
              </a:solidFill>
              <a:effectLst/>
              <a:latin typeface="KaTeX_Main"/>
            </a:endParaRPr>
          </a:p>
          <a:p>
            <a:pPr algn="l">
              <a:buFont typeface="Arial" panose="020B0604020202020204" pitchFamily="34" charset="0"/>
              <a:buChar char="•"/>
            </a:pPr>
            <a:r>
              <a:rPr lang="vi-VN" b="1" i="0" dirty="0">
                <a:solidFill>
                  <a:srgbClr val="404040"/>
                </a:solidFill>
                <a:effectLst/>
                <a:latin typeface="DeepSeek-CJK-patch"/>
              </a:rPr>
              <a:t>Giải thích: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Một nút vẫn </a:t>
            </a:r>
            <a:r>
              <a:rPr lang="vi-VN" b="1" i="0" dirty="0">
                <a:solidFill>
                  <a:srgbClr val="404040"/>
                </a:solidFill>
                <a:effectLst/>
                <a:latin typeface="DeepSeek-CJK-patch"/>
              </a:rPr>
              <a:t>ignorant</a:t>
            </a:r>
            <a:r>
              <a:rPr lang="vi-VN" b="0" i="0" dirty="0">
                <a:solidFill>
                  <a:srgbClr val="404040"/>
                </a:solidFill>
                <a:effectLst/>
                <a:latin typeface="DeepSeek-CJK-patch"/>
              </a:rPr>
              <a:t> sau round </a:t>
            </a:r>
            <a:r>
              <a:rPr lang="vi-VN" b="0" i="0" dirty="0">
                <a:solidFill>
                  <a:srgbClr val="404040"/>
                </a:solidFill>
                <a:effectLst/>
                <a:latin typeface="KaTeX_Main"/>
              </a:rPr>
              <a:t>i+1</a:t>
            </a:r>
            <a:r>
              <a:rPr lang="vi-VN" b="0" i="0" dirty="0">
                <a:solidFill>
                  <a:srgbClr val="404040"/>
                </a:solidFill>
                <a:effectLst/>
                <a:latin typeface="DeepSeek-CJK-patch"/>
              </a:rPr>
              <a:t> nếu:</a:t>
            </a:r>
          </a:p>
          <a:p>
            <a:pPr marL="1143000" lvl="2" indent="-228600" algn="l">
              <a:buFont typeface="Arial" panose="020B0604020202020204" pitchFamily="34" charset="0"/>
              <a:buChar char="•"/>
            </a:pPr>
            <a:r>
              <a:rPr lang="vi-VN" b="0" i="0" dirty="0">
                <a:solidFill>
                  <a:srgbClr val="404040"/>
                </a:solidFill>
                <a:effectLst/>
                <a:latin typeface="DeepSeek-CJK-patch"/>
              </a:rPr>
              <a:t>Nó </a:t>
            </a:r>
            <a:r>
              <a:rPr lang="vi-VN" b="1" i="0" dirty="0">
                <a:solidFill>
                  <a:srgbClr val="404040"/>
                </a:solidFill>
                <a:effectLst/>
                <a:latin typeface="DeepSeek-CJK-patch"/>
              </a:rPr>
              <a:t>đã ignorant ở round </a:t>
            </a:r>
            <a:r>
              <a:rPr lang="vi-VN" b="1" i="0" dirty="0">
                <a:solidFill>
                  <a:srgbClr val="404040"/>
                </a:solidFill>
                <a:effectLst/>
                <a:latin typeface="KaTeX_Main"/>
              </a:rPr>
              <a:t>i</a:t>
            </a:r>
            <a:r>
              <a:rPr lang="vi-VN" b="0" i="0" dirty="0">
                <a:solidFill>
                  <a:srgbClr val="404040"/>
                </a:solidFill>
                <a:effectLst/>
                <a:latin typeface="DeepSeek-CJK-patch"/>
              </a:rPr>
              <a:t> (xác suất </a:t>
            </a:r>
            <a:r>
              <a:rPr lang="vi-VN" b="0" i="0" dirty="0">
                <a:solidFill>
                  <a:srgbClr val="404040"/>
                </a:solidFill>
                <a:effectLst/>
                <a:latin typeface="KaTeX_Main"/>
              </a:rPr>
              <a:t>pi​</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0" i="0" dirty="0">
                <a:solidFill>
                  <a:srgbClr val="404040"/>
                </a:solidFill>
                <a:effectLst/>
                <a:latin typeface="DeepSeek-CJK-patch"/>
              </a:rPr>
              <a:t>Nó </a:t>
            </a:r>
            <a:r>
              <a:rPr lang="vi-VN" b="1" i="0" dirty="0">
                <a:solidFill>
                  <a:srgbClr val="404040"/>
                </a:solidFill>
                <a:effectLst/>
                <a:latin typeface="DeepSeek-CJK-patch"/>
              </a:rPr>
              <a:t>kéo dữ liệu từ một nút cũng ignorant</a:t>
            </a:r>
            <a:r>
              <a:rPr lang="vi-VN" b="0" i="0" dirty="0">
                <a:solidFill>
                  <a:srgbClr val="404040"/>
                </a:solidFill>
                <a:effectLst/>
                <a:latin typeface="DeepSeek-CJK-patch"/>
              </a:rPr>
              <a:t> (xác suất </a:t>
            </a:r>
            <a:r>
              <a:rPr lang="vi-VN" b="0" i="0" dirty="0">
                <a:solidFill>
                  <a:srgbClr val="404040"/>
                </a:solidFill>
                <a:effectLst/>
                <a:latin typeface="KaTeX_Main"/>
              </a:rPr>
              <a:t>pi​</a:t>
            </a:r>
            <a:r>
              <a:rPr lang="vi-VN" b="0" i="0" dirty="0">
                <a:solidFill>
                  <a:srgbClr val="404040"/>
                </a:solidFill>
                <a:effectLst/>
                <a:latin typeface="DeepSeek-CJK-patch"/>
              </a:rPr>
              <a:t>).</a:t>
            </a:r>
            <a:br>
              <a:rPr lang="vi-VN" b="0" i="0" dirty="0">
                <a:solidFill>
                  <a:srgbClr val="404040"/>
                </a:solidFill>
                <a:effectLst/>
                <a:latin typeface="DeepSeek-CJK-patch"/>
              </a:rPr>
            </a:br>
            <a:r>
              <a:rPr lang="vi-VN" b="0" i="0" dirty="0">
                <a:solidFill>
                  <a:srgbClr val="404040"/>
                </a:solidFill>
                <a:effectLst/>
                <a:latin typeface="DeepSeek-CJK-patch"/>
              </a:rPr>
              <a:t>→ Vậy </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i+1</a:t>
            </a:r>
            <a:r>
              <a:rPr lang="en-US" b="0" i="0" dirty="0">
                <a:solidFill>
                  <a:srgbClr val="404040"/>
                </a:solidFill>
                <a:effectLst/>
                <a:latin typeface="KaTeX_Main"/>
              </a:rPr>
              <a:t>)</a:t>
            </a:r>
            <a:r>
              <a:rPr lang="vi-VN" b="0" i="0" dirty="0">
                <a:solidFill>
                  <a:srgbClr val="404040"/>
                </a:solidFill>
                <a:effectLst/>
                <a:latin typeface="KaTeX_Main"/>
              </a:rPr>
              <a:t>=</a:t>
            </a:r>
            <a:r>
              <a:rPr lang="en-US" b="0" i="0" dirty="0">
                <a:solidFill>
                  <a:srgbClr val="404040"/>
                </a:solidFill>
                <a:effectLst/>
                <a:latin typeface="KaTeX_Main"/>
              </a:rPr>
              <a:t>(</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a:t>
            </a:r>
            <a:r>
              <a:rPr lang="en-US" b="0" i="0" dirty="0">
                <a:solidFill>
                  <a:srgbClr val="404040"/>
                </a:solidFill>
                <a:effectLst/>
                <a:latin typeface="KaTeX_Main"/>
              </a:rPr>
              <a:t>^</a:t>
            </a:r>
            <a:r>
              <a:rPr lang="vi-VN" b="0" i="0" dirty="0">
                <a:solidFill>
                  <a:srgbClr val="404040"/>
                </a:solidFill>
                <a:effectLst/>
                <a:latin typeface="KaTeX_Main"/>
              </a:rPr>
              <a:t>2</a:t>
            </a:r>
            <a:r>
              <a:rPr lang="vi-VN" b="0" i="0" dirty="0">
                <a:solidFill>
                  <a:srgbClr val="404040"/>
                </a:solidFill>
                <a:effectLst/>
                <a:latin typeface="DeepSeek-CJK-patch"/>
              </a:rPr>
              <a:t>.</a:t>
            </a:r>
          </a:p>
          <a:p>
            <a:pPr algn="l"/>
            <a:r>
              <a:rPr lang="vi-VN" b="1" i="0" dirty="0">
                <a:solidFill>
                  <a:srgbClr val="404040"/>
                </a:solidFill>
                <a:effectLst/>
                <a:latin typeface="DeepSeek-CJK-patch"/>
              </a:rPr>
              <a:t>b) Push-Based Anti-entropy</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Cơ chế:</a:t>
            </a:r>
            <a:r>
              <a:rPr lang="vi-VN" b="0" i="0" dirty="0">
                <a:solidFill>
                  <a:srgbClr val="404040"/>
                </a:solidFill>
                <a:effectLst/>
                <a:latin typeface="DeepSeek-CJK-patch"/>
              </a:rPr>
              <a:t> Nút </a:t>
            </a:r>
            <a:r>
              <a:rPr lang="vi-VN" b="1" i="0" dirty="0">
                <a:solidFill>
                  <a:srgbClr val="404040"/>
                </a:solidFill>
                <a:effectLst/>
                <a:latin typeface="DeepSeek-CJK-patch"/>
              </a:rPr>
              <a:t>"đẩy" (push)</a:t>
            </a:r>
            <a:r>
              <a:rPr lang="vi-VN" b="0" i="0" dirty="0">
                <a:solidFill>
                  <a:srgbClr val="404040"/>
                </a:solidFill>
                <a:effectLst/>
                <a:latin typeface="DeepSeek-CJK-patch"/>
              </a:rPr>
              <a:t> dữ liệu đến một nút ngẫu nhiên khác.</a:t>
            </a:r>
          </a:p>
          <a:p>
            <a:pPr algn="l">
              <a:buFont typeface="Arial" panose="020B0604020202020204" pitchFamily="34" charset="0"/>
              <a:buChar char="•"/>
            </a:pPr>
            <a:r>
              <a:rPr lang="vi-VN" b="1" i="0" dirty="0">
                <a:solidFill>
                  <a:srgbClr val="404040"/>
                </a:solidFill>
                <a:effectLst/>
                <a:latin typeface="DeepSeek-CJK-patch"/>
              </a:rPr>
              <a:t>Xác suất </a:t>
            </a:r>
            <a:r>
              <a:rPr lang="vi-VN" b="1" i="0" dirty="0">
                <a:solidFill>
                  <a:srgbClr val="404040"/>
                </a:solidFill>
                <a:effectLst/>
                <a:latin typeface="KaTeX_Main"/>
              </a:rPr>
              <a:t>pi+1​</a:t>
            </a:r>
            <a:r>
              <a:rPr lang="vi-VN" b="1" i="0" dirty="0">
                <a:solidFill>
                  <a:srgbClr val="404040"/>
                </a:solidFill>
                <a:effectLst/>
                <a:latin typeface="DeepSeek-CJK-patch"/>
              </a:rPr>
              <a:t>:</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i+1</a:t>
            </a:r>
            <a:r>
              <a:rPr lang="en-US" b="0" i="0" dirty="0">
                <a:solidFill>
                  <a:srgbClr val="404040"/>
                </a:solidFill>
                <a:effectLst/>
                <a:latin typeface="KaTeX_Main"/>
              </a:rPr>
              <a:t>)</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e</a:t>
            </a:r>
            <a:r>
              <a:rPr lang="en-US" b="0" i="0" dirty="0">
                <a:solidFill>
                  <a:srgbClr val="404040"/>
                </a:solidFill>
                <a:effectLst/>
                <a:latin typeface="KaTeX_Main"/>
              </a:rPr>
              <a:t>^</a:t>
            </a:r>
            <a:r>
              <a:rPr lang="vi-VN" b="0" i="0" dirty="0">
                <a:solidFill>
                  <a:srgbClr val="404040"/>
                </a:solidFill>
                <a:effectLst/>
                <a:latin typeface="KaTeX_Main"/>
              </a:rPr>
              <a:t>−1</a:t>
            </a:r>
            <a:r>
              <a:rPr lang="en-US" b="0" i="0" dirty="0">
                <a:solidFill>
                  <a:srgbClr val="404040"/>
                </a:solidFill>
                <a:effectLst/>
                <a:latin typeface="KaTeX_Main"/>
              </a:rPr>
              <a:t> </a:t>
            </a:r>
            <a:r>
              <a:rPr lang="vi-VN" b="0" i="0" dirty="0">
                <a:solidFill>
                  <a:srgbClr val="404040"/>
                </a:solidFill>
                <a:effectLst/>
                <a:latin typeface="KaTeX_Main"/>
              </a:rPr>
              <a:t>(với p</a:t>
            </a:r>
            <a:r>
              <a:rPr lang="en-US" b="0" i="0" dirty="0">
                <a:solidFill>
                  <a:srgbClr val="404040"/>
                </a:solidFill>
                <a:effectLst/>
                <a:latin typeface="KaTeX_Main"/>
              </a:rPr>
              <a:t>_</a:t>
            </a:r>
            <a:r>
              <a:rPr lang="vi-VN" b="0" i="0" dirty="0">
                <a:solidFill>
                  <a:srgbClr val="404040"/>
                </a:solidFill>
                <a:effectLst/>
                <a:latin typeface="KaTeX_Main"/>
              </a:rPr>
              <a:t>i nhỏ v</a:t>
            </a:r>
            <a:r>
              <a:rPr lang="en-US" b="0" i="0" dirty="0">
                <a:solidFill>
                  <a:srgbClr val="404040"/>
                </a:solidFill>
                <a:effectLst/>
                <a:latin typeface="KaTeX_Main"/>
              </a:rPr>
              <a:t>à</a:t>
            </a:r>
            <a:r>
              <a:rPr lang="vi-VN" b="0" i="0" dirty="0">
                <a:solidFill>
                  <a:srgbClr val="404040"/>
                </a:solidFill>
                <a:effectLst/>
                <a:latin typeface="KaTeX_Main"/>
              </a:rPr>
              <a:t> N lớn)</a:t>
            </a:r>
            <a:endParaRPr lang="en-US" b="0" i="0" dirty="0">
              <a:solidFill>
                <a:srgbClr val="404040"/>
              </a:solidFill>
              <a:effectLst/>
              <a:latin typeface="KaTeX_Main"/>
            </a:endParaRPr>
          </a:p>
          <a:p>
            <a:pPr algn="l">
              <a:buFont typeface="Arial" panose="020B0604020202020204" pitchFamily="34" charset="0"/>
              <a:buChar char="•"/>
            </a:pPr>
            <a:r>
              <a:rPr lang="vi-VN" b="1" i="0" dirty="0">
                <a:solidFill>
                  <a:srgbClr val="404040"/>
                </a:solidFill>
                <a:effectLst/>
                <a:latin typeface="DeepSeek-CJK-patch"/>
              </a:rPr>
              <a:t>Giải thích: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Một nút vẫn </a:t>
            </a:r>
            <a:r>
              <a:rPr lang="vi-VN" b="1" i="0" dirty="0">
                <a:solidFill>
                  <a:srgbClr val="404040"/>
                </a:solidFill>
                <a:effectLst/>
                <a:latin typeface="DeepSeek-CJK-patch"/>
              </a:rPr>
              <a:t>ignorant</a:t>
            </a:r>
            <a:r>
              <a:rPr lang="vi-VN" b="0" i="0" dirty="0">
                <a:solidFill>
                  <a:srgbClr val="404040"/>
                </a:solidFill>
                <a:effectLst/>
                <a:latin typeface="DeepSeek-CJK-patch"/>
              </a:rPr>
              <a:t> sau round </a:t>
            </a:r>
            <a:r>
              <a:rPr lang="vi-VN" b="0" i="0" dirty="0">
                <a:solidFill>
                  <a:srgbClr val="404040"/>
                </a:solidFill>
                <a:effectLst/>
                <a:latin typeface="KaTeX_Main"/>
              </a:rPr>
              <a:t>i+1</a:t>
            </a:r>
            <a:r>
              <a:rPr lang="en-US" b="0" i="0" dirty="0">
                <a:solidFill>
                  <a:srgbClr val="404040"/>
                </a:solidFill>
                <a:effectLst/>
                <a:latin typeface="KaTeX_Main"/>
              </a:rPr>
              <a:t> </a:t>
            </a:r>
            <a:r>
              <a:rPr lang="vi-VN" b="0" i="0" dirty="0">
                <a:solidFill>
                  <a:srgbClr val="404040"/>
                </a:solidFill>
                <a:effectLst/>
                <a:latin typeface="DeepSeek-CJK-patch"/>
              </a:rPr>
              <a:t>nếu:</a:t>
            </a:r>
          </a:p>
          <a:p>
            <a:pPr marL="1143000" lvl="2" indent="-228600" algn="l">
              <a:buFont typeface="Arial" panose="020B0604020202020204" pitchFamily="34" charset="0"/>
              <a:buChar char="•"/>
            </a:pPr>
            <a:r>
              <a:rPr lang="vi-VN" b="0" i="0" dirty="0">
                <a:solidFill>
                  <a:srgbClr val="404040"/>
                </a:solidFill>
                <a:effectLst/>
                <a:latin typeface="DeepSeek-CJK-patch"/>
              </a:rPr>
              <a:t>Nó </a:t>
            </a:r>
            <a:r>
              <a:rPr lang="vi-VN" b="1" i="0" dirty="0">
                <a:solidFill>
                  <a:srgbClr val="404040"/>
                </a:solidFill>
                <a:effectLst/>
                <a:latin typeface="DeepSeek-CJK-patch"/>
              </a:rPr>
              <a:t>đã ignorant ở round </a:t>
            </a:r>
            <a:r>
              <a:rPr lang="vi-VN" b="1" i="0" dirty="0">
                <a:solidFill>
                  <a:srgbClr val="404040"/>
                </a:solidFill>
                <a:effectLst/>
                <a:latin typeface="KaTeX_Main"/>
              </a:rPr>
              <a:t>i</a:t>
            </a:r>
            <a:r>
              <a:rPr lang="vi-VN" b="0" i="0" dirty="0">
                <a:solidFill>
                  <a:srgbClr val="404040"/>
                </a:solidFill>
                <a:effectLst/>
                <a:latin typeface="DeepSeek-CJK-patch"/>
              </a:rPr>
              <a:t> (xác suất </a:t>
            </a:r>
            <a:r>
              <a:rPr lang="vi-VN" b="0" i="0" dirty="0">
                <a:solidFill>
                  <a:srgbClr val="404040"/>
                </a:solidFill>
                <a:effectLst/>
                <a:latin typeface="KaTeX_Main"/>
              </a:rPr>
              <a:t>pi​</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1" i="0" dirty="0">
                <a:solidFill>
                  <a:srgbClr val="404040"/>
                </a:solidFill>
                <a:effectLst/>
                <a:latin typeface="DeepSeek-CJK-patch"/>
              </a:rPr>
              <a:t>Không có nút nào đã cập nhật (updated) chọn nó để push dữ liệu</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0" i="0" dirty="0">
                <a:solidFill>
                  <a:srgbClr val="404040"/>
                </a:solidFill>
                <a:effectLst/>
                <a:latin typeface="DeepSeek-CJK-patch"/>
              </a:rPr>
              <a:t>Số nút </a:t>
            </a:r>
            <a:r>
              <a:rPr lang="vi-VN" b="1" i="0" dirty="0">
                <a:solidFill>
                  <a:srgbClr val="404040"/>
                </a:solidFill>
                <a:effectLst/>
                <a:latin typeface="DeepSeek-CJK-patch"/>
              </a:rPr>
              <a:t>updated</a:t>
            </a:r>
            <a:r>
              <a:rPr lang="vi-VN" b="0" i="0" dirty="0">
                <a:solidFill>
                  <a:srgbClr val="404040"/>
                </a:solidFill>
                <a:effectLst/>
                <a:latin typeface="DeepSeek-CJK-patch"/>
              </a:rPr>
              <a:t> ≈ </a:t>
            </a:r>
            <a:r>
              <a:rPr lang="vi-VN" b="0" i="0" dirty="0">
                <a:solidFill>
                  <a:srgbClr val="404040"/>
                </a:solidFill>
                <a:effectLst/>
                <a:latin typeface="KaTeX_Main"/>
              </a:rPr>
              <a:t>(N−1)(1−p</a:t>
            </a:r>
            <a:r>
              <a:rPr lang="en-US" b="0" i="0" dirty="0">
                <a:solidFill>
                  <a:srgbClr val="404040"/>
                </a:solidFill>
                <a:effectLst/>
                <a:latin typeface="KaTeX_Main"/>
              </a:rPr>
              <a:t>_</a:t>
            </a:r>
            <a:r>
              <a:rPr lang="vi-VN" b="0" i="0" dirty="0">
                <a:solidFill>
                  <a:srgbClr val="404040"/>
                </a:solidFill>
                <a:effectLst/>
                <a:latin typeface="KaTeX_Main"/>
              </a:rPr>
              <a:t>i)</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0" i="0" dirty="0">
                <a:solidFill>
                  <a:srgbClr val="404040"/>
                </a:solidFill>
                <a:effectLst/>
                <a:latin typeface="DeepSeek-CJK-patch"/>
              </a:rPr>
              <a:t>Xác suất một nút updated </a:t>
            </a:r>
            <a:r>
              <a:rPr lang="vi-VN" b="1" i="0" dirty="0">
                <a:solidFill>
                  <a:srgbClr val="404040"/>
                </a:solidFill>
                <a:effectLst/>
                <a:latin typeface="DeepSeek-CJK-patch"/>
              </a:rPr>
              <a:t>không chọn nó</a:t>
            </a:r>
            <a:r>
              <a:rPr lang="vi-VN" b="0" i="0" dirty="0">
                <a:solidFill>
                  <a:srgbClr val="404040"/>
                </a:solidFill>
                <a:effectLst/>
                <a:latin typeface="DeepSeek-CJK-patch"/>
              </a:rPr>
              <a:t> trong một lần push: </a:t>
            </a:r>
            <a:r>
              <a:rPr lang="vi-VN" b="0" i="0" dirty="0">
                <a:solidFill>
                  <a:srgbClr val="404040"/>
                </a:solidFill>
                <a:effectLst/>
                <a:latin typeface="KaTeX_Main"/>
              </a:rPr>
              <a:t>1−1</a:t>
            </a:r>
            <a:r>
              <a:rPr lang="en-US" b="0" i="0" dirty="0">
                <a:solidFill>
                  <a:srgbClr val="404040"/>
                </a:solidFill>
                <a:effectLst/>
                <a:latin typeface="KaTeX_Main"/>
              </a:rPr>
              <a:t>/(</a:t>
            </a:r>
            <a:r>
              <a:rPr lang="vi-VN" b="0" i="0" dirty="0">
                <a:solidFill>
                  <a:srgbClr val="404040"/>
                </a:solidFill>
                <a:effectLst/>
                <a:latin typeface="KaTeX_Main"/>
              </a:rPr>
              <a:t>N−1</a:t>
            </a:r>
            <a:r>
              <a:rPr lang="en-US" b="0" i="0" dirty="0">
                <a:solidFill>
                  <a:srgbClr val="404040"/>
                </a:solidFill>
                <a:effectLst/>
                <a:latin typeface="KaTeX_Main"/>
              </a:rPr>
              <a:t>)</a:t>
            </a:r>
            <a:r>
              <a:rPr lang="vi-VN" b="0" i="0" dirty="0">
                <a:solidFill>
                  <a:srgbClr val="404040"/>
                </a:solidFill>
                <a:effectLst/>
                <a:latin typeface="KaTeX_Main"/>
              </a:rPr>
              <a:t>​</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0" i="0" dirty="0">
                <a:solidFill>
                  <a:srgbClr val="404040"/>
                </a:solidFill>
                <a:effectLst/>
                <a:latin typeface="DeepSeek-CJK-patch"/>
              </a:rPr>
              <a:t>Vì có </a:t>
            </a:r>
            <a:r>
              <a:rPr lang="vi-VN" b="0" i="0" dirty="0">
                <a:solidFill>
                  <a:srgbClr val="404040"/>
                </a:solidFill>
                <a:effectLst/>
                <a:latin typeface="KaTeX_Main"/>
              </a:rPr>
              <a:t>(N−1)(1−p</a:t>
            </a:r>
            <a:r>
              <a:rPr lang="en-US" b="0" i="0" dirty="0">
                <a:solidFill>
                  <a:srgbClr val="404040"/>
                </a:solidFill>
                <a:effectLst/>
                <a:latin typeface="KaTeX_Main"/>
              </a:rPr>
              <a:t>_</a:t>
            </a:r>
            <a:r>
              <a:rPr lang="vi-VN" b="0" i="0" dirty="0">
                <a:solidFill>
                  <a:srgbClr val="404040"/>
                </a:solidFill>
                <a:effectLst/>
                <a:latin typeface="KaTeX_Main"/>
              </a:rPr>
              <a:t>i)</a:t>
            </a:r>
            <a:r>
              <a:rPr lang="vi-VN" b="0" i="0" dirty="0">
                <a:solidFill>
                  <a:srgbClr val="404040"/>
                </a:solidFill>
                <a:effectLst/>
                <a:latin typeface="DeepSeek-CJK-patch"/>
              </a:rPr>
              <a:t> nút updated, xác suất </a:t>
            </a:r>
            <a:r>
              <a:rPr lang="vi-VN" b="1" i="0" dirty="0">
                <a:solidFill>
                  <a:srgbClr val="404040"/>
                </a:solidFill>
                <a:effectLst/>
                <a:latin typeface="DeepSeek-CJK-patch"/>
              </a:rPr>
              <a:t>không nút nào push cho nó</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0" i="0" dirty="0">
                <a:solidFill>
                  <a:srgbClr val="404040"/>
                </a:solidFill>
                <a:effectLst/>
                <a:latin typeface="KaTeX_Main"/>
              </a:rPr>
              <a:t>(1−1</a:t>
            </a:r>
            <a:r>
              <a:rPr lang="en-US" b="0" i="0" dirty="0">
                <a:solidFill>
                  <a:srgbClr val="404040"/>
                </a:solidFill>
                <a:effectLst/>
                <a:latin typeface="KaTeX_Main"/>
              </a:rPr>
              <a:t>/(</a:t>
            </a:r>
            <a:r>
              <a:rPr lang="vi-VN" b="0" i="0" dirty="0">
                <a:solidFill>
                  <a:srgbClr val="404040"/>
                </a:solidFill>
                <a:effectLst/>
                <a:latin typeface="KaTeX_Main"/>
              </a:rPr>
              <a:t>N−1)</a:t>
            </a:r>
            <a:r>
              <a:rPr lang="en-US" b="0" i="0" dirty="0">
                <a:solidFill>
                  <a:srgbClr val="404040"/>
                </a:solidFill>
                <a:effectLst/>
                <a:latin typeface="KaTeX_Main"/>
              </a:rPr>
              <a:t>)^</a:t>
            </a:r>
            <a:r>
              <a:rPr lang="vi-VN" b="0" i="0" dirty="0">
                <a:solidFill>
                  <a:srgbClr val="404040"/>
                </a:solidFill>
                <a:effectLst/>
                <a:latin typeface="KaTeX_Main"/>
              </a:rPr>
              <a:t>(N−1)(1−p</a:t>
            </a:r>
            <a:r>
              <a:rPr lang="en-US" b="0" i="0" dirty="0">
                <a:solidFill>
                  <a:srgbClr val="404040"/>
                </a:solidFill>
                <a:effectLst/>
                <a:latin typeface="KaTeX_Main"/>
              </a:rPr>
              <a:t>_</a:t>
            </a:r>
            <a:r>
              <a:rPr lang="vi-VN" b="0" i="0" dirty="0">
                <a:solidFill>
                  <a:srgbClr val="404040"/>
                </a:solidFill>
                <a:effectLst/>
                <a:latin typeface="KaTeX_Main"/>
              </a:rPr>
              <a:t>i)≈e</a:t>
            </a:r>
            <a:r>
              <a:rPr lang="en-US" b="0" i="0" dirty="0">
                <a:solidFill>
                  <a:srgbClr val="404040"/>
                </a:solidFill>
                <a:effectLst/>
                <a:latin typeface="KaTeX_Main"/>
              </a:rPr>
              <a:t>^</a:t>
            </a:r>
            <a:r>
              <a:rPr lang="vi-VN" b="0" i="0" dirty="0">
                <a:solidFill>
                  <a:srgbClr val="404040"/>
                </a:solidFill>
                <a:effectLst/>
                <a:latin typeface="KaTeX_Main"/>
              </a:rPr>
              <a:t>−(1−pi)≈e</a:t>
            </a:r>
            <a:r>
              <a:rPr lang="en-US" b="0" i="0" dirty="0">
                <a:solidFill>
                  <a:srgbClr val="404040"/>
                </a:solidFill>
                <a:effectLst/>
                <a:latin typeface="KaTeX_Main"/>
              </a:rPr>
              <a:t>^</a:t>
            </a:r>
            <a:r>
              <a:rPr lang="vi-VN" b="0" i="0" dirty="0">
                <a:solidFill>
                  <a:srgbClr val="404040"/>
                </a:solidFill>
                <a:effectLst/>
                <a:latin typeface="KaTeX_Main"/>
              </a:rPr>
              <a:t>−1</a:t>
            </a:r>
            <a:r>
              <a:rPr lang="en-US" b="0" i="0" dirty="0">
                <a:solidFill>
                  <a:srgbClr val="404040"/>
                </a:solidFill>
                <a:effectLst/>
                <a:latin typeface="KaTeX_Main"/>
              </a:rPr>
              <a:t> </a:t>
            </a:r>
            <a:r>
              <a:rPr lang="vi-VN" b="0" i="0" dirty="0">
                <a:solidFill>
                  <a:srgbClr val="404040"/>
                </a:solidFill>
                <a:effectLst/>
                <a:latin typeface="KaTeX_Main"/>
              </a:rPr>
              <a:t>(khi pi nhỏ)</a:t>
            </a:r>
            <a:endParaRPr lang="vi-VN" b="0" i="0" dirty="0">
              <a:solidFill>
                <a:srgbClr val="404040"/>
              </a:solidFill>
              <a:effectLst/>
              <a:latin typeface="DeepSeek-CJK-patch"/>
            </a:endParaRPr>
          </a:p>
          <a:p>
            <a:pPr algn="l">
              <a:buFont typeface="Arial" panose="020B0604020202020204" pitchFamily="34" charset="0"/>
              <a:buChar char="•"/>
            </a:pPr>
            <a:r>
              <a:rPr lang="en-US" b="0" i="0" dirty="0">
                <a:solidFill>
                  <a:srgbClr val="404040"/>
                </a:solidFill>
                <a:effectLst/>
                <a:latin typeface="DeepSeek-CJK-patch"/>
              </a:rPr>
              <a:t>=&gt;</a:t>
            </a:r>
            <a:r>
              <a:rPr lang="vi-VN" b="0" i="0" dirty="0">
                <a:solidFill>
                  <a:srgbClr val="404040"/>
                </a:solidFill>
                <a:effectLst/>
                <a:latin typeface="DeepSeek-CJK-patch"/>
              </a:rPr>
              <a:t> Vậy </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i+1</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e−1</a:t>
            </a:r>
            <a:endParaRPr lang="en-US" b="0" i="0" dirty="0">
              <a:solidFill>
                <a:srgbClr val="404040"/>
              </a:solidFill>
              <a:effectLst/>
              <a:latin typeface="KaTeX_Main"/>
            </a:endParaRPr>
          </a:p>
          <a:p>
            <a:pPr algn="l">
              <a:buFont typeface="Arial" panose="020B0604020202020204" pitchFamily="34" charset="0"/>
              <a:buChar char="•"/>
            </a:pPr>
            <a:endParaRPr lang="vi-VN" b="0" i="0" dirty="0">
              <a:solidFill>
                <a:srgbClr val="404040"/>
              </a:solidFill>
              <a:effectLst/>
              <a:latin typeface="DeepSeek-CJK-patch"/>
            </a:endParaRPr>
          </a:p>
          <a:p>
            <a:pPr algn="l"/>
            <a:r>
              <a:rPr lang="vi-VN" b="1" i="0" dirty="0">
                <a:solidFill>
                  <a:srgbClr val="404040"/>
                </a:solidFill>
                <a:effectLst/>
                <a:latin typeface="DeepSeek-CJK-patch"/>
              </a:rPr>
              <a:t>c) Push-Pull Anti-entropy</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Cơ chế:</a:t>
            </a:r>
            <a:r>
              <a:rPr lang="vi-VN" b="0" i="0" dirty="0">
                <a:solidFill>
                  <a:srgbClr val="404040"/>
                </a:solidFill>
                <a:effectLst/>
                <a:latin typeface="DeepSeek-CJK-patch"/>
              </a:rPr>
              <a:t> Kết hợp cả </a:t>
            </a:r>
            <a:r>
              <a:rPr lang="vi-VN" b="1" i="0" dirty="0">
                <a:solidFill>
                  <a:srgbClr val="404040"/>
                </a:solidFill>
                <a:effectLst/>
                <a:latin typeface="DeepSeek-CJK-patch"/>
              </a:rPr>
              <a:t>push và pull</a:t>
            </a:r>
            <a:r>
              <a:rPr lang="vi-VN" b="0" i="0" dirty="0">
                <a:solidFill>
                  <a:srgbClr val="404040"/>
                </a:solidFill>
                <a:effectLst/>
                <a:latin typeface="DeepSeek-CJK-patch"/>
              </a:rPr>
              <a:t> trong cùng một round.</a:t>
            </a:r>
          </a:p>
          <a:p>
            <a:pPr algn="l">
              <a:buFont typeface="Arial" panose="020B0604020202020204" pitchFamily="34" charset="0"/>
              <a:buChar char="•"/>
            </a:pPr>
            <a:r>
              <a:rPr lang="vi-VN" b="1" i="0" dirty="0">
                <a:solidFill>
                  <a:srgbClr val="404040"/>
                </a:solidFill>
                <a:effectLst/>
                <a:latin typeface="DeepSeek-CJK-patch"/>
              </a:rPr>
              <a:t>Xác suất </a:t>
            </a:r>
            <a:r>
              <a:rPr lang="vi-VN" b="1" i="0" dirty="0">
                <a:solidFill>
                  <a:srgbClr val="404040"/>
                </a:solidFill>
                <a:effectLst/>
                <a:latin typeface="KaTeX_Main"/>
              </a:rPr>
              <a:t>p</a:t>
            </a:r>
            <a:r>
              <a:rPr lang="en-US" b="1" i="0" dirty="0">
                <a:solidFill>
                  <a:srgbClr val="404040"/>
                </a:solidFill>
                <a:effectLst/>
                <a:latin typeface="KaTeX_Main"/>
              </a:rPr>
              <a:t>_(</a:t>
            </a:r>
            <a:r>
              <a:rPr lang="vi-VN" b="1" i="0" dirty="0">
                <a:solidFill>
                  <a:srgbClr val="404040"/>
                </a:solidFill>
                <a:effectLst/>
                <a:latin typeface="KaTeX_Main"/>
              </a:rPr>
              <a:t>i+1</a:t>
            </a:r>
            <a:r>
              <a:rPr lang="en-US" b="1" i="0" dirty="0">
                <a:solidFill>
                  <a:srgbClr val="404040"/>
                </a:solidFill>
                <a:effectLst/>
                <a:latin typeface="KaTeX_Main"/>
              </a:rPr>
              <a:t>)</a:t>
            </a:r>
            <a:r>
              <a:rPr lang="vi-VN" b="1" i="0" dirty="0">
                <a:solidFill>
                  <a:srgbClr val="404040"/>
                </a:solidFill>
                <a:effectLst/>
                <a:latin typeface="KaTeX_Main"/>
              </a:rPr>
              <a:t>​</a:t>
            </a:r>
            <a:r>
              <a:rPr lang="vi-VN" b="1" i="0" dirty="0">
                <a:solidFill>
                  <a:srgbClr val="404040"/>
                </a:solidFill>
                <a:effectLst/>
                <a:latin typeface="DeepSeek-CJK-patch"/>
              </a:rPr>
              <a:t>:</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i+1</a:t>
            </a:r>
            <a:r>
              <a:rPr lang="en-US" b="0" i="0" dirty="0">
                <a:solidFill>
                  <a:srgbClr val="404040"/>
                </a:solidFill>
                <a:effectLst/>
                <a:latin typeface="KaTeX_Main"/>
              </a:rPr>
              <a:t>)</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a:t>
            </a:r>
            <a:r>
              <a:rPr lang="en-US" b="0" i="0" dirty="0">
                <a:solidFill>
                  <a:srgbClr val="404040"/>
                </a:solidFill>
                <a:effectLst/>
                <a:latin typeface="KaTeX_Main"/>
              </a:rPr>
              <a:t>^</a:t>
            </a:r>
            <a:r>
              <a:rPr lang="vi-VN" b="0" i="0" dirty="0">
                <a:solidFill>
                  <a:srgbClr val="404040"/>
                </a:solidFill>
                <a:effectLst/>
                <a:latin typeface="KaTeX_Main"/>
              </a:rPr>
              <a:t>2</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e</a:t>
            </a:r>
            <a:r>
              <a:rPr lang="en-US" b="0" i="0" dirty="0">
                <a:solidFill>
                  <a:srgbClr val="404040"/>
                </a:solidFill>
                <a:effectLst/>
                <a:latin typeface="KaTeX_Main"/>
              </a:rPr>
              <a:t>^</a:t>
            </a:r>
            <a:r>
              <a:rPr lang="vi-VN" b="0" i="0" dirty="0">
                <a:solidFill>
                  <a:srgbClr val="404040"/>
                </a:solidFill>
                <a:effectLst/>
                <a:latin typeface="KaTeX_Main"/>
              </a:rPr>
              <a:t>−1)</a:t>
            </a:r>
            <a:endParaRPr lang="en-US" b="0" i="0" dirty="0">
              <a:solidFill>
                <a:srgbClr val="404040"/>
              </a:solidFill>
              <a:effectLst/>
              <a:latin typeface="KaTeX_Main"/>
            </a:endParaRPr>
          </a:p>
          <a:p>
            <a:pPr algn="l">
              <a:buFont typeface="Arial" panose="020B0604020202020204" pitchFamily="34" charset="0"/>
              <a:buChar char="•"/>
            </a:pPr>
            <a:r>
              <a:rPr lang="vi-VN" b="1" i="0" dirty="0">
                <a:solidFill>
                  <a:srgbClr val="404040"/>
                </a:solidFill>
                <a:effectLst/>
                <a:latin typeface="DeepSeek-CJK-patch"/>
              </a:rPr>
              <a:t>Giải thích: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Một nút vẫn </a:t>
            </a:r>
            <a:r>
              <a:rPr lang="vi-VN" b="1" i="0" dirty="0">
                <a:solidFill>
                  <a:srgbClr val="404040"/>
                </a:solidFill>
                <a:effectLst/>
                <a:latin typeface="DeepSeek-CJK-patch"/>
              </a:rPr>
              <a:t>ignorant</a:t>
            </a:r>
            <a:r>
              <a:rPr lang="vi-VN" b="0" i="0" dirty="0">
                <a:solidFill>
                  <a:srgbClr val="404040"/>
                </a:solidFill>
                <a:effectLst/>
                <a:latin typeface="DeepSeek-CJK-patch"/>
              </a:rPr>
              <a:t> sau round </a:t>
            </a:r>
            <a:r>
              <a:rPr lang="vi-VN" b="0" i="0" dirty="0">
                <a:solidFill>
                  <a:srgbClr val="404040"/>
                </a:solidFill>
                <a:effectLst/>
                <a:latin typeface="KaTeX_Main"/>
              </a:rPr>
              <a:t>i+1</a:t>
            </a:r>
            <a:r>
              <a:rPr lang="vi-VN" b="0" i="0" dirty="0">
                <a:solidFill>
                  <a:srgbClr val="404040"/>
                </a:solidFill>
                <a:effectLst/>
                <a:latin typeface="DeepSeek-CJK-patch"/>
              </a:rPr>
              <a:t> nếu:</a:t>
            </a:r>
          </a:p>
          <a:p>
            <a:pPr marL="1143000" lvl="2" indent="-228600" algn="l">
              <a:buFont typeface="Arial" panose="020B0604020202020204" pitchFamily="34" charset="0"/>
              <a:buChar char="•"/>
            </a:pPr>
            <a:r>
              <a:rPr lang="vi-VN" b="0" i="0" dirty="0">
                <a:solidFill>
                  <a:srgbClr val="404040"/>
                </a:solidFill>
                <a:effectLst/>
                <a:latin typeface="DeepSeek-CJK-patch"/>
              </a:rPr>
              <a:t>Nó </a:t>
            </a:r>
            <a:r>
              <a:rPr lang="vi-VN" b="1" i="0" dirty="0">
                <a:solidFill>
                  <a:srgbClr val="404040"/>
                </a:solidFill>
                <a:effectLst/>
                <a:latin typeface="DeepSeek-CJK-patch"/>
              </a:rPr>
              <a:t>không pull được dữ liệu mới</a:t>
            </a:r>
            <a:r>
              <a:rPr lang="vi-VN" b="0" i="0" dirty="0">
                <a:solidFill>
                  <a:srgbClr val="404040"/>
                </a:solidFill>
                <a:effectLst/>
                <a:latin typeface="DeepSeek-CJK-patch"/>
              </a:rPr>
              <a:t> xác suất </a:t>
            </a:r>
            <a:r>
              <a:rPr lang="en-US" b="0" i="0" dirty="0">
                <a:solidFill>
                  <a:srgbClr val="404040"/>
                </a:solidFill>
                <a:effectLst/>
                <a:latin typeface="DeepSeek-CJK-patch"/>
              </a:rPr>
              <a:t>(</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a:t>
            </a:r>
            <a:r>
              <a:rPr lang="en-US" b="0" i="0" dirty="0">
                <a:solidFill>
                  <a:srgbClr val="404040"/>
                </a:solidFill>
                <a:effectLst/>
                <a:latin typeface="KaTeX_Main"/>
              </a:rPr>
              <a:t>^</a:t>
            </a:r>
            <a:r>
              <a:rPr lang="vi-VN" b="0" i="0" dirty="0">
                <a:solidFill>
                  <a:srgbClr val="404040"/>
                </a:solidFill>
                <a:effectLst/>
                <a:latin typeface="KaTeX_Main"/>
              </a:rPr>
              <a:t>2</a:t>
            </a:r>
            <a:r>
              <a:rPr lang="vi-VN" b="0" i="0" dirty="0">
                <a:solidFill>
                  <a:srgbClr val="404040"/>
                </a:solidFill>
                <a:effectLst/>
                <a:latin typeface="DeepSeek-CJK-patch"/>
              </a:rPr>
              <a:t>, giống cơ chế pull.</a:t>
            </a:r>
          </a:p>
          <a:p>
            <a:pPr marL="1143000" lvl="2" indent="-228600" algn="l">
              <a:buFont typeface="Arial" panose="020B0604020202020204" pitchFamily="34" charset="0"/>
              <a:buChar char="•"/>
            </a:pPr>
            <a:r>
              <a:rPr lang="vi-VN" b="1" i="0" dirty="0">
                <a:solidFill>
                  <a:srgbClr val="404040"/>
                </a:solidFill>
                <a:effectLst/>
                <a:latin typeface="DeepSeek-CJK-patch"/>
              </a:rPr>
              <a:t>Không có nút nào push dữ liệu cho nó</a:t>
            </a:r>
            <a:r>
              <a:rPr lang="vi-VN" b="0" i="0" dirty="0">
                <a:solidFill>
                  <a:srgbClr val="404040"/>
                </a:solidFill>
                <a:effectLst/>
                <a:latin typeface="DeepSeek-CJK-patch"/>
              </a:rPr>
              <a:t> (xác suất </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e</a:t>
            </a:r>
            <a:r>
              <a:rPr lang="en-US" b="0" i="0" dirty="0">
                <a:solidFill>
                  <a:srgbClr val="404040"/>
                </a:solidFill>
                <a:effectLst/>
                <a:latin typeface="KaTeX_Main"/>
              </a:rPr>
              <a:t>^</a:t>
            </a:r>
            <a:r>
              <a:rPr lang="vi-VN" b="0" i="0" dirty="0">
                <a:solidFill>
                  <a:srgbClr val="404040"/>
                </a:solidFill>
                <a:effectLst/>
                <a:latin typeface="KaTeX_Main"/>
              </a:rPr>
              <a:t>−1</a:t>
            </a:r>
            <a:r>
              <a:rPr lang="vi-VN" b="0" i="0" dirty="0">
                <a:solidFill>
                  <a:srgbClr val="404040"/>
                </a:solidFill>
                <a:effectLst/>
                <a:latin typeface="DeepSeek-CJK-patch"/>
              </a:rPr>
              <a:t>), giống cơ chế push.</a:t>
            </a:r>
            <a:br>
              <a:rPr lang="vi-VN" b="0" i="0" dirty="0">
                <a:solidFill>
                  <a:srgbClr val="404040"/>
                </a:solidFill>
                <a:effectLst/>
                <a:latin typeface="DeepSeek-CJK-patch"/>
              </a:rPr>
            </a:br>
            <a:r>
              <a:rPr lang="en-US" b="0" i="0" dirty="0">
                <a:solidFill>
                  <a:srgbClr val="404040"/>
                </a:solidFill>
                <a:effectLst/>
                <a:latin typeface="DeepSeek-CJK-patch"/>
              </a:rPr>
              <a:t>=&gt;</a:t>
            </a:r>
            <a:r>
              <a:rPr lang="vi-VN" b="0" i="0" dirty="0">
                <a:solidFill>
                  <a:srgbClr val="404040"/>
                </a:solidFill>
                <a:effectLst/>
                <a:latin typeface="DeepSeek-CJK-patch"/>
              </a:rPr>
              <a:t> Vậy </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i+1</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a:t>
            </a:r>
            <a:r>
              <a:rPr lang="en-US" b="0" i="0" dirty="0">
                <a:solidFill>
                  <a:srgbClr val="404040"/>
                </a:solidFill>
                <a:effectLst/>
                <a:latin typeface="KaTeX_Main"/>
              </a:rPr>
              <a:t>^</a:t>
            </a:r>
            <a:r>
              <a:rPr lang="vi-VN" b="0" i="0" dirty="0">
                <a:solidFill>
                  <a:srgbClr val="404040"/>
                </a:solidFill>
                <a:effectLst/>
                <a:latin typeface="KaTeX_Main"/>
              </a:rPr>
              <a:t>2</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(p</a:t>
            </a:r>
            <a:r>
              <a:rPr lang="en-US" b="0" i="0" dirty="0">
                <a:solidFill>
                  <a:srgbClr val="404040"/>
                </a:solidFill>
                <a:effectLst/>
                <a:latin typeface="KaTeX_Main"/>
              </a:rPr>
              <a:t>_ </a:t>
            </a:r>
            <a:r>
              <a:rPr lang="vi-VN" b="0" i="0" dirty="0">
                <a:solidFill>
                  <a:srgbClr val="404040"/>
                </a:solidFill>
                <a:effectLst/>
                <a:latin typeface="KaTeX_Main"/>
              </a:rPr>
              <a:t>i×</a:t>
            </a:r>
            <a:r>
              <a:rPr lang="en-US" b="0" i="0" dirty="0">
                <a:solidFill>
                  <a:srgbClr val="404040"/>
                </a:solidFill>
                <a:effectLst/>
                <a:latin typeface="KaTeX_Main"/>
              </a:rPr>
              <a:t> </a:t>
            </a:r>
            <a:r>
              <a:rPr lang="vi-VN" b="0" i="0" dirty="0">
                <a:solidFill>
                  <a:srgbClr val="404040"/>
                </a:solidFill>
                <a:effectLst/>
                <a:latin typeface="KaTeX_Main"/>
              </a:rPr>
              <a:t>e</a:t>
            </a:r>
            <a:r>
              <a:rPr lang="en-US" b="0" i="0" dirty="0">
                <a:solidFill>
                  <a:srgbClr val="404040"/>
                </a:solidFill>
                <a:effectLst/>
                <a:latin typeface="KaTeX_Main"/>
              </a:rPr>
              <a:t>^</a:t>
            </a:r>
            <a:r>
              <a:rPr lang="vi-VN" b="0" i="0" dirty="0">
                <a:solidFill>
                  <a:srgbClr val="404040"/>
                </a:solidFill>
                <a:effectLst/>
                <a:latin typeface="KaTeX_Main"/>
              </a:rPr>
              <a:t>−1)</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Pull:</a:t>
            </a:r>
            <a:r>
              <a:rPr lang="vi-VN" b="0" i="0" dirty="0">
                <a:solidFill>
                  <a:srgbClr val="404040"/>
                </a:solidFill>
                <a:effectLst/>
                <a:latin typeface="DeepSeek-CJK-patch"/>
              </a:rPr>
              <a:t> Xác suất ignorant giảm theo </a:t>
            </a:r>
            <a:r>
              <a:rPr lang="vi-VN" b="1" i="0" dirty="0">
                <a:solidFill>
                  <a:srgbClr val="404040"/>
                </a:solidFill>
                <a:effectLst/>
                <a:latin typeface="DeepSeek-CJK-patch"/>
              </a:rPr>
              <a:t>bình phương</a:t>
            </a:r>
            <a:r>
              <a:rPr lang="vi-VN" b="0" i="0" dirty="0">
                <a:solidFill>
                  <a:srgbClr val="404040"/>
                </a:solidFill>
                <a:effectLst/>
                <a:latin typeface="DeepSeek-CJK-patch"/>
              </a:rPr>
              <a:t> </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i+1</a:t>
            </a:r>
            <a:r>
              <a:rPr lang="en-US" b="0" i="0" dirty="0">
                <a:solidFill>
                  <a:srgbClr val="404040"/>
                </a:solidFill>
                <a:effectLst/>
                <a:latin typeface="KaTeX_Main"/>
              </a:rPr>
              <a:t>)</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i)</a:t>
            </a:r>
            <a:r>
              <a:rPr lang="en-US" b="0" i="0" dirty="0">
                <a:solidFill>
                  <a:srgbClr val="404040"/>
                </a:solidFill>
                <a:effectLst/>
                <a:latin typeface="KaTeX_Main"/>
              </a:rPr>
              <a:t>^</a:t>
            </a:r>
            <a:r>
              <a:rPr lang="vi-VN" b="0" i="0" dirty="0">
                <a:solidFill>
                  <a:srgbClr val="404040"/>
                </a:solidFill>
                <a:effectLst/>
                <a:latin typeface="KaTeX_Main"/>
              </a:rPr>
              <a:t>2</a:t>
            </a:r>
            <a:r>
              <a:rPr lang="vi-VN" b="0" i="0" dirty="0">
                <a:solidFill>
                  <a:srgbClr val="404040"/>
                </a:solidFill>
                <a:effectLst/>
                <a:latin typeface="DeepSeek-CJK-patch"/>
              </a:rPr>
              <a:t> → Hiệu quả khi nhiều nút đã cập nhật.</a:t>
            </a:r>
          </a:p>
          <a:p>
            <a:pPr algn="l">
              <a:buFont typeface="Arial" panose="020B0604020202020204" pitchFamily="34" charset="0"/>
              <a:buChar char="•"/>
            </a:pPr>
            <a:r>
              <a:rPr lang="vi-VN" b="1" i="0" dirty="0">
                <a:solidFill>
                  <a:srgbClr val="404040"/>
                </a:solidFill>
                <a:effectLst/>
                <a:latin typeface="DeepSeek-CJK-patch"/>
              </a:rPr>
              <a:t>Push:</a:t>
            </a:r>
            <a:r>
              <a:rPr lang="vi-VN" b="0" i="0" dirty="0">
                <a:solidFill>
                  <a:srgbClr val="404040"/>
                </a:solidFill>
                <a:effectLst/>
                <a:latin typeface="DeepSeek-CJK-patch"/>
              </a:rPr>
              <a:t> Xác suất ignorant giảm </a:t>
            </a:r>
            <a:r>
              <a:rPr lang="vi-VN" b="1" i="0" dirty="0">
                <a:solidFill>
                  <a:srgbClr val="404040"/>
                </a:solidFill>
                <a:effectLst/>
                <a:latin typeface="DeepSeek-CJK-patch"/>
              </a:rPr>
              <a:t>tuyến tính với hệ số </a:t>
            </a:r>
            <a:r>
              <a:rPr lang="vi-VN" b="1" i="0" dirty="0">
                <a:solidFill>
                  <a:srgbClr val="404040"/>
                </a:solidFill>
                <a:effectLst/>
                <a:latin typeface="KaTeX_Main"/>
              </a:rPr>
              <a:t>e</a:t>
            </a:r>
            <a:r>
              <a:rPr lang="en-US" b="1" i="0" dirty="0">
                <a:solidFill>
                  <a:srgbClr val="404040"/>
                </a:solidFill>
                <a:effectLst/>
                <a:latin typeface="KaTeX_Main"/>
              </a:rPr>
              <a:t>^</a:t>
            </a:r>
            <a:r>
              <a:rPr lang="vi-VN" b="1" i="0" dirty="0">
                <a:solidFill>
                  <a:srgbClr val="404040"/>
                </a:solidFill>
                <a:effectLst/>
                <a:latin typeface="KaTeX_Main"/>
              </a:rPr>
              <a:t>−1</a:t>
            </a:r>
            <a:r>
              <a:rPr lang="vi-VN" b="0" i="0" dirty="0">
                <a:solidFill>
                  <a:srgbClr val="404040"/>
                </a:solidFill>
                <a:effectLst/>
                <a:latin typeface="DeepSeek-CJK-patch"/>
              </a:rPr>
              <a:t> → Hiệu quả khi ít nút cập nhật.</a:t>
            </a:r>
          </a:p>
          <a:p>
            <a:pPr algn="l">
              <a:buFont typeface="Arial" panose="020B0604020202020204" pitchFamily="34" charset="0"/>
              <a:buChar char="•"/>
            </a:pPr>
            <a:r>
              <a:rPr lang="vi-VN" b="1" i="0" dirty="0">
                <a:solidFill>
                  <a:srgbClr val="404040"/>
                </a:solidFill>
                <a:effectLst/>
                <a:latin typeface="DeepSeek-CJK-patch"/>
              </a:rPr>
              <a:t>Push-Pull:</a:t>
            </a:r>
            <a:r>
              <a:rPr lang="vi-VN" b="0" i="0" dirty="0">
                <a:solidFill>
                  <a:srgbClr val="404040"/>
                </a:solidFill>
                <a:effectLst/>
                <a:latin typeface="DeepSeek-CJK-patch"/>
              </a:rPr>
              <a:t> Kết hợp cả hai → </a:t>
            </a:r>
            <a:r>
              <a:rPr lang="vi-VN" b="1" i="0" dirty="0">
                <a:solidFill>
                  <a:srgbClr val="404040"/>
                </a:solidFill>
                <a:effectLst/>
                <a:latin typeface="DeepSeek-CJK-patch"/>
              </a:rPr>
              <a:t>Giảm ignorant nhanh nhất</a:t>
            </a:r>
            <a:r>
              <a:rPr lang="vi-VN" b="0" i="0" dirty="0">
                <a:solidFill>
                  <a:srgbClr val="404040"/>
                </a:solidFill>
                <a:effectLst/>
                <a:latin typeface="DeepSeek-CJK-patch"/>
              </a:rPr>
              <a:t>, phù hợp cho hệ thống lớn.</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47</a:t>
            </a:fld>
            <a:endParaRPr lang="en-US"/>
          </a:p>
        </p:txBody>
      </p:sp>
    </p:spTree>
    <p:extLst>
      <p:ext uri="{BB962C8B-B14F-4D97-AF65-F5344CB8AC3E}">
        <p14:creationId xmlns:p14="http://schemas.microsoft.com/office/powerpoint/2010/main" val="42442770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"Rumor Spreading"</a:t>
            </a:r>
            <a:endParaRPr lang="vi-VN" b="0" i="0" dirty="0">
              <a:solidFill>
                <a:srgbClr val="404040"/>
              </a:solidFill>
              <a:effectLst/>
              <a:latin typeface="DeepSeek-CJK-patch"/>
            </a:endParaRPr>
          </a:p>
          <a:p>
            <a:pPr algn="l"/>
            <a:r>
              <a:rPr lang="vi-VN" b="1" i="0" dirty="0">
                <a:solidFill>
                  <a:srgbClr val="404040"/>
                </a:solidFill>
                <a:effectLst/>
                <a:latin typeface="DeepSeek-CJK-patch"/>
              </a:rPr>
              <a:t>Mục tiêu:</a:t>
            </a:r>
            <a:r>
              <a:rPr lang="vi-VN" b="0" i="0" dirty="0">
                <a:solidFill>
                  <a:srgbClr val="404040"/>
                </a:solidFill>
                <a:effectLst/>
                <a:latin typeface="DeepSeek-CJK-patch"/>
              </a:rPr>
              <a:t> Hiểu cơ chế </a:t>
            </a:r>
            <a:r>
              <a:rPr lang="vi-VN" b="1" i="0" dirty="0">
                <a:solidFill>
                  <a:srgbClr val="404040"/>
                </a:solidFill>
                <a:effectLst/>
                <a:latin typeface="DeepSeek-CJK-patch"/>
              </a:rPr>
              <a:t>Rumor Spreading</a:t>
            </a:r>
            <a:r>
              <a:rPr lang="vi-VN" b="0" i="0" dirty="0">
                <a:solidFill>
                  <a:srgbClr val="404040"/>
                </a:solidFill>
                <a:effectLst/>
                <a:latin typeface="DeepSeek-CJK-patch"/>
              </a:rPr>
              <a:t> – một biến thể của giao thức dịch tễ (epidemic protocol) dùng để lan truyền thông tin nhanh trong hệ thống phân tán, nhưng </a:t>
            </a:r>
            <a:r>
              <a:rPr lang="vi-VN" b="1" i="0" dirty="0">
                <a:solidFill>
                  <a:srgbClr val="404040"/>
                </a:solidFill>
                <a:effectLst/>
                <a:latin typeface="DeepSeek-CJK-patch"/>
              </a:rPr>
              <a:t>không đảm bảo 100% các nút nhận được cập nhật</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Mô hình cơ bản (Basic Model)</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Cách hoạt động: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Một </a:t>
            </a:r>
            <a:r>
              <a:rPr lang="vi-VN" b="1" i="0" dirty="0">
                <a:solidFill>
                  <a:srgbClr val="404040"/>
                </a:solidFill>
                <a:effectLst/>
                <a:latin typeface="DeepSeek-CJK-patch"/>
              </a:rPr>
              <a:t>nút S</a:t>
            </a:r>
            <a:r>
              <a:rPr lang="vi-VN" b="0" i="0" dirty="0">
                <a:solidFill>
                  <a:srgbClr val="404040"/>
                </a:solidFill>
                <a:effectLst/>
                <a:latin typeface="DeepSeek-CJK-patch"/>
              </a:rPr>
              <a:t> (server) có thông tin mới (update) sẽ ngẫu nhiên liên hệ một nút khác (</a:t>
            </a:r>
            <a:r>
              <a:rPr lang="vi-VN" b="1" i="0" dirty="0">
                <a:solidFill>
                  <a:srgbClr val="404040"/>
                </a:solidFill>
                <a:effectLst/>
                <a:latin typeface="DeepSeek-CJK-patch"/>
              </a:rPr>
              <a:t>Q</a:t>
            </a:r>
            <a:r>
              <a:rPr lang="vi-VN" b="0" i="0" dirty="0">
                <a:solidFill>
                  <a:srgbClr val="404040"/>
                </a:solidFill>
                <a:effectLst/>
                <a:latin typeface="DeepSeek-CJK-patch"/>
              </a:rPr>
              <a:t>) và </a:t>
            </a:r>
            <a:r>
              <a:rPr lang="vi-VN" b="1" i="0" dirty="0">
                <a:solidFill>
                  <a:srgbClr val="404040"/>
                </a:solidFill>
                <a:effectLst/>
                <a:latin typeface="DeepSeek-CJK-patch"/>
              </a:rPr>
              <a:t>đẩy (push)</a:t>
            </a:r>
            <a:r>
              <a:rPr lang="vi-VN" b="0" i="0" dirty="0">
                <a:solidFill>
                  <a:srgbClr val="404040"/>
                </a:solidFill>
                <a:effectLst/>
                <a:latin typeface="DeepSeek-CJK-patch"/>
              </a:rPr>
              <a:t> thông tin này tới Q.</a:t>
            </a:r>
          </a:p>
          <a:p>
            <a:pPr marL="742950" lvl="1" indent="-285750" algn="l">
              <a:buFont typeface="Arial" panose="020B0604020202020204" pitchFamily="34" charset="0"/>
              <a:buChar char="•"/>
            </a:pPr>
            <a:r>
              <a:rPr lang="vi-VN" b="1" i="0" dirty="0">
                <a:solidFill>
                  <a:srgbClr val="404040"/>
                </a:solidFill>
                <a:effectLst/>
                <a:latin typeface="DeepSeek-CJK-patch"/>
              </a:rPr>
              <a:t>2 trường hợp xảy ra:</a:t>
            </a:r>
            <a:endParaRPr lang="vi-VN" b="0" i="0" dirty="0">
              <a:solidFill>
                <a:srgbClr val="404040"/>
              </a:solidFill>
              <a:effectLst/>
              <a:latin typeface="DeepSeek-CJK-patch"/>
            </a:endParaRPr>
          </a:p>
          <a:p>
            <a:pPr marL="1143000" lvl="2" indent="-228600" algn="l">
              <a:buFont typeface="Arial" panose="020B0604020202020204" pitchFamily="34" charset="0"/>
              <a:buChar char="•"/>
            </a:pPr>
            <a:r>
              <a:rPr lang="vi-VN" b="1" i="0" dirty="0">
                <a:solidFill>
                  <a:srgbClr val="404040"/>
                </a:solidFill>
                <a:effectLst/>
                <a:latin typeface="DeepSeek-CJK-patch"/>
              </a:rPr>
              <a:t>Nếu Q chưa biết thông tin (ignorant):</a:t>
            </a:r>
            <a:endParaRPr lang="vi-VN" b="0" i="0" dirty="0">
              <a:solidFill>
                <a:srgbClr val="404040"/>
              </a:solidFill>
              <a:effectLst/>
              <a:latin typeface="DeepSeek-CJK-patch"/>
            </a:endParaRPr>
          </a:p>
          <a:p>
            <a:pPr marL="1600200" lvl="3" indent="-228600" algn="l">
              <a:buFont typeface="Arial" panose="020B0604020202020204" pitchFamily="34" charset="0"/>
              <a:buChar char="•"/>
            </a:pPr>
            <a:r>
              <a:rPr lang="vi-VN" b="0" i="0" dirty="0">
                <a:solidFill>
                  <a:srgbClr val="404040"/>
                </a:solidFill>
                <a:effectLst/>
                <a:latin typeface="DeepSeek-CJK-patch"/>
              </a:rPr>
              <a:t>Q nhận bản cập nhật và trở thành </a:t>
            </a:r>
            <a:r>
              <a:rPr lang="vi-VN" b="1" i="0" dirty="0">
                <a:solidFill>
                  <a:srgbClr val="404040"/>
                </a:solidFill>
                <a:effectLst/>
                <a:latin typeface="DeepSeek-CJK-patch"/>
              </a:rPr>
              <a:t>"infected"</a:t>
            </a:r>
            <a:r>
              <a:rPr lang="vi-VN" b="0" i="0" dirty="0">
                <a:solidFill>
                  <a:srgbClr val="404040"/>
                </a:solidFill>
                <a:effectLst/>
                <a:latin typeface="DeepSeek-CJK-patch"/>
              </a:rPr>
              <a:t> (sẵn sàng lan truyền tiếp).</a:t>
            </a:r>
          </a:p>
          <a:p>
            <a:pPr marL="1143000" lvl="2" indent="-228600" algn="l">
              <a:buFont typeface="Arial" panose="020B0604020202020204" pitchFamily="34" charset="0"/>
              <a:buChar char="•"/>
            </a:pPr>
            <a:r>
              <a:rPr lang="vi-VN" b="1" i="0" dirty="0">
                <a:solidFill>
                  <a:srgbClr val="404040"/>
                </a:solidFill>
                <a:effectLst/>
                <a:latin typeface="DeepSeek-CJK-patch"/>
              </a:rPr>
              <a:t>Nếu Q đã biết thông tin (updated):</a:t>
            </a:r>
            <a:endParaRPr lang="vi-VN" b="0" i="0" dirty="0">
              <a:solidFill>
                <a:srgbClr val="404040"/>
              </a:solidFill>
              <a:effectLst/>
              <a:latin typeface="DeepSeek-CJK-patch"/>
            </a:endParaRPr>
          </a:p>
          <a:p>
            <a:pPr marL="1600200" lvl="3" indent="-228600" algn="l">
              <a:buFont typeface="Arial" panose="020B0604020202020204" pitchFamily="34" charset="0"/>
              <a:buChar char="•"/>
            </a:pPr>
            <a:r>
              <a:rPr lang="vi-VN" b="0" i="0" dirty="0">
                <a:solidFill>
                  <a:srgbClr val="404040"/>
                </a:solidFill>
                <a:effectLst/>
                <a:latin typeface="DeepSeek-CJK-patch"/>
              </a:rPr>
              <a:t>Với xác suất </a:t>
            </a:r>
            <a:r>
              <a:rPr lang="vi-VN" b="1" i="0" dirty="0">
                <a:solidFill>
                  <a:srgbClr val="404040"/>
                </a:solidFill>
                <a:effectLst/>
                <a:latin typeface="DeepSeek-CJK-patch"/>
              </a:rPr>
              <a:t>pstop</a:t>
            </a:r>
            <a:r>
              <a:rPr lang="vi-VN" b="0" i="0" dirty="0">
                <a:solidFill>
                  <a:srgbClr val="404040"/>
                </a:solidFill>
                <a:effectLst/>
                <a:latin typeface="DeepSeek-CJK-patch"/>
              </a:rPr>
              <a:t>, nút S </a:t>
            </a:r>
            <a:r>
              <a:rPr lang="vi-VN" b="1" i="0" dirty="0">
                <a:solidFill>
                  <a:srgbClr val="404040"/>
                </a:solidFill>
                <a:effectLst/>
                <a:latin typeface="DeepSeek-CJK-patch"/>
              </a:rPr>
              <a:t>ngừng lan truyền</a:t>
            </a:r>
            <a:r>
              <a:rPr lang="vi-VN" b="0" i="0" dirty="0">
                <a:solidFill>
                  <a:srgbClr val="404040"/>
                </a:solidFill>
                <a:effectLst/>
                <a:latin typeface="DeepSeek-CJK-patch"/>
              </a:rPr>
              <a:t> (trở thành </a:t>
            </a:r>
            <a:r>
              <a:rPr lang="vi-VN" b="1" i="0" dirty="0">
                <a:solidFill>
                  <a:srgbClr val="404040"/>
                </a:solidFill>
                <a:effectLst/>
                <a:latin typeface="DeepSeek-CJK-patch"/>
              </a:rPr>
              <a:t>"removed"</a:t>
            </a:r>
            <a:r>
              <a:rPr lang="vi-VN" b="0" i="0" dirty="0">
                <a:solidFill>
                  <a:srgbClr val="404040"/>
                </a:solidFill>
                <a:effectLst/>
                <a:latin typeface="DeepSeek-CJK-patch"/>
              </a:rPr>
              <a:t>).</a:t>
            </a:r>
          </a:p>
          <a:p>
            <a:pPr marL="1600200" lvl="3" indent="-228600" algn="l">
              <a:buFont typeface="Arial" panose="020B0604020202020204" pitchFamily="34" charset="0"/>
              <a:buChar char="•"/>
            </a:pPr>
            <a:r>
              <a:rPr lang="vi-VN" b="0" i="0" dirty="0">
                <a:solidFill>
                  <a:srgbClr val="404040"/>
                </a:solidFill>
                <a:effectLst/>
                <a:latin typeface="DeepSeek-CJK-patch"/>
              </a:rPr>
              <a:t>(Giống như bạn kể tin đồn cho ai đó, nếu họ đã biết rồi, bạn có thể thôi không kể nữa).</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Phân tích hiệu quả (Observation)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Gọi:</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s</a:t>
            </a:r>
            <a:r>
              <a:rPr lang="vi-VN" b="0" i="0" dirty="0">
                <a:solidFill>
                  <a:srgbClr val="404040"/>
                </a:solidFill>
                <a:effectLst/>
                <a:latin typeface="DeepSeek-CJK-patch"/>
              </a:rPr>
              <a:t> = tỉ lệ nút </a:t>
            </a:r>
            <a:r>
              <a:rPr lang="vi-VN" b="1" i="0" dirty="0">
                <a:solidFill>
                  <a:srgbClr val="404040"/>
                </a:solidFill>
                <a:effectLst/>
                <a:latin typeface="DeepSeek-CJK-patch"/>
              </a:rPr>
              <a:t>chưa nhận được cập nhật</a:t>
            </a:r>
            <a:r>
              <a:rPr lang="vi-VN" b="0" i="0" dirty="0">
                <a:solidFill>
                  <a:srgbClr val="404040"/>
                </a:solidFill>
                <a:effectLst/>
                <a:latin typeface="DeepSeek-CJK-patch"/>
              </a:rPr>
              <a:t> (ignorant/susceptible).</a:t>
            </a:r>
          </a:p>
          <a:p>
            <a:pPr marL="742950" lvl="1" indent="-285750" algn="l">
              <a:buFont typeface="Arial" panose="020B0604020202020204" pitchFamily="34" charset="0"/>
              <a:buChar char="•"/>
            </a:pPr>
            <a:r>
              <a:rPr lang="vi-VN" b="1" i="0" dirty="0">
                <a:solidFill>
                  <a:srgbClr val="404040"/>
                </a:solidFill>
                <a:effectLst/>
                <a:latin typeface="DeepSeek-CJK-patch"/>
              </a:rPr>
              <a:t>pstop</a:t>
            </a:r>
            <a:r>
              <a:rPr lang="vi-VN" b="0" i="0" dirty="0">
                <a:solidFill>
                  <a:srgbClr val="404040"/>
                </a:solidFill>
                <a:effectLst/>
                <a:latin typeface="DeepSeek-CJK-patch"/>
              </a:rPr>
              <a:t> = xác suất một nút dừng lan truyền khi gặp nút đã cập nhật.</a:t>
            </a:r>
          </a:p>
          <a:p>
            <a:pPr algn="l">
              <a:buFont typeface="Arial" panose="020B0604020202020204" pitchFamily="34" charset="0"/>
              <a:buChar char="•"/>
            </a:pPr>
            <a:r>
              <a:rPr lang="vi-VN" b="1" i="0" dirty="0">
                <a:solidFill>
                  <a:srgbClr val="404040"/>
                </a:solidFill>
                <a:effectLst/>
                <a:latin typeface="DeepSeek-CJK-patch"/>
              </a:rPr>
              <a:t>Phương trình cân bằng:</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KaTeX_Main"/>
              </a:rPr>
              <a:t>s=e−(1/pstop+1)(1−s)</a:t>
            </a:r>
            <a:r>
              <a:rPr lang="vi-VN" b="0" i="1" dirty="0">
                <a:solidFill>
                  <a:srgbClr val="404040"/>
                </a:solidFill>
                <a:effectLst/>
                <a:latin typeface="KaTeX_Math"/>
              </a:rPr>
              <a:t>s</a:t>
            </a:r>
            <a:r>
              <a:rPr lang="vi-VN" b="0" i="0" dirty="0">
                <a:solidFill>
                  <a:srgbClr val="404040"/>
                </a:solidFill>
                <a:effectLst/>
                <a:latin typeface="KaTeX_Main"/>
              </a:rPr>
              <a:t>=</a:t>
            </a:r>
            <a:r>
              <a:rPr lang="vi-VN" b="0" i="1" dirty="0">
                <a:solidFill>
                  <a:srgbClr val="404040"/>
                </a:solidFill>
                <a:effectLst/>
                <a:latin typeface="KaTeX_Math"/>
              </a:rPr>
              <a:t>e</a:t>
            </a:r>
            <a:r>
              <a:rPr lang="vi-VN" b="0" i="0" dirty="0">
                <a:solidFill>
                  <a:srgbClr val="404040"/>
                </a:solidFill>
                <a:effectLst/>
                <a:latin typeface="KaTeX_Main"/>
              </a:rPr>
              <a:t>−(1/</a:t>
            </a:r>
            <a:r>
              <a:rPr lang="vi-VN" b="0" i="1" dirty="0">
                <a:solidFill>
                  <a:srgbClr val="404040"/>
                </a:solidFill>
                <a:effectLst/>
                <a:latin typeface="KaTeX_Math"/>
              </a:rPr>
              <a:t>p</a:t>
            </a:r>
            <a:r>
              <a:rPr lang="vi-VN" b="0" i="0" dirty="0">
                <a:solidFill>
                  <a:srgbClr val="404040"/>
                </a:solidFill>
                <a:effectLst/>
                <a:latin typeface="KaTeX_Main"/>
              </a:rPr>
              <a:t>stop​+1)(1−</a:t>
            </a:r>
            <a:r>
              <a:rPr lang="vi-VN" b="0" i="1" dirty="0">
                <a:solidFill>
                  <a:srgbClr val="404040"/>
                </a:solidFill>
                <a:effectLst/>
                <a:latin typeface="KaTeX_Math"/>
              </a:rPr>
              <a:t>s</a:t>
            </a:r>
            <a:r>
              <a:rPr lang="vi-VN" b="0" i="0" dirty="0">
                <a:solidFill>
                  <a:srgbClr val="404040"/>
                </a:solidFill>
                <a:effectLst/>
                <a:latin typeface="KaTeX_Main"/>
              </a:rPr>
              <a:t>)</a:t>
            </a:r>
            <a:r>
              <a:rPr lang="vi-VN" b="1" i="0" dirty="0">
                <a:solidFill>
                  <a:srgbClr val="404040"/>
                </a:solidFill>
                <a:effectLst/>
                <a:latin typeface="DeepSeek-CJK-patch"/>
              </a:rPr>
              <a:t>Giải thích ý nghĩa:</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Khi số nút rất lớn, tỉ lệ nút ignorant (</a:t>
            </a:r>
            <a:r>
              <a:rPr lang="vi-VN" b="1" i="0" dirty="0">
                <a:solidFill>
                  <a:srgbClr val="404040"/>
                </a:solidFill>
                <a:effectLst/>
                <a:latin typeface="DeepSeek-CJK-patch"/>
              </a:rPr>
              <a:t>s</a:t>
            </a:r>
            <a:r>
              <a:rPr lang="vi-VN" b="0" i="0" dirty="0">
                <a:solidFill>
                  <a:srgbClr val="404040"/>
                </a:solidFill>
                <a:effectLst/>
                <a:latin typeface="DeepSeek-CJK-patch"/>
              </a:rPr>
              <a:t>) sẽ hội tụ về giá trị thỏa mãn phương trình trên.</a:t>
            </a:r>
          </a:p>
          <a:p>
            <a:pPr marL="742950" lvl="1" indent="-285750" algn="l">
              <a:buFont typeface="Arial" panose="020B0604020202020204" pitchFamily="34" charset="0"/>
              <a:buChar char="•"/>
            </a:pPr>
            <a:r>
              <a:rPr lang="vi-VN" b="1" i="0" dirty="0">
                <a:solidFill>
                  <a:srgbClr val="404040"/>
                </a:solidFill>
                <a:effectLst/>
                <a:latin typeface="DeepSeek-CJK-patch"/>
              </a:rPr>
              <a:t>pstop càng nhỏ</a:t>
            </a:r>
            <a:r>
              <a:rPr lang="vi-VN" b="0" i="0" dirty="0">
                <a:solidFill>
                  <a:srgbClr val="404040"/>
                </a:solidFill>
                <a:effectLst/>
                <a:latin typeface="DeepSeek-CJK-patch"/>
              </a:rPr>
              <a:t> → s càng nhỏ (ít nút ignorant hơn) vì các nút ít khi dừng lan truyền.</a:t>
            </a:r>
          </a:p>
          <a:p>
            <a:pPr marL="742950" lvl="1" indent="-285750" algn="l">
              <a:buFont typeface="Arial" panose="020B0604020202020204" pitchFamily="34" charset="0"/>
              <a:buChar char="•"/>
            </a:pPr>
            <a:r>
              <a:rPr lang="vi-VN" b="1" i="0" dirty="0">
                <a:solidFill>
                  <a:srgbClr val="404040"/>
                </a:solidFill>
                <a:effectLst/>
                <a:latin typeface="DeepSeek-CJK-patch"/>
              </a:rPr>
              <a:t>pstop càng lớn</a:t>
            </a:r>
            <a:r>
              <a:rPr lang="vi-VN" b="0" i="0" dirty="0">
                <a:solidFill>
                  <a:srgbClr val="404040"/>
                </a:solidFill>
                <a:effectLst/>
                <a:latin typeface="DeepSeek-CJK-patch"/>
              </a:rPr>
              <a:t> → s tăng (nhiều nút ignorant hơn) vì các nút dễ dừng lan truyền sớm.</a:t>
            </a:r>
          </a:p>
          <a:p>
            <a:pPr algn="l"/>
            <a:r>
              <a:rPr lang="vi-VN" b="1" i="0" dirty="0">
                <a:solidFill>
                  <a:srgbClr val="404040"/>
                </a:solidFill>
                <a:effectLst/>
                <a:latin typeface="DeepSeek-CJK-patch"/>
              </a:rPr>
              <a:t>Ví dụ:</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Nếu </a:t>
            </a:r>
            <a:r>
              <a:rPr lang="vi-VN" b="1" i="0" dirty="0">
                <a:solidFill>
                  <a:srgbClr val="404040"/>
                </a:solidFill>
                <a:effectLst/>
                <a:latin typeface="DeepSeek-CJK-patch"/>
              </a:rPr>
              <a:t>pstop = 0.2</a:t>
            </a:r>
            <a:r>
              <a:rPr lang="vi-VN" b="0" i="0" dirty="0">
                <a:solidFill>
                  <a:srgbClr val="404040"/>
                </a:solidFill>
                <a:effectLst/>
                <a:latin typeface="DeepSeek-CJK-patch"/>
              </a:rPr>
              <a:t>, giải phương trình ta được </a:t>
            </a:r>
            <a:r>
              <a:rPr lang="vi-VN" b="1" i="0" dirty="0">
                <a:solidFill>
                  <a:srgbClr val="404040"/>
                </a:solidFill>
                <a:effectLst/>
                <a:latin typeface="DeepSeek-CJK-patch"/>
              </a:rPr>
              <a:t>s ≈ 0.0025</a:t>
            </a:r>
            <a:r>
              <a:rPr lang="vi-VN" b="0" i="0" dirty="0">
                <a:solidFill>
                  <a:srgbClr val="404040"/>
                </a:solidFill>
                <a:effectLst/>
                <a:latin typeface="DeepSeek-CJK-patch"/>
              </a:rPr>
              <a:t> (chỉ 0.25% nút không nhận được cập nhật).</a:t>
            </a:r>
          </a:p>
          <a:p>
            <a:pPr algn="l">
              <a:buFont typeface="Arial" panose="020B0604020202020204" pitchFamily="34" charset="0"/>
              <a:buChar char="•"/>
            </a:pPr>
            <a:r>
              <a:rPr lang="vi-VN" b="0" i="0" dirty="0">
                <a:solidFill>
                  <a:srgbClr val="404040"/>
                </a:solidFill>
                <a:effectLst/>
                <a:latin typeface="DeepSeek-CJK-patch"/>
              </a:rPr>
              <a:t>Nếu </a:t>
            </a:r>
            <a:r>
              <a:rPr lang="vi-VN" b="1" i="0" dirty="0">
                <a:solidFill>
                  <a:srgbClr val="404040"/>
                </a:solidFill>
                <a:effectLst/>
                <a:latin typeface="DeepSeek-CJK-patch"/>
              </a:rPr>
              <a:t>pstop = 0.5</a:t>
            </a:r>
            <a:r>
              <a:rPr lang="vi-VN" b="0" i="0" dirty="0">
                <a:solidFill>
                  <a:srgbClr val="404040"/>
                </a:solidFill>
                <a:effectLst/>
                <a:latin typeface="DeepSeek-CJK-patch"/>
              </a:rPr>
              <a:t>, s ≈ 0.06 (6% nút ignorant).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Ưu điểm &amp; Hạn chế</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Ưu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Lan truyền </a:t>
            </a:r>
            <a:r>
              <a:rPr lang="vi-VN" b="1" i="0" dirty="0">
                <a:solidFill>
                  <a:srgbClr val="404040"/>
                </a:solidFill>
                <a:effectLst/>
                <a:latin typeface="DeepSeek-CJK-patch"/>
              </a:rPr>
              <a:t>rất nhanh</a:t>
            </a:r>
            <a:r>
              <a:rPr lang="vi-VN" b="0" i="0" dirty="0">
                <a:solidFill>
                  <a:srgbClr val="404040"/>
                </a:solidFill>
                <a:effectLst/>
                <a:latin typeface="DeepSeek-CJK-patch"/>
              </a:rPr>
              <a:t> (kiểu "viral spreading").</a:t>
            </a:r>
          </a:p>
          <a:p>
            <a:pPr marL="742950" lvl="1" indent="-285750" algn="l">
              <a:buFont typeface="Arial" panose="020B0604020202020204" pitchFamily="34" charset="0"/>
              <a:buChar char="•"/>
            </a:pPr>
            <a:r>
              <a:rPr lang="vi-VN" b="0" i="0" dirty="0">
                <a:solidFill>
                  <a:srgbClr val="404040"/>
                </a:solidFill>
                <a:effectLst/>
                <a:latin typeface="DeepSeek-CJK-patch"/>
              </a:rPr>
              <a:t>Tiết kiệm tài nguyên vì các nút tự động ngừng khi thông tin đã phủ rộng.</a:t>
            </a:r>
          </a:p>
          <a:p>
            <a:pPr algn="l">
              <a:buFont typeface="Arial" panose="020B0604020202020204" pitchFamily="34" charset="0"/>
              <a:buChar char="•"/>
            </a:pPr>
            <a:r>
              <a:rPr lang="vi-VN" b="1" i="0" dirty="0">
                <a:solidFill>
                  <a:srgbClr val="404040"/>
                </a:solidFill>
                <a:effectLst/>
                <a:latin typeface="DeepSeek-CJK-patch"/>
              </a:rPr>
              <a:t>Hạn chế:</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Không đảm bảo 100%</a:t>
            </a:r>
            <a:r>
              <a:rPr lang="vi-VN" b="0" i="0" dirty="0">
                <a:solidFill>
                  <a:srgbClr val="404040"/>
                </a:solidFill>
                <a:effectLst/>
                <a:latin typeface="DeepSeek-CJK-patch"/>
              </a:rPr>
              <a:t> nút nhận được cập nhật (luôn tồn tại một tỉ lệ </a:t>
            </a:r>
            <a:r>
              <a:rPr lang="vi-VN" b="1" i="0" dirty="0">
                <a:solidFill>
                  <a:srgbClr val="404040"/>
                </a:solidFill>
                <a:effectLst/>
                <a:latin typeface="DeepSeek-CJK-patch"/>
              </a:rPr>
              <a:t>s &gt; 0</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Phụ thuộc vào </a:t>
            </a:r>
            <a:r>
              <a:rPr lang="vi-VN" b="1" i="0" dirty="0">
                <a:solidFill>
                  <a:srgbClr val="404040"/>
                </a:solidFill>
                <a:effectLst/>
                <a:latin typeface="DeepSeek-CJK-patch"/>
              </a:rPr>
              <a:t>pstop</a:t>
            </a:r>
            <a:r>
              <a:rPr lang="vi-VN" b="0" i="0" dirty="0">
                <a:solidFill>
                  <a:srgbClr val="404040"/>
                </a:solidFill>
                <a:effectLst/>
                <a:latin typeface="DeepSeek-CJK-patch"/>
              </a:rPr>
              <a:t>: Nếu pstop quá lớn, nhiều nút sẽ bị bỏ sót.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4. Ứng dụng thực tế</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Dùng trong các hệ thống </a:t>
            </a:r>
            <a:r>
              <a:rPr lang="vi-VN" b="1" i="0" dirty="0">
                <a:solidFill>
                  <a:srgbClr val="404040"/>
                </a:solidFill>
                <a:effectLst/>
                <a:latin typeface="DeepSeek-CJK-patch"/>
              </a:rPr>
              <a:t>Cassandra, DynamoDB</a:t>
            </a:r>
            <a:r>
              <a:rPr lang="vi-VN" b="0" i="0" dirty="0">
                <a:solidFill>
                  <a:srgbClr val="404040"/>
                </a:solidFill>
                <a:effectLst/>
                <a:latin typeface="DeepSeek-CJK-patch"/>
              </a:rPr>
              <a:t> để đồng bộ dữ liệu nhanh.</a:t>
            </a:r>
          </a:p>
          <a:p>
            <a:pPr algn="l">
              <a:buFont typeface="Arial" panose="020B0604020202020204" pitchFamily="34" charset="0"/>
              <a:buChar char="•"/>
            </a:pPr>
            <a:r>
              <a:rPr lang="vi-VN" b="0" i="0" dirty="0">
                <a:solidFill>
                  <a:srgbClr val="404040"/>
                </a:solidFill>
                <a:effectLst/>
                <a:latin typeface="DeepSeek-CJK-patch"/>
              </a:rPr>
              <a:t>Mạng xã hội (lan truyền thông tin, tin đồn).</a:t>
            </a:r>
            <a:endParaRPr lang="en-US" b="0" i="0" dirty="0">
              <a:solidFill>
                <a:srgbClr val="404040"/>
              </a:solidFill>
              <a:effectLst/>
              <a:latin typeface="DeepSeek-CJK-patch"/>
            </a:endParaRPr>
          </a:p>
          <a:p>
            <a:pPr algn="l">
              <a:buFont typeface="Arial" panose="020B0604020202020204" pitchFamily="34" charset="0"/>
              <a:buNone/>
            </a:pPr>
            <a:endParaRPr lang="en-US" b="0" i="0" dirty="0">
              <a:solidFill>
                <a:srgbClr val="404040"/>
              </a:solidFill>
              <a:effectLst/>
              <a:latin typeface="DeepSeek-CJK-patch"/>
            </a:endParaRPr>
          </a:p>
          <a:p>
            <a:pPr algn="l">
              <a:buFont typeface="Arial" panose="020B0604020202020204" pitchFamily="34" charset="0"/>
              <a:buNone/>
            </a:pPr>
            <a:r>
              <a:rPr lang="en-US" b="1" i="0" dirty="0">
                <a:solidFill>
                  <a:srgbClr val="404040"/>
                </a:solidFill>
                <a:effectLst/>
                <a:latin typeface="DeepSeek-CJK-patch"/>
              </a:rPr>
              <a:t>5.</a:t>
            </a:r>
            <a:r>
              <a:rPr lang="vi-VN" b="1" i="0" dirty="0">
                <a:solidFill>
                  <a:srgbClr val="404040"/>
                </a:solidFill>
                <a:effectLst/>
                <a:latin typeface="DeepSeek-CJK-patch"/>
              </a:rPr>
              <a:t> Tóm lại:</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Rumor spreading</a:t>
            </a:r>
            <a:r>
              <a:rPr lang="vi-VN" b="0" i="0" dirty="0">
                <a:solidFill>
                  <a:srgbClr val="404040"/>
                </a:solidFill>
                <a:effectLst/>
                <a:latin typeface="DeepSeek-CJK-patch"/>
              </a:rPr>
              <a:t> là cơ chế lan truyền thông tin hiệu quả, nhưng cần chọn </a:t>
            </a:r>
            <a:r>
              <a:rPr lang="vi-VN" b="1" i="0" dirty="0">
                <a:solidFill>
                  <a:srgbClr val="404040"/>
                </a:solidFill>
                <a:effectLst/>
                <a:latin typeface="DeepSeek-CJK-patch"/>
              </a:rPr>
              <a:t>pstop</a:t>
            </a:r>
            <a:r>
              <a:rPr lang="vi-VN" b="0" i="0" dirty="0">
                <a:solidFill>
                  <a:srgbClr val="404040"/>
                </a:solidFill>
                <a:effectLst/>
                <a:latin typeface="DeepSeek-CJK-patch"/>
              </a:rPr>
              <a:t> phù hợp để cân bằng giữa tốc độ và độ phủ.</a:t>
            </a:r>
          </a:p>
          <a:p>
            <a:pPr algn="l">
              <a:buFont typeface="Arial" panose="020B0604020202020204" pitchFamily="34" charset="0"/>
              <a:buChar char="•"/>
            </a:pPr>
            <a:r>
              <a:rPr lang="vi-VN" b="0" i="0" dirty="0">
                <a:solidFill>
                  <a:srgbClr val="404040"/>
                </a:solidFill>
                <a:effectLst/>
                <a:latin typeface="DeepSeek-CJK-patch"/>
              </a:rPr>
              <a:t>Phương trình </a:t>
            </a:r>
            <a:r>
              <a:rPr lang="vi-VN" b="1" i="0" dirty="0">
                <a:solidFill>
                  <a:srgbClr val="404040"/>
                </a:solidFill>
                <a:effectLst/>
                <a:latin typeface="DeepSeek-CJK-patch"/>
              </a:rPr>
              <a:t>s = e^−(1/pstop+1)(1−s)</a:t>
            </a:r>
            <a:r>
              <a:rPr lang="vi-VN" b="0" i="0" dirty="0">
                <a:solidFill>
                  <a:srgbClr val="404040"/>
                </a:solidFill>
                <a:effectLst/>
                <a:latin typeface="DeepSeek-CJK-patch"/>
              </a:rPr>
              <a:t> giúp ước lượng tỉ lệ nút không nhận được cập nhật.</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49</a:t>
            </a:fld>
            <a:endParaRPr lang="en-US"/>
          </a:p>
        </p:txBody>
      </p:sp>
    </p:spTree>
    <p:extLst>
      <p:ext uri="{BB962C8B-B14F-4D97-AF65-F5344CB8AC3E}">
        <p14:creationId xmlns:p14="http://schemas.microsoft.com/office/powerpoint/2010/main" val="16500281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"Formal Analysis of Rumor Spreading"</a:t>
            </a:r>
            <a:endParaRPr lang="vi-VN" b="0" i="0" dirty="0">
              <a:solidFill>
                <a:srgbClr val="404040"/>
              </a:solidFill>
              <a:effectLst/>
              <a:latin typeface="DeepSeek-CJK-patch"/>
            </a:endParaRPr>
          </a:p>
          <a:p>
            <a:pPr algn="l"/>
            <a:r>
              <a:rPr lang="vi-VN" b="1" i="0" dirty="0">
                <a:solidFill>
                  <a:srgbClr val="404040"/>
                </a:solidFill>
                <a:effectLst/>
                <a:latin typeface="DeepSeek-CJK-patch"/>
              </a:rPr>
              <a:t>Mục tiêu:</a:t>
            </a:r>
            <a:r>
              <a:rPr lang="vi-VN" b="0" i="0" dirty="0">
                <a:solidFill>
                  <a:srgbClr val="404040"/>
                </a:solidFill>
                <a:effectLst/>
                <a:latin typeface="DeepSeek-CJK-patch"/>
              </a:rPr>
              <a:t> Hiểu phân tích toán học đằng sau cơ chế Rumor Spreading, dựa trên lý thuyết dịch tễ (epidemic theory), để dự đoán tỷ lệ nút không nhận được cập nhật (</a:t>
            </a:r>
            <a:r>
              <a:rPr lang="vi-VN" b="1" i="0" dirty="0">
                <a:solidFill>
                  <a:srgbClr val="404040"/>
                </a:solidFill>
                <a:effectLst/>
                <a:latin typeface="DeepSeek-CJK-patch"/>
              </a:rPr>
              <a:t>s</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Thiết lập bài toán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Ký hiệu:</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s(t)</a:t>
            </a:r>
            <a:r>
              <a:rPr lang="vi-VN" b="0" i="0" dirty="0">
                <a:solidFill>
                  <a:srgbClr val="404040"/>
                </a:solidFill>
                <a:effectLst/>
                <a:latin typeface="DeepSeek-CJK-patch"/>
              </a:rPr>
              <a:t>: Tỷ lệ nút </a:t>
            </a:r>
            <a:r>
              <a:rPr lang="vi-VN" b="1" i="0" dirty="0">
                <a:solidFill>
                  <a:srgbClr val="404040"/>
                </a:solidFill>
                <a:effectLst/>
                <a:latin typeface="DeepSeek-CJK-patch"/>
              </a:rPr>
              <a:t>chưa nhận cập nhật</a:t>
            </a:r>
            <a:r>
              <a:rPr lang="vi-VN" b="0" i="0" dirty="0">
                <a:solidFill>
                  <a:srgbClr val="404040"/>
                </a:solidFill>
                <a:effectLst/>
                <a:latin typeface="DeepSeek-CJK-patch"/>
              </a:rPr>
              <a:t> (susceptible) tại thời gian *t*.</a:t>
            </a:r>
          </a:p>
          <a:p>
            <a:pPr marL="742950" lvl="1" indent="-285750" algn="l">
              <a:buFont typeface="Arial" panose="020B0604020202020204" pitchFamily="34" charset="0"/>
              <a:buChar char="•"/>
            </a:pPr>
            <a:r>
              <a:rPr lang="vi-VN" b="1" i="0" dirty="0">
                <a:solidFill>
                  <a:srgbClr val="404040"/>
                </a:solidFill>
                <a:effectLst/>
                <a:latin typeface="DeepSeek-CJK-patch"/>
              </a:rPr>
              <a:t>i(t)</a:t>
            </a:r>
            <a:r>
              <a:rPr lang="vi-VN" b="0" i="0" dirty="0">
                <a:solidFill>
                  <a:srgbClr val="404040"/>
                </a:solidFill>
                <a:effectLst/>
                <a:latin typeface="DeepSeek-CJK-patch"/>
              </a:rPr>
              <a:t>: Tỷ lệ nút </a:t>
            </a:r>
            <a:r>
              <a:rPr lang="vi-VN" b="1" i="0" dirty="0">
                <a:solidFill>
                  <a:srgbClr val="404040"/>
                </a:solidFill>
                <a:effectLst/>
                <a:latin typeface="DeepSeek-CJK-patch"/>
              </a:rPr>
              <a:t>đang lan truyền cập nhật</a:t>
            </a:r>
            <a:r>
              <a:rPr lang="vi-VN" b="0" i="0" dirty="0">
                <a:solidFill>
                  <a:srgbClr val="404040"/>
                </a:solidFill>
                <a:effectLst/>
                <a:latin typeface="DeepSeek-CJK-patch"/>
              </a:rPr>
              <a:t> (infected + active).</a:t>
            </a:r>
          </a:p>
          <a:p>
            <a:pPr marL="742950" lvl="1" indent="-285750" algn="l">
              <a:buFont typeface="Arial" panose="020B0604020202020204" pitchFamily="34" charset="0"/>
              <a:buChar char="•"/>
            </a:pPr>
            <a:r>
              <a:rPr lang="vi-VN" b="1" i="0" dirty="0">
                <a:solidFill>
                  <a:srgbClr val="404040"/>
                </a:solidFill>
                <a:effectLst/>
                <a:latin typeface="DeepSeek-CJK-patch"/>
              </a:rPr>
              <a:t>r(t)</a:t>
            </a:r>
            <a:r>
              <a:rPr lang="vi-VN" b="0" i="0" dirty="0">
                <a:solidFill>
                  <a:srgbClr val="404040"/>
                </a:solidFill>
                <a:effectLst/>
                <a:latin typeface="DeepSeek-CJK-patch"/>
              </a:rPr>
              <a:t>: Tỷ lệ nút </a:t>
            </a:r>
            <a:r>
              <a:rPr lang="vi-VN" b="1" i="0" dirty="0">
                <a:solidFill>
                  <a:srgbClr val="404040"/>
                </a:solidFill>
                <a:effectLst/>
                <a:latin typeface="DeepSeek-CJK-patch"/>
              </a:rPr>
              <a:t>đã ngừng lan truyền</a:t>
            </a:r>
            <a:r>
              <a:rPr lang="vi-VN" b="0" i="0" dirty="0">
                <a:solidFill>
                  <a:srgbClr val="404040"/>
                </a:solidFill>
                <a:effectLst/>
                <a:latin typeface="DeepSeek-CJK-patch"/>
              </a:rPr>
              <a:t> (removed).</a:t>
            </a:r>
          </a:p>
          <a:p>
            <a:pPr marL="742950" lvl="1" indent="-285750" algn="l">
              <a:buFont typeface="Arial" panose="020B0604020202020204" pitchFamily="34" charset="0"/>
              <a:buChar char="•"/>
            </a:pPr>
            <a:r>
              <a:rPr lang="vi-VN" b="1" i="0" dirty="0">
                <a:solidFill>
                  <a:srgbClr val="404040"/>
                </a:solidFill>
                <a:effectLst/>
                <a:latin typeface="DeepSeek-CJK-patch"/>
              </a:rPr>
              <a:t>Điều kiện ràng buộc</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KaTeX_Main"/>
              </a:rPr>
              <a:t>s(t)+i(t)+r(t)=1(Tổng tỷ lệ </a:t>
            </a:r>
            <a:r>
              <a:rPr lang="en-US" b="0" i="0" dirty="0" err="1">
                <a:solidFill>
                  <a:srgbClr val="404040"/>
                </a:solidFill>
                <a:effectLst/>
                <a:latin typeface="KaTeX_Main"/>
              </a:rPr>
              <a:t>luôn</a:t>
            </a:r>
            <a:r>
              <a:rPr lang="en-US" b="0" i="0" dirty="0">
                <a:solidFill>
                  <a:srgbClr val="404040"/>
                </a:solidFill>
                <a:effectLst/>
                <a:latin typeface="KaTeX_Main"/>
              </a:rPr>
              <a:t> </a:t>
            </a:r>
            <a:r>
              <a:rPr lang="en-US" b="0" i="0" dirty="0" err="1">
                <a:solidFill>
                  <a:srgbClr val="404040"/>
                </a:solidFill>
                <a:effectLst/>
                <a:latin typeface="KaTeX_Main"/>
              </a:rPr>
              <a:t>bằng</a:t>
            </a:r>
            <a:r>
              <a:rPr lang="vi-VN" b="0" i="0" dirty="0">
                <a:solidFill>
                  <a:srgbClr val="404040"/>
                </a:solidFill>
                <a:effectLst/>
                <a:latin typeface="KaTeX_Main"/>
              </a:rPr>
              <a:t> 1)</a:t>
            </a:r>
            <a:endParaRPr lang="en-US" b="0" i="1" dirty="0">
              <a:solidFill>
                <a:srgbClr val="404040"/>
              </a:solidFill>
              <a:effectLst/>
              <a:latin typeface="KaTeX_Math"/>
            </a:endParaRPr>
          </a:p>
          <a:p>
            <a:pPr marL="457200" lvl="1" indent="0" algn="l">
              <a:buFont typeface="Arial" panose="020B0604020202020204" pitchFamily="34" charset="0"/>
              <a:buNone/>
            </a:pPr>
            <a:endParaRPr lang="vi-VN" b="0" i="0" dirty="0">
              <a:solidFill>
                <a:srgbClr val="404040"/>
              </a:solidFill>
              <a:effectLst/>
              <a:latin typeface="DeepSeek-CJK-patch"/>
            </a:endParaRPr>
          </a:p>
          <a:p>
            <a:pPr algn="l"/>
            <a:r>
              <a:rPr lang="vi-VN" b="1" i="0" dirty="0">
                <a:solidFill>
                  <a:srgbClr val="404040"/>
                </a:solidFill>
                <a:effectLst/>
                <a:latin typeface="DeepSeek-CJK-patch"/>
              </a:rPr>
              <a:t>2. Phương trình vi phân mô tả quá trình lan truyền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Tốc độ giảm của s(t) (ds/dt):</a:t>
            </a:r>
            <a:endParaRPr lang="vi-VN" b="0" i="0" dirty="0">
              <a:solidFill>
                <a:srgbClr val="404040"/>
              </a:solidFill>
              <a:effectLst/>
              <a:latin typeface="DeepSeek-CJK-patch"/>
            </a:endParaRPr>
          </a:p>
          <a:p>
            <a:pPr algn="l">
              <a:buFont typeface="Arial" panose="020B0604020202020204" pitchFamily="34" charset="0"/>
              <a:buNone/>
            </a:pPr>
            <a:r>
              <a:rPr lang="en-US" b="0" i="0" dirty="0">
                <a:solidFill>
                  <a:srgbClr val="404040"/>
                </a:solidFill>
                <a:effectLst/>
                <a:latin typeface="KaTeX_Main"/>
              </a:rPr>
              <a:t>	</a:t>
            </a:r>
            <a:r>
              <a:rPr lang="vi-VN" b="0" i="0" dirty="0">
                <a:solidFill>
                  <a:srgbClr val="404040"/>
                </a:solidFill>
                <a:effectLst/>
                <a:latin typeface="KaTeX_Main"/>
              </a:rPr>
              <a:t>ds</a:t>
            </a:r>
            <a:r>
              <a:rPr lang="en-US" b="0" i="0" dirty="0">
                <a:solidFill>
                  <a:srgbClr val="404040"/>
                </a:solidFill>
                <a:effectLst/>
                <a:latin typeface="KaTeX_Main"/>
              </a:rPr>
              <a:t>/</a:t>
            </a:r>
            <a:r>
              <a:rPr lang="vi-VN" b="0" i="0" dirty="0">
                <a:solidFill>
                  <a:srgbClr val="404040"/>
                </a:solidFill>
                <a:effectLst/>
                <a:latin typeface="KaTeX_Main"/>
              </a:rPr>
              <a:t>dt=−s⋅i</a:t>
            </a:r>
            <a:endParaRPr lang="en-US" b="0" i="0" dirty="0">
              <a:solidFill>
                <a:srgbClr val="404040"/>
              </a:solidFill>
              <a:effectLst/>
              <a:latin typeface="KaTeX_Main"/>
            </a:endParaRPr>
          </a:p>
          <a:p>
            <a:pPr algn="l">
              <a:buFont typeface="Arial" panose="020B0604020202020204" pitchFamily="34" charset="0"/>
              <a:buNone/>
            </a:pPr>
            <a:r>
              <a:rPr lang="vi-VN" b="1" i="0" dirty="0">
                <a:solidFill>
                  <a:srgbClr val="404040"/>
                </a:solidFill>
                <a:effectLst/>
                <a:latin typeface="DeepSeek-CJK-patch"/>
              </a:rPr>
              <a:t>Giải thích: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Nút </a:t>
            </a:r>
            <a:r>
              <a:rPr lang="vi-VN" b="1" i="0" dirty="0">
                <a:solidFill>
                  <a:srgbClr val="404040"/>
                </a:solidFill>
                <a:effectLst/>
                <a:latin typeface="DeepSeek-CJK-patch"/>
              </a:rPr>
              <a:t>susceptible (s)</a:t>
            </a:r>
            <a:r>
              <a:rPr lang="vi-VN" b="0" i="0" dirty="0">
                <a:solidFill>
                  <a:srgbClr val="404040"/>
                </a:solidFill>
                <a:effectLst/>
                <a:latin typeface="DeepSeek-CJK-patch"/>
              </a:rPr>
              <a:t> giảm khi tiếp xúc với nút </a:t>
            </a:r>
            <a:r>
              <a:rPr lang="vi-VN" b="1" i="0" dirty="0">
                <a:solidFill>
                  <a:srgbClr val="404040"/>
                </a:solidFill>
                <a:effectLst/>
                <a:latin typeface="DeepSeek-CJK-patch"/>
              </a:rPr>
              <a:t>infected (i)</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Tốc độ giảm tỷ lệ với tích </a:t>
            </a:r>
            <a:r>
              <a:rPr lang="vi-VN" b="1" i="0" dirty="0">
                <a:solidFill>
                  <a:srgbClr val="404040"/>
                </a:solidFill>
                <a:effectLst/>
                <a:latin typeface="DeepSeek-CJK-patch"/>
              </a:rPr>
              <a:t>s × i</a:t>
            </a:r>
            <a:r>
              <a:rPr lang="vi-VN" b="0" i="0" dirty="0">
                <a:solidFill>
                  <a:srgbClr val="404040"/>
                </a:solidFill>
                <a:effectLst/>
                <a:latin typeface="DeepSeek-CJK-patch"/>
              </a:rPr>
              <a:t> (càng nhiều nút infected, s giảm càng nhanh).</a:t>
            </a:r>
          </a:p>
          <a:p>
            <a:pPr algn="l">
              <a:buFont typeface="Arial" panose="020B0604020202020204" pitchFamily="34" charset="0"/>
              <a:buChar char="•"/>
            </a:pPr>
            <a:endParaRPr lang="en-US" b="1"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Tốc độ thay đổi của i(t) (di/dt):</a:t>
            </a:r>
            <a:endParaRPr lang="vi-VN" b="0" i="0" dirty="0">
              <a:solidFill>
                <a:srgbClr val="404040"/>
              </a:solidFill>
              <a:effectLst/>
              <a:latin typeface="DeepSeek-CJK-patch"/>
            </a:endParaRPr>
          </a:p>
          <a:p>
            <a:pPr algn="l">
              <a:buFont typeface="Arial" panose="020B0604020202020204" pitchFamily="34" charset="0"/>
              <a:buChar char="•"/>
            </a:pPr>
            <a:r>
              <a:rPr lang="en-US" b="0" i="0" dirty="0">
                <a:solidFill>
                  <a:srgbClr val="404040"/>
                </a:solidFill>
                <a:effectLst/>
                <a:latin typeface="KaTeX_Main"/>
              </a:rPr>
              <a:t>d</a:t>
            </a:r>
            <a:r>
              <a:rPr lang="vi-VN" b="0" i="0" dirty="0">
                <a:solidFill>
                  <a:srgbClr val="404040"/>
                </a:solidFill>
                <a:effectLst/>
                <a:latin typeface="KaTeX_Main"/>
              </a:rPr>
              <a:t>i</a:t>
            </a:r>
            <a:r>
              <a:rPr lang="en-US" b="0" i="0" dirty="0">
                <a:solidFill>
                  <a:srgbClr val="404040"/>
                </a:solidFill>
                <a:effectLst/>
                <a:latin typeface="KaTeX_Main"/>
              </a:rPr>
              <a:t>/</a:t>
            </a:r>
            <a:r>
              <a:rPr lang="vi-VN" b="0" i="0" dirty="0">
                <a:solidFill>
                  <a:srgbClr val="404040"/>
                </a:solidFill>
                <a:effectLst/>
                <a:latin typeface="KaTeX_Main"/>
              </a:rPr>
              <a:t>dt=s⋅i−p</a:t>
            </a:r>
            <a:r>
              <a:rPr lang="en-US" b="0" i="0" dirty="0">
                <a:solidFill>
                  <a:srgbClr val="404040"/>
                </a:solidFill>
                <a:effectLst/>
                <a:latin typeface="KaTeX_Main"/>
              </a:rPr>
              <a:t>_</a:t>
            </a:r>
            <a:r>
              <a:rPr lang="vi-VN" b="0" i="0" dirty="0">
                <a:solidFill>
                  <a:srgbClr val="404040"/>
                </a:solidFill>
                <a:effectLst/>
                <a:latin typeface="KaTeX_Main"/>
              </a:rPr>
              <a:t>stop⋅(1−s)⋅i</a:t>
            </a:r>
            <a:endParaRPr lang="en-US" b="0" i="0" dirty="0">
              <a:solidFill>
                <a:srgbClr val="404040"/>
              </a:solidFill>
              <a:effectLst/>
              <a:latin typeface="KaTeX_Main"/>
            </a:endParaRPr>
          </a:p>
          <a:p>
            <a:pPr algn="l">
              <a:buFont typeface="Arial" panose="020B0604020202020204" pitchFamily="34" charset="0"/>
              <a:buChar char="•"/>
            </a:pPr>
            <a:r>
              <a:rPr lang="vi-VN" b="1" i="0" dirty="0">
                <a:solidFill>
                  <a:srgbClr val="404040"/>
                </a:solidFill>
                <a:effectLst/>
                <a:latin typeface="DeepSeek-CJK-patch"/>
              </a:rPr>
              <a:t>Giải thích: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Thành phần tăng (s·i):</a:t>
            </a:r>
            <a:r>
              <a:rPr lang="vi-VN" b="0" i="0" dirty="0">
                <a:solidFill>
                  <a:srgbClr val="404040"/>
                </a:solidFill>
                <a:effectLst/>
                <a:latin typeface="DeepSeek-CJK-patch"/>
              </a:rPr>
              <a:t> Nút susceptible thành infected khi nhận cập nhật.</a:t>
            </a:r>
          </a:p>
          <a:p>
            <a:pPr marL="742950" lvl="1" indent="-285750" algn="l">
              <a:buFont typeface="Arial" panose="020B0604020202020204" pitchFamily="34" charset="0"/>
              <a:buChar char="•"/>
            </a:pPr>
            <a:r>
              <a:rPr lang="vi-VN" b="1" i="0" dirty="0">
                <a:solidFill>
                  <a:srgbClr val="404040"/>
                </a:solidFill>
                <a:effectLst/>
                <a:latin typeface="DeepSeek-CJK-patch"/>
              </a:rPr>
              <a:t>Thành phần giảm (p</a:t>
            </a:r>
            <a:r>
              <a:rPr lang="en-US" b="1" i="0" dirty="0">
                <a:solidFill>
                  <a:srgbClr val="404040"/>
                </a:solidFill>
                <a:effectLst/>
                <a:latin typeface="DeepSeek-CJK-patch"/>
              </a:rPr>
              <a:t>_</a:t>
            </a:r>
            <a:r>
              <a:rPr lang="vi-VN" b="1" i="0" dirty="0">
                <a:solidFill>
                  <a:srgbClr val="404040"/>
                </a:solidFill>
                <a:effectLst/>
                <a:latin typeface="DeepSeek-CJK-patch"/>
              </a:rPr>
              <a:t>stop·(1-s)·i):</a:t>
            </a:r>
            <a:r>
              <a:rPr lang="vi-VN" b="0" i="0" dirty="0">
                <a:solidFill>
                  <a:srgbClr val="404040"/>
                </a:solidFill>
                <a:effectLst/>
                <a:latin typeface="DeepSeek-CJK-patch"/>
              </a:rPr>
              <a:t> Nút infected trở thành removed với xác suất </a:t>
            </a:r>
            <a:r>
              <a:rPr lang="vi-VN" b="1" i="0" dirty="0">
                <a:solidFill>
                  <a:srgbClr val="404040"/>
                </a:solidFill>
                <a:effectLst/>
                <a:latin typeface="DeepSeek-CJK-patch"/>
              </a:rPr>
              <a:t>p</a:t>
            </a:r>
            <a:r>
              <a:rPr lang="en-US" b="1" i="0" dirty="0">
                <a:solidFill>
                  <a:srgbClr val="404040"/>
                </a:solidFill>
                <a:effectLst/>
                <a:latin typeface="DeepSeek-CJK-patch"/>
              </a:rPr>
              <a:t>_</a:t>
            </a:r>
            <a:r>
              <a:rPr lang="vi-VN" b="1" i="0" dirty="0">
                <a:solidFill>
                  <a:srgbClr val="404040"/>
                </a:solidFill>
                <a:effectLst/>
                <a:latin typeface="DeepSeek-CJK-patch"/>
              </a:rPr>
              <a:t>stop</a:t>
            </a:r>
            <a:r>
              <a:rPr lang="vi-VN" b="0" i="0" dirty="0">
                <a:solidFill>
                  <a:srgbClr val="404040"/>
                </a:solidFill>
                <a:effectLst/>
                <a:latin typeface="DeepSeek-CJK-patch"/>
              </a:rPr>
              <a:t> khi gặp nút đã updated (tỷ lệ </a:t>
            </a:r>
            <a:r>
              <a:rPr lang="vi-VN" b="1" i="0" dirty="0">
                <a:solidFill>
                  <a:srgbClr val="404040"/>
                </a:solidFill>
                <a:effectLst/>
                <a:latin typeface="DeepSeek-CJK-patch"/>
              </a:rPr>
              <a:t>1-s</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Giải phương trình vi phân</a:t>
            </a:r>
            <a:endParaRPr lang="vi-VN" b="0" i="0" dirty="0">
              <a:solidFill>
                <a:srgbClr val="404040"/>
              </a:solidFill>
              <a:effectLst/>
              <a:latin typeface="DeepSeek-CJK-patch"/>
            </a:endParaRPr>
          </a:p>
          <a:p>
            <a:pPr algn="l">
              <a:buFont typeface="Arial" panose="020B0604020202020204" pitchFamily="34" charset="0"/>
              <a:buChar char="•"/>
            </a:pPr>
            <a:endParaRPr lang="en-US" b="1"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Bước 1: Liên hệ di và ds</a:t>
            </a:r>
            <a:br>
              <a:rPr lang="vi-VN" b="0" i="0" dirty="0">
                <a:solidFill>
                  <a:srgbClr val="404040"/>
                </a:solidFill>
                <a:effectLst/>
                <a:latin typeface="DeepSeek-CJK-patch"/>
              </a:rPr>
            </a:br>
            <a:r>
              <a:rPr lang="vi-VN" b="0" i="0" dirty="0">
                <a:solidFill>
                  <a:srgbClr val="404040"/>
                </a:solidFill>
                <a:effectLst/>
                <a:latin typeface="DeepSeek-CJK-patch"/>
              </a:rPr>
              <a:t>Từ hai phương trình trên, ta có:</a:t>
            </a:r>
          </a:p>
          <a:p>
            <a:pPr algn="l">
              <a:buFont typeface="Arial" panose="020B0604020202020204" pitchFamily="34" charset="0"/>
              <a:buNone/>
            </a:pPr>
            <a:r>
              <a:rPr lang="en-US" b="0" i="0" dirty="0">
                <a:solidFill>
                  <a:srgbClr val="404040"/>
                </a:solidFill>
                <a:effectLst/>
                <a:latin typeface="KaTeX_Main"/>
              </a:rPr>
              <a:t>d</a:t>
            </a:r>
            <a:r>
              <a:rPr lang="vi-VN" b="0" i="0" dirty="0">
                <a:solidFill>
                  <a:srgbClr val="404040"/>
                </a:solidFill>
                <a:effectLst/>
                <a:latin typeface="KaTeX_Main"/>
              </a:rPr>
              <a:t>i</a:t>
            </a:r>
            <a:r>
              <a:rPr lang="en-US" b="0" i="0" dirty="0">
                <a:solidFill>
                  <a:srgbClr val="404040"/>
                </a:solidFill>
                <a:effectLst/>
                <a:latin typeface="KaTeX_Main"/>
              </a:rPr>
              <a:t>/</a:t>
            </a:r>
            <a:r>
              <a:rPr lang="vi-VN" b="0" i="0" dirty="0">
                <a:solidFill>
                  <a:srgbClr val="404040"/>
                </a:solidFill>
                <a:effectLst/>
                <a:latin typeface="KaTeX_Main"/>
              </a:rPr>
              <a:t>ds=</a:t>
            </a:r>
            <a:r>
              <a:rPr lang="en-US" b="0" i="0" dirty="0">
                <a:solidFill>
                  <a:srgbClr val="404040"/>
                </a:solidFill>
                <a:effectLst/>
                <a:latin typeface="KaTeX_Main"/>
              </a:rPr>
              <a:t>(</a:t>
            </a:r>
            <a:r>
              <a:rPr lang="vi-VN" b="0" i="0" dirty="0">
                <a:solidFill>
                  <a:srgbClr val="404040"/>
                </a:solidFill>
                <a:effectLst/>
                <a:latin typeface="KaTeX_Main"/>
              </a:rPr>
              <a:t>di/dt</a:t>
            </a:r>
            <a:r>
              <a:rPr lang="en-US" b="0" i="0" dirty="0">
                <a:solidFill>
                  <a:srgbClr val="404040"/>
                </a:solidFill>
                <a:effectLst/>
                <a:latin typeface="KaTeX_Main"/>
              </a:rPr>
              <a:t> / </a:t>
            </a:r>
            <a:r>
              <a:rPr lang="vi-VN" b="0" i="0" dirty="0">
                <a:solidFill>
                  <a:srgbClr val="404040"/>
                </a:solidFill>
                <a:effectLst/>
                <a:latin typeface="KaTeX_Main"/>
              </a:rPr>
              <a:t>ds/dt</a:t>
            </a:r>
            <a:r>
              <a:rPr lang="en-US" b="0" i="0" dirty="0">
                <a:solidFill>
                  <a:srgbClr val="404040"/>
                </a:solidFill>
                <a:effectLst/>
                <a:latin typeface="KaTeX_Main"/>
              </a:rPr>
              <a:t>)</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s⋅i−p</a:t>
            </a:r>
            <a:r>
              <a:rPr lang="en-US" b="0" i="0" dirty="0">
                <a:solidFill>
                  <a:srgbClr val="404040"/>
                </a:solidFill>
                <a:effectLst/>
                <a:latin typeface="KaTeX_Main"/>
              </a:rPr>
              <a:t>_</a:t>
            </a:r>
            <a:r>
              <a:rPr lang="vi-VN" b="0" i="0" dirty="0">
                <a:solidFill>
                  <a:srgbClr val="404040"/>
                </a:solidFill>
                <a:effectLst/>
                <a:latin typeface="KaTeX_Main"/>
              </a:rPr>
              <a:t>stop⋅(1−s)⋅i</a:t>
            </a:r>
            <a:r>
              <a:rPr lang="en-US" b="0" i="0" dirty="0">
                <a:solidFill>
                  <a:srgbClr val="404040"/>
                </a:solidFill>
                <a:effectLst/>
                <a:latin typeface="KaTeX_Main"/>
              </a:rPr>
              <a:t>/(</a:t>
            </a:r>
            <a:r>
              <a:rPr lang="vi-VN" b="0" i="0" dirty="0">
                <a:solidFill>
                  <a:srgbClr val="404040"/>
                </a:solidFill>
                <a:effectLst/>
                <a:latin typeface="KaTeX_Main"/>
              </a:rPr>
              <a:t>−s⋅i</a:t>
            </a:r>
            <a:r>
              <a:rPr lang="en-US" b="0" i="0" dirty="0">
                <a:solidFill>
                  <a:srgbClr val="404040"/>
                </a:solidFill>
                <a:effectLst/>
                <a:latin typeface="KaTeX_Main"/>
              </a:rPr>
              <a:t>)</a:t>
            </a:r>
            <a:r>
              <a:rPr lang="vi-VN" b="0" i="0" dirty="0">
                <a:solidFill>
                  <a:srgbClr val="404040"/>
                </a:solidFill>
                <a:effectLst/>
                <a:latin typeface="KaTeX_Main"/>
              </a:rPr>
              <a:t>=−1+p</a:t>
            </a:r>
            <a:r>
              <a:rPr lang="en-US" b="0" i="0" dirty="0">
                <a:solidFill>
                  <a:srgbClr val="404040"/>
                </a:solidFill>
                <a:effectLst/>
                <a:latin typeface="KaTeX_Main"/>
              </a:rPr>
              <a:t>_</a:t>
            </a:r>
            <a:r>
              <a:rPr lang="vi-VN" b="0" i="0" dirty="0">
                <a:solidFill>
                  <a:srgbClr val="404040"/>
                </a:solidFill>
                <a:effectLst/>
                <a:latin typeface="KaTeX_Main"/>
              </a:rPr>
              <a:t>stop(1−s)</a:t>
            </a:r>
            <a:r>
              <a:rPr lang="en-US" b="0" i="0" dirty="0">
                <a:solidFill>
                  <a:srgbClr val="404040"/>
                </a:solidFill>
                <a:effectLst/>
                <a:latin typeface="KaTeX_Main"/>
              </a:rPr>
              <a:t>/</a:t>
            </a:r>
            <a:r>
              <a:rPr lang="vi-VN" b="0" i="0" dirty="0">
                <a:solidFill>
                  <a:srgbClr val="404040"/>
                </a:solidFill>
                <a:effectLst/>
                <a:latin typeface="KaTeX_Main"/>
              </a:rPr>
              <a:t>s</a:t>
            </a:r>
            <a:endParaRPr lang="en-US" b="0" i="0" dirty="0">
              <a:solidFill>
                <a:srgbClr val="404040"/>
              </a:solidFill>
              <a:effectLst/>
              <a:latin typeface="KaTeX_Main"/>
            </a:endParaRPr>
          </a:p>
          <a:p>
            <a:pPr algn="l">
              <a:buFont typeface="Arial" panose="020B0604020202020204" pitchFamily="34" charset="0"/>
              <a:buNone/>
            </a:pPr>
            <a:r>
              <a:rPr lang="vi-VN" b="0" i="0" dirty="0">
                <a:solidFill>
                  <a:srgbClr val="404040"/>
                </a:solidFill>
                <a:effectLst/>
                <a:latin typeface="KaTeX_Main"/>
              </a:rPr>
              <a:t>​</a:t>
            </a:r>
            <a:endParaRPr lang="en-US" b="0" i="0" dirty="0">
              <a:solidFill>
                <a:srgbClr val="404040"/>
              </a:solidFill>
              <a:effectLst/>
              <a:latin typeface="KaTeX_Main"/>
            </a:endParaRPr>
          </a:p>
          <a:p>
            <a:pPr algn="l">
              <a:buFont typeface="Arial" panose="020B0604020202020204" pitchFamily="34" charset="0"/>
              <a:buNone/>
            </a:pPr>
            <a:r>
              <a:rPr lang="vi-VN" b="0" i="0" dirty="0">
                <a:solidFill>
                  <a:srgbClr val="404040"/>
                </a:solidFill>
                <a:effectLst/>
                <a:latin typeface="DeepSeek-CJK-patch"/>
              </a:rPr>
              <a:t>Đơn giản hóa:</a:t>
            </a:r>
          </a:p>
          <a:p>
            <a:pPr algn="l">
              <a:buFont typeface="Arial" panose="020B0604020202020204" pitchFamily="34" charset="0"/>
              <a:buNone/>
            </a:pPr>
            <a:r>
              <a:rPr lang="vi-VN" b="0" i="0" dirty="0">
                <a:solidFill>
                  <a:srgbClr val="404040"/>
                </a:solidFill>
                <a:effectLst/>
                <a:latin typeface="KaTeX_Main"/>
              </a:rPr>
              <a:t>Di</a:t>
            </a:r>
            <a:r>
              <a:rPr lang="en-US" b="0" i="0" dirty="0">
                <a:solidFill>
                  <a:srgbClr val="404040"/>
                </a:solidFill>
                <a:effectLst/>
                <a:latin typeface="KaTeX_Main"/>
              </a:rPr>
              <a:t>/</a:t>
            </a:r>
            <a:r>
              <a:rPr lang="vi-VN" b="0" i="0" dirty="0">
                <a:solidFill>
                  <a:srgbClr val="404040"/>
                </a:solidFill>
                <a:effectLst/>
                <a:latin typeface="KaTeX_Main"/>
              </a:rPr>
              <a:t>ds=−(1+p</a:t>
            </a:r>
            <a:r>
              <a:rPr lang="en-US" b="0" i="0" dirty="0">
                <a:solidFill>
                  <a:srgbClr val="404040"/>
                </a:solidFill>
                <a:effectLst/>
                <a:latin typeface="KaTeX_Main"/>
              </a:rPr>
              <a:t>_</a:t>
            </a:r>
            <a:r>
              <a:rPr lang="vi-VN" b="0" i="0" dirty="0">
                <a:solidFill>
                  <a:srgbClr val="404040"/>
                </a:solidFill>
                <a:effectLst/>
                <a:latin typeface="KaTeX_Main"/>
              </a:rPr>
              <a:t>stop)+p</a:t>
            </a:r>
            <a:r>
              <a:rPr lang="en-US" b="0" i="0" dirty="0">
                <a:solidFill>
                  <a:srgbClr val="404040"/>
                </a:solidFill>
                <a:effectLst/>
                <a:latin typeface="KaTeX_Main"/>
              </a:rPr>
              <a:t>_</a:t>
            </a:r>
            <a:r>
              <a:rPr lang="vi-VN" b="0" i="0" dirty="0">
                <a:solidFill>
                  <a:srgbClr val="404040"/>
                </a:solidFill>
                <a:effectLst/>
                <a:latin typeface="KaTeX_Main"/>
              </a:rPr>
              <a:t>stop</a:t>
            </a:r>
            <a:r>
              <a:rPr lang="en-US" b="0" i="0" dirty="0">
                <a:solidFill>
                  <a:srgbClr val="404040"/>
                </a:solidFill>
                <a:effectLst/>
                <a:latin typeface="KaTeX_Main"/>
              </a:rPr>
              <a:t>/</a:t>
            </a:r>
            <a:r>
              <a:rPr lang="vi-VN" b="0" i="0" dirty="0">
                <a:solidFill>
                  <a:srgbClr val="404040"/>
                </a:solidFill>
                <a:effectLst/>
                <a:latin typeface="KaTeX_Main"/>
              </a:rPr>
              <a:t>s</a:t>
            </a:r>
            <a:endParaRPr lang="en-US" b="0" i="0" dirty="0">
              <a:solidFill>
                <a:srgbClr val="404040"/>
              </a:solidFill>
              <a:effectLst/>
              <a:latin typeface="KaTeX_Main"/>
            </a:endParaRPr>
          </a:p>
          <a:p>
            <a:pPr algn="l">
              <a:buFont typeface="Arial" panose="020B0604020202020204" pitchFamily="34" charset="0"/>
              <a:buNone/>
            </a:pPr>
            <a:r>
              <a:rPr lang="vi-VN" b="0" i="0" dirty="0">
                <a:solidFill>
                  <a:srgbClr val="404040"/>
                </a:solidFill>
                <a:effectLst/>
                <a:latin typeface="KaTeX_Main"/>
              </a:rPr>
              <a:t>​​</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Bước 2: Tích phân để tìm i(s)</a:t>
            </a:r>
            <a:endParaRPr lang="vi-VN" b="0" i="0" dirty="0">
              <a:solidFill>
                <a:srgbClr val="404040"/>
              </a:solidFill>
              <a:effectLst/>
              <a:latin typeface="DeepSeek-CJK-patch"/>
            </a:endParaRPr>
          </a:p>
          <a:p>
            <a:pPr algn="l">
              <a:buFont typeface="Arial" panose="020B0604020202020204" pitchFamily="34" charset="0"/>
              <a:buNone/>
            </a:pPr>
            <a:r>
              <a:rPr lang="vi-VN" b="0" i="0" dirty="0">
                <a:solidFill>
                  <a:srgbClr val="404040"/>
                </a:solidFill>
                <a:effectLst/>
                <a:latin typeface="KaTeX_Main"/>
              </a:rPr>
              <a:t>i(s)=∫(−(1+p</a:t>
            </a:r>
            <a:r>
              <a:rPr lang="en-US" b="0" i="0" dirty="0">
                <a:solidFill>
                  <a:srgbClr val="404040"/>
                </a:solidFill>
                <a:effectLst/>
                <a:latin typeface="KaTeX_Main"/>
              </a:rPr>
              <a:t>_</a:t>
            </a:r>
            <a:r>
              <a:rPr lang="vi-VN" b="0" i="0" dirty="0">
                <a:solidFill>
                  <a:srgbClr val="404040"/>
                </a:solidFill>
                <a:effectLst/>
                <a:latin typeface="KaTeX_Main"/>
              </a:rPr>
              <a:t>stop)+p</a:t>
            </a:r>
            <a:r>
              <a:rPr lang="en-US" b="0" i="0" dirty="0">
                <a:solidFill>
                  <a:srgbClr val="404040"/>
                </a:solidFill>
                <a:effectLst/>
                <a:latin typeface="KaTeX_Main"/>
              </a:rPr>
              <a:t>_</a:t>
            </a:r>
            <a:r>
              <a:rPr lang="vi-VN" b="0" i="0" dirty="0">
                <a:solidFill>
                  <a:srgbClr val="404040"/>
                </a:solidFill>
                <a:effectLst/>
                <a:latin typeface="KaTeX_Main"/>
              </a:rPr>
              <a:t>stop</a:t>
            </a:r>
            <a:r>
              <a:rPr lang="en-US" b="0" i="0" dirty="0">
                <a:solidFill>
                  <a:srgbClr val="404040"/>
                </a:solidFill>
                <a:effectLst/>
                <a:latin typeface="KaTeX_Main"/>
              </a:rPr>
              <a:t>/</a:t>
            </a:r>
            <a:r>
              <a:rPr lang="vi-VN" b="0" i="0" dirty="0">
                <a:solidFill>
                  <a:srgbClr val="404040"/>
                </a:solidFill>
                <a:effectLst/>
                <a:latin typeface="KaTeX_Main"/>
              </a:rPr>
              <a:t>s)</a:t>
            </a:r>
            <a:r>
              <a:rPr lang="en-US" b="0" i="0" dirty="0">
                <a:solidFill>
                  <a:srgbClr val="404040"/>
                </a:solidFill>
                <a:effectLst/>
                <a:latin typeface="KaTeX_Main"/>
              </a:rPr>
              <a:t>.</a:t>
            </a:r>
            <a:r>
              <a:rPr lang="vi-VN" b="0" i="0" dirty="0">
                <a:solidFill>
                  <a:srgbClr val="404040"/>
                </a:solidFill>
                <a:effectLst/>
                <a:latin typeface="KaTeX_Main"/>
              </a:rPr>
              <a:t>ds=−(1+p</a:t>
            </a:r>
            <a:r>
              <a:rPr lang="en-US" b="0" i="0" dirty="0">
                <a:solidFill>
                  <a:srgbClr val="404040"/>
                </a:solidFill>
                <a:effectLst/>
                <a:latin typeface="KaTeX_Main"/>
              </a:rPr>
              <a:t>_</a:t>
            </a:r>
            <a:r>
              <a:rPr lang="vi-VN" b="0" i="0" dirty="0">
                <a:solidFill>
                  <a:srgbClr val="404040"/>
                </a:solidFill>
                <a:effectLst/>
                <a:latin typeface="KaTeX_Main"/>
              </a:rPr>
              <a:t>stop)⋅s</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stop</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ln⁡(s)+C</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Xác định hằng số C:</a:t>
            </a:r>
            <a:br>
              <a:rPr lang="vi-VN" b="0" i="0" dirty="0">
                <a:solidFill>
                  <a:srgbClr val="404040"/>
                </a:solidFill>
                <a:effectLst/>
                <a:latin typeface="DeepSeek-CJK-patch"/>
              </a:rPr>
            </a:br>
            <a:r>
              <a:rPr lang="vi-VN" b="0" i="0" dirty="0">
                <a:solidFill>
                  <a:srgbClr val="404040"/>
                </a:solidFill>
                <a:effectLst/>
                <a:latin typeface="DeepSeek-CJK-patch"/>
              </a:rPr>
              <a:t>Tại thời điểm ban đầu (</a:t>
            </a:r>
            <a:r>
              <a:rPr lang="vi-VN" b="1" i="0" dirty="0">
                <a:solidFill>
                  <a:srgbClr val="404040"/>
                </a:solidFill>
                <a:effectLst/>
                <a:latin typeface="DeepSeek-CJK-patch"/>
              </a:rPr>
              <a:t>s ≈ 1</a:t>
            </a:r>
            <a:r>
              <a:rPr lang="vi-VN" b="0" i="0" dirty="0">
                <a:solidFill>
                  <a:srgbClr val="404040"/>
                </a:solidFill>
                <a:effectLst/>
                <a:latin typeface="DeepSeek-CJK-patch"/>
              </a:rPr>
              <a:t>, i ≈ 0):</a:t>
            </a:r>
          </a:p>
          <a:p>
            <a:pPr marL="457200" lvl="1" indent="0" algn="l">
              <a:buFont typeface="Arial" panose="020B0604020202020204" pitchFamily="34" charset="0"/>
              <a:buNone/>
            </a:pPr>
            <a:r>
              <a:rPr lang="en-US" b="0" i="0" dirty="0">
                <a:solidFill>
                  <a:srgbClr val="404040"/>
                </a:solidFill>
                <a:effectLst/>
                <a:latin typeface="KaTeX_Main"/>
              </a:rPr>
              <a:t>	</a:t>
            </a:r>
            <a:r>
              <a:rPr lang="vi-VN" b="0" i="0" dirty="0">
                <a:solidFill>
                  <a:srgbClr val="404040"/>
                </a:solidFill>
                <a:effectLst/>
                <a:latin typeface="KaTeX_Main"/>
              </a:rPr>
              <a:t>0=−(1+p</a:t>
            </a:r>
            <a:r>
              <a:rPr lang="en-US" b="0" i="0" dirty="0">
                <a:solidFill>
                  <a:srgbClr val="404040"/>
                </a:solidFill>
                <a:effectLst/>
                <a:latin typeface="KaTeX_Main"/>
              </a:rPr>
              <a:t>_</a:t>
            </a:r>
            <a:r>
              <a:rPr lang="vi-VN" b="0" i="0" dirty="0">
                <a:solidFill>
                  <a:srgbClr val="404040"/>
                </a:solidFill>
                <a:effectLst/>
                <a:latin typeface="KaTeX_Main"/>
              </a:rPr>
              <a:t>stop)⋅1</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stop</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ln⁡(1)</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C</a:t>
            </a:r>
            <a:r>
              <a:rPr lang="en-US" b="0" i="0" dirty="0">
                <a:solidFill>
                  <a:srgbClr val="404040"/>
                </a:solidFill>
                <a:effectLst/>
                <a:latin typeface="KaTeX_Main"/>
              </a:rPr>
              <a:t> =&gt; </a:t>
            </a:r>
            <a:r>
              <a:rPr lang="vi-VN" b="0" i="0" dirty="0">
                <a:solidFill>
                  <a:srgbClr val="404040"/>
                </a:solidFill>
                <a:effectLst/>
                <a:latin typeface="KaTeX_Main"/>
              </a:rPr>
              <a:t>C</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1+p</a:t>
            </a:r>
            <a:r>
              <a:rPr lang="en-US" b="0" i="0" dirty="0">
                <a:solidFill>
                  <a:srgbClr val="404040"/>
                </a:solidFill>
                <a:effectLst/>
                <a:latin typeface="KaTeX_Main"/>
              </a:rPr>
              <a:t>_</a:t>
            </a:r>
            <a:r>
              <a:rPr lang="vi-VN" b="0" i="0" dirty="0">
                <a:solidFill>
                  <a:srgbClr val="404040"/>
                </a:solidFill>
                <a:effectLst/>
                <a:latin typeface="KaTeX_Main"/>
              </a:rPr>
              <a:t>stop​</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Kết quả:</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KaTeX_Main"/>
              </a:rPr>
              <a:t>	</a:t>
            </a:r>
            <a:r>
              <a:rPr lang="vi-VN" b="0" i="0" dirty="0">
                <a:solidFill>
                  <a:srgbClr val="404040"/>
                </a:solidFill>
                <a:effectLst/>
                <a:latin typeface="KaTeX_Main"/>
              </a:rPr>
              <a:t>i(s)=(1+p</a:t>
            </a:r>
            <a:r>
              <a:rPr lang="en-US" b="0" i="0" dirty="0">
                <a:solidFill>
                  <a:srgbClr val="404040"/>
                </a:solidFill>
                <a:effectLst/>
                <a:latin typeface="KaTeX_Main"/>
              </a:rPr>
              <a:t>_</a:t>
            </a:r>
            <a:r>
              <a:rPr lang="vi-VN" b="0" i="0" dirty="0">
                <a:solidFill>
                  <a:srgbClr val="404040"/>
                </a:solidFill>
                <a:effectLst/>
                <a:latin typeface="KaTeX_Main"/>
              </a:rPr>
              <a:t>stop)(1−s)+p</a:t>
            </a:r>
            <a:r>
              <a:rPr lang="en-US" b="0" i="0" dirty="0">
                <a:solidFill>
                  <a:srgbClr val="404040"/>
                </a:solidFill>
                <a:effectLst/>
                <a:latin typeface="KaTeX_Main"/>
              </a:rPr>
              <a:t>_</a:t>
            </a:r>
            <a:r>
              <a:rPr lang="vi-VN" b="0" i="0" dirty="0">
                <a:solidFill>
                  <a:srgbClr val="404040"/>
                </a:solidFill>
                <a:effectLst/>
                <a:latin typeface="KaTeX_Main"/>
              </a:rPr>
              <a:t>stop⋅ln⁡(s)</a:t>
            </a:r>
            <a:endParaRPr lang="en-US" b="0" i="0" dirty="0">
              <a:solidFill>
                <a:srgbClr val="404040"/>
              </a:solidFill>
              <a:effectLst/>
              <a:latin typeface="KaTeX_Main"/>
            </a:endParaRPr>
          </a:p>
          <a:p>
            <a:pPr marL="457200" lvl="1" indent="0" algn="l">
              <a:buFont typeface="Arial" panose="020B0604020202020204" pitchFamily="34" charset="0"/>
              <a:buNone/>
            </a:pP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Bước 3: Tìm s tại trạng thái cân bằng (i(s) = 0)</a:t>
            </a:r>
            <a:br>
              <a:rPr lang="vi-VN" b="0" i="0" dirty="0">
                <a:solidFill>
                  <a:srgbClr val="404040"/>
                </a:solidFill>
                <a:effectLst/>
                <a:latin typeface="DeepSeek-CJK-patch"/>
              </a:rPr>
            </a:br>
            <a:r>
              <a:rPr lang="vi-VN" b="0" i="0" dirty="0">
                <a:solidFill>
                  <a:srgbClr val="404040"/>
                </a:solidFill>
                <a:effectLst/>
                <a:latin typeface="DeepSeek-CJK-patch"/>
              </a:rPr>
              <a:t>Khi quá trình lan truyền dừng (</a:t>
            </a:r>
            <a:r>
              <a:rPr lang="vi-VN" b="1" i="0" dirty="0">
                <a:solidFill>
                  <a:srgbClr val="404040"/>
                </a:solidFill>
                <a:effectLst/>
                <a:latin typeface="DeepSeek-CJK-patch"/>
              </a:rPr>
              <a:t>i = 0</a:t>
            </a:r>
            <a:r>
              <a:rPr lang="vi-VN" b="0" i="0" dirty="0">
                <a:solidFill>
                  <a:srgbClr val="404040"/>
                </a:solidFill>
                <a:effectLst/>
                <a:latin typeface="DeepSeek-CJK-patch"/>
              </a:rPr>
              <a:t>), ta có:</a:t>
            </a:r>
          </a:p>
          <a:p>
            <a:pPr algn="l">
              <a:buFont typeface="Arial" panose="020B0604020202020204" pitchFamily="34" charset="0"/>
              <a:buNone/>
            </a:pPr>
            <a:r>
              <a:rPr lang="vi-VN" b="0" i="0" dirty="0">
                <a:solidFill>
                  <a:srgbClr val="404040"/>
                </a:solidFill>
                <a:effectLst/>
                <a:latin typeface="KaTeX_Main"/>
              </a:rPr>
              <a:t>0=(1+p</a:t>
            </a:r>
            <a:r>
              <a:rPr lang="en-US" b="0" i="0" dirty="0">
                <a:solidFill>
                  <a:srgbClr val="404040"/>
                </a:solidFill>
                <a:effectLst/>
                <a:latin typeface="KaTeX_Main"/>
              </a:rPr>
              <a:t>_</a:t>
            </a:r>
            <a:r>
              <a:rPr lang="vi-VN" b="0" i="0" dirty="0">
                <a:solidFill>
                  <a:srgbClr val="404040"/>
                </a:solidFill>
                <a:effectLst/>
                <a:latin typeface="KaTeX_Main"/>
              </a:rPr>
              <a:t>stop)(1−s)+p</a:t>
            </a:r>
            <a:r>
              <a:rPr lang="en-US" b="0" i="0" dirty="0">
                <a:solidFill>
                  <a:srgbClr val="404040"/>
                </a:solidFill>
                <a:effectLst/>
                <a:latin typeface="KaTeX_Main"/>
              </a:rPr>
              <a:t>_</a:t>
            </a:r>
            <a:r>
              <a:rPr lang="vi-VN" b="0" i="0" dirty="0">
                <a:solidFill>
                  <a:srgbClr val="404040"/>
                </a:solidFill>
                <a:effectLst/>
                <a:latin typeface="KaTeX_Main"/>
              </a:rPr>
              <a:t>stop⋅ln⁡(s)</a:t>
            </a:r>
            <a:endParaRPr lang="en-US" b="0" i="0" dirty="0">
              <a:solidFill>
                <a:srgbClr val="404040"/>
              </a:solidFill>
              <a:effectLst/>
              <a:latin typeface="KaTeX_Main"/>
            </a:endParaRPr>
          </a:p>
          <a:p>
            <a:pPr algn="l">
              <a:buFont typeface="Arial" panose="020B0604020202020204" pitchFamily="34" charset="0"/>
              <a:buNone/>
            </a:pPr>
            <a:endParaRPr lang="en-US" b="0" i="0" dirty="0">
              <a:solidFill>
                <a:srgbClr val="404040"/>
              </a:solidFill>
              <a:effectLst/>
              <a:latin typeface="DeepSeek-CJK-patch"/>
            </a:endParaRPr>
          </a:p>
          <a:p>
            <a:pPr algn="l">
              <a:buFont typeface="Arial" panose="020B0604020202020204" pitchFamily="34" charset="0"/>
              <a:buNone/>
            </a:pPr>
            <a:r>
              <a:rPr lang="vi-VN" b="0" i="0" dirty="0">
                <a:solidFill>
                  <a:srgbClr val="404040"/>
                </a:solidFill>
                <a:effectLst/>
                <a:latin typeface="DeepSeek-CJK-patch"/>
              </a:rPr>
              <a:t>Chuyển vế và chia cho </a:t>
            </a:r>
            <a:r>
              <a:rPr lang="vi-VN" b="1" i="0" dirty="0">
                <a:solidFill>
                  <a:srgbClr val="404040"/>
                </a:solidFill>
                <a:effectLst/>
                <a:latin typeface="DeepSeek-CJK-patch"/>
              </a:rPr>
              <a:t>p</a:t>
            </a:r>
            <a:r>
              <a:rPr lang="en-US" b="1" i="0" dirty="0">
                <a:solidFill>
                  <a:srgbClr val="404040"/>
                </a:solidFill>
                <a:effectLst/>
                <a:latin typeface="DeepSeek-CJK-patch"/>
              </a:rPr>
              <a:t>_</a:t>
            </a:r>
            <a:r>
              <a:rPr lang="vi-VN" b="1" i="0" dirty="0">
                <a:solidFill>
                  <a:srgbClr val="404040"/>
                </a:solidFill>
                <a:effectLst/>
                <a:latin typeface="DeepSeek-CJK-patch"/>
              </a:rPr>
              <a:t>stop</a:t>
            </a:r>
            <a:r>
              <a:rPr lang="vi-VN" b="0" i="0" dirty="0">
                <a:solidFill>
                  <a:srgbClr val="404040"/>
                </a:solidFill>
                <a:effectLst/>
                <a:latin typeface="DeepSeek-CJK-patch"/>
              </a:rPr>
              <a:t>:</a:t>
            </a:r>
          </a:p>
          <a:p>
            <a:pPr algn="l">
              <a:buFont typeface="Arial" panose="020B0604020202020204" pitchFamily="34" charset="0"/>
              <a:buNone/>
            </a:pPr>
            <a:r>
              <a:rPr lang="vi-VN" b="0" i="0" dirty="0">
                <a:solidFill>
                  <a:srgbClr val="404040"/>
                </a:solidFill>
                <a:effectLst/>
                <a:latin typeface="KaTeX_Main"/>
              </a:rPr>
              <a:t>ln⁡(s)=−</a:t>
            </a:r>
            <a:r>
              <a:rPr lang="en-US" b="0" i="0" dirty="0">
                <a:solidFill>
                  <a:srgbClr val="404040"/>
                </a:solidFill>
                <a:effectLst/>
                <a:latin typeface="KaTeX_Main"/>
              </a:rPr>
              <a:t>(</a:t>
            </a:r>
            <a:r>
              <a:rPr lang="vi-VN" b="0" i="0" dirty="0">
                <a:solidFill>
                  <a:srgbClr val="404040"/>
                </a:solidFill>
                <a:effectLst/>
                <a:latin typeface="KaTeX_Main"/>
              </a:rPr>
              <a:t>(1+p</a:t>
            </a:r>
            <a:r>
              <a:rPr lang="en-US" b="0" i="0" dirty="0">
                <a:solidFill>
                  <a:srgbClr val="404040"/>
                </a:solidFill>
                <a:effectLst/>
                <a:latin typeface="KaTeX_Main"/>
              </a:rPr>
              <a:t>_</a:t>
            </a:r>
            <a:r>
              <a:rPr lang="vi-VN" b="0" i="0" dirty="0">
                <a:solidFill>
                  <a:srgbClr val="404040"/>
                </a:solidFill>
                <a:effectLst/>
                <a:latin typeface="KaTeX_Main"/>
              </a:rPr>
              <a:t>stop</a:t>
            </a:r>
            <a:r>
              <a:rPr lang="en-US" b="0" i="0" dirty="0">
                <a:solidFill>
                  <a:srgbClr val="404040"/>
                </a:solidFill>
                <a:effectLst/>
                <a:latin typeface="KaTeX_Main"/>
              </a:rPr>
              <a:t>)/</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stop)</a:t>
            </a:r>
            <a:r>
              <a:rPr lang="en-US" b="0" i="0" dirty="0">
                <a:solidFill>
                  <a:srgbClr val="404040"/>
                </a:solidFill>
                <a:effectLst/>
                <a:latin typeface="KaTeX_Main"/>
              </a:rPr>
              <a:t> </a:t>
            </a:r>
            <a:r>
              <a:rPr lang="vi-VN" b="0" i="0" dirty="0">
                <a:solidFill>
                  <a:srgbClr val="404040"/>
                </a:solidFill>
                <a:effectLst/>
                <a:latin typeface="KaTeX_Main"/>
              </a:rPr>
              <a:t>(1−s)</a:t>
            </a:r>
            <a:endParaRPr lang="en-US" b="0" i="0" dirty="0">
              <a:solidFill>
                <a:srgbClr val="404040"/>
              </a:solidFill>
              <a:effectLst/>
              <a:latin typeface="KaTeX_Main"/>
            </a:endParaRPr>
          </a:p>
          <a:p>
            <a:pPr algn="l">
              <a:buFont typeface="Arial" panose="020B0604020202020204" pitchFamily="34" charset="0"/>
              <a:buNone/>
            </a:pPr>
            <a:endParaRPr lang="en-US" b="0" i="0" dirty="0">
              <a:solidFill>
                <a:srgbClr val="404040"/>
              </a:solidFill>
              <a:effectLst/>
              <a:latin typeface="DeepSeek-CJK-patch"/>
            </a:endParaRPr>
          </a:p>
          <a:p>
            <a:pPr algn="l">
              <a:buFont typeface="Arial" panose="020B0604020202020204" pitchFamily="34" charset="0"/>
              <a:buNone/>
            </a:pPr>
            <a:r>
              <a:rPr lang="vi-VN" b="0" i="0" dirty="0">
                <a:solidFill>
                  <a:srgbClr val="404040"/>
                </a:solidFill>
                <a:effectLst/>
                <a:latin typeface="DeepSeek-CJK-patch"/>
              </a:rPr>
              <a:t>Lấy mũ hai vế:</a:t>
            </a:r>
          </a:p>
          <a:p>
            <a:pPr algn="l">
              <a:buFont typeface="Arial" panose="020B0604020202020204" pitchFamily="34" charset="0"/>
              <a:buNone/>
            </a:pPr>
            <a:r>
              <a:rPr lang="vi-VN" b="0" i="0" dirty="0">
                <a:solidFill>
                  <a:srgbClr val="404040"/>
                </a:solidFill>
                <a:effectLst/>
                <a:latin typeface="KaTeX_Main"/>
              </a:rPr>
              <a:t>s=e</a:t>
            </a:r>
            <a:r>
              <a:rPr lang="en-US" b="0" i="0" dirty="0">
                <a:solidFill>
                  <a:srgbClr val="404040"/>
                </a:solidFill>
                <a:effectLst/>
                <a:latin typeface="KaTeX_Main"/>
              </a:rPr>
              <a:t>^</a:t>
            </a:r>
            <a:r>
              <a:rPr lang="vi-VN" b="0" i="0" dirty="0">
                <a:solidFill>
                  <a:srgbClr val="404040"/>
                </a:solidFill>
                <a:effectLst/>
                <a:latin typeface="KaTeX_Main"/>
              </a:rPr>
              <a:t>−(1</a:t>
            </a:r>
            <a:r>
              <a:rPr lang="en-US" b="0" i="0" dirty="0">
                <a:solidFill>
                  <a:srgbClr val="404040"/>
                </a:solidFill>
                <a:effectLst/>
                <a:latin typeface="KaTeX_Main"/>
              </a:rPr>
              <a:t>/</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stop</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1)(1−s)</a:t>
            </a:r>
            <a:endParaRPr lang="en-US" b="0" i="0" dirty="0">
              <a:solidFill>
                <a:srgbClr val="404040"/>
              </a:solidFill>
              <a:effectLst/>
              <a:latin typeface="KaTeX_Main"/>
            </a:endParaRPr>
          </a:p>
          <a:p>
            <a:pPr algn="l">
              <a:buFont typeface="Arial" panose="020B0604020202020204" pitchFamily="34" charset="0"/>
              <a:buNone/>
            </a:pPr>
            <a:endParaRPr lang="vi-VN" b="0" i="0" dirty="0">
              <a:solidFill>
                <a:srgbClr val="404040"/>
              </a:solidFill>
              <a:effectLst/>
              <a:latin typeface="DeepSeek-CJK-patch"/>
            </a:endParaRPr>
          </a:p>
          <a:p>
            <a:pPr algn="l"/>
            <a:r>
              <a:rPr lang="vi-VN" b="1" i="0" dirty="0">
                <a:solidFill>
                  <a:srgbClr val="404040"/>
                </a:solidFill>
                <a:effectLst/>
                <a:latin typeface="DeepSeek-CJK-patch"/>
              </a:rPr>
              <a:t>4. 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Phương trình cân bằng:</a:t>
            </a:r>
            <a:endParaRPr lang="vi-VN" b="0" i="0" dirty="0">
              <a:solidFill>
                <a:srgbClr val="404040"/>
              </a:solidFill>
              <a:effectLst/>
              <a:latin typeface="DeepSeek-CJK-patch"/>
            </a:endParaRPr>
          </a:p>
          <a:p>
            <a:pPr algn="l">
              <a:buFont typeface="Arial" panose="020B0604020202020204" pitchFamily="34" charset="0"/>
              <a:buNone/>
            </a:pPr>
            <a:r>
              <a:rPr lang="vi-VN" b="0" i="0" dirty="0">
                <a:solidFill>
                  <a:srgbClr val="404040"/>
                </a:solidFill>
                <a:effectLst/>
                <a:latin typeface="KaTeX_Main"/>
              </a:rPr>
              <a:t>s=e</a:t>
            </a:r>
            <a:r>
              <a:rPr lang="en-US" b="0" i="0" dirty="0">
                <a:solidFill>
                  <a:srgbClr val="404040"/>
                </a:solidFill>
                <a:effectLst/>
                <a:latin typeface="KaTeX_Main"/>
              </a:rPr>
              <a:t>^</a:t>
            </a:r>
            <a:r>
              <a:rPr lang="vi-VN" b="0" i="0" dirty="0">
                <a:solidFill>
                  <a:srgbClr val="404040"/>
                </a:solidFill>
                <a:effectLst/>
                <a:latin typeface="KaTeX_Main"/>
              </a:rPr>
              <a:t>−(1</a:t>
            </a:r>
            <a:r>
              <a:rPr lang="en-US" b="0" i="0" dirty="0">
                <a:solidFill>
                  <a:srgbClr val="404040"/>
                </a:solidFill>
                <a:effectLst/>
                <a:latin typeface="KaTeX_Main"/>
              </a:rPr>
              <a:t>/</a:t>
            </a:r>
            <a:r>
              <a:rPr lang="vi-VN" b="0" i="0" dirty="0">
                <a:solidFill>
                  <a:srgbClr val="404040"/>
                </a:solidFill>
                <a:effectLst/>
                <a:latin typeface="KaTeX_Main"/>
              </a:rPr>
              <a:t>p</a:t>
            </a:r>
            <a:r>
              <a:rPr lang="en-US" b="0" i="0" dirty="0">
                <a:solidFill>
                  <a:srgbClr val="404040"/>
                </a:solidFill>
                <a:effectLst/>
                <a:latin typeface="KaTeX_Main"/>
              </a:rPr>
              <a:t>_</a:t>
            </a:r>
            <a:r>
              <a:rPr lang="vi-VN" b="0" i="0" dirty="0">
                <a:solidFill>
                  <a:srgbClr val="404040"/>
                </a:solidFill>
                <a:effectLst/>
                <a:latin typeface="KaTeX_Main"/>
              </a:rPr>
              <a:t>stop+1)(1−s)</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Ý nghĩa:</a:t>
            </a:r>
            <a:r>
              <a:rPr lang="vi-VN" b="0" i="0" dirty="0">
                <a:solidFill>
                  <a:srgbClr val="404040"/>
                </a:solidFill>
                <a:effectLst/>
                <a:latin typeface="DeepSeek-CJK-patch"/>
              </a:rPr>
              <a:t> Tỷ lệ nút không nhận được cập nhật (</a:t>
            </a:r>
            <a:r>
              <a:rPr lang="vi-VN" b="1" i="0" dirty="0">
                <a:solidFill>
                  <a:srgbClr val="404040"/>
                </a:solidFill>
                <a:effectLst/>
                <a:latin typeface="DeepSeek-CJK-patch"/>
              </a:rPr>
              <a:t>s</a:t>
            </a:r>
            <a:r>
              <a:rPr lang="vi-VN" b="0" i="0" dirty="0">
                <a:solidFill>
                  <a:srgbClr val="404040"/>
                </a:solidFill>
                <a:effectLst/>
                <a:latin typeface="DeepSeek-CJK-patch"/>
              </a:rPr>
              <a:t>) phụ thuộc vào </a:t>
            </a:r>
            <a:r>
              <a:rPr lang="vi-VN" b="1" i="0" dirty="0">
                <a:solidFill>
                  <a:srgbClr val="404040"/>
                </a:solidFill>
                <a:effectLst/>
                <a:latin typeface="DeepSeek-CJK-patch"/>
              </a:rPr>
              <a:t>p</a:t>
            </a:r>
            <a:r>
              <a:rPr lang="en-US" b="1" i="0" dirty="0">
                <a:solidFill>
                  <a:srgbClr val="404040"/>
                </a:solidFill>
                <a:effectLst/>
                <a:latin typeface="DeepSeek-CJK-patch"/>
              </a:rPr>
              <a:t>_</a:t>
            </a:r>
            <a:r>
              <a:rPr lang="vi-VN" b="1" i="0" dirty="0">
                <a:solidFill>
                  <a:srgbClr val="404040"/>
                </a:solidFill>
                <a:effectLst/>
                <a:latin typeface="DeepSeek-CJK-patch"/>
              </a:rPr>
              <a:t>stop</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1143000" lvl="2" indent="-228600" algn="l">
              <a:buFont typeface="Arial" panose="020B0604020202020204" pitchFamily="34" charset="0"/>
              <a:buChar char="•"/>
            </a:pPr>
            <a:r>
              <a:rPr lang="vi-VN" b="0" i="0" dirty="0">
                <a:solidFill>
                  <a:srgbClr val="404040"/>
                </a:solidFill>
                <a:effectLst/>
                <a:latin typeface="DeepSeek-CJK-patch"/>
              </a:rPr>
              <a:t>Nếu </a:t>
            </a:r>
            <a:r>
              <a:rPr lang="vi-VN" b="1" i="0" dirty="0">
                <a:solidFill>
                  <a:srgbClr val="404040"/>
                </a:solidFill>
                <a:effectLst/>
                <a:latin typeface="DeepSeek-CJK-patch"/>
              </a:rPr>
              <a:t>p</a:t>
            </a:r>
            <a:r>
              <a:rPr lang="en-US" b="1" i="0" dirty="0">
                <a:solidFill>
                  <a:srgbClr val="404040"/>
                </a:solidFill>
                <a:effectLst/>
                <a:latin typeface="DeepSeek-CJK-patch"/>
              </a:rPr>
              <a:t>_</a:t>
            </a:r>
            <a:r>
              <a:rPr lang="vi-VN" b="1" i="0" dirty="0">
                <a:solidFill>
                  <a:srgbClr val="404040"/>
                </a:solidFill>
                <a:effectLst/>
                <a:latin typeface="DeepSeek-CJK-patch"/>
              </a:rPr>
              <a:t>stop = 0.2</a:t>
            </a:r>
            <a:r>
              <a:rPr lang="vi-VN" b="0" i="0" dirty="0">
                <a:solidFill>
                  <a:srgbClr val="404040"/>
                </a:solidFill>
                <a:effectLst/>
                <a:latin typeface="DeepSeek-CJK-patch"/>
              </a:rPr>
              <a:t>, giải phương trình ta được </a:t>
            </a:r>
            <a:r>
              <a:rPr lang="vi-VN" b="1" i="0" dirty="0">
                <a:solidFill>
                  <a:srgbClr val="404040"/>
                </a:solidFill>
                <a:effectLst/>
                <a:latin typeface="DeepSeek-CJK-patch"/>
              </a:rPr>
              <a:t>s ≈ 0.0025</a:t>
            </a:r>
            <a:r>
              <a:rPr lang="vi-VN" b="0" i="0" dirty="0">
                <a:solidFill>
                  <a:srgbClr val="404040"/>
                </a:solidFill>
                <a:effectLst/>
                <a:latin typeface="DeepSeek-CJK-patch"/>
              </a:rPr>
              <a:t> (0.25% nút ignorant).</a:t>
            </a:r>
          </a:p>
          <a:p>
            <a:pPr marL="1143000" lvl="2" indent="-228600" algn="l">
              <a:buFont typeface="Arial" panose="020B0604020202020204" pitchFamily="34" charset="0"/>
              <a:buChar char="•"/>
            </a:pPr>
            <a:r>
              <a:rPr lang="vi-VN" b="0" i="0" dirty="0">
                <a:solidFill>
                  <a:srgbClr val="404040"/>
                </a:solidFill>
                <a:effectLst/>
                <a:latin typeface="DeepSeek-CJK-patch"/>
              </a:rPr>
              <a:t>Nếu </a:t>
            </a:r>
            <a:r>
              <a:rPr lang="vi-VN" b="1" i="0" dirty="0">
                <a:solidFill>
                  <a:srgbClr val="404040"/>
                </a:solidFill>
                <a:effectLst/>
                <a:latin typeface="DeepSeek-CJK-patch"/>
              </a:rPr>
              <a:t>p</a:t>
            </a:r>
            <a:r>
              <a:rPr lang="en-US" b="1" i="0" dirty="0">
                <a:solidFill>
                  <a:srgbClr val="404040"/>
                </a:solidFill>
                <a:effectLst/>
                <a:latin typeface="DeepSeek-CJK-patch"/>
              </a:rPr>
              <a:t>_</a:t>
            </a:r>
            <a:r>
              <a:rPr lang="vi-VN" b="1" i="0" dirty="0">
                <a:solidFill>
                  <a:srgbClr val="404040"/>
                </a:solidFill>
                <a:effectLst/>
                <a:latin typeface="DeepSeek-CJK-patch"/>
              </a:rPr>
              <a:t>stop = 0.5</a:t>
            </a:r>
            <a:r>
              <a:rPr lang="vi-VN" b="0" i="0" dirty="0">
                <a:solidFill>
                  <a:srgbClr val="404040"/>
                </a:solidFill>
                <a:effectLst/>
                <a:latin typeface="DeepSeek-CJK-patch"/>
              </a:rPr>
              <a:t>, </a:t>
            </a:r>
            <a:r>
              <a:rPr lang="vi-VN" b="1" i="0" dirty="0">
                <a:solidFill>
                  <a:srgbClr val="404040"/>
                </a:solidFill>
                <a:effectLst/>
                <a:latin typeface="DeepSeek-CJK-patch"/>
              </a:rPr>
              <a:t>s ≈ 0.06</a:t>
            </a:r>
            <a:r>
              <a:rPr lang="vi-VN" b="0" i="0" dirty="0">
                <a:solidFill>
                  <a:srgbClr val="404040"/>
                </a:solidFill>
                <a:effectLst/>
                <a:latin typeface="DeepSeek-CJK-patch"/>
              </a:rPr>
              <a:t> (6% nút ignorant).</a:t>
            </a:r>
          </a:p>
          <a:p>
            <a:pPr algn="l">
              <a:buFont typeface="Arial" panose="020B0604020202020204" pitchFamily="34" charset="0"/>
              <a:buChar char="•"/>
            </a:pPr>
            <a:r>
              <a:rPr lang="vi-VN" b="1" i="0" dirty="0">
                <a:solidFill>
                  <a:srgbClr val="404040"/>
                </a:solidFill>
                <a:effectLst/>
                <a:latin typeface="DeepSeek-CJK-patch"/>
              </a:rPr>
              <a:t>Ứng dụng: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Thiết kế hệ thống cần chọn </a:t>
            </a:r>
            <a:r>
              <a:rPr lang="vi-VN" b="1" i="0" dirty="0">
                <a:solidFill>
                  <a:srgbClr val="404040"/>
                </a:solidFill>
                <a:effectLst/>
                <a:latin typeface="DeepSeek-CJK-patch"/>
              </a:rPr>
              <a:t>p</a:t>
            </a:r>
            <a:r>
              <a:rPr lang="en-US" b="1" i="0" dirty="0">
                <a:solidFill>
                  <a:srgbClr val="404040"/>
                </a:solidFill>
                <a:effectLst/>
                <a:latin typeface="DeepSeek-CJK-patch"/>
              </a:rPr>
              <a:t>_</a:t>
            </a:r>
            <a:r>
              <a:rPr lang="vi-VN" b="1" i="0" dirty="0">
                <a:solidFill>
                  <a:srgbClr val="404040"/>
                </a:solidFill>
                <a:effectLst/>
                <a:latin typeface="DeepSeek-CJK-patch"/>
              </a:rPr>
              <a:t>stop</a:t>
            </a:r>
            <a:r>
              <a:rPr lang="vi-VN" b="0" i="0" dirty="0">
                <a:solidFill>
                  <a:srgbClr val="404040"/>
                </a:solidFill>
                <a:effectLst/>
                <a:latin typeface="DeepSeek-CJK-patch"/>
              </a:rPr>
              <a:t> nhỏ để giảm tỷ lệ ignorant.</a:t>
            </a:r>
          </a:p>
          <a:p>
            <a:pPr marL="742950" lvl="1" indent="-285750" algn="l">
              <a:buFont typeface="Arial" panose="020B0604020202020204" pitchFamily="34" charset="0"/>
              <a:buChar char="•"/>
            </a:pPr>
            <a:r>
              <a:rPr lang="vi-VN" b="0" i="0" dirty="0">
                <a:solidFill>
                  <a:srgbClr val="404040"/>
                </a:solidFill>
                <a:effectLst/>
                <a:latin typeface="DeepSeek-CJK-patch"/>
              </a:rPr>
              <a:t>Cơ chế này được dùng trong </a:t>
            </a:r>
            <a:r>
              <a:rPr lang="vi-VN" b="1" i="0" dirty="0">
                <a:solidFill>
                  <a:srgbClr val="404040"/>
                </a:solidFill>
                <a:effectLst/>
                <a:latin typeface="DeepSeek-CJK-patch"/>
              </a:rPr>
              <a:t>Cassandra, Bitcoin</a:t>
            </a:r>
            <a:r>
              <a:rPr lang="vi-VN" b="0" i="0" dirty="0">
                <a:solidFill>
                  <a:srgbClr val="404040"/>
                </a:solidFill>
                <a:effectLst/>
                <a:latin typeface="DeepSeek-CJK-patch"/>
              </a:rPr>
              <a:t> (lan truyền giao dịch).</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50</a:t>
            </a:fld>
            <a:endParaRPr lang="en-US"/>
          </a:p>
        </p:txBody>
      </p:sp>
    </p:spTree>
    <p:extLst>
      <p:ext uri="{BB962C8B-B14F-4D97-AF65-F5344CB8AC3E}">
        <p14:creationId xmlns:p14="http://schemas.microsoft.com/office/powerpoint/2010/main" val="29983138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"Rumor Spreading: The Effect of Stopping“ </a:t>
            </a:r>
            <a:r>
              <a:rPr lang="en-US" b="1" i="0" dirty="0">
                <a:solidFill>
                  <a:srgbClr val="404040"/>
                </a:solidFill>
                <a:effectLst/>
                <a:latin typeface="DeepSeek-CJK-patch"/>
              </a:rPr>
              <a:t>- </a:t>
            </a:r>
            <a:r>
              <a:rPr lang="vi-VN" b="1" i="0" dirty="0">
                <a:solidFill>
                  <a:srgbClr val="404040"/>
                </a:solidFill>
                <a:effectLst/>
                <a:latin typeface="DeepSeek-CJK-patch"/>
              </a:rPr>
              <a:t>"Lan truyền Tin đồn: Ảnh hưởng của Việc Dừng"</a:t>
            </a:r>
            <a:endParaRPr lang="en-US" b="1" i="0" dirty="0">
              <a:solidFill>
                <a:srgbClr val="404040"/>
              </a:solidFill>
              <a:effectLst/>
              <a:latin typeface="DeepSeek-CJK-patch"/>
            </a:endParaRPr>
          </a:p>
          <a:p>
            <a:pPr algn="l"/>
            <a:endParaRPr lang="vi-VN" b="0" i="0" dirty="0">
              <a:solidFill>
                <a:srgbClr val="404040"/>
              </a:solidFill>
              <a:effectLst/>
              <a:latin typeface="DeepSeek-CJK-patch"/>
            </a:endParaRPr>
          </a:p>
          <a:p>
            <a:pPr algn="l"/>
            <a:r>
              <a:rPr lang="vi-VN" b="1" i="0" dirty="0">
                <a:solidFill>
                  <a:srgbClr val="404040"/>
                </a:solidFill>
                <a:effectLst/>
                <a:latin typeface="DeepSeek-CJK-patch"/>
              </a:rPr>
              <a:t>1. Phần 1: Mối quan hệ giữa pstop và tỷ lệ nút không nhận cập nhật (s)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Bảng giá trị pstop và s:</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pstop = 0.05</a:t>
            </a:r>
            <a:r>
              <a:rPr lang="vi-VN" b="0" i="0" dirty="0">
                <a:solidFill>
                  <a:srgbClr val="404040"/>
                </a:solidFill>
                <a:effectLst/>
                <a:latin typeface="DeepSeek-CJK-patch"/>
              </a:rPr>
              <a:t> → s ≈ 0.203 (20.3% nút ignorant).</a:t>
            </a:r>
          </a:p>
          <a:p>
            <a:pPr marL="742950" lvl="1" indent="-285750" algn="l">
              <a:buFont typeface="Arial" panose="020B0604020202020204" pitchFamily="34" charset="0"/>
              <a:buChar char="•"/>
            </a:pPr>
            <a:r>
              <a:rPr lang="vi-VN" b="1" i="0" dirty="0">
                <a:solidFill>
                  <a:srgbClr val="404040"/>
                </a:solidFill>
                <a:effectLst/>
                <a:latin typeface="DeepSeek-CJK-patch"/>
              </a:rPr>
              <a:t>pstop = 0.20</a:t>
            </a:r>
            <a:r>
              <a:rPr lang="vi-VN" b="0" i="0" dirty="0">
                <a:solidFill>
                  <a:srgbClr val="404040"/>
                </a:solidFill>
                <a:effectLst/>
                <a:latin typeface="DeepSeek-CJK-patch"/>
              </a:rPr>
              <a:t> → s ≈ 0.0025 (0.25% nút ignorant).</a:t>
            </a:r>
          </a:p>
          <a:p>
            <a:pPr marL="742950" lvl="1" indent="-285750" algn="l">
              <a:buFont typeface="Arial" panose="020B0604020202020204" pitchFamily="34" charset="0"/>
              <a:buChar char="•"/>
            </a:pPr>
            <a:r>
              <a:rPr lang="vi-VN" b="1" i="0" dirty="0">
                <a:solidFill>
                  <a:srgbClr val="404040"/>
                </a:solidFill>
                <a:effectLst/>
                <a:latin typeface="DeepSeek-CJK-patch"/>
              </a:rPr>
              <a:t>Nhận xét:</a:t>
            </a:r>
            <a:endParaRPr lang="vi-VN" b="0" i="0" dirty="0">
              <a:solidFill>
                <a:srgbClr val="404040"/>
              </a:solidFill>
              <a:effectLst/>
              <a:latin typeface="DeepSeek-CJK-patch"/>
            </a:endParaRPr>
          </a:p>
          <a:p>
            <a:pPr marL="1143000" lvl="2" indent="-228600" algn="l">
              <a:buFont typeface="Arial" panose="020B0604020202020204" pitchFamily="34" charset="0"/>
              <a:buChar char="•"/>
            </a:pPr>
            <a:r>
              <a:rPr lang="vi-VN" b="0" i="0" dirty="0">
                <a:solidFill>
                  <a:srgbClr val="404040"/>
                </a:solidFill>
                <a:effectLst/>
                <a:latin typeface="DeepSeek-CJK-patch"/>
              </a:rPr>
              <a:t>Khi </a:t>
            </a:r>
            <a:r>
              <a:rPr lang="vi-VN" b="1" i="0" dirty="0">
                <a:solidFill>
                  <a:srgbClr val="404040"/>
                </a:solidFill>
                <a:effectLst/>
                <a:latin typeface="DeepSeek-CJK-patch"/>
              </a:rPr>
              <a:t>pstop càng nhỏ</a:t>
            </a:r>
            <a:r>
              <a:rPr lang="vi-VN" b="0" i="0" dirty="0">
                <a:solidFill>
                  <a:srgbClr val="404040"/>
                </a:solidFill>
                <a:effectLst/>
                <a:latin typeface="DeepSeek-CJK-patch"/>
              </a:rPr>
              <a:t>, tỷ lệ nút ignorant (</a:t>
            </a:r>
            <a:r>
              <a:rPr lang="vi-VN" b="1" i="0" dirty="0">
                <a:solidFill>
                  <a:srgbClr val="404040"/>
                </a:solidFill>
                <a:effectLst/>
                <a:latin typeface="DeepSeek-CJK-patch"/>
              </a:rPr>
              <a:t>s</a:t>
            </a:r>
            <a:r>
              <a:rPr lang="vi-VN" b="0" i="0" dirty="0">
                <a:solidFill>
                  <a:srgbClr val="404040"/>
                </a:solidFill>
                <a:effectLst/>
                <a:latin typeface="DeepSeek-CJK-patch"/>
              </a:rPr>
              <a:t>) giảm mạnh.</a:t>
            </a:r>
          </a:p>
          <a:p>
            <a:pPr marL="1143000" lvl="2" indent="-228600" algn="l">
              <a:buFont typeface="Arial" panose="020B0604020202020204" pitchFamily="34" charset="0"/>
              <a:buChar char="•"/>
            </a:pPr>
            <a:r>
              <a:rPr lang="vi-VN" b="0" i="0" dirty="0">
                <a:solidFill>
                  <a:srgbClr val="404040"/>
                </a:solidFill>
                <a:effectLst/>
                <a:latin typeface="DeepSeek-CJK-patch"/>
              </a:rPr>
              <a:t>Ngay cả khi </a:t>
            </a:r>
            <a:r>
              <a:rPr lang="vi-VN" b="1" i="0" dirty="0">
                <a:solidFill>
                  <a:srgbClr val="404040"/>
                </a:solidFill>
                <a:effectLst/>
                <a:latin typeface="DeepSeek-CJK-patch"/>
              </a:rPr>
              <a:t>pstop cao (0.2)</a:t>
            </a:r>
            <a:r>
              <a:rPr lang="vi-VN" b="0" i="0" dirty="0">
                <a:solidFill>
                  <a:srgbClr val="404040"/>
                </a:solidFill>
                <a:effectLst/>
                <a:latin typeface="DeepSeek-CJK-patch"/>
              </a:rPr>
              <a:t>, s vẫn rất nhỏ (&lt;1%), nhưng </a:t>
            </a:r>
            <a:r>
              <a:rPr lang="vi-VN" b="1" i="0" dirty="0">
                <a:solidFill>
                  <a:srgbClr val="404040"/>
                </a:solidFill>
                <a:effectLst/>
                <a:latin typeface="DeepSeek-CJK-patch"/>
              </a:rPr>
              <a:t>không đảm bảo 100%</a:t>
            </a:r>
            <a:r>
              <a:rPr lang="vi-VN" b="0" i="0" dirty="0">
                <a:solidFill>
                  <a:srgbClr val="404040"/>
                </a:solidFill>
                <a:effectLst/>
                <a:latin typeface="DeepSeek-CJK-patch"/>
              </a:rPr>
              <a:t> nút nhận cập nhật.</a:t>
            </a:r>
          </a:p>
          <a:p>
            <a:pPr algn="l">
              <a:buFont typeface="Arial" panose="020B0604020202020204" pitchFamily="34" charset="0"/>
              <a:buChar char="•"/>
            </a:pPr>
            <a:r>
              <a:rPr lang="vi-VN" b="1" i="0" dirty="0">
                <a:solidFill>
                  <a:srgbClr val="404040"/>
                </a:solidFill>
                <a:effectLst/>
                <a:latin typeface="DeepSeek-CJK-patch"/>
              </a:rPr>
              <a:t>Ý nghĩa thực tế:</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pstop thấp</a:t>
            </a:r>
            <a:r>
              <a:rPr lang="vi-VN" b="0" i="0" dirty="0">
                <a:solidFill>
                  <a:srgbClr val="404040"/>
                </a:solidFill>
                <a:effectLst/>
                <a:latin typeface="DeepSeek-CJK-patch"/>
              </a:rPr>
              <a:t> → Nút tiếp tục lan truyền lâu hơn → Tăng độ phủ.</a:t>
            </a:r>
          </a:p>
          <a:p>
            <a:pPr marL="742950" lvl="1" indent="-285750" algn="l">
              <a:buFont typeface="Arial" panose="020B0604020202020204" pitchFamily="34" charset="0"/>
              <a:buChar char="•"/>
            </a:pPr>
            <a:r>
              <a:rPr lang="vi-VN" b="1" i="0" dirty="0">
                <a:solidFill>
                  <a:srgbClr val="404040"/>
                </a:solidFill>
                <a:effectLst/>
                <a:latin typeface="DeepSeek-CJK-patch"/>
              </a:rPr>
              <a:t>pstop cao</a:t>
            </a:r>
            <a:r>
              <a:rPr lang="vi-VN" b="0" i="0" dirty="0">
                <a:solidFill>
                  <a:srgbClr val="404040"/>
                </a:solidFill>
                <a:effectLst/>
                <a:latin typeface="DeepSeek-CJK-patch"/>
              </a:rPr>
              <a:t> → Tiết kiệm tài nguyên (ít giao tiếp) nhưng có thể bỏ sót nút.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Phần 2: Ví dụ với 10,000 nút</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Bảng minh họa:</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1/pstopsSố nút ignorant (Ns)</a:t>
            </a:r>
            <a:r>
              <a:rPr lang="vi-VN" b="0" i="0" dirty="0">
                <a:solidFill>
                  <a:srgbClr val="404040"/>
                </a:solidFill>
                <a:effectLst/>
                <a:latin typeface="DeepSeek-CJK-patch"/>
              </a:rPr>
              <a:t>10.203188203250.0025162570.0003363</a:t>
            </a:r>
          </a:p>
          <a:p>
            <a:pPr marL="742950" lvl="1" indent="-285750" algn="l">
              <a:buFont typeface="Arial" panose="020B0604020202020204" pitchFamily="34" charset="0"/>
              <a:buChar char="•"/>
            </a:pPr>
            <a:r>
              <a:rPr lang="vi-VN" b="1" i="0" dirty="0">
                <a:solidFill>
                  <a:srgbClr val="404040"/>
                </a:solidFill>
                <a:effectLst/>
                <a:latin typeface="DeepSeek-CJK-patch"/>
              </a:rPr>
              <a:t>Ví dụ:</a:t>
            </a:r>
            <a:r>
              <a:rPr lang="vi-VN" b="0" i="0" dirty="0">
                <a:solidFill>
                  <a:srgbClr val="404040"/>
                </a:solidFill>
                <a:effectLst/>
                <a:latin typeface="DeepSeek-CJK-patch"/>
              </a:rPr>
              <a:t> Nếu </a:t>
            </a:r>
            <a:r>
              <a:rPr lang="vi-VN" b="1" i="0" dirty="0">
                <a:solidFill>
                  <a:srgbClr val="404040"/>
                </a:solidFill>
                <a:effectLst/>
                <a:latin typeface="DeepSeek-CJK-patch"/>
              </a:rPr>
              <a:t>pstop = 0.2 (1/pstop = 5)</a:t>
            </a:r>
            <a:r>
              <a:rPr lang="vi-VN" b="0" i="0" dirty="0">
                <a:solidFill>
                  <a:srgbClr val="404040"/>
                </a:solidFill>
                <a:effectLst/>
                <a:latin typeface="DeepSeek-CJK-patch"/>
              </a:rPr>
              <a:t>, chỉ còn </a:t>
            </a:r>
            <a:r>
              <a:rPr lang="vi-VN" b="1" i="0" dirty="0">
                <a:solidFill>
                  <a:srgbClr val="404040"/>
                </a:solidFill>
                <a:effectLst/>
                <a:latin typeface="DeepSeek-CJK-patch"/>
              </a:rPr>
              <a:t>25/10,000 nút chưa cập nhật</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Xu hướng:</a:t>
            </a:r>
            <a:r>
              <a:rPr lang="vi-VN" b="0" i="0" dirty="0">
                <a:solidFill>
                  <a:srgbClr val="404040"/>
                </a:solidFill>
                <a:effectLst/>
                <a:latin typeface="DeepSeek-CJK-patch"/>
              </a:rPr>
              <a:t> Khi </a:t>
            </a:r>
            <a:r>
              <a:rPr lang="vi-VN" b="1" i="0" dirty="0">
                <a:solidFill>
                  <a:srgbClr val="404040"/>
                </a:solidFill>
                <a:effectLst/>
                <a:latin typeface="DeepSeek-CJK-patch"/>
              </a:rPr>
              <a:t>1/pstop tăng</a:t>
            </a:r>
            <a:r>
              <a:rPr lang="vi-VN" b="0" i="0" dirty="0">
                <a:solidFill>
                  <a:srgbClr val="404040"/>
                </a:solidFill>
                <a:effectLst/>
                <a:latin typeface="DeepSeek-CJK-patch"/>
              </a:rPr>
              <a:t> (pstop giảm), số nút ignorant giảm theo cấp số nhân.</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Phần 3: Hạn chế của Rumor Spreading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Nhược điểm chính: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Không đảm bảo 100%</a:t>
            </a:r>
            <a:r>
              <a:rPr lang="vi-VN" b="0" i="0" dirty="0">
                <a:solidFill>
                  <a:srgbClr val="404040"/>
                </a:solidFill>
                <a:effectLst/>
                <a:latin typeface="DeepSeek-CJK-patch"/>
              </a:rPr>
              <a:t> nút nhận cập nhật → Cần kết hợp cơ chế khác (ví dụ: </a:t>
            </a:r>
            <a:r>
              <a:rPr lang="vi-VN" b="1" i="0" dirty="0">
                <a:solidFill>
                  <a:srgbClr val="404040"/>
                </a:solidFill>
                <a:effectLst/>
                <a:latin typeface="DeepSeek-CJK-patch"/>
              </a:rPr>
              <a:t>directional gossiping</a:t>
            </a:r>
            <a:r>
              <a:rPr lang="vi-VN" b="0" i="0" dirty="0">
                <a:solidFill>
                  <a:srgbClr val="404040"/>
                </a:solidFill>
                <a:effectLst/>
                <a:latin typeface="DeepSeek-CJK-patch"/>
              </a:rPr>
              <a:t>, </a:t>
            </a:r>
            <a:r>
              <a:rPr lang="vi-VN" b="1" i="0" dirty="0">
                <a:solidFill>
                  <a:srgbClr val="404040"/>
                </a:solidFill>
                <a:effectLst/>
                <a:latin typeface="DeepSeek-CJK-patch"/>
              </a:rPr>
              <a:t>peer-sampling</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Giải pháp đề xuất:</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Directional Gossiping:</a:t>
            </a:r>
            <a:r>
              <a:rPr lang="vi-VN" b="0" i="0" dirty="0">
                <a:solidFill>
                  <a:srgbClr val="404040"/>
                </a:solidFill>
                <a:effectLst/>
                <a:latin typeface="DeepSeek-CJK-patch"/>
              </a:rPr>
              <a:t> Ưu tiên lan truyền qua nút "cầu nối" (kết nối ít) để phủ sóng vùng mạng xa.</a:t>
            </a:r>
          </a:p>
          <a:p>
            <a:pPr marL="742950" lvl="1" indent="-285750" algn="l">
              <a:buFont typeface="Arial" panose="020B0604020202020204" pitchFamily="34" charset="0"/>
              <a:buChar char="•"/>
            </a:pPr>
            <a:r>
              <a:rPr lang="vi-VN" b="1" i="0" dirty="0">
                <a:solidFill>
                  <a:srgbClr val="404040"/>
                </a:solidFill>
                <a:effectLst/>
                <a:latin typeface="DeepSeek-CJK-patch"/>
              </a:rPr>
              <a:t>Peer-sampling service:</a:t>
            </a:r>
            <a:r>
              <a:rPr lang="vi-VN" b="0" i="0" dirty="0">
                <a:solidFill>
                  <a:srgbClr val="404040"/>
                </a:solidFill>
                <a:effectLst/>
                <a:latin typeface="DeepSeek-CJK-patch"/>
              </a:rPr>
              <a:t> Duy trì danh sách nút ngẫu nhiên động để mô phỏng chọn nút ngẫu nhiên toàn cục.</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4. Kết luận</a:t>
            </a:r>
            <a:r>
              <a:rPr lang="en-US" b="1" i="0" dirty="0">
                <a:solidFill>
                  <a:srgbClr val="404040"/>
                </a:solidFill>
                <a:effectLst/>
                <a:latin typeface="DeepSeek-CJK-patch"/>
              </a:rPr>
              <a:t>:</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Rumor spreading</a:t>
            </a:r>
            <a:r>
              <a:rPr lang="vi-VN" b="0" i="0" dirty="0">
                <a:solidFill>
                  <a:srgbClr val="404040"/>
                </a:solidFill>
                <a:effectLst/>
                <a:latin typeface="DeepSeek-CJK-patch"/>
              </a:rPr>
              <a:t> là cơ chế </a:t>
            </a:r>
            <a:r>
              <a:rPr lang="vi-VN" b="1" i="0" dirty="0">
                <a:solidFill>
                  <a:srgbClr val="404040"/>
                </a:solidFill>
                <a:effectLst/>
                <a:latin typeface="DeepSeek-CJK-patch"/>
              </a:rPr>
              <a:t>nhanh, scalable</a:t>
            </a:r>
            <a:r>
              <a:rPr lang="en-US" b="1" i="0" dirty="0">
                <a:solidFill>
                  <a:srgbClr val="404040"/>
                </a:solidFill>
                <a:effectLst/>
                <a:latin typeface="DeepSeek-CJK-patch"/>
              </a:rPr>
              <a:t> (</a:t>
            </a:r>
            <a:r>
              <a:rPr lang="en-US" b="1" i="0" dirty="0" err="1">
                <a:solidFill>
                  <a:srgbClr val="404040"/>
                </a:solidFill>
                <a:effectLst/>
                <a:latin typeface="DeepSeek-CJK-patch"/>
              </a:rPr>
              <a:t>có</a:t>
            </a:r>
            <a:r>
              <a:rPr lang="en-US" b="1" i="0" dirty="0">
                <a:solidFill>
                  <a:srgbClr val="404040"/>
                </a:solidFill>
                <a:effectLst/>
                <a:latin typeface="DeepSeek-CJK-patch"/>
              </a:rPr>
              <a:t> </a:t>
            </a:r>
            <a:r>
              <a:rPr lang="en-US" b="1" i="0" dirty="0" err="1">
                <a:solidFill>
                  <a:srgbClr val="404040"/>
                </a:solidFill>
                <a:effectLst/>
                <a:latin typeface="DeepSeek-CJK-patch"/>
              </a:rPr>
              <a:t>khả</a:t>
            </a:r>
            <a:r>
              <a:rPr lang="en-US" b="1" i="0" dirty="0">
                <a:solidFill>
                  <a:srgbClr val="404040"/>
                </a:solidFill>
                <a:effectLst/>
                <a:latin typeface="DeepSeek-CJK-patch"/>
              </a:rPr>
              <a:t> </a:t>
            </a:r>
            <a:r>
              <a:rPr lang="en-US" b="1" i="0" dirty="0" err="1">
                <a:solidFill>
                  <a:srgbClr val="404040"/>
                </a:solidFill>
                <a:effectLst/>
                <a:latin typeface="DeepSeek-CJK-patch"/>
              </a:rPr>
              <a:t>năng</a:t>
            </a:r>
            <a:r>
              <a:rPr lang="en-US" b="1" i="0" dirty="0">
                <a:solidFill>
                  <a:srgbClr val="404040"/>
                </a:solidFill>
                <a:effectLst/>
                <a:latin typeface="DeepSeek-CJK-patch"/>
              </a:rPr>
              <a:t> </a:t>
            </a:r>
            <a:r>
              <a:rPr lang="en-US" b="1" i="0" dirty="0" err="1">
                <a:solidFill>
                  <a:srgbClr val="404040"/>
                </a:solidFill>
                <a:effectLst/>
                <a:latin typeface="DeepSeek-CJK-patch"/>
              </a:rPr>
              <a:t>mở</a:t>
            </a:r>
            <a:r>
              <a:rPr lang="en-US" b="1" i="0" dirty="0">
                <a:solidFill>
                  <a:srgbClr val="404040"/>
                </a:solidFill>
                <a:effectLst/>
                <a:latin typeface="DeepSeek-CJK-patch"/>
              </a:rPr>
              <a:t> </a:t>
            </a:r>
            <a:r>
              <a:rPr lang="en-US" b="1" i="0" dirty="0" err="1">
                <a:solidFill>
                  <a:srgbClr val="404040"/>
                </a:solidFill>
                <a:effectLst/>
                <a:latin typeface="DeepSeek-CJK-patch"/>
              </a:rPr>
              <a:t>rộng</a:t>
            </a:r>
            <a:r>
              <a:rPr lang="en-US" b="1" i="0" dirty="0">
                <a:solidFill>
                  <a:srgbClr val="404040"/>
                </a:solidFill>
                <a:effectLst/>
                <a:latin typeface="DeepSeek-CJK-patch"/>
              </a:rPr>
              <a:t>)</a:t>
            </a:r>
            <a:r>
              <a:rPr lang="vi-VN" b="0" i="0" dirty="0">
                <a:solidFill>
                  <a:srgbClr val="404040"/>
                </a:solidFill>
                <a:effectLst/>
                <a:latin typeface="DeepSeek-CJK-patch"/>
              </a:rPr>
              <a:t>, nhưng cần cân nhắc:</a:t>
            </a:r>
          </a:p>
          <a:p>
            <a:pPr marL="742950" lvl="1" indent="-285750" algn="l">
              <a:buFont typeface="Arial" panose="020B0604020202020204" pitchFamily="34" charset="0"/>
              <a:buChar char="•"/>
            </a:pPr>
            <a:r>
              <a:rPr lang="vi-VN" b="0" i="0" dirty="0">
                <a:solidFill>
                  <a:srgbClr val="404040"/>
                </a:solidFill>
                <a:effectLst/>
                <a:latin typeface="DeepSeek-CJK-patch"/>
              </a:rPr>
              <a:t>Chọn </a:t>
            </a:r>
            <a:r>
              <a:rPr lang="vi-VN" b="1" i="0" dirty="0">
                <a:solidFill>
                  <a:srgbClr val="404040"/>
                </a:solidFill>
                <a:effectLst/>
                <a:latin typeface="DeepSeek-CJK-patch"/>
              </a:rPr>
              <a:t>pstop</a:t>
            </a:r>
            <a:r>
              <a:rPr lang="vi-VN" b="0" i="0" dirty="0">
                <a:solidFill>
                  <a:srgbClr val="404040"/>
                </a:solidFill>
                <a:effectLst/>
                <a:latin typeface="DeepSeek-CJK-patch"/>
              </a:rPr>
              <a:t> phù hợp để cân bằng giữa </a:t>
            </a:r>
            <a:r>
              <a:rPr lang="vi-VN" b="1" i="0" dirty="0">
                <a:solidFill>
                  <a:srgbClr val="404040"/>
                </a:solidFill>
                <a:effectLst/>
                <a:latin typeface="DeepSeek-CJK-patch"/>
              </a:rPr>
              <a:t>độ phủ</a:t>
            </a:r>
            <a:r>
              <a:rPr lang="vi-VN" b="0" i="0" dirty="0">
                <a:solidFill>
                  <a:srgbClr val="404040"/>
                </a:solidFill>
                <a:effectLst/>
                <a:latin typeface="DeepSeek-CJK-patch"/>
              </a:rPr>
              <a:t> và </a:t>
            </a:r>
            <a:r>
              <a:rPr lang="vi-VN" b="1" i="0" dirty="0">
                <a:solidFill>
                  <a:srgbClr val="404040"/>
                </a:solidFill>
                <a:effectLst/>
                <a:latin typeface="DeepSeek-CJK-patch"/>
              </a:rPr>
              <a:t>tài nguyên</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Kết hợp </a:t>
            </a:r>
            <a:r>
              <a:rPr lang="vi-VN" b="1" i="0" dirty="0">
                <a:solidFill>
                  <a:srgbClr val="404040"/>
                </a:solidFill>
                <a:effectLst/>
                <a:latin typeface="DeepSeek-CJK-patch"/>
              </a:rPr>
              <a:t>cơ chế bổ sung</a:t>
            </a:r>
            <a:r>
              <a:rPr lang="vi-VN" b="0" i="0" dirty="0">
                <a:solidFill>
                  <a:srgbClr val="404040"/>
                </a:solidFill>
                <a:effectLst/>
                <a:latin typeface="DeepSeek-CJK-patch"/>
              </a:rPr>
              <a:t> (như directional gossiping) nếu yêu cầu </a:t>
            </a:r>
            <a:r>
              <a:rPr lang="vi-VN" b="1" i="0" dirty="0">
                <a:solidFill>
                  <a:srgbClr val="404040"/>
                </a:solidFill>
                <a:effectLst/>
                <a:latin typeface="DeepSeek-CJK-patch"/>
              </a:rPr>
              <a:t>100% đồng bộ</a:t>
            </a:r>
            <a:r>
              <a:rPr lang="vi-VN" b="0" i="0" dirty="0">
                <a:solidFill>
                  <a:srgbClr val="404040"/>
                </a:solidFill>
                <a:effectLst/>
                <a:latin typeface="DeepSeek-CJK-patch"/>
              </a:rPr>
              <a:t>.</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52</a:t>
            </a:fld>
            <a:endParaRPr lang="en-US"/>
          </a:p>
        </p:txBody>
      </p:sp>
    </p:spTree>
    <p:extLst>
      <p:ext uri="{BB962C8B-B14F-4D97-AF65-F5344CB8AC3E}">
        <p14:creationId xmlns:p14="http://schemas.microsoft.com/office/powerpoint/2010/main" val="1487534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"Deleting Values“</a:t>
            </a:r>
            <a:r>
              <a:rPr lang="en-US" b="1" i="0" dirty="0">
                <a:solidFill>
                  <a:srgbClr val="404040"/>
                </a:solidFill>
                <a:effectLst/>
                <a:latin typeface="DeepSeek-CJK-patch"/>
              </a:rPr>
              <a:t> – </a:t>
            </a:r>
            <a:r>
              <a:rPr lang="en-US" b="1" i="0" dirty="0" err="1">
                <a:solidFill>
                  <a:srgbClr val="404040"/>
                </a:solidFill>
                <a:effectLst/>
                <a:latin typeface="DeepSeek-CJK-patch"/>
              </a:rPr>
              <a:t>Xóa</a:t>
            </a:r>
            <a:r>
              <a:rPr lang="en-US" b="1" i="0" dirty="0">
                <a:solidFill>
                  <a:srgbClr val="404040"/>
                </a:solidFill>
                <a:effectLst/>
                <a:latin typeface="DeepSeek-CJK-patch"/>
              </a:rPr>
              <a:t> </a:t>
            </a:r>
            <a:r>
              <a:rPr lang="en-US" b="1" i="0" dirty="0" err="1">
                <a:solidFill>
                  <a:srgbClr val="404040"/>
                </a:solidFill>
                <a:effectLst/>
                <a:latin typeface="DeepSeek-CJK-patch"/>
              </a:rPr>
              <a:t>giá</a:t>
            </a:r>
            <a:r>
              <a:rPr lang="en-US" b="1" i="0" dirty="0">
                <a:solidFill>
                  <a:srgbClr val="404040"/>
                </a:solidFill>
                <a:effectLst/>
                <a:latin typeface="DeepSeek-CJK-patch"/>
              </a:rPr>
              <a:t> </a:t>
            </a:r>
            <a:r>
              <a:rPr lang="en-US" b="1" i="0" dirty="0" err="1">
                <a:solidFill>
                  <a:srgbClr val="404040"/>
                </a:solidFill>
                <a:effectLst/>
                <a:latin typeface="DeepSeek-CJK-patch"/>
              </a:rPr>
              <a:t>trị</a:t>
            </a:r>
            <a:endParaRPr lang="en-US" b="1" i="0" dirty="0">
              <a:solidFill>
                <a:srgbClr val="404040"/>
              </a:solidFill>
              <a:effectLst/>
              <a:latin typeface="DeepSeek-CJK-patch"/>
            </a:endParaRP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"Deleting values"</a:t>
            </a:r>
            <a:r>
              <a:rPr lang="vi-VN" b="0" i="0" dirty="0">
                <a:solidFill>
                  <a:srgbClr val="404040"/>
                </a:solidFill>
                <a:effectLst/>
                <a:latin typeface="DeepSeek-CJK-patch"/>
              </a:rPr>
              <a:t> (Xóa giá trị) là quá trình:</a:t>
            </a:r>
          </a:p>
          <a:p>
            <a:pPr algn="l">
              <a:buFont typeface="Arial" panose="020B0604020202020204" pitchFamily="34" charset="0"/>
              <a:buChar char="•"/>
            </a:pPr>
            <a:r>
              <a:rPr lang="vi-VN" b="1" i="0" dirty="0">
                <a:solidFill>
                  <a:srgbClr val="404040"/>
                </a:solidFill>
                <a:effectLst/>
                <a:latin typeface="DeepSeek-CJK-patch"/>
              </a:rPr>
              <a:t>Loại bỏ dữ liệu</a:t>
            </a:r>
            <a:r>
              <a:rPr lang="vi-VN" b="0" i="0" dirty="0">
                <a:solidFill>
                  <a:srgbClr val="404040"/>
                </a:solidFill>
                <a:effectLst/>
                <a:latin typeface="DeepSeek-CJK-patch"/>
              </a:rPr>
              <a:t> khỏi hệ thống phân tán một cách </a:t>
            </a:r>
            <a:r>
              <a:rPr lang="vi-VN" b="1" i="0" dirty="0">
                <a:solidFill>
                  <a:srgbClr val="404040"/>
                </a:solidFill>
                <a:effectLst/>
                <a:latin typeface="DeepSeek-CJK-patch"/>
              </a:rPr>
              <a:t>nhất quán</a:t>
            </a:r>
            <a:r>
              <a:rPr lang="vi-VN" b="0" i="0" dirty="0">
                <a:solidFill>
                  <a:srgbClr val="404040"/>
                </a:solidFill>
                <a:effectLst/>
                <a:latin typeface="DeepSeek-CJK-patch"/>
              </a:rPr>
              <a:t> (consistent), đảm bảo dữ liệu không bị phục hồi do cơ chế lan truyền ngẫu nhiên (gossiping).</a:t>
            </a:r>
          </a:p>
          <a:p>
            <a:pPr algn="l">
              <a:buFont typeface="Arial" panose="020B0604020202020204" pitchFamily="34" charset="0"/>
              <a:buChar char="•"/>
            </a:pPr>
            <a:r>
              <a:rPr lang="vi-VN" b="1" i="0" dirty="0">
                <a:solidFill>
                  <a:srgbClr val="404040"/>
                </a:solidFill>
                <a:effectLst/>
                <a:latin typeface="DeepSeek-CJK-patch"/>
              </a:rPr>
              <a:t>Khác biệt với xóa thông thường</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Trong hệ thống tập trung: Xóa dữ liệu là hành động </a:t>
            </a:r>
            <a:r>
              <a:rPr lang="vi-VN" b="1" i="0" dirty="0">
                <a:solidFill>
                  <a:srgbClr val="404040"/>
                </a:solidFill>
                <a:effectLst/>
                <a:latin typeface="DeepSeek-CJK-patch"/>
              </a:rPr>
              <a:t>vĩnh viễn</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Trong hệ thống phân tán: Xóa phải được </a:t>
            </a:r>
            <a:r>
              <a:rPr lang="vi-VN" b="1" i="0" dirty="0">
                <a:solidFill>
                  <a:srgbClr val="404040"/>
                </a:solidFill>
                <a:effectLst/>
                <a:latin typeface="DeepSeek-CJK-patch"/>
              </a:rPr>
              <a:t>lan truyền như một thao tác cập nhật</a:t>
            </a:r>
            <a:r>
              <a:rPr lang="vi-VN" b="0" i="0" dirty="0">
                <a:solidFill>
                  <a:srgbClr val="404040"/>
                </a:solidFill>
                <a:effectLst/>
                <a:latin typeface="DeepSeek-CJK-patch"/>
              </a:rPr>
              <a:t> để tránh xung đột.</a:t>
            </a:r>
          </a:p>
          <a:p>
            <a:pPr algn="l"/>
            <a:endParaRPr lang="en-US" b="1" i="0" dirty="0">
              <a:solidFill>
                <a:srgbClr val="404040"/>
              </a:solidFill>
              <a:effectLst/>
              <a:latin typeface="DeepSeek-CJK-patch"/>
            </a:endParaRPr>
          </a:p>
          <a:p>
            <a:pPr algn="l"/>
            <a:endParaRPr lang="vi-VN" b="0" i="0" dirty="0">
              <a:solidFill>
                <a:srgbClr val="404040"/>
              </a:solidFill>
              <a:effectLst/>
              <a:latin typeface="DeepSeek-CJK-patch"/>
            </a:endParaRPr>
          </a:p>
          <a:p>
            <a:pPr algn="l"/>
            <a:r>
              <a:rPr lang="vi-VN" b="1" i="0" dirty="0">
                <a:solidFill>
                  <a:srgbClr val="404040"/>
                </a:solidFill>
                <a:effectLst/>
                <a:latin typeface="DeepSeek-CJK-patch"/>
              </a:rPr>
              <a:t>1. Vấn đề cơ bản (Fundamental Problem)</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Bối cảnh: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Các thuật toán dịch tễ (epidemic algorithms) </a:t>
            </a:r>
            <a:r>
              <a:rPr lang="vi-VN" b="1" i="0" dirty="0">
                <a:solidFill>
                  <a:srgbClr val="404040"/>
                </a:solidFill>
                <a:effectLst/>
                <a:latin typeface="DeepSeek-CJK-patch"/>
              </a:rPr>
              <a:t>lan truyền cập nhật rất hiệu quả</a:t>
            </a:r>
            <a:r>
              <a:rPr lang="vi-VN" b="0" i="0" dirty="0">
                <a:solidFill>
                  <a:srgbClr val="404040"/>
                </a:solidFill>
                <a:effectLst/>
                <a:latin typeface="DeepSeek-CJK-patch"/>
              </a:rPr>
              <a:t>, nhưng </a:t>
            </a:r>
            <a:r>
              <a:rPr lang="vi-VN" b="1" i="0" dirty="0">
                <a:solidFill>
                  <a:srgbClr val="404040"/>
                </a:solidFill>
                <a:effectLst/>
                <a:latin typeface="DeepSeek-CJK-patch"/>
              </a:rPr>
              <a:t>không thể lan truyền sự xóa dữ liệu</a:t>
            </a:r>
            <a:r>
              <a:rPr lang="vi-VN" b="0" i="0" dirty="0">
                <a:solidFill>
                  <a:srgbClr val="404040"/>
                </a:solidFill>
                <a:effectLst/>
                <a:latin typeface="DeepSeek-CJK-patch"/>
              </a:rPr>
              <a:t> theo cách thông thường.</a:t>
            </a:r>
          </a:p>
          <a:p>
            <a:pPr marL="742950" lvl="1" indent="-285750" algn="l">
              <a:buFont typeface="Arial" panose="020B0604020202020204" pitchFamily="34" charset="0"/>
              <a:buChar char="•"/>
            </a:pPr>
            <a:r>
              <a:rPr lang="vi-VN" b="1" i="0" dirty="0">
                <a:solidFill>
                  <a:srgbClr val="404040"/>
                </a:solidFill>
                <a:effectLst/>
                <a:latin typeface="DeepSeek-CJK-patch"/>
              </a:rPr>
              <a:t>Nguyên nhân:</a:t>
            </a:r>
            <a:endParaRPr lang="vi-VN" b="0" i="0" dirty="0">
              <a:solidFill>
                <a:srgbClr val="404040"/>
              </a:solidFill>
              <a:effectLst/>
              <a:latin typeface="DeepSeek-CJK-patch"/>
            </a:endParaRPr>
          </a:p>
          <a:p>
            <a:pPr marL="1143000" lvl="2" indent="-228600" algn="l">
              <a:buFont typeface="Arial" panose="020B0604020202020204" pitchFamily="34" charset="0"/>
              <a:buChar char="•"/>
            </a:pPr>
            <a:r>
              <a:rPr lang="vi-VN" b="0" i="0" dirty="0">
                <a:solidFill>
                  <a:srgbClr val="404040"/>
                </a:solidFill>
                <a:effectLst/>
                <a:latin typeface="DeepSeek-CJK-patch"/>
              </a:rPr>
              <a:t>Khi một nút </a:t>
            </a:r>
            <a:r>
              <a:rPr lang="vi-VN" b="1" i="0" dirty="0">
                <a:solidFill>
                  <a:srgbClr val="404040"/>
                </a:solidFill>
                <a:effectLst/>
                <a:latin typeface="DeepSeek-CJK-patch"/>
              </a:rPr>
              <a:t>xóa dữ liệu x</a:t>
            </a:r>
            <a:r>
              <a:rPr lang="vi-VN" b="0" i="0" dirty="0">
                <a:solidFill>
                  <a:srgbClr val="404040"/>
                </a:solidFill>
                <a:effectLst/>
                <a:latin typeface="DeepSeek-CJK-patch"/>
              </a:rPr>
              <a:t>, nó không còn lưu thông tin về x.</a:t>
            </a:r>
          </a:p>
          <a:p>
            <a:pPr marL="1143000" lvl="2" indent="-228600" algn="l">
              <a:buFont typeface="Arial" panose="020B0604020202020204" pitchFamily="34" charset="0"/>
              <a:buChar char="•"/>
            </a:pPr>
            <a:r>
              <a:rPr lang="vi-VN" b="0" i="0" dirty="0">
                <a:solidFill>
                  <a:srgbClr val="404040"/>
                </a:solidFill>
                <a:effectLst/>
                <a:latin typeface="DeepSeek-CJK-patch"/>
              </a:rPr>
              <a:t>Nếu sau đó nút nhận được bản sao cũ của x từ nút khác (do cơ chế gossip), nó sẽ </a:t>
            </a:r>
            <a:r>
              <a:rPr lang="vi-VN" b="1" i="0" dirty="0">
                <a:solidFill>
                  <a:srgbClr val="404040"/>
                </a:solidFill>
                <a:effectLst/>
                <a:latin typeface="DeepSeek-CJK-patch"/>
              </a:rPr>
              <a:t>hiểu nhầm</a:t>
            </a:r>
            <a:r>
              <a:rPr lang="vi-VN" b="0" i="0" dirty="0">
                <a:solidFill>
                  <a:srgbClr val="404040"/>
                </a:solidFill>
                <a:effectLst/>
                <a:latin typeface="DeepSeek-CJK-patch"/>
              </a:rPr>
              <a:t> đây là dữ liệu mới và phục hồi x → Xóa không hiệu quả.</a:t>
            </a:r>
          </a:p>
          <a:p>
            <a:pPr algn="l">
              <a:buFont typeface="Arial" panose="020B0604020202020204" pitchFamily="34" charset="0"/>
              <a:buChar char="•"/>
            </a:pPr>
            <a:r>
              <a:rPr lang="vi-VN" b="1" i="0" dirty="0">
                <a:solidFill>
                  <a:srgbClr val="404040"/>
                </a:solidFill>
                <a:effectLst/>
                <a:latin typeface="DeepSeek-CJK-patch"/>
              </a:rPr>
              <a:t>Kết luận:</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"Xóa thông thường không thể lan truyền"</a:t>
            </a:r>
            <a:r>
              <a:rPr lang="vi-VN" b="0" i="0" dirty="0">
                <a:solidFill>
                  <a:srgbClr val="404040"/>
                </a:solidFill>
                <a:effectLst/>
                <a:latin typeface="DeepSeek-CJK-patch"/>
              </a:rPr>
              <a:t> trong hệ thống phân tán sử dụng epidemic algorithms.</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Giải pháp: Sử dụng Death Certificate</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Cách hoạt động: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Thay vì xóa dữ liệu x, hệ thống </a:t>
            </a:r>
            <a:r>
              <a:rPr lang="vi-VN" b="1" i="0" dirty="0">
                <a:solidFill>
                  <a:srgbClr val="404040"/>
                </a:solidFill>
                <a:effectLst/>
                <a:latin typeface="DeepSeek-CJK-patch"/>
              </a:rPr>
              <a:t>ghi nhận việc xóa như một bản cập nhật đặc biệt</a:t>
            </a:r>
            <a:r>
              <a:rPr lang="vi-VN" b="0" i="0" dirty="0">
                <a:solidFill>
                  <a:srgbClr val="404040"/>
                </a:solidFill>
                <a:effectLst/>
                <a:latin typeface="DeepSeek-CJK-patch"/>
              </a:rPr>
              <a:t>, gọi là </a:t>
            </a:r>
            <a:r>
              <a:rPr lang="vi-VN" b="1" i="0" dirty="0">
                <a:solidFill>
                  <a:srgbClr val="404040"/>
                </a:solidFill>
                <a:effectLst/>
                <a:latin typeface="DeepSeek-CJK-patch"/>
              </a:rPr>
              <a:t>"death certificate"</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Death certificate</a:t>
            </a:r>
            <a:r>
              <a:rPr lang="vi-VN" b="0" i="0" dirty="0">
                <a:solidFill>
                  <a:srgbClr val="404040"/>
                </a:solidFill>
                <a:effectLst/>
                <a:latin typeface="DeepSeek-CJK-patch"/>
              </a:rPr>
              <a:t> chứa thông tin:</a:t>
            </a:r>
          </a:p>
          <a:p>
            <a:pPr marL="1143000" lvl="2" indent="-228600" algn="l">
              <a:buFont typeface="Arial" panose="020B0604020202020204" pitchFamily="34" charset="0"/>
              <a:buChar char="•"/>
            </a:pPr>
            <a:r>
              <a:rPr lang="vi-VN" b="0" i="0" dirty="0">
                <a:solidFill>
                  <a:srgbClr val="404040"/>
                </a:solidFill>
                <a:effectLst/>
                <a:latin typeface="DeepSeek-CJK-patch"/>
              </a:rPr>
              <a:t>Dữ liệu đã bị xóa (x).</a:t>
            </a:r>
          </a:p>
          <a:p>
            <a:pPr marL="1143000" lvl="2" indent="-228600" algn="l">
              <a:buFont typeface="Arial" panose="020B0604020202020204" pitchFamily="34" charset="0"/>
              <a:buChar char="•"/>
            </a:pPr>
            <a:r>
              <a:rPr lang="vi-VN" b="0" i="0" dirty="0">
                <a:solidFill>
                  <a:srgbClr val="404040"/>
                </a:solidFill>
                <a:effectLst/>
                <a:latin typeface="DeepSeek-CJK-patch"/>
              </a:rPr>
              <a:t>Timestamp (thời gian xóa).</a:t>
            </a:r>
          </a:p>
          <a:p>
            <a:pPr algn="l">
              <a:buFont typeface="Arial" panose="020B0604020202020204" pitchFamily="34" charset="0"/>
              <a:buChar char="•"/>
            </a:pPr>
            <a:r>
              <a:rPr lang="vi-VN" b="1" i="0" dirty="0">
                <a:solidFill>
                  <a:srgbClr val="404040"/>
                </a:solidFill>
                <a:effectLst/>
                <a:latin typeface="DeepSeek-CJK-patch"/>
              </a:rPr>
              <a:t>Tại sao hiệu quả?</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Khi một nút nhận được bản sao cũ của x, nó sẽ kiểm tra </a:t>
            </a:r>
            <a:r>
              <a:rPr lang="vi-VN" b="1" i="0" dirty="0">
                <a:solidFill>
                  <a:srgbClr val="404040"/>
                </a:solidFill>
                <a:effectLst/>
                <a:latin typeface="DeepSeek-CJK-patch"/>
              </a:rPr>
              <a:t>death certificate</a:t>
            </a:r>
            <a:r>
              <a:rPr lang="vi-VN" b="0" i="0" dirty="0">
                <a:solidFill>
                  <a:srgbClr val="404040"/>
                </a:solidFill>
                <a:effectLst/>
                <a:latin typeface="DeepSeek-CJK-patch"/>
              </a:rPr>
              <a:t> và </a:t>
            </a:r>
            <a:r>
              <a:rPr lang="vi-VN" b="1" i="0" dirty="0">
                <a:solidFill>
                  <a:srgbClr val="404040"/>
                </a:solidFill>
                <a:effectLst/>
                <a:latin typeface="DeepSeek-CJK-patch"/>
              </a:rPr>
              <a:t>bỏ qua</a:t>
            </a:r>
            <a:r>
              <a:rPr lang="vi-VN" b="0" i="0" dirty="0">
                <a:solidFill>
                  <a:srgbClr val="404040"/>
                </a:solidFill>
                <a:effectLst/>
                <a:latin typeface="DeepSeek-CJK-patch"/>
              </a:rPr>
              <a:t> dữ liệu này (coi như đã lỗi thời).</a:t>
            </a:r>
          </a:p>
          <a:p>
            <a:pPr marL="742950" lvl="1" indent="-285750" algn="l">
              <a:buFont typeface="Arial" panose="020B0604020202020204" pitchFamily="34" charset="0"/>
              <a:buChar char="•"/>
            </a:pPr>
            <a:r>
              <a:rPr lang="vi-VN" b="0" i="0" dirty="0">
                <a:solidFill>
                  <a:srgbClr val="404040"/>
                </a:solidFill>
                <a:effectLst/>
                <a:latin typeface="DeepSeek-CJK-patch"/>
              </a:rPr>
              <a:t>Death certificate được lan truyền như một bản cập nhật thông thường → Đảm bảo mọi nút đều biết x đã bị xóa.</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53</a:t>
            </a:fld>
            <a:endParaRPr lang="en-US"/>
          </a:p>
        </p:txBody>
      </p:sp>
    </p:spTree>
    <p:extLst>
      <p:ext uri="{BB962C8B-B14F-4D97-AF65-F5344CB8AC3E}">
        <p14:creationId xmlns:p14="http://schemas.microsoft.com/office/powerpoint/2010/main" val="28067507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"Deleting Values"</a:t>
            </a:r>
            <a:endParaRPr lang="vi-VN" b="0" i="0" dirty="0">
              <a:solidFill>
                <a:srgbClr val="404040"/>
              </a:solidFill>
              <a:effectLst/>
              <a:latin typeface="DeepSeek-CJK-patch"/>
            </a:endParaRP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Vấn đề chính</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Death certificate</a:t>
            </a:r>
            <a:r>
              <a:rPr lang="vi-VN" b="0" i="0" dirty="0">
                <a:solidFill>
                  <a:srgbClr val="404040"/>
                </a:solidFill>
                <a:effectLst/>
                <a:latin typeface="DeepSeek-CJK-patch"/>
              </a:rPr>
              <a:t> (chứng tử dữ liệu) không thể tồn tại vĩnh viễn trong hệ thống vì:</a:t>
            </a:r>
          </a:p>
          <a:p>
            <a:pPr marL="742950" lvl="1" indent="-285750" algn="l">
              <a:buFont typeface="Arial" panose="020B0604020202020204" pitchFamily="34" charset="0"/>
              <a:buChar char="•"/>
            </a:pPr>
            <a:r>
              <a:rPr lang="vi-VN" b="0" i="0" dirty="0">
                <a:solidFill>
                  <a:srgbClr val="404040"/>
                </a:solidFill>
                <a:effectLst/>
                <a:latin typeface="DeepSeek-CJK-patch"/>
              </a:rPr>
              <a:t>Tốn dung lượng lưu trữ.</a:t>
            </a:r>
          </a:p>
          <a:p>
            <a:pPr marL="742950" lvl="1" indent="-285750" algn="l">
              <a:buFont typeface="Arial" panose="020B0604020202020204" pitchFamily="34" charset="0"/>
              <a:buChar char="•"/>
            </a:pPr>
            <a:r>
              <a:rPr lang="vi-VN" b="0" i="0" dirty="0">
                <a:solidFill>
                  <a:srgbClr val="404040"/>
                </a:solidFill>
                <a:effectLst/>
                <a:latin typeface="DeepSeek-CJK-patch"/>
              </a:rPr>
              <a:t>Gây nhiễu thông tin nếu không được dọn dẹp.</a:t>
            </a:r>
          </a:p>
          <a:p>
            <a:pPr algn="l">
              <a:buFont typeface="Arial" panose="020B0604020202020204" pitchFamily="34" charset="0"/>
              <a:buChar char="•"/>
            </a:pPr>
            <a:r>
              <a:rPr lang="vi-VN" b="1" i="0" dirty="0">
                <a:solidFill>
                  <a:srgbClr val="404040"/>
                </a:solidFill>
                <a:effectLst/>
                <a:latin typeface="DeepSeek-CJK-patch"/>
              </a:rPr>
              <a:t>Mục tiêu slide</a:t>
            </a:r>
            <a:r>
              <a:rPr lang="vi-VN" b="0" i="0" dirty="0">
                <a:solidFill>
                  <a:srgbClr val="404040"/>
                </a:solidFill>
                <a:effectLst/>
                <a:latin typeface="DeepSeek-CJK-patch"/>
              </a:rPr>
              <a:t>: Giải thích </a:t>
            </a:r>
            <a:r>
              <a:rPr lang="vi-VN" b="1" i="0" dirty="0">
                <a:solidFill>
                  <a:srgbClr val="404040"/>
                </a:solidFill>
                <a:effectLst/>
                <a:latin typeface="DeepSeek-CJK-patch"/>
              </a:rPr>
              <a:t>2 cách quản lý vòng đời</a:t>
            </a:r>
            <a:r>
              <a:rPr lang="vi-VN" b="0" i="0" dirty="0">
                <a:solidFill>
                  <a:srgbClr val="404040"/>
                </a:solidFill>
                <a:effectLst/>
                <a:latin typeface="DeepSeek-CJK-patch"/>
              </a:rPr>
              <a:t> của death certificate.</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Cách 1: Dùng Global Algorithm (Thuật toán Toàn cục)</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Cách hoạt động</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Chạy một thuật toán tập trung (hoặc phân tán) để </a:t>
            </a:r>
            <a:r>
              <a:rPr lang="vi-VN" b="1" i="0" dirty="0">
                <a:solidFill>
                  <a:srgbClr val="404040"/>
                </a:solidFill>
                <a:effectLst/>
                <a:latin typeface="DeepSeek-CJK-patch"/>
              </a:rPr>
              <a:t>kiểm tra xem việc xóa dữ liệu đã lan truyền đến mọi nút chưa</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Nếu tất cả nút đã nhận death certificate → </a:t>
            </a:r>
            <a:r>
              <a:rPr lang="vi-VN" b="1" i="0" dirty="0">
                <a:solidFill>
                  <a:srgbClr val="404040"/>
                </a:solidFill>
                <a:effectLst/>
                <a:latin typeface="DeepSeek-CJK-patch"/>
              </a:rPr>
              <a:t>Thu hồi certificate</a:t>
            </a:r>
            <a:r>
              <a:rPr lang="vi-VN" b="0" i="0" dirty="0">
                <a:solidFill>
                  <a:srgbClr val="404040"/>
                </a:solidFill>
                <a:effectLst/>
                <a:latin typeface="DeepSeek-CJK-patch"/>
              </a:rPr>
              <a:t> (giống cơ chế "garbage collection").</a:t>
            </a:r>
          </a:p>
          <a:p>
            <a:pPr algn="l">
              <a:buFont typeface="Arial" panose="020B0604020202020204" pitchFamily="34" charset="0"/>
              <a:buChar char="•"/>
            </a:pPr>
            <a:r>
              <a:rPr lang="vi-VN" b="1" i="0" dirty="0">
                <a:solidFill>
                  <a:srgbClr val="404040"/>
                </a:solidFill>
                <a:effectLst/>
                <a:latin typeface="DeepSeek-CJK-patch"/>
              </a:rPr>
              <a:t>Ưu điểm</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Đảm bảo </a:t>
            </a:r>
            <a:r>
              <a:rPr lang="vi-VN" b="1" i="0" dirty="0">
                <a:solidFill>
                  <a:srgbClr val="404040"/>
                </a:solidFill>
                <a:effectLst/>
                <a:latin typeface="DeepSeek-CJK-patch"/>
              </a:rPr>
              <a:t>100%</a:t>
            </a:r>
            <a:r>
              <a:rPr lang="vi-VN" b="0" i="0" dirty="0">
                <a:solidFill>
                  <a:srgbClr val="404040"/>
                </a:solidFill>
                <a:effectLst/>
                <a:latin typeface="DeepSeek-CJK-patch"/>
              </a:rPr>
              <a:t> nút biết dữ liệu đã bị xóa trước khi dọn dẹp.</a:t>
            </a:r>
          </a:p>
          <a:p>
            <a:pPr algn="l">
              <a:buFont typeface="Arial" panose="020B0604020202020204" pitchFamily="34" charset="0"/>
              <a:buChar char="•"/>
            </a:pPr>
            <a:r>
              <a:rPr lang="vi-VN" b="1" i="0" dirty="0">
                <a:solidFill>
                  <a:srgbClr val="404040"/>
                </a:solidFill>
                <a:effectLst/>
                <a:latin typeface="DeepSeek-CJK-patch"/>
              </a:rPr>
              <a:t>Nhược điểm</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Tốn chi phí tính toán (phải đồng bộ toàn hệ thống).</a:t>
            </a:r>
          </a:p>
          <a:p>
            <a:pPr algn="l"/>
            <a:r>
              <a:rPr lang="vi-VN" b="1" i="0" dirty="0">
                <a:solidFill>
                  <a:srgbClr val="404040"/>
                </a:solidFill>
                <a:effectLst/>
                <a:latin typeface="DeepSeek-CJK-patch"/>
              </a:rPr>
              <a:t>Ví dụ</a:t>
            </a:r>
            <a:r>
              <a:rPr lang="vi-VN" b="0" i="0" dirty="0">
                <a:solidFill>
                  <a:srgbClr val="404040"/>
                </a:solidFill>
                <a:effectLst/>
                <a:latin typeface="DeepSeek-CJK-patch"/>
              </a:rPr>
              <a:t>:</a:t>
            </a:r>
          </a:p>
          <a:p>
            <a:pPr algn="l">
              <a:buFont typeface="Arial" panose="020B0604020202020204" pitchFamily="34" charset="0"/>
              <a:buChar char="•"/>
            </a:pPr>
            <a:r>
              <a:rPr lang="vi-VN" b="0" i="0" dirty="0">
                <a:solidFill>
                  <a:srgbClr val="404040"/>
                </a:solidFill>
                <a:effectLst/>
                <a:latin typeface="DeepSeek-CJK-patch"/>
              </a:rPr>
              <a:t>Hệ thống dùng </a:t>
            </a:r>
            <a:r>
              <a:rPr lang="vi-VN" b="1" i="0" dirty="0">
                <a:solidFill>
                  <a:srgbClr val="404040"/>
                </a:solidFill>
                <a:effectLst/>
                <a:latin typeface="DeepSeek-CJK-patch"/>
              </a:rPr>
              <a:t>gossip protocol</a:t>
            </a:r>
            <a:r>
              <a:rPr lang="vi-VN" b="0" i="0" dirty="0">
                <a:solidFill>
                  <a:srgbClr val="404040"/>
                </a:solidFill>
                <a:effectLst/>
                <a:latin typeface="DeepSeek-CJK-patch"/>
              </a:rPr>
              <a:t> kết hợp </a:t>
            </a:r>
            <a:r>
              <a:rPr lang="vi-VN" b="1" i="0" dirty="0">
                <a:solidFill>
                  <a:srgbClr val="404040"/>
                </a:solidFill>
                <a:effectLst/>
                <a:latin typeface="DeepSeek-CJK-patch"/>
              </a:rPr>
              <a:t>phiếu bầu (voting)</a:t>
            </a:r>
            <a:r>
              <a:rPr lang="vi-VN" b="0" i="0" dirty="0">
                <a:solidFill>
                  <a:srgbClr val="404040"/>
                </a:solidFill>
                <a:effectLst/>
                <a:latin typeface="DeepSeek-CJK-patch"/>
              </a:rPr>
              <a:t> để xác nhận việc xóa đã hoàn tất.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Cách 2: Đặt Thời Gian Tồn Tại Tối Đa (Maximum Lifetime)</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Cách hoạt động</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Gán timestamp</a:t>
            </a:r>
            <a:r>
              <a:rPr lang="vi-VN" b="0" i="0" dirty="0">
                <a:solidFill>
                  <a:srgbClr val="404040"/>
                </a:solidFill>
                <a:effectLst/>
                <a:latin typeface="DeepSeek-CJK-patch"/>
              </a:rPr>
              <a:t> cho death certificate khi tạo.</a:t>
            </a:r>
          </a:p>
          <a:p>
            <a:pPr marL="742950" lvl="1" indent="-285750" algn="l">
              <a:buFont typeface="Arial" panose="020B0604020202020204" pitchFamily="34" charset="0"/>
              <a:buChar char="•"/>
            </a:pPr>
            <a:r>
              <a:rPr lang="vi-VN" b="0" i="0" dirty="0">
                <a:solidFill>
                  <a:srgbClr val="404040"/>
                </a:solidFill>
                <a:effectLst/>
                <a:latin typeface="DeepSeek-CJK-patch"/>
              </a:rPr>
              <a:t>Giả định rằng death certificate sẽ lan truyền đến mọi nút trong </a:t>
            </a:r>
            <a:r>
              <a:rPr lang="vi-VN" b="1" i="0" dirty="0">
                <a:solidFill>
                  <a:srgbClr val="404040"/>
                </a:solidFill>
                <a:effectLst/>
                <a:latin typeface="DeepSeek-CJK-patch"/>
              </a:rPr>
              <a:t>thời gian hữu hạn</a:t>
            </a:r>
            <a:r>
              <a:rPr lang="vi-VN" b="0" i="0" dirty="0">
                <a:solidFill>
                  <a:srgbClr val="404040"/>
                </a:solidFill>
                <a:effectLst/>
                <a:latin typeface="DeepSeek-CJK-patch"/>
              </a:rPr>
              <a:t> (ví dụ: 24 giờ).</a:t>
            </a:r>
          </a:p>
          <a:p>
            <a:pPr marL="742950" lvl="1" indent="-285750" algn="l">
              <a:buFont typeface="Arial" panose="020B0604020202020204" pitchFamily="34" charset="0"/>
              <a:buChar char="•"/>
            </a:pPr>
            <a:r>
              <a:rPr lang="vi-VN" b="0" i="0" dirty="0">
                <a:solidFill>
                  <a:srgbClr val="404040"/>
                </a:solidFill>
                <a:effectLst/>
                <a:latin typeface="DeepSeek-CJK-patch"/>
              </a:rPr>
              <a:t>Sau thời gian này → </a:t>
            </a:r>
            <a:r>
              <a:rPr lang="vi-VN" b="1" i="0" dirty="0">
                <a:solidFill>
                  <a:srgbClr val="404040"/>
                </a:solidFill>
                <a:effectLst/>
                <a:latin typeface="DeepSeek-CJK-patch"/>
              </a:rPr>
              <a:t>Tự động xóa certificate</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Ưu điểm</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Đơn giản, không cần cơ chế phức tạp.</a:t>
            </a:r>
          </a:p>
          <a:p>
            <a:pPr algn="l">
              <a:buFont typeface="Arial" panose="020B0604020202020204" pitchFamily="34" charset="0"/>
              <a:buChar char="•"/>
            </a:pPr>
            <a:r>
              <a:rPr lang="vi-VN" b="1" i="0" dirty="0">
                <a:solidFill>
                  <a:srgbClr val="404040"/>
                </a:solidFill>
                <a:effectLst/>
                <a:latin typeface="DeepSeek-CJK-patch"/>
              </a:rPr>
              <a:t>Nhược điểm</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Rủi ro</a:t>
            </a:r>
            <a:r>
              <a:rPr lang="vi-VN" b="0" i="0" dirty="0">
                <a:solidFill>
                  <a:srgbClr val="404040"/>
                </a:solidFill>
                <a:effectLst/>
                <a:latin typeface="DeepSeek-CJK-patch"/>
              </a:rPr>
              <a:t>: Nếu certificate chưa lan truyền hết đến mọi nút → Dữ liệu có thể bị phục hồi (ghost values).</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4. Lưu ý quan trọng (Note)</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Bắt buộc</a:t>
            </a:r>
            <a:r>
              <a:rPr lang="vi-VN" b="0" i="0" dirty="0">
                <a:solidFill>
                  <a:srgbClr val="404040"/>
                </a:solidFill>
                <a:effectLst/>
                <a:latin typeface="DeepSeek-CJK-patch"/>
              </a:rPr>
              <a:t>: Việc xóa (removal) phải </a:t>
            </a:r>
            <a:r>
              <a:rPr lang="vi-VN" b="1" i="0" dirty="0">
                <a:solidFill>
                  <a:srgbClr val="404040"/>
                </a:solidFill>
                <a:effectLst/>
                <a:latin typeface="DeepSeek-CJK-patch"/>
              </a:rPr>
              <a:t>đến được mọi nút</a:t>
            </a:r>
            <a:r>
              <a:rPr lang="vi-VN" b="0" i="0" dirty="0">
                <a:solidFill>
                  <a:srgbClr val="404040"/>
                </a:solidFill>
                <a:effectLst/>
                <a:latin typeface="DeepSeek-CJK-patch"/>
              </a:rPr>
              <a:t> để đảm bảo tính nhất quán.</a:t>
            </a:r>
          </a:p>
          <a:p>
            <a:pPr algn="l">
              <a:buFont typeface="Arial" panose="020B0604020202020204" pitchFamily="34" charset="0"/>
              <a:buChar char="•"/>
            </a:pPr>
            <a:r>
              <a:rPr lang="vi-VN" b="1" i="0" dirty="0">
                <a:solidFill>
                  <a:srgbClr val="404040"/>
                </a:solidFill>
                <a:effectLst/>
                <a:latin typeface="DeepSeek-CJK-patch"/>
              </a:rPr>
              <a:t>Giải pháp dự phòng</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Một số nút đặc biệt (ví dụ: seed nodes) </a:t>
            </a:r>
            <a:r>
              <a:rPr lang="vi-VN" b="1" i="0" dirty="0">
                <a:solidFill>
                  <a:srgbClr val="404040"/>
                </a:solidFill>
                <a:effectLst/>
                <a:latin typeface="DeepSeek-CJK-patch"/>
              </a:rPr>
              <a:t>lưu trữ death certificate vĩnh viễn</a:t>
            </a:r>
            <a:r>
              <a:rPr lang="vi-VN" b="0" i="0" dirty="0">
                <a:solidFill>
                  <a:srgbClr val="404040"/>
                </a:solidFill>
                <a:effectLst/>
                <a:latin typeface="DeepSeek-CJK-patch"/>
              </a:rPr>
              <a:t> để ngăn ghost values.</a:t>
            </a:r>
          </a:p>
          <a:p>
            <a:pPr marL="742950" lvl="1" indent="-285750" algn="l">
              <a:buFont typeface="Arial" panose="020B0604020202020204" pitchFamily="34" charset="0"/>
              <a:buChar char="•"/>
            </a:pPr>
            <a:r>
              <a:rPr lang="vi-VN" b="0" i="0" dirty="0">
                <a:solidFill>
                  <a:srgbClr val="404040"/>
                </a:solidFill>
                <a:effectLst/>
                <a:latin typeface="DeepSeek-CJK-patch"/>
              </a:rPr>
              <a:t>Nếu một nút nhận dữ liệu đã xóa, nút lưu certificate sẽ </a:t>
            </a:r>
            <a:r>
              <a:rPr lang="vi-VN" b="1" i="0" dirty="0">
                <a:solidFill>
                  <a:srgbClr val="404040"/>
                </a:solidFill>
                <a:effectLst/>
                <a:latin typeface="DeepSeek-CJK-patch"/>
              </a:rPr>
              <a:t>lan truyền lại</a:t>
            </a:r>
            <a:r>
              <a:rPr lang="vi-VN" b="0" i="0" dirty="0">
                <a:solidFill>
                  <a:srgbClr val="404040"/>
                </a:solidFill>
                <a:effectLst/>
                <a:latin typeface="DeepSeek-CJK-patch"/>
              </a:rPr>
              <a:t> thông tin xóa.</a:t>
            </a:r>
          </a:p>
          <a:p>
            <a:endParaRPr lang="en-US" dirty="0"/>
          </a:p>
        </p:txBody>
      </p:sp>
      <p:sp>
        <p:nvSpPr>
          <p:cNvPr id="4" name="Slide Number Placeholder 3"/>
          <p:cNvSpPr>
            <a:spLocks noGrp="1"/>
          </p:cNvSpPr>
          <p:nvPr>
            <p:ph type="sldNum" sz="quarter" idx="5"/>
          </p:nvPr>
        </p:nvSpPr>
        <p:spPr/>
        <p:txBody>
          <a:bodyPr/>
          <a:lstStyle/>
          <a:p>
            <a:fld id="{A1FC9D69-E42E-42B8-B79C-D6AC1CD55B56}" type="slidenum">
              <a:rPr lang="en-US" smtClean="0"/>
              <a:t>54</a:t>
            </a:fld>
            <a:endParaRPr lang="en-US"/>
          </a:p>
        </p:txBody>
      </p:sp>
    </p:spTree>
    <p:extLst>
      <p:ext uri="{BB962C8B-B14F-4D97-AF65-F5344CB8AC3E}">
        <p14:creationId xmlns:p14="http://schemas.microsoft.com/office/powerpoint/2010/main" val="1144997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49</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49</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7" name="Holder 7"/>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49</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5" name="Holder 5"/>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49</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4" name="Holder 4"/>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49</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5300" y="188846"/>
            <a:ext cx="1823085" cy="24447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a:xfrm>
            <a:off x="311315" y="1464099"/>
            <a:ext cx="2107565" cy="784860"/>
          </a:xfrm>
          <a:prstGeom prst="rect">
            <a:avLst/>
          </a:prstGeom>
        </p:spPr>
        <p:txBody>
          <a:bodyPr wrap="square" lIns="0" tIns="0" rIns="0" bIns="0">
            <a:spAutoFit/>
          </a:bodyPr>
          <a:lstStyle>
            <a:lvl1pPr>
              <a:defRPr sz="10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6" name="Holder 6"/>
          <p:cNvSpPr>
            <a:spLocks noGrp="1"/>
          </p:cNvSpPr>
          <p:nvPr>
            <p:ph type="sldNum" sz="quarter" idx="7"/>
          </p:nvPr>
        </p:nvSpPr>
        <p:spPr>
          <a:xfrm>
            <a:off x="4258348" y="3331252"/>
            <a:ext cx="283210" cy="119379"/>
          </a:xfrm>
          <a:prstGeom prst="rect">
            <a:avLst/>
          </a:prstGeom>
        </p:spPr>
        <p:txBody>
          <a:bodyPr wrap="square" lIns="0" tIns="0" rIns="0" bIns="0">
            <a:spAutoFit/>
          </a:bodyPr>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49</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slide" Target="slide2.xm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slide" Target="slide5.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slide" Target="slide2.xml"/><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7.xml"/><Relationship Id="rId16" Type="http://schemas.openxmlformats.org/officeDocument/2006/relationships/image" Target="../media/image22.png"/><Relationship Id="rId1" Type="http://schemas.openxmlformats.org/officeDocument/2006/relationships/slideLayout" Target="../slideLayouts/slideLayout5.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slide" Target="slide7.xml"/><Relationship Id="rId9" Type="http://schemas.openxmlformats.org/officeDocument/2006/relationships/image" Target="../media/image15.png"/><Relationship Id="rId1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19.png"/><Relationship Id="rId3" Type="http://schemas.openxmlformats.org/officeDocument/2006/relationships/slide" Target="slide2.xml"/><Relationship Id="rId7" Type="http://schemas.openxmlformats.org/officeDocument/2006/relationships/image" Target="../media/image24.png"/><Relationship Id="rId12" Type="http://schemas.openxmlformats.org/officeDocument/2006/relationships/image" Target="../media/image18.png"/><Relationship Id="rId2" Type="http://schemas.openxmlformats.org/officeDocument/2006/relationships/notesSlide" Target="../notesSlides/notesSlide8.xml"/><Relationship Id="rId16" Type="http://schemas.openxmlformats.org/officeDocument/2006/relationships/image" Target="../media/image22.png"/><Relationship Id="rId1" Type="http://schemas.openxmlformats.org/officeDocument/2006/relationships/slideLayout" Target="../slideLayouts/slideLayout5.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23.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slide" Target="slide7.xml"/><Relationship Id="rId9" Type="http://schemas.openxmlformats.org/officeDocument/2006/relationships/image" Target="../media/image26.png"/><Relationship Id="rId1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slide" Target="slide2.xml"/><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9.xml"/><Relationship Id="rId16" Type="http://schemas.openxmlformats.org/officeDocument/2006/relationships/image" Target="../media/image22.png"/><Relationship Id="rId1" Type="http://schemas.openxmlformats.org/officeDocument/2006/relationships/slideLayout" Target="../slideLayouts/slideLayout5.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slide" Target="slide7.xml"/><Relationship Id="rId9" Type="http://schemas.openxmlformats.org/officeDocument/2006/relationships/image" Target="../media/image15.png"/><Relationship Id="rId1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slide" Target="slide7.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slide" Target="slide7.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slide" Target="slide7.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slide" Target="slide13.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slide" Target="slide13.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slide" Target="slide15.xml"/><Relationship Id="rId4" Type="http://schemas.openxmlformats.org/officeDocument/2006/relationships/slide" Target="slide13.xml"/></Relationships>
</file>

<file path=ppt/slides/_rels/slide16.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17.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slide" Target="slide15.xml"/><Relationship Id="rId4" Type="http://schemas.openxmlformats.org/officeDocument/2006/relationships/slide" Target="slide13.xml"/></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slide" Target="slide19.xml"/><Relationship Id="rId4" Type="http://schemas.openxmlformats.org/officeDocument/2006/relationships/slide" Target="slide13.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9.xml"/><Relationship Id="rId4" Type="http://schemas.openxmlformats.org/officeDocument/2006/relationships/slide" Target="slide13.xml"/></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slide" Target="slide21.xml"/><Relationship Id="rId4" Type="http://schemas.openxmlformats.org/officeDocument/2006/relationships/slide" Target="slide13.xml"/></Relationships>
</file>

<file path=ppt/slides/_rels/slide2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 Target="slide2.xml"/><Relationship Id="rId7"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slide" Target="slide21.xml"/><Relationship Id="rId4" Type="http://schemas.openxmlformats.org/officeDocument/2006/relationships/slide" Target="slide13.xml"/><Relationship Id="rId9" Type="http://schemas.openxmlformats.org/officeDocument/2006/relationships/slide" Target="slide22.xml"/></Relationships>
</file>

<file path=ppt/slides/_rels/slide2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slide" Target="slide2.xml"/><Relationship Id="rId7"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slide" Target="slide23.xml"/><Relationship Id="rId9"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slide" Target="slide23.xml"/></Relationships>
</file>

<file path=ppt/slides/_rels/slide25.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xml"/></Relationships>
</file>

<file path=ppt/slides/_rels/slide26.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xml"/></Relationships>
</file>

<file path=ppt/slides/_rels/slide27.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xml"/></Relationships>
</file>

<file path=ppt/slides/_rels/slide28.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xml"/></Relationships>
</file>

<file path=ppt/slides/_rels/slide29.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7.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xml"/></Relationships>
</file>

<file path=ppt/slides/_rels/slide30.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xml"/></Relationships>
</file>

<file path=ppt/slides/_rels/slide3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slide" Target="slide31.xml"/><Relationship Id="rId5" Type="http://schemas.openxmlformats.org/officeDocument/2006/relationships/slide" Target="slide25.xml"/><Relationship Id="rId4" Type="http://schemas.openxmlformats.org/officeDocument/2006/relationships/slide" Target="slide23.xml"/></Relationships>
</file>

<file path=ppt/slides/_rels/slide32.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2.xml"/></Relationships>
</file>

<file path=ppt/slides/_rels/slide3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2.xml"/><Relationship Id="rId7"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slide" Target="slide32.xml"/><Relationship Id="rId4" Type="http://schemas.openxmlformats.org/officeDocument/2006/relationships/slide" Target="slide23.xml"/><Relationship Id="rId9" Type="http://schemas.openxmlformats.org/officeDocument/2006/relationships/slide" Target="slide33.xml"/></Relationships>
</file>

<file path=ppt/slides/_rels/slide34.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slide" Target="slide32.xml"/><Relationship Id="rId5" Type="http://schemas.openxmlformats.org/officeDocument/2006/relationships/slide" Target="slide23.xml"/><Relationship Id="rId4" Type="http://schemas.openxmlformats.org/officeDocument/2006/relationships/slide" Target="slide2.xml"/></Relationships>
</file>

<file path=ppt/slides/_rels/slide3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slide" Target="slide2.xml"/><Relationship Id="rId7"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slide" Target="slide34.xml"/><Relationship Id="rId5" Type="http://schemas.openxmlformats.org/officeDocument/2006/relationships/slide" Target="slide32.xml"/><Relationship Id="rId10" Type="http://schemas.openxmlformats.org/officeDocument/2006/relationships/image" Target="../media/image43.png"/><Relationship Id="rId4" Type="http://schemas.openxmlformats.org/officeDocument/2006/relationships/slide" Target="slide23.xml"/><Relationship Id="rId9"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2.xml"/></Relationships>
</file>

<file path=ppt/slides/_rels/slide3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slide" Target="slide2.xml"/><Relationship Id="rId7"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slide" Target="slide36.xml"/><Relationship Id="rId10" Type="http://schemas.openxmlformats.org/officeDocument/2006/relationships/image" Target="../media/image48.png"/><Relationship Id="rId4" Type="http://schemas.openxmlformats.org/officeDocument/2006/relationships/slide" Target="slide23.xml"/><Relationship Id="rId9" Type="http://schemas.openxmlformats.org/officeDocument/2006/relationships/image" Target="../media/image47.png"/></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6.xml"/><Relationship Id="rId1" Type="http://schemas.openxmlformats.org/officeDocument/2006/relationships/slideLayout" Target="../slideLayouts/slideLayout5.xml"/><Relationship Id="rId6" Type="http://schemas.openxmlformats.org/officeDocument/2006/relationships/slide" Target="slide38.xml"/><Relationship Id="rId5" Type="http://schemas.openxmlformats.org/officeDocument/2006/relationships/slide" Target="slide36.xml"/><Relationship Id="rId4" Type="http://schemas.openxmlformats.org/officeDocument/2006/relationships/slide" Target="slide23.xml"/></Relationships>
</file>

<file path=ppt/slides/_rels/slide3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slide" Target="slide2.xml"/><Relationship Id="rId7"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slide" Target="slide39.xml"/><Relationship Id="rId5" Type="http://schemas.openxmlformats.org/officeDocument/2006/relationships/slide" Target="slide36.xml"/><Relationship Id="rId10" Type="http://schemas.openxmlformats.org/officeDocument/2006/relationships/image" Target="../media/image54.png"/><Relationship Id="rId4" Type="http://schemas.openxmlformats.org/officeDocument/2006/relationships/slide" Target="slide23.xml"/><Relationship Id="rId9" Type="http://schemas.openxmlformats.org/officeDocument/2006/relationships/image" Target="../media/image53.png"/></Relationships>
</file>

<file path=ppt/slides/_rels/slide4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slide" Target="slide40.xml"/></Relationships>
</file>

<file path=ppt/slides/_rels/slide4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slide" Target="slide40.xml"/></Relationships>
</file>

<file path=ppt/slides/_rels/slide4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slide" Target="slide2.xml"/><Relationship Id="rId7"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5.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slide" Target="slide40.xml"/><Relationship Id="rId9" Type="http://schemas.openxmlformats.org/officeDocument/2006/relationships/slide" Target="slide42.xml"/></Relationships>
</file>

<file path=ppt/slides/_rels/slide4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1.xml"/><Relationship Id="rId1" Type="http://schemas.openxmlformats.org/officeDocument/2006/relationships/slideLayout" Target="../slideLayouts/slideLayout5.xml"/><Relationship Id="rId5" Type="http://schemas.openxmlformats.org/officeDocument/2006/relationships/slide" Target="slide43.xml"/><Relationship Id="rId4" Type="http://schemas.openxmlformats.org/officeDocument/2006/relationships/slide" Target="slide40.xml"/></Relationships>
</file>

<file path=ppt/slides/_rels/slide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2.xml"/><Relationship Id="rId1" Type="http://schemas.openxmlformats.org/officeDocument/2006/relationships/slideLayout" Target="../slideLayouts/slideLayout5.xml"/><Relationship Id="rId5" Type="http://schemas.openxmlformats.org/officeDocument/2006/relationships/slide" Target="slide43.xml"/><Relationship Id="rId4" Type="http://schemas.openxmlformats.org/officeDocument/2006/relationships/slide" Target="slide40.xml"/></Relationships>
</file>

<file path=ppt/slides/_rels/slide4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3.xml"/><Relationship Id="rId1" Type="http://schemas.openxmlformats.org/officeDocument/2006/relationships/slideLayout" Target="../slideLayouts/slideLayout5.xml"/><Relationship Id="rId5" Type="http://schemas.openxmlformats.org/officeDocument/2006/relationships/slide" Target="slide45.xml"/><Relationship Id="rId4" Type="http://schemas.openxmlformats.org/officeDocument/2006/relationships/slide" Target="slide40.xml"/></Relationships>
</file>

<file path=ppt/slides/_rels/slide46.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notesSlide" Target="../notesSlides/notesSlide44.xml"/><Relationship Id="rId1" Type="http://schemas.openxmlformats.org/officeDocument/2006/relationships/slideLayout" Target="../slideLayouts/slideLayout5.xml"/><Relationship Id="rId6" Type="http://schemas.openxmlformats.org/officeDocument/2006/relationships/slide" Target="slide45.xml"/><Relationship Id="rId5" Type="http://schemas.openxmlformats.org/officeDocument/2006/relationships/slide" Target="slide40.xml"/><Relationship Id="rId4" Type="http://schemas.openxmlformats.org/officeDocument/2006/relationships/slide" Target="slide2.xml"/></Relationships>
</file>

<file path=ppt/slides/_rels/slide4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slide" Target="slide46.xml"/><Relationship Id="rId5" Type="http://schemas.openxmlformats.org/officeDocument/2006/relationships/slide" Target="slide45.xml"/><Relationship Id="rId4" Type="http://schemas.openxmlformats.org/officeDocument/2006/relationships/slide" Target="slide40.xml"/></Relationships>
</file>

<file path=ppt/slides/_rels/slide48.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6.xml"/><Relationship Id="rId4" Type="http://schemas.openxmlformats.org/officeDocument/2006/relationships/slide" Target="slide45.xml"/></Relationships>
</file>

<file path=ppt/slides/_rels/slide49.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notesSlide" Target="../notesSlides/notesSlide46.xml"/><Relationship Id="rId1" Type="http://schemas.openxmlformats.org/officeDocument/2006/relationships/slideLayout" Target="../slideLayouts/slideLayout5.xml"/><Relationship Id="rId6" Type="http://schemas.openxmlformats.org/officeDocument/2006/relationships/slide" Target="slide45.xml"/><Relationship Id="rId5" Type="http://schemas.openxmlformats.org/officeDocument/2006/relationships/slide" Target="slide40.xml"/><Relationship Id="rId4" Type="http://schemas.openxmlformats.org/officeDocument/2006/relationships/slide" Target="slide2.xml"/></Relationships>
</file>

<file path=ppt/slides/_rels/slide50.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slide" Target="slide45.xml"/><Relationship Id="rId5" Type="http://schemas.openxmlformats.org/officeDocument/2006/relationships/slide" Target="slide40.xml"/><Relationship Id="rId4" Type="http://schemas.openxmlformats.org/officeDocument/2006/relationships/slide" Target="slide2.xml"/></Relationships>
</file>

<file path=ppt/slides/_rels/slide51.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6.xml"/><Relationship Id="rId4" Type="http://schemas.openxmlformats.org/officeDocument/2006/relationships/slide" Target="slide45.xml"/></Relationships>
</file>

<file path=ppt/slides/_rels/slide5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8.xml"/><Relationship Id="rId1" Type="http://schemas.openxmlformats.org/officeDocument/2006/relationships/slideLayout" Target="../slideLayouts/slideLayout5.xml"/><Relationship Id="rId6" Type="http://schemas.openxmlformats.org/officeDocument/2006/relationships/slide" Target="slide46.xml"/><Relationship Id="rId5" Type="http://schemas.openxmlformats.org/officeDocument/2006/relationships/slide" Target="slide45.xml"/><Relationship Id="rId4" Type="http://schemas.openxmlformats.org/officeDocument/2006/relationships/slide" Target="slide40.xml"/></Relationships>
</file>

<file path=ppt/slides/_rels/slide53.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notesSlide" Target="../notesSlides/notesSlide49.xml"/><Relationship Id="rId1" Type="http://schemas.openxmlformats.org/officeDocument/2006/relationships/slideLayout" Target="../slideLayouts/slideLayout5.xml"/><Relationship Id="rId6" Type="http://schemas.openxmlformats.org/officeDocument/2006/relationships/slide" Target="slide45.xml"/><Relationship Id="rId5" Type="http://schemas.openxmlformats.org/officeDocument/2006/relationships/slide" Target="slide40.xml"/><Relationship Id="rId4" Type="http://schemas.openxmlformats.org/officeDocument/2006/relationships/slide" Target="slide2.xml"/></Relationships>
</file>

<file path=ppt/slides/_rels/slide54.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notesSlide" Target="../notesSlides/notesSlide50.xml"/><Relationship Id="rId1" Type="http://schemas.openxmlformats.org/officeDocument/2006/relationships/slideLayout" Target="../slideLayouts/slideLayout5.xml"/><Relationship Id="rId6" Type="http://schemas.openxmlformats.org/officeDocument/2006/relationships/slide" Target="slide45.xml"/><Relationship Id="rId5" Type="http://schemas.openxmlformats.org/officeDocument/2006/relationships/slide" Target="slide40.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12303" y="503866"/>
            <a:ext cx="1783714" cy="554355"/>
          </a:xfrm>
          <a:prstGeom prst="rect">
            <a:avLst/>
          </a:prstGeom>
        </p:spPr>
        <p:txBody>
          <a:bodyPr vert="horz" wrap="square" lIns="0" tIns="110490" rIns="0" bIns="0" rtlCol="0">
            <a:spAutoFit/>
          </a:bodyPr>
          <a:lstStyle/>
          <a:p>
            <a:pPr algn="ctr">
              <a:lnSpc>
                <a:spcPct val="100000"/>
              </a:lnSpc>
              <a:spcBef>
                <a:spcPts val="870"/>
              </a:spcBef>
            </a:pPr>
            <a:r>
              <a:rPr sz="1400" b="1" spc="10" dirty="0">
                <a:solidFill>
                  <a:srgbClr val="3333B2"/>
                </a:solidFill>
                <a:latin typeface="Arial"/>
                <a:cs typeface="Arial"/>
              </a:rPr>
              <a:t>Distributed</a:t>
            </a:r>
            <a:r>
              <a:rPr sz="1400" b="1" spc="-35" dirty="0">
                <a:solidFill>
                  <a:srgbClr val="3333B2"/>
                </a:solidFill>
                <a:latin typeface="Arial"/>
                <a:cs typeface="Arial"/>
              </a:rPr>
              <a:t> </a:t>
            </a:r>
            <a:r>
              <a:rPr sz="1400" b="1" spc="20" dirty="0">
                <a:solidFill>
                  <a:srgbClr val="3333B2"/>
                </a:solidFill>
                <a:latin typeface="Arial"/>
                <a:cs typeface="Arial"/>
              </a:rPr>
              <a:t>Systems</a:t>
            </a:r>
            <a:endParaRPr sz="1400">
              <a:latin typeface="Arial"/>
              <a:cs typeface="Arial"/>
            </a:endParaRPr>
          </a:p>
          <a:p>
            <a:pPr marL="3810" algn="ctr">
              <a:lnSpc>
                <a:spcPct val="100000"/>
              </a:lnSpc>
              <a:spcBef>
                <a:spcPts val="509"/>
              </a:spcBef>
            </a:pPr>
            <a:r>
              <a:rPr sz="1000" spc="-5" dirty="0">
                <a:solidFill>
                  <a:srgbClr val="3333B2"/>
                </a:solidFill>
                <a:latin typeface="Arial"/>
                <a:cs typeface="Arial"/>
              </a:rPr>
              <a:t>(3rd</a:t>
            </a:r>
            <a:r>
              <a:rPr sz="1000" spc="-35" dirty="0">
                <a:solidFill>
                  <a:srgbClr val="3333B2"/>
                </a:solidFill>
                <a:latin typeface="Arial"/>
                <a:cs typeface="Arial"/>
              </a:rPr>
              <a:t> </a:t>
            </a:r>
            <a:r>
              <a:rPr sz="1000" spc="-5" dirty="0">
                <a:solidFill>
                  <a:srgbClr val="3333B2"/>
                </a:solidFill>
                <a:latin typeface="Arial"/>
                <a:cs typeface="Arial"/>
              </a:rPr>
              <a:t>Edition)</a:t>
            </a:r>
            <a:endParaRPr sz="1000">
              <a:latin typeface="Arial"/>
              <a:cs typeface="Arial"/>
            </a:endParaRPr>
          </a:p>
        </p:txBody>
      </p:sp>
      <p:sp>
        <p:nvSpPr>
          <p:cNvPr id="3" name="object 3"/>
          <p:cNvSpPr txBox="1"/>
          <p:nvPr/>
        </p:nvSpPr>
        <p:spPr>
          <a:xfrm>
            <a:off x="1152131" y="2243770"/>
            <a:ext cx="2303780" cy="521334"/>
          </a:xfrm>
          <a:prstGeom prst="rect">
            <a:avLst/>
          </a:prstGeom>
        </p:spPr>
        <p:txBody>
          <a:bodyPr vert="horz" wrap="square" lIns="0" tIns="17145" rIns="0" bIns="0" rtlCol="0">
            <a:spAutoFit/>
          </a:bodyPr>
          <a:lstStyle/>
          <a:p>
            <a:pPr algn="ctr">
              <a:lnSpc>
                <a:spcPct val="100000"/>
              </a:lnSpc>
              <a:spcBef>
                <a:spcPts val="135"/>
              </a:spcBef>
            </a:pPr>
            <a:r>
              <a:rPr sz="1400" spc="15" dirty="0">
                <a:latin typeface="Arial"/>
                <a:cs typeface="Arial"/>
              </a:rPr>
              <a:t>Chapter</a:t>
            </a:r>
            <a:r>
              <a:rPr sz="1400" spc="-15" dirty="0">
                <a:latin typeface="Arial"/>
                <a:cs typeface="Arial"/>
              </a:rPr>
              <a:t> </a:t>
            </a:r>
            <a:r>
              <a:rPr sz="1400" spc="15" dirty="0">
                <a:latin typeface="Arial"/>
                <a:cs typeface="Arial"/>
              </a:rPr>
              <a:t>04:</a:t>
            </a:r>
            <a:r>
              <a:rPr sz="1400" spc="75" dirty="0">
                <a:latin typeface="Arial"/>
                <a:cs typeface="Arial"/>
              </a:rPr>
              <a:t> </a:t>
            </a:r>
            <a:r>
              <a:rPr sz="1400" spc="15" dirty="0">
                <a:latin typeface="Arial"/>
                <a:cs typeface="Arial"/>
              </a:rPr>
              <a:t>Communication</a:t>
            </a:r>
            <a:endParaRPr sz="1400">
              <a:latin typeface="Arial"/>
              <a:cs typeface="Arial"/>
            </a:endParaRPr>
          </a:p>
          <a:p>
            <a:pPr algn="ctr">
              <a:lnSpc>
                <a:spcPct val="100000"/>
              </a:lnSpc>
              <a:spcBef>
                <a:spcPts val="869"/>
              </a:spcBef>
            </a:pPr>
            <a:r>
              <a:rPr sz="1100" spc="-20" dirty="0">
                <a:latin typeface="Arial"/>
                <a:cs typeface="Arial"/>
              </a:rPr>
              <a:t>Version:</a:t>
            </a:r>
            <a:r>
              <a:rPr sz="1100" spc="60" dirty="0">
                <a:latin typeface="Arial"/>
                <a:cs typeface="Arial"/>
              </a:rPr>
              <a:t> </a:t>
            </a:r>
            <a:r>
              <a:rPr sz="1100" spc="-10" dirty="0">
                <a:latin typeface="Arial"/>
                <a:cs typeface="Arial"/>
              </a:rPr>
              <a:t>March </a:t>
            </a:r>
            <a:r>
              <a:rPr sz="1100" spc="-5" dirty="0">
                <a:latin typeface="Arial"/>
                <a:cs typeface="Arial"/>
              </a:rPr>
              <a:t>20,</a:t>
            </a:r>
            <a:r>
              <a:rPr sz="1100" spc="-10" dirty="0">
                <a:latin typeface="Arial"/>
                <a:cs typeface="Arial"/>
              </a:rPr>
              <a:t> 2022</a:t>
            </a:r>
            <a:endParaRPr sz="1100">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0287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Foundations</a:t>
            </a:r>
            <a:endParaRPr sz="600">
              <a:latin typeface="Arial"/>
              <a:cs typeface="Arial"/>
            </a:endParaRPr>
          </a:p>
        </p:txBody>
      </p:sp>
      <p:sp>
        <p:nvSpPr>
          <p:cNvPr id="3" name="object 3"/>
          <p:cNvSpPr txBox="1"/>
          <p:nvPr/>
        </p:nvSpPr>
        <p:spPr>
          <a:xfrm>
            <a:off x="3907891" y="716"/>
            <a:ext cx="63373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3" action="ppaction://hlinksldjump"/>
              </a:rPr>
              <a:t>Layered</a:t>
            </a:r>
            <a:r>
              <a:rPr sz="600" spc="-3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Protocols</a:t>
            </a:r>
            <a:endParaRPr sz="600">
              <a:latin typeface="Arial"/>
              <a:cs typeface="Arial"/>
            </a:endParaRPr>
          </a:p>
        </p:txBody>
      </p:sp>
      <p:sp>
        <p:nvSpPr>
          <p:cNvPr id="4" name="object 4"/>
          <p:cNvSpPr txBox="1"/>
          <p:nvPr/>
        </p:nvSpPr>
        <p:spPr>
          <a:xfrm>
            <a:off x="95300" y="188846"/>
            <a:ext cx="195072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Basic</a:t>
            </a:r>
            <a:r>
              <a:rPr sz="1400" spc="-25" dirty="0">
                <a:solidFill>
                  <a:srgbClr val="3333B2"/>
                </a:solidFill>
                <a:latin typeface="Arial"/>
                <a:cs typeface="Arial"/>
              </a:rPr>
              <a:t> </a:t>
            </a:r>
            <a:r>
              <a:rPr sz="1400" spc="15" dirty="0">
                <a:solidFill>
                  <a:srgbClr val="3333B2"/>
                </a:solidFill>
                <a:latin typeface="Arial"/>
                <a:cs typeface="Arial"/>
              </a:rPr>
              <a:t>networking</a:t>
            </a:r>
            <a:r>
              <a:rPr sz="1400" spc="-20" dirty="0">
                <a:solidFill>
                  <a:srgbClr val="3333B2"/>
                </a:solidFill>
                <a:latin typeface="Arial"/>
                <a:cs typeface="Arial"/>
              </a:rPr>
              <a:t> </a:t>
            </a:r>
            <a:r>
              <a:rPr sz="1400" spc="15" dirty="0">
                <a:solidFill>
                  <a:srgbClr val="3333B2"/>
                </a:solidFill>
                <a:latin typeface="Arial"/>
                <a:cs typeface="Arial"/>
              </a:rPr>
              <a:t>model</a:t>
            </a:r>
            <a:endParaRPr sz="1400" dirty="0">
              <a:latin typeface="Arial"/>
              <a:cs typeface="Arial"/>
            </a:endParaRPr>
          </a:p>
        </p:txBody>
      </p:sp>
      <p:sp>
        <p:nvSpPr>
          <p:cNvPr id="5" name="object 5"/>
          <p:cNvSpPr txBox="1"/>
          <p:nvPr/>
        </p:nvSpPr>
        <p:spPr>
          <a:xfrm>
            <a:off x="1268503" y="2017948"/>
            <a:ext cx="294005"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Physical</a:t>
            </a:r>
            <a:endParaRPr sz="550">
              <a:latin typeface="Helvetica"/>
              <a:cs typeface="Helvetica"/>
            </a:endParaRPr>
          </a:p>
        </p:txBody>
      </p:sp>
      <p:sp>
        <p:nvSpPr>
          <p:cNvPr id="6" name="object 6"/>
          <p:cNvSpPr txBox="1"/>
          <p:nvPr/>
        </p:nvSpPr>
        <p:spPr>
          <a:xfrm>
            <a:off x="1251674" y="1850235"/>
            <a:ext cx="30607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Data link</a:t>
            </a:r>
            <a:endParaRPr sz="550">
              <a:latin typeface="Helvetica"/>
              <a:cs typeface="Helvetica"/>
            </a:endParaRPr>
          </a:p>
        </p:txBody>
      </p:sp>
      <p:sp>
        <p:nvSpPr>
          <p:cNvPr id="7" name="object 7"/>
          <p:cNvSpPr txBox="1"/>
          <p:nvPr/>
        </p:nvSpPr>
        <p:spPr>
          <a:xfrm>
            <a:off x="1267760" y="1675351"/>
            <a:ext cx="290195"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Network</a:t>
            </a:r>
            <a:endParaRPr sz="550">
              <a:latin typeface="Helvetica"/>
              <a:cs typeface="Helvetica"/>
            </a:endParaRPr>
          </a:p>
        </p:txBody>
      </p:sp>
      <p:sp>
        <p:nvSpPr>
          <p:cNvPr id="8" name="object 8"/>
          <p:cNvSpPr txBox="1"/>
          <p:nvPr/>
        </p:nvSpPr>
        <p:spPr>
          <a:xfrm>
            <a:off x="1226557" y="1493714"/>
            <a:ext cx="331470" cy="112395"/>
          </a:xfrm>
          <a:prstGeom prst="rect">
            <a:avLst/>
          </a:prstGeom>
        </p:spPr>
        <p:txBody>
          <a:bodyPr vert="horz" wrap="square" lIns="0" tIns="14604" rIns="0" bIns="0" rtlCol="0">
            <a:spAutoFit/>
          </a:bodyPr>
          <a:lstStyle/>
          <a:p>
            <a:pPr marL="12700">
              <a:lnSpc>
                <a:spcPct val="100000"/>
              </a:lnSpc>
              <a:spcBef>
                <a:spcPts val="114"/>
              </a:spcBef>
            </a:pPr>
            <a:r>
              <a:rPr sz="550" spc="-15" dirty="0">
                <a:solidFill>
                  <a:srgbClr val="231F20"/>
                </a:solidFill>
                <a:latin typeface="Helvetica"/>
                <a:cs typeface="Helvetica"/>
              </a:rPr>
              <a:t>T</a:t>
            </a:r>
            <a:r>
              <a:rPr sz="550" spc="5" dirty="0">
                <a:solidFill>
                  <a:srgbClr val="231F20"/>
                </a:solidFill>
                <a:latin typeface="Helvetica"/>
                <a:cs typeface="Helvetica"/>
              </a:rPr>
              <a:t>ransport</a:t>
            </a:r>
            <a:endParaRPr sz="550">
              <a:latin typeface="Helvetica"/>
              <a:cs typeface="Helvetica"/>
            </a:endParaRPr>
          </a:p>
        </p:txBody>
      </p:sp>
      <p:sp>
        <p:nvSpPr>
          <p:cNvPr id="9" name="object 9"/>
          <p:cNvSpPr txBox="1"/>
          <p:nvPr/>
        </p:nvSpPr>
        <p:spPr>
          <a:xfrm>
            <a:off x="1268503" y="1302266"/>
            <a:ext cx="282575"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Session</a:t>
            </a:r>
            <a:endParaRPr sz="550">
              <a:latin typeface="Helvetica"/>
              <a:cs typeface="Helvetica"/>
            </a:endParaRPr>
          </a:p>
        </p:txBody>
      </p:sp>
      <p:sp>
        <p:nvSpPr>
          <p:cNvPr id="10" name="object 10"/>
          <p:cNvSpPr txBox="1"/>
          <p:nvPr/>
        </p:nvSpPr>
        <p:spPr>
          <a:xfrm>
            <a:off x="1172278" y="946320"/>
            <a:ext cx="37846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Application</a:t>
            </a:r>
            <a:endParaRPr sz="550">
              <a:latin typeface="Helvetica"/>
              <a:cs typeface="Helvetica"/>
            </a:endParaRPr>
          </a:p>
        </p:txBody>
      </p:sp>
      <p:sp>
        <p:nvSpPr>
          <p:cNvPr id="11" name="object 11"/>
          <p:cNvSpPr txBox="1"/>
          <p:nvPr/>
        </p:nvSpPr>
        <p:spPr>
          <a:xfrm>
            <a:off x="1120124" y="1125438"/>
            <a:ext cx="43053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Presentation</a:t>
            </a:r>
            <a:endParaRPr sz="550">
              <a:latin typeface="Helvetica"/>
              <a:cs typeface="Helvetica"/>
            </a:endParaRPr>
          </a:p>
        </p:txBody>
      </p:sp>
      <p:grpSp>
        <p:nvGrpSpPr>
          <p:cNvPr id="12" name="object 12"/>
          <p:cNvGrpSpPr/>
          <p:nvPr/>
        </p:nvGrpSpPr>
        <p:grpSpPr>
          <a:xfrm>
            <a:off x="1637083" y="722549"/>
            <a:ext cx="1733550" cy="1560830"/>
            <a:chOff x="1637083" y="722549"/>
            <a:chExt cx="1733550" cy="1560830"/>
          </a:xfrm>
        </p:grpSpPr>
        <p:sp>
          <p:nvSpPr>
            <p:cNvPr id="13" name="object 13"/>
            <p:cNvSpPr/>
            <p:nvPr/>
          </p:nvSpPr>
          <p:spPr>
            <a:xfrm>
              <a:off x="1754572" y="761990"/>
              <a:ext cx="1498600" cy="1518285"/>
            </a:xfrm>
            <a:custGeom>
              <a:avLst/>
              <a:gdLst/>
              <a:ahLst/>
              <a:cxnLst/>
              <a:rect l="l" t="t" r="r" b="b"/>
              <a:pathLst>
                <a:path w="1498600" h="1518285">
                  <a:moveTo>
                    <a:pt x="0" y="0"/>
                  </a:moveTo>
                  <a:lnTo>
                    <a:pt x="0" y="1517932"/>
                  </a:lnTo>
                  <a:lnTo>
                    <a:pt x="1498075" y="1517932"/>
                  </a:lnTo>
                  <a:lnTo>
                    <a:pt x="1498075" y="10360"/>
                  </a:lnTo>
                </a:path>
              </a:pathLst>
            </a:custGeom>
            <a:ln w="6864">
              <a:solidFill>
                <a:srgbClr val="231F20"/>
              </a:solidFill>
            </a:ln>
          </p:spPr>
          <p:txBody>
            <a:bodyPr wrap="square" lIns="0" tIns="0" rIns="0" bIns="0" rtlCol="0"/>
            <a:lstStyle/>
            <a:p>
              <a:endParaRPr/>
            </a:p>
          </p:txBody>
        </p:sp>
        <p:sp>
          <p:nvSpPr>
            <p:cNvPr id="14" name="object 14"/>
            <p:cNvSpPr/>
            <p:nvPr/>
          </p:nvSpPr>
          <p:spPr>
            <a:xfrm>
              <a:off x="1730806" y="722553"/>
              <a:ext cx="1545590" cy="53975"/>
            </a:xfrm>
            <a:custGeom>
              <a:avLst/>
              <a:gdLst/>
              <a:ahLst/>
              <a:cxnLst/>
              <a:rect l="l" t="t" r="r" b="b"/>
              <a:pathLst>
                <a:path w="1545589" h="53975">
                  <a:moveTo>
                    <a:pt x="47510" y="43180"/>
                  </a:moveTo>
                  <a:lnTo>
                    <a:pt x="23761" y="0"/>
                  </a:lnTo>
                  <a:lnTo>
                    <a:pt x="0" y="43180"/>
                  </a:lnTo>
                  <a:lnTo>
                    <a:pt x="47510" y="43180"/>
                  </a:lnTo>
                  <a:close/>
                </a:path>
                <a:path w="1545589" h="53975">
                  <a:moveTo>
                    <a:pt x="1545590" y="53543"/>
                  </a:moveTo>
                  <a:lnTo>
                    <a:pt x="1521828" y="10350"/>
                  </a:lnTo>
                  <a:lnTo>
                    <a:pt x="1498079" y="53543"/>
                  </a:lnTo>
                  <a:lnTo>
                    <a:pt x="1545590" y="53543"/>
                  </a:lnTo>
                  <a:close/>
                </a:path>
              </a:pathLst>
            </a:custGeom>
            <a:solidFill>
              <a:srgbClr val="231F20"/>
            </a:solidFill>
          </p:spPr>
          <p:txBody>
            <a:bodyPr wrap="square" lIns="0" tIns="0" rIns="0" bIns="0" rtlCol="0"/>
            <a:lstStyle/>
            <a:p>
              <a:endParaRPr/>
            </a:p>
          </p:txBody>
        </p:sp>
        <p:sp>
          <p:nvSpPr>
            <p:cNvPr id="15" name="object 15"/>
            <p:cNvSpPr/>
            <p:nvPr/>
          </p:nvSpPr>
          <p:spPr>
            <a:xfrm>
              <a:off x="1639337" y="929923"/>
              <a:ext cx="230504" cy="115570"/>
            </a:xfrm>
            <a:custGeom>
              <a:avLst/>
              <a:gdLst/>
              <a:ahLst/>
              <a:cxnLst/>
              <a:rect l="l" t="t" r="r" b="b"/>
              <a:pathLst>
                <a:path w="230505" h="115569">
                  <a:moveTo>
                    <a:pt x="230469" y="0"/>
                  </a:moveTo>
                  <a:lnTo>
                    <a:pt x="0" y="0"/>
                  </a:lnTo>
                  <a:lnTo>
                    <a:pt x="0" y="115237"/>
                  </a:lnTo>
                  <a:lnTo>
                    <a:pt x="230469" y="115237"/>
                  </a:lnTo>
                  <a:lnTo>
                    <a:pt x="230469" y="0"/>
                  </a:lnTo>
                  <a:close/>
                </a:path>
              </a:pathLst>
            </a:custGeom>
            <a:solidFill>
              <a:srgbClr val="FFFFFF"/>
            </a:solidFill>
          </p:spPr>
          <p:txBody>
            <a:bodyPr wrap="square" lIns="0" tIns="0" rIns="0" bIns="0" rtlCol="0"/>
            <a:lstStyle/>
            <a:p>
              <a:endParaRPr/>
            </a:p>
          </p:txBody>
        </p:sp>
        <p:sp>
          <p:nvSpPr>
            <p:cNvPr id="16" name="object 16"/>
            <p:cNvSpPr/>
            <p:nvPr/>
          </p:nvSpPr>
          <p:spPr>
            <a:xfrm>
              <a:off x="1639337" y="929923"/>
              <a:ext cx="230504" cy="115570"/>
            </a:xfrm>
            <a:custGeom>
              <a:avLst/>
              <a:gdLst/>
              <a:ahLst/>
              <a:cxnLst/>
              <a:rect l="l" t="t" r="r" b="b"/>
              <a:pathLst>
                <a:path w="230505" h="115569">
                  <a:moveTo>
                    <a:pt x="0" y="0"/>
                  </a:moveTo>
                  <a:lnTo>
                    <a:pt x="230469" y="0"/>
                  </a:lnTo>
                  <a:lnTo>
                    <a:pt x="230469" y="115237"/>
                  </a:lnTo>
                  <a:lnTo>
                    <a:pt x="0" y="115237"/>
                  </a:lnTo>
                  <a:lnTo>
                    <a:pt x="0" y="0"/>
                  </a:lnTo>
                  <a:close/>
                </a:path>
              </a:pathLst>
            </a:custGeom>
            <a:ln w="4508">
              <a:solidFill>
                <a:srgbClr val="231F20"/>
              </a:solidFill>
            </a:ln>
          </p:spPr>
          <p:txBody>
            <a:bodyPr wrap="square" lIns="0" tIns="0" rIns="0" bIns="0" rtlCol="0"/>
            <a:lstStyle/>
            <a:p>
              <a:endParaRPr/>
            </a:p>
          </p:txBody>
        </p:sp>
        <p:sp>
          <p:nvSpPr>
            <p:cNvPr id="17" name="object 17"/>
            <p:cNvSpPr/>
            <p:nvPr/>
          </p:nvSpPr>
          <p:spPr>
            <a:xfrm>
              <a:off x="1639337" y="1109045"/>
              <a:ext cx="230504" cy="115570"/>
            </a:xfrm>
            <a:custGeom>
              <a:avLst/>
              <a:gdLst/>
              <a:ahLst/>
              <a:cxnLst/>
              <a:rect l="l" t="t" r="r" b="b"/>
              <a:pathLst>
                <a:path w="230505" h="115569">
                  <a:moveTo>
                    <a:pt x="230469" y="0"/>
                  </a:moveTo>
                  <a:lnTo>
                    <a:pt x="0" y="0"/>
                  </a:lnTo>
                  <a:lnTo>
                    <a:pt x="0" y="115228"/>
                  </a:lnTo>
                  <a:lnTo>
                    <a:pt x="230469" y="115228"/>
                  </a:lnTo>
                  <a:lnTo>
                    <a:pt x="230469" y="0"/>
                  </a:lnTo>
                  <a:close/>
                </a:path>
              </a:pathLst>
            </a:custGeom>
            <a:solidFill>
              <a:srgbClr val="FFFFFF"/>
            </a:solidFill>
          </p:spPr>
          <p:txBody>
            <a:bodyPr wrap="square" lIns="0" tIns="0" rIns="0" bIns="0" rtlCol="0"/>
            <a:lstStyle/>
            <a:p>
              <a:endParaRPr/>
            </a:p>
          </p:txBody>
        </p:sp>
        <p:sp>
          <p:nvSpPr>
            <p:cNvPr id="18" name="object 18"/>
            <p:cNvSpPr/>
            <p:nvPr/>
          </p:nvSpPr>
          <p:spPr>
            <a:xfrm>
              <a:off x="1639337" y="1109045"/>
              <a:ext cx="230504" cy="115570"/>
            </a:xfrm>
            <a:custGeom>
              <a:avLst/>
              <a:gdLst/>
              <a:ahLst/>
              <a:cxnLst/>
              <a:rect l="l" t="t" r="r" b="b"/>
              <a:pathLst>
                <a:path w="230505" h="115569">
                  <a:moveTo>
                    <a:pt x="0" y="0"/>
                  </a:moveTo>
                  <a:lnTo>
                    <a:pt x="230469" y="0"/>
                  </a:lnTo>
                  <a:lnTo>
                    <a:pt x="230469" y="115228"/>
                  </a:lnTo>
                  <a:lnTo>
                    <a:pt x="0" y="115228"/>
                  </a:lnTo>
                  <a:lnTo>
                    <a:pt x="0" y="0"/>
                  </a:lnTo>
                  <a:close/>
                </a:path>
              </a:pathLst>
            </a:custGeom>
            <a:ln w="4508">
              <a:solidFill>
                <a:srgbClr val="231F20"/>
              </a:solidFill>
            </a:ln>
          </p:spPr>
          <p:txBody>
            <a:bodyPr wrap="square" lIns="0" tIns="0" rIns="0" bIns="0" rtlCol="0"/>
            <a:lstStyle/>
            <a:p>
              <a:endParaRPr/>
            </a:p>
          </p:txBody>
        </p:sp>
        <p:sp>
          <p:nvSpPr>
            <p:cNvPr id="19" name="object 19"/>
            <p:cNvSpPr/>
            <p:nvPr/>
          </p:nvSpPr>
          <p:spPr>
            <a:xfrm>
              <a:off x="3137419" y="929923"/>
              <a:ext cx="230504" cy="115570"/>
            </a:xfrm>
            <a:custGeom>
              <a:avLst/>
              <a:gdLst/>
              <a:ahLst/>
              <a:cxnLst/>
              <a:rect l="l" t="t" r="r" b="b"/>
              <a:pathLst>
                <a:path w="230504" h="115569">
                  <a:moveTo>
                    <a:pt x="230474" y="0"/>
                  </a:moveTo>
                  <a:lnTo>
                    <a:pt x="0" y="0"/>
                  </a:lnTo>
                  <a:lnTo>
                    <a:pt x="0" y="115237"/>
                  </a:lnTo>
                  <a:lnTo>
                    <a:pt x="230474" y="115237"/>
                  </a:lnTo>
                  <a:lnTo>
                    <a:pt x="230474" y="0"/>
                  </a:lnTo>
                  <a:close/>
                </a:path>
              </a:pathLst>
            </a:custGeom>
            <a:solidFill>
              <a:srgbClr val="FFFFFF"/>
            </a:solidFill>
          </p:spPr>
          <p:txBody>
            <a:bodyPr wrap="square" lIns="0" tIns="0" rIns="0" bIns="0" rtlCol="0"/>
            <a:lstStyle/>
            <a:p>
              <a:endParaRPr/>
            </a:p>
          </p:txBody>
        </p:sp>
        <p:sp>
          <p:nvSpPr>
            <p:cNvPr id="20" name="object 20"/>
            <p:cNvSpPr/>
            <p:nvPr/>
          </p:nvSpPr>
          <p:spPr>
            <a:xfrm>
              <a:off x="3137419" y="929923"/>
              <a:ext cx="230504" cy="115570"/>
            </a:xfrm>
            <a:custGeom>
              <a:avLst/>
              <a:gdLst/>
              <a:ahLst/>
              <a:cxnLst/>
              <a:rect l="l" t="t" r="r" b="b"/>
              <a:pathLst>
                <a:path w="230504" h="115569">
                  <a:moveTo>
                    <a:pt x="0" y="0"/>
                  </a:moveTo>
                  <a:lnTo>
                    <a:pt x="230474" y="0"/>
                  </a:lnTo>
                  <a:lnTo>
                    <a:pt x="230474" y="115237"/>
                  </a:lnTo>
                  <a:lnTo>
                    <a:pt x="0" y="115237"/>
                  </a:lnTo>
                  <a:lnTo>
                    <a:pt x="0" y="0"/>
                  </a:lnTo>
                  <a:close/>
                </a:path>
              </a:pathLst>
            </a:custGeom>
            <a:ln w="4508">
              <a:solidFill>
                <a:srgbClr val="231F20"/>
              </a:solidFill>
            </a:ln>
          </p:spPr>
          <p:txBody>
            <a:bodyPr wrap="square" lIns="0" tIns="0" rIns="0" bIns="0" rtlCol="0"/>
            <a:lstStyle/>
            <a:p>
              <a:endParaRPr/>
            </a:p>
          </p:txBody>
        </p:sp>
        <p:sp>
          <p:nvSpPr>
            <p:cNvPr id="21" name="object 21"/>
            <p:cNvSpPr/>
            <p:nvPr/>
          </p:nvSpPr>
          <p:spPr>
            <a:xfrm>
              <a:off x="3137419" y="1109045"/>
              <a:ext cx="230504" cy="115570"/>
            </a:xfrm>
            <a:custGeom>
              <a:avLst/>
              <a:gdLst/>
              <a:ahLst/>
              <a:cxnLst/>
              <a:rect l="l" t="t" r="r" b="b"/>
              <a:pathLst>
                <a:path w="230504" h="115569">
                  <a:moveTo>
                    <a:pt x="230474" y="0"/>
                  </a:moveTo>
                  <a:lnTo>
                    <a:pt x="0" y="0"/>
                  </a:lnTo>
                  <a:lnTo>
                    <a:pt x="0" y="115228"/>
                  </a:lnTo>
                  <a:lnTo>
                    <a:pt x="230474" y="115228"/>
                  </a:lnTo>
                  <a:lnTo>
                    <a:pt x="230474" y="0"/>
                  </a:lnTo>
                  <a:close/>
                </a:path>
              </a:pathLst>
            </a:custGeom>
            <a:solidFill>
              <a:srgbClr val="FFFFFF"/>
            </a:solidFill>
          </p:spPr>
          <p:txBody>
            <a:bodyPr wrap="square" lIns="0" tIns="0" rIns="0" bIns="0" rtlCol="0"/>
            <a:lstStyle/>
            <a:p>
              <a:endParaRPr/>
            </a:p>
          </p:txBody>
        </p:sp>
        <p:sp>
          <p:nvSpPr>
            <p:cNvPr id="22" name="object 22"/>
            <p:cNvSpPr/>
            <p:nvPr/>
          </p:nvSpPr>
          <p:spPr>
            <a:xfrm>
              <a:off x="3137419" y="1109045"/>
              <a:ext cx="230504" cy="115570"/>
            </a:xfrm>
            <a:custGeom>
              <a:avLst/>
              <a:gdLst/>
              <a:ahLst/>
              <a:cxnLst/>
              <a:rect l="l" t="t" r="r" b="b"/>
              <a:pathLst>
                <a:path w="230504" h="115569">
                  <a:moveTo>
                    <a:pt x="0" y="0"/>
                  </a:moveTo>
                  <a:lnTo>
                    <a:pt x="230474" y="0"/>
                  </a:lnTo>
                  <a:lnTo>
                    <a:pt x="230474" y="115228"/>
                  </a:lnTo>
                  <a:lnTo>
                    <a:pt x="0" y="115228"/>
                  </a:lnTo>
                  <a:lnTo>
                    <a:pt x="0" y="0"/>
                  </a:lnTo>
                  <a:close/>
                </a:path>
              </a:pathLst>
            </a:custGeom>
            <a:ln w="4508">
              <a:solidFill>
                <a:srgbClr val="231F20"/>
              </a:solidFill>
            </a:ln>
          </p:spPr>
          <p:txBody>
            <a:bodyPr wrap="square" lIns="0" tIns="0" rIns="0" bIns="0" rtlCol="0"/>
            <a:lstStyle/>
            <a:p>
              <a:endParaRPr/>
            </a:p>
          </p:txBody>
        </p:sp>
        <p:sp>
          <p:nvSpPr>
            <p:cNvPr id="23" name="object 23"/>
            <p:cNvSpPr/>
            <p:nvPr/>
          </p:nvSpPr>
          <p:spPr>
            <a:xfrm>
              <a:off x="1639337" y="1300404"/>
              <a:ext cx="230504" cy="115570"/>
            </a:xfrm>
            <a:custGeom>
              <a:avLst/>
              <a:gdLst/>
              <a:ahLst/>
              <a:cxnLst/>
              <a:rect l="l" t="t" r="r" b="b"/>
              <a:pathLst>
                <a:path w="230505" h="115569">
                  <a:moveTo>
                    <a:pt x="230469" y="0"/>
                  </a:moveTo>
                  <a:lnTo>
                    <a:pt x="0" y="0"/>
                  </a:lnTo>
                  <a:lnTo>
                    <a:pt x="0" y="115237"/>
                  </a:lnTo>
                  <a:lnTo>
                    <a:pt x="230469" y="115237"/>
                  </a:lnTo>
                  <a:lnTo>
                    <a:pt x="230469" y="0"/>
                  </a:lnTo>
                  <a:close/>
                </a:path>
              </a:pathLst>
            </a:custGeom>
            <a:solidFill>
              <a:srgbClr val="FFFFFF"/>
            </a:solidFill>
          </p:spPr>
          <p:txBody>
            <a:bodyPr wrap="square" lIns="0" tIns="0" rIns="0" bIns="0" rtlCol="0"/>
            <a:lstStyle/>
            <a:p>
              <a:endParaRPr/>
            </a:p>
          </p:txBody>
        </p:sp>
        <p:sp>
          <p:nvSpPr>
            <p:cNvPr id="24" name="object 24"/>
            <p:cNvSpPr/>
            <p:nvPr/>
          </p:nvSpPr>
          <p:spPr>
            <a:xfrm>
              <a:off x="1639337" y="1300404"/>
              <a:ext cx="230504" cy="115570"/>
            </a:xfrm>
            <a:custGeom>
              <a:avLst/>
              <a:gdLst/>
              <a:ahLst/>
              <a:cxnLst/>
              <a:rect l="l" t="t" r="r" b="b"/>
              <a:pathLst>
                <a:path w="230505" h="115569">
                  <a:moveTo>
                    <a:pt x="0" y="0"/>
                  </a:moveTo>
                  <a:lnTo>
                    <a:pt x="230469" y="0"/>
                  </a:lnTo>
                  <a:lnTo>
                    <a:pt x="230469" y="115237"/>
                  </a:lnTo>
                  <a:lnTo>
                    <a:pt x="0" y="115237"/>
                  </a:lnTo>
                  <a:lnTo>
                    <a:pt x="0" y="0"/>
                  </a:lnTo>
                  <a:close/>
                </a:path>
              </a:pathLst>
            </a:custGeom>
            <a:ln w="4508">
              <a:solidFill>
                <a:srgbClr val="231F20"/>
              </a:solidFill>
            </a:ln>
          </p:spPr>
          <p:txBody>
            <a:bodyPr wrap="square" lIns="0" tIns="0" rIns="0" bIns="0" rtlCol="0"/>
            <a:lstStyle/>
            <a:p>
              <a:endParaRPr/>
            </a:p>
          </p:txBody>
        </p:sp>
        <p:sp>
          <p:nvSpPr>
            <p:cNvPr id="25" name="object 25"/>
            <p:cNvSpPr/>
            <p:nvPr/>
          </p:nvSpPr>
          <p:spPr>
            <a:xfrm>
              <a:off x="3137419" y="1300404"/>
              <a:ext cx="230504" cy="115570"/>
            </a:xfrm>
            <a:custGeom>
              <a:avLst/>
              <a:gdLst/>
              <a:ahLst/>
              <a:cxnLst/>
              <a:rect l="l" t="t" r="r" b="b"/>
              <a:pathLst>
                <a:path w="230504" h="115569">
                  <a:moveTo>
                    <a:pt x="230474" y="0"/>
                  </a:moveTo>
                  <a:lnTo>
                    <a:pt x="0" y="0"/>
                  </a:lnTo>
                  <a:lnTo>
                    <a:pt x="0" y="115237"/>
                  </a:lnTo>
                  <a:lnTo>
                    <a:pt x="230474" y="115237"/>
                  </a:lnTo>
                  <a:lnTo>
                    <a:pt x="230474" y="0"/>
                  </a:lnTo>
                  <a:close/>
                </a:path>
              </a:pathLst>
            </a:custGeom>
            <a:solidFill>
              <a:srgbClr val="FFFFFF"/>
            </a:solidFill>
          </p:spPr>
          <p:txBody>
            <a:bodyPr wrap="square" lIns="0" tIns="0" rIns="0" bIns="0" rtlCol="0"/>
            <a:lstStyle/>
            <a:p>
              <a:endParaRPr/>
            </a:p>
          </p:txBody>
        </p:sp>
        <p:sp>
          <p:nvSpPr>
            <p:cNvPr id="26" name="object 26"/>
            <p:cNvSpPr/>
            <p:nvPr/>
          </p:nvSpPr>
          <p:spPr>
            <a:xfrm>
              <a:off x="3137419" y="1300404"/>
              <a:ext cx="230504" cy="115570"/>
            </a:xfrm>
            <a:custGeom>
              <a:avLst/>
              <a:gdLst/>
              <a:ahLst/>
              <a:cxnLst/>
              <a:rect l="l" t="t" r="r" b="b"/>
              <a:pathLst>
                <a:path w="230504" h="115569">
                  <a:moveTo>
                    <a:pt x="0" y="0"/>
                  </a:moveTo>
                  <a:lnTo>
                    <a:pt x="230474" y="0"/>
                  </a:lnTo>
                  <a:lnTo>
                    <a:pt x="230474" y="115237"/>
                  </a:lnTo>
                  <a:lnTo>
                    <a:pt x="0" y="115237"/>
                  </a:lnTo>
                  <a:lnTo>
                    <a:pt x="0" y="0"/>
                  </a:lnTo>
                  <a:close/>
                </a:path>
              </a:pathLst>
            </a:custGeom>
            <a:ln w="4508">
              <a:solidFill>
                <a:srgbClr val="231F20"/>
              </a:solidFill>
            </a:ln>
          </p:spPr>
          <p:txBody>
            <a:bodyPr wrap="square" lIns="0" tIns="0" rIns="0" bIns="0" rtlCol="0"/>
            <a:lstStyle/>
            <a:p>
              <a:endParaRPr/>
            </a:p>
          </p:txBody>
        </p:sp>
        <p:sp>
          <p:nvSpPr>
            <p:cNvPr id="27" name="object 27"/>
            <p:cNvSpPr/>
            <p:nvPr/>
          </p:nvSpPr>
          <p:spPr>
            <a:xfrm>
              <a:off x="1639337" y="1473260"/>
              <a:ext cx="230504" cy="115570"/>
            </a:xfrm>
            <a:custGeom>
              <a:avLst/>
              <a:gdLst/>
              <a:ahLst/>
              <a:cxnLst/>
              <a:rect l="l" t="t" r="r" b="b"/>
              <a:pathLst>
                <a:path w="230505" h="115569">
                  <a:moveTo>
                    <a:pt x="230469" y="0"/>
                  </a:moveTo>
                  <a:lnTo>
                    <a:pt x="0" y="0"/>
                  </a:lnTo>
                  <a:lnTo>
                    <a:pt x="0" y="115238"/>
                  </a:lnTo>
                  <a:lnTo>
                    <a:pt x="230469" y="115238"/>
                  </a:lnTo>
                  <a:lnTo>
                    <a:pt x="230469" y="0"/>
                  </a:lnTo>
                  <a:close/>
                </a:path>
              </a:pathLst>
            </a:custGeom>
            <a:solidFill>
              <a:srgbClr val="FFFFFF"/>
            </a:solidFill>
          </p:spPr>
          <p:txBody>
            <a:bodyPr wrap="square" lIns="0" tIns="0" rIns="0" bIns="0" rtlCol="0"/>
            <a:lstStyle/>
            <a:p>
              <a:endParaRPr/>
            </a:p>
          </p:txBody>
        </p:sp>
        <p:sp>
          <p:nvSpPr>
            <p:cNvPr id="28" name="object 28"/>
            <p:cNvSpPr/>
            <p:nvPr/>
          </p:nvSpPr>
          <p:spPr>
            <a:xfrm>
              <a:off x="1639337" y="1473260"/>
              <a:ext cx="230504" cy="115570"/>
            </a:xfrm>
            <a:custGeom>
              <a:avLst/>
              <a:gdLst/>
              <a:ahLst/>
              <a:cxnLst/>
              <a:rect l="l" t="t" r="r" b="b"/>
              <a:pathLst>
                <a:path w="230505" h="115569">
                  <a:moveTo>
                    <a:pt x="0" y="0"/>
                  </a:moveTo>
                  <a:lnTo>
                    <a:pt x="230469" y="0"/>
                  </a:lnTo>
                  <a:lnTo>
                    <a:pt x="230469" y="115238"/>
                  </a:lnTo>
                  <a:lnTo>
                    <a:pt x="0" y="115238"/>
                  </a:lnTo>
                  <a:lnTo>
                    <a:pt x="0" y="0"/>
                  </a:lnTo>
                  <a:close/>
                </a:path>
              </a:pathLst>
            </a:custGeom>
            <a:ln w="4508">
              <a:solidFill>
                <a:srgbClr val="231F20"/>
              </a:solidFill>
            </a:ln>
          </p:spPr>
          <p:txBody>
            <a:bodyPr wrap="square" lIns="0" tIns="0" rIns="0" bIns="0" rtlCol="0"/>
            <a:lstStyle/>
            <a:p>
              <a:endParaRPr/>
            </a:p>
          </p:txBody>
        </p:sp>
        <p:sp>
          <p:nvSpPr>
            <p:cNvPr id="29" name="object 29"/>
            <p:cNvSpPr/>
            <p:nvPr/>
          </p:nvSpPr>
          <p:spPr>
            <a:xfrm>
              <a:off x="3137419" y="1473260"/>
              <a:ext cx="230504" cy="115570"/>
            </a:xfrm>
            <a:custGeom>
              <a:avLst/>
              <a:gdLst/>
              <a:ahLst/>
              <a:cxnLst/>
              <a:rect l="l" t="t" r="r" b="b"/>
              <a:pathLst>
                <a:path w="230504" h="115569">
                  <a:moveTo>
                    <a:pt x="230474" y="0"/>
                  </a:moveTo>
                  <a:lnTo>
                    <a:pt x="0" y="0"/>
                  </a:lnTo>
                  <a:lnTo>
                    <a:pt x="0" y="115238"/>
                  </a:lnTo>
                  <a:lnTo>
                    <a:pt x="230474" y="115238"/>
                  </a:lnTo>
                  <a:lnTo>
                    <a:pt x="230474" y="0"/>
                  </a:lnTo>
                  <a:close/>
                </a:path>
              </a:pathLst>
            </a:custGeom>
            <a:solidFill>
              <a:srgbClr val="FFFFFF"/>
            </a:solidFill>
          </p:spPr>
          <p:txBody>
            <a:bodyPr wrap="square" lIns="0" tIns="0" rIns="0" bIns="0" rtlCol="0"/>
            <a:lstStyle/>
            <a:p>
              <a:endParaRPr/>
            </a:p>
          </p:txBody>
        </p:sp>
        <p:sp>
          <p:nvSpPr>
            <p:cNvPr id="30" name="object 30"/>
            <p:cNvSpPr/>
            <p:nvPr/>
          </p:nvSpPr>
          <p:spPr>
            <a:xfrm>
              <a:off x="3137419" y="1473260"/>
              <a:ext cx="230504" cy="115570"/>
            </a:xfrm>
            <a:custGeom>
              <a:avLst/>
              <a:gdLst/>
              <a:ahLst/>
              <a:cxnLst/>
              <a:rect l="l" t="t" r="r" b="b"/>
              <a:pathLst>
                <a:path w="230504" h="115569">
                  <a:moveTo>
                    <a:pt x="0" y="0"/>
                  </a:moveTo>
                  <a:lnTo>
                    <a:pt x="230474" y="0"/>
                  </a:lnTo>
                  <a:lnTo>
                    <a:pt x="230474" y="115238"/>
                  </a:lnTo>
                  <a:lnTo>
                    <a:pt x="0" y="115238"/>
                  </a:lnTo>
                  <a:lnTo>
                    <a:pt x="0" y="0"/>
                  </a:lnTo>
                  <a:close/>
                </a:path>
              </a:pathLst>
            </a:custGeom>
            <a:ln w="4508">
              <a:solidFill>
                <a:srgbClr val="231F20"/>
              </a:solidFill>
            </a:ln>
          </p:spPr>
          <p:txBody>
            <a:bodyPr wrap="square" lIns="0" tIns="0" rIns="0" bIns="0" rtlCol="0"/>
            <a:lstStyle/>
            <a:p>
              <a:endParaRPr/>
            </a:p>
          </p:txBody>
        </p:sp>
        <p:sp>
          <p:nvSpPr>
            <p:cNvPr id="31" name="object 31"/>
            <p:cNvSpPr/>
            <p:nvPr/>
          </p:nvSpPr>
          <p:spPr>
            <a:xfrm>
              <a:off x="1639337" y="1646118"/>
              <a:ext cx="230504" cy="115570"/>
            </a:xfrm>
            <a:custGeom>
              <a:avLst/>
              <a:gdLst/>
              <a:ahLst/>
              <a:cxnLst/>
              <a:rect l="l" t="t" r="r" b="b"/>
              <a:pathLst>
                <a:path w="230505" h="115569">
                  <a:moveTo>
                    <a:pt x="230469" y="0"/>
                  </a:moveTo>
                  <a:lnTo>
                    <a:pt x="0" y="0"/>
                  </a:lnTo>
                  <a:lnTo>
                    <a:pt x="0" y="115238"/>
                  </a:lnTo>
                  <a:lnTo>
                    <a:pt x="230469" y="115238"/>
                  </a:lnTo>
                  <a:lnTo>
                    <a:pt x="230469" y="0"/>
                  </a:lnTo>
                  <a:close/>
                </a:path>
              </a:pathLst>
            </a:custGeom>
            <a:solidFill>
              <a:srgbClr val="FFFFFF"/>
            </a:solidFill>
          </p:spPr>
          <p:txBody>
            <a:bodyPr wrap="square" lIns="0" tIns="0" rIns="0" bIns="0" rtlCol="0"/>
            <a:lstStyle/>
            <a:p>
              <a:endParaRPr/>
            </a:p>
          </p:txBody>
        </p:sp>
        <p:sp>
          <p:nvSpPr>
            <p:cNvPr id="32" name="object 32"/>
            <p:cNvSpPr/>
            <p:nvPr/>
          </p:nvSpPr>
          <p:spPr>
            <a:xfrm>
              <a:off x="1639337" y="1646118"/>
              <a:ext cx="230504" cy="115570"/>
            </a:xfrm>
            <a:custGeom>
              <a:avLst/>
              <a:gdLst/>
              <a:ahLst/>
              <a:cxnLst/>
              <a:rect l="l" t="t" r="r" b="b"/>
              <a:pathLst>
                <a:path w="230505" h="115569">
                  <a:moveTo>
                    <a:pt x="0" y="0"/>
                  </a:moveTo>
                  <a:lnTo>
                    <a:pt x="230469" y="0"/>
                  </a:lnTo>
                  <a:lnTo>
                    <a:pt x="230469" y="115238"/>
                  </a:lnTo>
                  <a:lnTo>
                    <a:pt x="0" y="115238"/>
                  </a:lnTo>
                  <a:lnTo>
                    <a:pt x="0" y="0"/>
                  </a:lnTo>
                  <a:close/>
                </a:path>
              </a:pathLst>
            </a:custGeom>
            <a:ln w="4508">
              <a:solidFill>
                <a:srgbClr val="231F20"/>
              </a:solidFill>
            </a:ln>
          </p:spPr>
          <p:txBody>
            <a:bodyPr wrap="square" lIns="0" tIns="0" rIns="0" bIns="0" rtlCol="0"/>
            <a:lstStyle/>
            <a:p>
              <a:endParaRPr/>
            </a:p>
          </p:txBody>
        </p:sp>
        <p:sp>
          <p:nvSpPr>
            <p:cNvPr id="33" name="object 33"/>
            <p:cNvSpPr/>
            <p:nvPr/>
          </p:nvSpPr>
          <p:spPr>
            <a:xfrm>
              <a:off x="3137419" y="1646118"/>
              <a:ext cx="230504" cy="115570"/>
            </a:xfrm>
            <a:custGeom>
              <a:avLst/>
              <a:gdLst/>
              <a:ahLst/>
              <a:cxnLst/>
              <a:rect l="l" t="t" r="r" b="b"/>
              <a:pathLst>
                <a:path w="230504" h="115569">
                  <a:moveTo>
                    <a:pt x="230474" y="0"/>
                  </a:moveTo>
                  <a:lnTo>
                    <a:pt x="0" y="0"/>
                  </a:lnTo>
                  <a:lnTo>
                    <a:pt x="0" y="115238"/>
                  </a:lnTo>
                  <a:lnTo>
                    <a:pt x="230474" y="115238"/>
                  </a:lnTo>
                  <a:lnTo>
                    <a:pt x="230474" y="0"/>
                  </a:lnTo>
                  <a:close/>
                </a:path>
              </a:pathLst>
            </a:custGeom>
            <a:solidFill>
              <a:srgbClr val="FFFFFF"/>
            </a:solidFill>
          </p:spPr>
          <p:txBody>
            <a:bodyPr wrap="square" lIns="0" tIns="0" rIns="0" bIns="0" rtlCol="0"/>
            <a:lstStyle/>
            <a:p>
              <a:endParaRPr/>
            </a:p>
          </p:txBody>
        </p:sp>
        <p:sp>
          <p:nvSpPr>
            <p:cNvPr id="34" name="object 34"/>
            <p:cNvSpPr/>
            <p:nvPr/>
          </p:nvSpPr>
          <p:spPr>
            <a:xfrm>
              <a:off x="3137419" y="1646118"/>
              <a:ext cx="230504" cy="115570"/>
            </a:xfrm>
            <a:custGeom>
              <a:avLst/>
              <a:gdLst/>
              <a:ahLst/>
              <a:cxnLst/>
              <a:rect l="l" t="t" r="r" b="b"/>
              <a:pathLst>
                <a:path w="230504" h="115569">
                  <a:moveTo>
                    <a:pt x="0" y="0"/>
                  </a:moveTo>
                  <a:lnTo>
                    <a:pt x="230474" y="0"/>
                  </a:lnTo>
                  <a:lnTo>
                    <a:pt x="230474" y="115238"/>
                  </a:lnTo>
                  <a:lnTo>
                    <a:pt x="0" y="115238"/>
                  </a:lnTo>
                  <a:lnTo>
                    <a:pt x="0" y="0"/>
                  </a:lnTo>
                  <a:close/>
                </a:path>
              </a:pathLst>
            </a:custGeom>
            <a:ln w="4508">
              <a:solidFill>
                <a:srgbClr val="231F20"/>
              </a:solidFill>
            </a:ln>
          </p:spPr>
          <p:txBody>
            <a:bodyPr wrap="square" lIns="0" tIns="0" rIns="0" bIns="0" rtlCol="0"/>
            <a:lstStyle/>
            <a:p>
              <a:endParaRPr/>
            </a:p>
          </p:txBody>
        </p:sp>
        <p:sp>
          <p:nvSpPr>
            <p:cNvPr id="35" name="object 35"/>
            <p:cNvSpPr/>
            <p:nvPr/>
          </p:nvSpPr>
          <p:spPr>
            <a:xfrm>
              <a:off x="1639337" y="1818973"/>
              <a:ext cx="230504" cy="115570"/>
            </a:xfrm>
            <a:custGeom>
              <a:avLst/>
              <a:gdLst/>
              <a:ahLst/>
              <a:cxnLst/>
              <a:rect l="l" t="t" r="r" b="b"/>
              <a:pathLst>
                <a:path w="230505" h="115569">
                  <a:moveTo>
                    <a:pt x="230469" y="0"/>
                  </a:moveTo>
                  <a:lnTo>
                    <a:pt x="0" y="0"/>
                  </a:lnTo>
                  <a:lnTo>
                    <a:pt x="0" y="115234"/>
                  </a:lnTo>
                  <a:lnTo>
                    <a:pt x="230469" y="115234"/>
                  </a:lnTo>
                  <a:lnTo>
                    <a:pt x="230469" y="0"/>
                  </a:lnTo>
                  <a:close/>
                </a:path>
              </a:pathLst>
            </a:custGeom>
            <a:solidFill>
              <a:srgbClr val="FFFFFF"/>
            </a:solidFill>
          </p:spPr>
          <p:txBody>
            <a:bodyPr wrap="square" lIns="0" tIns="0" rIns="0" bIns="0" rtlCol="0"/>
            <a:lstStyle/>
            <a:p>
              <a:endParaRPr/>
            </a:p>
          </p:txBody>
        </p:sp>
        <p:sp>
          <p:nvSpPr>
            <p:cNvPr id="36" name="object 36"/>
            <p:cNvSpPr/>
            <p:nvPr/>
          </p:nvSpPr>
          <p:spPr>
            <a:xfrm>
              <a:off x="1639337" y="1818973"/>
              <a:ext cx="230504" cy="115570"/>
            </a:xfrm>
            <a:custGeom>
              <a:avLst/>
              <a:gdLst/>
              <a:ahLst/>
              <a:cxnLst/>
              <a:rect l="l" t="t" r="r" b="b"/>
              <a:pathLst>
                <a:path w="230505" h="115569">
                  <a:moveTo>
                    <a:pt x="0" y="0"/>
                  </a:moveTo>
                  <a:lnTo>
                    <a:pt x="230469" y="0"/>
                  </a:lnTo>
                  <a:lnTo>
                    <a:pt x="230469" y="115234"/>
                  </a:lnTo>
                  <a:lnTo>
                    <a:pt x="0" y="115234"/>
                  </a:lnTo>
                  <a:lnTo>
                    <a:pt x="0" y="0"/>
                  </a:lnTo>
                  <a:close/>
                </a:path>
              </a:pathLst>
            </a:custGeom>
            <a:ln w="4508">
              <a:solidFill>
                <a:srgbClr val="231F20"/>
              </a:solidFill>
            </a:ln>
          </p:spPr>
          <p:txBody>
            <a:bodyPr wrap="square" lIns="0" tIns="0" rIns="0" bIns="0" rtlCol="0"/>
            <a:lstStyle/>
            <a:p>
              <a:endParaRPr/>
            </a:p>
          </p:txBody>
        </p:sp>
        <p:sp>
          <p:nvSpPr>
            <p:cNvPr id="37" name="object 37"/>
            <p:cNvSpPr/>
            <p:nvPr/>
          </p:nvSpPr>
          <p:spPr>
            <a:xfrm>
              <a:off x="3137419" y="1818973"/>
              <a:ext cx="230504" cy="115570"/>
            </a:xfrm>
            <a:custGeom>
              <a:avLst/>
              <a:gdLst/>
              <a:ahLst/>
              <a:cxnLst/>
              <a:rect l="l" t="t" r="r" b="b"/>
              <a:pathLst>
                <a:path w="230504" h="115569">
                  <a:moveTo>
                    <a:pt x="230474" y="0"/>
                  </a:moveTo>
                  <a:lnTo>
                    <a:pt x="0" y="0"/>
                  </a:lnTo>
                  <a:lnTo>
                    <a:pt x="0" y="115234"/>
                  </a:lnTo>
                  <a:lnTo>
                    <a:pt x="230474" y="115234"/>
                  </a:lnTo>
                  <a:lnTo>
                    <a:pt x="230474" y="0"/>
                  </a:lnTo>
                  <a:close/>
                </a:path>
              </a:pathLst>
            </a:custGeom>
            <a:solidFill>
              <a:srgbClr val="FFFFFF"/>
            </a:solidFill>
          </p:spPr>
          <p:txBody>
            <a:bodyPr wrap="square" lIns="0" tIns="0" rIns="0" bIns="0" rtlCol="0"/>
            <a:lstStyle/>
            <a:p>
              <a:endParaRPr/>
            </a:p>
          </p:txBody>
        </p:sp>
        <p:sp>
          <p:nvSpPr>
            <p:cNvPr id="38" name="object 38"/>
            <p:cNvSpPr/>
            <p:nvPr/>
          </p:nvSpPr>
          <p:spPr>
            <a:xfrm>
              <a:off x="3137419" y="1818973"/>
              <a:ext cx="230504" cy="115570"/>
            </a:xfrm>
            <a:custGeom>
              <a:avLst/>
              <a:gdLst/>
              <a:ahLst/>
              <a:cxnLst/>
              <a:rect l="l" t="t" r="r" b="b"/>
              <a:pathLst>
                <a:path w="230504" h="115569">
                  <a:moveTo>
                    <a:pt x="0" y="0"/>
                  </a:moveTo>
                  <a:lnTo>
                    <a:pt x="230474" y="0"/>
                  </a:lnTo>
                  <a:lnTo>
                    <a:pt x="230474" y="115234"/>
                  </a:lnTo>
                  <a:lnTo>
                    <a:pt x="0" y="115234"/>
                  </a:lnTo>
                  <a:lnTo>
                    <a:pt x="0" y="0"/>
                  </a:lnTo>
                  <a:close/>
                </a:path>
              </a:pathLst>
            </a:custGeom>
            <a:ln w="4508">
              <a:solidFill>
                <a:srgbClr val="231F20"/>
              </a:solidFill>
            </a:ln>
          </p:spPr>
          <p:txBody>
            <a:bodyPr wrap="square" lIns="0" tIns="0" rIns="0" bIns="0" rtlCol="0"/>
            <a:lstStyle/>
            <a:p>
              <a:endParaRPr/>
            </a:p>
          </p:txBody>
        </p:sp>
        <p:sp>
          <p:nvSpPr>
            <p:cNvPr id="39" name="object 39"/>
            <p:cNvSpPr/>
            <p:nvPr/>
          </p:nvSpPr>
          <p:spPr>
            <a:xfrm>
              <a:off x="1639337" y="1991832"/>
              <a:ext cx="230504" cy="115570"/>
            </a:xfrm>
            <a:custGeom>
              <a:avLst/>
              <a:gdLst/>
              <a:ahLst/>
              <a:cxnLst/>
              <a:rect l="l" t="t" r="r" b="b"/>
              <a:pathLst>
                <a:path w="230505" h="115569">
                  <a:moveTo>
                    <a:pt x="230469" y="0"/>
                  </a:moveTo>
                  <a:lnTo>
                    <a:pt x="0" y="0"/>
                  </a:lnTo>
                  <a:lnTo>
                    <a:pt x="0" y="115234"/>
                  </a:lnTo>
                  <a:lnTo>
                    <a:pt x="230469" y="115234"/>
                  </a:lnTo>
                  <a:lnTo>
                    <a:pt x="230469" y="0"/>
                  </a:lnTo>
                  <a:close/>
                </a:path>
              </a:pathLst>
            </a:custGeom>
            <a:solidFill>
              <a:srgbClr val="FFFFFF"/>
            </a:solidFill>
          </p:spPr>
          <p:txBody>
            <a:bodyPr wrap="square" lIns="0" tIns="0" rIns="0" bIns="0" rtlCol="0"/>
            <a:lstStyle/>
            <a:p>
              <a:endParaRPr/>
            </a:p>
          </p:txBody>
        </p:sp>
        <p:sp>
          <p:nvSpPr>
            <p:cNvPr id="40" name="object 40"/>
            <p:cNvSpPr/>
            <p:nvPr/>
          </p:nvSpPr>
          <p:spPr>
            <a:xfrm>
              <a:off x="1639337" y="1991832"/>
              <a:ext cx="230504" cy="115570"/>
            </a:xfrm>
            <a:custGeom>
              <a:avLst/>
              <a:gdLst/>
              <a:ahLst/>
              <a:cxnLst/>
              <a:rect l="l" t="t" r="r" b="b"/>
              <a:pathLst>
                <a:path w="230505" h="115569">
                  <a:moveTo>
                    <a:pt x="0" y="0"/>
                  </a:moveTo>
                  <a:lnTo>
                    <a:pt x="230469" y="0"/>
                  </a:lnTo>
                  <a:lnTo>
                    <a:pt x="230469" y="115234"/>
                  </a:lnTo>
                  <a:lnTo>
                    <a:pt x="0" y="115234"/>
                  </a:lnTo>
                  <a:lnTo>
                    <a:pt x="0" y="0"/>
                  </a:lnTo>
                  <a:close/>
                </a:path>
              </a:pathLst>
            </a:custGeom>
            <a:ln w="4508">
              <a:solidFill>
                <a:srgbClr val="231F20"/>
              </a:solidFill>
            </a:ln>
          </p:spPr>
          <p:txBody>
            <a:bodyPr wrap="square" lIns="0" tIns="0" rIns="0" bIns="0" rtlCol="0"/>
            <a:lstStyle/>
            <a:p>
              <a:endParaRPr/>
            </a:p>
          </p:txBody>
        </p:sp>
        <p:sp>
          <p:nvSpPr>
            <p:cNvPr id="41" name="object 41"/>
            <p:cNvSpPr/>
            <p:nvPr/>
          </p:nvSpPr>
          <p:spPr>
            <a:xfrm>
              <a:off x="3137419" y="1991832"/>
              <a:ext cx="230504" cy="115570"/>
            </a:xfrm>
            <a:custGeom>
              <a:avLst/>
              <a:gdLst/>
              <a:ahLst/>
              <a:cxnLst/>
              <a:rect l="l" t="t" r="r" b="b"/>
              <a:pathLst>
                <a:path w="230504" h="115569">
                  <a:moveTo>
                    <a:pt x="230474" y="0"/>
                  </a:moveTo>
                  <a:lnTo>
                    <a:pt x="0" y="0"/>
                  </a:lnTo>
                  <a:lnTo>
                    <a:pt x="0" y="115234"/>
                  </a:lnTo>
                  <a:lnTo>
                    <a:pt x="230474" y="115234"/>
                  </a:lnTo>
                  <a:lnTo>
                    <a:pt x="230474" y="0"/>
                  </a:lnTo>
                  <a:close/>
                </a:path>
              </a:pathLst>
            </a:custGeom>
            <a:solidFill>
              <a:srgbClr val="FFFFFF"/>
            </a:solidFill>
          </p:spPr>
          <p:txBody>
            <a:bodyPr wrap="square" lIns="0" tIns="0" rIns="0" bIns="0" rtlCol="0"/>
            <a:lstStyle/>
            <a:p>
              <a:endParaRPr/>
            </a:p>
          </p:txBody>
        </p:sp>
        <p:sp>
          <p:nvSpPr>
            <p:cNvPr id="42" name="object 42"/>
            <p:cNvSpPr/>
            <p:nvPr/>
          </p:nvSpPr>
          <p:spPr>
            <a:xfrm>
              <a:off x="3137419" y="1991832"/>
              <a:ext cx="230504" cy="115570"/>
            </a:xfrm>
            <a:custGeom>
              <a:avLst/>
              <a:gdLst/>
              <a:ahLst/>
              <a:cxnLst/>
              <a:rect l="l" t="t" r="r" b="b"/>
              <a:pathLst>
                <a:path w="230504" h="115569">
                  <a:moveTo>
                    <a:pt x="0" y="0"/>
                  </a:moveTo>
                  <a:lnTo>
                    <a:pt x="230474" y="0"/>
                  </a:lnTo>
                  <a:lnTo>
                    <a:pt x="230474" y="115234"/>
                  </a:lnTo>
                  <a:lnTo>
                    <a:pt x="0" y="115234"/>
                  </a:lnTo>
                  <a:lnTo>
                    <a:pt x="0" y="0"/>
                  </a:lnTo>
                  <a:close/>
                </a:path>
              </a:pathLst>
            </a:custGeom>
            <a:ln w="4508">
              <a:solidFill>
                <a:srgbClr val="231F20"/>
              </a:solidFill>
            </a:ln>
          </p:spPr>
          <p:txBody>
            <a:bodyPr wrap="square" lIns="0" tIns="0" rIns="0" bIns="0" rtlCol="0"/>
            <a:lstStyle/>
            <a:p>
              <a:endParaRPr/>
            </a:p>
          </p:txBody>
        </p:sp>
        <p:sp>
          <p:nvSpPr>
            <p:cNvPr id="43" name="object 43"/>
            <p:cNvSpPr/>
            <p:nvPr/>
          </p:nvSpPr>
          <p:spPr>
            <a:xfrm>
              <a:off x="1901784" y="987541"/>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44" name="object 44"/>
            <p:cNvSpPr/>
            <p:nvPr/>
          </p:nvSpPr>
          <p:spPr>
            <a:xfrm>
              <a:off x="1869795" y="960285"/>
              <a:ext cx="1268095" cy="54610"/>
            </a:xfrm>
            <a:custGeom>
              <a:avLst/>
              <a:gdLst/>
              <a:ahLst/>
              <a:cxnLst/>
              <a:rect l="l" t="t" r="r" b="b"/>
              <a:pathLst>
                <a:path w="1268095" h="54609">
                  <a:moveTo>
                    <a:pt x="63627" y="0"/>
                  </a:moveTo>
                  <a:lnTo>
                    <a:pt x="0" y="27266"/>
                  </a:lnTo>
                  <a:lnTo>
                    <a:pt x="63627" y="54533"/>
                  </a:lnTo>
                  <a:lnTo>
                    <a:pt x="58521" y="40894"/>
                  </a:lnTo>
                  <a:lnTo>
                    <a:pt x="56819" y="27266"/>
                  </a:lnTo>
                  <a:lnTo>
                    <a:pt x="58521" y="13627"/>
                  </a:lnTo>
                  <a:lnTo>
                    <a:pt x="63627" y="0"/>
                  </a:lnTo>
                  <a:close/>
                </a:path>
                <a:path w="1268095" h="54609">
                  <a:moveTo>
                    <a:pt x="1267612" y="27266"/>
                  </a:moveTo>
                  <a:lnTo>
                    <a:pt x="1203985" y="0"/>
                  </a:lnTo>
                  <a:lnTo>
                    <a:pt x="1209090" y="13627"/>
                  </a:lnTo>
                  <a:lnTo>
                    <a:pt x="1210805" y="27266"/>
                  </a:lnTo>
                  <a:lnTo>
                    <a:pt x="1209090" y="40894"/>
                  </a:lnTo>
                  <a:lnTo>
                    <a:pt x="1203985" y="54533"/>
                  </a:lnTo>
                  <a:lnTo>
                    <a:pt x="1267612" y="27266"/>
                  </a:lnTo>
                  <a:close/>
                </a:path>
              </a:pathLst>
            </a:custGeom>
            <a:solidFill>
              <a:srgbClr val="231F20"/>
            </a:solidFill>
          </p:spPr>
          <p:txBody>
            <a:bodyPr wrap="square" lIns="0" tIns="0" rIns="0" bIns="0" rtlCol="0"/>
            <a:lstStyle/>
            <a:p>
              <a:endParaRPr/>
            </a:p>
          </p:txBody>
        </p:sp>
        <p:sp>
          <p:nvSpPr>
            <p:cNvPr id="45" name="object 45"/>
            <p:cNvSpPr/>
            <p:nvPr/>
          </p:nvSpPr>
          <p:spPr>
            <a:xfrm>
              <a:off x="1901784" y="1166655"/>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46" name="object 46"/>
            <p:cNvSpPr/>
            <p:nvPr/>
          </p:nvSpPr>
          <p:spPr>
            <a:xfrm>
              <a:off x="1869795" y="1139393"/>
              <a:ext cx="1268095" cy="54610"/>
            </a:xfrm>
            <a:custGeom>
              <a:avLst/>
              <a:gdLst/>
              <a:ahLst/>
              <a:cxnLst/>
              <a:rect l="l" t="t" r="r" b="b"/>
              <a:pathLst>
                <a:path w="1268095" h="54609">
                  <a:moveTo>
                    <a:pt x="63627" y="0"/>
                  </a:moveTo>
                  <a:lnTo>
                    <a:pt x="0" y="27266"/>
                  </a:lnTo>
                  <a:lnTo>
                    <a:pt x="63627" y="54533"/>
                  </a:lnTo>
                  <a:lnTo>
                    <a:pt x="58521" y="40906"/>
                  </a:lnTo>
                  <a:lnTo>
                    <a:pt x="56819" y="27266"/>
                  </a:lnTo>
                  <a:lnTo>
                    <a:pt x="58521" y="13639"/>
                  </a:lnTo>
                  <a:lnTo>
                    <a:pt x="63627" y="0"/>
                  </a:lnTo>
                  <a:close/>
                </a:path>
                <a:path w="1268095" h="54609">
                  <a:moveTo>
                    <a:pt x="1267612" y="27266"/>
                  </a:moveTo>
                  <a:lnTo>
                    <a:pt x="1203985" y="0"/>
                  </a:lnTo>
                  <a:lnTo>
                    <a:pt x="1209090" y="13639"/>
                  </a:lnTo>
                  <a:lnTo>
                    <a:pt x="1210805" y="27266"/>
                  </a:lnTo>
                  <a:lnTo>
                    <a:pt x="1209090" y="40906"/>
                  </a:lnTo>
                  <a:lnTo>
                    <a:pt x="1203985" y="54533"/>
                  </a:lnTo>
                  <a:lnTo>
                    <a:pt x="1267612" y="27266"/>
                  </a:lnTo>
                  <a:close/>
                </a:path>
              </a:pathLst>
            </a:custGeom>
            <a:solidFill>
              <a:srgbClr val="231F20"/>
            </a:solidFill>
          </p:spPr>
          <p:txBody>
            <a:bodyPr wrap="square" lIns="0" tIns="0" rIns="0" bIns="0" rtlCol="0"/>
            <a:lstStyle/>
            <a:p>
              <a:endParaRPr/>
            </a:p>
          </p:txBody>
        </p:sp>
        <p:sp>
          <p:nvSpPr>
            <p:cNvPr id="47" name="object 47"/>
            <p:cNvSpPr/>
            <p:nvPr/>
          </p:nvSpPr>
          <p:spPr>
            <a:xfrm>
              <a:off x="1901784" y="1358023"/>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48" name="object 48"/>
            <p:cNvSpPr/>
            <p:nvPr/>
          </p:nvSpPr>
          <p:spPr>
            <a:xfrm>
              <a:off x="1869795" y="1330756"/>
              <a:ext cx="1268095" cy="54610"/>
            </a:xfrm>
            <a:custGeom>
              <a:avLst/>
              <a:gdLst/>
              <a:ahLst/>
              <a:cxnLst/>
              <a:rect l="l" t="t" r="r" b="b"/>
              <a:pathLst>
                <a:path w="1268095" h="54609">
                  <a:moveTo>
                    <a:pt x="63627" y="0"/>
                  </a:moveTo>
                  <a:lnTo>
                    <a:pt x="0" y="27266"/>
                  </a:lnTo>
                  <a:lnTo>
                    <a:pt x="63627" y="54533"/>
                  </a:lnTo>
                  <a:lnTo>
                    <a:pt x="58521" y="40894"/>
                  </a:lnTo>
                  <a:lnTo>
                    <a:pt x="56819" y="27266"/>
                  </a:lnTo>
                  <a:lnTo>
                    <a:pt x="58521" y="13627"/>
                  </a:lnTo>
                  <a:lnTo>
                    <a:pt x="63627" y="0"/>
                  </a:lnTo>
                  <a:close/>
                </a:path>
                <a:path w="1268095" h="54609">
                  <a:moveTo>
                    <a:pt x="1267612" y="27266"/>
                  </a:moveTo>
                  <a:lnTo>
                    <a:pt x="1203985" y="0"/>
                  </a:lnTo>
                  <a:lnTo>
                    <a:pt x="1209090" y="13627"/>
                  </a:lnTo>
                  <a:lnTo>
                    <a:pt x="1210805" y="27266"/>
                  </a:lnTo>
                  <a:lnTo>
                    <a:pt x="1209090" y="40894"/>
                  </a:lnTo>
                  <a:lnTo>
                    <a:pt x="1203985" y="54533"/>
                  </a:lnTo>
                  <a:lnTo>
                    <a:pt x="1267612" y="27266"/>
                  </a:lnTo>
                  <a:close/>
                </a:path>
              </a:pathLst>
            </a:custGeom>
            <a:solidFill>
              <a:srgbClr val="231F20"/>
            </a:solidFill>
          </p:spPr>
          <p:txBody>
            <a:bodyPr wrap="square" lIns="0" tIns="0" rIns="0" bIns="0" rtlCol="0"/>
            <a:lstStyle/>
            <a:p>
              <a:endParaRPr/>
            </a:p>
          </p:txBody>
        </p:sp>
        <p:sp>
          <p:nvSpPr>
            <p:cNvPr id="49" name="object 49"/>
            <p:cNvSpPr/>
            <p:nvPr/>
          </p:nvSpPr>
          <p:spPr>
            <a:xfrm>
              <a:off x="1901784" y="1530870"/>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50" name="object 50"/>
            <p:cNvSpPr/>
            <p:nvPr/>
          </p:nvSpPr>
          <p:spPr>
            <a:xfrm>
              <a:off x="1869795" y="1503603"/>
              <a:ext cx="1268095" cy="54610"/>
            </a:xfrm>
            <a:custGeom>
              <a:avLst/>
              <a:gdLst/>
              <a:ahLst/>
              <a:cxnLst/>
              <a:rect l="l" t="t" r="r" b="b"/>
              <a:pathLst>
                <a:path w="1268095" h="54609">
                  <a:moveTo>
                    <a:pt x="63627" y="0"/>
                  </a:moveTo>
                  <a:lnTo>
                    <a:pt x="0" y="27279"/>
                  </a:lnTo>
                  <a:lnTo>
                    <a:pt x="63627" y="54546"/>
                  </a:lnTo>
                  <a:lnTo>
                    <a:pt x="58521" y="40906"/>
                  </a:lnTo>
                  <a:lnTo>
                    <a:pt x="56819" y="27279"/>
                  </a:lnTo>
                  <a:lnTo>
                    <a:pt x="58521" y="13639"/>
                  </a:lnTo>
                  <a:lnTo>
                    <a:pt x="63627" y="0"/>
                  </a:lnTo>
                  <a:close/>
                </a:path>
                <a:path w="1268095" h="54609">
                  <a:moveTo>
                    <a:pt x="1267612" y="27279"/>
                  </a:moveTo>
                  <a:lnTo>
                    <a:pt x="1203985" y="0"/>
                  </a:lnTo>
                  <a:lnTo>
                    <a:pt x="1209090" y="13639"/>
                  </a:lnTo>
                  <a:lnTo>
                    <a:pt x="1210805" y="27279"/>
                  </a:lnTo>
                  <a:lnTo>
                    <a:pt x="1209090" y="40906"/>
                  </a:lnTo>
                  <a:lnTo>
                    <a:pt x="1203985" y="54546"/>
                  </a:lnTo>
                  <a:lnTo>
                    <a:pt x="1267612" y="27279"/>
                  </a:lnTo>
                  <a:close/>
                </a:path>
              </a:pathLst>
            </a:custGeom>
            <a:solidFill>
              <a:srgbClr val="231F20"/>
            </a:solidFill>
          </p:spPr>
          <p:txBody>
            <a:bodyPr wrap="square" lIns="0" tIns="0" rIns="0" bIns="0" rtlCol="0"/>
            <a:lstStyle/>
            <a:p>
              <a:endParaRPr/>
            </a:p>
          </p:txBody>
        </p:sp>
        <p:sp>
          <p:nvSpPr>
            <p:cNvPr id="51" name="object 51"/>
            <p:cNvSpPr/>
            <p:nvPr/>
          </p:nvSpPr>
          <p:spPr>
            <a:xfrm>
              <a:off x="1901784" y="1703725"/>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52" name="object 52"/>
            <p:cNvSpPr/>
            <p:nvPr/>
          </p:nvSpPr>
          <p:spPr>
            <a:xfrm>
              <a:off x="1869795" y="1676463"/>
              <a:ext cx="1268095" cy="54610"/>
            </a:xfrm>
            <a:custGeom>
              <a:avLst/>
              <a:gdLst/>
              <a:ahLst/>
              <a:cxnLst/>
              <a:rect l="l" t="t" r="r" b="b"/>
              <a:pathLst>
                <a:path w="1268095" h="54610">
                  <a:moveTo>
                    <a:pt x="63627" y="0"/>
                  </a:moveTo>
                  <a:lnTo>
                    <a:pt x="0" y="27266"/>
                  </a:lnTo>
                  <a:lnTo>
                    <a:pt x="63627" y="54533"/>
                  </a:lnTo>
                  <a:lnTo>
                    <a:pt x="58521" y="40894"/>
                  </a:lnTo>
                  <a:lnTo>
                    <a:pt x="56819" y="27266"/>
                  </a:lnTo>
                  <a:lnTo>
                    <a:pt x="58521" y="13627"/>
                  </a:lnTo>
                  <a:lnTo>
                    <a:pt x="63627" y="0"/>
                  </a:lnTo>
                  <a:close/>
                </a:path>
                <a:path w="1268095" h="54610">
                  <a:moveTo>
                    <a:pt x="1267612" y="27266"/>
                  </a:moveTo>
                  <a:lnTo>
                    <a:pt x="1203985" y="0"/>
                  </a:lnTo>
                  <a:lnTo>
                    <a:pt x="1209090" y="13627"/>
                  </a:lnTo>
                  <a:lnTo>
                    <a:pt x="1210805" y="27266"/>
                  </a:lnTo>
                  <a:lnTo>
                    <a:pt x="1209090" y="40894"/>
                  </a:lnTo>
                  <a:lnTo>
                    <a:pt x="1203985" y="54533"/>
                  </a:lnTo>
                  <a:lnTo>
                    <a:pt x="1267612" y="27266"/>
                  </a:lnTo>
                  <a:close/>
                </a:path>
              </a:pathLst>
            </a:custGeom>
            <a:solidFill>
              <a:srgbClr val="231F20"/>
            </a:solidFill>
          </p:spPr>
          <p:txBody>
            <a:bodyPr wrap="square" lIns="0" tIns="0" rIns="0" bIns="0" rtlCol="0"/>
            <a:lstStyle/>
            <a:p>
              <a:endParaRPr/>
            </a:p>
          </p:txBody>
        </p:sp>
        <p:sp>
          <p:nvSpPr>
            <p:cNvPr id="53" name="object 53"/>
            <p:cNvSpPr/>
            <p:nvPr/>
          </p:nvSpPr>
          <p:spPr>
            <a:xfrm>
              <a:off x="1901784" y="1876573"/>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54" name="object 54"/>
            <p:cNvSpPr/>
            <p:nvPr/>
          </p:nvSpPr>
          <p:spPr>
            <a:xfrm>
              <a:off x="1869795" y="1849310"/>
              <a:ext cx="1268095" cy="54610"/>
            </a:xfrm>
            <a:custGeom>
              <a:avLst/>
              <a:gdLst/>
              <a:ahLst/>
              <a:cxnLst/>
              <a:rect l="l" t="t" r="r" b="b"/>
              <a:pathLst>
                <a:path w="1268095" h="54610">
                  <a:moveTo>
                    <a:pt x="63627" y="0"/>
                  </a:moveTo>
                  <a:lnTo>
                    <a:pt x="0" y="27266"/>
                  </a:lnTo>
                  <a:lnTo>
                    <a:pt x="63627" y="54533"/>
                  </a:lnTo>
                  <a:lnTo>
                    <a:pt x="58521" y="40906"/>
                  </a:lnTo>
                  <a:lnTo>
                    <a:pt x="56819" y="27266"/>
                  </a:lnTo>
                  <a:lnTo>
                    <a:pt x="58521" y="13639"/>
                  </a:lnTo>
                  <a:lnTo>
                    <a:pt x="63627" y="0"/>
                  </a:lnTo>
                  <a:close/>
                </a:path>
                <a:path w="1268095" h="54610">
                  <a:moveTo>
                    <a:pt x="1267612" y="27266"/>
                  </a:moveTo>
                  <a:lnTo>
                    <a:pt x="1203985" y="0"/>
                  </a:lnTo>
                  <a:lnTo>
                    <a:pt x="1209090" y="13639"/>
                  </a:lnTo>
                  <a:lnTo>
                    <a:pt x="1210805" y="27266"/>
                  </a:lnTo>
                  <a:lnTo>
                    <a:pt x="1209090" y="40906"/>
                  </a:lnTo>
                  <a:lnTo>
                    <a:pt x="1203985" y="54533"/>
                  </a:lnTo>
                  <a:lnTo>
                    <a:pt x="1267612" y="27266"/>
                  </a:lnTo>
                  <a:close/>
                </a:path>
              </a:pathLst>
            </a:custGeom>
            <a:solidFill>
              <a:srgbClr val="231F20"/>
            </a:solidFill>
          </p:spPr>
          <p:txBody>
            <a:bodyPr wrap="square" lIns="0" tIns="0" rIns="0" bIns="0" rtlCol="0"/>
            <a:lstStyle/>
            <a:p>
              <a:endParaRPr/>
            </a:p>
          </p:txBody>
        </p:sp>
        <p:sp>
          <p:nvSpPr>
            <p:cNvPr id="55" name="object 55"/>
            <p:cNvSpPr/>
            <p:nvPr/>
          </p:nvSpPr>
          <p:spPr>
            <a:xfrm>
              <a:off x="1901784" y="2049425"/>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56" name="object 56"/>
            <p:cNvSpPr/>
            <p:nvPr/>
          </p:nvSpPr>
          <p:spPr>
            <a:xfrm>
              <a:off x="1869795" y="2022170"/>
              <a:ext cx="1268095" cy="54610"/>
            </a:xfrm>
            <a:custGeom>
              <a:avLst/>
              <a:gdLst/>
              <a:ahLst/>
              <a:cxnLst/>
              <a:rect l="l" t="t" r="r" b="b"/>
              <a:pathLst>
                <a:path w="1268095" h="54610">
                  <a:moveTo>
                    <a:pt x="63627" y="0"/>
                  </a:moveTo>
                  <a:lnTo>
                    <a:pt x="0" y="27266"/>
                  </a:lnTo>
                  <a:lnTo>
                    <a:pt x="63627" y="54533"/>
                  </a:lnTo>
                  <a:lnTo>
                    <a:pt x="58521" y="40894"/>
                  </a:lnTo>
                  <a:lnTo>
                    <a:pt x="56819" y="27266"/>
                  </a:lnTo>
                  <a:lnTo>
                    <a:pt x="58521" y="13627"/>
                  </a:lnTo>
                  <a:lnTo>
                    <a:pt x="63627" y="0"/>
                  </a:lnTo>
                  <a:close/>
                </a:path>
                <a:path w="1268095" h="54610">
                  <a:moveTo>
                    <a:pt x="1267612" y="27266"/>
                  </a:moveTo>
                  <a:lnTo>
                    <a:pt x="1203985" y="0"/>
                  </a:lnTo>
                  <a:lnTo>
                    <a:pt x="1209090" y="13627"/>
                  </a:lnTo>
                  <a:lnTo>
                    <a:pt x="1210805" y="27266"/>
                  </a:lnTo>
                  <a:lnTo>
                    <a:pt x="1209090" y="40894"/>
                  </a:lnTo>
                  <a:lnTo>
                    <a:pt x="1203985" y="54533"/>
                  </a:lnTo>
                  <a:lnTo>
                    <a:pt x="1267612" y="27266"/>
                  </a:lnTo>
                  <a:close/>
                </a:path>
              </a:pathLst>
            </a:custGeom>
            <a:solidFill>
              <a:srgbClr val="231F20"/>
            </a:solidFill>
          </p:spPr>
          <p:txBody>
            <a:bodyPr wrap="square" lIns="0" tIns="0" rIns="0" bIns="0" rtlCol="0"/>
            <a:lstStyle/>
            <a:p>
              <a:endParaRPr/>
            </a:p>
          </p:txBody>
        </p:sp>
      </p:grpSp>
      <p:sp>
        <p:nvSpPr>
          <p:cNvPr id="57" name="object 57"/>
          <p:cNvSpPr txBox="1"/>
          <p:nvPr/>
        </p:nvSpPr>
        <p:spPr>
          <a:xfrm>
            <a:off x="2169809" y="884978"/>
            <a:ext cx="65532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Application</a:t>
            </a:r>
            <a:r>
              <a:rPr sz="550" spc="-25" dirty="0">
                <a:solidFill>
                  <a:srgbClr val="231F20"/>
                </a:solidFill>
                <a:latin typeface="Helvetica"/>
                <a:cs typeface="Helvetica"/>
              </a:rPr>
              <a:t> </a:t>
            </a:r>
            <a:r>
              <a:rPr sz="550" spc="5" dirty="0">
                <a:solidFill>
                  <a:srgbClr val="231F20"/>
                </a:solidFill>
                <a:latin typeface="Helvetica"/>
                <a:cs typeface="Helvetica"/>
              </a:rPr>
              <a:t>protocol</a:t>
            </a:r>
            <a:endParaRPr sz="550">
              <a:latin typeface="Helvetica"/>
              <a:cs typeface="Helvetica"/>
            </a:endParaRPr>
          </a:p>
        </p:txBody>
      </p:sp>
      <p:sp>
        <p:nvSpPr>
          <p:cNvPr id="73" name="object 73"/>
          <p:cNvSpPr txBox="1"/>
          <p:nvPr/>
        </p:nvSpPr>
        <p:spPr>
          <a:xfrm>
            <a:off x="66713" y="3331252"/>
            <a:ext cx="875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The</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OSI</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reference</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model</a:t>
            </a:r>
            <a:endParaRPr sz="600">
              <a:latin typeface="Arial"/>
              <a:cs typeface="Arial"/>
            </a:endParaRPr>
          </a:p>
        </p:txBody>
      </p:sp>
      <p:sp>
        <p:nvSpPr>
          <p:cNvPr id="74" name="object 74"/>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2</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
        <p:nvSpPr>
          <p:cNvPr id="58" name="object 58"/>
          <p:cNvSpPr txBox="1"/>
          <p:nvPr/>
        </p:nvSpPr>
        <p:spPr>
          <a:xfrm>
            <a:off x="2169809" y="1064092"/>
            <a:ext cx="70739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Presentation</a:t>
            </a:r>
            <a:r>
              <a:rPr sz="550" spc="-20" dirty="0">
                <a:solidFill>
                  <a:srgbClr val="231F20"/>
                </a:solidFill>
                <a:latin typeface="Helvetica"/>
                <a:cs typeface="Helvetica"/>
              </a:rPr>
              <a:t> </a:t>
            </a:r>
            <a:r>
              <a:rPr sz="550" spc="5" dirty="0">
                <a:solidFill>
                  <a:srgbClr val="231F20"/>
                </a:solidFill>
                <a:latin typeface="Helvetica"/>
                <a:cs typeface="Helvetica"/>
              </a:rPr>
              <a:t>protocol</a:t>
            </a:r>
            <a:endParaRPr sz="550">
              <a:latin typeface="Helvetica"/>
              <a:cs typeface="Helvetica"/>
            </a:endParaRPr>
          </a:p>
        </p:txBody>
      </p:sp>
      <p:sp>
        <p:nvSpPr>
          <p:cNvPr id="59" name="object 59"/>
          <p:cNvSpPr txBox="1"/>
          <p:nvPr/>
        </p:nvSpPr>
        <p:spPr>
          <a:xfrm>
            <a:off x="2243999" y="1256581"/>
            <a:ext cx="55880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Session</a:t>
            </a:r>
            <a:r>
              <a:rPr sz="550" spc="-25" dirty="0">
                <a:solidFill>
                  <a:srgbClr val="231F20"/>
                </a:solidFill>
                <a:latin typeface="Helvetica"/>
                <a:cs typeface="Helvetica"/>
              </a:rPr>
              <a:t> </a:t>
            </a:r>
            <a:r>
              <a:rPr sz="550" spc="5" dirty="0">
                <a:solidFill>
                  <a:srgbClr val="231F20"/>
                </a:solidFill>
                <a:latin typeface="Helvetica"/>
                <a:cs typeface="Helvetica"/>
              </a:rPr>
              <a:t>protocol</a:t>
            </a:r>
            <a:endParaRPr sz="550">
              <a:latin typeface="Helvetica"/>
              <a:cs typeface="Helvetica"/>
            </a:endParaRPr>
          </a:p>
        </p:txBody>
      </p:sp>
      <p:sp>
        <p:nvSpPr>
          <p:cNvPr id="60" name="object 60"/>
          <p:cNvSpPr txBox="1"/>
          <p:nvPr/>
        </p:nvSpPr>
        <p:spPr>
          <a:xfrm>
            <a:off x="2193169" y="1430559"/>
            <a:ext cx="60833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Transport</a:t>
            </a:r>
            <a:r>
              <a:rPr sz="550" spc="-40" dirty="0">
                <a:solidFill>
                  <a:srgbClr val="231F20"/>
                </a:solidFill>
                <a:latin typeface="Helvetica"/>
                <a:cs typeface="Helvetica"/>
              </a:rPr>
              <a:t> </a:t>
            </a:r>
            <a:r>
              <a:rPr sz="550" spc="5" dirty="0">
                <a:solidFill>
                  <a:srgbClr val="231F20"/>
                </a:solidFill>
                <a:latin typeface="Helvetica"/>
                <a:cs typeface="Helvetica"/>
              </a:rPr>
              <a:t>protocol</a:t>
            </a:r>
            <a:endParaRPr sz="550">
              <a:latin typeface="Helvetica"/>
              <a:cs typeface="Helvetica"/>
            </a:endParaRPr>
          </a:p>
        </p:txBody>
      </p:sp>
      <p:sp>
        <p:nvSpPr>
          <p:cNvPr id="61" name="object 61"/>
          <p:cNvSpPr txBox="1"/>
          <p:nvPr/>
        </p:nvSpPr>
        <p:spPr>
          <a:xfrm>
            <a:off x="2213898" y="1604538"/>
            <a:ext cx="567055"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Network</a:t>
            </a:r>
            <a:r>
              <a:rPr sz="550" spc="-25" dirty="0">
                <a:solidFill>
                  <a:srgbClr val="231F20"/>
                </a:solidFill>
                <a:latin typeface="Helvetica"/>
                <a:cs typeface="Helvetica"/>
              </a:rPr>
              <a:t> </a:t>
            </a:r>
            <a:r>
              <a:rPr sz="550" spc="5" dirty="0">
                <a:solidFill>
                  <a:srgbClr val="231F20"/>
                </a:solidFill>
                <a:latin typeface="Helvetica"/>
                <a:cs typeface="Helvetica"/>
              </a:rPr>
              <a:t>protocol</a:t>
            </a:r>
            <a:endParaRPr sz="550">
              <a:latin typeface="Helvetica"/>
              <a:cs typeface="Helvetica"/>
            </a:endParaRPr>
          </a:p>
        </p:txBody>
      </p:sp>
      <p:sp>
        <p:nvSpPr>
          <p:cNvPr id="62" name="object 62"/>
          <p:cNvSpPr txBox="1"/>
          <p:nvPr/>
        </p:nvSpPr>
        <p:spPr>
          <a:xfrm>
            <a:off x="2205860" y="1778520"/>
            <a:ext cx="58293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Data</a:t>
            </a:r>
            <a:r>
              <a:rPr sz="550" spc="-15" dirty="0">
                <a:solidFill>
                  <a:srgbClr val="231F20"/>
                </a:solidFill>
                <a:latin typeface="Helvetica"/>
                <a:cs typeface="Helvetica"/>
              </a:rPr>
              <a:t> </a:t>
            </a:r>
            <a:r>
              <a:rPr sz="550" spc="5" dirty="0">
                <a:solidFill>
                  <a:srgbClr val="231F20"/>
                </a:solidFill>
                <a:latin typeface="Helvetica"/>
                <a:cs typeface="Helvetica"/>
              </a:rPr>
              <a:t>link</a:t>
            </a:r>
            <a:r>
              <a:rPr sz="550" spc="-15" dirty="0">
                <a:solidFill>
                  <a:srgbClr val="231F20"/>
                </a:solidFill>
                <a:latin typeface="Helvetica"/>
                <a:cs typeface="Helvetica"/>
              </a:rPr>
              <a:t> </a:t>
            </a:r>
            <a:r>
              <a:rPr sz="550" spc="5" dirty="0">
                <a:solidFill>
                  <a:srgbClr val="231F20"/>
                </a:solidFill>
                <a:latin typeface="Helvetica"/>
                <a:cs typeface="Helvetica"/>
              </a:rPr>
              <a:t>protocol</a:t>
            </a:r>
            <a:endParaRPr sz="550">
              <a:latin typeface="Helvetica"/>
              <a:cs typeface="Helvetica"/>
            </a:endParaRPr>
          </a:p>
        </p:txBody>
      </p:sp>
      <p:sp>
        <p:nvSpPr>
          <p:cNvPr id="63" name="object 63"/>
          <p:cNvSpPr txBox="1"/>
          <p:nvPr/>
        </p:nvSpPr>
        <p:spPr>
          <a:xfrm>
            <a:off x="2211883" y="1951639"/>
            <a:ext cx="570865"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Physical</a:t>
            </a:r>
            <a:r>
              <a:rPr sz="550" spc="-30" dirty="0">
                <a:solidFill>
                  <a:srgbClr val="231F20"/>
                </a:solidFill>
                <a:latin typeface="Helvetica"/>
                <a:cs typeface="Helvetica"/>
              </a:rPr>
              <a:t> </a:t>
            </a:r>
            <a:r>
              <a:rPr sz="550" spc="5" dirty="0">
                <a:solidFill>
                  <a:srgbClr val="231F20"/>
                </a:solidFill>
                <a:latin typeface="Helvetica"/>
                <a:cs typeface="Helvetica"/>
              </a:rPr>
              <a:t>protocol</a:t>
            </a:r>
            <a:endParaRPr sz="550">
              <a:latin typeface="Helvetica"/>
              <a:cs typeface="Helvetica"/>
            </a:endParaRPr>
          </a:p>
        </p:txBody>
      </p:sp>
      <p:sp>
        <p:nvSpPr>
          <p:cNvPr id="64" name="object 64"/>
          <p:cNvSpPr txBox="1"/>
          <p:nvPr/>
        </p:nvSpPr>
        <p:spPr>
          <a:xfrm>
            <a:off x="2290908" y="2273543"/>
            <a:ext cx="290195"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Network</a:t>
            </a:r>
            <a:endParaRPr sz="550">
              <a:latin typeface="Helvetica"/>
              <a:cs typeface="Helvetica"/>
            </a:endParaRPr>
          </a:p>
        </p:txBody>
      </p:sp>
      <p:sp>
        <p:nvSpPr>
          <p:cNvPr id="65" name="object 65"/>
          <p:cNvSpPr txBox="1"/>
          <p:nvPr/>
        </p:nvSpPr>
        <p:spPr>
          <a:xfrm>
            <a:off x="3415554" y="2009095"/>
            <a:ext cx="6604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1</a:t>
            </a:r>
            <a:endParaRPr sz="550">
              <a:latin typeface="Helvetica"/>
              <a:cs typeface="Helvetica"/>
            </a:endParaRPr>
          </a:p>
        </p:txBody>
      </p:sp>
      <p:sp>
        <p:nvSpPr>
          <p:cNvPr id="66" name="object 66"/>
          <p:cNvSpPr txBox="1"/>
          <p:nvPr/>
        </p:nvSpPr>
        <p:spPr>
          <a:xfrm>
            <a:off x="3415554" y="1837378"/>
            <a:ext cx="6604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2</a:t>
            </a:r>
            <a:endParaRPr sz="550">
              <a:latin typeface="Helvetica"/>
              <a:cs typeface="Helvetica"/>
            </a:endParaRPr>
          </a:p>
        </p:txBody>
      </p:sp>
      <p:sp>
        <p:nvSpPr>
          <p:cNvPr id="67" name="object 67"/>
          <p:cNvSpPr txBox="1"/>
          <p:nvPr/>
        </p:nvSpPr>
        <p:spPr>
          <a:xfrm>
            <a:off x="3415554" y="1664755"/>
            <a:ext cx="6604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3</a:t>
            </a:r>
            <a:endParaRPr sz="550">
              <a:latin typeface="Helvetica"/>
              <a:cs typeface="Helvetica"/>
            </a:endParaRPr>
          </a:p>
        </p:txBody>
      </p:sp>
      <p:sp>
        <p:nvSpPr>
          <p:cNvPr id="68" name="object 68"/>
          <p:cNvSpPr txBox="1"/>
          <p:nvPr/>
        </p:nvSpPr>
        <p:spPr>
          <a:xfrm>
            <a:off x="3415554" y="1493946"/>
            <a:ext cx="6604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4</a:t>
            </a:r>
            <a:endParaRPr sz="550">
              <a:latin typeface="Helvetica"/>
              <a:cs typeface="Helvetica"/>
            </a:endParaRPr>
          </a:p>
        </p:txBody>
      </p:sp>
      <p:sp>
        <p:nvSpPr>
          <p:cNvPr id="69" name="object 69"/>
          <p:cNvSpPr txBox="1"/>
          <p:nvPr/>
        </p:nvSpPr>
        <p:spPr>
          <a:xfrm>
            <a:off x="3415554" y="1321355"/>
            <a:ext cx="6604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5</a:t>
            </a:r>
            <a:endParaRPr sz="550">
              <a:latin typeface="Helvetica"/>
              <a:cs typeface="Helvetica"/>
            </a:endParaRPr>
          </a:p>
        </p:txBody>
      </p:sp>
      <p:sp>
        <p:nvSpPr>
          <p:cNvPr id="70" name="object 70"/>
          <p:cNvSpPr txBox="1"/>
          <p:nvPr/>
        </p:nvSpPr>
        <p:spPr>
          <a:xfrm>
            <a:off x="3415762" y="952017"/>
            <a:ext cx="6604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7</a:t>
            </a:r>
            <a:endParaRPr sz="550">
              <a:latin typeface="Helvetica"/>
              <a:cs typeface="Helvetica"/>
            </a:endParaRPr>
          </a:p>
        </p:txBody>
      </p:sp>
      <p:sp>
        <p:nvSpPr>
          <p:cNvPr id="71" name="object 71"/>
          <p:cNvSpPr txBox="1"/>
          <p:nvPr/>
        </p:nvSpPr>
        <p:spPr>
          <a:xfrm>
            <a:off x="3415762" y="1131132"/>
            <a:ext cx="6604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6</a:t>
            </a:r>
            <a:endParaRPr sz="550">
              <a:latin typeface="Helvetica"/>
              <a:cs typeface="Helvetica"/>
            </a:endParaRPr>
          </a:p>
        </p:txBody>
      </p:sp>
      <p:sp>
        <p:nvSpPr>
          <p:cNvPr id="72" name="object 72"/>
          <p:cNvSpPr txBox="1"/>
          <p:nvPr/>
        </p:nvSpPr>
        <p:spPr>
          <a:xfrm>
            <a:off x="321894" y="2469369"/>
            <a:ext cx="2693670" cy="815975"/>
          </a:xfrm>
          <a:prstGeom prst="rect">
            <a:avLst/>
          </a:prstGeom>
        </p:spPr>
        <p:txBody>
          <a:bodyPr vert="horz" wrap="square" lIns="0" tIns="95250" rIns="0" bIns="0" rtlCol="0">
            <a:spAutoFit/>
          </a:bodyPr>
          <a:lstStyle/>
          <a:p>
            <a:pPr marL="38100">
              <a:lnSpc>
                <a:spcPct val="100000"/>
              </a:lnSpc>
              <a:spcBef>
                <a:spcPts val="750"/>
              </a:spcBef>
            </a:pPr>
            <a:r>
              <a:rPr sz="1200" spc="-10" dirty="0">
                <a:solidFill>
                  <a:srgbClr val="3333B2"/>
                </a:solidFill>
                <a:latin typeface="Arial"/>
                <a:cs typeface="Arial"/>
              </a:rPr>
              <a:t>Drawbacks</a:t>
            </a:r>
            <a:endParaRPr sz="1200" dirty="0">
              <a:latin typeface="Arial"/>
              <a:cs typeface="Arial"/>
            </a:endParaRPr>
          </a:p>
          <a:p>
            <a:pPr marL="314960" indent="-168275">
              <a:lnSpc>
                <a:spcPts val="1200"/>
              </a:lnSpc>
              <a:spcBef>
                <a:spcPts val="545"/>
              </a:spcBef>
              <a:buClr>
                <a:srgbClr val="3333B2"/>
              </a:buClr>
              <a:buChar char="►"/>
              <a:tabLst>
                <a:tab pos="315595" algn="l"/>
              </a:tabLst>
            </a:pPr>
            <a:r>
              <a:rPr sz="1000" spc="-10" dirty="0">
                <a:latin typeface="Arial"/>
                <a:cs typeface="Arial"/>
              </a:rPr>
              <a:t>Focus</a:t>
            </a:r>
            <a:r>
              <a:rPr sz="1000" spc="-15" dirty="0">
                <a:latin typeface="Arial"/>
                <a:cs typeface="Arial"/>
              </a:rPr>
              <a:t> </a:t>
            </a:r>
            <a:r>
              <a:rPr sz="1000" spc="-5" dirty="0">
                <a:latin typeface="Arial"/>
                <a:cs typeface="Arial"/>
              </a:rPr>
              <a:t>on</a:t>
            </a:r>
            <a:r>
              <a:rPr sz="1000" spc="-10" dirty="0">
                <a:latin typeface="Arial"/>
                <a:cs typeface="Arial"/>
              </a:rPr>
              <a:t> </a:t>
            </a:r>
            <a:r>
              <a:rPr sz="1000" spc="-5" dirty="0">
                <a:latin typeface="Arial"/>
                <a:cs typeface="Arial"/>
              </a:rPr>
              <a:t>message-passing</a:t>
            </a:r>
            <a:r>
              <a:rPr sz="1000" spc="-10" dirty="0">
                <a:latin typeface="Arial"/>
                <a:cs typeface="Arial"/>
              </a:rPr>
              <a:t> </a:t>
            </a:r>
            <a:r>
              <a:rPr sz="1000" spc="-5" dirty="0">
                <a:latin typeface="Arial"/>
                <a:cs typeface="Arial"/>
              </a:rPr>
              <a:t>only</a:t>
            </a:r>
            <a:endParaRPr sz="1000" dirty="0">
              <a:latin typeface="Arial"/>
              <a:cs typeface="Arial"/>
            </a:endParaRPr>
          </a:p>
          <a:p>
            <a:pPr marL="314960" indent="-168275">
              <a:lnSpc>
                <a:spcPts val="1195"/>
              </a:lnSpc>
              <a:buClr>
                <a:srgbClr val="3333B2"/>
              </a:buClr>
              <a:buChar char="►"/>
              <a:tabLst>
                <a:tab pos="315595" algn="l"/>
              </a:tabLst>
            </a:pPr>
            <a:r>
              <a:rPr sz="1000" spc="-5" dirty="0">
                <a:latin typeface="Arial"/>
                <a:cs typeface="Arial"/>
              </a:rPr>
              <a:t>Often</a:t>
            </a:r>
            <a:r>
              <a:rPr sz="1000" spc="-10" dirty="0">
                <a:latin typeface="Arial"/>
                <a:cs typeface="Arial"/>
              </a:rPr>
              <a:t> </a:t>
            </a:r>
            <a:r>
              <a:rPr sz="1000" spc="-5" dirty="0">
                <a:latin typeface="Arial"/>
                <a:cs typeface="Arial"/>
              </a:rPr>
              <a:t>unneeded or unwanted functionality</a:t>
            </a:r>
            <a:endParaRPr sz="1000" dirty="0">
              <a:latin typeface="Arial"/>
              <a:cs typeface="Arial"/>
            </a:endParaRPr>
          </a:p>
          <a:p>
            <a:pPr marL="314960" indent="-168275">
              <a:lnSpc>
                <a:spcPts val="1200"/>
              </a:lnSpc>
              <a:buClr>
                <a:srgbClr val="3333B2"/>
              </a:buClr>
              <a:buChar char="►"/>
              <a:tabLst>
                <a:tab pos="315595" algn="l"/>
              </a:tabLst>
            </a:pPr>
            <a:r>
              <a:rPr sz="1000" spc="-5" dirty="0">
                <a:latin typeface="Arial"/>
                <a:cs typeface="Arial"/>
              </a:rPr>
              <a:t>Violates</a:t>
            </a:r>
            <a:r>
              <a:rPr sz="1000" spc="-15" dirty="0">
                <a:latin typeface="Arial"/>
                <a:cs typeface="Arial"/>
              </a:rPr>
              <a:t> </a:t>
            </a:r>
            <a:r>
              <a:rPr sz="1000" spc="-5" dirty="0">
                <a:latin typeface="Arial"/>
                <a:cs typeface="Arial"/>
              </a:rPr>
              <a:t>access</a:t>
            </a:r>
            <a:r>
              <a:rPr sz="1000" spc="-15" dirty="0">
                <a:latin typeface="Arial"/>
                <a:cs typeface="Arial"/>
              </a:rPr>
              <a:t> </a:t>
            </a:r>
            <a:r>
              <a:rPr sz="1000" spc="-5" dirty="0">
                <a:latin typeface="Arial"/>
                <a:cs typeface="Arial"/>
              </a:rPr>
              <a:t>transparency</a:t>
            </a:r>
            <a:endParaRPr sz="1000" dirty="0">
              <a:latin typeface="Arial"/>
              <a:cs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875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The</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OSI</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reference</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model</a:t>
            </a:r>
            <a:endParaRPr sz="600">
              <a:latin typeface="Arial"/>
              <a:cs typeface="Arial"/>
            </a:endParaRPr>
          </a:p>
        </p:txBody>
      </p:sp>
      <p:sp>
        <p:nvSpPr>
          <p:cNvPr id="7" name="object 7"/>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3</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
        <p:nvSpPr>
          <p:cNvPr id="2" name="object 2"/>
          <p:cNvSpPr txBox="1"/>
          <p:nvPr/>
        </p:nvSpPr>
        <p:spPr>
          <a:xfrm>
            <a:off x="66713" y="716"/>
            <a:ext cx="10287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Foundations</a:t>
            </a:r>
            <a:endParaRPr sz="600">
              <a:latin typeface="Arial"/>
              <a:cs typeface="Arial"/>
            </a:endParaRPr>
          </a:p>
        </p:txBody>
      </p:sp>
      <p:sp>
        <p:nvSpPr>
          <p:cNvPr id="3" name="object 3"/>
          <p:cNvSpPr txBox="1"/>
          <p:nvPr/>
        </p:nvSpPr>
        <p:spPr>
          <a:xfrm>
            <a:off x="3907891" y="716"/>
            <a:ext cx="63373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3" action="ppaction://hlinksldjump"/>
              </a:rPr>
              <a:t>Layered</a:t>
            </a:r>
            <a:r>
              <a:rPr sz="600" spc="-3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Protocols</a:t>
            </a:r>
            <a:endParaRPr sz="600">
              <a:latin typeface="Arial"/>
              <a:cs typeface="Arial"/>
            </a:endParaRPr>
          </a:p>
        </p:txBody>
      </p:sp>
      <p:sp>
        <p:nvSpPr>
          <p:cNvPr id="4" name="object 4"/>
          <p:cNvSpPr txBox="1"/>
          <p:nvPr/>
        </p:nvSpPr>
        <p:spPr>
          <a:xfrm>
            <a:off x="95300" y="188846"/>
            <a:ext cx="131000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Low-level</a:t>
            </a:r>
            <a:r>
              <a:rPr sz="1400" spc="-35" dirty="0">
                <a:solidFill>
                  <a:srgbClr val="3333B2"/>
                </a:solidFill>
                <a:latin typeface="Arial"/>
                <a:cs typeface="Arial"/>
              </a:rPr>
              <a:t> </a:t>
            </a:r>
            <a:r>
              <a:rPr sz="1400" dirty="0">
                <a:solidFill>
                  <a:srgbClr val="3333B2"/>
                </a:solidFill>
                <a:latin typeface="Arial"/>
                <a:cs typeface="Arial"/>
              </a:rPr>
              <a:t>layers</a:t>
            </a:r>
            <a:endParaRPr sz="1400" dirty="0">
              <a:latin typeface="Arial"/>
              <a:cs typeface="Arial"/>
            </a:endParaRPr>
          </a:p>
        </p:txBody>
      </p:sp>
      <p:sp>
        <p:nvSpPr>
          <p:cNvPr id="5" name="object 5"/>
          <p:cNvSpPr txBox="1"/>
          <p:nvPr/>
        </p:nvSpPr>
        <p:spPr>
          <a:xfrm>
            <a:off x="309194" y="827237"/>
            <a:ext cx="3989704" cy="1863725"/>
          </a:xfrm>
          <a:prstGeom prst="rect">
            <a:avLst/>
          </a:prstGeom>
        </p:spPr>
        <p:txBody>
          <a:bodyPr vert="horz" wrap="square" lIns="0" tIns="12065" rIns="0" bIns="0" rtlCol="0">
            <a:spAutoFit/>
          </a:bodyPr>
          <a:lstStyle/>
          <a:p>
            <a:pPr marL="50800">
              <a:lnSpc>
                <a:spcPct val="100000"/>
              </a:lnSpc>
              <a:spcBef>
                <a:spcPts val="95"/>
              </a:spcBef>
            </a:pPr>
            <a:r>
              <a:rPr sz="1200" spc="-5" dirty="0">
                <a:solidFill>
                  <a:srgbClr val="3333B2"/>
                </a:solidFill>
                <a:latin typeface="Arial"/>
                <a:cs typeface="Arial"/>
              </a:rPr>
              <a:t>Recap</a:t>
            </a:r>
            <a:endParaRPr sz="1200" dirty="0">
              <a:latin typeface="Arial"/>
              <a:cs typeface="Arial"/>
            </a:endParaRPr>
          </a:p>
          <a:p>
            <a:pPr marL="327660" marR="111125" indent="-168275">
              <a:lnSpc>
                <a:spcPct val="100000"/>
              </a:lnSpc>
              <a:spcBef>
                <a:spcPts val="770"/>
              </a:spcBef>
              <a:buClr>
                <a:srgbClr val="3333B2"/>
              </a:buClr>
              <a:buChar char="►"/>
              <a:tabLst>
                <a:tab pos="328295" algn="l"/>
              </a:tabLst>
            </a:pPr>
            <a:r>
              <a:rPr sz="1000" spc="-10" dirty="0">
                <a:solidFill>
                  <a:srgbClr val="0000FA"/>
                </a:solidFill>
                <a:latin typeface="Arial"/>
                <a:cs typeface="Arial"/>
              </a:rPr>
              <a:t>Physical</a:t>
            </a:r>
            <a:r>
              <a:rPr sz="1000" dirty="0">
                <a:solidFill>
                  <a:srgbClr val="0000FA"/>
                </a:solidFill>
                <a:latin typeface="Arial"/>
                <a:cs typeface="Arial"/>
              </a:rPr>
              <a:t> </a:t>
            </a:r>
            <a:r>
              <a:rPr sz="1000" spc="-10" dirty="0">
                <a:solidFill>
                  <a:srgbClr val="0000FA"/>
                </a:solidFill>
                <a:latin typeface="Arial"/>
                <a:cs typeface="Arial"/>
              </a:rPr>
              <a:t>layer</a:t>
            </a:r>
            <a:r>
              <a:rPr sz="1000" spc="-10" dirty="0">
                <a:latin typeface="Arial"/>
                <a:cs typeface="Arial"/>
              </a:rPr>
              <a:t>:</a:t>
            </a:r>
            <a:r>
              <a:rPr sz="1000" spc="75" dirty="0">
                <a:latin typeface="Arial"/>
                <a:cs typeface="Arial"/>
              </a:rPr>
              <a:t> </a:t>
            </a:r>
            <a:r>
              <a:rPr sz="1000" spc="-5" dirty="0">
                <a:latin typeface="Arial"/>
                <a:cs typeface="Arial"/>
              </a:rPr>
              <a:t>contains</a:t>
            </a:r>
            <a:r>
              <a:rPr sz="1000" spc="5"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specification</a:t>
            </a:r>
            <a:r>
              <a:rPr sz="1000" spc="5" dirty="0">
                <a:latin typeface="Arial"/>
                <a:cs typeface="Arial"/>
              </a:rPr>
              <a:t> </a:t>
            </a:r>
            <a:r>
              <a:rPr sz="1000" spc="-5" dirty="0">
                <a:latin typeface="Arial"/>
                <a:cs typeface="Arial"/>
              </a:rPr>
              <a:t>and</a:t>
            </a:r>
            <a:r>
              <a:rPr sz="1000" spc="5" dirty="0">
                <a:latin typeface="Arial"/>
                <a:cs typeface="Arial"/>
              </a:rPr>
              <a:t> </a:t>
            </a:r>
            <a:r>
              <a:rPr sz="1000" spc="-5" dirty="0">
                <a:latin typeface="Arial"/>
                <a:cs typeface="Arial"/>
              </a:rPr>
              <a:t>implementation</a:t>
            </a:r>
            <a:r>
              <a:rPr sz="1000" spc="5" dirty="0">
                <a:latin typeface="Arial"/>
                <a:cs typeface="Arial"/>
              </a:rPr>
              <a:t> </a:t>
            </a:r>
            <a:r>
              <a:rPr sz="1000" spc="-5" dirty="0">
                <a:latin typeface="Arial"/>
                <a:cs typeface="Arial"/>
              </a:rPr>
              <a:t>of </a:t>
            </a:r>
            <a:r>
              <a:rPr sz="1000" spc="-265" dirty="0">
                <a:latin typeface="Arial"/>
                <a:cs typeface="Arial"/>
              </a:rPr>
              <a:t> </a:t>
            </a:r>
            <a:r>
              <a:rPr sz="1000" spc="-5" dirty="0">
                <a:latin typeface="Arial"/>
                <a:cs typeface="Arial"/>
              </a:rPr>
              <a:t>bits,</a:t>
            </a:r>
            <a:r>
              <a:rPr sz="1000" spc="-10" dirty="0">
                <a:latin typeface="Arial"/>
                <a:cs typeface="Arial"/>
              </a:rPr>
              <a:t> </a:t>
            </a:r>
            <a:r>
              <a:rPr sz="1000" spc="-5" dirty="0">
                <a:latin typeface="Arial"/>
                <a:cs typeface="Arial"/>
              </a:rPr>
              <a:t>and their transmission between sender and receiver</a:t>
            </a:r>
            <a:endParaRPr sz="1000" dirty="0">
              <a:latin typeface="Arial"/>
              <a:cs typeface="Arial"/>
            </a:endParaRPr>
          </a:p>
          <a:p>
            <a:pPr marL="327660" marR="43180" indent="-168275">
              <a:lnSpc>
                <a:spcPts val="1200"/>
              </a:lnSpc>
              <a:spcBef>
                <a:spcPts val="30"/>
              </a:spcBef>
              <a:buClr>
                <a:srgbClr val="3333B2"/>
              </a:buClr>
              <a:buChar char="►"/>
              <a:tabLst>
                <a:tab pos="328295" algn="l"/>
              </a:tabLst>
            </a:pPr>
            <a:r>
              <a:rPr sz="1000" spc="-10" dirty="0">
                <a:solidFill>
                  <a:srgbClr val="0000FA"/>
                </a:solidFill>
                <a:latin typeface="Arial"/>
                <a:cs typeface="Arial"/>
              </a:rPr>
              <a:t>Data link </a:t>
            </a:r>
            <a:r>
              <a:rPr sz="1000" spc="-20" dirty="0">
                <a:solidFill>
                  <a:srgbClr val="0000FA"/>
                </a:solidFill>
                <a:latin typeface="Arial"/>
                <a:cs typeface="Arial"/>
              </a:rPr>
              <a:t>layer</a:t>
            </a:r>
            <a:r>
              <a:rPr sz="1000" spc="-20" dirty="0">
                <a:latin typeface="Arial"/>
                <a:cs typeface="Arial"/>
              </a:rPr>
              <a:t>:</a:t>
            </a:r>
            <a:r>
              <a:rPr sz="1000" spc="-15" dirty="0">
                <a:latin typeface="Arial"/>
                <a:cs typeface="Arial"/>
              </a:rPr>
              <a:t> </a:t>
            </a:r>
            <a:r>
              <a:rPr sz="1000" spc="-10" dirty="0">
                <a:latin typeface="Arial"/>
                <a:cs typeface="Arial"/>
              </a:rPr>
              <a:t>prescribes the transmission of a </a:t>
            </a:r>
            <a:r>
              <a:rPr sz="1000" spc="-5" dirty="0">
                <a:latin typeface="Arial"/>
                <a:cs typeface="Arial"/>
              </a:rPr>
              <a:t>series </a:t>
            </a:r>
            <a:r>
              <a:rPr sz="1000" spc="-10" dirty="0">
                <a:latin typeface="Arial"/>
                <a:cs typeface="Arial"/>
              </a:rPr>
              <a:t>of bits into </a:t>
            </a:r>
            <a:r>
              <a:rPr sz="1000" spc="-265"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frame to allow </a:t>
            </a:r>
            <a:r>
              <a:rPr sz="1000" spc="-15" dirty="0">
                <a:latin typeface="Arial"/>
                <a:cs typeface="Arial"/>
              </a:rPr>
              <a:t>for</a:t>
            </a:r>
            <a:r>
              <a:rPr sz="1000" spc="-5" dirty="0">
                <a:latin typeface="Arial"/>
                <a:cs typeface="Arial"/>
              </a:rPr>
              <a:t> error and </a:t>
            </a:r>
            <a:r>
              <a:rPr sz="1000" spc="-10" dirty="0">
                <a:latin typeface="Arial"/>
                <a:cs typeface="Arial"/>
              </a:rPr>
              <a:t>flow</a:t>
            </a:r>
            <a:r>
              <a:rPr sz="1000" spc="-5" dirty="0">
                <a:latin typeface="Arial"/>
                <a:cs typeface="Arial"/>
              </a:rPr>
              <a:t> control</a:t>
            </a:r>
            <a:endParaRPr sz="1000" dirty="0">
              <a:latin typeface="Arial"/>
              <a:cs typeface="Arial"/>
            </a:endParaRPr>
          </a:p>
          <a:p>
            <a:pPr marL="327660" indent="-168275">
              <a:lnSpc>
                <a:spcPts val="1150"/>
              </a:lnSpc>
              <a:buClr>
                <a:srgbClr val="3333B2"/>
              </a:buClr>
              <a:buChar char="►"/>
              <a:tabLst>
                <a:tab pos="328295" algn="l"/>
              </a:tabLst>
            </a:pPr>
            <a:r>
              <a:rPr sz="1000" spc="-5" dirty="0">
                <a:solidFill>
                  <a:srgbClr val="0000FA"/>
                </a:solidFill>
                <a:latin typeface="Arial"/>
                <a:cs typeface="Arial"/>
              </a:rPr>
              <a:t>Network </a:t>
            </a:r>
            <a:r>
              <a:rPr sz="1000" spc="-10" dirty="0">
                <a:solidFill>
                  <a:srgbClr val="0000FA"/>
                </a:solidFill>
                <a:latin typeface="Arial"/>
                <a:cs typeface="Arial"/>
              </a:rPr>
              <a:t>layer</a:t>
            </a:r>
            <a:r>
              <a:rPr sz="1000" spc="-10" dirty="0">
                <a:latin typeface="Arial"/>
                <a:cs typeface="Arial"/>
              </a:rPr>
              <a:t>:</a:t>
            </a:r>
            <a:r>
              <a:rPr sz="1000" spc="70" dirty="0">
                <a:latin typeface="Arial"/>
                <a:cs typeface="Arial"/>
              </a:rPr>
              <a:t> </a:t>
            </a:r>
            <a:r>
              <a:rPr sz="1000" spc="-5" dirty="0">
                <a:latin typeface="Arial"/>
                <a:cs typeface="Arial"/>
              </a:rPr>
              <a:t>describes</a:t>
            </a:r>
            <a:r>
              <a:rPr sz="1000" dirty="0">
                <a:latin typeface="Arial"/>
                <a:cs typeface="Arial"/>
              </a:rPr>
              <a:t> </a:t>
            </a:r>
            <a:r>
              <a:rPr sz="1000" spc="-10" dirty="0">
                <a:latin typeface="Arial"/>
                <a:cs typeface="Arial"/>
              </a:rPr>
              <a:t>how</a:t>
            </a:r>
            <a:r>
              <a:rPr sz="1000" spc="-5" dirty="0">
                <a:latin typeface="Arial"/>
                <a:cs typeface="Arial"/>
              </a:rPr>
              <a:t> </a:t>
            </a:r>
            <a:r>
              <a:rPr sz="1000" spc="-10" dirty="0">
                <a:latin typeface="Arial"/>
                <a:cs typeface="Arial"/>
              </a:rPr>
              <a:t>packets</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network</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computers</a:t>
            </a:r>
            <a:endParaRPr sz="1000" dirty="0">
              <a:latin typeface="Arial"/>
              <a:cs typeface="Arial"/>
            </a:endParaRPr>
          </a:p>
          <a:p>
            <a:pPr marL="327660">
              <a:lnSpc>
                <a:spcPts val="1200"/>
              </a:lnSpc>
            </a:pPr>
            <a:r>
              <a:rPr sz="1000" spc="-5" dirty="0">
                <a:latin typeface="Arial"/>
                <a:cs typeface="Arial"/>
              </a:rPr>
              <a:t>are</a:t>
            </a:r>
            <a:r>
              <a:rPr sz="1000" spc="-20" dirty="0">
                <a:latin typeface="Arial"/>
                <a:cs typeface="Arial"/>
              </a:rPr>
              <a:t> </a:t>
            </a:r>
            <a:r>
              <a:rPr sz="1000" spc="-5" dirty="0">
                <a:latin typeface="Arial"/>
                <a:cs typeface="Arial"/>
              </a:rPr>
              <a:t>to</a:t>
            </a:r>
            <a:r>
              <a:rPr sz="1000" spc="-20" dirty="0">
                <a:latin typeface="Arial"/>
                <a:cs typeface="Arial"/>
              </a:rPr>
              <a:t> </a:t>
            </a:r>
            <a:r>
              <a:rPr sz="1000" spc="-5" dirty="0">
                <a:latin typeface="Arial"/>
                <a:cs typeface="Arial"/>
              </a:rPr>
              <a:t>be</a:t>
            </a:r>
            <a:r>
              <a:rPr sz="1000" spc="-15" dirty="0">
                <a:latin typeface="Arial"/>
                <a:cs typeface="Arial"/>
              </a:rPr>
              <a:t> </a:t>
            </a:r>
            <a:r>
              <a:rPr sz="1000" spc="-5" dirty="0">
                <a:solidFill>
                  <a:srgbClr val="FA0000"/>
                </a:solidFill>
                <a:latin typeface="Arial"/>
                <a:cs typeface="Arial"/>
              </a:rPr>
              <a:t>routed</a:t>
            </a:r>
            <a:r>
              <a:rPr sz="1000" spc="-5" dirty="0">
                <a:latin typeface="Arial"/>
                <a:cs typeface="Arial"/>
              </a:rPr>
              <a:t>.</a:t>
            </a:r>
            <a:endParaRPr sz="1000" dirty="0">
              <a:latin typeface="Arial"/>
              <a:cs typeface="Arial"/>
            </a:endParaRPr>
          </a:p>
          <a:p>
            <a:pPr>
              <a:lnSpc>
                <a:spcPct val="100000"/>
              </a:lnSpc>
              <a:spcBef>
                <a:spcPts val="40"/>
              </a:spcBef>
            </a:pPr>
            <a:endParaRPr sz="1100" dirty="0">
              <a:latin typeface="Arial"/>
              <a:cs typeface="Arial"/>
            </a:endParaRPr>
          </a:p>
          <a:p>
            <a:pPr marL="50800">
              <a:lnSpc>
                <a:spcPts val="1410"/>
              </a:lnSpc>
              <a:spcBef>
                <a:spcPts val="5"/>
              </a:spcBef>
            </a:pPr>
            <a:r>
              <a:rPr sz="1200" spc="-5" dirty="0">
                <a:solidFill>
                  <a:srgbClr val="3333B2"/>
                </a:solidFill>
                <a:latin typeface="Arial"/>
                <a:cs typeface="Arial"/>
              </a:rPr>
              <a:t>Observation</a:t>
            </a:r>
            <a:endParaRPr sz="1200" dirty="0">
              <a:latin typeface="Arial"/>
              <a:cs typeface="Arial"/>
            </a:endParaRPr>
          </a:p>
          <a:p>
            <a:pPr marL="50800" marR="113664">
              <a:lnSpc>
                <a:spcPts val="1200"/>
              </a:lnSpc>
              <a:spcBef>
                <a:spcPts val="10"/>
              </a:spcBef>
            </a:pPr>
            <a:r>
              <a:rPr sz="1000" spc="-15" dirty="0">
                <a:latin typeface="Arial"/>
                <a:cs typeface="Arial"/>
              </a:rPr>
              <a:t>For</a:t>
            </a:r>
            <a:r>
              <a:rPr sz="1000" spc="-5" dirty="0">
                <a:latin typeface="Arial"/>
                <a:cs typeface="Arial"/>
              </a:rPr>
              <a:t> </a:t>
            </a:r>
            <a:r>
              <a:rPr sz="1000" spc="-10" dirty="0">
                <a:latin typeface="Arial"/>
                <a:cs typeface="Arial"/>
              </a:rPr>
              <a:t>many</a:t>
            </a:r>
            <a:r>
              <a:rPr sz="1000" dirty="0">
                <a:latin typeface="Arial"/>
                <a:cs typeface="Arial"/>
              </a:rPr>
              <a:t> </a:t>
            </a:r>
            <a:r>
              <a:rPr sz="1000" spc="-5" dirty="0">
                <a:latin typeface="Arial"/>
                <a:cs typeface="Arial"/>
              </a:rPr>
              <a:t>distributed systems,</a:t>
            </a:r>
            <a:r>
              <a:rPr sz="1000" dirty="0">
                <a:latin typeface="Arial"/>
                <a:cs typeface="Arial"/>
              </a:rPr>
              <a:t> </a:t>
            </a:r>
            <a:r>
              <a:rPr sz="1000" spc="-5" dirty="0">
                <a:latin typeface="Arial"/>
                <a:cs typeface="Arial"/>
              </a:rPr>
              <a:t>the </a:t>
            </a:r>
            <a:r>
              <a:rPr sz="1000" spc="-10" dirty="0">
                <a:latin typeface="Arial"/>
                <a:cs typeface="Arial"/>
              </a:rPr>
              <a:t>lowest-level</a:t>
            </a:r>
            <a:r>
              <a:rPr sz="1000" dirty="0">
                <a:latin typeface="Arial"/>
                <a:cs typeface="Arial"/>
              </a:rPr>
              <a:t> </a:t>
            </a:r>
            <a:r>
              <a:rPr sz="1000" spc="-5" dirty="0">
                <a:latin typeface="Arial"/>
                <a:cs typeface="Arial"/>
              </a:rPr>
              <a:t>interface is</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of the </a:t>
            </a:r>
            <a:r>
              <a:rPr sz="1000" spc="-260" dirty="0">
                <a:latin typeface="Arial"/>
                <a:cs typeface="Arial"/>
              </a:rPr>
              <a:t> </a:t>
            </a:r>
            <a:r>
              <a:rPr sz="1000" spc="-5" dirty="0">
                <a:latin typeface="Arial"/>
                <a:cs typeface="Arial"/>
              </a:rPr>
              <a:t>network</a:t>
            </a:r>
            <a:r>
              <a:rPr sz="1000" spc="-10" dirty="0">
                <a:latin typeface="Arial"/>
                <a:cs typeface="Arial"/>
              </a:rPr>
              <a:t> </a:t>
            </a:r>
            <a:r>
              <a:rPr sz="1000" spc="-20" dirty="0">
                <a:latin typeface="Arial"/>
                <a:cs typeface="Arial"/>
              </a:rPr>
              <a:t>layer.</a:t>
            </a:r>
            <a:endParaRPr sz="1000" dirty="0">
              <a:latin typeface="Arial"/>
              <a:cs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875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The</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OSI</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reference</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model</a:t>
            </a:r>
            <a:endParaRPr sz="600">
              <a:latin typeface="Arial"/>
              <a:cs typeface="Arial"/>
            </a:endParaRPr>
          </a:p>
        </p:txBody>
      </p:sp>
      <p:sp>
        <p:nvSpPr>
          <p:cNvPr id="7" name="object 7"/>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4</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
        <p:nvSpPr>
          <p:cNvPr id="2" name="object 2"/>
          <p:cNvSpPr txBox="1"/>
          <p:nvPr/>
        </p:nvSpPr>
        <p:spPr>
          <a:xfrm>
            <a:off x="66713" y="716"/>
            <a:ext cx="10287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Foundations</a:t>
            </a:r>
            <a:endParaRPr sz="600">
              <a:latin typeface="Arial"/>
              <a:cs typeface="Arial"/>
            </a:endParaRPr>
          </a:p>
        </p:txBody>
      </p:sp>
      <p:sp>
        <p:nvSpPr>
          <p:cNvPr id="3" name="object 3"/>
          <p:cNvSpPr txBox="1"/>
          <p:nvPr/>
        </p:nvSpPr>
        <p:spPr>
          <a:xfrm>
            <a:off x="3907891" y="716"/>
            <a:ext cx="63373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3" action="ppaction://hlinksldjump"/>
              </a:rPr>
              <a:t>Layered</a:t>
            </a:r>
            <a:r>
              <a:rPr sz="600" spc="-3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Protocols</a:t>
            </a:r>
            <a:endParaRPr sz="600">
              <a:latin typeface="Arial"/>
              <a:cs typeface="Arial"/>
            </a:endParaRPr>
          </a:p>
        </p:txBody>
      </p:sp>
      <p:sp>
        <p:nvSpPr>
          <p:cNvPr id="4" name="object 4"/>
          <p:cNvSpPr txBox="1"/>
          <p:nvPr/>
        </p:nvSpPr>
        <p:spPr>
          <a:xfrm>
            <a:off x="95300" y="188846"/>
            <a:ext cx="128587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Transport</a:t>
            </a:r>
            <a:r>
              <a:rPr sz="1400" spc="-55" dirty="0">
                <a:solidFill>
                  <a:srgbClr val="3333B2"/>
                </a:solidFill>
                <a:latin typeface="Arial"/>
                <a:cs typeface="Arial"/>
              </a:rPr>
              <a:t> </a:t>
            </a:r>
            <a:r>
              <a:rPr sz="1400" dirty="0">
                <a:solidFill>
                  <a:srgbClr val="3333B2"/>
                </a:solidFill>
                <a:latin typeface="Arial"/>
                <a:cs typeface="Arial"/>
              </a:rPr>
              <a:t>Layer</a:t>
            </a:r>
            <a:endParaRPr sz="1400" dirty="0">
              <a:latin typeface="Arial"/>
              <a:cs typeface="Arial"/>
            </a:endParaRPr>
          </a:p>
        </p:txBody>
      </p:sp>
      <p:sp>
        <p:nvSpPr>
          <p:cNvPr id="5" name="object 5"/>
          <p:cNvSpPr txBox="1"/>
          <p:nvPr/>
        </p:nvSpPr>
        <p:spPr>
          <a:xfrm>
            <a:off x="317982" y="970939"/>
            <a:ext cx="3775710" cy="1386205"/>
          </a:xfrm>
          <a:prstGeom prst="rect">
            <a:avLst/>
          </a:prstGeom>
        </p:spPr>
        <p:txBody>
          <a:bodyPr vert="horz" wrap="square" lIns="0" tIns="39370" rIns="0" bIns="0" rtlCol="0">
            <a:spAutoFit/>
          </a:bodyPr>
          <a:lstStyle/>
          <a:p>
            <a:pPr marL="41910">
              <a:lnSpc>
                <a:spcPct val="100000"/>
              </a:lnSpc>
              <a:spcBef>
                <a:spcPts val="310"/>
              </a:spcBef>
            </a:pPr>
            <a:r>
              <a:rPr sz="1200" dirty="0">
                <a:solidFill>
                  <a:srgbClr val="FA0000"/>
                </a:solidFill>
                <a:latin typeface="Arial"/>
                <a:cs typeface="Arial"/>
              </a:rPr>
              <a:t>Important</a:t>
            </a:r>
            <a:endParaRPr sz="1200" dirty="0">
              <a:latin typeface="Arial"/>
              <a:cs typeface="Arial"/>
            </a:endParaRPr>
          </a:p>
          <a:p>
            <a:pPr marL="41910" marR="30480" indent="-4445">
              <a:lnSpc>
                <a:spcPct val="100000"/>
              </a:lnSpc>
              <a:spcBef>
                <a:spcPts val="175"/>
              </a:spcBef>
            </a:pPr>
            <a:r>
              <a:rPr sz="1000" spc="-5" dirty="0">
                <a:latin typeface="Arial"/>
                <a:cs typeface="Arial"/>
              </a:rPr>
              <a:t>The </a:t>
            </a:r>
            <a:r>
              <a:rPr sz="1000" dirty="0">
                <a:latin typeface="Arial"/>
                <a:cs typeface="Arial"/>
              </a:rPr>
              <a:t>transport</a:t>
            </a:r>
            <a:r>
              <a:rPr sz="1000" spc="-5" dirty="0">
                <a:latin typeface="Arial"/>
                <a:cs typeface="Arial"/>
              </a:rPr>
              <a:t> </a:t>
            </a:r>
            <a:r>
              <a:rPr sz="1000" spc="-15" dirty="0">
                <a:latin typeface="Arial"/>
                <a:cs typeface="Arial"/>
              </a:rPr>
              <a:t>layer</a:t>
            </a:r>
            <a:r>
              <a:rPr sz="1000" dirty="0">
                <a:latin typeface="Arial"/>
                <a:cs typeface="Arial"/>
              </a:rPr>
              <a:t> </a:t>
            </a:r>
            <a:r>
              <a:rPr sz="1000" spc="-5" dirty="0">
                <a:latin typeface="Arial"/>
                <a:cs typeface="Arial"/>
              </a:rPr>
              <a:t>provides the</a:t>
            </a:r>
            <a:r>
              <a:rPr sz="1000" dirty="0">
                <a:latin typeface="Arial"/>
                <a:cs typeface="Arial"/>
              </a:rPr>
              <a:t> </a:t>
            </a:r>
            <a:r>
              <a:rPr sz="1000" spc="-5" dirty="0">
                <a:latin typeface="Arial"/>
                <a:cs typeface="Arial"/>
              </a:rPr>
              <a:t>actual communication</a:t>
            </a:r>
            <a:r>
              <a:rPr sz="1000" dirty="0">
                <a:latin typeface="Arial"/>
                <a:cs typeface="Arial"/>
              </a:rPr>
              <a:t> </a:t>
            </a:r>
            <a:r>
              <a:rPr sz="1000" spc="-5" dirty="0">
                <a:latin typeface="Arial"/>
                <a:cs typeface="Arial"/>
              </a:rPr>
              <a:t>facilities </a:t>
            </a:r>
            <a:r>
              <a:rPr sz="1000" spc="-15" dirty="0">
                <a:latin typeface="Arial"/>
                <a:cs typeface="Arial"/>
              </a:rPr>
              <a:t>for </a:t>
            </a:r>
            <a:r>
              <a:rPr sz="1000" spc="-260" dirty="0">
                <a:latin typeface="Arial"/>
                <a:cs typeface="Arial"/>
              </a:rPr>
              <a:t> </a:t>
            </a:r>
            <a:r>
              <a:rPr sz="1000" spc="-5" dirty="0">
                <a:latin typeface="Arial"/>
                <a:cs typeface="Arial"/>
              </a:rPr>
              <a:t>most</a:t>
            </a:r>
            <a:r>
              <a:rPr sz="1000" spc="-10" dirty="0">
                <a:latin typeface="Arial"/>
                <a:cs typeface="Arial"/>
              </a:rPr>
              <a:t> </a:t>
            </a:r>
            <a:r>
              <a:rPr sz="1000" spc="-5" dirty="0">
                <a:latin typeface="Arial"/>
                <a:cs typeface="Arial"/>
              </a:rPr>
              <a:t>distributed systems.</a:t>
            </a:r>
            <a:endParaRPr sz="1000" dirty="0">
              <a:latin typeface="Arial"/>
              <a:cs typeface="Arial"/>
            </a:endParaRPr>
          </a:p>
          <a:p>
            <a:pPr marL="41910">
              <a:lnSpc>
                <a:spcPct val="100000"/>
              </a:lnSpc>
              <a:spcBef>
                <a:spcPts val="685"/>
              </a:spcBef>
            </a:pPr>
            <a:r>
              <a:rPr sz="1200" spc="-5" dirty="0">
                <a:solidFill>
                  <a:srgbClr val="3333B2"/>
                </a:solidFill>
                <a:latin typeface="Arial"/>
                <a:cs typeface="Arial"/>
              </a:rPr>
              <a:t>Standard</a:t>
            </a:r>
            <a:r>
              <a:rPr sz="1200" spc="-20" dirty="0">
                <a:solidFill>
                  <a:srgbClr val="3333B2"/>
                </a:solidFill>
                <a:latin typeface="Arial"/>
                <a:cs typeface="Arial"/>
              </a:rPr>
              <a:t> </a:t>
            </a:r>
            <a:r>
              <a:rPr sz="1200" dirty="0">
                <a:solidFill>
                  <a:srgbClr val="3333B2"/>
                </a:solidFill>
                <a:latin typeface="Arial"/>
                <a:cs typeface="Arial"/>
              </a:rPr>
              <a:t>Internet</a:t>
            </a:r>
            <a:r>
              <a:rPr sz="1200" spc="-20" dirty="0">
                <a:solidFill>
                  <a:srgbClr val="3333B2"/>
                </a:solidFill>
                <a:latin typeface="Arial"/>
                <a:cs typeface="Arial"/>
              </a:rPr>
              <a:t> </a:t>
            </a:r>
            <a:r>
              <a:rPr sz="1200" spc="-5" dirty="0">
                <a:solidFill>
                  <a:srgbClr val="3333B2"/>
                </a:solidFill>
                <a:latin typeface="Arial"/>
                <a:cs typeface="Arial"/>
              </a:rPr>
              <a:t>protocols</a:t>
            </a:r>
            <a:endParaRPr sz="1200" dirty="0">
              <a:latin typeface="Arial"/>
              <a:cs typeface="Arial"/>
            </a:endParaRPr>
          </a:p>
          <a:p>
            <a:pPr marL="318770" marR="580390" indent="-168275">
              <a:lnSpc>
                <a:spcPct val="100000"/>
              </a:lnSpc>
              <a:spcBef>
                <a:spcPts val="770"/>
              </a:spcBef>
              <a:buClr>
                <a:srgbClr val="3333B2"/>
              </a:buClr>
              <a:buChar char="►"/>
              <a:tabLst>
                <a:tab pos="319405" algn="l"/>
              </a:tabLst>
            </a:pPr>
            <a:r>
              <a:rPr sz="1000" spc="-5" dirty="0">
                <a:latin typeface="Arial"/>
                <a:cs typeface="Arial"/>
              </a:rPr>
              <a:t>TCP:</a:t>
            </a:r>
            <a:r>
              <a:rPr sz="1000" spc="20" dirty="0">
                <a:latin typeface="Arial"/>
                <a:cs typeface="Arial"/>
              </a:rPr>
              <a:t> </a:t>
            </a:r>
            <a:r>
              <a:rPr sz="1000" spc="-5" dirty="0">
                <a:latin typeface="Arial"/>
                <a:cs typeface="Arial"/>
              </a:rPr>
              <a:t>connection-oriented,</a:t>
            </a:r>
            <a:r>
              <a:rPr sz="1000" spc="20" dirty="0">
                <a:latin typeface="Arial"/>
                <a:cs typeface="Arial"/>
              </a:rPr>
              <a:t> </a:t>
            </a:r>
            <a:r>
              <a:rPr sz="1000" spc="-10" dirty="0">
                <a:latin typeface="Arial"/>
                <a:cs typeface="Arial"/>
              </a:rPr>
              <a:t>reliable,</a:t>
            </a:r>
            <a:r>
              <a:rPr sz="1000" spc="25" dirty="0">
                <a:latin typeface="Arial"/>
                <a:cs typeface="Arial"/>
              </a:rPr>
              <a:t> </a:t>
            </a:r>
            <a:r>
              <a:rPr sz="1000" spc="-5" dirty="0">
                <a:latin typeface="Arial"/>
                <a:cs typeface="Arial"/>
              </a:rPr>
              <a:t>stream-oriented </a:t>
            </a:r>
            <a:r>
              <a:rPr sz="1000" spc="-265" dirty="0">
                <a:latin typeface="Arial"/>
                <a:cs typeface="Arial"/>
              </a:rPr>
              <a:t> </a:t>
            </a:r>
            <a:r>
              <a:rPr sz="1000" spc="-5" dirty="0">
                <a:latin typeface="Arial"/>
                <a:cs typeface="Arial"/>
              </a:rPr>
              <a:t>communication</a:t>
            </a:r>
            <a:endParaRPr sz="1000" dirty="0">
              <a:latin typeface="Arial"/>
              <a:cs typeface="Arial"/>
            </a:endParaRPr>
          </a:p>
          <a:p>
            <a:pPr marL="318770" indent="-168275">
              <a:lnSpc>
                <a:spcPts val="1190"/>
              </a:lnSpc>
              <a:buClr>
                <a:srgbClr val="3333B2"/>
              </a:buClr>
              <a:buChar char="►"/>
              <a:tabLst>
                <a:tab pos="319405" algn="l"/>
              </a:tabLst>
            </a:pPr>
            <a:r>
              <a:rPr sz="1000" spc="-5" dirty="0">
                <a:latin typeface="Arial"/>
                <a:cs typeface="Arial"/>
              </a:rPr>
              <a:t>UDP: unreliable (best-effort) datagram</a:t>
            </a:r>
            <a:r>
              <a:rPr sz="1000" dirty="0">
                <a:latin typeface="Arial"/>
                <a:cs typeface="Arial"/>
              </a:rPr>
              <a:t> </a:t>
            </a:r>
            <a:r>
              <a:rPr sz="1000" spc="-5" dirty="0">
                <a:latin typeface="Arial"/>
                <a:cs typeface="Arial"/>
              </a:rPr>
              <a:t>communication</a:t>
            </a:r>
            <a:endParaRPr sz="1000" dirty="0">
              <a:latin typeface="Arial"/>
              <a:cs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7404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Middleware</a:t>
            </a:r>
            <a:r>
              <a:rPr sz="600" spc="-4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protocols</a:t>
            </a:r>
            <a:endParaRPr sz="600">
              <a:latin typeface="Arial"/>
              <a:cs typeface="Arial"/>
            </a:endParaRPr>
          </a:p>
        </p:txBody>
      </p:sp>
      <p:sp>
        <p:nvSpPr>
          <p:cNvPr id="7" name="object 7"/>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5</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
        <p:nvSpPr>
          <p:cNvPr id="2" name="object 2"/>
          <p:cNvSpPr txBox="1"/>
          <p:nvPr/>
        </p:nvSpPr>
        <p:spPr>
          <a:xfrm>
            <a:off x="66713" y="716"/>
            <a:ext cx="10287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14" dirty="0">
                <a:solidFill>
                  <a:srgbClr val="3333B2"/>
                </a:solidFill>
                <a:latin typeface="Arial"/>
                <a:cs typeface="Arial"/>
              </a:rPr>
              <a:t> </a:t>
            </a:r>
            <a:r>
              <a:rPr sz="600" spc="-5" dirty="0">
                <a:solidFill>
                  <a:srgbClr val="3333B2"/>
                </a:solidFill>
                <a:latin typeface="Arial"/>
                <a:cs typeface="Arial"/>
                <a:hlinkClick r:id="rId4" action="ppaction://hlinksldjump"/>
              </a:rPr>
              <a:t>Foundations</a:t>
            </a:r>
            <a:endParaRPr sz="600">
              <a:latin typeface="Arial"/>
              <a:cs typeface="Arial"/>
            </a:endParaRPr>
          </a:p>
        </p:txBody>
      </p:sp>
      <p:sp>
        <p:nvSpPr>
          <p:cNvPr id="3" name="object 3"/>
          <p:cNvSpPr txBox="1"/>
          <p:nvPr/>
        </p:nvSpPr>
        <p:spPr>
          <a:xfrm>
            <a:off x="3907891" y="716"/>
            <a:ext cx="63373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4" action="ppaction://hlinksldjump"/>
              </a:rPr>
              <a:t>Layered</a:t>
            </a:r>
            <a:r>
              <a:rPr sz="600" spc="-3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Protocols</a:t>
            </a:r>
            <a:endParaRPr sz="600">
              <a:latin typeface="Arial"/>
              <a:cs typeface="Arial"/>
            </a:endParaRPr>
          </a:p>
        </p:txBody>
      </p:sp>
      <p:sp>
        <p:nvSpPr>
          <p:cNvPr id="4" name="object 4"/>
          <p:cNvSpPr txBox="1"/>
          <p:nvPr/>
        </p:nvSpPr>
        <p:spPr>
          <a:xfrm>
            <a:off x="95300" y="188846"/>
            <a:ext cx="138684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Middleware</a:t>
            </a:r>
            <a:r>
              <a:rPr sz="1400" spc="-40" dirty="0">
                <a:solidFill>
                  <a:srgbClr val="3333B2"/>
                </a:solidFill>
                <a:latin typeface="Arial"/>
                <a:cs typeface="Arial"/>
              </a:rPr>
              <a:t> </a:t>
            </a:r>
            <a:r>
              <a:rPr sz="1400" spc="-5" dirty="0">
                <a:solidFill>
                  <a:srgbClr val="3333B2"/>
                </a:solidFill>
                <a:latin typeface="Arial"/>
                <a:cs typeface="Arial"/>
              </a:rPr>
              <a:t>layer</a:t>
            </a:r>
            <a:endParaRPr sz="1400" dirty="0">
              <a:latin typeface="Arial"/>
              <a:cs typeface="Arial"/>
            </a:endParaRPr>
          </a:p>
        </p:txBody>
      </p:sp>
      <p:sp>
        <p:nvSpPr>
          <p:cNvPr id="5" name="object 5"/>
          <p:cNvSpPr txBox="1"/>
          <p:nvPr/>
        </p:nvSpPr>
        <p:spPr>
          <a:xfrm>
            <a:off x="309194" y="827923"/>
            <a:ext cx="3987800" cy="1861820"/>
          </a:xfrm>
          <a:prstGeom prst="rect">
            <a:avLst/>
          </a:prstGeom>
        </p:spPr>
        <p:txBody>
          <a:bodyPr vert="horz" wrap="square" lIns="0" tIns="12065" rIns="0" bIns="0" rtlCol="0">
            <a:spAutoFit/>
          </a:bodyPr>
          <a:lstStyle/>
          <a:p>
            <a:pPr marL="50800">
              <a:lnSpc>
                <a:spcPts val="1410"/>
              </a:lnSpc>
              <a:spcBef>
                <a:spcPts val="95"/>
              </a:spcBef>
            </a:pPr>
            <a:r>
              <a:rPr sz="1200" spc="-5" dirty="0">
                <a:solidFill>
                  <a:srgbClr val="3333B2"/>
                </a:solidFill>
                <a:latin typeface="Arial"/>
                <a:cs typeface="Arial"/>
              </a:rPr>
              <a:t>Observation</a:t>
            </a:r>
            <a:endParaRPr sz="1200" dirty="0">
              <a:latin typeface="Arial"/>
              <a:cs typeface="Arial"/>
            </a:endParaRPr>
          </a:p>
          <a:p>
            <a:pPr marL="50800" marR="43180">
              <a:lnSpc>
                <a:spcPts val="1200"/>
              </a:lnSpc>
              <a:spcBef>
                <a:spcPts val="10"/>
              </a:spcBef>
            </a:pPr>
            <a:r>
              <a:rPr sz="1000" spc="-15" dirty="0">
                <a:latin typeface="Arial"/>
                <a:cs typeface="Arial"/>
              </a:rPr>
              <a:t>Middleware</a:t>
            </a:r>
            <a:r>
              <a:rPr sz="1000" dirty="0">
                <a:latin typeface="Arial"/>
                <a:cs typeface="Arial"/>
              </a:rPr>
              <a:t> </a:t>
            </a:r>
            <a:r>
              <a:rPr sz="1000" spc="-10" dirty="0">
                <a:latin typeface="Arial"/>
                <a:cs typeface="Arial"/>
              </a:rPr>
              <a:t>is</a:t>
            </a:r>
            <a:r>
              <a:rPr sz="1000" dirty="0">
                <a:latin typeface="Arial"/>
                <a:cs typeface="Arial"/>
              </a:rPr>
              <a:t> </a:t>
            </a:r>
            <a:r>
              <a:rPr sz="1000" spc="-15" dirty="0">
                <a:latin typeface="Arial"/>
                <a:cs typeface="Arial"/>
              </a:rPr>
              <a:t>invented</a:t>
            </a:r>
            <a:r>
              <a:rPr sz="1000" dirty="0">
                <a:latin typeface="Arial"/>
                <a:cs typeface="Arial"/>
              </a:rPr>
              <a:t> </a:t>
            </a:r>
            <a:r>
              <a:rPr sz="1000" spc="-10" dirty="0">
                <a:latin typeface="Arial"/>
                <a:cs typeface="Arial"/>
              </a:rPr>
              <a:t>to</a:t>
            </a:r>
            <a:r>
              <a:rPr sz="1000" spc="-5" dirty="0">
                <a:latin typeface="Arial"/>
                <a:cs typeface="Arial"/>
              </a:rPr>
              <a:t> </a:t>
            </a:r>
            <a:r>
              <a:rPr sz="1000" spc="-10" dirty="0">
                <a:latin typeface="Arial"/>
                <a:cs typeface="Arial"/>
              </a:rPr>
              <a:t>provide</a:t>
            </a:r>
            <a:r>
              <a:rPr sz="1000" dirty="0">
                <a:latin typeface="Arial"/>
                <a:cs typeface="Arial"/>
              </a:rPr>
              <a:t> </a:t>
            </a:r>
            <a:r>
              <a:rPr sz="1000" spc="-15" dirty="0">
                <a:solidFill>
                  <a:srgbClr val="0000FA"/>
                </a:solidFill>
                <a:latin typeface="Arial"/>
                <a:cs typeface="Arial"/>
              </a:rPr>
              <a:t>common</a:t>
            </a:r>
            <a:r>
              <a:rPr sz="1000" dirty="0">
                <a:solidFill>
                  <a:srgbClr val="0000FA"/>
                </a:solidFill>
                <a:latin typeface="Arial"/>
                <a:cs typeface="Arial"/>
              </a:rPr>
              <a:t> </a:t>
            </a:r>
            <a:r>
              <a:rPr sz="1000" spc="-5" dirty="0">
                <a:latin typeface="Arial"/>
                <a:cs typeface="Arial"/>
              </a:rPr>
              <a:t>services</a:t>
            </a:r>
            <a:r>
              <a:rPr sz="1000" dirty="0">
                <a:latin typeface="Arial"/>
                <a:cs typeface="Arial"/>
              </a:rPr>
              <a:t> </a:t>
            </a:r>
            <a:r>
              <a:rPr sz="1000" spc="-10" dirty="0">
                <a:latin typeface="Arial"/>
                <a:cs typeface="Arial"/>
              </a:rPr>
              <a:t>and</a:t>
            </a:r>
            <a:r>
              <a:rPr sz="1000" dirty="0">
                <a:latin typeface="Arial"/>
                <a:cs typeface="Arial"/>
              </a:rPr>
              <a:t> </a:t>
            </a:r>
            <a:r>
              <a:rPr sz="1000" spc="-10" dirty="0">
                <a:latin typeface="Arial"/>
                <a:cs typeface="Arial"/>
              </a:rPr>
              <a:t>protocols</a:t>
            </a:r>
            <a:r>
              <a:rPr sz="1000" dirty="0">
                <a:latin typeface="Arial"/>
                <a:cs typeface="Arial"/>
              </a:rPr>
              <a:t> </a:t>
            </a:r>
            <a:r>
              <a:rPr sz="1000" spc="-10" dirty="0">
                <a:latin typeface="Arial"/>
                <a:cs typeface="Arial"/>
              </a:rPr>
              <a:t>that </a:t>
            </a:r>
            <a:r>
              <a:rPr sz="1000" spc="-260" dirty="0">
                <a:latin typeface="Arial"/>
                <a:cs typeface="Arial"/>
              </a:rPr>
              <a:t> </a:t>
            </a:r>
            <a:r>
              <a:rPr sz="1000" spc="-5" dirty="0">
                <a:latin typeface="Arial"/>
                <a:cs typeface="Arial"/>
              </a:rPr>
              <a:t>can</a:t>
            </a:r>
            <a:r>
              <a:rPr sz="1000" spc="-10" dirty="0">
                <a:latin typeface="Arial"/>
                <a:cs typeface="Arial"/>
              </a:rPr>
              <a:t> </a:t>
            </a:r>
            <a:r>
              <a:rPr sz="1000" spc="-5" dirty="0">
                <a:latin typeface="Arial"/>
                <a:cs typeface="Arial"/>
              </a:rPr>
              <a:t>be used </a:t>
            </a:r>
            <a:r>
              <a:rPr sz="1000" spc="-15" dirty="0">
                <a:latin typeface="Arial"/>
                <a:cs typeface="Arial"/>
              </a:rPr>
              <a:t>by</a:t>
            </a:r>
            <a:r>
              <a:rPr sz="1000" spc="-5" dirty="0">
                <a:latin typeface="Arial"/>
                <a:cs typeface="Arial"/>
              </a:rPr>
              <a:t> </a:t>
            </a:r>
            <a:r>
              <a:rPr sz="1000" spc="-10" dirty="0">
                <a:latin typeface="Arial"/>
                <a:cs typeface="Arial"/>
              </a:rPr>
              <a:t>many</a:t>
            </a:r>
            <a:r>
              <a:rPr sz="1000" spc="-5" dirty="0">
                <a:latin typeface="Arial"/>
                <a:cs typeface="Arial"/>
              </a:rPr>
              <a:t> </a:t>
            </a:r>
            <a:r>
              <a:rPr sz="1000" spc="-5" dirty="0">
                <a:solidFill>
                  <a:srgbClr val="0000FA"/>
                </a:solidFill>
                <a:latin typeface="Arial"/>
                <a:cs typeface="Arial"/>
              </a:rPr>
              <a:t>different </a:t>
            </a:r>
            <a:r>
              <a:rPr sz="1000" spc="-5" dirty="0">
                <a:latin typeface="Arial"/>
                <a:cs typeface="Arial"/>
              </a:rPr>
              <a:t>applications</a:t>
            </a:r>
            <a:endParaRPr sz="1000" dirty="0">
              <a:latin typeface="Arial"/>
              <a:cs typeface="Arial"/>
            </a:endParaRPr>
          </a:p>
          <a:p>
            <a:pPr marL="327660" indent="-168275">
              <a:lnSpc>
                <a:spcPts val="1200"/>
              </a:lnSpc>
              <a:spcBef>
                <a:spcPts val="550"/>
              </a:spcBef>
              <a:buClr>
                <a:srgbClr val="3333B2"/>
              </a:buClr>
              <a:buChar char="►"/>
              <a:tabLst>
                <a:tab pos="328295" algn="l"/>
              </a:tabLst>
            </a:pPr>
            <a:r>
              <a:rPr sz="1000" spc="-5" dirty="0">
                <a:latin typeface="Arial"/>
                <a:cs typeface="Arial"/>
              </a:rPr>
              <a:t>A</a:t>
            </a:r>
            <a:r>
              <a:rPr sz="1000" spc="-10" dirty="0">
                <a:latin typeface="Arial"/>
                <a:cs typeface="Arial"/>
              </a:rPr>
              <a:t> </a:t>
            </a:r>
            <a:r>
              <a:rPr sz="1000" dirty="0">
                <a:latin typeface="Arial"/>
                <a:cs typeface="Arial"/>
              </a:rPr>
              <a:t>rich</a:t>
            </a:r>
            <a:r>
              <a:rPr sz="1000" spc="-10" dirty="0">
                <a:latin typeface="Arial"/>
                <a:cs typeface="Arial"/>
              </a:rPr>
              <a:t> </a:t>
            </a:r>
            <a:r>
              <a:rPr sz="1000" spc="-5" dirty="0">
                <a:latin typeface="Arial"/>
                <a:cs typeface="Arial"/>
              </a:rPr>
              <a:t>set of</a:t>
            </a:r>
            <a:r>
              <a:rPr sz="1000" spc="-10" dirty="0">
                <a:latin typeface="Arial"/>
                <a:cs typeface="Arial"/>
              </a:rPr>
              <a:t> </a:t>
            </a:r>
            <a:r>
              <a:rPr sz="1000" spc="-5" dirty="0">
                <a:solidFill>
                  <a:srgbClr val="0000FA"/>
                </a:solidFill>
                <a:latin typeface="Arial"/>
                <a:cs typeface="Arial"/>
              </a:rPr>
              <a:t>communication</a:t>
            </a:r>
            <a:r>
              <a:rPr sz="1000" spc="-10" dirty="0">
                <a:solidFill>
                  <a:srgbClr val="0000FA"/>
                </a:solidFill>
                <a:latin typeface="Arial"/>
                <a:cs typeface="Arial"/>
              </a:rPr>
              <a:t> </a:t>
            </a:r>
            <a:r>
              <a:rPr sz="1000" spc="-5" dirty="0">
                <a:solidFill>
                  <a:srgbClr val="0000FA"/>
                </a:solidFill>
                <a:latin typeface="Arial"/>
                <a:cs typeface="Arial"/>
              </a:rPr>
              <a:t>protocols</a:t>
            </a:r>
            <a:endParaRPr sz="1000" dirty="0">
              <a:latin typeface="Arial"/>
              <a:cs typeface="Arial"/>
            </a:endParaRPr>
          </a:p>
          <a:p>
            <a:pPr marL="327660" indent="-168275">
              <a:lnSpc>
                <a:spcPts val="1195"/>
              </a:lnSpc>
              <a:buClr>
                <a:srgbClr val="3333B2"/>
              </a:buClr>
              <a:buChar char="►"/>
              <a:tabLst>
                <a:tab pos="328295" algn="l"/>
              </a:tabLst>
            </a:pPr>
            <a:r>
              <a:rPr sz="1000" spc="-5" dirty="0">
                <a:solidFill>
                  <a:srgbClr val="0000FA"/>
                </a:solidFill>
                <a:latin typeface="Arial"/>
                <a:cs typeface="Arial"/>
              </a:rPr>
              <a:t>(Un)marshaling </a:t>
            </a:r>
            <a:r>
              <a:rPr sz="1000" spc="-5" dirty="0">
                <a:latin typeface="Arial"/>
                <a:cs typeface="Arial"/>
              </a:rPr>
              <a:t>of</a:t>
            </a:r>
            <a:r>
              <a:rPr sz="1000" dirty="0">
                <a:latin typeface="Arial"/>
                <a:cs typeface="Arial"/>
              </a:rPr>
              <a:t> </a:t>
            </a:r>
            <a:r>
              <a:rPr sz="1000" spc="-5" dirty="0">
                <a:latin typeface="Arial"/>
                <a:cs typeface="Arial"/>
              </a:rPr>
              <a:t>data, </a:t>
            </a:r>
            <a:r>
              <a:rPr sz="1000" dirty="0">
                <a:latin typeface="Arial"/>
                <a:cs typeface="Arial"/>
              </a:rPr>
              <a:t>necessary </a:t>
            </a:r>
            <a:r>
              <a:rPr sz="1000" spc="-15" dirty="0">
                <a:latin typeface="Arial"/>
                <a:cs typeface="Arial"/>
              </a:rPr>
              <a:t>for</a:t>
            </a:r>
            <a:r>
              <a:rPr sz="1000" spc="-5" dirty="0">
                <a:latin typeface="Arial"/>
                <a:cs typeface="Arial"/>
              </a:rPr>
              <a:t> integrated</a:t>
            </a:r>
            <a:r>
              <a:rPr sz="1000" dirty="0">
                <a:latin typeface="Arial"/>
                <a:cs typeface="Arial"/>
              </a:rPr>
              <a:t> </a:t>
            </a:r>
            <a:r>
              <a:rPr sz="1000" spc="-5" dirty="0">
                <a:latin typeface="Arial"/>
                <a:cs typeface="Arial"/>
              </a:rPr>
              <a:t>systems</a:t>
            </a:r>
            <a:endParaRPr sz="1000" dirty="0">
              <a:latin typeface="Arial"/>
              <a:cs typeface="Arial"/>
            </a:endParaRPr>
          </a:p>
          <a:p>
            <a:pPr marL="327660" indent="-168275">
              <a:lnSpc>
                <a:spcPts val="1195"/>
              </a:lnSpc>
              <a:buClr>
                <a:srgbClr val="3333B2"/>
              </a:buClr>
              <a:buChar char="►"/>
              <a:tabLst>
                <a:tab pos="328295" algn="l"/>
              </a:tabLst>
            </a:pPr>
            <a:r>
              <a:rPr sz="1000" spc="-5" dirty="0">
                <a:solidFill>
                  <a:srgbClr val="0000FA"/>
                </a:solidFill>
                <a:latin typeface="Arial"/>
                <a:cs typeface="Arial"/>
              </a:rPr>
              <a:t>Naming protocols</a:t>
            </a:r>
            <a:r>
              <a:rPr sz="1000" spc="-5" dirty="0">
                <a:latin typeface="Arial"/>
                <a:cs typeface="Arial"/>
              </a:rPr>
              <a:t>,</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allow</a:t>
            </a:r>
            <a:r>
              <a:rPr sz="1000" dirty="0">
                <a:latin typeface="Arial"/>
                <a:cs typeface="Arial"/>
              </a:rPr>
              <a:t> </a:t>
            </a:r>
            <a:r>
              <a:rPr sz="1000" spc="-5" dirty="0">
                <a:latin typeface="Arial"/>
                <a:cs typeface="Arial"/>
              </a:rPr>
              <a:t>easy</a:t>
            </a:r>
            <a:r>
              <a:rPr sz="1000" dirty="0">
                <a:latin typeface="Arial"/>
                <a:cs typeface="Arial"/>
              </a:rPr>
              <a:t> </a:t>
            </a:r>
            <a:r>
              <a:rPr sz="1000" spc="-5" dirty="0">
                <a:latin typeface="Arial"/>
                <a:cs typeface="Arial"/>
              </a:rPr>
              <a:t>sharing</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resources</a:t>
            </a:r>
            <a:endParaRPr sz="1000" dirty="0">
              <a:latin typeface="Arial"/>
              <a:cs typeface="Arial"/>
            </a:endParaRPr>
          </a:p>
          <a:p>
            <a:pPr marL="327660" indent="-168275">
              <a:lnSpc>
                <a:spcPts val="1195"/>
              </a:lnSpc>
              <a:buClr>
                <a:srgbClr val="3333B2"/>
              </a:buClr>
              <a:buChar char="►"/>
              <a:tabLst>
                <a:tab pos="328295" algn="l"/>
              </a:tabLst>
            </a:pPr>
            <a:r>
              <a:rPr sz="1000" spc="-5" dirty="0">
                <a:solidFill>
                  <a:srgbClr val="0000FA"/>
                </a:solidFill>
                <a:latin typeface="Arial"/>
                <a:cs typeface="Arial"/>
              </a:rPr>
              <a:t>Security protocols</a:t>
            </a:r>
            <a:r>
              <a:rPr sz="1000" dirty="0">
                <a:solidFill>
                  <a:srgbClr val="0000FA"/>
                </a:solidFill>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secure</a:t>
            </a:r>
            <a:r>
              <a:rPr sz="1000" dirty="0">
                <a:latin typeface="Arial"/>
                <a:cs typeface="Arial"/>
              </a:rPr>
              <a:t> </a:t>
            </a:r>
            <a:r>
              <a:rPr sz="1000" spc="-5" dirty="0">
                <a:latin typeface="Arial"/>
                <a:cs typeface="Arial"/>
              </a:rPr>
              <a:t>communication</a:t>
            </a:r>
            <a:endParaRPr sz="1000" dirty="0">
              <a:latin typeface="Arial"/>
              <a:cs typeface="Arial"/>
            </a:endParaRPr>
          </a:p>
          <a:p>
            <a:pPr marL="327660" indent="-168275">
              <a:lnSpc>
                <a:spcPts val="1200"/>
              </a:lnSpc>
              <a:buClr>
                <a:srgbClr val="3333B2"/>
              </a:buClr>
              <a:buChar char="►"/>
              <a:tabLst>
                <a:tab pos="328295" algn="l"/>
              </a:tabLst>
            </a:pPr>
            <a:r>
              <a:rPr sz="1000" spc="-5" dirty="0">
                <a:solidFill>
                  <a:srgbClr val="0000FA"/>
                </a:solidFill>
                <a:latin typeface="Arial"/>
                <a:cs typeface="Arial"/>
              </a:rPr>
              <a:t>Scaling</a:t>
            </a:r>
            <a:r>
              <a:rPr sz="1000" dirty="0">
                <a:solidFill>
                  <a:srgbClr val="0000FA"/>
                </a:solidFill>
                <a:latin typeface="Arial"/>
                <a:cs typeface="Arial"/>
              </a:rPr>
              <a:t> </a:t>
            </a:r>
            <a:r>
              <a:rPr sz="1000" spc="-5" dirty="0">
                <a:solidFill>
                  <a:srgbClr val="0000FA"/>
                </a:solidFill>
                <a:latin typeface="Arial"/>
                <a:cs typeface="Arial"/>
              </a:rPr>
              <a:t>mechanisms</a:t>
            </a:r>
            <a:r>
              <a:rPr sz="1000" spc="-5" dirty="0">
                <a:latin typeface="Arial"/>
                <a:cs typeface="Arial"/>
              </a:rPr>
              <a:t>,</a:t>
            </a:r>
            <a:r>
              <a:rPr sz="1000" dirty="0">
                <a:latin typeface="Arial"/>
                <a:cs typeface="Arial"/>
              </a:rPr>
              <a:t> </a:t>
            </a:r>
            <a:r>
              <a:rPr sz="1000" spc="-5" dirty="0">
                <a:latin typeface="Arial"/>
                <a:cs typeface="Arial"/>
              </a:rPr>
              <a:t>such</a:t>
            </a:r>
            <a:r>
              <a:rPr sz="1000" dirty="0">
                <a:latin typeface="Arial"/>
                <a:cs typeface="Arial"/>
              </a:rPr>
              <a:t> </a:t>
            </a:r>
            <a:r>
              <a:rPr sz="1000" spc="-5" dirty="0">
                <a:latin typeface="Arial"/>
                <a:cs typeface="Arial"/>
              </a:rPr>
              <a:t>as</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replication</a:t>
            </a:r>
            <a:r>
              <a:rPr sz="1000" spc="5"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caching</a:t>
            </a:r>
            <a:endParaRPr sz="1000" dirty="0">
              <a:latin typeface="Arial"/>
              <a:cs typeface="Arial"/>
            </a:endParaRPr>
          </a:p>
          <a:p>
            <a:pPr>
              <a:lnSpc>
                <a:spcPct val="100000"/>
              </a:lnSpc>
              <a:spcBef>
                <a:spcPts val="15"/>
              </a:spcBef>
            </a:pPr>
            <a:endParaRPr sz="1300" dirty="0">
              <a:latin typeface="Arial"/>
              <a:cs typeface="Arial"/>
            </a:endParaRPr>
          </a:p>
          <a:p>
            <a:pPr marL="50800">
              <a:lnSpc>
                <a:spcPts val="1420"/>
              </a:lnSpc>
            </a:pPr>
            <a:r>
              <a:rPr sz="1200" spc="-5" dirty="0">
                <a:solidFill>
                  <a:srgbClr val="FA0000"/>
                </a:solidFill>
                <a:latin typeface="Arial"/>
                <a:cs typeface="Arial"/>
              </a:rPr>
              <a:t>Note</a:t>
            </a:r>
            <a:endParaRPr sz="1200" dirty="0">
              <a:latin typeface="Arial"/>
              <a:cs typeface="Arial"/>
            </a:endParaRPr>
          </a:p>
          <a:p>
            <a:pPr marL="44450">
              <a:lnSpc>
                <a:spcPts val="1180"/>
              </a:lnSpc>
            </a:pPr>
            <a:r>
              <a:rPr sz="1000" spc="-5" dirty="0">
                <a:latin typeface="Arial"/>
                <a:cs typeface="Arial"/>
              </a:rPr>
              <a:t>What</a:t>
            </a:r>
            <a:r>
              <a:rPr sz="1000" dirty="0">
                <a:latin typeface="Arial"/>
                <a:cs typeface="Arial"/>
              </a:rPr>
              <a:t> </a:t>
            </a:r>
            <a:r>
              <a:rPr sz="1000" spc="-5" dirty="0">
                <a:latin typeface="Arial"/>
                <a:cs typeface="Arial"/>
              </a:rPr>
              <a:t>remains</a:t>
            </a:r>
            <a:r>
              <a:rPr sz="1000" dirty="0">
                <a:latin typeface="Arial"/>
                <a:cs typeface="Arial"/>
              </a:rPr>
              <a:t> </a:t>
            </a:r>
            <a:r>
              <a:rPr sz="1000" spc="-5" dirty="0">
                <a:latin typeface="Arial"/>
                <a:cs typeface="Arial"/>
              </a:rPr>
              <a:t>are</a:t>
            </a:r>
            <a:r>
              <a:rPr sz="1000" spc="5" dirty="0">
                <a:latin typeface="Arial"/>
                <a:cs typeface="Arial"/>
              </a:rPr>
              <a:t> </a:t>
            </a:r>
            <a:r>
              <a:rPr sz="1000" dirty="0">
                <a:latin typeface="Arial"/>
                <a:cs typeface="Arial"/>
              </a:rPr>
              <a:t>truly </a:t>
            </a:r>
            <a:r>
              <a:rPr sz="1000" spc="-5" dirty="0">
                <a:solidFill>
                  <a:srgbClr val="0000FA"/>
                </a:solidFill>
                <a:latin typeface="Arial"/>
                <a:cs typeface="Arial"/>
              </a:rPr>
              <a:t>application-specific</a:t>
            </a:r>
            <a:r>
              <a:rPr sz="1000" dirty="0">
                <a:solidFill>
                  <a:srgbClr val="0000FA"/>
                </a:solidFill>
                <a:latin typeface="Arial"/>
                <a:cs typeface="Arial"/>
              </a:rPr>
              <a:t> </a:t>
            </a:r>
            <a:r>
              <a:rPr sz="1000" spc="-5" dirty="0">
                <a:latin typeface="Arial"/>
                <a:cs typeface="Arial"/>
              </a:rPr>
              <a:t>protocols...</a:t>
            </a:r>
            <a:r>
              <a:rPr sz="1000" spc="70" dirty="0">
                <a:latin typeface="Arial"/>
                <a:cs typeface="Arial"/>
              </a:rPr>
              <a:t> </a:t>
            </a:r>
            <a:r>
              <a:rPr sz="1000" spc="-5" dirty="0">
                <a:solidFill>
                  <a:srgbClr val="FA0000"/>
                </a:solidFill>
                <a:latin typeface="Arial"/>
                <a:cs typeface="Arial"/>
              </a:rPr>
              <a:t>such</a:t>
            </a:r>
            <a:r>
              <a:rPr sz="1000" dirty="0">
                <a:solidFill>
                  <a:srgbClr val="FA0000"/>
                </a:solidFill>
                <a:latin typeface="Arial"/>
                <a:cs typeface="Arial"/>
              </a:rPr>
              <a:t> </a:t>
            </a:r>
            <a:r>
              <a:rPr sz="1000" spc="-5" dirty="0">
                <a:solidFill>
                  <a:srgbClr val="FA0000"/>
                </a:solidFill>
                <a:latin typeface="Arial"/>
                <a:cs typeface="Arial"/>
              </a:rPr>
              <a:t>as?</a:t>
            </a:r>
            <a:endParaRPr sz="1000" dirty="0">
              <a:latin typeface="Arial"/>
              <a:cs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0287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Foundations</a:t>
            </a:r>
            <a:endParaRPr sz="600">
              <a:latin typeface="Arial"/>
              <a:cs typeface="Arial"/>
            </a:endParaRPr>
          </a:p>
        </p:txBody>
      </p:sp>
      <p:sp>
        <p:nvSpPr>
          <p:cNvPr id="3" name="object 3"/>
          <p:cNvSpPr txBox="1"/>
          <p:nvPr/>
        </p:nvSpPr>
        <p:spPr>
          <a:xfrm>
            <a:off x="3907891" y="716"/>
            <a:ext cx="63373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3" action="ppaction://hlinksldjump"/>
              </a:rPr>
              <a:t>Layered</a:t>
            </a:r>
            <a:r>
              <a:rPr sz="600" spc="-3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Protocols</a:t>
            </a:r>
            <a:endParaRPr sz="600">
              <a:latin typeface="Arial"/>
              <a:cs typeface="Arial"/>
            </a:endParaRPr>
          </a:p>
        </p:txBody>
      </p:sp>
      <p:sp>
        <p:nvSpPr>
          <p:cNvPr id="4" name="object 4"/>
          <p:cNvSpPr txBox="1"/>
          <p:nvPr/>
        </p:nvSpPr>
        <p:spPr>
          <a:xfrm>
            <a:off x="95300" y="188846"/>
            <a:ext cx="232854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An</a:t>
            </a:r>
            <a:r>
              <a:rPr sz="1400" spc="-15" dirty="0">
                <a:solidFill>
                  <a:srgbClr val="3333B2"/>
                </a:solidFill>
                <a:latin typeface="Arial"/>
                <a:cs typeface="Arial"/>
              </a:rPr>
              <a:t> </a:t>
            </a:r>
            <a:r>
              <a:rPr sz="1400" spc="15" dirty="0">
                <a:solidFill>
                  <a:srgbClr val="3333B2"/>
                </a:solidFill>
                <a:latin typeface="Arial"/>
                <a:cs typeface="Arial"/>
              </a:rPr>
              <a:t>adapted</a:t>
            </a:r>
            <a:r>
              <a:rPr sz="1400" spc="-10" dirty="0">
                <a:solidFill>
                  <a:srgbClr val="3333B2"/>
                </a:solidFill>
                <a:latin typeface="Arial"/>
                <a:cs typeface="Arial"/>
              </a:rPr>
              <a:t> </a:t>
            </a:r>
            <a:r>
              <a:rPr sz="1400" spc="5" dirty="0">
                <a:solidFill>
                  <a:srgbClr val="3333B2"/>
                </a:solidFill>
                <a:latin typeface="Arial"/>
                <a:cs typeface="Arial"/>
              </a:rPr>
              <a:t>layering</a:t>
            </a:r>
            <a:r>
              <a:rPr sz="1400" spc="-10" dirty="0">
                <a:solidFill>
                  <a:srgbClr val="3333B2"/>
                </a:solidFill>
                <a:latin typeface="Arial"/>
                <a:cs typeface="Arial"/>
              </a:rPr>
              <a:t> </a:t>
            </a:r>
            <a:r>
              <a:rPr sz="1400" spc="20" dirty="0">
                <a:solidFill>
                  <a:srgbClr val="3333B2"/>
                </a:solidFill>
                <a:latin typeface="Arial"/>
                <a:cs typeface="Arial"/>
              </a:rPr>
              <a:t>scheme</a:t>
            </a:r>
            <a:endParaRPr sz="1400">
              <a:latin typeface="Arial"/>
              <a:cs typeface="Arial"/>
            </a:endParaRPr>
          </a:p>
        </p:txBody>
      </p:sp>
      <p:sp>
        <p:nvSpPr>
          <p:cNvPr id="5" name="object 5"/>
          <p:cNvSpPr txBox="1"/>
          <p:nvPr/>
        </p:nvSpPr>
        <p:spPr>
          <a:xfrm>
            <a:off x="1096082" y="2228200"/>
            <a:ext cx="39116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Hardware</a:t>
            </a:r>
            <a:endParaRPr sz="650">
              <a:latin typeface="Arial"/>
              <a:cs typeface="Arial"/>
            </a:endParaRPr>
          </a:p>
        </p:txBody>
      </p:sp>
      <p:sp>
        <p:nvSpPr>
          <p:cNvPr id="6" name="object 6"/>
          <p:cNvSpPr txBox="1"/>
          <p:nvPr/>
        </p:nvSpPr>
        <p:spPr>
          <a:xfrm>
            <a:off x="1030448" y="1555894"/>
            <a:ext cx="4565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Middleware</a:t>
            </a:r>
            <a:endParaRPr sz="650">
              <a:latin typeface="Arial"/>
              <a:cs typeface="Arial"/>
            </a:endParaRPr>
          </a:p>
        </p:txBody>
      </p:sp>
      <p:sp>
        <p:nvSpPr>
          <p:cNvPr id="7" name="object 7"/>
          <p:cNvSpPr txBox="1"/>
          <p:nvPr/>
        </p:nvSpPr>
        <p:spPr>
          <a:xfrm>
            <a:off x="1051402" y="1249209"/>
            <a:ext cx="4381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Application</a:t>
            </a:r>
            <a:endParaRPr sz="650">
              <a:latin typeface="Arial"/>
              <a:cs typeface="Arial"/>
            </a:endParaRPr>
          </a:p>
        </p:txBody>
      </p:sp>
      <p:grpSp>
        <p:nvGrpSpPr>
          <p:cNvPr id="8" name="object 8"/>
          <p:cNvGrpSpPr/>
          <p:nvPr/>
        </p:nvGrpSpPr>
        <p:grpSpPr>
          <a:xfrm>
            <a:off x="1542685" y="1071739"/>
            <a:ext cx="2023110" cy="1452245"/>
            <a:chOff x="1542685" y="1071739"/>
            <a:chExt cx="2023110" cy="1452245"/>
          </a:xfrm>
        </p:grpSpPr>
        <p:sp>
          <p:nvSpPr>
            <p:cNvPr id="9" name="object 9"/>
            <p:cNvSpPr/>
            <p:nvPr/>
          </p:nvSpPr>
          <p:spPr>
            <a:xfrm>
              <a:off x="1694940" y="1109117"/>
              <a:ext cx="1718310" cy="1410970"/>
            </a:xfrm>
            <a:custGeom>
              <a:avLst/>
              <a:gdLst/>
              <a:ahLst/>
              <a:cxnLst/>
              <a:rect l="l" t="t" r="r" b="b"/>
              <a:pathLst>
                <a:path w="1718310" h="1410970">
                  <a:moveTo>
                    <a:pt x="0" y="0"/>
                  </a:moveTo>
                  <a:lnTo>
                    <a:pt x="0" y="1410512"/>
                  </a:lnTo>
                  <a:lnTo>
                    <a:pt x="1718105" y="1410512"/>
                  </a:lnTo>
                  <a:lnTo>
                    <a:pt x="1718105" y="9929"/>
                  </a:lnTo>
                </a:path>
              </a:pathLst>
            </a:custGeom>
            <a:ln w="7463">
              <a:solidFill>
                <a:srgbClr val="231F20"/>
              </a:solidFill>
            </a:ln>
          </p:spPr>
          <p:txBody>
            <a:bodyPr wrap="square" lIns="0" tIns="0" rIns="0" bIns="0" rtlCol="0"/>
            <a:lstStyle/>
            <a:p>
              <a:endParaRPr/>
            </a:p>
          </p:txBody>
        </p:sp>
        <p:pic>
          <p:nvPicPr>
            <p:cNvPr id="10" name="object 10"/>
            <p:cNvPicPr/>
            <p:nvPr/>
          </p:nvPicPr>
          <p:blipFill>
            <a:blip r:embed="rId4" cstate="print"/>
            <a:stretch>
              <a:fillRect/>
            </a:stretch>
          </p:blipFill>
          <p:spPr>
            <a:xfrm>
              <a:off x="1663066" y="1071739"/>
              <a:ext cx="63751" cy="74377"/>
            </a:xfrm>
            <a:prstGeom prst="rect">
              <a:avLst/>
            </a:prstGeom>
          </p:spPr>
        </p:pic>
        <p:pic>
          <p:nvPicPr>
            <p:cNvPr id="11" name="object 11"/>
            <p:cNvPicPr/>
            <p:nvPr/>
          </p:nvPicPr>
          <p:blipFill>
            <a:blip r:embed="rId5" cstate="print"/>
            <a:stretch>
              <a:fillRect/>
            </a:stretch>
          </p:blipFill>
          <p:spPr>
            <a:xfrm>
              <a:off x="3381170" y="1081668"/>
              <a:ext cx="63751" cy="74366"/>
            </a:xfrm>
            <a:prstGeom prst="rect">
              <a:avLst/>
            </a:prstGeom>
          </p:spPr>
        </p:pic>
        <p:sp>
          <p:nvSpPr>
            <p:cNvPr id="12" name="object 12"/>
            <p:cNvSpPr/>
            <p:nvPr/>
          </p:nvSpPr>
          <p:spPr>
            <a:xfrm>
              <a:off x="1545542" y="1249730"/>
              <a:ext cx="299085" cy="149860"/>
            </a:xfrm>
            <a:custGeom>
              <a:avLst/>
              <a:gdLst/>
              <a:ahLst/>
              <a:cxnLst/>
              <a:rect l="l" t="t" r="r" b="b"/>
              <a:pathLst>
                <a:path w="299085" h="149859">
                  <a:moveTo>
                    <a:pt x="298787" y="0"/>
                  </a:moveTo>
                  <a:lnTo>
                    <a:pt x="0" y="0"/>
                  </a:lnTo>
                  <a:lnTo>
                    <a:pt x="0" y="149401"/>
                  </a:lnTo>
                  <a:lnTo>
                    <a:pt x="298787" y="149401"/>
                  </a:lnTo>
                  <a:lnTo>
                    <a:pt x="298787" y="0"/>
                  </a:lnTo>
                  <a:close/>
                </a:path>
              </a:pathLst>
            </a:custGeom>
            <a:solidFill>
              <a:srgbClr val="FFFFFF"/>
            </a:solidFill>
          </p:spPr>
          <p:txBody>
            <a:bodyPr wrap="square" lIns="0" tIns="0" rIns="0" bIns="0" rtlCol="0"/>
            <a:lstStyle/>
            <a:p>
              <a:endParaRPr/>
            </a:p>
          </p:txBody>
        </p:sp>
        <p:sp>
          <p:nvSpPr>
            <p:cNvPr id="13" name="object 13"/>
            <p:cNvSpPr/>
            <p:nvPr/>
          </p:nvSpPr>
          <p:spPr>
            <a:xfrm>
              <a:off x="1545542" y="1249730"/>
              <a:ext cx="299085" cy="149860"/>
            </a:xfrm>
            <a:custGeom>
              <a:avLst/>
              <a:gdLst/>
              <a:ahLst/>
              <a:cxnLst/>
              <a:rect l="l" t="t" r="r" b="b"/>
              <a:pathLst>
                <a:path w="299085" h="149859">
                  <a:moveTo>
                    <a:pt x="0" y="149401"/>
                  </a:moveTo>
                  <a:lnTo>
                    <a:pt x="298787" y="149401"/>
                  </a:lnTo>
                  <a:lnTo>
                    <a:pt x="298787" y="0"/>
                  </a:lnTo>
                  <a:lnTo>
                    <a:pt x="0" y="0"/>
                  </a:lnTo>
                  <a:lnTo>
                    <a:pt x="0" y="149401"/>
                  </a:lnTo>
                  <a:close/>
                </a:path>
              </a:pathLst>
            </a:custGeom>
            <a:ln w="5270">
              <a:solidFill>
                <a:srgbClr val="231F20"/>
              </a:solidFill>
            </a:ln>
          </p:spPr>
          <p:txBody>
            <a:bodyPr wrap="square" lIns="0" tIns="0" rIns="0" bIns="0" rtlCol="0"/>
            <a:lstStyle/>
            <a:p>
              <a:endParaRPr/>
            </a:p>
          </p:txBody>
        </p:sp>
        <p:sp>
          <p:nvSpPr>
            <p:cNvPr id="14" name="object 14"/>
            <p:cNvSpPr/>
            <p:nvPr/>
          </p:nvSpPr>
          <p:spPr>
            <a:xfrm>
              <a:off x="1545554" y="2220834"/>
              <a:ext cx="299085" cy="149860"/>
            </a:xfrm>
            <a:custGeom>
              <a:avLst/>
              <a:gdLst/>
              <a:ahLst/>
              <a:cxnLst/>
              <a:rect l="l" t="t" r="r" b="b"/>
              <a:pathLst>
                <a:path w="299085" h="149860">
                  <a:moveTo>
                    <a:pt x="298787" y="0"/>
                  </a:moveTo>
                  <a:lnTo>
                    <a:pt x="0" y="0"/>
                  </a:lnTo>
                  <a:lnTo>
                    <a:pt x="0" y="149397"/>
                  </a:lnTo>
                  <a:lnTo>
                    <a:pt x="298787" y="149397"/>
                  </a:lnTo>
                  <a:lnTo>
                    <a:pt x="298787" y="0"/>
                  </a:lnTo>
                  <a:close/>
                </a:path>
              </a:pathLst>
            </a:custGeom>
            <a:solidFill>
              <a:srgbClr val="FFFFFF"/>
            </a:solidFill>
          </p:spPr>
          <p:txBody>
            <a:bodyPr wrap="square" lIns="0" tIns="0" rIns="0" bIns="0" rtlCol="0"/>
            <a:lstStyle/>
            <a:p>
              <a:endParaRPr/>
            </a:p>
          </p:txBody>
        </p:sp>
        <p:sp>
          <p:nvSpPr>
            <p:cNvPr id="15" name="object 15"/>
            <p:cNvSpPr/>
            <p:nvPr/>
          </p:nvSpPr>
          <p:spPr>
            <a:xfrm>
              <a:off x="1545554" y="2220834"/>
              <a:ext cx="299085" cy="149860"/>
            </a:xfrm>
            <a:custGeom>
              <a:avLst/>
              <a:gdLst/>
              <a:ahLst/>
              <a:cxnLst/>
              <a:rect l="l" t="t" r="r" b="b"/>
              <a:pathLst>
                <a:path w="299085" h="149860">
                  <a:moveTo>
                    <a:pt x="0" y="149397"/>
                  </a:moveTo>
                  <a:lnTo>
                    <a:pt x="298787" y="149397"/>
                  </a:lnTo>
                  <a:lnTo>
                    <a:pt x="298787" y="0"/>
                  </a:lnTo>
                  <a:lnTo>
                    <a:pt x="0" y="0"/>
                  </a:lnTo>
                  <a:lnTo>
                    <a:pt x="0" y="149397"/>
                  </a:lnTo>
                  <a:close/>
                </a:path>
              </a:pathLst>
            </a:custGeom>
            <a:ln w="5270">
              <a:solidFill>
                <a:srgbClr val="231F20"/>
              </a:solidFill>
            </a:ln>
          </p:spPr>
          <p:txBody>
            <a:bodyPr wrap="square" lIns="0" tIns="0" rIns="0" bIns="0" rtlCol="0"/>
            <a:lstStyle/>
            <a:p>
              <a:endParaRPr/>
            </a:p>
          </p:txBody>
        </p:sp>
        <p:sp>
          <p:nvSpPr>
            <p:cNvPr id="16" name="object 16"/>
            <p:cNvSpPr/>
            <p:nvPr/>
          </p:nvSpPr>
          <p:spPr>
            <a:xfrm>
              <a:off x="3263659" y="2220834"/>
              <a:ext cx="299085" cy="149860"/>
            </a:xfrm>
            <a:custGeom>
              <a:avLst/>
              <a:gdLst/>
              <a:ahLst/>
              <a:cxnLst/>
              <a:rect l="l" t="t" r="r" b="b"/>
              <a:pathLst>
                <a:path w="299085" h="149860">
                  <a:moveTo>
                    <a:pt x="298787" y="0"/>
                  </a:moveTo>
                  <a:lnTo>
                    <a:pt x="0" y="0"/>
                  </a:lnTo>
                  <a:lnTo>
                    <a:pt x="0" y="149397"/>
                  </a:lnTo>
                  <a:lnTo>
                    <a:pt x="298787" y="149397"/>
                  </a:lnTo>
                  <a:lnTo>
                    <a:pt x="298787" y="0"/>
                  </a:lnTo>
                  <a:close/>
                </a:path>
              </a:pathLst>
            </a:custGeom>
            <a:solidFill>
              <a:srgbClr val="FFFFFF"/>
            </a:solidFill>
          </p:spPr>
          <p:txBody>
            <a:bodyPr wrap="square" lIns="0" tIns="0" rIns="0" bIns="0" rtlCol="0"/>
            <a:lstStyle/>
            <a:p>
              <a:endParaRPr/>
            </a:p>
          </p:txBody>
        </p:sp>
        <p:sp>
          <p:nvSpPr>
            <p:cNvPr id="17" name="object 17"/>
            <p:cNvSpPr/>
            <p:nvPr/>
          </p:nvSpPr>
          <p:spPr>
            <a:xfrm>
              <a:off x="3263659" y="2220834"/>
              <a:ext cx="299085" cy="149860"/>
            </a:xfrm>
            <a:custGeom>
              <a:avLst/>
              <a:gdLst/>
              <a:ahLst/>
              <a:cxnLst/>
              <a:rect l="l" t="t" r="r" b="b"/>
              <a:pathLst>
                <a:path w="299085" h="149860">
                  <a:moveTo>
                    <a:pt x="0" y="149397"/>
                  </a:moveTo>
                  <a:lnTo>
                    <a:pt x="298787" y="149397"/>
                  </a:lnTo>
                  <a:lnTo>
                    <a:pt x="298787" y="0"/>
                  </a:lnTo>
                  <a:lnTo>
                    <a:pt x="0" y="0"/>
                  </a:lnTo>
                  <a:lnTo>
                    <a:pt x="0" y="149397"/>
                  </a:lnTo>
                  <a:close/>
                </a:path>
              </a:pathLst>
            </a:custGeom>
            <a:ln w="5270">
              <a:solidFill>
                <a:srgbClr val="231F20"/>
              </a:solidFill>
            </a:ln>
          </p:spPr>
          <p:txBody>
            <a:bodyPr wrap="square" lIns="0" tIns="0" rIns="0" bIns="0" rtlCol="0"/>
            <a:lstStyle/>
            <a:p>
              <a:endParaRPr/>
            </a:p>
          </p:txBody>
        </p:sp>
        <p:sp>
          <p:nvSpPr>
            <p:cNvPr id="18" name="object 18"/>
            <p:cNvSpPr/>
            <p:nvPr/>
          </p:nvSpPr>
          <p:spPr>
            <a:xfrm>
              <a:off x="3263637" y="1249735"/>
              <a:ext cx="299085" cy="146685"/>
            </a:xfrm>
            <a:custGeom>
              <a:avLst/>
              <a:gdLst/>
              <a:ahLst/>
              <a:cxnLst/>
              <a:rect l="l" t="t" r="r" b="b"/>
              <a:pathLst>
                <a:path w="299085" h="146684">
                  <a:moveTo>
                    <a:pt x="298800" y="0"/>
                  </a:moveTo>
                  <a:lnTo>
                    <a:pt x="0" y="0"/>
                  </a:lnTo>
                  <a:lnTo>
                    <a:pt x="0" y="146487"/>
                  </a:lnTo>
                  <a:lnTo>
                    <a:pt x="298800" y="146487"/>
                  </a:lnTo>
                  <a:lnTo>
                    <a:pt x="298800" y="0"/>
                  </a:lnTo>
                  <a:close/>
                </a:path>
              </a:pathLst>
            </a:custGeom>
            <a:solidFill>
              <a:srgbClr val="FFFFFF"/>
            </a:solidFill>
          </p:spPr>
          <p:txBody>
            <a:bodyPr wrap="square" lIns="0" tIns="0" rIns="0" bIns="0" rtlCol="0"/>
            <a:lstStyle/>
            <a:p>
              <a:endParaRPr/>
            </a:p>
          </p:txBody>
        </p:sp>
        <p:sp>
          <p:nvSpPr>
            <p:cNvPr id="19" name="object 19"/>
            <p:cNvSpPr/>
            <p:nvPr/>
          </p:nvSpPr>
          <p:spPr>
            <a:xfrm>
              <a:off x="3263637" y="1249735"/>
              <a:ext cx="299085" cy="146685"/>
            </a:xfrm>
            <a:custGeom>
              <a:avLst/>
              <a:gdLst/>
              <a:ahLst/>
              <a:cxnLst/>
              <a:rect l="l" t="t" r="r" b="b"/>
              <a:pathLst>
                <a:path w="299085" h="146684">
                  <a:moveTo>
                    <a:pt x="0" y="146487"/>
                  </a:moveTo>
                  <a:lnTo>
                    <a:pt x="298800" y="146487"/>
                  </a:lnTo>
                  <a:lnTo>
                    <a:pt x="298800" y="0"/>
                  </a:lnTo>
                  <a:lnTo>
                    <a:pt x="0" y="0"/>
                  </a:lnTo>
                  <a:lnTo>
                    <a:pt x="0" y="146487"/>
                  </a:lnTo>
                  <a:close/>
                </a:path>
              </a:pathLst>
            </a:custGeom>
            <a:ln w="5270">
              <a:solidFill>
                <a:srgbClr val="231F20"/>
              </a:solidFill>
            </a:ln>
          </p:spPr>
          <p:txBody>
            <a:bodyPr wrap="square" lIns="0" tIns="0" rIns="0" bIns="0" rtlCol="0"/>
            <a:lstStyle/>
            <a:p>
              <a:endParaRPr/>
            </a:p>
          </p:txBody>
        </p:sp>
        <p:sp>
          <p:nvSpPr>
            <p:cNvPr id="20" name="object 20"/>
            <p:cNvSpPr/>
            <p:nvPr/>
          </p:nvSpPr>
          <p:spPr>
            <a:xfrm>
              <a:off x="1545542" y="1473830"/>
              <a:ext cx="299085" cy="299085"/>
            </a:xfrm>
            <a:custGeom>
              <a:avLst/>
              <a:gdLst/>
              <a:ahLst/>
              <a:cxnLst/>
              <a:rect l="l" t="t" r="r" b="b"/>
              <a:pathLst>
                <a:path w="299085" h="299085">
                  <a:moveTo>
                    <a:pt x="298800" y="0"/>
                  </a:moveTo>
                  <a:lnTo>
                    <a:pt x="0" y="0"/>
                  </a:lnTo>
                  <a:lnTo>
                    <a:pt x="0" y="298800"/>
                  </a:lnTo>
                  <a:lnTo>
                    <a:pt x="298800" y="298800"/>
                  </a:lnTo>
                  <a:lnTo>
                    <a:pt x="298800" y="0"/>
                  </a:lnTo>
                  <a:close/>
                </a:path>
              </a:pathLst>
            </a:custGeom>
            <a:solidFill>
              <a:srgbClr val="FFFFFF"/>
            </a:solidFill>
          </p:spPr>
          <p:txBody>
            <a:bodyPr wrap="square" lIns="0" tIns="0" rIns="0" bIns="0" rtlCol="0"/>
            <a:lstStyle/>
            <a:p>
              <a:endParaRPr/>
            </a:p>
          </p:txBody>
        </p:sp>
        <p:sp>
          <p:nvSpPr>
            <p:cNvPr id="21" name="object 21"/>
            <p:cNvSpPr/>
            <p:nvPr/>
          </p:nvSpPr>
          <p:spPr>
            <a:xfrm>
              <a:off x="1545542" y="1473830"/>
              <a:ext cx="299085" cy="299085"/>
            </a:xfrm>
            <a:custGeom>
              <a:avLst/>
              <a:gdLst/>
              <a:ahLst/>
              <a:cxnLst/>
              <a:rect l="l" t="t" r="r" b="b"/>
              <a:pathLst>
                <a:path w="299085" h="299085">
                  <a:moveTo>
                    <a:pt x="0" y="298800"/>
                  </a:moveTo>
                  <a:lnTo>
                    <a:pt x="298800" y="298800"/>
                  </a:lnTo>
                  <a:lnTo>
                    <a:pt x="298800" y="0"/>
                  </a:lnTo>
                  <a:lnTo>
                    <a:pt x="0" y="0"/>
                  </a:lnTo>
                  <a:lnTo>
                    <a:pt x="0" y="298800"/>
                  </a:lnTo>
                  <a:close/>
                </a:path>
              </a:pathLst>
            </a:custGeom>
            <a:ln w="5270">
              <a:solidFill>
                <a:srgbClr val="231F20"/>
              </a:solidFill>
            </a:ln>
          </p:spPr>
          <p:txBody>
            <a:bodyPr wrap="square" lIns="0" tIns="0" rIns="0" bIns="0" rtlCol="0"/>
            <a:lstStyle/>
            <a:p>
              <a:endParaRPr/>
            </a:p>
          </p:txBody>
        </p:sp>
        <p:sp>
          <p:nvSpPr>
            <p:cNvPr id="22" name="object 22"/>
            <p:cNvSpPr/>
            <p:nvPr/>
          </p:nvSpPr>
          <p:spPr>
            <a:xfrm>
              <a:off x="3263637" y="1473830"/>
              <a:ext cx="299085" cy="299085"/>
            </a:xfrm>
            <a:custGeom>
              <a:avLst/>
              <a:gdLst/>
              <a:ahLst/>
              <a:cxnLst/>
              <a:rect l="l" t="t" r="r" b="b"/>
              <a:pathLst>
                <a:path w="299085" h="299085">
                  <a:moveTo>
                    <a:pt x="298800" y="0"/>
                  </a:moveTo>
                  <a:lnTo>
                    <a:pt x="0" y="0"/>
                  </a:lnTo>
                  <a:lnTo>
                    <a:pt x="0" y="298800"/>
                  </a:lnTo>
                  <a:lnTo>
                    <a:pt x="298800" y="298800"/>
                  </a:lnTo>
                  <a:lnTo>
                    <a:pt x="298800" y="0"/>
                  </a:lnTo>
                  <a:close/>
                </a:path>
              </a:pathLst>
            </a:custGeom>
            <a:solidFill>
              <a:srgbClr val="FFFFFF"/>
            </a:solidFill>
          </p:spPr>
          <p:txBody>
            <a:bodyPr wrap="square" lIns="0" tIns="0" rIns="0" bIns="0" rtlCol="0"/>
            <a:lstStyle/>
            <a:p>
              <a:endParaRPr/>
            </a:p>
          </p:txBody>
        </p:sp>
        <p:sp>
          <p:nvSpPr>
            <p:cNvPr id="23" name="object 23"/>
            <p:cNvSpPr/>
            <p:nvPr/>
          </p:nvSpPr>
          <p:spPr>
            <a:xfrm>
              <a:off x="3263637" y="1473830"/>
              <a:ext cx="299085" cy="299085"/>
            </a:xfrm>
            <a:custGeom>
              <a:avLst/>
              <a:gdLst/>
              <a:ahLst/>
              <a:cxnLst/>
              <a:rect l="l" t="t" r="r" b="b"/>
              <a:pathLst>
                <a:path w="299085" h="299085">
                  <a:moveTo>
                    <a:pt x="0" y="298800"/>
                  </a:moveTo>
                  <a:lnTo>
                    <a:pt x="298800" y="298800"/>
                  </a:lnTo>
                  <a:lnTo>
                    <a:pt x="298800" y="0"/>
                  </a:lnTo>
                  <a:lnTo>
                    <a:pt x="0" y="0"/>
                  </a:lnTo>
                  <a:lnTo>
                    <a:pt x="0" y="298800"/>
                  </a:lnTo>
                  <a:close/>
                </a:path>
              </a:pathLst>
            </a:custGeom>
            <a:ln w="5270">
              <a:solidFill>
                <a:srgbClr val="231F20"/>
              </a:solidFill>
            </a:ln>
          </p:spPr>
          <p:txBody>
            <a:bodyPr wrap="square" lIns="0" tIns="0" rIns="0" bIns="0" rtlCol="0"/>
            <a:lstStyle/>
            <a:p>
              <a:endParaRPr/>
            </a:p>
          </p:txBody>
        </p:sp>
        <p:sp>
          <p:nvSpPr>
            <p:cNvPr id="24" name="object 24"/>
            <p:cNvSpPr/>
            <p:nvPr/>
          </p:nvSpPr>
          <p:spPr>
            <a:xfrm>
              <a:off x="3263637" y="1850271"/>
              <a:ext cx="299085" cy="299085"/>
            </a:xfrm>
            <a:custGeom>
              <a:avLst/>
              <a:gdLst/>
              <a:ahLst/>
              <a:cxnLst/>
              <a:rect l="l" t="t" r="r" b="b"/>
              <a:pathLst>
                <a:path w="299085" h="299085">
                  <a:moveTo>
                    <a:pt x="298800" y="0"/>
                  </a:moveTo>
                  <a:lnTo>
                    <a:pt x="0" y="0"/>
                  </a:lnTo>
                  <a:lnTo>
                    <a:pt x="0" y="298800"/>
                  </a:lnTo>
                  <a:lnTo>
                    <a:pt x="298800" y="298800"/>
                  </a:lnTo>
                  <a:lnTo>
                    <a:pt x="298800" y="0"/>
                  </a:lnTo>
                  <a:close/>
                </a:path>
              </a:pathLst>
            </a:custGeom>
            <a:solidFill>
              <a:srgbClr val="FFFFFF"/>
            </a:solidFill>
          </p:spPr>
          <p:txBody>
            <a:bodyPr wrap="square" lIns="0" tIns="0" rIns="0" bIns="0" rtlCol="0"/>
            <a:lstStyle/>
            <a:p>
              <a:endParaRPr/>
            </a:p>
          </p:txBody>
        </p:sp>
        <p:sp>
          <p:nvSpPr>
            <p:cNvPr id="25" name="object 25"/>
            <p:cNvSpPr/>
            <p:nvPr/>
          </p:nvSpPr>
          <p:spPr>
            <a:xfrm>
              <a:off x="3263637" y="1850271"/>
              <a:ext cx="299085" cy="299085"/>
            </a:xfrm>
            <a:custGeom>
              <a:avLst/>
              <a:gdLst/>
              <a:ahLst/>
              <a:cxnLst/>
              <a:rect l="l" t="t" r="r" b="b"/>
              <a:pathLst>
                <a:path w="299085" h="299085">
                  <a:moveTo>
                    <a:pt x="0" y="298800"/>
                  </a:moveTo>
                  <a:lnTo>
                    <a:pt x="298800" y="298800"/>
                  </a:lnTo>
                  <a:lnTo>
                    <a:pt x="298800" y="0"/>
                  </a:lnTo>
                  <a:lnTo>
                    <a:pt x="0" y="0"/>
                  </a:lnTo>
                  <a:lnTo>
                    <a:pt x="0" y="298800"/>
                  </a:lnTo>
                  <a:close/>
                </a:path>
              </a:pathLst>
            </a:custGeom>
            <a:ln w="5270">
              <a:solidFill>
                <a:srgbClr val="231F20"/>
              </a:solidFill>
            </a:ln>
          </p:spPr>
          <p:txBody>
            <a:bodyPr wrap="square" lIns="0" tIns="0" rIns="0" bIns="0" rtlCol="0"/>
            <a:lstStyle/>
            <a:p>
              <a:endParaRPr/>
            </a:p>
          </p:txBody>
        </p:sp>
        <p:sp>
          <p:nvSpPr>
            <p:cNvPr id="26" name="object 26"/>
            <p:cNvSpPr/>
            <p:nvPr/>
          </p:nvSpPr>
          <p:spPr>
            <a:xfrm>
              <a:off x="1545542" y="1847332"/>
              <a:ext cx="299085" cy="299085"/>
            </a:xfrm>
            <a:custGeom>
              <a:avLst/>
              <a:gdLst/>
              <a:ahLst/>
              <a:cxnLst/>
              <a:rect l="l" t="t" r="r" b="b"/>
              <a:pathLst>
                <a:path w="299085" h="299085">
                  <a:moveTo>
                    <a:pt x="298800" y="0"/>
                  </a:moveTo>
                  <a:lnTo>
                    <a:pt x="0" y="0"/>
                  </a:lnTo>
                  <a:lnTo>
                    <a:pt x="0" y="298800"/>
                  </a:lnTo>
                  <a:lnTo>
                    <a:pt x="298800" y="298800"/>
                  </a:lnTo>
                  <a:lnTo>
                    <a:pt x="298800" y="0"/>
                  </a:lnTo>
                  <a:close/>
                </a:path>
              </a:pathLst>
            </a:custGeom>
            <a:solidFill>
              <a:srgbClr val="FFFFFF"/>
            </a:solidFill>
          </p:spPr>
          <p:txBody>
            <a:bodyPr wrap="square" lIns="0" tIns="0" rIns="0" bIns="0" rtlCol="0"/>
            <a:lstStyle/>
            <a:p>
              <a:endParaRPr/>
            </a:p>
          </p:txBody>
        </p:sp>
        <p:sp>
          <p:nvSpPr>
            <p:cNvPr id="27" name="object 27"/>
            <p:cNvSpPr/>
            <p:nvPr/>
          </p:nvSpPr>
          <p:spPr>
            <a:xfrm>
              <a:off x="1545542" y="1847332"/>
              <a:ext cx="299085" cy="299085"/>
            </a:xfrm>
            <a:custGeom>
              <a:avLst/>
              <a:gdLst/>
              <a:ahLst/>
              <a:cxnLst/>
              <a:rect l="l" t="t" r="r" b="b"/>
              <a:pathLst>
                <a:path w="299085" h="299085">
                  <a:moveTo>
                    <a:pt x="0" y="298800"/>
                  </a:moveTo>
                  <a:lnTo>
                    <a:pt x="298800" y="298800"/>
                  </a:lnTo>
                  <a:lnTo>
                    <a:pt x="298800" y="0"/>
                  </a:lnTo>
                  <a:lnTo>
                    <a:pt x="0" y="0"/>
                  </a:lnTo>
                  <a:lnTo>
                    <a:pt x="0" y="298800"/>
                  </a:lnTo>
                  <a:close/>
                </a:path>
              </a:pathLst>
            </a:custGeom>
            <a:ln w="5270">
              <a:solidFill>
                <a:srgbClr val="231F20"/>
              </a:solidFill>
            </a:ln>
          </p:spPr>
          <p:txBody>
            <a:bodyPr wrap="square" lIns="0" tIns="0" rIns="0" bIns="0" rtlCol="0"/>
            <a:lstStyle/>
            <a:p>
              <a:endParaRPr/>
            </a:p>
          </p:txBody>
        </p:sp>
      </p:grpSp>
      <p:sp>
        <p:nvSpPr>
          <p:cNvPr id="28" name="object 28"/>
          <p:cNvSpPr txBox="1"/>
          <p:nvPr/>
        </p:nvSpPr>
        <p:spPr>
          <a:xfrm>
            <a:off x="2176335" y="1171165"/>
            <a:ext cx="7613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Application protocol</a:t>
            </a:r>
            <a:endParaRPr sz="650">
              <a:latin typeface="Arial"/>
              <a:cs typeface="Arial"/>
            </a:endParaRPr>
          </a:p>
        </p:txBody>
      </p:sp>
      <p:sp>
        <p:nvSpPr>
          <p:cNvPr id="29" name="object 29"/>
          <p:cNvSpPr txBox="1"/>
          <p:nvPr/>
        </p:nvSpPr>
        <p:spPr>
          <a:xfrm>
            <a:off x="2163818" y="1488959"/>
            <a:ext cx="7804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Middleware</a:t>
            </a:r>
            <a:r>
              <a:rPr sz="650" spc="-45" dirty="0">
                <a:solidFill>
                  <a:srgbClr val="231F20"/>
                </a:solidFill>
                <a:latin typeface="Arial"/>
                <a:cs typeface="Arial"/>
              </a:rPr>
              <a:t> </a:t>
            </a:r>
            <a:r>
              <a:rPr sz="650" spc="5" dirty="0">
                <a:solidFill>
                  <a:srgbClr val="231F20"/>
                </a:solidFill>
                <a:latin typeface="Arial"/>
                <a:cs typeface="Arial"/>
              </a:rPr>
              <a:t>protocol</a:t>
            </a:r>
            <a:endParaRPr sz="650">
              <a:latin typeface="Arial"/>
              <a:cs typeface="Arial"/>
            </a:endParaRPr>
          </a:p>
        </p:txBody>
      </p:sp>
      <p:sp>
        <p:nvSpPr>
          <p:cNvPr id="30" name="object 30"/>
          <p:cNvSpPr txBox="1"/>
          <p:nvPr/>
        </p:nvSpPr>
        <p:spPr>
          <a:xfrm>
            <a:off x="2149530" y="1855185"/>
            <a:ext cx="80835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Host-to-host protocol</a:t>
            </a:r>
            <a:endParaRPr sz="650">
              <a:latin typeface="Arial"/>
              <a:cs typeface="Arial"/>
            </a:endParaRPr>
          </a:p>
        </p:txBody>
      </p:sp>
      <p:sp>
        <p:nvSpPr>
          <p:cNvPr id="31" name="object 31"/>
          <p:cNvSpPr txBox="1"/>
          <p:nvPr/>
        </p:nvSpPr>
        <p:spPr>
          <a:xfrm>
            <a:off x="2405664" y="2532239"/>
            <a:ext cx="3346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Network</a:t>
            </a:r>
            <a:endParaRPr sz="650">
              <a:latin typeface="Arial"/>
              <a:cs typeface="Arial"/>
            </a:endParaRPr>
          </a:p>
        </p:txBody>
      </p:sp>
      <p:sp>
        <p:nvSpPr>
          <p:cNvPr id="32" name="object 32"/>
          <p:cNvSpPr txBox="1"/>
          <p:nvPr/>
        </p:nvSpPr>
        <p:spPr>
          <a:xfrm>
            <a:off x="1093256" y="1874452"/>
            <a:ext cx="396240" cy="220979"/>
          </a:xfrm>
          <a:prstGeom prst="rect">
            <a:avLst/>
          </a:prstGeom>
        </p:spPr>
        <p:txBody>
          <a:bodyPr vert="horz" wrap="square" lIns="0" tIns="21590" rIns="0" bIns="0" rtlCol="0">
            <a:spAutoFit/>
          </a:bodyPr>
          <a:lstStyle/>
          <a:p>
            <a:pPr marL="115570" marR="5080" indent="-103505">
              <a:lnSpc>
                <a:spcPts val="740"/>
              </a:lnSpc>
              <a:spcBef>
                <a:spcPts val="170"/>
              </a:spcBef>
            </a:pPr>
            <a:r>
              <a:rPr sz="650" spc="5" dirty="0">
                <a:solidFill>
                  <a:srgbClr val="231F20"/>
                </a:solidFill>
                <a:latin typeface="Arial"/>
                <a:cs typeface="Arial"/>
              </a:rPr>
              <a:t>Operating  system</a:t>
            </a:r>
            <a:endParaRPr sz="650">
              <a:latin typeface="Arial"/>
              <a:cs typeface="Arial"/>
            </a:endParaRPr>
          </a:p>
        </p:txBody>
      </p:sp>
      <p:sp>
        <p:nvSpPr>
          <p:cNvPr id="33" name="object 33"/>
          <p:cNvSpPr txBox="1"/>
          <p:nvPr/>
        </p:nvSpPr>
        <p:spPr>
          <a:xfrm>
            <a:off x="2035725" y="2148790"/>
            <a:ext cx="104266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Physical/Link-level</a:t>
            </a:r>
            <a:r>
              <a:rPr sz="650" spc="-45" dirty="0">
                <a:solidFill>
                  <a:srgbClr val="231F20"/>
                </a:solidFill>
                <a:latin typeface="Arial"/>
                <a:cs typeface="Arial"/>
              </a:rPr>
              <a:t> </a:t>
            </a:r>
            <a:r>
              <a:rPr sz="650" spc="5" dirty="0">
                <a:solidFill>
                  <a:srgbClr val="231F20"/>
                </a:solidFill>
                <a:latin typeface="Arial"/>
                <a:cs typeface="Arial"/>
              </a:rPr>
              <a:t>protocol</a:t>
            </a:r>
            <a:endParaRPr sz="650">
              <a:latin typeface="Arial"/>
              <a:cs typeface="Arial"/>
            </a:endParaRPr>
          </a:p>
        </p:txBody>
      </p:sp>
      <p:grpSp>
        <p:nvGrpSpPr>
          <p:cNvPr id="34" name="object 34"/>
          <p:cNvGrpSpPr/>
          <p:nvPr/>
        </p:nvGrpSpPr>
        <p:grpSpPr>
          <a:xfrm>
            <a:off x="1844330" y="1291181"/>
            <a:ext cx="1419860" cy="1036319"/>
            <a:chOff x="1844330" y="1291181"/>
            <a:chExt cx="1419860" cy="1036319"/>
          </a:xfrm>
        </p:grpSpPr>
        <p:sp>
          <p:nvSpPr>
            <p:cNvPr id="35" name="object 35"/>
            <p:cNvSpPr/>
            <p:nvPr/>
          </p:nvSpPr>
          <p:spPr>
            <a:xfrm>
              <a:off x="1881721" y="1623233"/>
              <a:ext cx="1344930" cy="0"/>
            </a:xfrm>
            <a:custGeom>
              <a:avLst/>
              <a:gdLst/>
              <a:ahLst/>
              <a:cxnLst/>
              <a:rect l="l" t="t" r="r" b="b"/>
              <a:pathLst>
                <a:path w="1344930">
                  <a:moveTo>
                    <a:pt x="0" y="0"/>
                  </a:moveTo>
                  <a:lnTo>
                    <a:pt x="1344538" y="0"/>
                  </a:lnTo>
                </a:path>
              </a:pathLst>
            </a:custGeom>
            <a:ln w="5270">
              <a:solidFill>
                <a:srgbClr val="231F20"/>
              </a:solidFill>
              <a:prstDash val="lgDash"/>
            </a:ln>
          </p:spPr>
          <p:txBody>
            <a:bodyPr wrap="square" lIns="0" tIns="0" rIns="0" bIns="0" rtlCol="0"/>
            <a:lstStyle/>
            <a:p>
              <a:endParaRPr/>
            </a:p>
          </p:txBody>
        </p:sp>
        <p:pic>
          <p:nvPicPr>
            <p:cNvPr id="36" name="object 36"/>
            <p:cNvPicPr/>
            <p:nvPr/>
          </p:nvPicPr>
          <p:blipFill>
            <a:blip r:embed="rId6" cstate="print"/>
            <a:stretch>
              <a:fillRect/>
            </a:stretch>
          </p:blipFill>
          <p:spPr>
            <a:xfrm>
              <a:off x="1844342" y="1591354"/>
              <a:ext cx="74375" cy="63753"/>
            </a:xfrm>
            <a:prstGeom prst="rect">
              <a:avLst/>
            </a:prstGeom>
          </p:spPr>
        </p:pic>
        <p:pic>
          <p:nvPicPr>
            <p:cNvPr id="37" name="object 37"/>
            <p:cNvPicPr/>
            <p:nvPr/>
          </p:nvPicPr>
          <p:blipFill>
            <a:blip r:embed="rId7" cstate="print"/>
            <a:stretch>
              <a:fillRect/>
            </a:stretch>
          </p:blipFill>
          <p:spPr>
            <a:xfrm>
              <a:off x="3189260" y="1591354"/>
              <a:ext cx="74377" cy="63753"/>
            </a:xfrm>
            <a:prstGeom prst="rect">
              <a:avLst/>
            </a:prstGeom>
          </p:spPr>
        </p:pic>
        <p:sp>
          <p:nvSpPr>
            <p:cNvPr id="38" name="object 38"/>
            <p:cNvSpPr/>
            <p:nvPr/>
          </p:nvSpPr>
          <p:spPr>
            <a:xfrm>
              <a:off x="1881709" y="1323015"/>
              <a:ext cx="1344930" cy="1905"/>
            </a:xfrm>
            <a:custGeom>
              <a:avLst/>
              <a:gdLst/>
              <a:ahLst/>
              <a:cxnLst/>
              <a:rect l="l" t="t" r="r" b="b"/>
              <a:pathLst>
                <a:path w="1344930" h="1905">
                  <a:moveTo>
                    <a:pt x="0" y="1380"/>
                  </a:moveTo>
                  <a:lnTo>
                    <a:pt x="1344549" y="0"/>
                  </a:lnTo>
                </a:path>
              </a:pathLst>
            </a:custGeom>
            <a:ln w="5270">
              <a:solidFill>
                <a:srgbClr val="231F20"/>
              </a:solidFill>
              <a:prstDash val="lgDash"/>
            </a:ln>
          </p:spPr>
          <p:txBody>
            <a:bodyPr wrap="square" lIns="0" tIns="0" rIns="0" bIns="0" rtlCol="0"/>
            <a:lstStyle/>
            <a:p>
              <a:endParaRPr/>
            </a:p>
          </p:txBody>
        </p:sp>
        <p:pic>
          <p:nvPicPr>
            <p:cNvPr id="39" name="object 39"/>
            <p:cNvPicPr/>
            <p:nvPr/>
          </p:nvPicPr>
          <p:blipFill>
            <a:blip r:embed="rId8" cstate="print"/>
            <a:stretch>
              <a:fillRect/>
            </a:stretch>
          </p:blipFill>
          <p:spPr>
            <a:xfrm>
              <a:off x="1844330" y="1292478"/>
              <a:ext cx="74408" cy="63751"/>
            </a:xfrm>
            <a:prstGeom prst="rect">
              <a:avLst/>
            </a:prstGeom>
          </p:spPr>
        </p:pic>
        <p:pic>
          <p:nvPicPr>
            <p:cNvPr id="40" name="object 40"/>
            <p:cNvPicPr/>
            <p:nvPr/>
          </p:nvPicPr>
          <p:blipFill>
            <a:blip r:embed="rId9" cstate="print"/>
            <a:stretch>
              <a:fillRect/>
            </a:stretch>
          </p:blipFill>
          <p:spPr>
            <a:xfrm>
              <a:off x="3189228" y="1291181"/>
              <a:ext cx="74408" cy="63751"/>
            </a:xfrm>
            <a:prstGeom prst="rect">
              <a:avLst/>
            </a:prstGeom>
          </p:spPr>
        </p:pic>
        <p:sp>
          <p:nvSpPr>
            <p:cNvPr id="41" name="object 41"/>
            <p:cNvSpPr/>
            <p:nvPr/>
          </p:nvSpPr>
          <p:spPr>
            <a:xfrm>
              <a:off x="1881718" y="1996808"/>
              <a:ext cx="1344930" cy="3175"/>
            </a:xfrm>
            <a:custGeom>
              <a:avLst/>
              <a:gdLst/>
              <a:ahLst/>
              <a:cxnLst/>
              <a:rect l="l" t="t" r="r" b="b"/>
              <a:pathLst>
                <a:path w="1344930" h="3175">
                  <a:moveTo>
                    <a:pt x="0" y="0"/>
                  </a:moveTo>
                  <a:lnTo>
                    <a:pt x="1344541" y="2787"/>
                  </a:lnTo>
                </a:path>
              </a:pathLst>
            </a:custGeom>
            <a:ln w="5270">
              <a:solidFill>
                <a:srgbClr val="231F20"/>
              </a:solidFill>
              <a:prstDash val="lgDash"/>
            </a:ln>
          </p:spPr>
          <p:txBody>
            <a:bodyPr wrap="square" lIns="0" tIns="0" rIns="0" bIns="0" rtlCol="0"/>
            <a:lstStyle/>
            <a:p>
              <a:endParaRPr/>
            </a:p>
          </p:txBody>
        </p:sp>
        <p:pic>
          <p:nvPicPr>
            <p:cNvPr id="42" name="object 42"/>
            <p:cNvPicPr/>
            <p:nvPr/>
          </p:nvPicPr>
          <p:blipFill>
            <a:blip r:embed="rId10" cstate="print"/>
            <a:stretch>
              <a:fillRect/>
            </a:stretch>
          </p:blipFill>
          <p:spPr>
            <a:xfrm>
              <a:off x="1844342" y="1965012"/>
              <a:ext cx="74441" cy="63751"/>
            </a:xfrm>
            <a:prstGeom prst="rect">
              <a:avLst/>
            </a:prstGeom>
          </p:spPr>
        </p:pic>
        <p:pic>
          <p:nvPicPr>
            <p:cNvPr id="43" name="object 43"/>
            <p:cNvPicPr/>
            <p:nvPr/>
          </p:nvPicPr>
          <p:blipFill>
            <a:blip r:embed="rId11" cstate="print"/>
            <a:stretch>
              <a:fillRect/>
            </a:stretch>
          </p:blipFill>
          <p:spPr>
            <a:xfrm>
              <a:off x="3189197" y="1967639"/>
              <a:ext cx="74440" cy="63751"/>
            </a:xfrm>
            <a:prstGeom prst="rect">
              <a:avLst/>
            </a:prstGeom>
          </p:spPr>
        </p:pic>
        <p:sp>
          <p:nvSpPr>
            <p:cNvPr id="44" name="object 44"/>
            <p:cNvSpPr/>
            <p:nvPr/>
          </p:nvSpPr>
          <p:spPr>
            <a:xfrm>
              <a:off x="1881721" y="2295530"/>
              <a:ext cx="1344930" cy="0"/>
            </a:xfrm>
            <a:custGeom>
              <a:avLst/>
              <a:gdLst/>
              <a:ahLst/>
              <a:cxnLst/>
              <a:rect l="l" t="t" r="r" b="b"/>
              <a:pathLst>
                <a:path w="1344930">
                  <a:moveTo>
                    <a:pt x="0" y="0"/>
                  </a:moveTo>
                  <a:lnTo>
                    <a:pt x="1344559" y="0"/>
                  </a:lnTo>
                </a:path>
              </a:pathLst>
            </a:custGeom>
            <a:ln w="5270">
              <a:solidFill>
                <a:srgbClr val="231F20"/>
              </a:solidFill>
              <a:prstDash val="lgDash"/>
            </a:ln>
          </p:spPr>
          <p:txBody>
            <a:bodyPr wrap="square" lIns="0" tIns="0" rIns="0" bIns="0" rtlCol="0"/>
            <a:lstStyle/>
            <a:p>
              <a:endParaRPr/>
            </a:p>
          </p:txBody>
        </p:sp>
        <p:pic>
          <p:nvPicPr>
            <p:cNvPr id="45" name="object 45"/>
            <p:cNvPicPr/>
            <p:nvPr/>
          </p:nvPicPr>
          <p:blipFill>
            <a:blip r:embed="rId12" cstate="print"/>
            <a:stretch>
              <a:fillRect/>
            </a:stretch>
          </p:blipFill>
          <p:spPr>
            <a:xfrm>
              <a:off x="1844342" y="2263656"/>
              <a:ext cx="74375" cy="63753"/>
            </a:xfrm>
            <a:prstGeom prst="rect">
              <a:avLst/>
            </a:prstGeom>
          </p:spPr>
        </p:pic>
        <p:pic>
          <p:nvPicPr>
            <p:cNvPr id="46" name="object 46"/>
            <p:cNvPicPr/>
            <p:nvPr/>
          </p:nvPicPr>
          <p:blipFill>
            <a:blip r:embed="rId13" cstate="print"/>
            <a:stretch>
              <a:fillRect/>
            </a:stretch>
          </p:blipFill>
          <p:spPr>
            <a:xfrm>
              <a:off x="3189271" y="2263656"/>
              <a:ext cx="74387" cy="63753"/>
            </a:xfrm>
            <a:prstGeom prst="rect">
              <a:avLst/>
            </a:prstGeom>
          </p:spPr>
        </p:pic>
      </p:grpSp>
      <p:sp>
        <p:nvSpPr>
          <p:cNvPr id="47" name="object 47"/>
          <p:cNvSpPr txBox="1"/>
          <p:nvPr/>
        </p:nvSpPr>
        <p:spPr>
          <a:xfrm>
            <a:off x="66713" y="3331252"/>
            <a:ext cx="7404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4" action="ppaction://hlinksldjump"/>
              </a:rPr>
              <a:t>Middleware</a:t>
            </a:r>
            <a:r>
              <a:rPr sz="600" spc="-40" dirty="0">
                <a:solidFill>
                  <a:srgbClr val="3333B2"/>
                </a:solidFill>
                <a:latin typeface="Arial"/>
                <a:cs typeface="Arial"/>
                <a:hlinkClick r:id="rId14" action="ppaction://hlinksldjump"/>
              </a:rPr>
              <a:t> </a:t>
            </a:r>
            <a:r>
              <a:rPr sz="600" spc="-5" dirty="0">
                <a:solidFill>
                  <a:srgbClr val="3333B2"/>
                </a:solidFill>
                <a:latin typeface="Arial"/>
                <a:cs typeface="Arial"/>
                <a:hlinkClick r:id="rId14" action="ppaction://hlinksldjump"/>
              </a:rPr>
              <a:t>protocols</a:t>
            </a:r>
            <a:endParaRPr sz="600">
              <a:latin typeface="Arial"/>
              <a:cs typeface="Arial"/>
            </a:endParaRPr>
          </a:p>
        </p:txBody>
      </p:sp>
      <p:sp>
        <p:nvSpPr>
          <p:cNvPr id="48" name="object 48"/>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6</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0287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Foundations</a:t>
            </a:r>
            <a:endParaRPr sz="600">
              <a:latin typeface="Arial"/>
              <a:cs typeface="Arial"/>
            </a:endParaRPr>
          </a:p>
        </p:txBody>
      </p:sp>
      <p:sp>
        <p:nvSpPr>
          <p:cNvPr id="3" name="object 3"/>
          <p:cNvSpPr txBox="1"/>
          <p:nvPr/>
        </p:nvSpPr>
        <p:spPr>
          <a:xfrm>
            <a:off x="3686225" y="716"/>
            <a:ext cx="855344" cy="116839"/>
          </a:xfrm>
          <a:prstGeom prst="rect">
            <a:avLst/>
          </a:prstGeom>
        </p:spPr>
        <p:txBody>
          <a:bodyPr vert="horz" wrap="square" lIns="0" tIns="12065" rIns="0" bIns="0" rtlCol="0">
            <a:spAutoFit/>
          </a:bodyPr>
          <a:lstStyle/>
          <a:p>
            <a:pPr marL="12700">
              <a:lnSpc>
                <a:spcPct val="100000"/>
              </a:lnSpc>
              <a:spcBef>
                <a:spcPts val="95"/>
              </a:spcBef>
            </a:pPr>
            <a:r>
              <a:rPr sz="600" spc="-20" dirty="0">
                <a:solidFill>
                  <a:srgbClr val="262685"/>
                </a:solidFill>
                <a:latin typeface="Arial"/>
                <a:cs typeface="Arial"/>
                <a:hlinkClick r:id="rId4" action="ppaction://hlinksldjump"/>
              </a:rPr>
              <a:t>Types </a:t>
            </a:r>
            <a:r>
              <a:rPr sz="600" spc="-5" dirty="0">
                <a:solidFill>
                  <a:srgbClr val="262685"/>
                </a:solidFill>
                <a:latin typeface="Arial"/>
                <a:cs typeface="Arial"/>
                <a:hlinkClick r:id="rId4" action="ppaction://hlinksldjump"/>
              </a:rPr>
              <a:t>of</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Communication</a:t>
            </a:r>
            <a:endParaRPr sz="600">
              <a:latin typeface="Arial"/>
              <a:cs typeface="Arial"/>
            </a:endParaRPr>
          </a:p>
        </p:txBody>
      </p:sp>
      <p:sp>
        <p:nvSpPr>
          <p:cNvPr id="4" name="object 4"/>
          <p:cNvSpPr txBox="1"/>
          <p:nvPr/>
        </p:nvSpPr>
        <p:spPr>
          <a:xfrm>
            <a:off x="2008805" y="2329522"/>
            <a:ext cx="274320" cy="127000"/>
          </a:xfrm>
          <a:prstGeom prst="rect">
            <a:avLst/>
          </a:prstGeom>
        </p:spPr>
        <p:txBody>
          <a:bodyPr vert="horz" wrap="square" lIns="0" tIns="14605" rIns="0" bIns="0" rtlCol="0">
            <a:spAutoFit/>
          </a:bodyPr>
          <a:lstStyle/>
          <a:p>
            <a:pPr marL="12700">
              <a:lnSpc>
                <a:spcPct val="100000"/>
              </a:lnSpc>
              <a:spcBef>
                <a:spcPts val="115"/>
              </a:spcBef>
            </a:pPr>
            <a:r>
              <a:rPr sz="650" spc="5" dirty="0">
                <a:solidFill>
                  <a:srgbClr val="231F20"/>
                </a:solidFill>
                <a:latin typeface="Helvetica"/>
                <a:cs typeface="Helvetica"/>
              </a:rPr>
              <a:t>Se</a:t>
            </a:r>
            <a:r>
              <a:rPr sz="650" spc="15" dirty="0">
                <a:solidFill>
                  <a:srgbClr val="231F20"/>
                </a:solidFill>
                <a:latin typeface="Helvetica"/>
                <a:cs typeface="Helvetica"/>
              </a:rPr>
              <a:t>r</a:t>
            </a:r>
            <a:r>
              <a:rPr sz="650" spc="-15" dirty="0">
                <a:solidFill>
                  <a:srgbClr val="231F20"/>
                </a:solidFill>
                <a:latin typeface="Helvetica"/>
                <a:cs typeface="Helvetica"/>
              </a:rPr>
              <a:t>v</a:t>
            </a:r>
            <a:r>
              <a:rPr sz="650" spc="5" dirty="0">
                <a:solidFill>
                  <a:srgbClr val="231F20"/>
                </a:solidFill>
                <a:latin typeface="Helvetica"/>
                <a:cs typeface="Helvetica"/>
              </a:rPr>
              <a:t>er</a:t>
            </a:r>
            <a:endParaRPr sz="650">
              <a:latin typeface="Helvetica"/>
              <a:cs typeface="Helvetica"/>
            </a:endParaRPr>
          </a:p>
        </p:txBody>
      </p:sp>
      <p:grpSp>
        <p:nvGrpSpPr>
          <p:cNvPr id="5" name="object 5"/>
          <p:cNvGrpSpPr/>
          <p:nvPr/>
        </p:nvGrpSpPr>
        <p:grpSpPr>
          <a:xfrm>
            <a:off x="986116" y="1206830"/>
            <a:ext cx="2218690" cy="1116965"/>
            <a:chOff x="986116" y="1206830"/>
            <a:chExt cx="2218690" cy="1116965"/>
          </a:xfrm>
        </p:grpSpPr>
        <p:pic>
          <p:nvPicPr>
            <p:cNvPr id="6" name="object 6"/>
            <p:cNvPicPr/>
            <p:nvPr/>
          </p:nvPicPr>
          <p:blipFill>
            <a:blip r:embed="rId5" cstate="print"/>
            <a:stretch>
              <a:fillRect/>
            </a:stretch>
          </p:blipFill>
          <p:spPr>
            <a:xfrm>
              <a:off x="1838582" y="1727488"/>
              <a:ext cx="166091" cy="130079"/>
            </a:xfrm>
            <a:prstGeom prst="rect">
              <a:avLst/>
            </a:prstGeom>
          </p:spPr>
        </p:pic>
        <p:pic>
          <p:nvPicPr>
            <p:cNvPr id="7" name="object 7"/>
            <p:cNvPicPr/>
            <p:nvPr/>
          </p:nvPicPr>
          <p:blipFill>
            <a:blip r:embed="rId6" cstate="print"/>
            <a:stretch>
              <a:fillRect/>
            </a:stretch>
          </p:blipFill>
          <p:spPr>
            <a:xfrm>
              <a:off x="2864787" y="1735830"/>
              <a:ext cx="166105" cy="130079"/>
            </a:xfrm>
            <a:prstGeom prst="rect">
              <a:avLst/>
            </a:prstGeom>
          </p:spPr>
        </p:pic>
        <p:sp>
          <p:nvSpPr>
            <p:cNvPr id="8" name="object 8"/>
            <p:cNvSpPr/>
            <p:nvPr/>
          </p:nvSpPr>
          <p:spPr>
            <a:xfrm>
              <a:off x="2449546" y="1477156"/>
              <a:ext cx="748665" cy="608965"/>
            </a:xfrm>
            <a:custGeom>
              <a:avLst/>
              <a:gdLst/>
              <a:ahLst/>
              <a:cxnLst/>
              <a:rect l="l" t="t" r="r" b="b"/>
              <a:pathLst>
                <a:path w="748664" h="608964">
                  <a:moveTo>
                    <a:pt x="0" y="608565"/>
                  </a:moveTo>
                  <a:lnTo>
                    <a:pt x="748326" y="608565"/>
                  </a:lnTo>
                  <a:lnTo>
                    <a:pt x="748326" y="0"/>
                  </a:lnTo>
                  <a:lnTo>
                    <a:pt x="0" y="0"/>
                  </a:lnTo>
                </a:path>
              </a:pathLst>
            </a:custGeom>
            <a:ln w="5270">
              <a:solidFill>
                <a:srgbClr val="231F20"/>
              </a:solidFill>
            </a:ln>
          </p:spPr>
          <p:txBody>
            <a:bodyPr wrap="square" lIns="0" tIns="0" rIns="0" bIns="0" rtlCol="0"/>
            <a:lstStyle/>
            <a:p>
              <a:endParaRPr/>
            </a:p>
          </p:txBody>
        </p:sp>
        <p:pic>
          <p:nvPicPr>
            <p:cNvPr id="9" name="object 9"/>
            <p:cNvPicPr/>
            <p:nvPr/>
          </p:nvPicPr>
          <p:blipFill>
            <a:blip r:embed="rId7" cstate="print"/>
            <a:stretch>
              <a:fillRect/>
            </a:stretch>
          </p:blipFill>
          <p:spPr>
            <a:xfrm>
              <a:off x="1160664" y="1727488"/>
              <a:ext cx="166090" cy="130079"/>
            </a:xfrm>
            <a:prstGeom prst="rect">
              <a:avLst/>
            </a:prstGeom>
          </p:spPr>
        </p:pic>
        <p:sp>
          <p:nvSpPr>
            <p:cNvPr id="10" name="object 10"/>
            <p:cNvSpPr/>
            <p:nvPr/>
          </p:nvSpPr>
          <p:spPr>
            <a:xfrm>
              <a:off x="996907" y="1477156"/>
              <a:ext cx="748665" cy="608965"/>
            </a:xfrm>
            <a:custGeom>
              <a:avLst/>
              <a:gdLst/>
              <a:ahLst/>
              <a:cxnLst/>
              <a:rect l="l" t="t" r="r" b="b"/>
              <a:pathLst>
                <a:path w="748664" h="608964">
                  <a:moveTo>
                    <a:pt x="748328" y="608565"/>
                  </a:moveTo>
                  <a:lnTo>
                    <a:pt x="0" y="608565"/>
                  </a:lnTo>
                  <a:lnTo>
                    <a:pt x="0" y="0"/>
                  </a:lnTo>
                  <a:lnTo>
                    <a:pt x="748328" y="0"/>
                  </a:lnTo>
                </a:path>
              </a:pathLst>
            </a:custGeom>
            <a:ln w="5270">
              <a:solidFill>
                <a:srgbClr val="231F20"/>
              </a:solidFill>
            </a:ln>
          </p:spPr>
          <p:txBody>
            <a:bodyPr wrap="square" lIns="0" tIns="0" rIns="0" bIns="0" rtlCol="0"/>
            <a:lstStyle/>
            <a:p>
              <a:endParaRPr/>
            </a:p>
          </p:txBody>
        </p:sp>
        <p:sp>
          <p:nvSpPr>
            <p:cNvPr id="11" name="object 11"/>
            <p:cNvSpPr/>
            <p:nvPr/>
          </p:nvSpPr>
          <p:spPr>
            <a:xfrm>
              <a:off x="1745236" y="1477156"/>
              <a:ext cx="704850" cy="608965"/>
            </a:xfrm>
            <a:custGeom>
              <a:avLst/>
              <a:gdLst/>
              <a:ahLst/>
              <a:cxnLst/>
              <a:rect l="l" t="t" r="r" b="b"/>
              <a:pathLst>
                <a:path w="704850" h="608964">
                  <a:moveTo>
                    <a:pt x="0" y="0"/>
                  </a:moveTo>
                  <a:lnTo>
                    <a:pt x="704309" y="0"/>
                  </a:lnTo>
                </a:path>
                <a:path w="704850" h="608964">
                  <a:moveTo>
                    <a:pt x="0" y="608565"/>
                  </a:moveTo>
                  <a:lnTo>
                    <a:pt x="704309" y="608565"/>
                  </a:lnTo>
                </a:path>
              </a:pathLst>
            </a:custGeom>
            <a:ln w="5270">
              <a:solidFill>
                <a:srgbClr val="231F20"/>
              </a:solidFill>
              <a:prstDash val="lgDash"/>
            </a:ln>
          </p:spPr>
          <p:txBody>
            <a:bodyPr wrap="square" lIns="0" tIns="0" rIns="0" bIns="0" rtlCol="0"/>
            <a:lstStyle/>
            <a:p>
              <a:endParaRPr/>
            </a:p>
          </p:txBody>
        </p:sp>
        <p:sp>
          <p:nvSpPr>
            <p:cNvPr id="12" name="object 12"/>
            <p:cNvSpPr/>
            <p:nvPr/>
          </p:nvSpPr>
          <p:spPr>
            <a:xfrm>
              <a:off x="1262549" y="1288123"/>
              <a:ext cx="1662430" cy="473075"/>
            </a:xfrm>
            <a:custGeom>
              <a:avLst/>
              <a:gdLst/>
              <a:ahLst/>
              <a:cxnLst/>
              <a:rect l="l" t="t" r="r" b="b"/>
              <a:pathLst>
                <a:path w="1662430" h="473075">
                  <a:moveTo>
                    <a:pt x="0" y="0"/>
                  </a:moveTo>
                  <a:lnTo>
                    <a:pt x="181696" y="452604"/>
                  </a:lnTo>
                </a:path>
                <a:path w="1662430" h="473075">
                  <a:moveTo>
                    <a:pt x="1478898" y="473027"/>
                  </a:moveTo>
                  <a:lnTo>
                    <a:pt x="1662195" y="15379"/>
                  </a:lnTo>
                </a:path>
              </a:pathLst>
            </a:custGeom>
            <a:ln w="5270">
              <a:solidFill>
                <a:srgbClr val="231F20"/>
              </a:solidFill>
            </a:ln>
          </p:spPr>
          <p:txBody>
            <a:bodyPr wrap="square" lIns="0" tIns="0" rIns="0" bIns="0" rtlCol="0"/>
            <a:lstStyle/>
            <a:p>
              <a:endParaRPr/>
            </a:p>
          </p:txBody>
        </p:sp>
        <p:sp>
          <p:nvSpPr>
            <p:cNvPr id="13" name="object 13"/>
            <p:cNvSpPr/>
            <p:nvPr/>
          </p:nvSpPr>
          <p:spPr>
            <a:xfrm>
              <a:off x="2889569" y="1293899"/>
              <a:ext cx="40005" cy="57150"/>
            </a:xfrm>
            <a:custGeom>
              <a:avLst/>
              <a:gdLst/>
              <a:ahLst/>
              <a:cxnLst/>
              <a:rect l="l" t="t" r="r" b="b"/>
              <a:pathLst>
                <a:path w="40005" h="57150">
                  <a:moveTo>
                    <a:pt x="39265" y="0"/>
                  </a:moveTo>
                  <a:lnTo>
                    <a:pt x="0" y="40835"/>
                  </a:lnTo>
                  <a:lnTo>
                    <a:pt x="24507" y="37178"/>
                  </a:lnTo>
                  <a:lnTo>
                    <a:pt x="39823" y="56647"/>
                  </a:lnTo>
                  <a:lnTo>
                    <a:pt x="39265" y="0"/>
                  </a:lnTo>
                  <a:close/>
                </a:path>
              </a:pathLst>
            </a:custGeom>
            <a:solidFill>
              <a:srgbClr val="231F20"/>
            </a:solidFill>
          </p:spPr>
          <p:txBody>
            <a:bodyPr wrap="square" lIns="0" tIns="0" rIns="0" bIns="0" rtlCol="0"/>
            <a:lstStyle/>
            <a:p>
              <a:endParaRPr/>
            </a:p>
          </p:txBody>
        </p:sp>
        <p:sp>
          <p:nvSpPr>
            <p:cNvPr id="14" name="object 14"/>
            <p:cNvSpPr/>
            <p:nvPr/>
          </p:nvSpPr>
          <p:spPr>
            <a:xfrm>
              <a:off x="1718970" y="1326555"/>
              <a:ext cx="174625" cy="431165"/>
            </a:xfrm>
            <a:custGeom>
              <a:avLst/>
              <a:gdLst/>
              <a:ahLst/>
              <a:cxnLst/>
              <a:rect l="l" t="t" r="r" b="b"/>
              <a:pathLst>
                <a:path w="174625" h="431164">
                  <a:moveTo>
                    <a:pt x="0" y="430641"/>
                  </a:moveTo>
                  <a:lnTo>
                    <a:pt x="174103" y="0"/>
                  </a:lnTo>
                </a:path>
              </a:pathLst>
            </a:custGeom>
            <a:ln w="5270">
              <a:solidFill>
                <a:srgbClr val="231F20"/>
              </a:solidFill>
            </a:ln>
          </p:spPr>
          <p:txBody>
            <a:bodyPr wrap="square" lIns="0" tIns="0" rIns="0" bIns="0" rtlCol="0"/>
            <a:lstStyle/>
            <a:p>
              <a:endParaRPr/>
            </a:p>
          </p:txBody>
        </p:sp>
        <p:sp>
          <p:nvSpPr>
            <p:cNvPr id="15" name="object 15"/>
            <p:cNvSpPr/>
            <p:nvPr/>
          </p:nvSpPr>
          <p:spPr>
            <a:xfrm>
              <a:off x="1867524" y="1291907"/>
              <a:ext cx="40005" cy="57150"/>
            </a:xfrm>
            <a:custGeom>
              <a:avLst/>
              <a:gdLst/>
              <a:ahLst/>
              <a:cxnLst/>
              <a:rect l="l" t="t" r="r" b="b"/>
              <a:pathLst>
                <a:path w="40005" h="57150">
                  <a:moveTo>
                    <a:pt x="39145" y="0"/>
                  </a:moveTo>
                  <a:lnTo>
                    <a:pt x="0" y="40951"/>
                  </a:lnTo>
                  <a:lnTo>
                    <a:pt x="24490" y="37209"/>
                  </a:lnTo>
                  <a:lnTo>
                    <a:pt x="39866" y="56647"/>
                  </a:lnTo>
                  <a:lnTo>
                    <a:pt x="39145" y="0"/>
                  </a:lnTo>
                  <a:close/>
                </a:path>
              </a:pathLst>
            </a:custGeom>
            <a:solidFill>
              <a:srgbClr val="231F20"/>
            </a:solidFill>
          </p:spPr>
          <p:txBody>
            <a:bodyPr wrap="square" lIns="0" tIns="0" rIns="0" bIns="0" rtlCol="0"/>
            <a:lstStyle/>
            <a:p>
              <a:endParaRPr/>
            </a:p>
          </p:txBody>
        </p:sp>
        <p:sp>
          <p:nvSpPr>
            <p:cNvPr id="16" name="object 16"/>
            <p:cNvSpPr/>
            <p:nvPr/>
          </p:nvSpPr>
          <p:spPr>
            <a:xfrm>
              <a:off x="1338176" y="1324215"/>
              <a:ext cx="62865" cy="152400"/>
            </a:xfrm>
            <a:custGeom>
              <a:avLst/>
              <a:gdLst/>
              <a:ahLst/>
              <a:cxnLst/>
              <a:rect l="l" t="t" r="r" b="b"/>
              <a:pathLst>
                <a:path w="62865" h="152400">
                  <a:moveTo>
                    <a:pt x="0" y="152327"/>
                  </a:moveTo>
                  <a:lnTo>
                    <a:pt x="62546" y="0"/>
                  </a:lnTo>
                </a:path>
              </a:pathLst>
            </a:custGeom>
            <a:ln w="5270">
              <a:solidFill>
                <a:srgbClr val="231F20"/>
              </a:solidFill>
            </a:ln>
          </p:spPr>
          <p:txBody>
            <a:bodyPr wrap="square" lIns="0" tIns="0" rIns="0" bIns="0" rtlCol="0"/>
            <a:lstStyle/>
            <a:p>
              <a:endParaRPr/>
            </a:p>
          </p:txBody>
        </p:sp>
        <p:sp>
          <p:nvSpPr>
            <p:cNvPr id="17" name="object 17"/>
            <p:cNvSpPr/>
            <p:nvPr/>
          </p:nvSpPr>
          <p:spPr>
            <a:xfrm>
              <a:off x="1375173" y="1289567"/>
              <a:ext cx="40005" cy="57150"/>
            </a:xfrm>
            <a:custGeom>
              <a:avLst/>
              <a:gdLst/>
              <a:ahLst/>
              <a:cxnLst/>
              <a:rect l="l" t="t" r="r" b="b"/>
              <a:pathLst>
                <a:path w="40005" h="57150">
                  <a:moveTo>
                    <a:pt x="39137" y="0"/>
                  </a:moveTo>
                  <a:lnTo>
                    <a:pt x="0" y="40962"/>
                  </a:lnTo>
                  <a:lnTo>
                    <a:pt x="24495" y="37220"/>
                  </a:lnTo>
                  <a:lnTo>
                    <a:pt x="39870" y="56647"/>
                  </a:lnTo>
                  <a:lnTo>
                    <a:pt x="39137" y="0"/>
                  </a:lnTo>
                  <a:close/>
                </a:path>
              </a:pathLst>
            </a:custGeom>
            <a:solidFill>
              <a:srgbClr val="231F20"/>
            </a:solidFill>
          </p:spPr>
          <p:txBody>
            <a:bodyPr wrap="square" lIns="0" tIns="0" rIns="0" bIns="0" rtlCol="0"/>
            <a:lstStyle/>
            <a:p>
              <a:endParaRPr/>
            </a:p>
          </p:txBody>
        </p:sp>
        <p:sp>
          <p:nvSpPr>
            <p:cNvPr id="18" name="object 18"/>
            <p:cNvSpPr/>
            <p:nvPr/>
          </p:nvSpPr>
          <p:spPr>
            <a:xfrm>
              <a:off x="1465327" y="1795408"/>
              <a:ext cx="198755" cy="478790"/>
            </a:xfrm>
            <a:custGeom>
              <a:avLst/>
              <a:gdLst/>
              <a:ahLst/>
              <a:cxnLst/>
              <a:rect l="l" t="t" r="r" b="b"/>
              <a:pathLst>
                <a:path w="198755" h="478789">
                  <a:moveTo>
                    <a:pt x="0" y="0"/>
                  </a:moveTo>
                  <a:lnTo>
                    <a:pt x="198306" y="478297"/>
                  </a:lnTo>
                </a:path>
              </a:pathLst>
            </a:custGeom>
            <a:ln w="5270">
              <a:solidFill>
                <a:srgbClr val="231F20"/>
              </a:solidFill>
            </a:ln>
          </p:spPr>
          <p:txBody>
            <a:bodyPr wrap="square" lIns="0" tIns="0" rIns="0" bIns="0" rtlCol="0"/>
            <a:lstStyle/>
            <a:p>
              <a:endParaRPr/>
            </a:p>
          </p:txBody>
        </p:sp>
        <p:sp>
          <p:nvSpPr>
            <p:cNvPr id="19" name="object 19"/>
            <p:cNvSpPr/>
            <p:nvPr/>
          </p:nvSpPr>
          <p:spPr>
            <a:xfrm>
              <a:off x="1638039" y="2251430"/>
              <a:ext cx="40005" cy="57150"/>
            </a:xfrm>
            <a:custGeom>
              <a:avLst/>
              <a:gdLst/>
              <a:ahLst/>
              <a:cxnLst/>
              <a:rect l="l" t="t" r="r" b="b"/>
              <a:pathLst>
                <a:path w="40005" h="57150">
                  <a:moveTo>
                    <a:pt x="39552" y="0"/>
                  </a:moveTo>
                  <a:lnTo>
                    <a:pt x="24560" y="19727"/>
                  </a:lnTo>
                  <a:lnTo>
                    <a:pt x="0" y="16474"/>
                  </a:lnTo>
                  <a:lnTo>
                    <a:pt x="39939" y="56645"/>
                  </a:lnTo>
                  <a:lnTo>
                    <a:pt x="39552" y="0"/>
                  </a:lnTo>
                  <a:close/>
                </a:path>
              </a:pathLst>
            </a:custGeom>
            <a:solidFill>
              <a:srgbClr val="231F20"/>
            </a:solidFill>
          </p:spPr>
          <p:txBody>
            <a:bodyPr wrap="square" lIns="0" tIns="0" rIns="0" bIns="0" rtlCol="0"/>
            <a:lstStyle/>
            <a:p>
              <a:endParaRPr/>
            </a:p>
          </p:txBody>
        </p:sp>
        <p:sp>
          <p:nvSpPr>
            <p:cNvPr id="20" name="object 20"/>
            <p:cNvSpPr/>
            <p:nvPr/>
          </p:nvSpPr>
          <p:spPr>
            <a:xfrm>
              <a:off x="2514815" y="1791455"/>
              <a:ext cx="215265" cy="521334"/>
            </a:xfrm>
            <a:custGeom>
              <a:avLst/>
              <a:gdLst/>
              <a:ahLst/>
              <a:cxnLst/>
              <a:rect l="l" t="t" r="r" b="b"/>
              <a:pathLst>
                <a:path w="215264" h="521335">
                  <a:moveTo>
                    <a:pt x="0" y="521252"/>
                  </a:moveTo>
                  <a:lnTo>
                    <a:pt x="214772" y="0"/>
                  </a:lnTo>
                </a:path>
              </a:pathLst>
            </a:custGeom>
            <a:ln w="5270">
              <a:solidFill>
                <a:srgbClr val="231F20"/>
              </a:solidFill>
            </a:ln>
          </p:spPr>
          <p:txBody>
            <a:bodyPr wrap="square" lIns="0" tIns="0" rIns="0" bIns="0" rtlCol="0"/>
            <a:lstStyle/>
            <a:p>
              <a:endParaRPr/>
            </a:p>
          </p:txBody>
        </p:sp>
        <p:sp>
          <p:nvSpPr>
            <p:cNvPr id="21" name="object 21"/>
            <p:cNvSpPr/>
            <p:nvPr/>
          </p:nvSpPr>
          <p:spPr>
            <a:xfrm>
              <a:off x="1679968" y="2312708"/>
              <a:ext cx="835025" cy="0"/>
            </a:xfrm>
            <a:custGeom>
              <a:avLst/>
              <a:gdLst/>
              <a:ahLst/>
              <a:cxnLst/>
              <a:rect l="l" t="t" r="r" b="b"/>
              <a:pathLst>
                <a:path w="835025">
                  <a:moveTo>
                    <a:pt x="0" y="0"/>
                  </a:moveTo>
                  <a:lnTo>
                    <a:pt x="834847" y="0"/>
                  </a:lnTo>
                </a:path>
              </a:pathLst>
            </a:custGeom>
            <a:ln w="21081">
              <a:solidFill>
                <a:srgbClr val="231F20"/>
              </a:solidFill>
            </a:ln>
          </p:spPr>
          <p:txBody>
            <a:bodyPr wrap="square" lIns="0" tIns="0" rIns="0" bIns="0" rtlCol="0"/>
            <a:lstStyle/>
            <a:p>
              <a:endParaRPr/>
            </a:p>
          </p:txBody>
        </p:sp>
        <p:sp>
          <p:nvSpPr>
            <p:cNvPr id="22" name="object 22"/>
            <p:cNvSpPr/>
            <p:nvPr/>
          </p:nvSpPr>
          <p:spPr>
            <a:xfrm>
              <a:off x="996911" y="1288123"/>
              <a:ext cx="266065" cy="0"/>
            </a:xfrm>
            <a:custGeom>
              <a:avLst/>
              <a:gdLst/>
              <a:ahLst/>
              <a:cxnLst/>
              <a:rect l="l" t="t" r="r" b="b"/>
              <a:pathLst>
                <a:path w="266065">
                  <a:moveTo>
                    <a:pt x="265637" y="0"/>
                  </a:moveTo>
                  <a:lnTo>
                    <a:pt x="0" y="0"/>
                  </a:lnTo>
                </a:path>
              </a:pathLst>
            </a:custGeom>
            <a:solidFill>
              <a:srgbClr val="231F20"/>
            </a:solidFill>
          </p:spPr>
          <p:txBody>
            <a:bodyPr wrap="square" lIns="0" tIns="0" rIns="0" bIns="0" rtlCol="0"/>
            <a:lstStyle/>
            <a:p>
              <a:endParaRPr/>
            </a:p>
          </p:txBody>
        </p:sp>
        <p:sp>
          <p:nvSpPr>
            <p:cNvPr id="23" name="object 23"/>
            <p:cNvSpPr/>
            <p:nvPr/>
          </p:nvSpPr>
          <p:spPr>
            <a:xfrm>
              <a:off x="996911" y="1288123"/>
              <a:ext cx="266065" cy="0"/>
            </a:xfrm>
            <a:custGeom>
              <a:avLst/>
              <a:gdLst/>
              <a:ahLst/>
              <a:cxnLst/>
              <a:rect l="l" t="t" r="r" b="b"/>
              <a:pathLst>
                <a:path w="266065">
                  <a:moveTo>
                    <a:pt x="0" y="0"/>
                  </a:moveTo>
                  <a:lnTo>
                    <a:pt x="265637" y="0"/>
                  </a:lnTo>
                </a:path>
              </a:pathLst>
            </a:custGeom>
            <a:ln w="21081">
              <a:solidFill>
                <a:srgbClr val="231F20"/>
              </a:solidFill>
            </a:ln>
          </p:spPr>
          <p:txBody>
            <a:bodyPr wrap="square" lIns="0" tIns="0" rIns="0" bIns="0" rtlCol="0"/>
            <a:lstStyle/>
            <a:p>
              <a:endParaRPr/>
            </a:p>
          </p:txBody>
        </p:sp>
        <p:sp>
          <p:nvSpPr>
            <p:cNvPr id="24" name="object 24"/>
            <p:cNvSpPr/>
            <p:nvPr/>
          </p:nvSpPr>
          <p:spPr>
            <a:xfrm>
              <a:off x="2928023" y="1283906"/>
              <a:ext cx="266065" cy="0"/>
            </a:xfrm>
            <a:custGeom>
              <a:avLst/>
              <a:gdLst/>
              <a:ahLst/>
              <a:cxnLst/>
              <a:rect l="l" t="t" r="r" b="b"/>
              <a:pathLst>
                <a:path w="266064">
                  <a:moveTo>
                    <a:pt x="265633" y="0"/>
                  </a:moveTo>
                  <a:lnTo>
                    <a:pt x="0" y="0"/>
                  </a:lnTo>
                </a:path>
              </a:pathLst>
            </a:custGeom>
            <a:solidFill>
              <a:srgbClr val="231F20"/>
            </a:solidFill>
          </p:spPr>
          <p:txBody>
            <a:bodyPr wrap="square" lIns="0" tIns="0" rIns="0" bIns="0" rtlCol="0"/>
            <a:lstStyle/>
            <a:p>
              <a:endParaRPr/>
            </a:p>
          </p:txBody>
        </p:sp>
        <p:sp>
          <p:nvSpPr>
            <p:cNvPr id="25" name="object 25"/>
            <p:cNvSpPr/>
            <p:nvPr/>
          </p:nvSpPr>
          <p:spPr>
            <a:xfrm>
              <a:off x="2928023" y="1283906"/>
              <a:ext cx="266065" cy="0"/>
            </a:xfrm>
            <a:custGeom>
              <a:avLst/>
              <a:gdLst/>
              <a:ahLst/>
              <a:cxnLst/>
              <a:rect l="l" t="t" r="r" b="b"/>
              <a:pathLst>
                <a:path w="266064">
                  <a:moveTo>
                    <a:pt x="0" y="0"/>
                  </a:moveTo>
                  <a:lnTo>
                    <a:pt x="265633" y="0"/>
                  </a:lnTo>
                </a:path>
              </a:pathLst>
            </a:custGeom>
            <a:ln w="21081">
              <a:solidFill>
                <a:srgbClr val="231F20"/>
              </a:solidFill>
            </a:ln>
          </p:spPr>
          <p:txBody>
            <a:bodyPr wrap="square" lIns="0" tIns="0" rIns="0" bIns="0" rtlCol="0"/>
            <a:lstStyle/>
            <a:p>
              <a:endParaRPr/>
            </a:p>
          </p:txBody>
        </p:sp>
        <p:sp>
          <p:nvSpPr>
            <p:cNvPr id="26" name="object 26"/>
            <p:cNvSpPr/>
            <p:nvPr/>
          </p:nvSpPr>
          <p:spPr>
            <a:xfrm>
              <a:off x="1262549" y="1288123"/>
              <a:ext cx="1670050" cy="0"/>
            </a:xfrm>
            <a:custGeom>
              <a:avLst/>
              <a:gdLst/>
              <a:ahLst/>
              <a:cxnLst/>
              <a:rect l="l" t="t" r="r" b="b"/>
              <a:pathLst>
                <a:path w="1670050">
                  <a:moveTo>
                    <a:pt x="1669690" y="0"/>
                  </a:moveTo>
                  <a:lnTo>
                    <a:pt x="0" y="0"/>
                  </a:lnTo>
                </a:path>
              </a:pathLst>
            </a:custGeom>
            <a:solidFill>
              <a:srgbClr val="231F20"/>
            </a:solidFill>
          </p:spPr>
          <p:txBody>
            <a:bodyPr wrap="square" lIns="0" tIns="0" rIns="0" bIns="0" rtlCol="0"/>
            <a:lstStyle/>
            <a:p>
              <a:endParaRPr/>
            </a:p>
          </p:txBody>
        </p:sp>
        <p:sp>
          <p:nvSpPr>
            <p:cNvPr id="27" name="object 27"/>
            <p:cNvSpPr/>
            <p:nvPr/>
          </p:nvSpPr>
          <p:spPr>
            <a:xfrm>
              <a:off x="1262549" y="1288123"/>
              <a:ext cx="1670050" cy="0"/>
            </a:xfrm>
            <a:custGeom>
              <a:avLst/>
              <a:gdLst/>
              <a:ahLst/>
              <a:cxnLst/>
              <a:rect l="l" t="t" r="r" b="b"/>
              <a:pathLst>
                <a:path w="1670050">
                  <a:moveTo>
                    <a:pt x="0" y="0"/>
                  </a:moveTo>
                  <a:lnTo>
                    <a:pt x="1669690" y="0"/>
                  </a:lnTo>
                </a:path>
              </a:pathLst>
            </a:custGeom>
            <a:ln w="5270">
              <a:solidFill>
                <a:srgbClr val="231F20"/>
              </a:solidFill>
            </a:ln>
          </p:spPr>
          <p:txBody>
            <a:bodyPr wrap="square" lIns="0" tIns="0" rIns="0" bIns="0" rtlCol="0"/>
            <a:lstStyle/>
            <a:p>
              <a:endParaRPr/>
            </a:p>
          </p:txBody>
        </p:sp>
        <p:sp>
          <p:nvSpPr>
            <p:cNvPr id="28" name="object 28"/>
            <p:cNvSpPr/>
            <p:nvPr/>
          </p:nvSpPr>
          <p:spPr>
            <a:xfrm>
              <a:off x="996911" y="2312708"/>
              <a:ext cx="2201545" cy="0"/>
            </a:xfrm>
            <a:custGeom>
              <a:avLst/>
              <a:gdLst/>
              <a:ahLst/>
              <a:cxnLst/>
              <a:rect l="l" t="t" r="r" b="b"/>
              <a:pathLst>
                <a:path w="2201545">
                  <a:moveTo>
                    <a:pt x="683056" y="0"/>
                  </a:moveTo>
                  <a:lnTo>
                    <a:pt x="0" y="0"/>
                  </a:lnTo>
                </a:path>
                <a:path w="2201545">
                  <a:moveTo>
                    <a:pt x="2200960" y="0"/>
                  </a:moveTo>
                  <a:lnTo>
                    <a:pt x="1517903" y="0"/>
                  </a:lnTo>
                </a:path>
              </a:pathLst>
            </a:custGeom>
            <a:ln w="5270">
              <a:solidFill>
                <a:srgbClr val="231F20"/>
              </a:solidFill>
              <a:prstDash val="lgDash"/>
            </a:ln>
          </p:spPr>
          <p:txBody>
            <a:bodyPr wrap="square" lIns="0" tIns="0" rIns="0" bIns="0" rtlCol="0"/>
            <a:lstStyle/>
            <a:p>
              <a:endParaRPr/>
            </a:p>
          </p:txBody>
        </p:sp>
        <p:sp>
          <p:nvSpPr>
            <p:cNvPr id="29" name="object 29"/>
            <p:cNvSpPr/>
            <p:nvPr/>
          </p:nvSpPr>
          <p:spPr>
            <a:xfrm>
              <a:off x="1414335" y="1212227"/>
              <a:ext cx="1518285" cy="76200"/>
            </a:xfrm>
            <a:custGeom>
              <a:avLst/>
              <a:gdLst/>
              <a:ahLst/>
              <a:cxnLst/>
              <a:rect l="l" t="t" r="r" b="b"/>
              <a:pathLst>
                <a:path w="1518285" h="76200">
                  <a:moveTo>
                    <a:pt x="0" y="0"/>
                  </a:moveTo>
                  <a:lnTo>
                    <a:pt x="0" y="75895"/>
                  </a:lnTo>
                </a:path>
                <a:path w="1518285" h="76200">
                  <a:moveTo>
                    <a:pt x="493318" y="0"/>
                  </a:moveTo>
                  <a:lnTo>
                    <a:pt x="493318" y="75895"/>
                  </a:lnTo>
                </a:path>
                <a:path w="1518285" h="76200">
                  <a:moveTo>
                    <a:pt x="1517903" y="0"/>
                  </a:moveTo>
                  <a:lnTo>
                    <a:pt x="1517903" y="75895"/>
                  </a:lnTo>
                </a:path>
              </a:pathLst>
            </a:custGeom>
            <a:ln w="10540">
              <a:solidFill>
                <a:srgbClr val="231F20"/>
              </a:solidFill>
            </a:ln>
          </p:spPr>
          <p:txBody>
            <a:bodyPr wrap="square" lIns="0" tIns="0" rIns="0" bIns="0" rtlCol="0"/>
            <a:lstStyle/>
            <a:p>
              <a:endParaRPr/>
            </a:p>
          </p:txBody>
        </p:sp>
      </p:grpSp>
      <p:sp>
        <p:nvSpPr>
          <p:cNvPr id="30" name="object 30"/>
          <p:cNvSpPr txBox="1"/>
          <p:nvPr/>
        </p:nvSpPr>
        <p:spPr>
          <a:xfrm>
            <a:off x="2872739" y="887514"/>
            <a:ext cx="802640" cy="227329"/>
          </a:xfrm>
          <a:prstGeom prst="rect">
            <a:avLst/>
          </a:prstGeom>
        </p:spPr>
        <p:txBody>
          <a:bodyPr vert="horz" wrap="square" lIns="0" tIns="13970" rIns="0" bIns="0" rtlCol="0">
            <a:spAutoFit/>
          </a:bodyPr>
          <a:lstStyle/>
          <a:p>
            <a:pPr marL="12700" marR="5080" indent="60325">
              <a:lnSpc>
                <a:spcPct val="100000"/>
              </a:lnSpc>
              <a:spcBef>
                <a:spcPts val="110"/>
              </a:spcBef>
            </a:pPr>
            <a:r>
              <a:rPr sz="650" spc="5" dirty="0">
                <a:solidFill>
                  <a:srgbClr val="231F20"/>
                </a:solidFill>
                <a:latin typeface="Helvetica"/>
                <a:cs typeface="Helvetica"/>
              </a:rPr>
              <a:t>Synchronize after </a:t>
            </a:r>
            <a:r>
              <a:rPr sz="650" spc="10" dirty="0">
                <a:solidFill>
                  <a:srgbClr val="231F20"/>
                </a:solidFill>
                <a:latin typeface="Helvetica"/>
                <a:cs typeface="Helvetica"/>
              </a:rPr>
              <a:t> </a:t>
            </a:r>
            <a:r>
              <a:rPr sz="650" spc="5" dirty="0">
                <a:solidFill>
                  <a:srgbClr val="231F20"/>
                </a:solidFill>
                <a:latin typeface="Helvetica"/>
                <a:cs typeface="Helvetica"/>
              </a:rPr>
              <a:t>processing</a:t>
            </a:r>
            <a:r>
              <a:rPr sz="650" spc="-35" dirty="0">
                <a:solidFill>
                  <a:srgbClr val="231F20"/>
                </a:solidFill>
                <a:latin typeface="Helvetica"/>
                <a:cs typeface="Helvetica"/>
              </a:rPr>
              <a:t> </a:t>
            </a:r>
            <a:r>
              <a:rPr sz="650" spc="-5" dirty="0">
                <a:solidFill>
                  <a:srgbClr val="231F20"/>
                </a:solidFill>
                <a:latin typeface="Helvetica"/>
                <a:cs typeface="Helvetica"/>
              </a:rPr>
              <a:t>by</a:t>
            </a:r>
            <a:r>
              <a:rPr sz="650" spc="-30" dirty="0">
                <a:solidFill>
                  <a:srgbClr val="231F20"/>
                </a:solidFill>
                <a:latin typeface="Helvetica"/>
                <a:cs typeface="Helvetica"/>
              </a:rPr>
              <a:t> </a:t>
            </a:r>
            <a:r>
              <a:rPr sz="650" spc="5" dirty="0">
                <a:solidFill>
                  <a:srgbClr val="231F20"/>
                </a:solidFill>
                <a:latin typeface="Helvetica"/>
                <a:cs typeface="Helvetica"/>
              </a:rPr>
              <a:t>server</a:t>
            </a:r>
            <a:endParaRPr sz="650">
              <a:latin typeface="Helvetica"/>
              <a:cs typeface="Helvetica"/>
            </a:endParaRPr>
          </a:p>
        </p:txBody>
      </p:sp>
      <p:sp>
        <p:nvSpPr>
          <p:cNvPr id="31" name="object 31"/>
          <p:cNvSpPr txBox="1"/>
          <p:nvPr/>
        </p:nvSpPr>
        <p:spPr>
          <a:xfrm>
            <a:off x="2060365" y="887514"/>
            <a:ext cx="58229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Helvetica"/>
                <a:cs typeface="Helvetica"/>
              </a:rPr>
              <a:t>Synchroni</a:t>
            </a:r>
            <a:r>
              <a:rPr sz="650" spc="-5" dirty="0">
                <a:solidFill>
                  <a:srgbClr val="231F20"/>
                </a:solidFill>
                <a:latin typeface="Helvetica"/>
                <a:cs typeface="Helvetica"/>
              </a:rPr>
              <a:t>z</a:t>
            </a:r>
            <a:r>
              <a:rPr sz="650" spc="5" dirty="0">
                <a:solidFill>
                  <a:srgbClr val="231F20"/>
                </a:solidFill>
                <a:latin typeface="Helvetica"/>
                <a:cs typeface="Helvetica"/>
              </a:rPr>
              <a:t>e</a:t>
            </a:r>
            <a:r>
              <a:rPr sz="650" dirty="0">
                <a:solidFill>
                  <a:srgbClr val="231F20"/>
                </a:solidFill>
                <a:latin typeface="Helvetica"/>
                <a:cs typeface="Helvetica"/>
              </a:rPr>
              <a:t> </a:t>
            </a:r>
            <a:r>
              <a:rPr sz="650" spc="5" dirty="0">
                <a:solidFill>
                  <a:srgbClr val="231F20"/>
                </a:solidFill>
                <a:latin typeface="Helvetica"/>
                <a:cs typeface="Helvetica"/>
              </a:rPr>
              <a:t>at</a:t>
            </a:r>
            <a:endParaRPr sz="650">
              <a:latin typeface="Helvetica"/>
              <a:cs typeface="Helvetica"/>
            </a:endParaRPr>
          </a:p>
        </p:txBody>
      </p:sp>
      <p:sp>
        <p:nvSpPr>
          <p:cNvPr id="32" name="object 32"/>
          <p:cNvSpPr txBox="1"/>
          <p:nvPr/>
        </p:nvSpPr>
        <p:spPr>
          <a:xfrm>
            <a:off x="2052521" y="987653"/>
            <a:ext cx="6210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Helvetica"/>
                <a:cs typeface="Helvetica"/>
              </a:rPr>
              <a:t>request deli</a:t>
            </a:r>
            <a:r>
              <a:rPr sz="650" spc="-15" dirty="0">
                <a:solidFill>
                  <a:srgbClr val="231F20"/>
                </a:solidFill>
                <a:latin typeface="Helvetica"/>
                <a:cs typeface="Helvetica"/>
              </a:rPr>
              <a:t>v</a:t>
            </a:r>
            <a:r>
              <a:rPr sz="650" spc="5" dirty="0">
                <a:solidFill>
                  <a:srgbClr val="231F20"/>
                </a:solidFill>
                <a:latin typeface="Helvetica"/>
                <a:cs typeface="Helvetica"/>
              </a:rPr>
              <a:t>e</a:t>
            </a:r>
            <a:r>
              <a:rPr sz="650" spc="15" dirty="0">
                <a:solidFill>
                  <a:srgbClr val="231F20"/>
                </a:solidFill>
                <a:latin typeface="Helvetica"/>
                <a:cs typeface="Helvetica"/>
              </a:rPr>
              <a:t>r</a:t>
            </a:r>
            <a:r>
              <a:rPr sz="650" spc="5" dirty="0">
                <a:solidFill>
                  <a:srgbClr val="231F20"/>
                </a:solidFill>
                <a:latin typeface="Helvetica"/>
                <a:cs typeface="Helvetica"/>
              </a:rPr>
              <a:t>y</a:t>
            </a:r>
            <a:endParaRPr sz="650">
              <a:latin typeface="Helvetica"/>
              <a:cs typeface="Helvetica"/>
            </a:endParaRPr>
          </a:p>
        </p:txBody>
      </p:sp>
      <p:sp>
        <p:nvSpPr>
          <p:cNvPr id="33" name="object 33"/>
          <p:cNvSpPr txBox="1"/>
          <p:nvPr/>
        </p:nvSpPr>
        <p:spPr>
          <a:xfrm>
            <a:off x="95300" y="188846"/>
            <a:ext cx="1976755" cy="1061720"/>
          </a:xfrm>
          <a:prstGeom prst="rect">
            <a:avLst/>
          </a:prstGeom>
        </p:spPr>
        <p:txBody>
          <a:bodyPr vert="horz" wrap="square" lIns="0" tIns="17145" rIns="0" bIns="0" rtlCol="0">
            <a:spAutoFit/>
          </a:bodyPr>
          <a:lstStyle/>
          <a:p>
            <a:pPr algn="ctr">
              <a:lnSpc>
                <a:spcPct val="100000"/>
              </a:lnSpc>
              <a:spcBef>
                <a:spcPts val="135"/>
              </a:spcBef>
            </a:pPr>
            <a:r>
              <a:rPr sz="1400" spc="-20" dirty="0">
                <a:solidFill>
                  <a:srgbClr val="3333B2"/>
                </a:solidFill>
                <a:latin typeface="Arial"/>
                <a:cs typeface="Arial"/>
              </a:rPr>
              <a:t>Types</a:t>
            </a:r>
            <a:r>
              <a:rPr sz="1400" spc="-15" dirty="0">
                <a:solidFill>
                  <a:srgbClr val="3333B2"/>
                </a:solidFill>
                <a:latin typeface="Arial"/>
                <a:cs typeface="Arial"/>
              </a:rPr>
              <a:t> </a:t>
            </a:r>
            <a:r>
              <a:rPr sz="1400" spc="10" dirty="0">
                <a:solidFill>
                  <a:srgbClr val="3333B2"/>
                </a:solidFill>
                <a:latin typeface="Arial"/>
                <a:cs typeface="Arial"/>
              </a:rPr>
              <a:t>of</a:t>
            </a:r>
            <a:r>
              <a:rPr sz="1400" spc="-15" dirty="0">
                <a:solidFill>
                  <a:srgbClr val="3333B2"/>
                </a:solidFill>
                <a:latin typeface="Arial"/>
                <a:cs typeface="Arial"/>
              </a:rPr>
              <a:t> </a:t>
            </a:r>
            <a:r>
              <a:rPr sz="1400" spc="15" dirty="0">
                <a:solidFill>
                  <a:srgbClr val="3333B2"/>
                </a:solidFill>
                <a:latin typeface="Arial"/>
                <a:cs typeface="Arial"/>
              </a:rPr>
              <a:t>communication</a:t>
            </a:r>
            <a:endParaRPr sz="1400" dirty="0">
              <a:latin typeface="Arial"/>
              <a:cs typeface="Arial"/>
            </a:endParaRPr>
          </a:p>
          <a:p>
            <a:pPr marL="264160">
              <a:lnSpc>
                <a:spcPct val="100000"/>
              </a:lnSpc>
              <a:spcBef>
                <a:spcPts val="1335"/>
              </a:spcBef>
            </a:pPr>
            <a:r>
              <a:rPr sz="1200" spc="-5" dirty="0">
                <a:solidFill>
                  <a:srgbClr val="3333B2"/>
                </a:solidFill>
                <a:latin typeface="Arial"/>
                <a:cs typeface="Arial"/>
              </a:rPr>
              <a:t>Distinguish...</a:t>
            </a:r>
            <a:endParaRPr sz="1200" dirty="0">
              <a:latin typeface="Arial"/>
              <a:cs typeface="Arial"/>
            </a:endParaRPr>
          </a:p>
          <a:p>
            <a:pPr marL="1069340" marR="172085" algn="ctr">
              <a:lnSpc>
                <a:spcPct val="100000"/>
              </a:lnSpc>
              <a:spcBef>
                <a:spcPts val="1025"/>
              </a:spcBef>
            </a:pPr>
            <a:r>
              <a:rPr sz="650" spc="5" dirty="0">
                <a:solidFill>
                  <a:srgbClr val="231F20"/>
                </a:solidFill>
                <a:latin typeface="Helvetica"/>
                <a:cs typeface="Helvetica"/>
              </a:rPr>
              <a:t>Synchronize at </a:t>
            </a:r>
            <a:r>
              <a:rPr sz="650" spc="10" dirty="0">
                <a:solidFill>
                  <a:srgbClr val="231F20"/>
                </a:solidFill>
                <a:latin typeface="Helvetica"/>
                <a:cs typeface="Helvetica"/>
              </a:rPr>
              <a:t> </a:t>
            </a:r>
            <a:r>
              <a:rPr sz="650" spc="5" dirty="0">
                <a:solidFill>
                  <a:srgbClr val="231F20"/>
                </a:solidFill>
                <a:latin typeface="Helvetica"/>
                <a:cs typeface="Helvetica"/>
              </a:rPr>
              <a:t>request</a:t>
            </a:r>
            <a:r>
              <a:rPr sz="650" dirty="0">
                <a:solidFill>
                  <a:srgbClr val="231F20"/>
                </a:solidFill>
                <a:latin typeface="Helvetica"/>
                <a:cs typeface="Helvetica"/>
              </a:rPr>
              <a:t> </a:t>
            </a:r>
            <a:r>
              <a:rPr sz="650" spc="5" dirty="0">
                <a:solidFill>
                  <a:srgbClr val="231F20"/>
                </a:solidFill>
                <a:latin typeface="Helvetica"/>
                <a:cs typeface="Helvetica"/>
              </a:rPr>
              <a:t>submission</a:t>
            </a:r>
            <a:endParaRPr sz="650" dirty="0">
              <a:latin typeface="Helvetica"/>
              <a:cs typeface="Helvetica"/>
            </a:endParaRPr>
          </a:p>
          <a:p>
            <a:pPr marR="8255" algn="ctr">
              <a:lnSpc>
                <a:spcPct val="100000"/>
              </a:lnSpc>
              <a:spcBef>
                <a:spcPts val="300"/>
              </a:spcBef>
            </a:pPr>
            <a:r>
              <a:rPr sz="650" spc="5" dirty="0">
                <a:solidFill>
                  <a:srgbClr val="231F20"/>
                </a:solidFill>
                <a:latin typeface="Helvetica"/>
                <a:cs typeface="Helvetica"/>
              </a:rPr>
              <a:t>Client</a:t>
            </a:r>
            <a:endParaRPr sz="650" dirty="0">
              <a:latin typeface="Helvetica"/>
              <a:cs typeface="Helvetica"/>
            </a:endParaRPr>
          </a:p>
        </p:txBody>
      </p:sp>
      <p:sp>
        <p:nvSpPr>
          <p:cNvPr id="34" name="object 34"/>
          <p:cNvSpPr txBox="1"/>
          <p:nvPr/>
        </p:nvSpPr>
        <p:spPr>
          <a:xfrm>
            <a:off x="941035" y="1314770"/>
            <a:ext cx="3397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Helvetica"/>
                <a:cs typeface="Helvetica"/>
              </a:rPr>
              <a:t>Request</a:t>
            </a:r>
            <a:endParaRPr sz="650">
              <a:latin typeface="Helvetica"/>
              <a:cs typeface="Helvetica"/>
            </a:endParaRPr>
          </a:p>
        </p:txBody>
      </p:sp>
      <p:grpSp>
        <p:nvGrpSpPr>
          <p:cNvPr id="35" name="object 35"/>
          <p:cNvGrpSpPr/>
          <p:nvPr/>
        </p:nvGrpSpPr>
        <p:grpSpPr>
          <a:xfrm>
            <a:off x="1375992" y="1718265"/>
            <a:ext cx="1431925" cy="368935"/>
            <a:chOff x="1375992" y="1718265"/>
            <a:chExt cx="1431925" cy="368935"/>
          </a:xfrm>
        </p:grpSpPr>
        <p:pic>
          <p:nvPicPr>
            <p:cNvPr id="36" name="object 36"/>
            <p:cNvPicPr/>
            <p:nvPr/>
          </p:nvPicPr>
          <p:blipFill>
            <a:blip r:embed="rId8" cstate="print"/>
            <a:stretch>
              <a:fillRect/>
            </a:stretch>
          </p:blipFill>
          <p:spPr>
            <a:xfrm>
              <a:off x="1375992" y="1719583"/>
              <a:ext cx="157060" cy="87696"/>
            </a:xfrm>
            <a:prstGeom prst="rect">
              <a:avLst/>
            </a:prstGeom>
          </p:spPr>
        </p:pic>
        <p:pic>
          <p:nvPicPr>
            <p:cNvPr id="37" name="object 37"/>
            <p:cNvPicPr/>
            <p:nvPr/>
          </p:nvPicPr>
          <p:blipFill>
            <a:blip r:embed="rId9" cstate="print"/>
            <a:stretch>
              <a:fillRect/>
            </a:stretch>
          </p:blipFill>
          <p:spPr>
            <a:xfrm>
              <a:off x="2650573" y="1719583"/>
              <a:ext cx="157060" cy="87696"/>
            </a:xfrm>
            <a:prstGeom prst="rect">
              <a:avLst/>
            </a:prstGeom>
          </p:spPr>
        </p:pic>
        <p:pic>
          <p:nvPicPr>
            <p:cNvPr id="38" name="object 38"/>
            <p:cNvPicPr/>
            <p:nvPr/>
          </p:nvPicPr>
          <p:blipFill>
            <a:blip r:embed="rId10" cstate="print"/>
            <a:stretch>
              <a:fillRect/>
            </a:stretch>
          </p:blipFill>
          <p:spPr>
            <a:xfrm>
              <a:off x="1632665" y="1718265"/>
              <a:ext cx="157060" cy="87696"/>
            </a:xfrm>
            <a:prstGeom prst="rect">
              <a:avLst/>
            </a:prstGeom>
          </p:spPr>
        </p:pic>
        <p:sp>
          <p:nvSpPr>
            <p:cNvPr id="39" name="object 39"/>
            <p:cNvSpPr/>
            <p:nvPr/>
          </p:nvSpPr>
          <p:spPr>
            <a:xfrm>
              <a:off x="1584572" y="1784867"/>
              <a:ext cx="122555" cy="299720"/>
            </a:xfrm>
            <a:custGeom>
              <a:avLst/>
              <a:gdLst/>
              <a:ahLst/>
              <a:cxnLst/>
              <a:rect l="l" t="t" r="r" b="b"/>
              <a:pathLst>
                <a:path w="122555" h="299719">
                  <a:moveTo>
                    <a:pt x="0" y="299100"/>
                  </a:moveTo>
                  <a:lnTo>
                    <a:pt x="122539" y="0"/>
                  </a:lnTo>
                </a:path>
              </a:pathLst>
            </a:custGeom>
            <a:ln w="5270">
              <a:solidFill>
                <a:srgbClr val="231F20"/>
              </a:solidFill>
            </a:ln>
          </p:spPr>
          <p:txBody>
            <a:bodyPr wrap="square" lIns="0" tIns="0" rIns="0" bIns="0" rtlCol="0"/>
            <a:lstStyle/>
            <a:p>
              <a:endParaRPr/>
            </a:p>
          </p:txBody>
        </p:sp>
      </p:grpSp>
      <p:sp>
        <p:nvSpPr>
          <p:cNvPr id="40" name="object 40"/>
          <p:cNvSpPr txBox="1"/>
          <p:nvPr/>
        </p:nvSpPr>
        <p:spPr>
          <a:xfrm>
            <a:off x="2046744" y="1494671"/>
            <a:ext cx="795655" cy="765810"/>
          </a:xfrm>
          <a:prstGeom prst="rect">
            <a:avLst/>
          </a:prstGeom>
        </p:spPr>
        <p:txBody>
          <a:bodyPr vert="horz" wrap="square" lIns="0" tIns="13970" rIns="0" bIns="0" rtlCol="0">
            <a:spAutoFit/>
          </a:bodyPr>
          <a:lstStyle/>
          <a:p>
            <a:pPr marL="198755" marR="187960" indent="-90170">
              <a:lnSpc>
                <a:spcPct val="100000"/>
              </a:lnSpc>
              <a:spcBef>
                <a:spcPts val="110"/>
              </a:spcBef>
            </a:pPr>
            <a:r>
              <a:rPr sz="650" spc="-75" dirty="0">
                <a:solidFill>
                  <a:srgbClr val="231F20"/>
                </a:solidFill>
                <a:latin typeface="Helvetica"/>
                <a:cs typeface="Helvetica"/>
              </a:rPr>
              <a:t>T</a:t>
            </a:r>
            <a:r>
              <a:rPr sz="650" spc="-10" dirty="0">
                <a:solidFill>
                  <a:srgbClr val="231F20"/>
                </a:solidFill>
                <a:latin typeface="Helvetica"/>
                <a:cs typeface="Helvetica"/>
              </a:rPr>
              <a:t>r</a:t>
            </a:r>
            <a:r>
              <a:rPr sz="650" spc="5" dirty="0">
                <a:solidFill>
                  <a:srgbClr val="231F20"/>
                </a:solidFill>
                <a:latin typeface="Helvetica"/>
                <a:cs typeface="Helvetica"/>
              </a:rPr>
              <a:t>ansmission  interrupt</a:t>
            </a:r>
            <a:endParaRPr sz="650">
              <a:latin typeface="Helvetica"/>
              <a:cs typeface="Helvetica"/>
            </a:endParaRPr>
          </a:p>
          <a:p>
            <a:pPr marL="12700" marR="480059">
              <a:lnSpc>
                <a:spcPct val="100000"/>
              </a:lnSpc>
              <a:spcBef>
                <a:spcPts val="535"/>
              </a:spcBef>
            </a:pPr>
            <a:r>
              <a:rPr sz="650" spc="5" dirty="0">
                <a:solidFill>
                  <a:srgbClr val="231F20"/>
                </a:solidFill>
                <a:latin typeface="Helvetica"/>
                <a:cs typeface="Helvetica"/>
              </a:rPr>
              <a:t>Sto</a:t>
            </a:r>
            <a:r>
              <a:rPr sz="650" spc="-10" dirty="0">
                <a:solidFill>
                  <a:srgbClr val="231F20"/>
                </a:solidFill>
                <a:latin typeface="Helvetica"/>
                <a:cs typeface="Helvetica"/>
              </a:rPr>
              <a:t>r</a:t>
            </a:r>
            <a:r>
              <a:rPr sz="650" spc="5" dirty="0">
                <a:solidFill>
                  <a:srgbClr val="231F20"/>
                </a:solidFill>
                <a:latin typeface="Helvetica"/>
                <a:cs typeface="Helvetica"/>
              </a:rPr>
              <a:t>age  </a:t>
            </a:r>
            <a:r>
              <a:rPr sz="650" dirty="0">
                <a:solidFill>
                  <a:srgbClr val="231F20"/>
                </a:solidFill>
                <a:latin typeface="Helvetica"/>
                <a:cs typeface="Helvetica"/>
              </a:rPr>
              <a:t>facility</a:t>
            </a:r>
            <a:endParaRPr sz="650">
              <a:latin typeface="Helvetica"/>
              <a:cs typeface="Helvetica"/>
            </a:endParaRPr>
          </a:p>
          <a:p>
            <a:pPr>
              <a:lnSpc>
                <a:spcPct val="100000"/>
              </a:lnSpc>
            </a:pPr>
            <a:endParaRPr sz="600">
              <a:latin typeface="Helvetica"/>
              <a:cs typeface="Helvetica"/>
            </a:endParaRPr>
          </a:p>
          <a:p>
            <a:pPr>
              <a:lnSpc>
                <a:spcPct val="100000"/>
              </a:lnSpc>
              <a:spcBef>
                <a:spcPts val="25"/>
              </a:spcBef>
            </a:pPr>
            <a:endParaRPr sz="550">
              <a:latin typeface="Helvetica"/>
              <a:cs typeface="Helvetica"/>
            </a:endParaRPr>
          </a:p>
          <a:p>
            <a:pPr marR="5080" algn="r">
              <a:lnSpc>
                <a:spcPct val="100000"/>
              </a:lnSpc>
            </a:pPr>
            <a:r>
              <a:rPr sz="650" spc="5" dirty="0">
                <a:solidFill>
                  <a:srgbClr val="231F20"/>
                </a:solidFill>
                <a:latin typeface="Helvetica"/>
                <a:cs typeface="Helvetica"/>
              </a:rPr>
              <a:t>Reply</a:t>
            </a:r>
            <a:endParaRPr sz="650">
              <a:latin typeface="Helvetica"/>
              <a:cs typeface="Helvetica"/>
            </a:endParaRPr>
          </a:p>
        </p:txBody>
      </p:sp>
      <p:grpSp>
        <p:nvGrpSpPr>
          <p:cNvPr id="41" name="object 41"/>
          <p:cNvGrpSpPr/>
          <p:nvPr/>
        </p:nvGrpSpPr>
        <p:grpSpPr>
          <a:xfrm>
            <a:off x="1226824" y="1133475"/>
            <a:ext cx="1974214" cy="784225"/>
            <a:chOff x="1226824" y="1133475"/>
            <a:chExt cx="1974214" cy="784225"/>
          </a:xfrm>
        </p:grpSpPr>
        <p:pic>
          <p:nvPicPr>
            <p:cNvPr id="42" name="object 42"/>
            <p:cNvPicPr/>
            <p:nvPr/>
          </p:nvPicPr>
          <p:blipFill>
            <a:blip r:embed="rId11" cstate="print"/>
            <a:stretch>
              <a:fillRect/>
            </a:stretch>
          </p:blipFill>
          <p:spPr>
            <a:xfrm>
              <a:off x="1226824" y="1657934"/>
              <a:ext cx="218079" cy="85427"/>
            </a:xfrm>
            <a:prstGeom prst="rect">
              <a:avLst/>
            </a:prstGeom>
          </p:spPr>
        </p:pic>
        <p:pic>
          <p:nvPicPr>
            <p:cNvPr id="43" name="object 43"/>
            <p:cNvPicPr/>
            <p:nvPr/>
          </p:nvPicPr>
          <p:blipFill>
            <a:blip r:embed="rId12" cstate="print"/>
            <a:stretch>
              <a:fillRect/>
            </a:stretch>
          </p:blipFill>
          <p:spPr>
            <a:xfrm>
              <a:off x="1719715" y="1670234"/>
              <a:ext cx="218079" cy="85423"/>
            </a:xfrm>
            <a:prstGeom prst="rect">
              <a:avLst/>
            </a:prstGeom>
          </p:spPr>
        </p:pic>
        <p:pic>
          <p:nvPicPr>
            <p:cNvPr id="44" name="object 44"/>
            <p:cNvPicPr/>
            <p:nvPr/>
          </p:nvPicPr>
          <p:blipFill>
            <a:blip r:embed="rId13" cstate="print"/>
            <a:stretch>
              <a:fillRect/>
            </a:stretch>
          </p:blipFill>
          <p:spPr>
            <a:xfrm>
              <a:off x="1236719" y="1803688"/>
              <a:ext cx="224749" cy="108222"/>
            </a:xfrm>
            <a:prstGeom prst="rect">
              <a:avLst/>
            </a:prstGeom>
          </p:spPr>
        </p:pic>
        <p:pic>
          <p:nvPicPr>
            <p:cNvPr id="45" name="object 45"/>
            <p:cNvPicPr/>
            <p:nvPr/>
          </p:nvPicPr>
          <p:blipFill>
            <a:blip r:embed="rId14" cstate="print"/>
            <a:stretch>
              <a:fillRect/>
            </a:stretch>
          </p:blipFill>
          <p:spPr>
            <a:xfrm>
              <a:off x="1705390" y="1805664"/>
              <a:ext cx="224754" cy="108222"/>
            </a:xfrm>
            <a:prstGeom prst="rect">
              <a:avLst/>
            </a:prstGeom>
          </p:spPr>
        </p:pic>
        <p:pic>
          <p:nvPicPr>
            <p:cNvPr id="46" name="object 46"/>
            <p:cNvPicPr/>
            <p:nvPr/>
          </p:nvPicPr>
          <p:blipFill>
            <a:blip r:embed="rId15" cstate="print"/>
            <a:stretch>
              <a:fillRect/>
            </a:stretch>
          </p:blipFill>
          <p:spPr>
            <a:xfrm>
              <a:off x="2741320" y="1673968"/>
              <a:ext cx="218072" cy="85427"/>
            </a:xfrm>
            <a:prstGeom prst="rect">
              <a:avLst/>
            </a:prstGeom>
          </p:spPr>
        </p:pic>
        <p:pic>
          <p:nvPicPr>
            <p:cNvPr id="47" name="object 47"/>
            <p:cNvPicPr/>
            <p:nvPr/>
          </p:nvPicPr>
          <p:blipFill>
            <a:blip r:embed="rId16" cstate="print"/>
            <a:stretch>
              <a:fillRect/>
            </a:stretch>
          </p:blipFill>
          <p:spPr>
            <a:xfrm>
              <a:off x="2730727" y="1809396"/>
              <a:ext cx="224744" cy="108221"/>
            </a:xfrm>
            <a:prstGeom prst="rect">
              <a:avLst/>
            </a:prstGeom>
          </p:spPr>
        </p:pic>
        <p:sp>
          <p:nvSpPr>
            <p:cNvPr id="48" name="object 48"/>
            <p:cNvSpPr/>
            <p:nvPr/>
          </p:nvSpPr>
          <p:spPr>
            <a:xfrm>
              <a:off x="1414335" y="1136332"/>
              <a:ext cx="1783714" cy="597535"/>
            </a:xfrm>
            <a:custGeom>
              <a:avLst/>
              <a:gdLst/>
              <a:ahLst/>
              <a:cxnLst/>
              <a:rect l="l" t="t" r="r" b="b"/>
              <a:pathLst>
                <a:path w="1783714" h="597535">
                  <a:moveTo>
                    <a:pt x="151790" y="0"/>
                  </a:moveTo>
                  <a:lnTo>
                    <a:pt x="0" y="113842"/>
                  </a:lnTo>
                </a:path>
                <a:path w="1783714" h="597535">
                  <a:moveTo>
                    <a:pt x="834847" y="0"/>
                  </a:moveTo>
                  <a:lnTo>
                    <a:pt x="493318" y="113842"/>
                  </a:lnTo>
                </a:path>
                <a:path w="1783714" h="597535">
                  <a:moveTo>
                    <a:pt x="1783537" y="0"/>
                  </a:moveTo>
                  <a:lnTo>
                    <a:pt x="1517903" y="113842"/>
                  </a:lnTo>
                </a:path>
                <a:path w="1783714" h="597535">
                  <a:moveTo>
                    <a:pt x="1176902" y="491737"/>
                  </a:moveTo>
                  <a:lnTo>
                    <a:pt x="1279677" y="597147"/>
                  </a:lnTo>
                </a:path>
              </a:pathLst>
            </a:custGeom>
            <a:ln w="5270">
              <a:solidFill>
                <a:srgbClr val="231F20"/>
              </a:solidFill>
            </a:ln>
          </p:spPr>
          <p:txBody>
            <a:bodyPr wrap="square" lIns="0" tIns="0" rIns="0" bIns="0" rtlCol="0"/>
            <a:lstStyle/>
            <a:p>
              <a:endParaRPr/>
            </a:p>
          </p:txBody>
        </p:sp>
      </p:grpSp>
      <p:sp>
        <p:nvSpPr>
          <p:cNvPr id="49" name="object 49"/>
          <p:cNvSpPr txBox="1"/>
          <p:nvPr/>
        </p:nvSpPr>
        <p:spPr>
          <a:xfrm>
            <a:off x="2724657" y="2334793"/>
            <a:ext cx="213360" cy="127000"/>
          </a:xfrm>
          <a:prstGeom prst="rect">
            <a:avLst/>
          </a:prstGeom>
        </p:spPr>
        <p:txBody>
          <a:bodyPr vert="horz" wrap="square" lIns="0" tIns="14605" rIns="0" bIns="0" rtlCol="0">
            <a:spAutoFit/>
          </a:bodyPr>
          <a:lstStyle/>
          <a:p>
            <a:pPr marL="12700">
              <a:lnSpc>
                <a:spcPct val="100000"/>
              </a:lnSpc>
              <a:spcBef>
                <a:spcPts val="115"/>
              </a:spcBef>
            </a:pPr>
            <a:r>
              <a:rPr sz="650" spc="5" dirty="0">
                <a:solidFill>
                  <a:srgbClr val="231F20"/>
                </a:solidFill>
                <a:latin typeface="Helvetica"/>
                <a:cs typeface="Helvetica"/>
              </a:rPr>
              <a:t>Time</a:t>
            </a:r>
            <a:endParaRPr sz="650">
              <a:latin typeface="Helvetica"/>
              <a:cs typeface="Helvetica"/>
            </a:endParaRPr>
          </a:p>
        </p:txBody>
      </p:sp>
      <p:grpSp>
        <p:nvGrpSpPr>
          <p:cNvPr id="50" name="object 50"/>
          <p:cNvGrpSpPr/>
          <p:nvPr/>
        </p:nvGrpSpPr>
        <p:grpSpPr>
          <a:xfrm>
            <a:off x="2970187" y="2367179"/>
            <a:ext cx="189230" cy="43180"/>
            <a:chOff x="2970187" y="2367179"/>
            <a:chExt cx="189230" cy="43180"/>
          </a:xfrm>
        </p:grpSpPr>
        <p:sp>
          <p:nvSpPr>
            <p:cNvPr id="51" name="object 51"/>
            <p:cNvSpPr/>
            <p:nvPr/>
          </p:nvSpPr>
          <p:spPr>
            <a:xfrm>
              <a:off x="2970187" y="2388603"/>
              <a:ext cx="152400" cy="0"/>
            </a:xfrm>
            <a:custGeom>
              <a:avLst/>
              <a:gdLst/>
              <a:ahLst/>
              <a:cxnLst/>
              <a:rect l="l" t="t" r="r" b="b"/>
              <a:pathLst>
                <a:path w="152400">
                  <a:moveTo>
                    <a:pt x="0" y="0"/>
                  </a:moveTo>
                  <a:lnTo>
                    <a:pt x="151790" y="0"/>
                  </a:lnTo>
                </a:path>
              </a:pathLst>
            </a:custGeom>
            <a:ln w="5270">
              <a:solidFill>
                <a:srgbClr val="231F20"/>
              </a:solidFill>
            </a:ln>
          </p:spPr>
          <p:txBody>
            <a:bodyPr wrap="square" lIns="0" tIns="0" rIns="0" bIns="0" rtlCol="0"/>
            <a:lstStyle/>
            <a:p>
              <a:endParaRPr/>
            </a:p>
          </p:txBody>
        </p:sp>
        <p:sp>
          <p:nvSpPr>
            <p:cNvPr id="52" name="object 52"/>
            <p:cNvSpPr/>
            <p:nvPr/>
          </p:nvSpPr>
          <p:spPr>
            <a:xfrm>
              <a:off x="3106745" y="2367179"/>
              <a:ext cx="52705" cy="43180"/>
            </a:xfrm>
            <a:custGeom>
              <a:avLst/>
              <a:gdLst/>
              <a:ahLst/>
              <a:cxnLst/>
              <a:rect l="l" t="t" r="r" b="b"/>
              <a:pathLst>
                <a:path w="52705" h="43180">
                  <a:moveTo>
                    <a:pt x="0" y="0"/>
                  </a:moveTo>
                  <a:lnTo>
                    <a:pt x="12448" y="21423"/>
                  </a:lnTo>
                  <a:lnTo>
                    <a:pt x="0" y="42843"/>
                  </a:lnTo>
                  <a:lnTo>
                    <a:pt x="52441" y="21423"/>
                  </a:lnTo>
                  <a:lnTo>
                    <a:pt x="0" y="0"/>
                  </a:lnTo>
                  <a:close/>
                </a:path>
              </a:pathLst>
            </a:custGeom>
            <a:solidFill>
              <a:srgbClr val="231F20"/>
            </a:solidFill>
          </p:spPr>
          <p:txBody>
            <a:bodyPr wrap="square" lIns="0" tIns="0" rIns="0" bIns="0" rtlCol="0"/>
            <a:lstStyle/>
            <a:p>
              <a:endParaRPr/>
            </a:p>
          </p:txBody>
        </p:sp>
      </p:grpSp>
      <p:sp>
        <p:nvSpPr>
          <p:cNvPr id="53" name="object 53"/>
          <p:cNvSpPr txBox="1"/>
          <p:nvPr/>
        </p:nvSpPr>
        <p:spPr>
          <a:xfrm>
            <a:off x="431304" y="2660566"/>
            <a:ext cx="3087370" cy="329565"/>
          </a:xfrm>
          <a:prstGeom prst="rect">
            <a:avLst/>
          </a:prstGeom>
        </p:spPr>
        <p:txBody>
          <a:bodyPr vert="horz" wrap="square" lIns="0" tIns="12065" rIns="0" bIns="0" rtlCol="0">
            <a:spAutoFit/>
          </a:bodyPr>
          <a:lstStyle/>
          <a:p>
            <a:pPr marL="205740" indent="-168275">
              <a:lnSpc>
                <a:spcPts val="1200"/>
              </a:lnSpc>
              <a:spcBef>
                <a:spcPts val="95"/>
              </a:spcBef>
              <a:buClr>
                <a:srgbClr val="3333B2"/>
              </a:buClr>
              <a:buChar char="►"/>
              <a:tabLst>
                <a:tab pos="206375" algn="l"/>
              </a:tabLst>
            </a:pPr>
            <a:r>
              <a:rPr sz="1000" spc="-20" dirty="0">
                <a:solidFill>
                  <a:srgbClr val="0000FA"/>
                </a:solidFill>
                <a:latin typeface="Arial"/>
                <a:cs typeface="Arial"/>
              </a:rPr>
              <a:t>Transient</a:t>
            </a:r>
            <a:r>
              <a:rPr sz="1000" spc="-5" dirty="0">
                <a:solidFill>
                  <a:srgbClr val="0000FA"/>
                </a:solidFill>
                <a:latin typeface="Arial"/>
                <a:cs typeface="Arial"/>
              </a:rPr>
              <a:t> </a:t>
            </a:r>
            <a:r>
              <a:rPr sz="1000" spc="-10" dirty="0">
                <a:latin typeface="Arial"/>
                <a:cs typeface="Arial"/>
              </a:rPr>
              <a:t>versus</a:t>
            </a:r>
            <a:r>
              <a:rPr sz="1000" dirty="0">
                <a:latin typeface="Arial"/>
                <a:cs typeface="Arial"/>
              </a:rPr>
              <a:t> </a:t>
            </a:r>
            <a:r>
              <a:rPr sz="1000" spc="-5" dirty="0">
                <a:solidFill>
                  <a:srgbClr val="0000FA"/>
                </a:solidFill>
                <a:latin typeface="Arial"/>
                <a:cs typeface="Arial"/>
              </a:rPr>
              <a:t>persistent</a:t>
            </a:r>
            <a:r>
              <a:rPr sz="1000" dirty="0">
                <a:solidFill>
                  <a:srgbClr val="0000FA"/>
                </a:solidFill>
                <a:latin typeface="Arial"/>
                <a:cs typeface="Arial"/>
              </a:rPr>
              <a:t> </a:t>
            </a:r>
            <a:r>
              <a:rPr sz="1000" spc="-5" dirty="0">
                <a:latin typeface="Arial"/>
                <a:cs typeface="Arial"/>
              </a:rPr>
              <a:t>communication</a:t>
            </a:r>
            <a:endParaRPr sz="1000" dirty="0">
              <a:latin typeface="Arial"/>
              <a:cs typeface="Arial"/>
            </a:endParaRPr>
          </a:p>
          <a:p>
            <a:pPr marL="205740" indent="-168275">
              <a:lnSpc>
                <a:spcPts val="1200"/>
              </a:lnSpc>
              <a:buClr>
                <a:srgbClr val="3333B2"/>
              </a:buClr>
              <a:buChar char="►"/>
              <a:tabLst>
                <a:tab pos="206375" algn="l"/>
              </a:tabLst>
            </a:pPr>
            <a:r>
              <a:rPr sz="1000" spc="-5" dirty="0">
                <a:solidFill>
                  <a:srgbClr val="0000FA"/>
                </a:solidFill>
                <a:latin typeface="Arial"/>
                <a:cs typeface="Arial"/>
              </a:rPr>
              <a:t>Asynchronous</a:t>
            </a:r>
            <a:r>
              <a:rPr sz="1000" dirty="0">
                <a:solidFill>
                  <a:srgbClr val="0000FA"/>
                </a:solidFill>
                <a:latin typeface="Arial"/>
                <a:cs typeface="Arial"/>
              </a:rPr>
              <a:t> </a:t>
            </a:r>
            <a:r>
              <a:rPr sz="1000" spc="-10" dirty="0">
                <a:latin typeface="Arial"/>
                <a:cs typeface="Arial"/>
              </a:rPr>
              <a:t>versus</a:t>
            </a:r>
            <a:r>
              <a:rPr sz="1000" dirty="0">
                <a:latin typeface="Arial"/>
                <a:cs typeface="Arial"/>
              </a:rPr>
              <a:t> </a:t>
            </a:r>
            <a:r>
              <a:rPr sz="1000" spc="-5" dirty="0">
                <a:solidFill>
                  <a:srgbClr val="0000FA"/>
                </a:solidFill>
                <a:latin typeface="Arial"/>
                <a:cs typeface="Arial"/>
              </a:rPr>
              <a:t>synchronous</a:t>
            </a:r>
            <a:r>
              <a:rPr sz="1000" dirty="0">
                <a:solidFill>
                  <a:srgbClr val="0000FA"/>
                </a:solidFill>
                <a:latin typeface="Arial"/>
                <a:cs typeface="Arial"/>
              </a:rPr>
              <a:t> </a:t>
            </a:r>
            <a:r>
              <a:rPr sz="1000" spc="-5" dirty="0">
                <a:latin typeface="Arial"/>
                <a:cs typeface="Arial"/>
              </a:rPr>
              <a:t>communication</a:t>
            </a:r>
            <a:endParaRPr sz="1000" dirty="0">
              <a:latin typeface="Arial"/>
              <a:cs typeface="Arial"/>
            </a:endParaRPr>
          </a:p>
        </p:txBody>
      </p:sp>
      <p:sp>
        <p:nvSpPr>
          <p:cNvPr id="54" name="object 54"/>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7</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0287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Foundations</a:t>
            </a:r>
            <a:endParaRPr sz="600">
              <a:latin typeface="Arial"/>
              <a:cs typeface="Arial"/>
            </a:endParaRPr>
          </a:p>
        </p:txBody>
      </p:sp>
      <p:sp>
        <p:nvSpPr>
          <p:cNvPr id="3" name="object 3"/>
          <p:cNvSpPr txBox="1"/>
          <p:nvPr/>
        </p:nvSpPr>
        <p:spPr>
          <a:xfrm>
            <a:off x="3686225" y="716"/>
            <a:ext cx="855344" cy="116839"/>
          </a:xfrm>
          <a:prstGeom prst="rect">
            <a:avLst/>
          </a:prstGeom>
        </p:spPr>
        <p:txBody>
          <a:bodyPr vert="horz" wrap="square" lIns="0" tIns="12065" rIns="0" bIns="0" rtlCol="0">
            <a:spAutoFit/>
          </a:bodyPr>
          <a:lstStyle/>
          <a:p>
            <a:pPr marL="12700">
              <a:lnSpc>
                <a:spcPct val="100000"/>
              </a:lnSpc>
              <a:spcBef>
                <a:spcPts val="95"/>
              </a:spcBef>
            </a:pPr>
            <a:r>
              <a:rPr sz="600" spc="-20" dirty="0">
                <a:solidFill>
                  <a:srgbClr val="262685"/>
                </a:solidFill>
                <a:latin typeface="Arial"/>
                <a:cs typeface="Arial"/>
                <a:hlinkClick r:id="rId4" action="ppaction://hlinksldjump"/>
              </a:rPr>
              <a:t>Types </a:t>
            </a:r>
            <a:r>
              <a:rPr sz="600" spc="-5" dirty="0">
                <a:solidFill>
                  <a:srgbClr val="262685"/>
                </a:solidFill>
                <a:latin typeface="Arial"/>
                <a:cs typeface="Arial"/>
                <a:hlinkClick r:id="rId4" action="ppaction://hlinksldjump"/>
              </a:rPr>
              <a:t>of</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Communication</a:t>
            </a:r>
            <a:endParaRPr sz="600">
              <a:latin typeface="Arial"/>
              <a:cs typeface="Arial"/>
            </a:endParaRPr>
          </a:p>
        </p:txBody>
      </p:sp>
      <p:sp>
        <p:nvSpPr>
          <p:cNvPr id="4" name="object 4"/>
          <p:cNvSpPr txBox="1"/>
          <p:nvPr/>
        </p:nvSpPr>
        <p:spPr>
          <a:xfrm>
            <a:off x="95300" y="130499"/>
            <a:ext cx="2072005" cy="533400"/>
          </a:xfrm>
          <a:prstGeom prst="rect">
            <a:avLst/>
          </a:prstGeom>
        </p:spPr>
        <p:txBody>
          <a:bodyPr vert="horz" wrap="square" lIns="0" tIns="75565" rIns="0" bIns="0" rtlCol="0">
            <a:spAutoFit/>
          </a:bodyPr>
          <a:lstStyle/>
          <a:p>
            <a:pPr marL="12700">
              <a:lnSpc>
                <a:spcPct val="100000"/>
              </a:lnSpc>
              <a:spcBef>
                <a:spcPts val="595"/>
              </a:spcBef>
            </a:pPr>
            <a:r>
              <a:rPr sz="1400" spc="-20" dirty="0">
                <a:solidFill>
                  <a:srgbClr val="3333B2"/>
                </a:solidFill>
                <a:latin typeface="Arial"/>
                <a:cs typeface="Arial"/>
              </a:rPr>
              <a:t>Types</a:t>
            </a:r>
            <a:r>
              <a:rPr sz="1400" spc="-15" dirty="0">
                <a:solidFill>
                  <a:srgbClr val="3333B2"/>
                </a:solidFill>
                <a:latin typeface="Arial"/>
                <a:cs typeface="Arial"/>
              </a:rPr>
              <a:t> </a:t>
            </a:r>
            <a:r>
              <a:rPr sz="1400" spc="10" dirty="0">
                <a:solidFill>
                  <a:srgbClr val="3333B2"/>
                </a:solidFill>
                <a:latin typeface="Arial"/>
                <a:cs typeface="Arial"/>
              </a:rPr>
              <a:t>of</a:t>
            </a:r>
            <a:r>
              <a:rPr sz="1400" spc="-10" dirty="0">
                <a:solidFill>
                  <a:srgbClr val="3333B2"/>
                </a:solidFill>
                <a:latin typeface="Arial"/>
                <a:cs typeface="Arial"/>
              </a:rPr>
              <a:t> </a:t>
            </a:r>
            <a:r>
              <a:rPr sz="1400" spc="15" dirty="0">
                <a:solidFill>
                  <a:srgbClr val="3333B2"/>
                </a:solidFill>
                <a:latin typeface="Arial"/>
                <a:cs typeface="Arial"/>
              </a:rPr>
              <a:t>communication</a:t>
            </a:r>
            <a:endParaRPr sz="1400">
              <a:latin typeface="Arial"/>
              <a:cs typeface="Arial"/>
            </a:endParaRPr>
          </a:p>
          <a:p>
            <a:pPr marL="259715">
              <a:lnSpc>
                <a:spcPct val="100000"/>
              </a:lnSpc>
              <a:spcBef>
                <a:spcPts val="384"/>
              </a:spcBef>
            </a:pPr>
            <a:r>
              <a:rPr sz="1200" spc="-20" dirty="0">
                <a:solidFill>
                  <a:srgbClr val="3333B2"/>
                </a:solidFill>
                <a:latin typeface="Arial"/>
                <a:cs typeface="Arial"/>
              </a:rPr>
              <a:t>Transient</a:t>
            </a:r>
            <a:r>
              <a:rPr sz="1200" spc="-30" dirty="0">
                <a:solidFill>
                  <a:srgbClr val="3333B2"/>
                </a:solidFill>
                <a:latin typeface="Arial"/>
                <a:cs typeface="Arial"/>
              </a:rPr>
              <a:t> </a:t>
            </a:r>
            <a:r>
              <a:rPr sz="1200" spc="-10" dirty="0">
                <a:solidFill>
                  <a:srgbClr val="3333B2"/>
                </a:solidFill>
                <a:latin typeface="Arial"/>
                <a:cs typeface="Arial"/>
              </a:rPr>
              <a:t>versus</a:t>
            </a:r>
            <a:r>
              <a:rPr sz="1200" spc="-25" dirty="0">
                <a:solidFill>
                  <a:srgbClr val="3333B2"/>
                </a:solidFill>
                <a:latin typeface="Arial"/>
                <a:cs typeface="Arial"/>
              </a:rPr>
              <a:t> </a:t>
            </a:r>
            <a:r>
              <a:rPr sz="1200" spc="-5" dirty="0">
                <a:solidFill>
                  <a:srgbClr val="3333B2"/>
                </a:solidFill>
                <a:latin typeface="Arial"/>
                <a:cs typeface="Arial"/>
              </a:rPr>
              <a:t>persistent</a:t>
            </a:r>
            <a:endParaRPr sz="1200">
              <a:latin typeface="Arial"/>
              <a:cs typeface="Arial"/>
            </a:endParaRPr>
          </a:p>
        </p:txBody>
      </p:sp>
      <p:sp>
        <p:nvSpPr>
          <p:cNvPr id="5" name="object 5"/>
          <p:cNvSpPr txBox="1"/>
          <p:nvPr/>
        </p:nvSpPr>
        <p:spPr>
          <a:xfrm>
            <a:off x="2008805" y="2206345"/>
            <a:ext cx="274320" cy="127000"/>
          </a:xfrm>
          <a:prstGeom prst="rect">
            <a:avLst/>
          </a:prstGeom>
        </p:spPr>
        <p:txBody>
          <a:bodyPr vert="horz" wrap="square" lIns="0" tIns="14605" rIns="0" bIns="0" rtlCol="0">
            <a:spAutoFit/>
          </a:bodyPr>
          <a:lstStyle/>
          <a:p>
            <a:pPr marL="12700">
              <a:lnSpc>
                <a:spcPct val="100000"/>
              </a:lnSpc>
              <a:spcBef>
                <a:spcPts val="115"/>
              </a:spcBef>
            </a:pPr>
            <a:r>
              <a:rPr sz="650" spc="5" dirty="0">
                <a:solidFill>
                  <a:srgbClr val="231F20"/>
                </a:solidFill>
                <a:latin typeface="Helvetica"/>
                <a:cs typeface="Helvetica"/>
              </a:rPr>
              <a:t>Se</a:t>
            </a:r>
            <a:r>
              <a:rPr sz="650" spc="15" dirty="0">
                <a:solidFill>
                  <a:srgbClr val="231F20"/>
                </a:solidFill>
                <a:latin typeface="Helvetica"/>
                <a:cs typeface="Helvetica"/>
              </a:rPr>
              <a:t>r</a:t>
            </a:r>
            <a:r>
              <a:rPr sz="650" spc="-15" dirty="0">
                <a:solidFill>
                  <a:srgbClr val="231F20"/>
                </a:solidFill>
                <a:latin typeface="Helvetica"/>
                <a:cs typeface="Helvetica"/>
              </a:rPr>
              <a:t>v</a:t>
            </a:r>
            <a:r>
              <a:rPr sz="650" spc="5" dirty="0">
                <a:solidFill>
                  <a:srgbClr val="231F20"/>
                </a:solidFill>
                <a:latin typeface="Helvetica"/>
                <a:cs typeface="Helvetica"/>
              </a:rPr>
              <a:t>er</a:t>
            </a:r>
            <a:endParaRPr sz="650">
              <a:latin typeface="Helvetica"/>
              <a:cs typeface="Helvetica"/>
            </a:endParaRPr>
          </a:p>
        </p:txBody>
      </p:sp>
      <p:grpSp>
        <p:nvGrpSpPr>
          <p:cNvPr id="6" name="object 6"/>
          <p:cNvGrpSpPr/>
          <p:nvPr/>
        </p:nvGrpSpPr>
        <p:grpSpPr>
          <a:xfrm>
            <a:off x="986116" y="1083653"/>
            <a:ext cx="2218690" cy="1116965"/>
            <a:chOff x="986116" y="1083653"/>
            <a:chExt cx="2218690" cy="1116965"/>
          </a:xfrm>
        </p:grpSpPr>
        <p:pic>
          <p:nvPicPr>
            <p:cNvPr id="7" name="object 7"/>
            <p:cNvPicPr/>
            <p:nvPr/>
          </p:nvPicPr>
          <p:blipFill>
            <a:blip r:embed="rId5" cstate="print"/>
            <a:stretch>
              <a:fillRect/>
            </a:stretch>
          </p:blipFill>
          <p:spPr>
            <a:xfrm>
              <a:off x="1838582" y="1604311"/>
              <a:ext cx="166091" cy="130079"/>
            </a:xfrm>
            <a:prstGeom prst="rect">
              <a:avLst/>
            </a:prstGeom>
          </p:spPr>
        </p:pic>
        <p:pic>
          <p:nvPicPr>
            <p:cNvPr id="8" name="object 8"/>
            <p:cNvPicPr/>
            <p:nvPr/>
          </p:nvPicPr>
          <p:blipFill>
            <a:blip r:embed="rId6" cstate="print"/>
            <a:stretch>
              <a:fillRect/>
            </a:stretch>
          </p:blipFill>
          <p:spPr>
            <a:xfrm>
              <a:off x="2864787" y="1612653"/>
              <a:ext cx="166105" cy="130079"/>
            </a:xfrm>
            <a:prstGeom prst="rect">
              <a:avLst/>
            </a:prstGeom>
          </p:spPr>
        </p:pic>
        <p:sp>
          <p:nvSpPr>
            <p:cNvPr id="9" name="object 9"/>
            <p:cNvSpPr/>
            <p:nvPr/>
          </p:nvSpPr>
          <p:spPr>
            <a:xfrm>
              <a:off x="2449546" y="1353979"/>
              <a:ext cx="748665" cy="608965"/>
            </a:xfrm>
            <a:custGeom>
              <a:avLst/>
              <a:gdLst/>
              <a:ahLst/>
              <a:cxnLst/>
              <a:rect l="l" t="t" r="r" b="b"/>
              <a:pathLst>
                <a:path w="748664" h="608964">
                  <a:moveTo>
                    <a:pt x="0" y="608565"/>
                  </a:moveTo>
                  <a:lnTo>
                    <a:pt x="748326" y="608565"/>
                  </a:lnTo>
                  <a:lnTo>
                    <a:pt x="748326" y="0"/>
                  </a:lnTo>
                  <a:lnTo>
                    <a:pt x="0" y="0"/>
                  </a:lnTo>
                </a:path>
              </a:pathLst>
            </a:custGeom>
            <a:ln w="5270">
              <a:solidFill>
                <a:srgbClr val="231F20"/>
              </a:solidFill>
            </a:ln>
          </p:spPr>
          <p:txBody>
            <a:bodyPr wrap="square" lIns="0" tIns="0" rIns="0" bIns="0" rtlCol="0"/>
            <a:lstStyle/>
            <a:p>
              <a:endParaRPr/>
            </a:p>
          </p:txBody>
        </p:sp>
        <p:pic>
          <p:nvPicPr>
            <p:cNvPr id="10" name="object 10"/>
            <p:cNvPicPr/>
            <p:nvPr/>
          </p:nvPicPr>
          <p:blipFill>
            <a:blip r:embed="rId7" cstate="print"/>
            <a:stretch>
              <a:fillRect/>
            </a:stretch>
          </p:blipFill>
          <p:spPr>
            <a:xfrm>
              <a:off x="1160664" y="1604311"/>
              <a:ext cx="166090" cy="130079"/>
            </a:xfrm>
            <a:prstGeom prst="rect">
              <a:avLst/>
            </a:prstGeom>
          </p:spPr>
        </p:pic>
        <p:sp>
          <p:nvSpPr>
            <p:cNvPr id="11" name="object 11"/>
            <p:cNvSpPr/>
            <p:nvPr/>
          </p:nvSpPr>
          <p:spPr>
            <a:xfrm>
              <a:off x="996907" y="1353979"/>
              <a:ext cx="748665" cy="608965"/>
            </a:xfrm>
            <a:custGeom>
              <a:avLst/>
              <a:gdLst/>
              <a:ahLst/>
              <a:cxnLst/>
              <a:rect l="l" t="t" r="r" b="b"/>
              <a:pathLst>
                <a:path w="748664" h="608964">
                  <a:moveTo>
                    <a:pt x="748328" y="608565"/>
                  </a:moveTo>
                  <a:lnTo>
                    <a:pt x="0" y="608565"/>
                  </a:lnTo>
                  <a:lnTo>
                    <a:pt x="0" y="0"/>
                  </a:lnTo>
                  <a:lnTo>
                    <a:pt x="748328" y="0"/>
                  </a:lnTo>
                </a:path>
              </a:pathLst>
            </a:custGeom>
            <a:ln w="5270">
              <a:solidFill>
                <a:srgbClr val="231F20"/>
              </a:solidFill>
            </a:ln>
          </p:spPr>
          <p:txBody>
            <a:bodyPr wrap="square" lIns="0" tIns="0" rIns="0" bIns="0" rtlCol="0"/>
            <a:lstStyle/>
            <a:p>
              <a:endParaRPr/>
            </a:p>
          </p:txBody>
        </p:sp>
        <p:sp>
          <p:nvSpPr>
            <p:cNvPr id="12" name="object 12"/>
            <p:cNvSpPr/>
            <p:nvPr/>
          </p:nvSpPr>
          <p:spPr>
            <a:xfrm>
              <a:off x="1745236" y="1353979"/>
              <a:ext cx="704850" cy="608965"/>
            </a:xfrm>
            <a:custGeom>
              <a:avLst/>
              <a:gdLst/>
              <a:ahLst/>
              <a:cxnLst/>
              <a:rect l="l" t="t" r="r" b="b"/>
              <a:pathLst>
                <a:path w="704850" h="608964">
                  <a:moveTo>
                    <a:pt x="0" y="0"/>
                  </a:moveTo>
                  <a:lnTo>
                    <a:pt x="704309" y="0"/>
                  </a:lnTo>
                </a:path>
                <a:path w="704850" h="608964">
                  <a:moveTo>
                    <a:pt x="0" y="608565"/>
                  </a:moveTo>
                  <a:lnTo>
                    <a:pt x="704309" y="608565"/>
                  </a:lnTo>
                </a:path>
              </a:pathLst>
            </a:custGeom>
            <a:ln w="5270">
              <a:solidFill>
                <a:srgbClr val="231F20"/>
              </a:solidFill>
              <a:prstDash val="lgDash"/>
            </a:ln>
          </p:spPr>
          <p:txBody>
            <a:bodyPr wrap="square" lIns="0" tIns="0" rIns="0" bIns="0" rtlCol="0"/>
            <a:lstStyle/>
            <a:p>
              <a:endParaRPr/>
            </a:p>
          </p:txBody>
        </p:sp>
        <p:sp>
          <p:nvSpPr>
            <p:cNvPr id="13" name="object 13"/>
            <p:cNvSpPr/>
            <p:nvPr/>
          </p:nvSpPr>
          <p:spPr>
            <a:xfrm>
              <a:off x="1262549" y="1164945"/>
              <a:ext cx="1662430" cy="473075"/>
            </a:xfrm>
            <a:custGeom>
              <a:avLst/>
              <a:gdLst/>
              <a:ahLst/>
              <a:cxnLst/>
              <a:rect l="l" t="t" r="r" b="b"/>
              <a:pathLst>
                <a:path w="1662430" h="473075">
                  <a:moveTo>
                    <a:pt x="0" y="0"/>
                  </a:moveTo>
                  <a:lnTo>
                    <a:pt x="181696" y="452604"/>
                  </a:lnTo>
                </a:path>
                <a:path w="1662430" h="473075">
                  <a:moveTo>
                    <a:pt x="1478898" y="473027"/>
                  </a:moveTo>
                  <a:lnTo>
                    <a:pt x="1662195" y="15379"/>
                  </a:lnTo>
                </a:path>
              </a:pathLst>
            </a:custGeom>
            <a:ln w="5270">
              <a:solidFill>
                <a:srgbClr val="231F20"/>
              </a:solidFill>
            </a:ln>
          </p:spPr>
          <p:txBody>
            <a:bodyPr wrap="square" lIns="0" tIns="0" rIns="0" bIns="0" rtlCol="0"/>
            <a:lstStyle/>
            <a:p>
              <a:endParaRPr/>
            </a:p>
          </p:txBody>
        </p:sp>
        <p:sp>
          <p:nvSpPr>
            <p:cNvPr id="14" name="object 14"/>
            <p:cNvSpPr/>
            <p:nvPr/>
          </p:nvSpPr>
          <p:spPr>
            <a:xfrm>
              <a:off x="2889569" y="1170722"/>
              <a:ext cx="40005" cy="57150"/>
            </a:xfrm>
            <a:custGeom>
              <a:avLst/>
              <a:gdLst/>
              <a:ahLst/>
              <a:cxnLst/>
              <a:rect l="l" t="t" r="r" b="b"/>
              <a:pathLst>
                <a:path w="40005" h="57150">
                  <a:moveTo>
                    <a:pt x="39265" y="0"/>
                  </a:moveTo>
                  <a:lnTo>
                    <a:pt x="0" y="40835"/>
                  </a:lnTo>
                  <a:lnTo>
                    <a:pt x="24507" y="37178"/>
                  </a:lnTo>
                  <a:lnTo>
                    <a:pt x="39823" y="56647"/>
                  </a:lnTo>
                  <a:lnTo>
                    <a:pt x="39265" y="0"/>
                  </a:lnTo>
                  <a:close/>
                </a:path>
              </a:pathLst>
            </a:custGeom>
            <a:solidFill>
              <a:srgbClr val="231F20"/>
            </a:solidFill>
          </p:spPr>
          <p:txBody>
            <a:bodyPr wrap="square" lIns="0" tIns="0" rIns="0" bIns="0" rtlCol="0"/>
            <a:lstStyle/>
            <a:p>
              <a:endParaRPr/>
            </a:p>
          </p:txBody>
        </p:sp>
        <p:sp>
          <p:nvSpPr>
            <p:cNvPr id="15" name="object 15"/>
            <p:cNvSpPr/>
            <p:nvPr/>
          </p:nvSpPr>
          <p:spPr>
            <a:xfrm>
              <a:off x="1718970" y="1203378"/>
              <a:ext cx="174625" cy="431165"/>
            </a:xfrm>
            <a:custGeom>
              <a:avLst/>
              <a:gdLst/>
              <a:ahLst/>
              <a:cxnLst/>
              <a:rect l="l" t="t" r="r" b="b"/>
              <a:pathLst>
                <a:path w="174625" h="431164">
                  <a:moveTo>
                    <a:pt x="0" y="430641"/>
                  </a:moveTo>
                  <a:lnTo>
                    <a:pt x="174103" y="0"/>
                  </a:lnTo>
                </a:path>
              </a:pathLst>
            </a:custGeom>
            <a:ln w="5270">
              <a:solidFill>
                <a:srgbClr val="231F20"/>
              </a:solidFill>
            </a:ln>
          </p:spPr>
          <p:txBody>
            <a:bodyPr wrap="square" lIns="0" tIns="0" rIns="0" bIns="0" rtlCol="0"/>
            <a:lstStyle/>
            <a:p>
              <a:endParaRPr/>
            </a:p>
          </p:txBody>
        </p:sp>
        <p:sp>
          <p:nvSpPr>
            <p:cNvPr id="16" name="object 16"/>
            <p:cNvSpPr/>
            <p:nvPr/>
          </p:nvSpPr>
          <p:spPr>
            <a:xfrm>
              <a:off x="1867524" y="1168729"/>
              <a:ext cx="40005" cy="57150"/>
            </a:xfrm>
            <a:custGeom>
              <a:avLst/>
              <a:gdLst/>
              <a:ahLst/>
              <a:cxnLst/>
              <a:rect l="l" t="t" r="r" b="b"/>
              <a:pathLst>
                <a:path w="40005" h="57150">
                  <a:moveTo>
                    <a:pt x="39145" y="0"/>
                  </a:moveTo>
                  <a:lnTo>
                    <a:pt x="0" y="40951"/>
                  </a:lnTo>
                  <a:lnTo>
                    <a:pt x="24490" y="37209"/>
                  </a:lnTo>
                  <a:lnTo>
                    <a:pt x="39866" y="56647"/>
                  </a:lnTo>
                  <a:lnTo>
                    <a:pt x="39145" y="0"/>
                  </a:lnTo>
                  <a:close/>
                </a:path>
              </a:pathLst>
            </a:custGeom>
            <a:solidFill>
              <a:srgbClr val="231F20"/>
            </a:solidFill>
          </p:spPr>
          <p:txBody>
            <a:bodyPr wrap="square" lIns="0" tIns="0" rIns="0" bIns="0" rtlCol="0"/>
            <a:lstStyle/>
            <a:p>
              <a:endParaRPr/>
            </a:p>
          </p:txBody>
        </p:sp>
        <p:sp>
          <p:nvSpPr>
            <p:cNvPr id="17" name="object 17"/>
            <p:cNvSpPr/>
            <p:nvPr/>
          </p:nvSpPr>
          <p:spPr>
            <a:xfrm>
              <a:off x="1338176" y="1201038"/>
              <a:ext cx="62865" cy="152400"/>
            </a:xfrm>
            <a:custGeom>
              <a:avLst/>
              <a:gdLst/>
              <a:ahLst/>
              <a:cxnLst/>
              <a:rect l="l" t="t" r="r" b="b"/>
              <a:pathLst>
                <a:path w="62865" h="152400">
                  <a:moveTo>
                    <a:pt x="0" y="152327"/>
                  </a:moveTo>
                  <a:lnTo>
                    <a:pt x="62546" y="0"/>
                  </a:lnTo>
                </a:path>
              </a:pathLst>
            </a:custGeom>
            <a:ln w="5270">
              <a:solidFill>
                <a:srgbClr val="231F20"/>
              </a:solidFill>
            </a:ln>
          </p:spPr>
          <p:txBody>
            <a:bodyPr wrap="square" lIns="0" tIns="0" rIns="0" bIns="0" rtlCol="0"/>
            <a:lstStyle/>
            <a:p>
              <a:endParaRPr/>
            </a:p>
          </p:txBody>
        </p:sp>
        <p:sp>
          <p:nvSpPr>
            <p:cNvPr id="18" name="object 18"/>
            <p:cNvSpPr/>
            <p:nvPr/>
          </p:nvSpPr>
          <p:spPr>
            <a:xfrm>
              <a:off x="1375173" y="1166389"/>
              <a:ext cx="40005" cy="57150"/>
            </a:xfrm>
            <a:custGeom>
              <a:avLst/>
              <a:gdLst/>
              <a:ahLst/>
              <a:cxnLst/>
              <a:rect l="l" t="t" r="r" b="b"/>
              <a:pathLst>
                <a:path w="40005" h="57150">
                  <a:moveTo>
                    <a:pt x="39137" y="0"/>
                  </a:moveTo>
                  <a:lnTo>
                    <a:pt x="0" y="40962"/>
                  </a:lnTo>
                  <a:lnTo>
                    <a:pt x="24495" y="37220"/>
                  </a:lnTo>
                  <a:lnTo>
                    <a:pt x="39870" y="56647"/>
                  </a:lnTo>
                  <a:lnTo>
                    <a:pt x="39137" y="0"/>
                  </a:lnTo>
                  <a:close/>
                </a:path>
              </a:pathLst>
            </a:custGeom>
            <a:solidFill>
              <a:srgbClr val="231F20"/>
            </a:solidFill>
          </p:spPr>
          <p:txBody>
            <a:bodyPr wrap="square" lIns="0" tIns="0" rIns="0" bIns="0" rtlCol="0"/>
            <a:lstStyle/>
            <a:p>
              <a:endParaRPr/>
            </a:p>
          </p:txBody>
        </p:sp>
        <p:sp>
          <p:nvSpPr>
            <p:cNvPr id="19" name="object 19"/>
            <p:cNvSpPr/>
            <p:nvPr/>
          </p:nvSpPr>
          <p:spPr>
            <a:xfrm>
              <a:off x="1465327" y="1672231"/>
              <a:ext cx="198755" cy="478790"/>
            </a:xfrm>
            <a:custGeom>
              <a:avLst/>
              <a:gdLst/>
              <a:ahLst/>
              <a:cxnLst/>
              <a:rect l="l" t="t" r="r" b="b"/>
              <a:pathLst>
                <a:path w="198755" h="478789">
                  <a:moveTo>
                    <a:pt x="0" y="0"/>
                  </a:moveTo>
                  <a:lnTo>
                    <a:pt x="198306" y="478297"/>
                  </a:lnTo>
                </a:path>
              </a:pathLst>
            </a:custGeom>
            <a:ln w="5270">
              <a:solidFill>
                <a:srgbClr val="231F20"/>
              </a:solidFill>
            </a:ln>
          </p:spPr>
          <p:txBody>
            <a:bodyPr wrap="square" lIns="0" tIns="0" rIns="0" bIns="0" rtlCol="0"/>
            <a:lstStyle/>
            <a:p>
              <a:endParaRPr/>
            </a:p>
          </p:txBody>
        </p:sp>
        <p:sp>
          <p:nvSpPr>
            <p:cNvPr id="20" name="object 20"/>
            <p:cNvSpPr/>
            <p:nvPr/>
          </p:nvSpPr>
          <p:spPr>
            <a:xfrm>
              <a:off x="1638039" y="2128252"/>
              <a:ext cx="40005" cy="57150"/>
            </a:xfrm>
            <a:custGeom>
              <a:avLst/>
              <a:gdLst/>
              <a:ahLst/>
              <a:cxnLst/>
              <a:rect l="l" t="t" r="r" b="b"/>
              <a:pathLst>
                <a:path w="40005" h="57150">
                  <a:moveTo>
                    <a:pt x="39552" y="0"/>
                  </a:moveTo>
                  <a:lnTo>
                    <a:pt x="24560" y="19727"/>
                  </a:lnTo>
                  <a:lnTo>
                    <a:pt x="0" y="16474"/>
                  </a:lnTo>
                  <a:lnTo>
                    <a:pt x="39939" y="56645"/>
                  </a:lnTo>
                  <a:lnTo>
                    <a:pt x="39552" y="0"/>
                  </a:lnTo>
                  <a:close/>
                </a:path>
              </a:pathLst>
            </a:custGeom>
            <a:solidFill>
              <a:srgbClr val="231F20"/>
            </a:solidFill>
          </p:spPr>
          <p:txBody>
            <a:bodyPr wrap="square" lIns="0" tIns="0" rIns="0" bIns="0" rtlCol="0"/>
            <a:lstStyle/>
            <a:p>
              <a:endParaRPr/>
            </a:p>
          </p:txBody>
        </p:sp>
        <p:sp>
          <p:nvSpPr>
            <p:cNvPr id="21" name="object 21"/>
            <p:cNvSpPr/>
            <p:nvPr/>
          </p:nvSpPr>
          <p:spPr>
            <a:xfrm>
              <a:off x="2514815" y="1668278"/>
              <a:ext cx="215265" cy="521334"/>
            </a:xfrm>
            <a:custGeom>
              <a:avLst/>
              <a:gdLst/>
              <a:ahLst/>
              <a:cxnLst/>
              <a:rect l="l" t="t" r="r" b="b"/>
              <a:pathLst>
                <a:path w="215264" h="521335">
                  <a:moveTo>
                    <a:pt x="0" y="521252"/>
                  </a:moveTo>
                  <a:lnTo>
                    <a:pt x="214772" y="0"/>
                  </a:lnTo>
                </a:path>
              </a:pathLst>
            </a:custGeom>
            <a:ln w="5270">
              <a:solidFill>
                <a:srgbClr val="231F20"/>
              </a:solidFill>
            </a:ln>
          </p:spPr>
          <p:txBody>
            <a:bodyPr wrap="square" lIns="0" tIns="0" rIns="0" bIns="0" rtlCol="0"/>
            <a:lstStyle/>
            <a:p>
              <a:endParaRPr/>
            </a:p>
          </p:txBody>
        </p:sp>
        <p:sp>
          <p:nvSpPr>
            <p:cNvPr id="22" name="object 22"/>
            <p:cNvSpPr/>
            <p:nvPr/>
          </p:nvSpPr>
          <p:spPr>
            <a:xfrm>
              <a:off x="1679968" y="2189530"/>
              <a:ext cx="835025" cy="0"/>
            </a:xfrm>
            <a:custGeom>
              <a:avLst/>
              <a:gdLst/>
              <a:ahLst/>
              <a:cxnLst/>
              <a:rect l="l" t="t" r="r" b="b"/>
              <a:pathLst>
                <a:path w="835025">
                  <a:moveTo>
                    <a:pt x="0" y="0"/>
                  </a:moveTo>
                  <a:lnTo>
                    <a:pt x="834847" y="0"/>
                  </a:lnTo>
                </a:path>
              </a:pathLst>
            </a:custGeom>
            <a:ln w="21081">
              <a:solidFill>
                <a:srgbClr val="231F20"/>
              </a:solidFill>
            </a:ln>
          </p:spPr>
          <p:txBody>
            <a:bodyPr wrap="square" lIns="0" tIns="0" rIns="0" bIns="0" rtlCol="0"/>
            <a:lstStyle/>
            <a:p>
              <a:endParaRPr/>
            </a:p>
          </p:txBody>
        </p:sp>
        <p:sp>
          <p:nvSpPr>
            <p:cNvPr id="23" name="object 23"/>
            <p:cNvSpPr/>
            <p:nvPr/>
          </p:nvSpPr>
          <p:spPr>
            <a:xfrm>
              <a:off x="996911" y="1164945"/>
              <a:ext cx="266065" cy="0"/>
            </a:xfrm>
            <a:custGeom>
              <a:avLst/>
              <a:gdLst/>
              <a:ahLst/>
              <a:cxnLst/>
              <a:rect l="l" t="t" r="r" b="b"/>
              <a:pathLst>
                <a:path w="266065">
                  <a:moveTo>
                    <a:pt x="265637" y="0"/>
                  </a:moveTo>
                  <a:lnTo>
                    <a:pt x="0" y="0"/>
                  </a:lnTo>
                </a:path>
              </a:pathLst>
            </a:custGeom>
            <a:solidFill>
              <a:srgbClr val="231F20"/>
            </a:solidFill>
          </p:spPr>
          <p:txBody>
            <a:bodyPr wrap="square" lIns="0" tIns="0" rIns="0" bIns="0" rtlCol="0"/>
            <a:lstStyle/>
            <a:p>
              <a:endParaRPr/>
            </a:p>
          </p:txBody>
        </p:sp>
        <p:sp>
          <p:nvSpPr>
            <p:cNvPr id="24" name="object 24"/>
            <p:cNvSpPr/>
            <p:nvPr/>
          </p:nvSpPr>
          <p:spPr>
            <a:xfrm>
              <a:off x="996911" y="1164945"/>
              <a:ext cx="266065" cy="0"/>
            </a:xfrm>
            <a:custGeom>
              <a:avLst/>
              <a:gdLst/>
              <a:ahLst/>
              <a:cxnLst/>
              <a:rect l="l" t="t" r="r" b="b"/>
              <a:pathLst>
                <a:path w="266065">
                  <a:moveTo>
                    <a:pt x="0" y="0"/>
                  </a:moveTo>
                  <a:lnTo>
                    <a:pt x="265637" y="0"/>
                  </a:lnTo>
                </a:path>
              </a:pathLst>
            </a:custGeom>
            <a:ln w="21081">
              <a:solidFill>
                <a:srgbClr val="231F20"/>
              </a:solidFill>
            </a:ln>
          </p:spPr>
          <p:txBody>
            <a:bodyPr wrap="square" lIns="0" tIns="0" rIns="0" bIns="0" rtlCol="0"/>
            <a:lstStyle/>
            <a:p>
              <a:endParaRPr/>
            </a:p>
          </p:txBody>
        </p:sp>
        <p:sp>
          <p:nvSpPr>
            <p:cNvPr id="25" name="object 25"/>
            <p:cNvSpPr/>
            <p:nvPr/>
          </p:nvSpPr>
          <p:spPr>
            <a:xfrm>
              <a:off x="2928023" y="1160729"/>
              <a:ext cx="266065" cy="0"/>
            </a:xfrm>
            <a:custGeom>
              <a:avLst/>
              <a:gdLst/>
              <a:ahLst/>
              <a:cxnLst/>
              <a:rect l="l" t="t" r="r" b="b"/>
              <a:pathLst>
                <a:path w="266064">
                  <a:moveTo>
                    <a:pt x="265633" y="0"/>
                  </a:moveTo>
                  <a:lnTo>
                    <a:pt x="0" y="0"/>
                  </a:lnTo>
                </a:path>
              </a:pathLst>
            </a:custGeom>
            <a:solidFill>
              <a:srgbClr val="231F20"/>
            </a:solidFill>
          </p:spPr>
          <p:txBody>
            <a:bodyPr wrap="square" lIns="0" tIns="0" rIns="0" bIns="0" rtlCol="0"/>
            <a:lstStyle/>
            <a:p>
              <a:endParaRPr/>
            </a:p>
          </p:txBody>
        </p:sp>
        <p:sp>
          <p:nvSpPr>
            <p:cNvPr id="26" name="object 26"/>
            <p:cNvSpPr/>
            <p:nvPr/>
          </p:nvSpPr>
          <p:spPr>
            <a:xfrm>
              <a:off x="2928023" y="1160729"/>
              <a:ext cx="266065" cy="0"/>
            </a:xfrm>
            <a:custGeom>
              <a:avLst/>
              <a:gdLst/>
              <a:ahLst/>
              <a:cxnLst/>
              <a:rect l="l" t="t" r="r" b="b"/>
              <a:pathLst>
                <a:path w="266064">
                  <a:moveTo>
                    <a:pt x="0" y="0"/>
                  </a:moveTo>
                  <a:lnTo>
                    <a:pt x="265633" y="0"/>
                  </a:lnTo>
                </a:path>
              </a:pathLst>
            </a:custGeom>
            <a:ln w="21081">
              <a:solidFill>
                <a:srgbClr val="231F20"/>
              </a:solidFill>
            </a:ln>
          </p:spPr>
          <p:txBody>
            <a:bodyPr wrap="square" lIns="0" tIns="0" rIns="0" bIns="0" rtlCol="0"/>
            <a:lstStyle/>
            <a:p>
              <a:endParaRPr/>
            </a:p>
          </p:txBody>
        </p:sp>
        <p:sp>
          <p:nvSpPr>
            <p:cNvPr id="27" name="object 27"/>
            <p:cNvSpPr/>
            <p:nvPr/>
          </p:nvSpPr>
          <p:spPr>
            <a:xfrm>
              <a:off x="1262549" y="1164945"/>
              <a:ext cx="1670050" cy="0"/>
            </a:xfrm>
            <a:custGeom>
              <a:avLst/>
              <a:gdLst/>
              <a:ahLst/>
              <a:cxnLst/>
              <a:rect l="l" t="t" r="r" b="b"/>
              <a:pathLst>
                <a:path w="1670050">
                  <a:moveTo>
                    <a:pt x="1669690" y="0"/>
                  </a:moveTo>
                  <a:lnTo>
                    <a:pt x="0" y="0"/>
                  </a:lnTo>
                </a:path>
              </a:pathLst>
            </a:custGeom>
            <a:solidFill>
              <a:srgbClr val="231F20"/>
            </a:solidFill>
          </p:spPr>
          <p:txBody>
            <a:bodyPr wrap="square" lIns="0" tIns="0" rIns="0" bIns="0" rtlCol="0"/>
            <a:lstStyle/>
            <a:p>
              <a:endParaRPr/>
            </a:p>
          </p:txBody>
        </p:sp>
        <p:sp>
          <p:nvSpPr>
            <p:cNvPr id="28" name="object 28"/>
            <p:cNvSpPr/>
            <p:nvPr/>
          </p:nvSpPr>
          <p:spPr>
            <a:xfrm>
              <a:off x="1262549" y="1164945"/>
              <a:ext cx="1670050" cy="0"/>
            </a:xfrm>
            <a:custGeom>
              <a:avLst/>
              <a:gdLst/>
              <a:ahLst/>
              <a:cxnLst/>
              <a:rect l="l" t="t" r="r" b="b"/>
              <a:pathLst>
                <a:path w="1670050">
                  <a:moveTo>
                    <a:pt x="0" y="0"/>
                  </a:moveTo>
                  <a:lnTo>
                    <a:pt x="1669690" y="0"/>
                  </a:lnTo>
                </a:path>
              </a:pathLst>
            </a:custGeom>
            <a:ln w="5270">
              <a:solidFill>
                <a:srgbClr val="231F20"/>
              </a:solidFill>
            </a:ln>
          </p:spPr>
          <p:txBody>
            <a:bodyPr wrap="square" lIns="0" tIns="0" rIns="0" bIns="0" rtlCol="0"/>
            <a:lstStyle/>
            <a:p>
              <a:endParaRPr/>
            </a:p>
          </p:txBody>
        </p:sp>
        <p:sp>
          <p:nvSpPr>
            <p:cNvPr id="29" name="object 29"/>
            <p:cNvSpPr/>
            <p:nvPr/>
          </p:nvSpPr>
          <p:spPr>
            <a:xfrm>
              <a:off x="996911" y="2189530"/>
              <a:ext cx="2201545" cy="0"/>
            </a:xfrm>
            <a:custGeom>
              <a:avLst/>
              <a:gdLst/>
              <a:ahLst/>
              <a:cxnLst/>
              <a:rect l="l" t="t" r="r" b="b"/>
              <a:pathLst>
                <a:path w="2201545">
                  <a:moveTo>
                    <a:pt x="683056" y="0"/>
                  </a:moveTo>
                  <a:lnTo>
                    <a:pt x="0" y="0"/>
                  </a:lnTo>
                </a:path>
                <a:path w="2201545">
                  <a:moveTo>
                    <a:pt x="2200960" y="0"/>
                  </a:moveTo>
                  <a:lnTo>
                    <a:pt x="1517903" y="0"/>
                  </a:lnTo>
                </a:path>
              </a:pathLst>
            </a:custGeom>
            <a:ln w="5270">
              <a:solidFill>
                <a:srgbClr val="231F20"/>
              </a:solidFill>
              <a:prstDash val="lgDash"/>
            </a:ln>
          </p:spPr>
          <p:txBody>
            <a:bodyPr wrap="square" lIns="0" tIns="0" rIns="0" bIns="0" rtlCol="0"/>
            <a:lstStyle/>
            <a:p>
              <a:endParaRPr/>
            </a:p>
          </p:txBody>
        </p:sp>
        <p:sp>
          <p:nvSpPr>
            <p:cNvPr id="30" name="object 30"/>
            <p:cNvSpPr/>
            <p:nvPr/>
          </p:nvSpPr>
          <p:spPr>
            <a:xfrm>
              <a:off x="1414335" y="1089050"/>
              <a:ext cx="1518285" cy="76200"/>
            </a:xfrm>
            <a:custGeom>
              <a:avLst/>
              <a:gdLst/>
              <a:ahLst/>
              <a:cxnLst/>
              <a:rect l="l" t="t" r="r" b="b"/>
              <a:pathLst>
                <a:path w="1518285" h="76200">
                  <a:moveTo>
                    <a:pt x="0" y="0"/>
                  </a:moveTo>
                  <a:lnTo>
                    <a:pt x="0" y="75895"/>
                  </a:lnTo>
                </a:path>
                <a:path w="1518285" h="76200">
                  <a:moveTo>
                    <a:pt x="493318" y="0"/>
                  </a:moveTo>
                  <a:lnTo>
                    <a:pt x="493318" y="75895"/>
                  </a:lnTo>
                </a:path>
                <a:path w="1518285" h="76200">
                  <a:moveTo>
                    <a:pt x="1517903" y="0"/>
                  </a:moveTo>
                  <a:lnTo>
                    <a:pt x="1517903" y="75895"/>
                  </a:lnTo>
                </a:path>
              </a:pathLst>
            </a:custGeom>
            <a:ln w="10540">
              <a:solidFill>
                <a:srgbClr val="231F20"/>
              </a:solidFill>
            </a:ln>
          </p:spPr>
          <p:txBody>
            <a:bodyPr wrap="square" lIns="0" tIns="0" rIns="0" bIns="0" rtlCol="0"/>
            <a:lstStyle/>
            <a:p>
              <a:endParaRPr/>
            </a:p>
          </p:txBody>
        </p:sp>
      </p:grpSp>
      <p:sp>
        <p:nvSpPr>
          <p:cNvPr id="31" name="object 31"/>
          <p:cNvSpPr txBox="1"/>
          <p:nvPr/>
        </p:nvSpPr>
        <p:spPr>
          <a:xfrm>
            <a:off x="954705" y="764336"/>
            <a:ext cx="949960" cy="363220"/>
          </a:xfrm>
          <a:prstGeom prst="rect">
            <a:avLst/>
          </a:prstGeom>
        </p:spPr>
        <p:txBody>
          <a:bodyPr vert="horz" wrap="square" lIns="0" tIns="13970" rIns="0" bIns="0" rtlCol="0">
            <a:spAutoFit/>
          </a:bodyPr>
          <a:lstStyle/>
          <a:p>
            <a:pPr marL="210185" marR="5080" indent="84455">
              <a:lnSpc>
                <a:spcPct val="100000"/>
              </a:lnSpc>
              <a:spcBef>
                <a:spcPts val="110"/>
              </a:spcBef>
            </a:pPr>
            <a:r>
              <a:rPr sz="650" spc="5" dirty="0">
                <a:solidFill>
                  <a:srgbClr val="231F20"/>
                </a:solidFill>
                <a:latin typeface="Helvetica"/>
                <a:cs typeface="Helvetica"/>
              </a:rPr>
              <a:t>Synchronize at </a:t>
            </a:r>
            <a:r>
              <a:rPr sz="650" spc="10" dirty="0">
                <a:solidFill>
                  <a:srgbClr val="231F20"/>
                </a:solidFill>
                <a:latin typeface="Helvetica"/>
                <a:cs typeface="Helvetica"/>
              </a:rPr>
              <a:t> </a:t>
            </a:r>
            <a:r>
              <a:rPr sz="650" spc="5" dirty="0">
                <a:solidFill>
                  <a:srgbClr val="231F20"/>
                </a:solidFill>
                <a:latin typeface="Helvetica"/>
                <a:cs typeface="Helvetica"/>
              </a:rPr>
              <a:t>request</a:t>
            </a:r>
            <a:r>
              <a:rPr sz="650" dirty="0">
                <a:solidFill>
                  <a:srgbClr val="231F20"/>
                </a:solidFill>
                <a:latin typeface="Helvetica"/>
                <a:cs typeface="Helvetica"/>
              </a:rPr>
              <a:t> </a:t>
            </a:r>
            <a:r>
              <a:rPr sz="650" spc="5" dirty="0">
                <a:solidFill>
                  <a:srgbClr val="231F20"/>
                </a:solidFill>
                <a:latin typeface="Helvetica"/>
                <a:cs typeface="Helvetica"/>
              </a:rPr>
              <a:t>submission</a:t>
            </a:r>
            <a:endParaRPr sz="650">
              <a:latin typeface="Helvetica"/>
              <a:cs typeface="Helvetica"/>
            </a:endParaRPr>
          </a:p>
          <a:p>
            <a:pPr marL="12700">
              <a:lnSpc>
                <a:spcPct val="100000"/>
              </a:lnSpc>
              <a:spcBef>
                <a:spcPts val="300"/>
              </a:spcBef>
            </a:pPr>
            <a:r>
              <a:rPr sz="650" spc="5" dirty="0">
                <a:solidFill>
                  <a:srgbClr val="231F20"/>
                </a:solidFill>
                <a:latin typeface="Helvetica"/>
                <a:cs typeface="Helvetica"/>
              </a:rPr>
              <a:t>Client</a:t>
            </a:r>
            <a:endParaRPr sz="650">
              <a:latin typeface="Helvetica"/>
              <a:cs typeface="Helvetica"/>
            </a:endParaRPr>
          </a:p>
        </p:txBody>
      </p:sp>
      <p:sp>
        <p:nvSpPr>
          <p:cNvPr id="32" name="object 32"/>
          <p:cNvSpPr txBox="1"/>
          <p:nvPr/>
        </p:nvSpPr>
        <p:spPr>
          <a:xfrm>
            <a:off x="2872739" y="764336"/>
            <a:ext cx="802640" cy="227329"/>
          </a:xfrm>
          <a:prstGeom prst="rect">
            <a:avLst/>
          </a:prstGeom>
        </p:spPr>
        <p:txBody>
          <a:bodyPr vert="horz" wrap="square" lIns="0" tIns="13970" rIns="0" bIns="0" rtlCol="0">
            <a:spAutoFit/>
          </a:bodyPr>
          <a:lstStyle/>
          <a:p>
            <a:pPr marL="12700" marR="5080" indent="60325">
              <a:lnSpc>
                <a:spcPct val="100000"/>
              </a:lnSpc>
              <a:spcBef>
                <a:spcPts val="110"/>
              </a:spcBef>
            </a:pPr>
            <a:r>
              <a:rPr sz="650" spc="5" dirty="0">
                <a:solidFill>
                  <a:srgbClr val="231F20"/>
                </a:solidFill>
                <a:latin typeface="Helvetica"/>
                <a:cs typeface="Helvetica"/>
              </a:rPr>
              <a:t>Synchronize after </a:t>
            </a:r>
            <a:r>
              <a:rPr sz="650" spc="10" dirty="0">
                <a:solidFill>
                  <a:srgbClr val="231F20"/>
                </a:solidFill>
                <a:latin typeface="Helvetica"/>
                <a:cs typeface="Helvetica"/>
              </a:rPr>
              <a:t> </a:t>
            </a:r>
            <a:r>
              <a:rPr sz="650" spc="5" dirty="0">
                <a:solidFill>
                  <a:srgbClr val="231F20"/>
                </a:solidFill>
                <a:latin typeface="Helvetica"/>
                <a:cs typeface="Helvetica"/>
              </a:rPr>
              <a:t>processing</a:t>
            </a:r>
            <a:r>
              <a:rPr sz="650" spc="-35" dirty="0">
                <a:solidFill>
                  <a:srgbClr val="231F20"/>
                </a:solidFill>
                <a:latin typeface="Helvetica"/>
                <a:cs typeface="Helvetica"/>
              </a:rPr>
              <a:t> </a:t>
            </a:r>
            <a:r>
              <a:rPr sz="650" spc="-5" dirty="0">
                <a:solidFill>
                  <a:srgbClr val="231F20"/>
                </a:solidFill>
                <a:latin typeface="Helvetica"/>
                <a:cs typeface="Helvetica"/>
              </a:rPr>
              <a:t>by</a:t>
            </a:r>
            <a:r>
              <a:rPr sz="650" spc="-30" dirty="0">
                <a:solidFill>
                  <a:srgbClr val="231F20"/>
                </a:solidFill>
                <a:latin typeface="Helvetica"/>
                <a:cs typeface="Helvetica"/>
              </a:rPr>
              <a:t> </a:t>
            </a:r>
            <a:r>
              <a:rPr sz="650" spc="5" dirty="0">
                <a:solidFill>
                  <a:srgbClr val="231F20"/>
                </a:solidFill>
                <a:latin typeface="Helvetica"/>
                <a:cs typeface="Helvetica"/>
              </a:rPr>
              <a:t>server</a:t>
            </a:r>
            <a:endParaRPr sz="650">
              <a:latin typeface="Helvetica"/>
              <a:cs typeface="Helvetica"/>
            </a:endParaRPr>
          </a:p>
        </p:txBody>
      </p:sp>
      <p:sp>
        <p:nvSpPr>
          <p:cNvPr id="33" name="object 33"/>
          <p:cNvSpPr txBox="1"/>
          <p:nvPr/>
        </p:nvSpPr>
        <p:spPr>
          <a:xfrm>
            <a:off x="2052521" y="764336"/>
            <a:ext cx="621030" cy="227329"/>
          </a:xfrm>
          <a:prstGeom prst="rect">
            <a:avLst/>
          </a:prstGeom>
        </p:spPr>
        <p:txBody>
          <a:bodyPr vert="horz" wrap="square" lIns="0" tIns="13970" rIns="0" bIns="0" rtlCol="0">
            <a:spAutoFit/>
          </a:bodyPr>
          <a:lstStyle/>
          <a:p>
            <a:pPr marL="12700" marR="5080" indent="7620">
              <a:lnSpc>
                <a:spcPct val="100000"/>
              </a:lnSpc>
              <a:spcBef>
                <a:spcPts val="110"/>
              </a:spcBef>
            </a:pPr>
            <a:r>
              <a:rPr sz="650" spc="5" dirty="0">
                <a:solidFill>
                  <a:srgbClr val="231F20"/>
                </a:solidFill>
                <a:latin typeface="Helvetica"/>
                <a:cs typeface="Helvetica"/>
              </a:rPr>
              <a:t>Synchronize at </a:t>
            </a:r>
            <a:r>
              <a:rPr sz="650" spc="-170" dirty="0">
                <a:solidFill>
                  <a:srgbClr val="231F20"/>
                </a:solidFill>
                <a:latin typeface="Helvetica"/>
                <a:cs typeface="Helvetica"/>
              </a:rPr>
              <a:t> </a:t>
            </a:r>
            <a:r>
              <a:rPr sz="650" spc="5" dirty="0">
                <a:solidFill>
                  <a:srgbClr val="231F20"/>
                </a:solidFill>
                <a:latin typeface="Helvetica"/>
                <a:cs typeface="Helvetica"/>
              </a:rPr>
              <a:t>request</a:t>
            </a:r>
            <a:r>
              <a:rPr sz="650" dirty="0">
                <a:solidFill>
                  <a:srgbClr val="231F20"/>
                </a:solidFill>
                <a:latin typeface="Helvetica"/>
                <a:cs typeface="Helvetica"/>
              </a:rPr>
              <a:t> </a:t>
            </a:r>
            <a:r>
              <a:rPr sz="650" spc="5" dirty="0">
                <a:solidFill>
                  <a:srgbClr val="231F20"/>
                </a:solidFill>
                <a:latin typeface="Helvetica"/>
                <a:cs typeface="Helvetica"/>
              </a:rPr>
              <a:t>deli</a:t>
            </a:r>
            <a:r>
              <a:rPr sz="650" spc="-15" dirty="0">
                <a:solidFill>
                  <a:srgbClr val="231F20"/>
                </a:solidFill>
                <a:latin typeface="Helvetica"/>
                <a:cs typeface="Helvetica"/>
              </a:rPr>
              <a:t>v</a:t>
            </a:r>
            <a:r>
              <a:rPr sz="650" spc="5" dirty="0">
                <a:solidFill>
                  <a:srgbClr val="231F20"/>
                </a:solidFill>
                <a:latin typeface="Helvetica"/>
                <a:cs typeface="Helvetica"/>
              </a:rPr>
              <a:t>e</a:t>
            </a:r>
            <a:r>
              <a:rPr sz="650" spc="15" dirty="0">
                <a:solidFill>
                  <a:srgbClr val="231F20"/>
                </a:solidFill>
                <a:latin typeface="Helvetica"/>
                <a:cs typeface="Helvetica"/>
              </a:rPr>
              <a:t>r</a:t>
            </a:r>
            <a:r>
              <a:rPr sz="650" spc="5" dirty="0">
                <a:solidFill>
                  <a:srgbClr val="231F20"/>
                </a:solidFill>
                <a:latin typeface="Helvetica"/>
                <a:cs typeface="Helvetica"/>
              </a:rPr>
              <a:t>y</a:t>
            </a:r>
            <a:endParaRPr sz="650">
              <a:latin typeface="Helvetica"/>
              <a:cs typeface="Helvetica"/>
            </a:endParaRPr>
          </a:p>
        </p:txBody>
      </p:sp>
      <p:sp>
        <p:nvSpPr>
          <p:cNvPr id="34" name="object 34"/>
          <p:cNvSpPr txBox="1"/>
          <p:nvPr/>
        </p:nvSpPr>
        <p:spPr>
          <a:xfrm>
            <a:off x="941035" y="1191593"/>
            <a:ext cx="3397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Helvetica"/>
                <a:cs typeface="Helvetica"/>
              </a:rPr>
              <a:t>Request</a:t>
            </a:r>
            <a:endParaRPr sz="650">
              <a:latin typeface="Helvetica"/>
              <a:cs typeface="Helvetica"/>
            </a:endParaRPr>
          </a:p>
        </p:txBody>
      </p:sp>
      <p:grpSp>
        <p:nvGrpSpPr>
          <p:cNvPr id="35" name="object 35"/>
          <p:cNvGrpSpPr/>
          <p:nvPr/>
        </p:nvGrpSpPr>
        <p:grpSpPr>
          <a:xfrm>
            <a:off x="1375992" y="1595088"/>
            <a:ext cx="1431925" cy="368935"/>
            <a:chOff x="1375992" y="1595088"/>
            <a:chExt cx="1431925" cy="368935"/>
          </a:xfrm>
        </p:grpSpPr>
        <p:pic>
          <p:nvPicPr>
            <p:cNvPr id="36" name="object 36"/>
            <p:cNvPicPr/>
            <p:nvPr/>
          </p:nvPicPr>
          <p:blipFill>
            <a:blip r:embed="rId8" cstate="print"/>
            <a:stretch>
              <a:fillRect/>
            </a:stretch>
          </p:blipFill>
          <p:spPr>
            <a:xfrm>
              <a:off x="1375992" y="1596405"/>
              <a:ext cx="157060" cy="87696"/>
            </a:xfrm>
            <a:prstGeom prst="rect">
              <a:avLst/>
            </a:prstGeom>
          </p:spPr>
        </p:pic>
        <p:pic>
          <p:nvPicPr>
            <p:cNvPr id="37" name="object 37"/>
            <p:cNvPicPr/>
            <p:nvPr/>
          </p:nvPicPr>
          <p:blipFill>
            <a:blip r:embed="rId9" cstate="print"/>
            <a:stretch>
              <a:fillRect/>
            </a:stretch>
          </p:blipFill>
          <p:spPr>
            <a:xfrm>
              <a:off x="2650573" y="1596405"/>
              <a:ext cx="157060" cy="87696"/>
            </a:xfrm>
            <a:prstGeom prst="rect">
              <a:avLst/>
            </a:prstGeom>
          </p:spPr>
        </p:pic>
        <p:pic>
          <p:nvPicPr>
            <p:cNvPr id="38" name="object 38"/>
            <p:cNvPicPr/>
            <p:nvPr/>
          </p:nvPicPr>
          <p:blipFill>
            <a:blip r:embed="rId10" cstate="print"/>
            <a:stretch>
              <a:fillRect/>
            </a:stretch>
          </p:blipFill>
          <p:spPr>
            <a:xfrm>
              <a:off x="1632665" y="1595088"/>
              <a:ext cx="157060" cy="87696"/>
            </a:xfrm>
            <a:prstGeom prst="rect">
              <a:avLst/>
            </a:prstGeom>
          </p:spPr>
        </p:pic>
        <p:sp>
          <p:nvSpPr>
            <p:cNvPr id="39" name="object 39"/>
            <p:cNvSpPr/>
            <p:nvPr/>
          </p:nvSpPr>
          <p:spPr>
            <a:xfrm>
              <a:off x="1584572" y="1661690"/>
              <a:ext cx="122555" cy="299720"/>
            </a:xfrm>
            <a:custGeom>
              <a:avLst/>
              <a:gdLst/>
              <a:ahLst/>
              <a:cxnLst/>
              <a:rect l="l" t="t" r="r" b="b"/>
              <a:pathLst>
                <a:path w="122555" h="299719">
                  <a:moveTo>
                    <a:pt x="0" y="299100"/>
                  </a:moveTo>
                  <a:lnTo>
                    <a:pt x="122539" y="0"/>
                  </a:lnTo>
                </a:path>
              </a:pathLst>
            </a:custGeom>
            <a:ln w="5270">
              <a:solidFill>
                <a:srgbClr val="231F20"/>
              </a:solidFill>
            </a:ln>
          </p:spPr>
          <p:txBody>
            <a:bodyPr wrap="square" lIns="0" tIns="0" rIns="0" bIns="0" rtlCol="0"/>
            <a:lstStyle/>
            <a:p>
              <a:endParaRPr/>
            </a:p>
          </p:txBody>
        </p:sp>
      </p:grpSp>
      <p:sp>
        <p:nvSpPr>
          <p:cNvPr id="40" name="object 40"/>
          <p:cNvSpPr txBox="1"/>
          <p:nvPr/>
        </p:nvSpPr>
        <p:spPr>
          <a:xfrm>
            <a:off x="2046744" y="1371494"/>
            <a:ext cx="795655" cy="765810"/>
          </a:xfrm>
          <a:prstGeom prst="rect">
            <a:avLst/>
          </a:prstGeom>
        </p:spPr>
        <p:txBody>
          <a:bodyPr vert="horz" wrap="square" lIns="0" tIns="13970" rIns="0" bIns="0" rtlCol="0">
            <a:spAutoFit/>
          </a:bodyPr>
          <a:lstStyle/>
          <a:p>
            <a:pPr marL="198755" marR="187960" indent="-90170">
              <a:lnSpc>
                <a:spcPct val="100000"/>
              </a:lnSpc>
              <a:spcBef>
                <a:spcPts val="110"/>
              </a:spcBef>
            </a:pPr>
            <a:r>
              <a:rPr sz="650" spc="-75" dirty="0">
                <a:solidFill>
                  <a:srgbClr val="231F20"/>
                </a:solidFill>
                <a:latin typeface="Helvetica"/>
                <a:cs typeface="Helvetica"/>
              </a:rPr>
              <a:t>T</a:t>
            </a:r>
            <a:r>
              <a:rPr sz="650" spc="-10" dirty="0">
                <a:solidFill>
                  <a:srgbClr val="231F20"/>
                </a:solidFill>
                <a:latin typeface="Helvetica"/>
                <a:cs typeface="Helvetica"/>
              </a:rPr>
              <a:t>r</a:t>
            </a:r>
            <a:r>
              <a:rPr sz="650" spc="5" dirty="0">
                <a:solidFill>
                  <a:srgbClr val="231F20"/>
                </a:solidFill>
                <a:latin typeface="Helvetica"/>
                <a:cs typeface="Helvetica"/>
              </a:rPr>
              <a:t>ansmission  interrupt</a:t>
            </a:r>
            <a:endParaRPr sz="650">
              <a:latin typeface="Helvetica"/>
              <a:cs typeface="Helvetica"/>
            </a:endParaRPr>
          </a:p>
          <a:p>
            <a:pPr marL="12700" marR="480059">
              <a:lnSpc>
                <a:spcPct val="100000"/>
              </a:lnSpc>
              <a:spcBef>
                <a:spcPts val="535"/>
              </a:spcBef>
            </a:pPr>
            <a:r>
              <a:rPr sz="650" spc="5" dirty="0">
                <a:solidFill>
                  <a:srgbClr val="231F20"/>
                </a:solidFill>
                <a:latin typeface="Helvetica"/>
                <a:cs typeface="Helvetica"/>
              </a:rPr>
              <a:t>Sto</a:t>
            </a:r>
            <a:r>
              <a:rPr sz="650" spc="-10" dirty="0">
                <a:solidFill>
                  <a:srgbClr val="231F20"/>
                </a:solidFill>
                <a:latin typeface="Helvetica"/>
                <a:cs typeface="Helvetica"/>
              </a:rPr>
              <a:t>r</a:t>
            </a:r>
            <a:r>
              <a:rPr sz="650" spc="5" dirty="0">
                <a:solidFill>
                  <a:srgbClr val="231F20"/>
                </a:solidFill>
                <a:latin typeface="Helvetica"/>
                <a:cs typeface="Helvetica"/>
              </a:rPr>
              <a:t>age  </a:t>
            </a:r>
            <a:r>
              <a:rPr sz="650" dirty="0">
                <a:solidFill>
                  <a:srgbClr val="231F20"/>
                </a:solidFill>
                <a:latin typeface="Helvetica"/>
                <a:cs typeface="Helvetica"/>
              </a:rPr>
              <a:t>facility</a:t>
            </a:r>
            <a:endParaRPr sz="650">
              <a:latin typeface="Helvetica"/>
              <a:cs typeface="Helvetica"/>
            </a:endParaRPr>
          </a:p>
          <a:p>
            <a:pPr>
              <a:lnSpc>
                <a:spcPct val="100000"/>
              </a:lnSpc>
            </a:pPr>
            <a:endParaRPr sz="600">
              <a:latin typeface="Helvetica"/>
              <a:cs typeface="Helvetica"/>
            </a:endParaRPr>
          </a:p>
          <a:p>
            <a:pPr>
              <a:lnSpc>
                <a:spcPct val="100000"/>
              </a:lnSpc>
              <a:spcBef>
                <a:spcPts val="25"/>
              </a:spcBef>
            </a:pPr>
            <a:endParaRPr sz="550">
              <a:latin typeface="Helvetica"/>
              <a:cs typeface="Helvetica"/>
            </a:endParaRPr>
          </a:p>
          <a:p>
            <a:pPr marR="5080" algn="r">
              <a:lnSpc>
                <a:spcPct val="100000"/>
              </a:lnSpc>
            </a:pPr>
            <a:r>
              <a:rPr sz="650" spc="5" dirty="0">
                <a:solidFill>
                  <a:srgbClr val="231F20"/>
                </a:solidFill>
                <a:latin typeface="Helvetica"/>
                <a:cs typeface="Helvetica"/>
              </a:rPr>
              <a:t>Reply</a:t>
            </a:r>
            <a:endParaRPr sz="650">
              <a:latin typeface="Helvetica"/>
              <a:cs typeface="Helvetica"/>
            </a:endParaRPr>
          </a:p>
        </p:txBody>
      </p:sp>
      <p:grpSp>
        <p:nvGrpSpPr>
          <p:cNvPr id="41" name="object 41"/>
          <p:cNvGrpSpPr/>
          <p:nvPr/>
        </p:nvGrpSpPr>
        <p:grpSpPr>
          <a:xfrm>
            <a:off x="1226824" y="1010297"/>
            <a:ext cx="1974214" cy="784225"/>
            <a:chOff x="1226824" y="1010297"/>
            <a:chExt cx="1974214" cy="784225"/>
          </a:xfrm>
        </p:grpSpPr>
        <p:pic>
          <p:nvPicPr>
            <p:cNvPr id="42" name="object 42"/>
            <p:cNvPicPr/>
            <p:nvPr/>
          </p:nvPicPr>
          <p:blipFill>
            <a:blip r:embed="rId11" cstate="print"/>
            <a:stretch>
              <a:fillRect/>
            </a:stretch>
          </p:blipFill>
          <p:spPr>
            <a:xfrm>
              <a:off x="1226824" y="1534757"/>
              <a:ext cx="218079" cy="85427"/>
            </a:xfrm>
            <a:prstGeom prst="rect">
              <a:avLst/>
            </a:prstGeom>
          </p:spPr>
        </p:pic>
        <p:pic>
          <p:nvPicPr>
            <p:cNvPr id="43" name="object 43"/>
            <p:cNvPicPr/>
            <p:nvPr/>
          </p:nvPicPr>
          <p:blipFill>
            <a:blip r:embed="rId12" cstate="print"/>
            <a:stretch>
              <a:fillRect/>
            </a:stretch>
          </p:blipFill>
          <p:spPr>
            <a:xfrm>
              <a:off x="1719715" y="1547056"/>
              <a:ext cx="218079" cy="85423"/>
            </a:xfrm>
            <a:prstGeom prst="rect">
              <a:avLst/>
            </a:prstGeom>
          </p:spPr>
        </p:pic>
        <p:pic>
          <p:nvPicPr>
            <p:cNvPr id="44" name="object 44"/>
            <p:cNvPicPr/>
            <p:nvPr/>
          </p:nvPicPr>
          <p:blipFill>
            <a:blip r:embed="rId13" cstate="print"/>
            <a:stretch>
              <a:fillRect/>
            </a:stretch>
          </p:blipFill>
          <p:spPr>
            <a:xfrm>
              <a:off x="1236719" y="1680511"/>
              <a:ext cx="224749" cy="108222"/>
            </a:xfrm>
            <a:prstGeom prst="rect">
              <a:avLst/>
            </a:prstGeom>
          </p:spPr>
        </p:pic>
        <p:pic>
          <p:nvPicPr>
            <p:cNvPr id="45" name="object 45"/>
            <p:cNvPicPr/>
            <p:nvPr/>
          </p:nvPicPr>
          <p:blipFill>
            <a:blip r:embed="rId14" cstate="print"/>
            <a:stretch>
              <a:fillRect/>
            </a:stretch>
          </p:blipFill>
          <p:spPr>
            <a:xfrm>
              <a:off x="1705390" y="1682487"/>
              <a:ext cx="224754" cy="108222"/>
            </a:xfrm>
            <a:prstGeom prst="rect">
              <a:avLst/>
            </a:prstGeom>
          </p:spPr>
        </p:pic>
        <p:pic>
          <p:nvPicPr>
            <p:cNvPr id="46" name="object 46"/>
            <p:cNvPicPr/>
            <p:nvPr/>
          </p:nvPicPr>
          <p:blipFill>
            <a:blip r:embed="rId15" cstate="print"/>
            <a:stretch>
              <a:fillRect/>
            </a:stretch>
          </p:blipFill>
          <p:spPr>
            <a:xfrm>
              <a:off x="2741320" y="1550791"/>
              <a:ext cx="218072" cy="85427"/>
            </a:xfrm>
            <a:prstGeom prst="rect">
              <a:avLst/>
            </a:prstGeom>
          </p:spPr>
        </p:pic>
        <p:pic>
          <p:nvPicPr>
            <p:cNvPr id="47" name="object 47"/>
            <p:cNvPicPr/>
            <p:nvPr/>
          </p:nvPicPr>
          <p:blipFill>
            <a:blip r:embed="rId16" cstate="print"/>
            <a:stretch>
              <a:fillRect/>
            </a:stretch>
          </p:blipFill>
          <p:spPr>
            <a:xfrm>
              <a:off x="2730727" y="1686219"/>
              <a:ext cx="224744" cy="108221"/>
            </a:xfrm>
            <a:prstGeom prst="rect">
              <a:avLst/>
            </a:prstGeom>
          </p:spPr>
        </p:pic>
        <p:sp>
          <p:nvSpPr>
            <p:cNvPr id="48" name="object 48"/>
            <p:cNvSpPr/>
            <p:nvPr/>
          </p:nvSpPr>
          <p:spPr>
            <a:xfrm>
              <a:off x="1414335" y="1013155"/>
              <a:ext cx="1783714" cy="597535"/>
            </a:xfrm>
            <a:custGeom>
              <a:avLst/>
              <a:gdLst/>
              <a:ahLst/>
              <a:cxnLst/>
              <a:rect l="l" t="t" r="r" b="b"/>
              <a:pathLst>
                <a:path w="1783714" h="597535">
                  <a:moveTo>
                    <a:pt x="151790" y="0"/>
                  </a:moveTo>
                  <a:lnTo>
                    <a:pt x="0" y="113842"/>
                  </a:lnTo>
                </a:path>
                <a:path w="1783714" h="597535">
                  <a:moveTo>
                    <a:pt x="834847" y="0"/>
                  </a:moveTo>
                  <a:lnTo>
                    <a:pt x="493318" y="113842"/>
                  </a:lnTo>
                </a:path>
                <a:path w="1783714" h="597535">
                  <a:moveTo>
                    <a:pt x="1783537" y="0"/>
                  </a:moveTo>
                  <a:lnTo>
                    <a:pt x="1517903" y="113842"/>
                  </a:lnTo>
                </a:path>
                <a:path w="1783714" h="597535">
                  <a:moveTo>
                    <a:pt x="1176902" y="491737"/>
                  </a:moveTo>
                  <a:lnTo>
                    <a:pt x="1279677" y="597147"/>
                  </a:lnTo>
                </a:path>
              </a:pathLst>
            </a:custGeom>
            <a:ln w="5270">
              <a:solidFill>
                <a:srgbClr val="231F20"/>
              </a:solidFill>
            </a:ln>
          </p:spPr>
          <p:txBody>
            <a:bodyPr wrap="square" lIns="0" tIns="0" rIns="0" bIns="0" rtlCol="0"/>
            <a:lstStyle/>
            <a:p>
              <a:endParaRPr/>
            </a:p>
          </p:txBody>
        </p:sp>
      </p:grpSp>
      <p:sp>
        <p:nvSpPr>
          <p:cNvPr id="49" name="object 49"/>
          <p:cNvSpPr txBox="1"/>
          <p:nvPr/>
        </p:nvSpPr>
        <p:spPr>
          <a:xfrm>
            <a:off x="2724657" y="2211616"/>
            <a:ext cx="213360" cy="127000"/>
          </a:xfrm>
          <a:prstGeom prst="rect">
            <a:avLst/>
          </a:prstGeom>
        </p:spPr>
        <p:txBody>
          <a:bodyPr vert="horz" wrap="square" lIns="0" tIns="14605" rIns="0" bIns="0" rtlCol="0">
            <a:spAutoFit/>
          </a:bodyPr>
          <a:lstStyle/>
          <a:p>
            <a:pPr marL="12700">
              <a:lnSpc>
                <a:spcPct val="100000"/>
              </a:lnSpc>
              <a:spcBef>
                <a:spcPts val="115"/>
              </a:spcBef>
            </a:pPr>
            <a:r>
              <a:rPr sz="650" spc="5" dirty="0">
                <a:solidFill>
                  <a:srgbClr val="231F20"/>
                </a:solidFill>
                <a:latin typeface="Helvetica"/>
                <a:cs typeface="Helvetica"/>
              </a:rPr>
              <a:t>Time</a:t>
            </a:r>
            <a:endParaRPr sz="650">
              <a:latin typeface="Helvetica"/>
              <a:cs typeface="Helvetica"/>
            </a:endParaRPr>
          </a:p>
        </p:txBody>
      </p:sp>
      <p:grpSp>
        <p:nvGrpSpPr>
          <p:cNvPr id="50" name="object 50"/>
          <p:cNvGrpSpPr/>
          <p:nvPr/>
        </p:nvGrpSpPr>
        <p:grpSpPr>
          <a:xfrm>
            <a:off x="2970187" y="2244002"/>
            <a:ext cx="189230" cy="43180"/>
            <a:chOff x="2970187" y="2244002"/>
            <a:chExt cx="189230" cy="43180"/>
          </a:xfrm>
        </p:grpSpPr>
        <p:sp>
          <p:nvSpPr>
            <p:cNvPr id="51" name="object 51"/>
            <p:cNvSpPr/>
            <p:nvPr/>
          </p:nvSpPr>
          <p:spPr>
            <a:xfrm>
              <a:off x="2970187" y="2265426"/>
              <a:ext cx="152400" cy="0"/>
            </a:xfrm>
            <a:custGeom>
              <a:avLst/>
              <a:gdLst/>
              <a:ahLst/>
              <a:cxnLst/>
              <a:rect l="l" t="t" r="r" b="b"/>
              <a:pathLst>
                <a:path w="152400">
                  <a:moveTo>
                    <a:pt x="0" y="0"/>
                  </a:moveTo>
                  <a:lnTo>
                    <a:pt x="151790" y="0"/>
                  </a:lnTo>
                </a:path>
              </a:pathLst>
            </a:custGeom>
            <a:ln w="5270">
              <a:solidFill>
                <a:srgbClr val="231F20"/>
              </a:solidFill>
            </a:ln>
          </p:spPr>
          <p:txBody>
            <a:bodyPr wrap="square" lIns="0" tIns="0" rIns="0" bIns="0" rtlCol="0"/>
            <a:lstStyle/>
            <a:p>
              <a:endParaRPr/>
            </a:p>
          </p:txBody>
        </p:sp>
        <p:sp>
          <p:nvSpPr>
            <p:cNvPr id="52" name="object 52"/>
            <p:cNvSpPr/>
            <p:nvPr/>
          </p:nvSpPr>
          <p:spPr>
            <a:xfrm>
              <a:off x="3106745" y="2244002"/>
              <a:ext cx="52705" cy="43180"/>
            </a:xfrm>
            <a:custGeom>
              <a:avLst/>
              <a:gdLst/>
              <a:ahLst/>
              <a:cxnLst/>
              <a:rect l="l" t="t" r="r" b="b"/>
              <a:pathLst>
                <a:path w="52705" h="43180">
                  <a:moveTo>
                    <a:pt x="0" y="0"/>
                  </a:moveTo>
                  <a:lnTo>
                    <a:pt x="12448" y="21423"/>
                  </a:lnTo>
                  <a:lnTo>
                    <a:pt x="0" y="42843"/>
                  </a:lnTo>
                  <a:lnTo>
                    <a:pt x="52441" y="21423"/>
                  </a:lnTo>
                  <a:lnTo>
                    <a:pt x="0" y="0"/>
                  </a:lnTo>
                  <a:close/>
                </a:path>
              </a:pathLst>
            </a:custGeom>
            <a:solidFill>
              <a:srgbClr val="231F20"/>
            </a:solidFill>
          </p:spPr>
          <p:txBody>
            <a:bodyPr wrap="square" lIns="0" tIns="0" rIns="0" bIns="0" rtlCol="0"/>
            <a:lstStyle/>
            <a:p>
              <a:endParaRPr/>
            </a:p>
          </p:txBody>
        </p:sp>
      </p:grpSp>
      <p:sp>
        <p:nvSpPr>
          <p:cNvPr id="53" name="object 53"/>
          <p:cNvSpPr txBox="1"/>
          <p:nvPr/>
        </p:nvSpPr>
        <p:spPr>
          <a:xfrm>
            <a:off x="431304" y="2537388"/>
            <a:ext cx="3853815" cy="633095"/>
          </a:xfrm>
          <a:prstGeom prst="rect">
            <a:avLst/>
          </a:prstGeom>
        </p:spPr>
        <p:txBody>
          <a:bodyPr vert="horz" wrap="square" lIns="0" tIns="12065" rIns="0" bIns="0" rtlCol="0">
            <a:spAutoFit/>
          </a:bodyPr>
          <a:lstStyle/>
          <a:p>
            <a:pPr marL="205740" marR="30480" indent="-168275">
              <a:lnSpc>
                <a:spcPct val="100000"/>
              </a:lnSpc>
              <a:spcBef>
                <a:spcPts val="95"/>
              </a:spcBef>
              <a:buClr>
                <a:srgbClr val="3333B2"/>
              </a:buClr>
              <a:buChar char="►"/>
              <a:tabLst>
                <a:tab pos="206375" algn="l"/>
              </a:tabLst>
            </a:pPr>
            <a:r>
              <a:rPr sz="1000" spc="-25" dirty="0">
                <a:solidFill>
                  <a:srgbClr val="FA0000"/>
                </a:solidFill>
                <a:latin typeface="Arial"/>
                <a:cs typeface="Arial"/>
              </a:rPr>
              <a:t>Transient</a:t>
            </a:r>
            <a:r>
              <a:rPr sz="1000" dirty="0">
                <a:solidFill>
                  <a:srgbClr val="FA0000"/>
                </a:solidFill>
                <a:latin typeface="Arial"/>
                <a:cs typeface="Arial"/>
              </a:rPr>
              <a:t> </a:t>
            </a:r>
            <a:r>
              <a:rPr sz="1000" spc="-15" dirty="0">
                <a:solidFill>
                  <a:srgbClr val="FA0000"/>
                </a:solidFill>
                <a:latin typeface="Arial"/>
                <a:cs typeface="Arial"/>
              </a:rPr>
              <a:t>communication:</a:t>
            </a:r>
            <a:r>
              <a:rPr sz="1000" spc="75" dirty="0">
                <a:solidFill>
                  <a:srgbClr val="FA0000"/>
                </a:solidFill>
                <a:latin typeface="Arial"/>
                <a:cs typeface="Arial"/>
              </a:rPr>
              <a:t> </a:t>
            </a:r>
            <a:r>
              <a:rPr sz="1000" spc="-15" dirty="0">
                <a:latin typeface="Arial"/>
                <a:cs typeface="Arial"/>
              </a:rPr>
              <a:t>Comm.</a:t>
            </a:r>
            <a:r>
              <a:rPr sz="1000" spc="5" dirty="0">
                <a:latin typeface="Arial"/>
                <a:cs typeface="Arial"/>
              </a:rPr>
              <a:t> </a:t>
            </a:r>
            <a:r>
              <a:rPr sz="1000" spc="-10" dirty="0">
                <a:latin typeface="Arial"/>
                <a:cs typeface="Arial"/>
              </a:rPr>
              <a:t>server</a:t>
            </a:r>
            <a:r>
              <a:rPr sz="1000" spc="5" dirty="0">
                <a:latin typeface="Arial"/>
                <a:cs typeface="Arial"/>
              </a:rPr>
              <a:t> </a:t>
            </a:r>
            <a:r>
              <a:rPr sz="1000" spc="-10" dirty="0">
                <a:latin typeface="Arial"/>
                <a:cs typeface="Arial"/>
              </a:rPr>
              <a:t>discards</a:t>
            </a:r>
            <a:r>
              <a:rPr sz="1000" dirty="0">
                <a:latin typeface="Arial"/>
                <a:cs typeface="Arial"/>
              </a:rPr>
              <a:t> </a:t>
            </a:r>
            <a:r>
              <a:rPr sz="1000" spc="-15" dirty="0">
                <a:latin typeface="Arial"/>
                <a:cs typeface="Arial"/>
              </a:rPr>
              <a:t>message</a:t>
            </a:r>
            <a:r>
              <a:rPr sz="1000" spc="5" dirty="0">
                <a:latin typeface="Arial"/>
                <a:cs typeface="Arial"/>
              </a:rPr>
              <a:t> </a:t>
            </a:r>
            <a:r>
              <a:rPr sz="1000" spc="-15" dirty="0">
                <a:latin typeface="Arial"/>
                <a:cs typeface="Arial"/>
              </a:rPr>
              <a:t>when </a:t>
            </a:r>
            <a:r>
              <a:rPr sz="1000" spc="-260" dirty="0">
                <a:latin typeface="Arial"/>
                <a:cs typeface="Arial"/>
              </a:rPr>
              <a:t> </a:t>
            </a:r>
            <a:r>
              <a:rPr sz="1000" spc="-5" dirty="0">
                <a:latin typeface="Arial"/>
                <a:cs typeface="Arial"/>
              </a:rPr>
              <a:t>it</a:t>
            </a:r>
            <a:r>
              <a:rPr sz="1000" spc="-10" dirty="0">
                <a:latin typeface="Arial"/>
                <a:cs typeface="Arial"/>
              </a:rPr>
              <a:t> </a:t>
            </a:r>
            <a:r>
              <a:rPr sz="1000" spc="-5" dirty="0">
                <a:latin typeface="Arial"/>
                <a:cs typeface="Arial"/>
              </a:rPr>
              <a:t>cannot be delivered at the </a:t>
            </a:r>
            <a:r>
              <a:rPr sz="1000" spc="-10" dirty="0">
                <a:latin typeface="Arial"/>
                <a:cs typeface="Arial"/>
              </a:rPr>
              <a:t>next</a:t>
            </a:r>
            <a:r>
              <a:rPr sz="1000" spc="-5" dirty="0">
                <a:latin typeface="Arial"/>
                <a:cs typeface="Arial"/>
              </a:rPr>
              <a:t> </a:t>
            </a:r>
            <a:r>
              <a:rPr sz="1000" spc="-10" dirty="0">
                <a:latin typeface="Arial"/>
                <a:cs typeface="Arial"/>
              </a:rPr>
              <a:t>server,</a:t>
            </a:r>
            <a:r>
              <a:rPr sz="1000" spc="-5" dirty="0">
                <a:latin typeface="Arial"/>
                <a:cs typeface="Arial"/>
              </a:rPr>
              <a:t> or</a:t>
            </a:r>
            <a:r>
              <a:rPr sz="1000" spc="-10" dirty="0">
                <a:latin typeface="Arial"/>
                <a:cs typeface="Arial"/>
              </a:rPr>
              <a:t> </a:t>
            </a:r>
            <a:r>
              <a:rPr sz="1000" spc="-5" dirty="0">
                <a:latin typeface="Arial"/>
                <a:cs typeface="Arial"/>
              </a:rPr>
              <a:t>at the </a:t>
            </a:r>
            <a:r>
              <a:rPr sz="1000" spc="-10" dirty="0">
                <a:latin typeface="Arial"/>
                <a:cs typeface="Arial"/>
              </a:rPr>
              <a:t>receiver.</a:t>
            </a:r>
            <a:endParaRPr sz="1000">
              <a:latin typeface="Arial"/>
              <a:cs typeface="Arial"/>
            </a:endParaRPr>
          </a:p>
          <a:p>
            <a:pPr marL="205740" marR="678815" indent="-168275">
              <a:lnSpc>
                <a:spcPts val="1200"/>
              </a:lnSpc>
              <a:spcBef>
                <a:spcPts val="30"/>
              </a:spcBef>
              <a:buClr>
                <a:srgbClr val="3333B2"/>
              </a:buClr>
              <a:buChar char="►"/>
              <a:tabLst>
                <a:tab pos="206375" algn="l"/>
              </a:tabLst>
            </a:pPr>
            <a:r>
              <a:rPr sz="1000" spc="-10" dirty="0">
                <a:solidFill>
                  <a:srgbClr val="FA0000"/>
                </a:solidFill>
                <a:latin typeface="Arial"/>
                <a:cs typeface="Arial"/>
              </a:rPr>
              <a:t>Persistent</a:t>
            </a:r>
            <a:r>
              <a:rPr sz="1000" spc="-5" dirty="0">
                <a:solidFill>
                  <a:srgbClr val="FA0000"/>
                </a:solidFill>
                <a:latin typeface="Arial"/>
                <a:cs typeface="Arial"/>
              </a:rPr>
              <a:t> communication:</a:t>
            </a:r>
            <a:r>
              <a:rPr sz="1000" spc="65" dirty="0">
                <a:solidFill>
                  <a:srgbClr val="FA0000"/>
                </a:solidFill>
                <a:latin typeface="Arial"/>
                <a:cs typeface="Arial"/>
              </a:rPr>
              <a:t> </a:t>
            </a:r>
            <a:r>
              <a:rPr sz="1000" spc="-5" dirty="0">
                <a:latin typeface="Arial"/>
                <a:cs typeface="Arial"/>
              </a:rPr>
              <a:t>A message</a:t>
            </a:r>
            <a:r>
              <a:rPr sz="1000" dirty="0">
                <a:latin typeface="Arial"/>
                <a:cs typeface="Arial"/>
              </a:rPr>
              <a:t> </a:t>
            </a:r>
            <a:r>
              <a:rPr sz="1000" spc="-5" dirty="0">
                <a:latin typeface="Arial"/>
                <a:cs typeface="Arial"/>
              </a:rPr>
              <a:t>is stored</a:t>
            </a:r>
            <a:r>
              <a:rPr sz="1000" dirty="0">
                <a:latin typeface="Arial"/>
                <a:cs typeface="Arial"/>
              </a:rPr>
              <a:t> </a:t>
            </a:r>
            <a:r>
              <a:rPr sz="1000" spc="-5" dirty="0">
                <a:latin typeface="Arial"/>
                <a:cs typeface="Arial"/>
              </a:rPr>
              <a:t>at a </a:t>
            </a:r>
            <a:r>
              <a:rPr sz="1000" dirty="0">
                <a:latin typeface="Arial"/>
                <a:cs typeface="Arial"/>
              </a:rPr>
              <a:t> </a:t>
            </a:r>
            <a:r>
              <a:rPr sz="1000" spc="-5" dirty="0">
                <a:latin typeface="Arial"/>
                <a:cs typeface="Arial"/>
              </a:rPr>
              <a:t>communication</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as</a:t>
            </a:r>
            <a:r>
              <a:rPr sz="1000" dirty="0">
                <a:latin typeface="Arial"/>
                <a:cs typeface="Arial"/>
              </a:rPr>
              <a:t> </a:t>
            </a:r>
            <a:r>
              <a:rPr sz="1000" spc="-5" dirty="0">
                <a:latin typeface="Arial"/>
                <a:cs typeface="Arial"/>
              </a:rPr>
              <a:t>long</a:t>
            </a:r>
            <a:r>
              <a:rPr sz="1000" dirty="0">
                <a:latin typeface="Arial"/>
                <a:cs typeface="Arial"/>
              </a:rPr>
              <a:t> </a:t>
            </a:r>
            <a:r>
              <a:rPr sz="1000" spc="-5" dirty="0">
                <a:latin typeface="Arial"/>
                <a:cs typeface="Arial"/>
              </a:rPr>
              <a:t>as</a:t>
            </a:r>
            <a:r>
              <a:rPr sz="1000" dirty="0">
                <a:latin typeface="Arial"/>
                <a:cs typeface="Arial"/>
              </a:rPr>
              <a:t> </a:t>
            </a:r>
            <a:r>
              <a:rPr sz="1000" spc="-5" dirty="0">
                <a:latin typeface="Arial"/>
                <a:cs typeface="Arial"/>
              </a:rPr>
              <a:t>it</a:t>
            </a:r>
            <a:r>
              <a:rPr sz="1000" dirty="0">
                <a:latin typeface="Arial"/>
                <a:cs typeface="Arial"/>
              </a:rPr>
              <a:t> </a:t>
            </a:r>
            <a:r>
              <a:rPr sz="1000" spc="-10" dirty="0">
                <a:latin typeface="Arial"/>
                <a:cs typeface="Arial"/>
              </a:rPr>
              <a:t>takes</a:t>
            </a:r>
            <a:r>
              <a:rPr sz="1000" spc="5"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deliver</a:t>
            </a:r>
            <a:r>
              <a:rPr sz="1000" dirty="0">
                <a:latin typeface="Arial"/>
                <a:cs typeface="Arial"/>
              </a:rPr>
              <a:t> </a:t>
            </a:r>
            <a:r>
              <a:rPr sz="1000" spc="-5" dirty="0">
                <a:latin typeface="Arial"/>
                <a:cs typeface="Arial"/>
              </a:rPr>
              <a:t>it.</a:t>
            </a:r>
            <a:endParaRPr sz="1000">
              <a:latin typeface="Arial"/>
              <a:cs typeface="Arial"/>
            </a:endParaRPr>
          </a:p>
        </p:txBody>
      </p:sp>
      <p:sp>
        <p:nvSpPr>
          <p:cNvPr id="54" name="object 54"/>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8</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0287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Foundations</a:t>
            </a:r>
            <a:endParaRPr sz="600">
              <a:latin typeface="Arial"/>
              <a:cs typeface="Arial"/>
            </a:endParaRPr>
          </a:p>
        </p:txBody>
      </p:sp>
      <p:sp>
        <p:nvSpPr>
          <p:cNvPr id="3" name="object 3"/>
          <p:cNvSpPr txBox="1"/>
          <p:nvPr/>
        </p:nvSpPr>
        <p:spPr>
          <a:xfrm>
            <a:off x="3686225" y="716"/>
            <a:ext cx="855344" cy="116839"/>
          </a:xfrm>
          <a:prstGeom prst="rect">
            <a:avLst/>
          </a:prstGeom>
        </p:spPr>
        <p:txBody>
          <a:bodyPr vert="horz" wrap="square" lIns="0" tIns="12065" rIns="0" bIns="0" rtlCol="0">
            <a:spAutoFit/>
          </a:bodyPr>
          <a:lstStyle/>
          <a:p>
            <a:pPr marL="12700">
              <a:lnSpc>
                <a:spcPct val="100000"/>
              </a:lnSpc>
              <a:spcBef>
                <a:spcPts val="95"/>
              </a:spcBef>
            </a:pPr>
            <a:r>
              <a:rPr sz="600" spc="-20" dirty="0">
                <a:solidFill>
                  <a:srgbClr val="262685"/>
                </a:solidFill>
                <a:latin typeface="Arial"/>
                <a:cs typeface="Arial"/>
                <a:hlinkClick r:id="rId4" action="ppaction://hlinksldjump"/>
              </a:rPr>
              <a:t>Types </a:t>
            </a:r>
            <a:r>
              <a:rPr sz="600" spc="-5" dirty="0">
                <a:solidFill>
                  <a:srgbClr val="262685"/>
                </a:solidFill>
                <a:latin typeface="Arial"/>
                <a:cs typeface="Arial"/>
                <a:hlinkClick r:id="rId4" action="ppaction://hlinksldjump"/>
              </a:rPr>
              <a:t>of</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Communication</a:t>
            </a:r>
            <a:endParaRPr sz="600">
              <a:latin typeface="Arial"/>
              <a:cs typeface="Arial"/>
            </a:endParaRPr>
          </a:p>
        </p:txBody>
      </p:sp>
      <p:sp>
        <p:nvSpPr>
          <p:cNvPr id="4" name="object 4"/>
          <p:cNvSpPr txBox="1"/>
          <p:nvPr/>
        </p:nvSpPr>
        <p:spPr>
          <a:xfrm>
            <a:off x="95300" y="188846"/>
            <a:ext cx="2045335" cy="53530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Types</a:t>
            </a:r>
            <a:r>
              <a:rPr sz="1400" spc="-15" dirty="0">
                <a:solidFill>
                  <a:srgbClr val="3333B2"/>
                </a:solidFill>
                <a:latin typeface="Arial"/>
                <a:cs typeface="Arial"/>
              </a:rPr>
              <a:t> </a:t>
            </a:r>
            <a:r>
              <a:rPr sz="1400" spc="10" dirty="0">
                <a:solidFill>
                  <a:srgbClr val="3333B2"/>
                </a:solidFill>
                <a:latin typeface="Arial"/>
                <a:cs typeface="Arial"/>
              </a:rPr>
              <a:t>of</a:t>
            </a:r>
            <a:r>
              <a:rPr sz="1400" spc="-10" dirty="0">
                <a:solidFill>
                  <a:srgbClr val="3333B2"/>
                </a:solidFill>
                <a:latin typeface="Arial"/>
                <a:cs typeface="Arial"/>
              </a:rPr>
              <a:t> </a:t>
            </a:r>
            <a:r>
              <a:rPr sz="1400" spc="15" dirty="0">
                <a:solidFill>
                  <a:srgbClr val="3333B2"/>
                </a:solidFill>
                <a:latin typeface="Arial"/>
                <a:cs typeface="Arial"/>
              </a:rPr>
              <a:t>communication</a:t>
            </a:r>
            <a:endParaRPr sz="1400">
              <a:latin typeface="Arial"/>
              <a:cs typeface="Arial"/>
            </a:endParaRPr>
          </a:p>
          <a:p>
            <a:pPr marL="264160">
              <a:lnSpc>
                <a:spcPct val="100000"/>
              </a:lnSpc>
              <a:spcBef>
                <a:spcPts val="860"/>
              </a:spcBef>
            </a:pPr>
            <a:r>
              <a:rPr sz="1200" spc="-5" dirty="0">
                <a:solidFill>
                  <a:srgbClr val="3333B2"/>
                </a:solidFill>
                <a:latin typeface="Arial"/>
                <a:cs typeface="Arial"/>
              </a:rPr>
              <a:t>Places</a:t>
            </a:r>
            <a:r>
              <a:rPr sz="1200" spc="-20" dirty="0">
                <a:solidFill>
                  <a:srgbClr val="3333B2"/>
                </a:solidFill>
                <a:latin typeface="Arial"/>
                <a:cs typeface="Arial"/>
              </a:rPr>
              <a:t> for</a:t>
            </a:r>
            <a:r>
              <a:rPr sz="1200" spc="-15" dirty="0">
                <a:solidFill>
                  <a:srgbClr val="3333B2"/>
                </a:solidFill>
                <a:latin typeface="Arial"/>
                <a:cs typeface="Arial"/>
              </a:rPr>
              <a:t> </a:t>
            </a:r>
            <a:r>
              <a:rPr sz="1200" spc="-5" dirty="0">
                <a:solidFill>
                  <a:srgbClr val="3333B2"/>
                </a:solidFill>
                <a:latin typeface="Arial"/>
                <a:cs typeface="Arial"/>
              </a:rPr>
              <a:t>synchronization</a:t>
            </a:r>
            <a:endParaRPr sz="1200">
              <a:latin typeface="Arial"/>
              <a:cs typeface="Arial"/>
            </a:endParaRPr>
          </a:p>
        </p:txBody>
      </p:sp>
      <p:sp>
        <p:nvSpPr>
          <p:cNvPr id="5" name="object 5"/>
          <p:cNvSpPr txBox="1"/>
          <p:nvPr/>
        </p:nvSpPr>
        <p:spPr>
          <a:xfrm>
            <a:off x="2008805" y="2267585"/>
            <a:ext cx="274320" cy="127000"/>
          </a:xfrm>
          <a:prstGeom prst="rect">
            <a:avLst/>
          </a:prstGeom>
        </p:spPr>
        <p:txBody>
          <a:bodyPr vert="horz" wrap="square" lIns="0" tIns="14605" rIns="0" bIns="0" rtlCol="0">
            <a:spAutoFit/>
          </a:bodyPr>
          <a:lstStyle/>
          <a:p>
            <a:pPr marL="12700">
              <a:lnSpc>
                <a:spcPct val="100000"/>
              </a:lnSpc>
              <a:spcBef>
                <a:spcPts val="115"/>
              </a:spcBef>
            </a:pPr>
            <a:r>
              <a:rPr sz="650" spc="5" dirty="0">
                <a:solidFill>
                  <a:srgbClr val="231F20"/>
                </a:solidFill>
                <a:latin typeface="Helvetica"/>
                <a:cs typeface="Helvetica"/>
              </a:rPr>
              <a:t>Se</a:t>
            </a:r>
            <a:r>
              <a:rPr sz="650" spc="15" dirty="0">
                <a:solidFill>
                  <a:srgbClr val="231F20"/>
                </a:solidFill>
                <a:latin typeface="Helvetica"/>
                <a:cs typeface="Helvetica"/>
              </a:rPr>
              <a:t>r</a:t>
            </a:r>
            <a:r>
              <a:rPr sz="650" spc="-15" dirty="0">
                <a:solidFill>
                  <a:srgbClr val="231F20"/>
                </a:solidFill>
                <a:latin typeface="Helvetica"/>
                <a:cs typeface="Helvetica"/>
              </a:rPr>
              <a:t>v</a:t>
            </a:r>
            <a:r>
              <a:rPr sz="650" spc="5" dirty="0">
                <a:solidFill>
                  <a:srgbClr val="231F20"/>
                </a:solidFill>
                <a:latin typeface="Helvetica"/>
                <a:cs typeface="Helvetica"/>
              </a:rPr>
              <a:t>er</a:t>
            </a:r>
            <a:endParaRPr sz="650">
              <a:latin typeface="Helvetica"/>
              <a:cs typeface="Helvetica"/>
            </a:endParaRPr>
          </a:p>
        </p:txBody>
      </p:sp>
      <p:grpSp>
        <p:nvGrpSpPr>
          <p:cNvPr id="6" name="object 6"/>
          <p:cNvGrpSpPr/>
          <p:nvPr/>
        </p:nvGrpSpPr>
        <p:grpSpPr>
          <a:xfrm>
            <a:off x="986116" y="1144892"/>
            <a:ext cx="2218690" cy="1116965"/>
            <a:chOff x="986116" y="1144892"/>
            <a:chExt cx="2218690" cy="1116965"/>
          </a:xfrm>
        </p:grpSpPr>
        <p:pic>
          <p:nvPicPr>
            <p:cNvPr id="7" name="object 7"/>
            <p:cNvPicPr/>
            <p:nvPr/>
          </p:nvPicPr>
          <p:blipFill>
            <a:blip r:embed="rId5" cstate="print"/>
            <a:stretch>
              <a:fillRect/>
            </a:stretch>
          </p:blipFill>
          <p:spPr>
            <a:xfrm>
              <a:off x="1838582" y="1665550"/>
              <a:ext cx="166091" cy="130079"/>
            </a:xfrm>
            <a:prstGeom prst="rect">
              <a:avLst/>
            </a:prstGeom>
          </p:spPr>
        </p:pic>
        <p:pic>
          <p:nvPicPr>
            <p:cNvPr id="8" name="object 8"/>
            <p:cNvPicPr/>
            <p:nvPr/>
          </p:nvPicPr>
          <p:blipFill>
            <a:blip r:embed="rId6" cstate="print"/>
            <a:stretch>
              <a:fillRect/>
            </a:stretch>
          </p:blipFill>
          <p:spPr>
            <a:xfrm>
              <a:off x="2864787" y="1673892"/>
              <a:ext cx="166105" cy="130079"/>
            </a:xfrm>
            <a:prstGeom prst="rect">
              <a:avLst/>
            </a:prstGeom>
          </p:spPr>
        </p:pic>
        <p:sp>
          <p:nvSpPr>
            <p:cNvPr id="9" name="object 9"/>
            <p:cNvSpPr/>
            <p:nvPr/>
          </p:nvSpPr>
          <p:spPr>
            <a:xfrm>
              <a:off x="2449546" y="1415218"/>
              <a:ext cx="748665" cy="608965"/>
            </a:xfrm>
            <a:custGeom>
              <a:avLst/>
              <a:gdLst/>
              <a:ahLst/>
              <a:cxnLst/>
              <a:rect l="l" t="t" r="r" b="b"/>
              <a:pathLst>
                <a:path w="748664" h="608964">
                  <a:moveTo>
                    <a:pt x="0" y="608565"/>
                  </a:moveTo>
                  <a:lnTo>
                    <a:pt x="748326" y="608565"/>
                  </a:lnTo>
                  <a:lnTo>
                    <a:pt x="748326" y="0"/>
                  </a:lnTo>
                  <a:lnTo>
                    <a:pt x="0" y="0"/>
                  </a:lnTo>
                </a:path>
              </a:pathLst>
            </a:custGeom>
            <a:ln w="5270">
              <a:solidFill>
                <a:srgbClr val="231F20"/>
              </a:solidFill>
            </a:ln>
          </p:spPr>
          <p:txBody>
            <a:bodyPr wrap="square" lIns="0" tIns="0" rIns="0" bIns="0" rtlCol="0"/>
            <a:lstStyle/>
            <a:p>
              <a:endParaRPr/>
            </a:p>
          </p:txBody>
        </p:sp>
        <p:pic>
          <p:nvPicPr>
            <p:cNvPr id="10" name="object 10"/>
            <p:cNvPicPr/>
            <p:nvPr/>
          </p:nvPicPr>
          <p:blipFill>
            <a:blip r:embed="rId7" cstate="print"/>
            <a:stretch>
              <a:fillRect/>
            </a:stretch>
          </p:blipFill>
          <p:spPr>
            <a:xfrm>
              <a:off x="1160664" y="1665550"/>
              <a:ext cx="166090" cy="130079"/>
            </a:xfrm>
            <a:prstGeom prst="rect">
              <a:avLst/>
            </a:prstGeom>
          </p:spPr>
        </p:pic>
        <p:sp>
          <p:nvSpPr>
            <p:cNvPr id="11" name="object 11"/>
            <p:cNvSpPr/>
            <p:nvPr/>
          </p:nvSpPr>
          <p:spPr>
            <a:xfrm>
              <a:off x="996907" y="1415218"/>
              <a:ext cx="748665" cy="608965"/>
            </a:xfrm>
            <a:custGeom>
              <a:avLst/>
              <a:gdLst/>
              <a:ahLst/>
              <a:cxnLst/>
              <a:rect l="l" t="t" r="r" b="b"/>
              <a:pathLst>
                <a:path w="748664" h="608964">
                  <a:moveTo>
                    <a:pt x="748328" y="608565"/>
                  </a:moveTo>
                  <a:lnTo>
                    <a:pt x="0" y="608565"/>
                  </a:lnTo>
                  <a:lnTo>
                    <a:pt x="0" y="0"/>
                  </a:lnTo>
                  <a:lnTo>
                    <a:pt x="748328" y="0"/>
                  </a:lnTo>
                </a:path>
              </a:pathLst>
            </a:custGeom>
            <a:ln w="5270">
              <a:solidFill>
                <a:srgbClr val="231F20"/>
              </a:solidFill>
            </a:ln>
          </p:spPr>
          <p:txBody>
            <a:bodyPr wrap="square" lIns="0" tIns="0" rIns="0" bIns="0" rtlCol="0"/>
            <a:lstStyle/>
            <a:p>
              <a:endParaRPr/>
            </a:p>
          </p:txBody>
        </p:sp>
        <p:sp>
          <p:nvSpPr>
            <p:cNvPr id="12" name="object 12"/>
            <p:cNvSpPr/>
            <p:nvPr/>
          </p:nvSpPr>
          <p:spPr>
            <a:xfrm>
              <a:off x="1745236" y="1415218"/>
              <a:ext cx="704850" cy="608965"/>
            </a:xfrm>
            <a:custGeom>
              <a:avLst/>
              <a:gdLst/>
              <a:ahLst/>
              <a:cxnLst/>
              <a:rect l="l" t="t" r="r" b="b"/>
              <a:pathLst>
                <a:path w="704850" h="608964">
                  <a:moveTo>
                    <a:pt x="0" y="0"/>
                  </a:moveTo>
                  <a:lnTo>
                    <a:pt x="704309" y="0"/>
                  </a:lnTo>
                </a:path>
                <a:path w="704850" h="608964">
                  <a:moveTo>
                    <a:pt x="0" y="608565"/>
                  </a:moveTo>
                  <a:lnTo>
                    <a:pt x="704309" y="608565"/>
                  </a:lnTo>
                </a:path>
              </a:pathLst>
            </a:custGeom>
            <a:ln w="5270">
              <a:solidFill>
                <a:srgbClr val="231F20"/>
              </a:solidFill>
              <a:prstDash val="lgDash"/>
            </a:ln>
          </p:spPr>
          <p:txBody>
            <a:bodyPr wrap="square" lIns="0" tIns="0" rIns="0" bIns="0" rtlCol="0"/>
            <a:lstStyle/>
            <a:p>
              <a:endParaRPr/>
            </a:p>
          </p:txBody>
        </p:sp>
        <p:sp>
          <p:nvSpPr>
            <p:cNvPr id="13" name="object 13"/>
            <p:cNvSpPr/>
            <p:nvPr/>
          </p:nvSpPr>
          <p:spPr>
            <a:xfrm>
              <a:off x="1262549" y="1226185"/>
              <a:ext cx="1662430" cy="473075"/>
            </a:xfrm>
            <a:custGeom>
              <a:avLst/>
              <a:gdLst/>
              <a:ahLst/>
              <a:cxnLst/>
              <a:rect l="l" t="t" r="r" b="b"/>
              <a:pathLst>
                <a:path w="1662430" h="473075">
                  <a:moveTo>
                    <a:pt x="0" y="0"/>
                  </a:moveTo>
                  <a:lnTo>
                    <a:pt x="181696" y="452604"/>
                  </a:lnTo>
                </a:path>
                <a:path w="1662430" h="473075">
                  <a:moveTo>
                    <a:pt x="1478898" y="473027"/>
                  </a:moveTo>
                  <a:lnTo>
                    <a:pt x="1662195" y="15379"/>
                  </a:lnTo>
                </a:path>
              </a:pathLst>
            </a:custGeom>
            <a:ln w="5270">
              <a:solidFill>
                <a:srgbClr val="231F20"/>
              </a:solidFill>
            </a:ln>
          </p:spPr>
          <p:txBody>
            <a:bodyPr wrap="square" lIns="0" tIns="0" rIns="0" bIns="0" rtlCol="0"/>
            <a:lstStyle/>
            <a:p>
              <a:endParaRPr/>
            </a:p>
          </p:txBody>
        </p:sp>
        <p:sp>
          <p:nvSpPr>
            <p:cNvPr id="14" name="object 14"/>
            <p:cNvSpPr/>
            <p:nvPr/>
          </p:nvSpPr>
          <p:spPr>
            <a:xfrm>
              <a:off x="2889569" y="1231961"/>
              <a:ext cx="40005" cy="57150"/>
            </a:xfrm>
            <a:custGeom>
              <a:avLst/>
              <a:gdLst/>
              <a:ahLst/>
              <a:cxnLst/>
              <a:rect l="l" t="t" r="r" b="b"/>
              <a:pathLst>
                <a:path w="40005" h="57150">
                  <a:moveTo>
                    <a:pt x="39265" y="0"/>
                  </a:moveTo>
                  <a:lnTo>
                    <a:pt x="0" y="40835"/>
                  </a:lnTo>
                  <a:lnTo>
                    <a:pt x="24507" y="37178"/>
                  </a:lnTo>
                  <a:lnTo>
                    <a:pt x="39823" y="56647"/>
                  </a:lnTo>
                  <a:lnTo>
                    <a:pt x="39265" y="0"/>
                  </a:lnTo>
                  <a:close/>
                </a:path>
              </a:pathLst>
            </a:custGeom>
            <a:solidFill>
              <a:srgbClr val="231F20"/>
            </a:solidFill>
          </p:spPr>
          <p:txBody>
            <a:bodyPr wrap="square" lIns="0" tIns="0" rIns="0" bIns="0" rtlCol="0"/>
            <a:lstStyle/>
            <a:p>
              <a:endParaRPr/>
            </a:p>
          </p:txBody>
        </p:sp>
        <p:sp>
          <p:nvSpPr>
            <p:cNvPr id="15" name="object 15"/>
            <p:cNvSpPr/>
            <p:nvPr/>
          </p:nvSpPr>
          <p:spPr>
            <a:xfrm>
              <a:off x="1718970" y="1264617"/>
              <a:ext cx="174625" cy="431165"/>
            </a:xfrm>
            <a:custGeom>
              <a:avLst/>
              <a:gdLst/>
              <a:ahLst/>
              <a:cxnLst/>
              <a:rect l="l" t="t" r="r" b="b"/>
              <a:pathLst>
                <a:path w="174625" h="431164">
                  <a:moveTo>
                    <a:pt x="0" y="430641"/>
                  </a:moveTo>
                  <a:lnTo>
                    <a:pt x="174103" y="0"/>
                  </a:lnTo>
                </a:path>
              </a:pathLst>
            </a:custGeom>
            <a:ln w="5270">
              <a:solidFill>
                <a:srgbClr val="231F20"/>
              </a:solidFill>
            </a:ln>
          </p:spPr>
          <p:txBody>
            <a:bodyPr wrap="square" lIns="0" tIns="0" rIns="0" bIns="0" rtlCol="0"/>
            <a:lstStyle/>
            <a:p>
              <a:endParaRPr/>
            </a:p>
          </p:txBody>
        </p:sp>
        <p:sp>
          <p:nvSpPr>
            <p:cNvPr id="16" name="object 16"/>
            <p:cNvSpPr/>
            <p:nvPr/>
          </p:nvSpPr>
          <p:spPr>
            <a:xfrm>
              <a:off x="1867524" y="1229969"/>
              <a:ext cx="40005" cy="57150"/>
            </a:xfrm>
            <a:custGeom>
              <a:avLst/>
              <a:gdLst/>
              <a:ahLst/>
              <a:cxnLst/>
              <a:rect l="l" t="t" r="r" b="b"/>
              <a:pathLst>
                <a:path w="40005" h="57150">
                  <a:moveTo>
                    <a:pt x="39145" y="0"/>
                  </a:moveTo>
                  <a:lnTo>
                    <a:pt x="0" y="40951"/>
                  </a:lnTo>
                  <a:lnTo>
                    <a:pt x="24490" y="37209"/>
                  </a:lnTo>
                  <a:lnTo>
                    <a:pt x="39866" y="56647"/>
                  </a:lnTo>
                  <a:lnTo>
                    <a:pt x="39145" y="0"/>
                  </a:lnTo>
                  <a:close/>
                </a:path>
              </a:pathLst>
            </a:custGeom>
            <a:solidFill>
              <a:srgbClr val="231F20"/>
            </a:solidFill>
          </p:spPr>
          <p:txBody>
            <a:bodyPr wrap="square" lIns="0" tIns="0" rIns="0" bIns="0" rtlCol="0"/>
            <a:lstStyle/>
            <a:p>
              <a:endParaRPr/>
            </a:p>
          </p:txBody>
        </p:sp>
        <p:sp>
          <p:nvSpPr>
            <p:cNvPr id="17" name="object 17"/>
            <p:cNvSpPr/>
            <p:nvPr/>
          </p:nvSpPr>
          <p:spPr>
            <a:xfrm>
              <a:off x="1338176" y="1262277"/>
              <a:ext cx="62865" cy="152400"/>
            </a:xfrm>
            <a:custGeom>
              <a:avLst/>
              <a:gdLst/>
              <a:ahLst/>
              <a:cxnLst/>
              <a:rect l="l" t="t" r="r" b="b"/>
              <a:pathLst>
                <a:path w="62865" h="152400">
                  <a:moveTo>
                    <a:pt x="0" y="152327"/>
                  </a:moveTo>
                  <a:lnTo>
                    <a:pt x="62546" y="0"/>
                  </a:lnTo>
                </a:path>
              </a:pathLst>
            </a:custGeom>
            <a:ln w="5270">
              <a:solidFill>
                <a:srgbClr val="231F20"/>
              </a:solidFill>
            </a:ln>
          </p:spPr>
          <p:txBody>
            <a:bodyPr wrap="square" lIns="0" tIns="0" rIns="0" bIns="0" rtlCol="0"/>
            <a:lstStyle/>
            <a:p>
              <a:endParaRPr/>
            </a:p>
          </p:txBody>
        </p:sp>
        <p:sp>
          <p:nvSpPr>
            <p:cNvPr id="18" name="object 18"/>
            <p:cNvSpPr/>
            <p:nvPr/>
          </p:nvSpPr>
          <p:spPr>
            <a:xfrm>
              <a:off x="1375173" y="1227629"/>
              <a:ext cx="40005" cy="57150"/>
            </a:xfrm>
            <a:custGeom>
              <a:avLst/>
              <a:gdLst/>
              <a:ahLst/>
              <a:cxnLst/>
              <a:rect l="l" t="t" r="r" b="b"/>
              <a:pathLst>
                <a:path w="40005" h="57150">
                  <a:moveTo>
                    <a:pt x="39137" y="0"/>
                  </a:moveTo>
                  <a:lnTo>
                    <a:pt x="0" y="40962"/>
                  </a:lnTo>
                  <a:lnTo>
                    <a:pt x="24495" y="37220"/>
                  </a:lnTo>
                  <a:lnTo>
                    <a:pt x="39870" y="56647"/>
                  </a:lnTo>
                  <a:lnTo>
                    <a:pt x="39137" y="0"/>
                  </a:lnTo>
                  <a:close/>
                </a:path>
              </a:pathLst>
            </a:custGeom>
            <a:solidFill>
              <a:srgbClr val="231F20"/>
            </a:solidFill>
          </p:spPr>
          <p:txBody>
            <a:bodyPr wrap="square" lIns="0" tIns="0" rIns="0" bIns="0" rtlCol="0"/>
            <a:lstStyle/>
            <a:p>
              <a:endParaRPr/>
            </a:p>
          </p:txBody>
        </p:sp>
        <p:sp>
          <p:nvSpPr>
            <p:cNvPr id="19" name="object 19"/>
            <p:cNvSpPr/>
            <p:nvPr/>
          </p:nvSpPr>
          <p:spPr>
            <a:xfrm>
              <a:off x="1465327" y="1733470"/>
              <a:ext cx="198755" cy="478790"/>
            </a:xfrm>
            <a:custGeom>
              <a:avLst/>
              <a:gdLst/>
              <a:ahLst/>
              <a:cxnLst/>
              <a:rect l="l" t="t" r="r" b="b"/>
              <a:pathLst>
                <a:path w="198755" h="478789">
                  <a:moveTo>
                    <a:pt x="0" y="0"/>
                  </a:moveTo>
                  <a:lnTo>
                    <a:pt x="198306" y="478297"/>
                  </a:lnTo>
                </a:path>
              </a:pathLst>
            </a:custGeom>
            <a:ln w="5270">
              <a:solidFill>
                <a:srgbClr val="231F20"/>
              </a:solidFill>
            </a:ln>
          </p:spPr>
          <p:txBody>
            <a:bodyPr wrap="square" lIns="0" tIns="0" rIns="0" bIns="0" rtlCol="0"/>
            <a:lstStyle/>
            <a:p>
              <a:endParaRPr/>
            </a:p>
          </p:txBody>
        </p:sp>
        <p:sp>
          <p:nvSpPr>
            <p:cNvPr id="20" name="object 20"/>
            <p:cNvSpPr/>
            <p:nvPr/>
          </p:nvSpPr>
          <p:spPr>
            <a:xfrm>
              <a:off x="1638039" y="2189492"/>
              <a:ext cx="40005" cy="57150"/>
            </a:xfrm>
            <a:custGeom>
              <a:avLst/>
              <a:gdLst/>
              <a:ahLst/>
              <a:cxnLst/>
              <a:rect l="l" t="t" r="r" b="b"/>
              <a:pathLst>
                <a:path w="40005" h="57150">
                  <a:moveTo>
                    <a:pt x="39552" y="0"/>
                  </a:moveTo>
                  <a:lnTo>
                    <a:pt x="24560" y="19727"/>
                  </a:lnTo>
                  <a:lnTo>
                    <a:pt x="0" y="16474"/>
                  </a:lnTo>
                  <a:lnTo>
                    <a:pt x="39939" y="56645"/>
                  </a:lnTo>
                  <a:lnTo>
                    <a:pt x="39552" y="0"/>
                  </a:lnTo>
                  <a:close/>
                </a:path>
              </a:pathLst>
            </a:custGeom>
            <a:solidFill>
              <a:srgbClr val="231F20"/>
            </a:solidFill>
          </p:spPr>
          <p:txBody>
            <a:bodyPr wrap="square" lIns="0" tIns="0" rIns="0" bIns="0" rtlCol="0"/>
            <a:lstStyle/>
            <a:p>
              <a:endParaRPr/>
            </a:p>
          </p:txBody>
        </p:sp>
        <p:sp>
          <p:nvSpPr>
            <p:cNvPr id="21" name="object 21"/>
            <p:cNvSpPr/>
            <p:nvPr/>
          </p:nvSpPr>
          <p:spPr>
            <a:xfrm>
              <a:off x="2514815" y="1729517"/>
              <a:ext cx="215265" cy="521334"/>
            </a:xfrm>
            <a:custGeom>
              <a:avLst/>
              <a:gdLst/>
              <a:ahLst/>
              <a:cxnLst/>
              <a:rect l="l" t="t" r="r" b="b"/>
              <a:pathLst>
                <a:path w="215264" h="521335">
                  <a:moveTo>
                    <a:pt x="0" y="521252"/>
                  </a:moveTo>
                  <a:lnTo>
                    <a:pt x="214772" y="0"/>
                  </a:lnTo>
                </a:path>
              </a:pathLst>
            </a:custGeom>
            <a:ln w="5270">
              <a:solidFill>
                <a:srgbClr val="231F20"/>
              </a:solidFill>
            </a:ln>
          </p:spPr>
          <p:txBody>
            <a:bodyPr wrap="square" lIns="0" tIns="0" rIns="0" bIns="0" rtlCol="0"/>
            <a:lstStyle/>
            <a:p>
              <a:endParaRPr/>
            </a:p>
          </p:txBody>
        </p:sp>
        <p:sp>
          <p:nvSpPr>
            <p:cNvPr id="22" name="object 22"/>
            <p:cNvSpPr/>
            <p:nvPr/>
          </p:nvSpPr>
          <p:spPr>
            <a:xfrm>
              <a:off x="1679968" y="2250770"/>
              <a:ext cx="835025" cy="0"/>
            </a:xfrm>
            <a:custGeom>
              <a:avLst/>
              <a:gdLst/>
              <a:ahLst/>
              <a:cxnLst/>
              <a:rect l="l" t="t" r="r" b="b"/>
              <a:pathLst>
                <a:path w="835025">
                  <a:moveTo>
                    <a:pt x="0" y="0"/>
                  </a:moveTo>
                  <a:lnTo>
                    <a:pt x="834847" y="0"/>
                  </a:lnTo>
                </a:path>
              </a:pathLst>
            </a:custGeom>
            <a:ln w="21081">
              <a:solidFill>
                <a:srgbClr val="231F20"/>
              </a:solidFill>
            </a:ln>
          </p:spPr>
          <p:txBody>
            <a:bodyPr wrap="square" lIns="0" tIns="0" rIns="0" bIns="0" rtlCol="0"/>
            <a:lstStyle/>
            <a:p>
              <a:endParaRPr/>
            </a:p>
          </p:txBody>
        </p:sp>
        <p:sp>
          <p:nvSpPr>
            <p:cNvPr id="23" name="object 23"/>
            <p:cNvSpPr/>
            <p:nvPr/>
          </p:nvSpPr>
          <p:spPr>
            <a:xfrm>
              <a:off x="996911" y="1226185"/>
              <a:ext cx="266065" cy="0"/>
            </a:xfrm>
            <a:custGeom>
              <a:avLst/>
              <a:gdLst/>
              <a:ahLst/>
              <a:cxnLst/>
              <a:rect l="l" t="t" r="r" b="b"/>
              <a:pathLst>
                <a:path w="266065">
                  <a:moveTo>
                    <a:pt x="265637" y="0"/>
                  </a:moveTo>
                  <a:lnTo>
                    <a:pt x="0" y="0"/>
                  </a:lnTo>
                </a:path>
              </a:pathLst>
            </a:custGeom>
            <a:solidFill>
              <a:srgbClr val="231F20"/>
            </a:solidFill>
          </p:spPr>
          <p:txBody>
            <a:bodyPr wrap="square" lIns="0" tIns="0" rIns="0" bIns="0" rtlCol="0"/>
            <a:lstStyle/>
            <a:p>
              <a:endParaRPr/>
            </a:p>
          </p:txBody>
        </p:sp>
        <p:sp>
          <p:nvSpPr>
            <p:cNvPr id="24" name="object 24"/>
            <p:cNvSpPr/>
            <p:nvPr/>
          </p:nvSpPr>
          <p:spPr>
            <a:xfrm>
              <a:off x="996911" y="1226185"/>
              <a:ext cx="266065" cy="0"/>
            </a:xfrm>
            <a:custGeom>
              <a:avLst/>
              <a:gdLst/>
              <a:ahLst/>
              <a:cxnLst/>
              <a:rect l="l" t="t" r="r" b="b"/>
              <a:pathLst>
                <a:path w="266065">
                  <a:moveTo>
                    <a:pt x="0" y="0"/>
                  </a:moveTo>
                  <a:lnTo>
                    <a:pt x="265637" y="0"/>
                  </a:lnTo>
                </a:path>
              </a:pathLst>
            </a:custGeom>
            <a:ln w="21081">
              <a:solidFill>
                <a:srgbClr val="231F20"/>
              </a:solidFill>
            </a:ln>
          </p:spPr>
          <p:txBody>
            <a:bodyPr wrap="square" lIns="0" tIns="0" rIns="0" bIns="0" rtlCol="0"/>
            <a:lstStyle/>
            <a:p>
              <a:endParaRPr/>
            </a:p>
          </p:txBody>
        </p:sp>
        <p:sp>
          <p:nvSpPr>
            <p:cNvPr id="25" name="object 25"/>
            <p:cNvSpPr/>
            <p:nvPr/>
          </p:nvSpPr>
          <p:spPr>
            <a:xfrm>
              <a:off x="2928023" y="1221968"/>
              <a:ext cx="266065" cy="0"/>
            </a:xfrm>
            <a:custGeom>
              <a:avLst/>
              <a:gdLst/>
              <a:ahLst/>
              <a:cxnLst/>
              <a:rect l="l" t="t" r="r" b="b"/>
              <a:pathLst>
                <a:path w="266064">
                  <a:moveTo>
                    <a:pt x="265633" y="0"/>
                  </a:moveTo>
                  <a:lnTo>
                    <a:pt x="0" y="0"/>
                  </a:lnTo>
                </a:path>
              </a:pathLst>
            </a:custGeom>
            <a:solidFill>
              <a:srgbClr val="231F20"/>
            </a:solidFill>
          </p:spPr>
          <p:txBody>
            <a:bodyPr wrap="square" lIns="0" tIns="0" rIns="0" bIns="0" rtlCol="0"/>
            <a:lstStyle/>
            <a:p>
              <a:endParaRPr/>
            </a:p>
          </p:txBody>
        </p:sp>
        <p:sp>
          <p:nvSpPr>
            <p:cNvPr id="26" name="object 26"/>
            <p:cNvSpPr/>
            <p:nvPr/>
          </p:nvSpPr>
          <p:spPr>
            <a:xfrm>
              <a:off x="2928023" y="1221968"/>
              <a:ext cx="266065" cy="0"/>
            </a:xfrm>
            <a:custGeom>
              <a:avLst/>
              <a:gdLst/>
              <a:ahLst/>
              <a:cxnLst/>
              <a:rect l="l" t="t" r="r" b="b"/>
              <a:pathLst>
                <a:path w="266064">
                  <a:moveTo>
                    <a:pt x="0" y="0"/>
                  </a:moveTo>
                  <a:lnTo>
                    <a:pt x="265633" y="0"/>
                  </a:lnTo>
                </a:path>
              </a:pathLst>
            </a:custGeom>
            <a:ln w="21081">
              <a:solidFill>
                <a:srgbClr val="231F20"/>
              </a:solidFill>
            </a:ln>
          </p:spPr>
          <p:txBody>
            <a:bodyPr wrap="square" lIns="0" tIns="0" rIns="0" bIns="0" rtlCol="0"/>
            <a:lstStyle/>
            <a:p>
              <a:endParaRPr/>
            </a:p>
          </p:txBody>
        </p:sp>
        <p:sp>
          <p:nvSpPr>
            <p:cNvPr id="27" name="object 27"/>
            <p:cNvSpPr/>
            <p:nvPr/>
          </p:nvSpPr>
          <p:spPr>
            <a:xfrm>
              <a:off x="1262549" y="1226185"/>
              <a:ext cx="1670050" cy="0"/>
            </a:xfrm>
            <a:custGeom>
              <a:avLst/>
              <a:gdLst/>
              <a:ahLst/>
              <a:cxnLst/>
              <a:rect l="l" t="t" r="r" b="b"/>
              <a:pathLst>
                <a:path w="1670050">
                  <a:moveTo>
                    <a:pt x="1669690" y="0"/>
                  </a:moveTo>
                  <a:lnTo>
                    <a:pt x="0" y="0"/>
                  </a:lnTo>
                </a:path>
              </a:pathLst>
            </a:custGeom>
            <a:solidFill>
              <a:srgbClr val="231F20"/>
            </a:solidFill>
          </p:spPr>
          <p:txBody>
            <a:bodyPr wrap="square" lIns="0" tIns="0" rIns="0" bIns="0" rtlCol="0"/>
            <a:lstStyle/>
            <a:p>
              <a:endParaRPr/>
            </a:p>
          </p:txBody>
        </p:sp>
        <p:sp>
          <p:nvSpPr>
            <p:cNvPr id="28" name="object 28"/>
            <p:cNvSpPr/>
            <p:nvPr/>
          </p:nvSpPr>
          <p:spPr>
            <a:xfrm>
              <a:off x="1262549" y="1226185"/>
              <a:ext cx="1670050" cy="0"/>
            </a:xfrm>
            <a:custGeom>
              <a:avLst/>
              <a:gdLst/>
              <a:ahLst/>
              <a:cxnLst/>
              <a:rect l="l" t="t" r="r" b="b"/>
              <a:pathLst>
                <a:path w="1670050">
                  <a:moveTo>
                    <a:pt x="0" y="0"/>
                  </a:moveTo>
                  <a:lnTo>
                    <a:pt x="1669690" y="0"/>
                  </a:lnTo>
                </a:path>
              </a:pathLst>
            </a:custGeom>
            <a:ln w="5270">
              <a:solidFill>
                <a:srgbClr val="231F20"/>
              </a:solidFill>
            </a:ln>
          </p:spPr>
          <p:txBody>
            <a:bodyPr wrap="square" lIns="0" tIns="0" rIns="0" bIns="0" rtlCol="0"/>
            <a:lstStyle/>
            <a:p>
              <a:endParaRPr/>
            </a:p>
          </p:txBody>
        </p:sp>
        <p:sp>
          <p:nvSpPr>
            <p:cNvPr id="29" name="object 29"/>
            <p:cNvSpPr/>
            <p:nvPr/>
          </p:nvSpPr>
          <p:spPr>
            <a:xfrm>
              <a:off x="996911" y="2250770"/>
              <a:ext cx="2201545" cy="0"/>
            </a:xfrm>
            <a:custGeom>
              <a:avLst/>
              <a:gdLst/>
              <a:ahLst/>
              <a:cxnLst/>
              <a:rect l="l" t="t" r="r" b="b"/>
              <a:pathLst>
                <a:path w="2201545">
                  <a:moveTo>
                    <a:pt x="683056" y="0"/>
                  </a:moveTo>
                  <a:lnTo>
                    <a:pt x="0" y="0"/>
                  </a:lnTo>
                </a:path>
                <a:path w="2201545">
                  <a:moveTo>
                    <a:pt x="2200960" y="0"/>
                  </a:moveTo>
                  <a:lnTo>
                    <a:pt x="1517903" y="0"/>
                  </a:lnTo>
                </a:path>
              </a:pathLst>
            </a:custGeom>
            <a:ln w="5270">
              <a:solidFill>
                <a:srgbClr val="231F20"/>
              </a:solidFill>
              <a:prstDash val="lgDash"/>
            </a:ln>
          </p:spPr>
          <p:txBody>
            <a:bodyPr wrap="square" lIns="0" tIns="0" rIns="0" bIns="0" rtlCol="0"/>
            <a:lstStyle/>
            <a:p>
              <a:endParaRPr/>
            </a:p>
          </p:txBody>
        </p:sp>
        <p:sp>
          <p:nvSpPr>
            <p:cNvPr id="30" name="object 30"/>
            <p:cNvSpPr/>
            <p:nvPr/>
          </p:nvSpPr>
          <p:spPr>
            <a:xfrm>
              <a:off x="1414335" y="1150289"/>
              <a:ext cx="1518285" cy="76200"/>
            </a:xfrm>
            <a:custGeom>
              <a:avLst/>
              <a:gdLst/>
              <a:ahLst/>
              <a:cxnLst/>
              <a:rect l="l" t="t" r="r" b="b"/>
              <a:pathLst>
                <a:path w="1518285" h="76200">
                  <a:moveTo>
                    <a:pt x="0" y="0"/>
                  </a:moveTo>
                  <a:lnTo>
                    <a:pt x="0" y="75895"/>
                  </a:lnTo>
                </a:path>
                <a:path w="1518285" h="76200">
                  <a:moveTo>
                    <a:pt x="493318" y="0"/>
                  </a:moveTo>
                  <a:lnTo>
                    <a:pt x="493318" y="75895"/>
                  </a:lnTo>
                </a:path>
                <a:path w="1518285" h="76200">
                  <a:moveTo>
                    <a:pt x="1517903" y="0"/>
                  </a:moveTo>
                  <a:lnTo>
                    <a:pt x="1517903" y="75895"/>
                  </a:lnTo>
                </a:path>
              </a:pathLst>
            </a:custGeom>
            <a:ln w="10540">
              <a:solidFill>
                <a:srgbClr val="231F20"/>
              </a:solidFill>
            </a:ln>
          </p:spPr>
          <p:txBody>
            <a:bodyPr wrap="square" lIns="0" tIns="0" rIns="0" bIns="0" rtlCol="0"/>
            <a:lstStyle/>
            <a:p>
              <a:endParaRPr/>
            </a:p>
          </p:txBody>
        </p:sp>
      </p:grpSp>
      <p:sp>
        <p:nvSpPr>
          <p:cNvPr id="31" name="object 31"/>
          <p:cNvSpPr txBox="1"/>
          <p:nvPr/>
        </p:nvSpPr>
        <p:spPr>
          <a:xfrm>
            <a:off x="954705" y="825576"/>
            <a:ext cx="949960" cy="363220"/>
          </a:xfrm>
          <a:prstGeom prst="rect">
            <a:avLst/>
          </a:prstGeom>
        </p:spPr>
        <p:txBody>
          <a:bodyPr vert="horz" wrap="square" lIns="0" tIns="13970" rIns="0" bIns="0" rtlCol="0">
            <a:spAutoFit/>
          </a:bodyPr>
          <a:lstStyle/>
          <a:p>
            <a:pPr marL="210185" marR="5080" indent="84455">
              <a:lnSpc>
                <a:spcPct val="100000"/>
              </a:lnSpc>
              <a:spcBef>
                <a:spcPts val="110"/>
              </a:spcBef>
            </a:pPr>
            <a:r>
              <a:rPr sz="650" spc="5" dirty="0">
                <a:solidFill>
                  <a:srgbClr val="231F20"/>
                </a:solidFill>
                <a:latin typeface="Helvetica"/>
                <a:cs typeface="Helvetica"/>
              </a:rPr>
              <a:t>Synchronize at </a:t>
            </a:r>
            <a:r>
              <a:rPr sz="650" spc="10" dirty="0">
                <a:solidFill>
                  <a:srgbClr val="231F20"/>
                </a:solidFill>
                <a:latin typeface="Helvetica"/>
                <a:cs typeface="Helvetica"/>
              </a:rPr>
              <a:t> </a:t>
            </a:r>
            <a:r>
              <a:rPr sz="650" spc="5" dirty="0">
                <a:solidFill>
                  <a:srgbClr val="231F20"/>
                </a:solidFill>
                <a:latin typeface="Helvetica"/>
                <a:cs typeface="Helvetica"/>
              </a:rPr>
              <a:t>request</a:t>
            </a:r>
            <a:r>
              <a:rPr sz="650" dirty="0">
                <a:solidFill>
                  <a:srgbClr val="231F20"/>
                </a:solidFill>
                <a:latin typeface="Helvetica"/>
                <a:cs typeface="Helvetica"/>
              </a:rPr>
              <a:t> </a:t>
            </a:r>
            <a:r>
              <a:rPr sz="650" spc="5" dirty="0">
                <a:solidFill>
                  <a:srgbClr val="231F20"/>
                </a:solidFill>
                <a:latin typeface="Helvetica"/>
                <a:cs typeface="Helvetica"/>
              </a:rPr>
              <a:t>submission</a:t>
            </a:r>
            <a:endParaRPr sz="650">
              <a:latin typeface="Helvetica"/>
              <a:cs typeface="Helvetica"/>
            </a:endParaRPr>
          </a:p>
          <a:p>
            <a:pPr marL="12700">
              <a:lnSpc>
                <a:spcPct val="100000"/>
              </a:lnSpc>
              <a:spcBef>
                <a:spcPts val="300"/>
              </a:spcBef>
            </a:pPr>
            <a:r>
              <a:rPr sz="650" spc="5" dirty="0">
                <a:solidFill>
                  <a:srgbClr val="231F20"/>
                </a:solidFill>
                <a:latin typeface="Helvetica"/>
                <a:cs typeface="Helvetica"/>
              </a:rPr>
              <a:t>Client</a:t>
            </a:r>
            <a:endParaRPr sz="650">
              <a:latin typeface="Helvetica"/>
              <a:cs typeface="Helvetica"/>
            </a:endParaRPr>
          </a:p>
        </p:txBody>
      </p:sp>
      <p:sp>
        <p:nvSpPr>
          <p:cNvPr id="32" name="object 32"/>
          <p:cNvSpPr txBox="1"/>
          <p:nvPr/>
        </p:nvSpPr>
        <p:spPr>
          <a:xfrm>
            <a:off x="2872739" y="825576"/>
            <a:ext cx="802640" cy="227329"/>
          </a:xfrm>
          <a:prstGeom prst="rect">
            <a:avLst/>
          </a:prstGeom>
        </p:spPr>
        <p:txBody>
          <a:bodyPr vert="horz" wrap="square" lIns="0" tIns="13970" rIns="0" bIns="0" rtlCol="0">
            <a:spAutoFit/>
          </a:bodyPr>
          <a:lstStyle/>
          <a:p>
            <a:pPr marL="12700" marR="5080" indent="60325">
              <a:lnSpc>
                <a:spcPct val="100000"/>
              </a:lnSpc>
              <a:spcBef>
                <a:spcPts val="110"/>
              </a:spcBef>
            </a:pPr>
            <a:r>
              <a:rPr sz="650" spc="5" dirty="0">
                <a:solidFill>
                  <a:srgbClr val="231F20"/>
                </a:solidFill>
                <a:latin typeface="Helvetica"/>
                <a:cs typeface="Helvetica"/>
              </a:rPr>
              <a:t>Synchronize after </a:t>
            </a:r>
            <a:r>
              <a:rPr sz="650" spc="10" dirty="0">
                <a:solidFill>
                  <a:srgbClr val="231F20"/>
                </a:solidFill>
                <a:latin typeface="Helvetica"/>
                <a:cs typeface="Helvetica"/>
              </a:rPr>
              <a:t> </a:t>
            </a:r>
            <a:r>
              <a:rPr sz="650" spc="5" dirty="0">
                <a:solidFill>
                  <a:srgbClr val="231F20"/>
                </a:solidFill>
                <a:latin typeface="Helvetica"/>
                <a:cs typeface="Helvetica"/>
              </a:rPr>
              <a:t>processing</a:t>
            </a:r>
            <a:r>
              <a:rPr sz="650" spc="-35" dirty="0">
                <a:solidFill>
                  <a:srgbClr val="231F20"/>
                </a:solidFill>
                <a:latin typeface="Helvetica"/>
                <a:cs typeface="Helvetica"/>
              </a:rPr>
              <a:t> </a:t>
            </a:r>
            <a:r>
              <a:rPr sz="650" spc="-5" dirty="0">
                <a:solidFill>
                  <a:srgbClr val="231F20"/>
                </a:solidFill>
                <a:latin typeface="Helvetica"/>
                <a:cs typeface="Helvetica"/>
              </a:rPr>
              <a:t>by</a:t>
            </a:r>
            <a:r>
              <a:rPr sz="650" spc="-30" dirty="0">
                <a:solidFill>
                  <a:srgbClr val="231F20"/>
                </a:solidFill>
                <a:latin typeface="Helvetica"/>
                <a:cs typeface="Helvetica"/>
              </a:rPr>
              <a:t> </a:t>
            </a:r>
            <a:r>
              <a:rPr sz="650" spc="5" dirty="0">
                <a:solidFill>
                  <a:srgbClr val="231F20"/>
                </a:solidFill>
                <a:latin typeface="Helvetica"/>
                <a:cs typeface="Helvetica"/>
              </a:rPr>
              <a:t>server</a:t>
            </a:r>
            <a:endParaRPr sz="650">
              <a:latin typeface="Helvetica"/>
              <a:cs typeface="Helvetica"/>
            </a:endParaRPr>
          </a:p>
        </p:txBody>
      </p:sp>
      <p:sp>
        <p:nvSpPr>
          <p:cNvPr id="33" name="object 33"/>
          <p:cNvSpPr txBox="1"/>
          <p:nvPr/>
        </p:nvSpPr>
        <p:spPr>
          <a:xfrm>
            <a:off x="2052521" y="825576"/>
            <a:ext cx="621030" cy="227329"/>
          </a:xfrm>
          <a:prstGeom prst="rect">
            <a:avLst/>
          </a:prstGeom>
        </p:spPr>
        <p:txBody>
          <a:bodyPr vert="horz" wrap="square" lIns="0" tIns="13970" rIns="0" bIns="0" rtlCol="0">
            <a:spAutoFit/>
          </a:bodyPr>
          <a:lstStyle/>
          <a:p>
            <a:pPr marL="12700" marR="5080" indent="7620">
              <a:lnSpc>
                <a:spcPct val="100000"/>
              </a:lnSpc>
              <a:spcBef>
                <a:spcPts val="110"/>
              </a:spcBef>
            </a:pPr>
            <a:r>
              <a:rPr sz="650" spc="5" dirty="0">
                <a:solidFill>
                  <a:srgbClr val="231F20"/>
                </a:solidFill>
                <a:latin typeface="Helvetica"/>
                <a:cs typeface="Helvetica"/>
              </a:rPr>
              <a:t>Synchronize at </a:t>
            </a:r>
            <a:r>
              <a:rPr sz="650" spc="-170" dirty="0">
                <a:solidFill>
                  <a:srgbClr val="231F20"/>
                </a:solidFill>
                <a:latin typeface="Helvetica"/>
                <a:cs typeface="Helvetica"/>
              </a:rPr>
              <a:t> </a:t>
            </a:r>
            <a:r>
              <a:rPr sz="650" spc="5" dirty="0">
                <a:solidFill>
                  <a:srgbClr val="231F20"/>
                </a:solidFill>
                <a:latin typeface="Helvetica"/>
                <a:cs typeface="Helvetica"/>
              </a:rPr>
              <a:t>request</a:t>
            </a:r>
            <a:r>
              <a:rPr sz="650" dirty="0">
                <a:solidFill>
                  <a:srgbClr val="231F20"/>
                </a:solidFill>
                <a:latin typeface="Helvetica"/>
                <a:cs typeface="Helvetica"/>
              </a:rPr>
              <a:t> </a:t>
            </a:r>
            <a:r>
              <a:rPr sz="650" spc="5" dirty="0">
                <a:solidFill>
                  <a:srgbClr val="231F20"/>
                </a:solidFill>
                <a:latin typeface="Helvetica"/>
                <a:cs typeface="Helvetica"/>
              </a:rPr>
              <a:t>deli</a:t>
            </a:r>
            <a:r>
              <a:rPr sz="650" spc="-15" dirty="0">
                <a:solidFill>
                  <a:srgbClr val="231F20"/>
                </a:solidFill>
                <a:latin typeface="Helvetica"/>
                <a:cs typeface="Helvetica"/>
              </a:rPr>
              <a:t>v</a:t>
            </a:r>
            <a:r>
              <a:rPr sz="650" spc="5" dirty="0">
                <a:solidFill>
                  <a:srgbClr val="231F20"/>
                </a:solidFill>
                <a:latin typeface="Helvetica"/>
                <a:cs typeface="Helvetica"/>
              </a:rPr>
              <a:t>e</a:t>
            </a:r>
            <a:r>
              <a:rPr sz="650" spc="15" dirty="0">
                <a:solidFill>
                  <a:srgbClr val="231F20"/>
                </a:solidFill>
                <a:latin typeface="Helvetica"/>
                <a:cs typeface="Helvetica"/>
              </a:rPr>
              <a:t>r</a:t>
            </a:r>
            <a:r>
              <a:rPr sz="650" spc="5" dirty="0">
                <a:solidFill>
                  <a:srgbClr val="231F20"/>
                </a:solidFill>
                <a:latin typeface="Helvetica"/>
                <a:cs typeface="Helvetica"/>
              </a:rPr>
              <a:t>y</a:t>
            </a:r>
            <a:endParaRPr sz="650">
              <a:latin typeface="Helvetica"/>
              <a:cs typeface="Helvetica"/>
            </a:endParaRPr>
          </a:p>
        </p:txBody>
      </p:sp>
      <p:sp>
        <p:nvSpPr>
          <p:cNvPr id="34" name="object 34"/>
          <p:cNvSpPr txBox="1"/>
          <p:nvPr/>
        </p:nvSpPr>
        <p:spPr>
          <a:xfrm>
            <a:off x="941035" y="1252832"/>
            <a:ext cx="3397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Helvetica"/>
                <a:cs typeface="Helvetica"/>
              </a:rPr>
              <a:t>Request</a:t>
            </a:r>
            <a:endParaRPr sz="650">
              <a:latin typeface="Helvetica"/>
              <a:cs typeface="Helvetica"/>
            </a:endParaRPr>
          </a:p>
        </p:txBody>
      </p:sp>
      <p:grpSp>
        <p:nvGrpSpPr>
          <p:cNvPr id="35" name="object 35"/>
          <p:cNvGrpSpPr/>
          <p:nvPr/>
        </p:nvGrpSpPr>
        <p:grpSpPr>
          <a:xfrm>
            <a:off x="1375992" y="1656327"/>
            <a:ext cx="1431925" cy="368935"/>
            <a:chOff x="1375992" y="1656327"/>
            <a:chExt cx="1431925" cy="368935"/>
          </a:xfrm>
        </p:grpSpPr>
        <p:pic>
          <p:nvPicPr>
            <p:cNvPr id="36" name="object 36"/>
            <p:cNvPicPr/>
            <p:nvPr/>
          </p:nvPicPr>
          <p:blipFill>
            <a:blip r:embed="rId8" cstate="print"/>
            <a:stretch>
              <a:fillRect/>
            </a:stretch>
          </p:blipFill>
          <p:spPr>
            <a:xfrm>
              <a:off x="1375992" y="1657645"/>
              <a:ext cx="157060" cy="87696"/>
            </a:xfrm>
            <a:prstGeom prst="rect">
              <a:avLst/>
            </a:prstGeom>
          </p:spPr>
        </p:pic>
        <p:pic>
          <p:nvPicPr>
            <p:cNvPr id="37" name="object 37"/>
            <p:cNvPicPr/>
            <p:nvPr/>
          </p:nvPicPr>
          <p:blipFill>
            <a:blip r:embed="rId9" cstate="print"/>
            <a:stretch>
              <a:fillRect/>
            </a:stretch>
          </p:blipFill>
          <p:spPr>
            <a:xfrm>
              <a:off x="2650573" y="1657645"/>
              <a:ext cx="157060" cy="87696"/>
            </a:xfrm>
            <a:prstGeom prst="rect">
              <a:avLst/>
            </a:prstGeom>
          </p:spPr>
        </p:pic>
        <p:pic>
          <p:nvPicPr>
            <p:cNvPr id="38" name="object 38"/>
            <p:cNvPicPr/>
            <p:nvPr/>
          </p:nvPicPr>
          <p:blipFill>
            <a:blip r:embed="rId10" cstate="print"/>
            <a:stretch>
              <a:fillRect/>
            </a:stretch>
          </p:blipFill>
          <p:spPr>
            <a:xfrm>
              <a:off x="1632665" y="1656327"/>
              <a:ext cx="157060" cy="87696"/>
            </a:xfrm>
            <a:prstGeom prst="rect">
              <a:avLst/>
            </a:prstGeom>
          </p:spPr>
        </p:pic>
        <p:sp>
          <p:nvSpPr>
            <p:cNvPr id="39" name="object 39"/>
            <p:cNvSpPr/>
            <p:nvPr/>
          </p:nvSpPr>
          <p:spPr>
            <a:xfrm>
              <a:off x="1584572" y="1722929"/>
              <a:ext cx="122555" cy="299720"/>
            </a:xfrm>
            <a:custGeom>
              <a:avLst/>
              <a:gdLst/>
              <a:ahLst/>
              <a:cxnLst/>
              <a:rect l="l" t="t" r="r" b="b"/>
              <a:pathLst>
                <a:path w="122555" h="299719">
                  <a:moveTo>
                    <a:pt x="0" y="299100"/>
                  </a:moveTo>
                  <a:lnTo>
                    <a:pt x="122539" y="0"/>
                  </a:lnTo>
                </a:path>
              </a:pathLst>
            </a:custGeom>
            <a:ln w="5270">
              <a:solidFill>
                <a:srgbClr val="231F20"/>
              </a:solidFill>
            </a:ln>
          </p:spPr>
          <p:txBody>
            <a:bodyPr wrap="square" lIns="0" tIns="0" rIns="0" bIns="0" rtlCol="0"/>
            <a:lstStyle/>
            <a:p>
              <a:endParaRPr/>
            </a:p>
          </p:txBody>
        </p:sp>
      </p:grpSp>
      <p:sp>
        <p:nvSpPr>
          <p:cNvPr id="40" name="object 40"/>
          <p:cNvSpPr txBox="1"/>
          <p:nvPr/>
        </p:nvSpPr>
        <p:spPr>
          <a:xfrm>
            <a:off x="2046744" y="1432733"/>
            <a:ext cx="795655" cy="765810"/>
          </a:xfrm>
          <a:prstGeom prst="rect">
            <a:avLst/>
          </a:prstGeom>
        </p:spPr>
        <p:txBody>
          <a:bodyPr vert="horz" wrap="square" lIns="0" tIns="13970" rIns="0" bIns="0" rtlCol="0">
            <a:spAutoFit/>
          </a:bodyPr>
          <a:lstStyle/>
          <a:p>
            <a:pPr marL="198755" marR="187960" indent="-90170">
              <a:lnSpc>
                <a:spcPct val="100000"/>
              </a:lnSpc>
              <a:spcBef>
                <a:spcPts val="110"/>
              </a:spcBef>
            </a:pPr>
            <a:r>
              <a:rPr sz="650" spc="-75" dirty="0">
                <a:solidFill>
                  <a:srgbClr val="231F20"/>
                </a:solidFill>
                <a:latin typeface="Helvetica"/>
                <a:cs typeface="Helvetica"/>
              </a:rPr>
              <a:t>T</a:t>
            </a:r>
            <a:r>
              <a:rPr sz="650" spc="-10" dirty="0">
                <a:solidFill>
                  <a:srgbClr val="231F20"/>
                </a:solidFill>
                <a:latin typeface="Helvetica"/>
                <a:cs typeface="Helvetica"/>
              </a:rPr>
              <a:t>r</a:t>
            </a:r>
            <a:r>
              <a:rPr sz="650" spc="5" dirty="0">
                <a:solidFill>
                  <a:srgbClr val="231F20"/>
                </a:solidFill>
                <a:latin typeface="Helvetica"/>
                <a:cs typeface="Helvetica"/>
              </a:rPr>
              <a:t>ansmission  interrupt</a:t>
            </a:r>
            <a:endParaRPr sz="650">
              <a:latin typeface="Helvetica"/>
              <a:cs typeface="Helvetica"/>
            </a:endParaRPr>
          </a:p>
          <a:p>
            <a:pPr marL="12700" marR="480059">
              <a:lnSpc>
                <a:spcPct val="100000"/>
              </a:lnSpc>
              <a:spcBef>
                <a:spcPts val="535"/>
              </a:spcBef>
            </a:pPr>
            <a:r>
              <a:rPr sz="650" spc="5" dirty="0">
                <a:solidFill>
                  <a:srgbClr val="231F20"/>
                </a:solidFill>
                <a:latin typeface="Helvetica"/>
                <a:cs typeface="Helvetica"/>
              </a:rPr>
              <a:t>Sto</a:t>
            </a:r>
            <a:r>
              <a:rPr sz="650" spc="-10" dirty="0">
                <a:solidFill>
                  <a:srgbClr val="231F20"/>
                </a:solidFill>
                <a:latin typeface="Helvetica"/>
                <a:cs typeface="Helvetica"/>
              </a:rPr>
              <a:t>r</a:t>
            </a:r>
            <a:r>
              <a:rPr sz="650" spc="5" dirty="0">
                <a:solidFill>
                  <a:srgbClr val="231F20"/>
                </a:solidFill>
                <a:latin typeface="Helvetica"/>
                <a:cs typeface="Helvetica"/>
              </a:rPr>
              <a:t>age  </a:t>
            </a:r>
            <a:r>
              <a:rPr sz="650" dirty="0">
                <a:solidFill>
                  <a:srgbClr val="231F20"/>
                </a:solidFill>
                <a:latin typeface="Helvetica"/>
                <a:cs typeface="Helvetica"/>
              </a:rPr>
              <a:t>facility</a:t>
            </a:r>
            <a:endParaRPr sz="650">
              <a:latin typeface="Helvetica"/>
              <a:cs typeface="Helvetica"/>
            </a:endParaRPr>
          </a:p>
          <a:p>
            <a:pPr>
              <a:lnSpc>
                <a:spcPct val="100000"/>
              </a:lnSpc>
            </a:pPr>
            <a:endParaRPr sz="600">
              <a:latin typeface="Helvetica"/>
              <a:cs typeface="Helvetica"/>
            </a:endParaRPr>
          </a:p>
          <a:p>
            <a:pPr>
              <a:lnSpc>
                <a:spcPct val="100000"/>
              </a:lnSpc>
              <a:spcBef>
                <a:spcPts val="25"/>
              </a:spcBef>
            </a:pPr>
            <a:endParaRPr sz="550">
              <a:latin typeface="Helvetica"/>
              <a:cs typeface="Helvetica"/>
            </a:endParaRPr>
          </a:p>
          <a:p>
            <a:pPr marR="5080" algn="r">
              <a:lnSpc>
                <a:spcPct val="100000"/>
              </a:lnSpc>
            </a:pPr>
            <a:r>
              <a:rPr sz="650" spc="5" dirty="0">
                <a:solidFill>
                  <a:srgbClr val="231F20"/>
                </a:solidFill>
                <a:latin typeface="Helvetica"/>
                <a:cs typeface="Helvetica"/>
              </a:rPr>
              <a:t>Reply</a:t>
            </a:r>
            <a:endParaRPr sz="650">
              <a:latin typeface="Helvetica"/>
              <a:cs typeface="Helvetica"/>
            </a:endParaRPr>
          </a:p>
        </p:txBody>
      </p:sp>
      <p:grpSp>
        <p:nvGrpSpPr>
          <p:cNvPr id="41" name="object 41"/>
          <p:cNvGrpSpPr/>
          <p:nvPr/>
        </p:nvGrpSpPr>
        <p:grpSpPr>
          <a:xfrm>
            <a:off x="1226824" y="1071537"/>
            <a:ext cx="1974214" cy="784225"/>
            <a:chOff x="1226824" y="1071537"/>
            <a:chExt cx="1974214" cy="784225"/>
          </a:xfrm>
        </p:grpSpPr>
        <p:pic>
          <p:nvPicPr>
            <p:cNvPr id="42" name="object 42"/>
            <p:cNvPicPr/>
            <p:nvPr/>
          </p:nvPicPr>
          <p:blipFill>
            <a:blip r:embed="rId11" cstate="print"/>
            <a:stretch>
              <a:fillRect/>
            </a:stretch>
          </p:blipFill>
          <p:spPr>
            <a:xfrm>
              <a:off x="1226824" y="1595997"/>
              <a:ext cx="218079" cy="85427"/>
            </a:xfrm>
            <a:prstGeom prst="rect">
              <a:avLst/>
            </a:prstGeom>
          </p:spPr>
        </p:pic>
        <p:pic>
          <p:nvPicPr>
            <p:cNvPr id="43" name="object 43"/>
            <p:cNvPicPr/>
            <p:nvPr/>
          </p:nvPicPr>
          <p:blipFill>
            <a:blip r:embed="rId12" cstate="print"/>
            <a:stretch>
              <a:fillRect/>
            </a:stretch>
          </p:blipFill>
          <p:spPr>
            <a:xfrm>
              <a:off x="1719715" y="1608296"/>
              <a:ext cx="218079" cy="85423"/>
            </a:xfrm>
            <a:prstGeom prst="rect">
              <a:avLst/>
            </a:prstGeom>
          </p:spPr>
        </p:pic>
        <p:pic>
          <p:nvPicPr>
            <p:cNvPr id="44" name="object 44"/>
            <p:cNvPicPr/>
            <p:nvPr/>
          </p:nvPicPr>
          <p:blipFill>
            <a:blip r:embed="rId13" cstate="print"/>
            <a:stretch>
              <a:fillRect/>
            </a:stretch>
          </p:blipFill>
          <p:spPr>
            <a:xfrm>
              <a:off x="1236719" y="1741750"/>
              <a:ext cx="224749" cy="108222"/>
            </a:xfrm>
            <a:prstGeom prst="rect">
              <a:avLst/>
            </a:prstGeom>
          </p:spPr>
        </p:pic>
        <p:pic>
          <p:nvPicPr>
            <p:cNvPr id="45" name="object 45"/>
            <p:cNvPicPr/>
            <p:nvPr/>
          </p:nvPicPr>
          <p:blipFill>
            <a:blip r:embed="rId14" cstate="print"/>
            <a:stretch>
              <a:fillRect/>
            </a:stretch>
          </p:blipFill>
          <p:spPr>
            <a:xfrm>
              <a:off x="1705390" y="1743727"/>
              <a:ext cx="224754" cy="108222"/>
            </a:xfrm>
            <a:prstGeom prst="rect">
              <a:avLst/>
            </a:prstGeom>
          </p:spPr>
        </p:pic>
        <p:pic>
          <p:nvPicPr>
            <p:cNvPr id="46" name="object 46"/>
            <p:cNvPicPr/>
            <p:nvPr/>
          </p:nvPicPr>
          <p:blipFill>
            <a:blip r:embed="rId15" cstate="print"/>
            <a:stretch>
              <a:fillRect/>
            </a:stretch>
          </p:blipFill>
          <p:spPr>
            <a:xfrm>
              <a:off x="2741320" y="1612031"/>
              <a:ext cx="218072" cy="85427"/>
            </a:xfrm>
            <a:prstGeom prst="rect">
              <a:avLst/>
            </a:prstGeom>
          </p:spPr>
        </p:pic>
        <p:pic>
          <p:nvPicPr>
            <p:cNvPr id="47" name="object 47"/>
            <p:cNvPicPr/>
            <p:nvPr/>
          </p:nvPicPr>
          <p:blipFill>
            <a:blip r:embed="rId16" cstate="print"/>
            <a:stretch>
              <a:fillRect/>
            </a:stretch>
          </p:blipFill>
          <p:spPr>
            <a:xfrm>
              <a:off x="2730727" y="1747458"/>
              <a:ext cx="224744" cy="108221"/>
            </a:xfrm>
            <a:prstGeom prst="rect">
              <a:avLst/>
            </a:prstGeom>
          </p:spPr>
        </p:pic>
        <p:sp>
          <p:nvSpPr>
            <p:cNvPr id="48" name="object 48"/>
            <p:cNvSpPr/>
            <p:nvPr/>
          </p:nvSpPr>
          <p:spPr>
            <a:xfrm>
              <a:off x="1414335" y="1074394"/>
              <a:ext cx="1783714" cy="597535"/>
            </a:xfrm>
            <a:custGeom>
              <a:avLst/>
              <a:gdLst/>
              <a:ahLst/>
              <a:cxnLst/>
              <a:rect l="l" t="t" r="r" b="b"/>
              <a:pathLst>
                <a:path w="1783714" h="597535">
                  <a:moveTo>
                    <a:pt x="151790" y="0"/>
                  </a:moveTo>
                  <a:lnTo>
                    <a:pt x="0" y="113842"/>
                  </a:lnTo>
                </a:path>
                <a:path w="1783714" h="597535">
                  <a:moveTo>
                    <a:pt x="834847" y="0"/>
                  </a:moveTo>
                  <a:lnTo>
                    <a:pt x="493318" y="113842"/>
                  </a:lnTo>
                </a:path>
                <a:path w="1783714" h="597535">
                  <a:moveTo>
                    <a:pt x="1783537" y="0"/>
                  </a:moveTo>
                  <a:lnTo>
                    <a:pt x="1517903" y="113842"/>
                  </a:lnTo>
                </a:path>
                <a:path w="1783714" h="597535">
                  <a:moveTo>
                    <a:pt x="1176902" y="491737"/>
                  </a:moveTo>
                  <a:lnTo>
                    <a:pt x="1279677" y="597147"/>
                  </a:lnTo>
                </a:path>
              </a:pathLst>
            </a:custGeom>
            <a:ln w="5270">
              <a:solidFill>
                <a:srgbClr val="231F20"/>
              </a:solidFill>
            </a:ln>
          </p:spPr>
          <p:txBody>
            <a:bodyPr wrap="square" lIns="0" tIns="0" rIns="0" bIns="0" rtlCol="0"/>
            <a:lstStyle/>
            <a:p>
              <a:endParaRPr/>
            </a:p>
          </p:txBody>
        </p:sp>
      </p:grpSp>
      <p:sp>
        <p:nvSpPr>
          <p:cNvPr id="49" name="object 49"/>
          <p:cNvSpPr txBox="1"/>
          <p:nvPr/>
        </p:nvSpPr>
        <p:spPr>
          <a:xfrm>
            <a:off x="2724657" y="2272855"/>
            <a:ext cx="213360" cy="127000"/>
          </a:xfrm>
          <a:prstGeom prst="rect">
            <a:avLst/>
          </a:prstGeom>
        </p:spPr>
        <p:txBody>
          <a:bodyPr vert="horz" wrap="square" lIns="0" tIns="14605" rIns="0" bIns="0" rtlCol="0">
            <a:spAutoFit/>
          </a:bodyPr>
          <a:lstStyle/>
          <a:p>
            <a:pPr marL="12700">
              <a:lnSpc>
                <a:spcPct val="100000"/>
              </a:lnSpc>
              <a:spcBef>
                <a:spcPts val="115"/>
              </a:spcBef>
            </a:pPr>
            <a:r>
              <a:rPr sz="650" spc="5" dirty="0">
                <a:solidFill>
                  <a:srgbClr val="231F20"/>
                </a:solidFill>
                <a:latin typeface="Helvetica"/>
                <a:cs typeface="Helvetica"/>
              </a:rPr>
              <a:t>Time</a:t>
            </a:r>
            <a:endParaRPr sz="650">
              <a:latin typeface="Helvetica"/>
              <a:cs typeface="Helvetica"/>
            </a:endParaRPr>
          </a:p>
        </p:txBody>
      </p:sp>
      <p:grpSp>
        <p:nvGrpSpPr>
          <p:cNvPr id="50" name="object 50"/>
          <p:cNvGrpSpPr/>
          <p:nvPr/>
        </p:nvGrpSpPr>
        <p:grpSpPr>
          <a:xfrm>
            <a:off x="2970187" y="2305241"/>
            <a:ext cx="189230" cy="43180"/>
            <a:chOff x="2970187" y="2305241"/>
            <a:chExt cx="189230" cy="43180"/>
          </a:xfrm>
        </p:grpSpPr>
        <p:sp>
          <p:nvSpPr>
            <p:cNvPr id="51" name="object 51"/>
            <p:cNvSpPr/>
            <p:nvPr/>
          </p:nvSpPr>
          <p:spPr>
            <a:xfrm>
              <a:off x="2970187" y="2326665"/>
              <a:ext cx="152400" cy="0"/>
            </a:xfrm>
            <a:custGeom>
              <a:avLst/>
              <a:gdLst/>
              <a:ahLst/>
              <a:cxnLst/>
              <a:rect l="l" t="t" r="r" b="b"/>
              <a:pathLst>
                <a:path w="152400">
                  <a:moveTo>
                    <a:pt x="0" y="0"/>
                  </a:moveTo>
                  <a:lnTo>
                    <a:pt x="151790" y="0"/>
                  </a:lnTo>
                </a:path>
              </a:pathLst>
            </a:custGeom>
            <a:ln w="5270">
              <a:solidFill>
                <a:srgbClr val="231F20"/>
              </a:solidFill>
            </a:ln>
          </p:spPr>
          <p:txBody>
            <a:bodyPr wrap="square" lIns="0" tIns="0" rIns="0" bIns="0" rtlCol="0"/>
            <a:lstStyle/>
            <a:p>
              <a:endParaRPr/>
            </a:p>
          </p:txBody>
        </p:sp>
        <p:sp>
          <p:nvSpPr>
            <p:cNvPr id="52" name="object 52"/>
            <p:cNvSpPr/>
            <p:nvPr/>
          </p:nvSpPr>
          <p:spPr>
            <a:xfrm>
              <a:off x="3106745" y="2305241"/>
              <a:ext cx="52705" cy="43180"/>
            </a:xfrm>
            <a:custGeom>
              <a:avLst/>
              <a:gdLst/>
              <a:ahLst/>
              <a:cxnLst/>
              <a:rect l="l" t="t" r="r" b="b"/>
              <a:pathLst>
                <a:path w="52705" h="43180">
                  <a:moveTo>
                    <a:pt x="0" y="0"/>
                  </a:moveTo>
                  <a:lnTo>
                    <a:pt x="12448" y="21423"/>
                  </a:lnTo>
                  <a:lnTo>
                    <a:pt x="0" y="42843"/>
                  </a:lnTo>
                  <a:lnTo>
                    <a:pt x="52441" y="21423"/>
                  </a:lnTo>
                  <a:lnTo>
                    <a:pt x="0" y="0"/>
                  </a:lnTo>
                  <a:close/>
                </a:path>
              </a:pathLst>
            </a:custGeom>
            <a:solidFill>
              <a:srgbClr val="231F20"/>
            </a:solidFill>
          </p:spPr>
          <p:txBody>
            <a:bodyPr wrap="square" lIns="0" tIns="0" rIns="0" bIns="0" rtlCol="0"/>
            <a:lstStyle/>
            <a:p>
              <a:endParaRPr/>
            </a:p>
          </p:txBody>
        </p:sp>
      </p:grpSp>
      <p:sp>
        <p:nvSpPr>
          <p:cNvPr id="53" name="object 53"/>
          <p:cNvSpPr txBox="1"/>
          <p:nvPr/>
        </p:nvSpPr>
        <p:spPr>
          <a:xfrm>
            <a:off x="431304" y="2598628"/>
            <a:ext cx="1615440" cy="481330"/>
          </a:xfrm>
          <a:prstGeom prst="rect">
            <a:avLst/>
          </a:prstGeom>
        </p:spPr>
        <p:txBody>
          <a:bodyPr vert="horz" wrap="square" lIns="0" tIns="12065" rIns="0" bIns="0" rtlCol="0">
            <a:spAutoFit/>
          </a:bodyPr>
          <a:lstStyle/>
          <a:p>
            <a:pPr marL="205740" indent="-168275">
              <a:lnSpc>
                <a:spcPts val="1200"/>
              </a:lnSpc>
              <a:spcBef>
                <a:spcPts val="95"/>
              </a:spcBef>
              <a:buClr>
                <a:srgbClr val="3333B2"/>
              </a:buClr>
              <a:buChar char="►"/>
              <a:tabLst>
                <a:tab pos="206375" algn="l"/>
              </a:tabLst>
            </a:pPr>
            <a:r>
              <a:rPr sz="1000" spc="-5" dirty="0">
                <a:latin typeface="Arial"/>
                <a:cs typeface="Arial"/>
              </a:rPr>
              <a:t>At</a:t>
            </a:r>
            <a:r>
              <a:rPr sz="1000" spc="-20" dirty="0">
                <a:latin typeface="Arial"/>
                <a:cs typeface="Arial"/>
              </a:rPr>
              <a:t> </a:t>
            </a:r>
            <a:r>
              <a:rPr sz="1000" spc="-5" dirty="0">
                <a:solidFill>
                  <a:srgbClr val="0000FA"/>
                </a:solidFill>
                <a:latin typeface="Arial"/>
                <a:cs typeface="Arial"/>
              </a:rPr>
              <a:t>request</a:t>
            </a:r>
            <a:r>
              <a:rPr sz="1000" spc="-20" dirty="0">
                <a:solidFill>
                  <a:srgbClr val="0000FA"/>
                </a:solidFill>
                <a:latin typeface="Arial"/>
                <a:cs typeface="Arial"/>
              </a:rPr>
              <a:t> </a:t>
            </a:r>
            <a:r>
              <a:rPr sz="1000" spc="-5" dirty="0">
                <a:solidFill>
                  <a:srgbClr val="0000FA"/>
                </a:solidFill>
                <a:latin typeface="Arial"/>
                <a:cs typeface="Arial"/>
              </a:rPr>
              <a:t>submission</a:t>
            </a:r>
            <a:endParaRPr sz="1000">
              <a:latin typeface="Arial"/>
              <a:cs typeface="Arial"/>
            </a:endParaRPr>
          </a:p>
          <a:p>
            <a:pPr marL="205740" indent="-168275">
              <a:lnSpc>
                <a:spcPts val="1195"/>
              </a:lnSpc>
              <a:buClr>
                <a:srgbClr val="3333B2"/>
              </a:buClr>
              <a:buChar char="►"/>
              <a:tabLst>
                <a:tab pos="206375" algn="l"/>
              </a:tabLst>
            </a:pPr>
            <a:r>
              <a:rPr sz="1000" spc="-5" dirty="0">
                <a:latin typeface="Arial"/>
                <a:cs typeface="Arial"/>
              </a:rPr>
              <a:t>At</a:t>
            </a:r>
            <a:r>
              <a:rPr sz="1000" spc="-20" dirty="0">
                <a:latin typeface="Arial"/>
                <a:cs typeface="Arial"/>
              </a:rPr>
              <a:t> </a:t>
            </a:r>
            <a:r>
              <a:rPr sz="1000" spc="-5" dirty="0">
                <a:solidFill>
                  <a:srgbClr val="0000FA"/>
                </a:solidFill>
                <a:latin typeface="Arial"/>
                <a:cs typeface="Arial"/>
              </a:rPr>
              <a:t>request</a:t>
            </a:r>
            <a:r>
              <a:rPr sz="1000" spc="-20" dirty="0">
                <a:solidFill>
                  <a:srgbClr val="0000FA"/>
                </a:solidFill>
                <a:latin typeface="Arial"/>
                <a:cs typeface="Arial"/>
              </a:rPr>
              <a:t> </a:t>
            </a:r>
            <a:r>
              <a:rPr sz="1000" spc="-5" dirty="0">
                <a:solidFill>
                  <a:srgbClr val="0000FA"/>
                </a:solidFill>
                <a:latin typeface="Arial"/>
                <a:cs typeface="Arial"/>
              </a:rPr>
              <a:t>delivery</a:t>
            </a:r>
            <a:endParaRPr sz="1000">
              <a:latin typeface="Arial"/>
              <a:cs typeface="Arial"/>
            </a:endParaRPr>
          </a:p>
          <a:p>
            <a:pPr marL="205740" indent="-168275">
              <a:lnSpc>
                <a:spcPts val="1200"/>
              </a:lnSpc>
              <a:buClr>
                <a:srgbClr val="3333B2"/>
              </a:buClr>
              <a:buChar char="►"/>
              <a:tabLst>
                <a:tab pos="206375" algn="l"/>
              </a:tabLst>
            </a:pPr>
            <a:r>
              <a:rPr sz="1000" spc="-5" dirty="0">
                <a:latin typeface="Arial"/>
                <a:cs typeface="Arial"/>
              </a:rPr>
              <a:t>After</a:t>
            </a:r>
            <a:r>
              <a:rPr sz="1000" spc="-15" dirty="0">
                <a:latin typeface="Arial"/>
                <a:cs typeface="Arial"/>
              </a:rPr>
              <a:t> </a:t>
            </a:r>
            <a:r>
              <a:rPr sz="1000" spc="-5" dirty="0">
                <a:solidFill>
                  <a:srgbClr val="0000FA"/>
                </a:solidFill>
                <a:latin typeface="Arial"/>
                <a:cs typeface="Arial"/>
              </a:rPr>
              <a:t>request</a:t>
            </a:r>
            <a:r>
              <a:rPr sz="1000" spc="-15" dirty="0">
                <a:solidFill>
                  <a:srgbClr val="0000FA"/>
                </a:solidFill>
                <a:latin typeface="Arial"/>
                <a:cs typeface="Arial"/>
              </a:rPr>
              <a:t> </a:t>
            </a:r>
            <a:r>
              <a:rPr sz="1000" spc="-5" dirty="0">
                <a:solidFill>
                  <a:srgbClr val="0000FA"/>
                </a:solidFill>
                <a:latin typeface="Arial"/>
                <a:cs typeface="Arial"/>
              </a:rPr>
              <a:t>processing</a:t>
            </a:r>
            <a:endParaRPr sz="1000">
              <a:latin typeface="Arial"/>
              <a:cs typeface="Arial"/>
            </a:endParaRPr>
          </a:p>
        </p:txBody>
      </p:sp>
      <p:sp>
        <p:nvSpPr>
          <p:cNvPr id="54" name="object 54"/>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9</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
        <p:nvSpPr>
          <p:cNvPr id="2" name="object 2"/>
          <p:cNvSpPr txBox="1"/>
          <p:nvPr/>
        </p:nvSpPr>
        <p:spPr>
          <a:xfrm>
            <a:off x="66713" y="716"/>
            <a:ext cx="10287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Foundations</a:t>
            </a:r>
            <a:endParaRPr sz="600">
              <a:latin typeface="Arial"/>
              <a:cs typeface="Arial"/>
            </a:endParaRPr>
          </a:p>
        </p:txBody>
      </p:sp>
      <p:sp>
        <p:nvSpPr>
          <p:cNvPr id="3" name="object 3"/>
          <p:cNvSpPr txBox="1"/>
          <p:nvPr/>
        </p:nvSpPr>
        <p:spPr>
          <a:xfrm>
            <a:off x="3686225" y="716"/>
            <a:ext cx="855344" cy="116839"/>
          </a:xfrm>
          <a:prstGeom prst="rect">
            <a:avLst/>
          </a:prstGeom>
        </p:spPr>
        <p:txBody>
          <a:bodyPr vert="horz" wrap="square" lIns="0" tIns="12065" rIns="0" bIns="0" rtlCol="0">
            <a:spAutoFit/>
          </a:bodyPr>
          <a:lstStyle/>
          <a:p>
            <a:pPr marL="12700">
              <a:lnSpc>
                <a:spcPct val="100000"/>
              </a:lnSpc>
              <a:spcBef>
                <a:spcPts val="95"/>
              </a:spcBef>
            </a:pPr>
            <a:r>
              <a:rPr sz="600" spc="-20" dirty="0">
                <a:solidFill>
                  <a:srgbClr val="262685"/>
                </a:solidFill>
                <a:latin typeface="Arial"/>
                <a:cs typeface="Arial"/>
                <a:hlinkClick r:id="rId4" action="ppaction://hlinksldjump"/>
              </a:rPr>
              <a:t>Types </a:t>
            </a:r>
            <a:r>
              <a:rPr sz="600" spc="-5" dirty="0">
                <a:solidFill>
                  <a:srgbClr val="262685"/>
                </a:solidFill>
                <a:latin typeface="Arial"/>
                <a:cs typeface="Arial"/>
                <a:hlinkClick r:id="rId4" action="ppaction://hlinksldjump"/>
              </a:rPr>
              <a:t>of</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Communication</a:t>
            </a:r>
            <a:endParaRPr sz="600">
              <a:latin typeface="Arial"/>
              <a:cs typeface="Arial"/>
            </a:endParaRPr>
          </a:p>
        </p:txBody>
      </p:sp>
      <p:sp>
        <p:nvSpPr>
          <p:cNvPr id="4" name="object 4"/>
          <p:cNvSpPr txBox="1"/>
          <p:nvPr/>
        </p:nvSpPr>
        <p:spPr>
          <a:xfrm>
            <a:off x="82600" y="188846"/>
            <a:ext cx="4053840" cy="1694814"/>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Client/Server</a:t>
            </a:r>
            <a:endParaRPr sz="1400" dirty="0">
              <a:latin typeface="Arial"/>
              <a:cs typeface="Arial"/>
            </a:endParaRPr>
          </a:p>
          <a:p>
            <a:pPr>
              <a:lnSpc>
                <a:spcPct val="100000"/>
              </a:lnSpc>
              <a:spcBef>
                <a:spcPts val="25"/>
              </a:spcBef>
            </a:pPr>
            <a:endParaRPr sz="1950" dirty="0">
              <a:latin typeface="Arial"/>
              <a:cs typeface="Arial"/>
            </a:endParaRPr>
          </a:p>
          <a:p>
            <a:pPr marL="276860">
              <a:lnSpc>
                <a:spcPts val="1410"/>
              </a:lnSpc>
            </a:pPr>
            <a:r>
              <a:rPr sz="1200" spc="-5" dirty="0">
                <a:solidFill>
                  <a:srgbClr val="3333B2"/>
                </a:solidFill>
                <a:latin typeface="Arial"/>
                <a:cs typeface="Arial"/>
              </a:rPr>
              <a:t>Some</a:t>
            </a:r>
            <a:r>
              <a:rPr sz="1200" spc="-30" dirty="0">
                <a:solidFill>
                  <a:srgbClr val="3333B2"/>
                </a:solidFill>
                <a:latin typeface="Arial"/>
                <a:cs typeface="Arial"/>
              </a:rPr>
              <a:t> </a:t>
            </a:r>
            <a:r>
              <a:rPr sz="1200" spc="-5" dirty="0">
                <a:solidFill>
                  <a:srgbClr val="3333B2"/>
                </a:solidFill>
                <a:latin typeface="Arial"/>
                <a:cs typeface="Arial"/>
              </a:rPr>
              <a:t>observations</a:t>
            </a:r>
            <a:endParaRPr sz="1200" dirty="0">
              <a:latin typeface="Arial"/>
              <a:cs typeface="Arial"/>
            </a:endParaRPr>
          </a:p>
          <a:p>
            <a:pPr marL="276860" marR="43180">
              <a:lnSpc>
                <a:spcPts val="1200"/>
              </a:lnSpc>
              <a:spcBef>
                <a:spcPts val="15"/>
              </a:spcBef>
            </a:pPr>
            <a:r>
              <a:rPr sz="1000" spc="-5" dirty="0">
                <a:latin typeface="Arial"/>
                <a:cs typeface="Arial"/>
              </a:rPr>
              <a:t>Client/Server</a:t>
            </a:r>
            <a:r>
              <a:rPr sz="1000" dirty="0">
                <a:latin typeface="Arial"/>
                <a:cs typeface="Arial"/>
              </a:rPr>
              <a:t> </a:t>
            </a:r>
            <a:r>
              <a:rPr sz="1000" spc="-5" dirty="0">
                <a:latin typeface="Arial"/>
                <a:cs typeface="Arial"/>
              </a:rPr>
              <a:t>computing</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generally</a:t>
            </a:r>
            <a:r>
              <a:rPr sz="1000" spc="5" dirty="0">
                <a:latin typeface="Arial"/>
                <a:cs typeface="Arial"/>
              </a:rPr>
              <a:t> </a:t>
            </a:r>
            <a:r>
              <a:rPr sz="1000" spc="-5" dirty="0">
                <a:latin typeface="Arial"/>
                <a:cs typeface="Arial"/>
              </a:rPr>
              <a:t>based</a:t>
            </a:r>
            <a:r>
              <a:rPr sz="1000" dirty="0">
                <a:latin typeface="Arial"/>
                <a:cs typeface="Arial"/>
              </a:rPr>
              <a:t> </a:t>
            </a:r>
            <a:r>
              <a:rPr sz="1000" spc="-5" dirty="0">
                <a:latin typeface="Arial"/>
                <a:cs typeface="Arial"/>
              </a:rPr>
              <a:t>on</a:t>
            </a:r>
            <a:r>
              <a:rPr sz="100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model</a:t>
            </a:r>
            <a:r>
              <a:rPr sz="1000" dirty="0">
                <a:latin typeface="Arial"/>
                <a:cs typeface="Arial"/>
              </a:rPr>
              <a:t> </a:t>
            </a:r>
            <a:r>
              <a:rPr sz="1000" spc="-5" dirty="0">
                <a:latin typeface="Arial"/>
                <a:cs typeface="Arial"/>
              </a:rPr>
              <a:t>of</a:t>
            </a:r>
            <a:r>
              <a:rPr sz="1000" dirty="0">
                <a:latin typeface="Arial"/>
                <a:cs typeface="Arial"/>
              </a:rPr>
              <a:t> </a:t>
            </a:r>
            <a:r>
              <a:rPr sz="1000" spc="-5" dirty="0">
                <a:solidFill>
                  <a:srgbClr val="0000FA"/>
                </a:solidFill>
                <a:latin typeface="Arial"/>
                <a:cs typeface="Arial"/>
              </a:rPr>
              <a:t>transient </a:t>
            </a:r>
            <a:r>
              <a:rPr sz="1000" spc="-260" dirty="0">
                <a:solidFill>
                  <a:srgbClr val="0000FA"/>
                </a:solidFill>
                <a:latin typeface="Arial"/>
                <a:cs typeface="Arial"/>
              </a:rPr>
              <a:t> </a:t>
            </a:r>
            <a:r>
              <a:rPr sz="1000" spc="-5" dirty="0">
                <a:solidFill>
                  <a:srgbClr val="0000FA"/>
                </a:solidFill>
                <a:latin typeface="Arial"/>
                <a:cs typeface="Arial"/>
              </a:rPr>
              <a:t>synchronous</a:t>
            </a:r>
            <a:r>
              <a:rPr sz="1000" spc="-10" dirty="0">
                <a:solidFill>
                  <a:srgbClr val="0000FA"/>
                </a:solidFill>
                <a:latin typeface="Arial"/>
                <a:cs typeface="Arial"/>
              </a:rPr>
              <a:t> </a:t>
            </a:r>
            <a:r>
              <a:rPr sz="1000" spc="-5" dirty="0">
                <a:solidFill>
                  <a:srgbClr val="0000FA"/>
                </a:solidFill>
                <a:latin typeface="Arial"/>
                <a:cs typeface="Arial"/>
              </a:rPr>
              <a:t>communication</a:t>
            </a:r>
            <a:r>
              <a:rPr sz="1000" spc="-5" dirty="0">
                <a:latin typeface="Arial"/>
                <a:cs typeface="Arial"/>
              </a:rPr>
              <a:t>:</a:t>
            </a:r>
            <a:endParaRPr sz="1000" dirty="0">
              <a:latin typeface="Arial"/>
              <a:cs typeface="Arial"/>
            </a:endParaRPr>
          </a:p>
          <a:p>
            <a:pPr marL="554355" indent="-168275">
              <a:lnSpc>
                <a:spcPts val="1200"/>
              </a:lnSpc>
              <a:spcBef>
                <a:spcPts val="545"/>
              </a:spcBef>
              <a:buClr>
                <a:srgbClr val="3333B2"/>
              </a:buClr>
              <a:buChar char="►"/>
              <a:tabLst>
                <a:tab pos="554990" algn="l"/>
              </a:tabLst>
            </a:pPr>
            <a:r>
              <a:rPr sz="1000" spc="-5" dirty="0">
                <a:latin typeface="Arial"/>
                <a:cs typeface="Arial"/>
              </a:rPr>
              <a:t>Client and</a:t>
            </a:r>
            <a:r>
              <a:rPr sz="1000" dirty="0">
                <a:latin typeface="Arial"/>
                <a:cs typeface="Arial"/>
              </a:rPr>
              <a:t> </a:t>
            </a:r>
            <a:r>
              <a:rPr sz="1000" spc="-5" dirty="0">
                <a:latin typeface="Arial"/>
                <a:cs typeface="Arial"/>
              </a:rPr>
              <a:t>server</a:t>
            </a:r>
            <a:r>
              <a:rPr sz="1000"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 </a:t>
            </a:r>
            <a:r>
              <a:rPr sz="1000" spc="-10" dirty="0">
                <a:latin typeface="Arial"/>
                <a:cs typeface="Arial"/>
              </a:rPr>
              <a:t>active</a:t>
            </a:r>
            <a:r>
              <a:rPr sz="1000"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time</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communication</a:t>
            </a:r>
            <a:endParaRPr sz="1000" dirty="0">
              <a:latin typeface="Arial"/>
              <a:cs typeface="Arial"/>
            </a:endParaRPr>
          </a:p>
          <a:p>
            <a:pPr marL="554355" indent="-168275">
              <a:lnSpc>
                <a:spcPts val="1195"/>
              </a:lnSpc>
              <a:buClr>
                <a:srgbClr val="3333B2"/>
              </a:buClr>
              <a:buChar char="►"/>
              <a:tabLst>
                <a:tab pos="554990" algn="l"/>
              </a:tabLst>
            </a:pPr>
            <a:r>
              <a:rPr sz="1000" spc="-5" dirty="0">
                <a:latin typeface="Arial"/>
                <a:cs typeface="Arial"/>
              </a:rPr>
              <a:t>Client issues request</a:t>
            </a:r>
            <a:r>
              <a:rPr sz="1000" dirty="0">
                <a:latin typeface="Arial"/>
                <a:cs typeface="Arial"/>
              </a:rPr>
              <a:t> </a:t>
            </a:r>
            <a:r>
              <a:rPr sz="1000" spc="-5" dirty="0">
                <a:latin typeface="Arial"/>
                <a:cs typeface="Arial"/>
              </a:rPr>
              <a:t>and </a:t>
            </a:r>
            <a:r>
              <a:rPr sz="1000" spc="-10" dirty="0">
                <a:latin typeface="Arial"/>
                <a:cs typeface="Arial"/>
              </a:rPr>
              <a:t>blocks</a:t>
            </a:r>
            <a:r>
              <a:rPr sz="1000" dirty="0">
                <a:latin typeface="Arial"/>
                <a:cs typeface="Arial"/>
              </a:rPr>
              <a:t> </a:t>
            </a:r>
            <a:r>
              <a:rPr sz="1000" spc="-5" dirty="0">
                <a:latin typeface="Arial"/>
                <a:cs typeface="Arial"/>
              </a:rPr>
              <a:t>until it</a:t>
            </a:r>
            <a:r>
              <a:rPr sz="1000" dirty="0">
                <a:latin typeface="Arial"/>
                <a:cs typeface="Arial"/>
              </a:rPr>
              <a:t> </a:t>
            </a:r>
            <a:r>
              <a:rPr sz="1000" spc="-5" dirty="0">
                <a:latin typeface="Arial"/>
                <a:cs typeface="Arial"/>
              </a:rPr>
              <a:t>receives reply</a:t>
            </a:r>
            <a:endParaRPr sz="1000" dirty="0">
              <a:latin typeface="Arial"/>
              <a:cs typeface="Arial"/>
            </a:endParaRPr>
          </a:p>
          <a:p>
            <a:pPr marL="554355" marR="382905" indent="-168275">
              <a:lnSpc>
                <a:spcPts val="1200"/>
              </a:lnSpc>
              <a:spcBef>
                <a:spcPts val="40"/>
              </a:spcBef>
              <a:buClr>
                <a:srgbClr val="3333B2"/>
              </a:buClr>
              <a:buChar char="►"/>
              <a:tabLst>
                <a:tab pos="554990" algn="l"/>
              </a:tabLst>
            </a:pPr>
            <a:r>
              <a:rPr sz="1000" spc="-5" dirty="0">
                <a:latin typeface="Arial"/>
                <a:cs typeface="Arial"/>
              </a:rPr>
              <a:t>Server essentially</a:t>
            </a:r>
            <a:r>
              <a:rPr sz="1000" dirty="0">
                <a:latin typeface="Arial"/>
                <a:cs typeface="Arial"/>
              </a:rPr>
              <a:t> </a:t>
            </a:r>
            <a:r>
              <a:rPr sz="1000" spc="-5" dirty="0">
                <a:latin typeface="Arial"/>
                <a:cs typeface="Arial"/>
              </a:rPr>
              <a:t>waits</a:t>
            </a:r>
            <a:r>
              <a:rPr sz="1000" dirty="0">
                <a:latin typeface="Arial"/>
                <a:cs typeface="Arial"/>
              </a:rPr>
              <a:t> </a:t>
            </a:r>
            <a:r>
              <a:rPr sz="1000" spc="-5" dirty="0">
                <a:latin typeface="Arial"/>
                <a:cs typeface="Arial"/>
              </a:rPr>
              <a:t>only </a:t>
            </a:r>
            <a:r>
              <a:rPr sz="1000" spc="-15" dirty="0">
                <a:latin typeface="Arial"/>
                <a:cs typeface="Arial"/>
              </a:rPr>
              <a:t>for</a:t>
            </a:r>
            <a:r>
              <a:rPr sz="1000" dirty="0">
                <a:latin typeface="Arial"/>
                <a:cs typeface="Arial"/>
              </a:rPr>
              <a:t> </a:t>
            </a:r>
            <a:r>
              <a:rPr sz="1000" spc="-5" dirty="0">
                <a:latin typeface="Arial"/>
                <a:cs typeface="Arial"/>
              </a:rPr>
              <a:t>incoming</a:t>
            </a:r>
            <a:r>
              <a:rPr sz="1000" dirty="0">
                <a:latin typeface="Arial"/>
                <a:cs typeface="Arial"/>
              </a:rPr>
              <a:t> </a:t>
            </a:r>
            <a:r>
              <a:rPr sz="1000" spc="-5" dirty="0">
                <a:latin typeface="Arial"/>
                <a:cs typeface="Arial"/>
              </a:rPr>
              <a:t>requests,</a:t>
            </a:r>
            <a:r>
              <a:rPr sz="1000" dirty="0">
                <a:latin typeface="Arial"/>
                <a:cs typeface="Arial"/>
              </a:rPr>
              <a:t> </a:t>
            </a:r>
            <a:r>
              <a:rPr sz="1000" spc="-5" dirty="0">
                <a:latin typeface="Arial"/>
                <a:cs typeface="Arial"/>
              </a:rPr>
              <a:t>and </a:t>
            </a:r>
            <a:r>
              <a:rPr sz="1000" spc="-265" dirty="0">
                <a:latin typeface="Arial"/>
                <a:cs typeface="Arial"/>
              </a:rPr>
              <a:t> </a:t>
            </a:r>
            <a:r>
              <a:rPr sz="1000" spc="-5" dirty="0">
                <a:latin typeface="Arial"/>
                <a:cs typeface="Arial"/>
              </a:rPr>
              <a:t>subsequently</a:t>
            </a:r>
            <a:r>
              <a:rPr sz="1000" spc="-10" dirty="0">
                <a:latin typeface="Arial"/>
                <a:cs typeface="Arial"/>
              </a:rPr>
              <a:t> </a:t>
            </a:r>
            <a:r>
              <a:rPr sz="1000" spc="-5" dirty="0">
                <a:latin typeface="Arial"/>
                <a:cs typeface="Arial"/>
              </a:rPr>
              <a:t>processes them</a:t>
            </a:r>
            <a:endParaRPr sz="1000" dirty="0">
              <a:latin typeface="Arial"/>
              <a:cs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
        <p:nvSpPr>
          <p:cNvPr id="2" name="object 2"/>
          <p:cNvSpPr txBox="1"/>
          <p:nvPr/>
        </p:nvSpPr>
        <p:spPr>
          <a:xfrm>
            <a:off x="66713" y="716"/>
            <a:ext cx="10287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Foundations</a:t>
            </a:r>
            <a:endParaRPr sz="600">
              <a:latin typeface="Arial"/>
              <a:cs typeface="Arial"/>
            </a:endParaRPr>
          </a:p>
        </p:txBody>
      </p:sp>
      <p:sp>
        <p:nvSpPr>
          <p:cNvPr id="3" name="object 3"/>
          <p:cNvSpPr txBox="1"/>
          <p:nvPr/>
        </p:nvSpPr>
        <p:spPr>
          <a:xfrm>
            <a:off x="3686225" y="716"/>
            <a:ext cx="855344" cy="116839"/>
          </a:xfrm>
          <a:prstGeom prst="rect">
            <a:avLst/>
          </a:prstGeom>
        </p:spPr>
        <p:txBody>
          <a:bodyPr vert="horz" wrap="square" lIns="0" tIns="12065" rIns="0" bIns="0" rtlCol="0">
            <a:spAutoFit/>
          </a:bodyPr>
          <a:lstStyle/>
          <a:p>
            <a:pPr marL="12700">
              <a:lnSpc>
                <a:spcPct val="100000"/>
              </a:lnSpc>
              <a:spcBef>
                <a:spcPts val="95"/>
              </a:spcBef>
            </a:pPr>
            <a:r>
              <a:rPr sz="600" spc="-20" dirty="0">
                <a:solidFill>
                  <a:srgbClr val="262685"/>
                </a:solidFill>
                <a:latin typeface="Arial"/>
                <a:cs typeface="Arial"/>
                <a:hlinkClick r:id="rId4" action="ppaction://hlinksldjump"/>
              </a:rPr>
              <a:t>Types </a:t>
            </a:r>
            <a:r>
              <a:rPr sz="600" spc="-5" dirty="0">
                <a:solidFill>
                  <a:srgbClr val="262685"/>
                </a:solidFill>
                <a:latin typeface="Arial"/>
                <a:cs typeface="Arial"/>
                <a:hlinkClick r:id="rId4" action="ppaction://hlinksldjump"/>
              </a:rPr>
              <a:t>of</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Communication</a:t>
            </a:r>
            <a:endParaRPr sz="600">
              <a:latin typeface="Arial"/>
              <a:cs typeface="Arial"/>
            </a:endParaRPr>
          </a:p>
        </p:txBody>
      </p:sp>
      <p:sp>
        <p:nvSpPr>
          <p:cNvPr id="4" name="object 4"/>
          <p:cNvSpPr txBox="1"/>
          <p:nvPr/>
        </p:nvSpPr>
        <p:spPr>
          <a:xfrm>
            <a:off x="69900" y="188846"/>
            <a:ext cx="4079240" cy="2623820"/>
          </a:xfrm>
          <a:prstGeom prst="rect">
            <a:avLst/>
          </a:prstGeom>
        </p:spPr>
        <p:txBody>
          <a:bodyPr vert="horz" wrap="square" lIns="0" tIns="17145" rIns="0" bIns="0" rtlCol="0">
            <a:spAutoFit/>
          </a:bodyPr>
          <a:lstStyle/>
          <a:p>
            <a:pPr marL="38100">
              <a:lnSpc>
                <a:spcPct val="100000"/>
              </a:lnSpc>
              <a:spcBef>
                <a:spcPts val="135"/>
              </a:spcBef>
            </a:pPr>
            <a:r>
              <a:rPr sz="1400" spc="15" dirty="0">
                <a:solidFill>
                  <a:srgbClr val="3333B2"/>
                </a:solidFill>
                <a:latin typeface="Arial"/>
                <a:cs typeface="Arial"/>
              </a:rPr>
              <a:t>Client/Server</a:t>
            </a:r>
            <a:endParaRPr sz="1400" dirty="0">
              <a:latin typeface="Arial"/>
              <a:cs typeface="Arial"/>
            </a:endParaRPr>
          </a:p>
          <a:p>
            <a:pPr>
              <a:lnSpc>
                <a:spcPct val="100000"/>
              </a:lnSpc>
              <a:spcBef>
                <a:spcPts val="25"/>
              </a:spcBef>
            </a:pPr>
            <a:endParaRPr sz="1950" dirty="0">
              <a:latin typeface="Arial"/>
              <a:cs typeface="Arial"/>
            </a:endParaRPr>
          </a:p>
          <a:p>
            <a:pPr marL="289560">
              <a:lnSpc>
                <a:spcPts val="1410"/>
              </a:lnSpc>
            </a:pPr>
            <a:r>
              <a:rPr sz="1200" spc="-5" dirty="0">
                <a:solidFill>
                  <a:srgbClr val="3333B2"/>
                </a:solidFill>
                <a:latin typeface="Arial"/>
                <a:cs typeface="Arial"/>
              </a:rPr>
              <a:t>Some</a:t>
            </a:r>
            <a:r>
              <a:rPr sz="1200" spc="-30" dirty="0">
                <a:solidFill>
                  <a:srgbClr val="3333B2"/>
                </a:solidFill>
                <a:latin typeface="Arial"/>
                <a:cs typeface="Arial"/>
              </a:rPr>
              <a:t> </a:t>
            </a:r>
            <a:r>
              <a:rPr sz="1200" spc="-5" dirty="0">
                <a:solidFill>
                  <a:srgbClr val="3333B2"/>
                </a:solidFill>
                <a:latin typeface="Arial"/>
                <a:cs typeface="Arial"/>
              </a:rPr>
              <a:t>observations</a:t>
            </a:r>
            <a:endParaRPr sz="1200" dirty="0">
              <a:latin typeface="Arial"/>
              <a:cs typeface="Arial"/>
            </a:endParaRPr>
          </a:p>
          <a:p>
            <a:pPr marL="289560" marR="55880">
              <a:lnSpc>
                <a:spcPts val="1200"/>
              </a:lnSpc>
              <a:spcBef>
                <a:spcPts val="15"/>
              </a:spcBef>
            </a:pPr>
            <a:r>
              <a:rPr sz="1000" spc="-5" dirty="0">
                <a:latin typeface="Arial"/>
                <a:cs typeface="Arial"/>
              </a:rPr>
              <a:t>Client/Server</a:t>
            </a:r>
            <a:r>
              <a:rPr sz="1000" dirty="0">
                <a:latin typeface="Arial"/>
                <a:cs typeface="Arial"/>
              </a:rPr>
              <a:t> </a:t>
            </a:r>
            <a:r>
              <a:rPr sz="1000" spc="-5" dirty="0">
                <a:latin typeface="Arial"/>
                <a:cs typeface="Arial"/>
              </a:rPr>
              <a:t>computing</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generally</a:t>
            </a:r>
            <a:r>
              <a:rPr sz="1000" spc="5" dirty="0">
                <a:latin typeface="Arial"/>
                <a:cs typeface="Arial"/>
              </a:rPr>
              <a:t> </a:t>
            </a:r>
            <a:r>
              <a:rPr sz="1000" spc="-5" dirty="0">
                <a:latin typeface="Arial"/>
                <a:cs typeface="Arial"/>
              </a:rPr>
              <a:t>based</a:t>
            </a:r>
            <a:r>
              <a:rPr sz="1000" dirty="0">
                <a:latin typeface="Arial"/>
                <a:cs typeface="Arial"/>
              </a:rPr>
              <a:t> </a:t>
            </a:r>
            <a:r>
              <a:rPr sz="1000" spc="-5" dirty="0">
                <a:latin typeface="Arial"/>
                <a:cs typeface="Arial"/>
              </a:rPr>
              <a:t>on</a:t>
            </a:r>
            <a:r>
              <a:rPr sz="100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model</a:t>
            </a:r>
            <a:r>
              <a:rPr sz="1000" dirty="0">
                <a:latin typeface="Arial"/>
                <a:cs typeface="Arial"/>
              </a:rPr>
              <a:t> </a:t>
            </a:r>
            <a:r>
              <a:rPr sz="1000" spc="-5" dirty="0">
                <a:latin typeface="Arial"/>
                <a:cs typeface="Arial"/>
              </a:rPr>
              <a:t>of</a:t>
            </a:r>
            <a:r>
              <a:rPr sz="1000" dirty="0">
                <a:latin typeface="Arial"/>
                <a:cs typeface="Arial"/>
              </a:rPr>
              <a:t> </a:t>
            </a:r>
            <a:r>
              <a:rPr sz="1000" spc="-5" dirty="0">
                <a:solidFill>
                  <a:srgbClr val="0000FA"/>
                </a:solidFill>
                <a:latin typeface="Arial"/>
                <a:cs typeface="Arial"/>
              </a:rPr>
              <a:t>transient </a:t>
            </a:r>
            <a:r>
              <a:rPr sz="1000" spc="-260" dirty="0">
                <a:solidFill>
                  <a:srgbClr val="0000FA"/>
                </a:solidFill>
                <a:latin typeface="Arial"/>
                <a:cs typeface="Arial"/>
              </a:rPr>
              <a:t> </a:t>
            </a:r>
            <a:r>
              <a:rPr sz="1000" spc="-5" dirty="0">
                <a:solidFill>
                  <a:srgbClr val="0000FA"/>
                </a:solidFill>
                <a:latin typeface="Arial"/>
                <a:cs typeface="Arial"/>
              </a:rPr>
              <a:t>synchronous</a:t>
            </a:r>
            <a:r>
              <a:rPr sz="1000" spc="-10" dirty="0">
                <a:solidFill>
                  <a:srgbClr val="0000FA"/>
                </a:solidFill>
                <a:latin typeface="Arial"/>
                <a:cs typeface="Arial"/>
              </a:rPr>
              <a:t> </a:t>
            </a:r>
            <a:r>
              <a:rPr sz="1000" spc="-5" dirty="0">
                <a:solidFill>
                  <a:srgbClr val="0000FA"/>
                </a:solidFill>
                <a:latin typeface="Arial"/>
                <a:cs typeface="Arial"/>
              </a:rPr>
              <a:t>communication</a:t>
            </a:r>
            <a:r>
              <a:rPr sz="1000" spc="-5" dirty="0">
                <a:latin typeface="Arial"/>
                <a:cs typeface="Arial"/>
              </a:rPr>
              <a:t>:</a:t>
            </a:r>
            <a:endParaRPr sz="1000" dirty="0">
              <a:latin typeface="Arial"/>
              <a:cs typeface="Arial"/>
            </a:endParaRPr>
          </a:p>
          <a:p>
            <a:pPr marL="567055" indent="-168275">
              <a:lnSpc>
                <a:spcPts val="1200"/>
              </a:lnSpc>
              <a:spcBef>
                <a:spcPts val="545"/>
              </a:spcBef>
              <a:buClr>
                <a:srgbClr val="3333B2"/>
              </a:buClr>
              <a:buChar char="►"/>
              <a:tabLst>
                <a:tab pos="567690" algn="l"/>
              </a:tabLst>
            </a:pPr>
            <a:r>
              <a:rPr sz="1000" spc="-5" dirty="0">
                <a:latin typeface="Arial"/>
                <a:cs typeface="Arial"/>
              </a:rPr>
              <a:t>Client and</a:t>
            </a:r>
            <a:r>
              <a:rPr sz="1000" dirty="0">
                <a:latin typeface="Arial"/>
                <a:cs typeface="Arial"/>
              </a:rPr>
              <a:t> </a:t>
            </a:r>
            <a:r>
              <a:rPr sz="1000" spc="-5" dirty="0">
                <a:latin typeface="Arial"/>
                <a:cs typeface="Arial"/>
              </a:rPr>
              <a:t>server</a:t>
            </a:r>
            <a:r>
              <a:rPr sz="1000"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 </a:t>
            </a:r>
            <a:r>
              <a:rPr sz="1000" spc="-10" dirty="0">
                <a:latin typeface="Arial"/>
                <a:cs typeface="Arial"/>
              </a:rPr>
              <a:t>active</a:t>
            </a:r>
            <a:r>
              <a:rPr sz="1000"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time</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communication</a:t>
            </a:r>
            <a:endParaRPr sz="1000" dirty="0">
              <a:latin typeface="Arial"/>
              <a:cs typeface="Arial"/>
            </a:endParaRPr>
          </a:p>
          <a:p>
            <a:pPr marL="567055" indent="-168275">
              <a:lnSpc>
                <a:spcPts val="1195"/>
              </a:lnSpc>
              <a:buClr>
                <a:srgbClr val="3333B2"/>
              </a:buClr>
              <a:buChar char="►"/>
              <a:tabLst>
                <a:tab pos="567690" algn="l"/>
              </a:tabLst>
            </a:pPr>
            <a:r>
              <a:rPr sz="1000" spc="-5" dirty="0">
                <a:latin typeface="Arial"/>
                <a:cs typeface="Arial"/>
              </a:rPr>
              <a:t>Client issues request</a:t>
            </a:r>
            <a:r>
              <a:rPr sz="1000" dirty="0">
                <a:latin typeface="Arial"/>
                <a:cs typeface="Arial"/>
              </a:rPr>
              <a:t> </a:t>
            </a:r>
            <a:r>
              <a:rPr sz="1000" spc="-5" dirty="0">
                <a:latin typeface="Arial"/>
                <a:cs typeface="Arial"/>
              </a:rPr>
              <a:t>and </a:t>
            </a:r>
            <a:r>
              <a:rPr sz="1000" spc="-10" dirty="0">
                <a:latin typeface="Arial"/>
                <a:cs typeface="Arial"/>
              </a:rPr>
              <a:t>blocks</a:t>
            </a:r>
            <a:r>
              <a:rPr sz="1000" dirty="0">
                <a:latin typeface="Arial"/>
                <a:cs typeface="Arial"/>
              </a:rPr>
              <a:t> </a:t>
            </a:r>
            <a:r>
              <a:rPr sz="1000" spc="-5" dirty="0">
                <a:latin typeface="Arial"/>
                <a:cs typeface="Arial"/>
              </a:rPr>
              <a:t>until it</a:t>
            </a:r>
            <a:r>
              <a:rPr sz="1000" dirty="0">
                <a:latin typeface="Arial"/>
                <a:cs typeface="Arial"/>
              </a:rPr>
              <a:t> </a:t>
            </a:r>
            <a:r>
              <a:rPr sz="1000" spc="-5" dirty="0">
                <a:latin typeface="Arial"/>
                <a:cs typeface="Arial"/>
              </a:rPr>
              <a:t>receives reply</a:t>
            </a:r>
            <a:endParaRPr sz="1000" dirty="0">
              <a:latin typeface="Arial"/>
              <a:cs typeface="Arial"/>
            </a:endParaRPr>
          </a:p>
          <a:p>
            <a:pPr marL="567055" marR="395605" indent="-168275">
              <a:lnSpc>
                <a:spcPts val="1200"/>
              </a:lnSpc>
              <a:spcBef>
                <a:spcPts val="40"/>
              </a:spcBef>
              <a:buClr>
                <a:srgbClr val="3333B2"/>
              </a:buClr>
              <a:buChar char="►"/>
              <a:tabLst>
                <a:tab pos="567690" algn="l"/>
              </a:tabLst>
            </a:pPr>
            <a:r>
              <a:rPr sz="1000" spc="-5" dirty="0">
                <a:latin typeface="Arial"/>
                <a:cs typeface="Arial"/>
              </a:rPr>
              <a:t>Server essentially</a:t>
            </a:r>
            <a:r>
              <a:rPr sz="1000" dirty="0">
                <a:latin typeface="Arial"/>
                <a:cs typeface="Arial"/>
              </a:rPr>
              <a:t> </a:t>
            </a:r>
            <a:r>
              <a:rPr sz="1000" spc="-5" dirty="0">
                <a:latin typeface="Arial"/>
                <a:cs typeface="Arial"/>
              </a:rPr>
              <a:t>waits</a:t>
            </a:r>
            <a:r>
              <a:rPr sz="1000" dirty="0">
                <a:latin typeface="Arial"/>
                <a:cs typeface="Arial"/>
              </a:rPr>
              <a:t> </a:t>
            </a:r>
            <a:r>
              <a:rPr sz="1000" spc="-5" dirty="0">
                <a:latin typeface="Arial"/>
                <a:cs typeface="Arial"/>
              </a:rPr>
              <a:t>only </a:t>
            </a:r>
            <a:r>
              <a:rPr sz="1000" spc="-15" dirty="0">
                <a:latin typeface="Arial"/>
                <a:cs typeface="Arial"/>
              </a:rPr>
              <a:t>for</a:t>
            </a:r>
            <a:r>
              <a:rPr sz="1000" dirty="0">
                <a:latin typeface="Arial"/>
                <a:cs typeface="Arial"/>
              </a:rPr>
              <a:t> </a:t>
            </a:r>
            <a:r>
              <a:rPr sz="1000" spc="-5" dirty="0">
                <a:latin typeface="Arial"/>
                <a:cs typeface="Arial"/>
              </a:rPr>
              <a:t>incoming</a:t>
            </a:r>
            <a:r>
              <a:rPr sz="1000" dirty="0">
                <a:latin typeface="Arial"/>
                <a:cs typeface="Arial"/>
              </a:rPr>
              <a:t> </a:t>
            </a:r>
            <a:r>
              <a:rPr sz="1000" spc="-5" dirty="0">
                <a:latin typeface="Arial"/>
                <a:cs typeface="Arial"/>
              </a:rPr>
              <a:t>requests,</a:t>
            </a:r>
            <a:r>
              <a:rPr sz="1000" dirty="0">
                <a:latin typeface="Arial"/>
                <a:cs typeface="Arial"/>
              </a:rPr>
              <a:t> </a:t>
            </a:r>
            <a:r>
              <a:rPr sz="1000" spc="-5" dirty="0">
                <a:latin typeface="Arial"/>
                <a:cs typeface="Arial"/>
              </a:rPr>
              <a:t>and </a:t>
            </a:r>
            <a:r>
              <a:rPr sz="1000" spc="-265" dirty="0">
                <a:latin typeface="Arial"/>
                <a:cs typeface="Arial"/>
              </a:rPr>
              <a:t> </a:t>
            </a:r>
            <a:r>
              <a:rPr sz="1000" spc="-5" dirty="0">
                <a:latin typeface="Arial"/>
                <a:cs typeface="Arial"/>
              </a:rPr>
              <a:t>subsequently</a:t>
            </a:r>
            <a:r>
              <a:rPr sz="1000" spc="-10" dirty="0">
                <a:latin typeface="Arial"/>
                <a:cs typeface="Arial"/>
              </a:rPr>
              <a:t> </a:t>
            </a:r>
            <a:r>
              <a:rPr sz="1000" spc="-5" dirty="0">
                <a:latin typeface="Arial"/>
                <a:cs typeface="Arial"/>
              </a:rPr>
              <a:t>processes them</a:t>
            </a:r>
            <a:endParaRPr sz="1000" dirty="0">
              <a:latin typeface="Arial"/>
              <a:cs typeface="Arial"/>
            </a:endParaRPr>
          </a:p>
          <a:p>
            <a:pPr>
              <a:lnSpc>
                <a:spcPct val="100000"/>
              </a:lnSpc>
              <a:spcBef>
                <a:spcPts val="20"/>
              </a:spcBef>
              <a:buClr>
                <a:srgbClr val="3333B2"/>
              </a:buClr>
              <a:buFont typeface="Arial"/>
              <a:buChar char="►"/>
            </a:pPr>
            <a:endParaRPr sz="1250" dirty="0">
              <a:latin typeface="Arial"/>
              <a:cs typeface="Arial"/>
            </a:endParaRPr>
          </a:p>
          <a:p>
            <a:pPr marL="289560">
              <a:lnSpc>
                <a:spcPct val="100000"/>
              </a:lnSpc>
            </a:pPr>
            <a:r>
              <a:rPr sz="1200" spc="-10" dirty="0">
                <a:solidFill>
                  <a:srgbClr val="3333B2"/>
                </a:solidFill>
                <a:latin typeface="Arial"/>
                <a:cs typeface="Arial"/>
              </a:rPr>
              <a:t>Drawbacks</a:t>
            </a:r>
            <a:r>
              <a:rPr sz="1200" spc="-25" dirty="0">
                <a:solidFill>
                  <a:srgbClr val="3333B2"/>
                </a:solidFill>
                <a:latin typeface="Arial"/>
                <a:cs typeface="Arial"/>
              </a:rPr>
              <a:t> </a:t>
            </a:r>
            <a:r>
              <a:rPr sz="1200" spc="-5" dirty="0">
                <a:solidFill>
                  <a:srgbClr val="3333B2"/>
                </a:solidFill>
                <a:latin typeface="Arial"/>
                <a:cs typeface="Arial"/>
              </a:rPr>
              <a:t>synchronous</a:t>
            </a:r>
            <a:r>
              <a:rPr sz="1200" spc="-20" dirty="0">
                <a:solidFill>
                  <a:srgbClr val="3333B2"/>
                </a:solidFill>
                <a:latin typeface="Arial"/>
                <a:cs typeface="Arial"/>
              </a:rPr>
              <a:t> </a:t>
            </a:r>
            <a:r>
              <a:rPr sz="1200" spc="-5" dirty="0">
                <a:solidFill>
                  <a:srgbClr val="3333B2"/>
                </a:solidFill>
                <a:latin typeface="Arial"/>
                <a:cs typeface="Arial"/>
              </a:rPr>
              <a:t>communication</a:t>
            </a:r>
            <a:endParaRPr sz="1200" dirty="0">
              <a:latin typeface="Arial"/>
              <a:cs typeface="Arial"/>
            </a:endParaRPr>
          </a:p>
          <a:p>
            <a:pPr marL="567055" indent="-168275">
              <a:lnSpc>
                <a:spcPts val="1200"/>
              </a:lnSpc>
              <a:spcBef>
                <a:spcPts val="780"/>
              </a:spcBef>
              <a:buClr>
                <a:srgbClr val="3333B2"/>
              </a:buClr>
              <a:buChar char="►"/>
              <a:tabLst>
                <a:tab pos="567690" algn="l"/>
              </a:tabLst>
            </a:pPr>
            <a:r>
              <a:rPr sz="1000" spc="-5" dirty="0">
                <a:latin typeface="Arial"/>
                <a:cs typeface="Arial"/>
              </a:rPr>
              <a:t>Client cannot</a:t>
            </a:r>
            <a:r>
              <a:rPr sz="1000" dirty="0">
                <a:latin typeface="Arial"/>
                <a:cs typeface="Arial"/>
              </a:rPr>
              <a:t> </a:t>
            </a:r>
            <a:r>
              <a:rPr sz="1000" spc="-5" dirty="0">
                <a:latin typeface="Arial"/>
                <a:cs typeface="Arial"/>
              </a:rPr>
              <a:t>do </a:t>
            </a:r>
            <a:r>
              <a:rPr sz="1000" spc="-10" dirty="0">
                <a:latin typeface="Arial"/>
                <a:cs typeface="Arial"/>
              </a:rPr>
              <a:t>any</a:t>
            </a:r>
            <a:r>
              <a:rPr sz="1000" dirty="0">
                <a:latin typeface="Arial"/>
                <a:cs typeface="Arial"/>
              </a:rPr>
              <a:t> </a:t>
            </a:r>
            <a:r>
              <a:rPr sz="1000" spc="-5" dirty="0">
                <a:latin typeface="Arial"/>
                <a:cs typeface="Arial"/>
              </a:rPr>
              <a:t>other</a:t>
            </a:r>
            <a:r>
              <a:rPr sz="1000" dirty="0">
                <a:latin typeface="Arial"/>
                <a:cs typeface="Arial"/>
              </a:rPr>
              <a:t> </a:t>
            </a:r>
            <a:r>
              <a:rPr sz="1000" spc="-5" dirty="0">
                <a:latin typeface="Arial"/>
                <a:cs typeface="Arial"/>
              </a:rPr>
              <a:t>work while</a:t>
            </a:r>
            <a:r>
              <a:rPr sz="1000" dirty="0">
                <a:latin typeface="Arial"/>
                <a:cs typeface="Arial"/>
              </a:rPr>
              <a:t> </a:t>
            </a:r>
            <a:r>
              <a:rPr sz="1000" spc="-5" dirty="0">
                <a:latin typeface="Arial"/>
                <a:cs typeface="Arial"/>
              </a:rPr>
              <a:t>waiting </a:t>
            </a:r>
            <a:r>
              <a:rPr sz="1000" spc="-15" dirty="0">
                <a:latin typeface="Arial"/>
                <a:cs typeface="Arial"/>
              </a:rPr>
              <a:t>for</a:t>
            </a:r>
            <a:r>
              <a:rPr sz="1000" dirty="0">
                <a:latin typeface="Arial"/>
                <a:cs typeface="Arial"/>
              </a:rPr>
              <a:t> </a:t>
            </a:r>
            <a:r>
              <a:rPr sz="1000" spc="-5" dirty="0">
                <a:latin typeface="Arial"/>
                <a:cs typeface="Arial"/>
              </a:rPr>
              <a:t>reply</a:t>
            </a:r>
            <a:endParaRPr sz="1000" dirty="0">
              <a:latin typeface="Arial"/>
              <a:cs typeface="Arial"/>
            </a:endParaRPr>
          </a:p>
          <a:p>
            <a:pPr marL="567055" indent="-168275">
              <a:lnSpc>
                <a:spcPts val="1195"/>
              </a:lnSpc>
              <a:buClr>
                <a:srgbClr val="3333B2"/>
              </a:buClr>
              <a:buChar char="►"/>
              <a:tabLst>
                <a:tab pos="567690" algn="l"/>
              </a:tabLst>
            </a:pPr>
            <a:r>
              <a:rPr sz="1000" spc="-10" dirty="0">
                <a:latin typeface="Arial"/>
                <a:cs typeface="Arial"/>
              </a:rPr>
              <a:t>Failures</a:t>
            </a:r>
            <a:r>
              <a:rPr sz="1000" spc="-5"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 handled</a:t>
            </a:r>
            <a:r>
              <a:rPr sz="1000" dirty="0">
                <a:latin typeface="Arial"/>
                <a:cs typeface="Arial"/>
              </a:rPr>
              <a:t> </a:t>
            </a:r>
            <a:r>
              <a:rPr sz="1000" spc="-5" dirty="0">
                <a:latin typeface="Arial"/>
                <a:cs typeface="Arial"/>
              </a:rPr>
              <a:t>immediately:</a:t>
            </a:r>
            <a:r>
              <a:rPr sz="1000" spc="6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client</a:t>
            </a:r>
            <a:r>
              <a:rPr sz="1000" dirty="0">
                <a:latin typeface="Arial"/>
                <a:cs typeface="Arial"/>
              </a:rPr>
              <a:t> </a:t>
            </a:r>
            <a:r>
              <a:rPr sz="1000" spc="-5" dirty="0">
                <a:latin typeface="Arial"/>
                <a:cs typeface="Arial"/>
              </a:rPr>
              <a:t>is waiting</a:t>
            </a:r>
            <a:endParaRPr sz="1000" dirty="0">
              <a:latin typeface="Arial"/>
              <a:cs typeface="Arial"/>
            </a:endParaRPr>
          </a:p>
          <a:p>
            <a:pPr marL="567055" indent="-168275">
              <a:lnSpc>
                <a:spcPts val="1200"/>
              </a:lnSpc>
              <a:buClr>
                <a:srgbClr val="3333B2"/>
              </a:buClr>
              <a:buChar char="►"/>
              <a:tabLst>
                <a:tab pos="567690" algn="l"/>
              </a:tabLst>
            </a:pPr>
            <a:r>
              <a:rPr sz="1000" spc="-5" dirty="0">
                <a:latin typeface="Arial"/>
                <a:cs typeface="Arial"/>
              </a:rPr>
              <a:t>The</a:t>
            </a:r>
            <a:r>
              <a:rPr sz="1000" dirty="0">
                <a:latin typeface="Arial"/>
                <a:cs typeface="Arial"/>
              </a:rPr>
              <a:t> </a:t>
            </a:r>
            <a:r>
              <a:rPr sz="1000" spc="-5" dirty="0">
                <a:latin typeface="Arial"/>
                <a:cs typeface="Arial"/>
              </a:rPr>
              <a:t>model</a:t>
            </a:r>
            <a:r>
              <a:rPr sz="1000" dirty="0">
                <a:latin typeface="Arial"/>
                <a:cs typeface="Arial"/>
              </a:rPr>
              <a:t> </a:t>
            </a:r>
            <a:r>
              <a:rPr sz="1000" spc="-15" dirty="0">
                <a:latin typeface="Arial"/>
                <a:cs typeface="Arial"/>
              </a:rPr>
              <a:t>may</a:t>
            </a:r>
            <a:r>
              <a:rPr sz="1000" dirty="0">
                <a:latin typeface="Arial"/>
                <a:cs typeface="Arial"/>
              </a:rPr>
              <a:t> </a:t>
            </a:r>
            <a:r>
              <a:rPr sz="1000" spc="-5" dirty="0">
                <a:latin typeface="Arial"/>
                <a:cs typeface="Arial"/>
              </a:rPr>
              <a:t>simply</a:t>
            </a:r>
            <a:r>
              <a:rPr sz="1000" dirty="0">
                <a:latin typeface="Arial"/>
                <a:cs typeface="Arial"/>
              </a:rPr>
              <a:t> </a:t>
            </a:r>
            <a:r>
              <a:rPr sz="1000" spc="-5" dirty="0">
                <a:latin typeface="Arial"/>
                <a:cs typeface="Arial"/>
              </a:rPr>
              <a:t>not</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appropriate</a:t>
            </a:r>
            <a:r>
              <a:rPr sz="1000" dirty="0">
                <a:latin typeface="Arial"/>
                <a:cs typeface="Arial"/>
              </a:rPr>
              <a:t> </a:t>
            </a:r>
            <a:r>
              <a:rPr sz="1000" spc="-5" dirty="0">
                <a:latin typeface="Arial"/>
                <a:cs typeface="Arial"/>
              </a:rPr>
              <a:t>(mail,</a:t>
            </a:r>
            <a:r>
              <a:rPr sz="1000" dirty="0">
                <a:latin typeface="Arial"/>
                <a:cs typeface="Arial"/>
              </a:rPr>
              <a:t> </a:t>
            </a:r>
            <a:r>
              <a:rPr sz="1000" spc="-10" dirty="0">
                <a:latin typeface="Arial"/>
                <a:cs typeface="Arial"/>
              </a:rPr>
              <a:t>news)</a:t>
            </a:r>
            <a:endParaRPr sz="1000" dirty="0">
              <a:latin typeface="Arial"/>
              <a:cs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11</a:t>
            </a:r>
            <a:r>
              <a:rPr spc="-40" dirty="0"/>
              <a:t> </a:t>
            </a:r>
            <a:r>
              <a:rPr spc="-5" dirty="0"/>
              <a:t>/</a:t>
            </a:r>
            <a:r>
              <a:rPr spc="-35" dirty="0"/>
              <a:t> </a:t>
            </a:r>
            <a:r>
              <a:rPr spc="-5" dirty="0"/>
              <a:t>49</a:t>
            </a:r>
          </a:p>
        </p:txBody>
      </p:sp>
      <p:sp>
        <p:nvSpPr>
          <p:cNvPr id="2" name="object 2"/>
          <p:cNvSpPr txBox="1"/>
          <p:nvPr/>
        </p:nvSpPr>
        <p:spPr>
          <a:xfrm>
            <a:off x="66713" y="716"/>
            <a:ext cx="10287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Foundations</a:t>
            </a:r>
            <a:endParaRPr sz="600">
              <a:latin typeface="Arial"/>
              <a:cs typeface="Arial"/>
            </a:endParaRPr>
          </a:p>
        </p:txBody>
      </p:sp>
      <p:sp>
        <p:nvSpPr>
          <p:cNvPr id="3" name="object 3"/>
          <p:cNvSpPr txBox="1"/>
          <p:nvPr/>
        </p:nvSpPr>
        <p:spPr>
          <a:xfrm>
            <a:off x="3686225" y="716"/>
            <a:ext cx="855344" cy="116839"/>
          </a:xfrm>
          <a:prstGeom prst="rect">
            <a:avLst/>
          </a:prstGeom>
        </p:spPr>
        <p:txBody>
          <a:bodyPr vert="horz" wrap="square" lIns="0" tIns="12065" rIns="0" bIns="0" rtlCol="0">
            <a:spAutoFit/>
          </a:bodyPr>
          <a:lstStyle/>
          <a:p>
            <a:pPr marL="12700">
              <a:lnSpc>
                <a:spcPct val="100000"/>
              </a:lnSpc>
              <a:spcBef>
                <a:spcPts val="95"/>
              </a:spcBef>
            </a:pPr>
            <a:r>
              <a:rPr sz="600" spc="-20" dirty="0">
                <a:solidFill>
                  <a:srgbClr val="262685"/>
                </a:solidFill>
                <a:latin typeface="Arial"/>
                <a:cs typeface="Arial"/>
                <a:hlinkClick r:id="rId4" action="ppaction://hlinksldjump"/>
              </a:rPr>
              <a:t>Types </a:t>
            </a:r>
            <a:r>
              <a:rPr sz="600" spc="-5" dirty="0">
                <a:solidFill>
                  <a:srgbClr val="262685"/>
                </a:solidFill>
                <a:latin typeface="Arial"/>
                <a:cs typeface="Arial"/>
                <a:hlinkClick r:id="rId4" action="ppaction://hlinksldjump"/>
              </a:rPr>
              <a:t>of</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Communication</a:t>
            </a:r>
            <a:endParaRPr sz="600">
              <a:latin typeface="Arial"/>
              <a:cs typeface="Arial"/>
            </a:endParaRPr>
          </a:p>
        </p:txBody>
      </p:sp>
      <p:sp>
        <p:nvSpPr>
          <p:cNvPr id="4" name="object 4"/>
          <p:cNvSpPr txBox="1"/>
          <p:nvPr/>
        </p:nvSpPr>
        <p:spPr>
          <a:xfrm>
            <a:off x="95300" y="188846"/>
            <a:ext cx="90678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Messaging</a:t>
            </a:r>
            <a:endParaRPr sz="1400" dirty="0">
              <a:latin typeface="Arial"/>
              <a:cs typeface="Arial"/>
            </a:endParaRPr>
          </a:p>
        </p:txBody>
      </p:sp>
      <p:sp>
        <p:nvSpPr>
          <p:cNvPr id="5" name="object 5"/>
          <p:cNvSpPr txBox="1"/>
          <p:nvPr/>
        </p:nvSpPr>
        <p:spPr>
          <a:xfrm>
            <a:off x="317728" y="1156072"/>
            <a:ext cx="3968115" cy="945515"/>
          </a:xfrm>
          <a:prstGeom prst="rect">
            <a:avLst/>
          </a:prstGeom>
        </p:spPr>
        <p:txBody>
          <a:bodyPr vert="horz" wrap="square" lIns="0" tIns="41910" rIns="0" bIns="0" rtlCol="0">
            <a:spAutoFit/>
          </a:bodyPr>
          <a:lstStyle/>
          <a:p>
            <a:pPr marL="41910">
              <a:lnSpc>
                <a:spcPct val="100000"/>
              </a:lnSpc>
              <a:spcBef>
                <a:spcPts val="330"/>
              </a:spcBef>
            </a:pPr>
            <a:r>
              <a:rPr sz="1200" spc="-5" dirty="0">
                <a:solidFill>
                  <a:srgbClr val="3333B2"/>
                </a:solidFill>
                <a:latin typeface="Arial"/>
                <a:cs typeface="Arial"/>
              </a:rPr>
              <a:t>Message-oriented</a:t>
            </a:r>
            <a:r>
              <a:rPr sz="1200" spc="-15" dirty="0">
                <a:solidFill>
                  <a:srgbClr val="3333B2"/>
                </a:solidFill>
                <a:latin typeface="Arial"/>
                <a:cs typeface="Arial"/>
              </a:rPr>
              <a:t> </a:t>
            </a:r>
            <a:r>
              <a:rPr sz="1200" spc="-10" dirty="0">
                <a:solidFill>
                  <a:srgbClr val="3333B2"/>
                </a:solidFill>
                <a:latin typeface="Arial"/>
                <a:cs typeface="Arial"/>
              </a:rPr>
              <a:t>middleware</a:t>
            </a:r>
            <a:endParaRPr sz="1200" dirty="0">
              <a:latin typeface="Arial"/>
              <a:cs typeface="Arial"/>
            </a:endParaRPr>
          </a:p>
          <a:p>
            <a:pPr marL="38100">
              <a:lnSpc>
                <a:spcPct val="100000"/>
              </a:lnSpc>
              <a:spcBef>
                <a:spcPts val="190"/>
              </a:spcBef>
            </a:pPr>
            <a:r>
              <a:rPr sz="1000" spc="-5" dirty="0">
                <a:latin typeface="Arial"/>
                <a:cs typeface="Arial"/>
              </a:rPr>
              <a:t>Aims</a:t>
            </a:r>
            <a:r>
              <a:rPr sz="1000" dirty="0">
                <a:latin typeface="Arial"/>
                <a:cs typeface="Arial"/>
              </a:rPr>
              <a:t> </a:t>
            </a:r>
            <a:r>
              <a:rPr sz="1000" spc="-5" dirty="0">
                <a:latin typeface="Arial"/>
                <a:cs typeface="Arial"/>
              </a:rPr>
              <a:t>at</a:t>
            </a:r>
            <a:r>
              <a:rPr sz="1000" spc="5" dirty="0">
                <a:latin typeface="Arial"/>
                <a:cs typeface="Arial"/>
              </a:rPr>
              <a:t> </a:t>
            </a:r>
            <a:r>
              <a:rPr sz="1000" spc="-10" dirty="0">
                <a:latin typeface="Arial"/>
                <a:cs typeface="Arial"/>
              </a:rPr>
              <a:t>high-level</a:t>
            </a:r>
            <a:r>
              <a:rPr sz="1000" dirty="0">
                <a:latin typeface="Arial"/>
                <a:cs typeface="Arial"/>
              </a:rPr>
              <a:t> </a:t>
            </a:r>
            <a:r>
              <a:rPr sz="1000" spc="-5" dirty="0">
                <a:solidFill>
                  <a:srgbClr val="0000FA"/>
                </a:solidFill>
                <a:latin typeface="Arial"/>
                <a:cs typeface="Arial"/>
              </a:rPr>
              <a:t>persistent</a:t>
            </a:r>
            <a:r>
              <a:rPr sz="1000" spc="5" dirty="0">
                <a:solidFill>
                  <a:srgbClr val="0000FA"/>
                </a:solidFill>
                <a:latin typeface="Arial"/>
                <a:cs typeface="Arial"/>
              </a:rPr>
              <a:t> </a:t>
            </a:r>
            <a:r>
              <a:rPr sz="1000" spc="-5" dirty="0">
                <a:solidFill>
                  <a:srgbClr val="0000FA"/>
                </a:solidFill>
                <a:latin typeface="Arial"/>
                <a:cs typeface="Arial"/>
              </a:rPr>
              <a:t>asynchronous</a:t>
            </a:r>
            <a:r>
              <a:rPr sz="1000" dirty="0">
                <a:solidFill>
                  <a:srgbClr val="0000FA"/>
                </a:solidFill>
                <a:latin typeface="Arial"/>
                <a:cs typeface="Arial"/>
              </a:rPr>
              <a:t> </a:t>
            </a:r>
            <a:r>
              <a:rPr sz="1000" spc="-5" dirty="0">
                <a:solidFill>
                  <a:srgbClr val="0000FA"/>
                </a:solidFill>
                <a:latin typeface="Arial"/>
                <a:cs typeface="Arial"/>
              </a:rPr>
              <a:t>communication</a:t>
            </a:r>
            <a:r>
              <a:rPr sz="1000" spc="-5" dirty="0">
                <a:latin typeface="Arial"/>
                <a:cs typeface="Arial"/>
              </a:rPr>
              <a:t>:</a:t>
            </a:r>
            <a:endParaRPr sz="1000" dirty="0">
              <a:latin typeface="Arial"/>
              <a:cs typeface="Arial"/>
            </a:endParaRPr>
          </a:p>
          <a:p>
            <a:pPr marL="318770" indent="-168275">
              <a:lnSpc>
                <a:spcPts val="1200"/>
              </a:lnSpc>
              <a:spcBef>
                <a:spcPts val="595"/>
              </a:spcBef>
              <a:buClr>
                <a:srgbClr val="3333B2"/>
              </a:buClr>
              <a:buChar char="►"/>
              <a:tabLst>
                <a:tab pos="319405" algn="l"/>
              </a:tabLst>
            </a:pPr>
            <a:r>
              <a:rPr sz="1000" spc="-5" dirty="0">
                <a:latin typeface="Arial"/>
                <a:cs typeface="Arial"/>
              </a:rPr>
              <a:t>Processes send each</a:t>
            </a:r>
            <a:r>
              <a:rPr sz="1000" dirty="0">
                <a:latin typeface="Arial"/>
                <a:cs typeface="Arial"/>
              </a:rPr>
              <a:t> </a:t>
            </a:r>
            <a:r>
              <a:rPr sz="1000" spc="-5" dirty="0">
                <a:latin typeface="Arial"/>
                <a:cs typeface="Arial"/>
              </a:rPr>
              <a:t>other messages,</a:t>
            </a:r>
            <a:r>
              <a:rPr sz="1000" dirty="0">
                <a:latin typeface="Arial"/>
                <a:cs typeface="Arial"/>
              </a:rPr>
              <a:t> </a:t>
            </a:r>
            <a:r>
              <a:rPr sz="1000" spc="-5" dirty="0">
                <a:latin typeface="Arial"/>
                <a:cs typeface="Arial"/>
              </a:rPr>
              <a:t>which are</a:t>
            </a:r>
            <a:r>
              <a:rPr sz="1000" dirty="0">
                <a:latin typeface="Arial"/>
                <a:cs typeface="Arial"/>
              </a:rPr>
              <a:t> </a:t>
            </a:r>
            <a:r>
              <a:rPr sz="1000" spc="-5" dirty="0">
                <a:latin typeface="Arial"/>
                <a:cs typeface="Arial"/>
              </a:rPr>
              <a:t>queued</a:t>
            </a:r>
            <a:endParaRPr sz="1000" dirty="0">
              <a:latin typeface="Arial"/>
              <a:cs typeface="Arial"/>
            </a:endParaRPr>
          </a:p>
          <a:p>
            <a:pPr marL="318770" indent="-168275">
              <a:lnSpc>
                <a:spcPts val="1195"/>
              </a:lnSpc>
              <a:buClr>
                <a:srgbClr val="3333B2"/>
              </a:buClr>
              <a:buChar char="►"/>
              <a:tabLst>
                <a:tab pos="319405" algn="l"/>
              </a:tabLst>
            </a:pPr>
            <a:r>
              <a:rPr sz="1000" spc="-10" dirty="0">
                <a:latin typeface="Arial"/>
                <a:cs typeface="Arial"/>
              </a:rPr>
              <a:t>Sender</a:t>
            </a:r>
            <a:r>
              <a:rPr sz="1000" spc="-5" dirty="0">
                <a:latin typeface="Arial"/>
                <a:cs typeface="Arial"/>
              </a:rPr>
              <a:t> </a:t>
            </a:r>
            <a:r>
              <a:rPr sz="1000" spc="-10" dirty="0">
                <a:latin typeface="Arial"/>
                <a:cs typeface="Arial"/>
              </a:rPr>
              <a:t>need</a:t>
            </a:r>
            <a:r>
              <a:rPr sz="1000" dirty="0">
                <a:latin typeface="Arial"/>
                <a:cs typeface="Arial"/>
              </a:rPr>
              <a:t> </a:t>
            </a:r>
            <a:r>
              <a:rPr sz="1000" spc="-10" dirty="0">
                <a:latin typeface="Arial"/>
                <a:cs typeface="Arial"/>
              </a:rPr>
              <a:t>not</a:t>
            </a:r>
            <a:r>
              <a:rPr sz="1000" dirty="0">
                <a:latin typeface="Arial"/>
                <a:cs typeface="Arial"/>
              </a:rPr>
              <a:t> </a:t>
            </a:r>
            <a:r>
              <a:rPr sz="1000" spc="-10" dirty="0">
                <a:latin typeface="Arial"/>
                <a:cs typeface="Arial"/>
              </a:rPr>
              <a:t>wait</a:t>
            </a:r>
            <a:r>
              <a:rPr sz="1000" dirty="0">
                <a:latin typeface="Arial"/>
                <a:cs typeface="Arial"/>
              </a:rPr>
              <a:t> </a:t>
            </a:r>
            <a:r>
              <a:rPr sz="1000" spc="-20" dirty="0">
                <a:latin typeface="Arial"/>
                <a:cs typeface="Arial"/>
              </a:rPr>
              <a:t>for</a:t>
            </a:r>
            <a:r>
              <a:rPr sz="1000" dirty="0">
                <a:latin typeface="Arial"/>
                <a:cs typeface="Arial"/>
              </a:rPr>
              <a:t> </a:t>
            </a:r>
            <a:r>
              <a:rPr sz="1000" spc="-10" dirty="0">
                <a:latin typeface="Arial"/>
                <a:cs typeface="Arial"/>
              </a:rPr>
              <a:t>immediate</a:t>
            </a:r>
            <a:r>
              <a:rPr sz="1000" spc="-5" dirty="0">
                <a:latin typeface="Arial"/>
                <a:cs typeface="Arial"/>
              </a:rPr>
              <a:t> </a:t>
            </a:r>
            <a:r>
              <a:rPr sz="1000" spc="-25" dirty="0">
                <a:latin typeface="Arial"/>
                <a:cs typeface="Arial"/>
              </a:rPr>
              <a:t>reply,</a:t>
            </a:r>
            <a:r>
              <a:rPr sz="1000" dirty="0">
                <a:latin typeface="Arial"/>
                <a:cs typeface="Arial"/>
              </a:rPr>
              <a:t> </a:t>
            </a:r>
            <a:r>
              <a:rPr sz="1000" spc="-15" dirty="0">
                <a:latin typeface="Arial"/>
                <a:cs typeface="Arial"/>
              </a:rPr>
              <a:t>but</a:t>
            </a:r>
            <a:r>
              <a:rPr sz="1000" dirty="0">
                <a:latin typeface="Arial"/>
                <a:cs typeface="Arial"/>
              </a:rPr>
              <a:t> </a:t>
            </a:r>
            <a:r>
              <a:rPr sz="1000" spc="-10" dirty="0">
                <a:latin typeface="Arial"/>
                <a:cs typeface="Arial"/>
              </a:rPr>
              <a:t>can</a:t>
            </a:r>
            <a:r>
              <a:rPr sz="1000" dirty="0">
                <a:latin typeface="Arial"/>
                <a:cs typeface="Arial"/>
              </a:rPr>
              <a:t> </a:t>
            </a:r>
            <a:r>
              <a:rPr sz="1000" spc="-10" dirty="0">
                <a:latin typeface="Arial"/>
                <a:cs typeface="Arial"/>
              </a:rPr>
              <a:t>do</a:t>
            </a:r>
            <a:r>
              <a:rPr sz="1000" dirty="0">
                <a:latin typeface="Arial"/>
                <a:cs typeface="Arial"/>
              </a:rPr>
              <a:t> </a:t>
            </a:r>
            <a:r>
              <a:rPr sz="1000" spc="-10" dirty="0">
                <a:latin typeface="Arial"/>
                <a:cs typeface="Arial"/>
              </a:rPr>
              <a:t>other</a:t>
            </a:r>
            <a:r>
              <a:rPr sz="1000" dirty="0">
                <a:latin typeface="Arial"/>
                <a:cs typeface="Arial"/>
              </a:rPr>
              <a:t> </a:t>
            </a:r>
            <a:r>
              <a:rPr sz="1000" spc="-10" dirty="0">
                <a:latin typeface="Arial"/>
                <a:cs typeface="Arial"/>
              </a:rPr>
              <a:t>things</a:t>
            </a:r>
            <a:endParaRPr sz="1000" dirty="0">
              <a:latin typeface="Arial"/>
              <a:cs typeface="Arial"/>
            </a:endParaRPr>
          </a:p>
          <a:p>
            <a:pPr marL="318770" indent="-168275">
              <a:lnSpc>
                <a:spcPts val="1200"/>
              </a:lnSpc>
              <a:buClr>
                <a:srgbClr val="3333B2"/>
              </a:buClr>
              <a:buChar char="►"/>
              <a:tabLst>
                <a:tab pos="319405" algn="l"/>
              </a:tabLst>
            </a:pPr>
            <a:r>
              <a:rPr sz="1000" spc="-10" dirty="0">
                <a:latin typeface="Arial"/>
                <a:cs typeface="Arial"/>
              </a:rPr>
              <a:t>Middleware</a:t>
            </a:r>
            <a:r>
              <a:rPr sz="1000" spc="-5" dirty="0">
                <a:latin typeface="Arial"/>
                <a:cs typeface="Arial"/>
              </a:rPr>
              <a:t> often</a:t>
            </a:r>
            <a:r>
              <a:rPr sz="1000" dirty="0">
                <a:latin typeface="Arial"/>
                <a:cs typeface="Arial"/>
              </a:rPr>
              <a:t> </a:t>
            </a:r>
            <a:r>
              <a:rPr sz="1000" spc="-5" dirty="0">
                <a:latin typeface="Arial"/>
                <a:cs typeface="Arial"/>
              </a:rPr>
              <a:t>ensures </a:t>
            </a:r>
            <a:r>
              <a:rPr sz="1000" spc="-10" dirty="0">
                <a:latin typeface="Arial"/>
                <a:cs typeface="Arial"/>
              </a:rPr>
              <a:t>fault</a:t>
            </a:r>
            <a:r>
              <a:rPr sz="1000" dirty="0">
                <a:latin typeface="Arial"/>
                <a:cs typeface="Arial"/>
              </a:rPr>
              <a:t> </a:t>
            </a:r>
            <a:r>
              <a:rPr sz="1000" spc="-5" dirty="0">
                <a:latin typeface="Arial"/>
                <a:cs typeface="Arial"/>
              </a:rPr>
              <a:t>tolerance</a:t>
            </a:r>
            <a:endParaRPr sz="1000" dirty="0">
              <a:latin typeface="Arial"/>
              <a:cs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3766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Remote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procedure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call</a:t>
            </a:r>
            <a:endParaRPr sz="600">
              <a:latin typeface="Arial"/>
              <a:cs typeface="Arial"/>
            </a:endParaRPr>
          </a:p>
        </p:txBody>
      </p:sp>
      <p:sp>
        <p:nvSpPr>
          <p:cNvPr id="3" name="object 3"/>
          <p:cNvSpPr txBox="1"/>
          <p:nvPr/>
        </p:nvSpPr>
        <p:spPr>
          <a:xfrm>
            <a:off x="3812081" y="716"/>
            <a:ext cx="7296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Basic</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RPC</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operation</a:t>
            </a:r>
            <a:endParaRPr sz="600">
              <a:latin typeface="Arial"/>
              <a:cs typeface="Arial"/>
            </a:endParaRPr>
          </a:p>
        </p:txBody>
      </p:sp>
      <p:sp>
        <p:nvSpPr>
          <p:cNvPr id="4" name="object 4"/>
          <p:cNvSpPr txBox="1"/>
          <p:nvPr/>
        </p:nvSpPr>
        <p:spPr>
          <a:xfrm>
            <a:off x="82600" y="188846"/>
            <a:ext cx="4173854" cy="145796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Basic</a:t>
            </a:r>
            <a:r>
              <a:rPr sz="1400" spc="-20" dirty="0">
                <a:solidFill>
                  <a:srgbClr val="3333B2"/>
                </a:solidFill>
                <a:latin typeface="Arial"/>
                <a:cs typeface="Arial"/>
              </a:rPr>
              <a:t> </a:t>
            </a:r>
            <a:r>
              <a:rPr sz="1400" spc="20" dirty="0">
                <a:solidFill>
                  <a:srgbClr val="3333B2"/>
                </a:solidFill>
                <a:latin typeface="Arial"/>
                <a:cs typeface="Arial"/>
              </a:rPr>
              <a:t>RPC</a:t>
            </a:r>
            <a:r>
              <a:rPr sz="1400" spc="-15" dirty="0">
                <a:solidFill>
                  <a:srgbClr val="3333B2"/>
                </a:solidFill>
                <a:latin typeface="Arial"/>
                <a:cs typeface="Arial"/>
              </a:rPr>
              <a:t> </a:t>
            </a:r>
            <a:r>
              <a:rPr sz="1400" spc="10" dirty="0">
                <a:solidFill>
                  <a:srgbClr val="3333B2"/>
                </a:solidFill>
                <a:latin typeface="Arial"/>
                <a:cs typeface="Arial"/>
              </a:rPr>
              <a:t>operation</a:t>
            </a:r>
            <a:endParaRPr sz="1400" dirty="0">
              <a:latin typeface="Arial"/>
              <a:cs typeface="Arial"/>
            </a:endParaRPr>
          </a:p>
          <a:p>
            <a:pPr>
              <a:lnSpc>
                <a:spcPct val="100000"/>
              </a:lnSpc>
              <a:spcBef>
                <a:spcPts val="30"/>
              </a:spcBef>
            </a:pPr>
            <a:endParaRPr sz="2400" dirty="0">
              <a:latin typeface="Arial"/>
              <a:cs typeface="Arial"/>
            </a:endParaRPr>
          </a:p>
          <a:p>
            <a:pPr marL="276860">
              <a:lnSpc>
                <a:spcPct val="100000"/>
              </a:lnSpc>
            </a:pPr>
            <a:r>
              <a:rPr sz="1200" spc="-5" dirty="0">
                <a:solidFill>
                  <a:srgbClr val="3333B2"/>
                </a:solidFill>
                <a:latin typeface="Arial"/>
                <a:cs typeface="Arial"/>
              </a:rPr>
              <a:t>Observations</a:t>
            </a:r>
            <a:endParaRPr sz="1200" dirty="0">
              <a:latin typeface="Arial"/>
              <a:cs typeface="Arial"/>
            </a:endParaRPr>
          </a:p>
          <a:p>
            <a:pPr marL="554355" indent="-168275">
              <a:lnSpc>
                <a:spcPts val="1200"/>
              </a:lnSpc>
              <a:spcBef>
                <a:spcPts val="545"/>
              </a:spcBef>
              <a:buClr>
                <a:srgbClr val="3333B2"/>
              </a:buClr>
              <a:buChar char="►"/>
              <a:tabLst>
                <a:tab pos="554990" algn="l"/>
              </a:tabLst>
            </a:pPr>
            <a:r>
              <a:rPr sz="1000" spc="-5" dirty="0">
                <a:latin typeface="Arial"/>
                <a:cs typeface="Arial"/>
              </a:rPr>
              <a:t>Application</a:t>
            </a:r>
            <a:r>
              <a:rPr sz="1000" dirty="0">
                <a:latin typeface="Arial"/>
                <a:cs typeface="Arial"/>
              </a:rPr>
              <a:t> </a:t>
            </a:r>
            <a:r>
              <a:rPr sz="1000" spc="-10" dirty="0">
                <a:latin typeface="Arial"/>
                <a:cs typeface="Arial"/>
              </a:rPr>
              <a:t>developers</a:t>
            </a:r>
            <a:r>
              <a:rPr sz="1000" spc="5" dirty="0">
                <a:latin typeface="Arial"/>
                <a:cs typeface="Arial"/>
              </a:rPr>
              <a:t> </a:t>
            </a:r>
            <a:r>
              <a:rPr sz="1000" spc="-5" dirty="0">
                <a:latin typeface="Arial"/>
                <a:cs typeface="Arial"/>
              </a:rPr>
              <a:t>are</a:t>
            </a:r>
            <a:r>
              <a:rPr sz="1000" spc="5" dirty="0">
                <a:latin typeface="Arial"/>
                <a:cs typeface="Arial"/>
              </a:rPr>
              <a:t> </a:t>
            </a:r>
            <a:r>
              <a:rPr sz="1000" spc="-10" dirty="0">
                <a:latin typeface="Arial"/>
                <a:cs typeface="Arial"/>
              </a:rPr>
              <a:t>familiar</a:t>
            </a:r>
            <a:r>
              <a:rPr sz="1000" spc="5" dirty="0">
                <a:latin typeface="Arial"/>
                <a:cs typeface="Arial"/>
              </a:rPr>
              <a:t> </a:t>
            </a:r>
            <a:r>
              <a:rPr sz="1000" spc="-5" dirty="0">
                <a:latin typeface="Arial"/>
                <a:cs typeface="Arial"/>
              </a:rPr>
              <a:t>with</a:t>
            </a:r>
            <a:r>
              <a:rPr sz="1000" spc="5" dirty="0">
                <a:latin typeface="Arial"/>
                <a:cs typeface="Arial"/>
              </a:rPr>
              <a:t> </a:t>
            </a:r>
            <a:r>
              <a:rPr sz="1000" spc="-5" dirty="0">
                <a:latin typeface="Arial"/>
                <a:cs typeface="Arial"/>
              </a:rPr>
              <a:t>simple</a:t>
            </a:r>
            <a:r>
              <a:rPr sz="1000" spc="5" dirty="0">
                <a:latin typeface="Arial"/>
                <a:cs typeface="Arial"/>
              </a:rPr>
              <a:t> </a:t>
            </a:r>
            <a:r>
              <a:rPr sz="1000" spc="-5" dirty="0">
                <a:latin typeface="Arial"/>
                <a:cs typeface="Arial"/>
              </a:rPr>
              <a:t>procedure</a:t>
            </a:r>
            <a:r>
              <a:rPr sz="1000" spc="5" dirty="0">
                <a:latin typeface="Arial"/>
                <a:cs typeface="Arial"/>
              </a:rPr>
              <a:t> </a:t>
            </a:r>
            <a:r>
              <a:rPr sz="1000" spc="-5" dirty="0">
                <a:latin typeface="Arial"/>
                <a:cs typeface="Arial"/>
              </a:rPr>
              <a:t>model</a:t>
            </a:r>
            <a:endParaRPr sz="1000" dirty="0">
              <a:latin typeface="Arial"/>
              <a:cs typeface="Arial"/>
            </a:endParaRPr>
          </a:p>
          <a:p>
            <a:pPr marL="554355" indent="-168275">
              <a:lnSpc>
                <a:spcPts val="1195"/>
              </a:lnSpc>
              <a:buClr>
                <a:srgbClr val="3333B2"/>
              </a:buClr>
              <a:buChar char="►"/>
              <a:tabLst>
                <a:tab pos="554990" algn="l"/>
              </a:tabLst>
            </a:pPr>
            <a:r>
              <a:rPr sz="1000" spc="-5" dirty="0">
                <a:latin typeface="Arial"/>
                <a:cs typeface="Arial"/>
              </a:rPr>
              <a:t>Well-engineered procedures operate in isolation</a:t>
            </a:r>
            <a:r>
              <a:rPr sz="1000" dirty="0">
                <a:latin typeface="Arial"/>
                <a:cs typeface="Arial"/>
              </a:rPr>
              <a:t> </a:t>
            </a:r>
            <a:r>
              <a:rPr sz="1000" spc="-10" dirty="0">
                <a:latin typeface="Arial"/>
                <a:cs typeface="Arial"/>
              </a:rPr>
              <a:t>(black</a:t>
            </a:r>
            <a:r>
              <a:rPr sz="1000" spc="-5" dirty="0">
                <a:latin typeface="Arial"/>
                <a:cs typeface="Arial"/>
              </a:rPr>
              <a:t> </a:t>
            </a:r>
            <a:r>
              <a:rPr sz="1000" spc="-10" dirty="0">
                <a:latin typeface="Arial"/>
                <a:cs typeface="Arial"/>
              </a:rPr>
              <a:t>box)</a:t>
            </a:r>
            <a:endParaRPr sz="1000" dirty="0">
              <a:latin typeface="Arial"/>
              <a:cs typeface="Arial"/>
            </a:endParaRPr>
          </a:p>
          <a:p>
            <a:pPr marL="554355" marR="158750" indent="-168275">
              <a:lnSpc>
                <a:spcPts val="1200"/>
              </a:lnSpc>
              <a:spcBef>
                <a:spcPts val="35"/>
              </a:spcBef>
              <a:buClr>
                <a:srgbClr val="3333B2"/>
              </a:buClr>
              <a:buChar char="►"/>
              <a:tabLst>
                <a:tab pos="554990" algn="l"/>
              </a:tabLst>
            </a:pPr>
            <a:r>
              <a:rPr sz="1000" spc="-5" dirty="0">
                <a:latin typeface="Arial"/>
                <a:cs typeface="Arial"/>
              </a:rPr>
              <a:t>There</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no</a:t>
            </a:r>
            <a:r>
              <a:rPr sz="1000" spc="5" dirty="0">
                <a:latin typeface="Arial"/>
                <a:cs typeface="Arial"/>
              </a:rPr>
              <a:t> </a:t>
            </a:r>
            <a:r>
              <a:rPr sz="1000" spc="-5" dirty="0">
                <a:latin typeface="Arial"/>
                <a:cs typeface="Arial"/>
              </a:rPr>
              <a:t>fundamental</a:t>
            </a:r>
            <a:r>
              <a:rPr sz="1000" dirty="0">
                <a:latin typeface="Arial"/>
                <a:cs typeface="Arial"/>
              </a:rPr>
              <a:t> </a:t>
            </a:r>
            <a:r>
              <a:rPr sz="1000" spc="-5" dirty="0">
                <a:latin typeface="Arial"/>
                <a:cs typeface="Arial"/>
              </a:rPr>
              <a:t>reason</a:t>
            </a:r>
            <a:r>
              <a:rPr sz="1000" dirty="0">
                <a:latin typeface="Arial"/>
                <a:cs typeface="Arial"/>
              </a:rPr>
              <a:t> </a:t>
            </a:r>
            <a:r>
              <a:rPr sz="1000" spc="-5" dirty="0">
                <a:latin typeface="Arial"/>
                <a:cs typeface="Arial"/>
              </a:rPr>
              <a:t>not</a:t>
            </a:r>
            <a:r>
              <a:rPr sz="1000" spc="5" dirty="0">
                <a:latin typeface="Arial"/>
                <a:cs typeface="Arial"/>
              </a:rPr>
              <a:t> </a:t>
            </a:r>
            <a:r>
              <a:rPr sz="1000" spc="-5" dirty="0">
                <a:latin typeface="Arial"/>
                <a:cs typeface="Arial"/>
              </a:rPr>
              <a:t>to</a:t>
            </a:r>
            <a:r>
              <a:rPr sz="1000" dirty="0">
                <a:latin typeface="Arial"/>
                <a:cs typeface="Arial"/>
              </a:rPr>
              <a:t> </a:t>
            </a:r>
            <a:r>
              <a:rPr sz="1000" spc="-15" dirty="0">
                <a:latin typeface="Arial"/>
                <a:cs typeface="Arial"/>
              </a:rPr>
              <a:t>execute</a:t>
            </a:r>
            <a:r>
              <a:rPr sz="1000" dirty="0">
                <a:latin typeface="Arial"/>
                <a:cs typeface="Arial"/>
              </a:rPr>
              <a:t> </a:t>
            </a:r>
            <a:r>
              <a:rPr sz="1000" spc="-5" dirty="0">
                <a:latin typeface="Arial"/>
                <a:cs typeface="Arial"/>
              </a:rPr>
              <a:t>procedures</a:t>
            </a:r>
            <a:r>
              <a:rPr sz="1000" spc="5" dirty="0">
                <a:latin typeface="Arial"/>
                <a:cs typeface="Arial"/>
              </a:rPr>
              <a:t> </a:t>
            </a:r>
            <a:r>
              <a:rPr sz="1000" spc="-5" dirty="0">
                <a:latin typeface="Arial"/>
                <a:cs typeface="Arial"/>
              </a:rPr>
              <a:t>on </a:t>
            </a:r>
            <a:r>
              <a:rPr sz="1000" spc="-265" dirty="0">
                <a:latin typeface="Arial"/>
                <a:cs typeface="Arial"/>
              </a:rPr>
              <a:t> </a:t>
            </a:r>
            <a:r>
              <a:rPr sz="1000" spc="-5" dirty="0">
                <a:latin typeface="Arial"/>
                <a:cs typeface="Arial"/>
              </a:rPr>
              <a:t>separate</a:t>
            </a:r>
            <a:r>
              <a:rPr sz="1000" spc="-10" dirty="0">
                <a:latin typeface="Arial"/>
                <a:cs typeface="Arial"/>
              </a:rPr>
              <a:t> </a:t>
            </a:r>
            <a:r>
              <a:rPr sz="1000" spc="-5" dirty="0">
                <a:latin typeface="Arial"/>
                <a:cs typeface="Arial"/>
              </a:rPr>
              <a:t>machine</a:t>
            </a:r>
            <a:endParaRPr sz="1000" dirty="0">
              <a:latin typeface="Arial"/>
              <a:cs typeface="Arial"/>
            </a:endParaRPr>
          </a:p>
        </p:txBody>
      </p:sp>
      <p:sp>
        <p:nvSpPr>
          <p:cNvPr id="5" name="object 5"/>
          <p:cNvSpPr txBox="1"/>
          <p:nvPr/>
        </p:nvSpPr>
        <p:spPr>
          <a:xfrm>
            <a:off x="227304" y="1997402"/>
            <a:ext cx="1872614" cy="65722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FA0000"/>
                </a:solidFill>
                <a:latin typeface="Arial"/>
                <a:cs typeface="Arial"/>
              </a:rPr>
              <a:t>Conclusion</a:t>
            </a:r>
            <a:endParaRPr sz="1200" dirty="0">
              <a:latin typeface="Arial"/>
              <a:cs typeface="Arial"/>
            </a:endParaRPr>
          </a:p>
          <a:p>
            <a:pPr marL="12700" marR="5080">
              <a:lnSpc>
                <a:spcPts val="1200"/>
              </a:lnSpc>
              <a:spcBef>
                <a:spcPts val="10"/>
              </a:spcBef>
            </a:pPr>
            <a:r>
              <a:rPr sz="1000" spc="-5" dirty="0">
                <a:latin typeface="Arial"/>
                <a:cs typeface="Arial"/>
              </a:rPr>
              <a:t>Communication</a:t>
            </a:r>
            <a:r>
              <a:rPr sz="1000" spc="-20" dirty="0">
                <a:latin typeface="Arial"/>
                <a:cs typeface="Arial"/>
              </a:rPr>
              <a:t> </a:t>
            </a:r>
            <a:r>
              <a:rPr sz="1000" spc="-5" dirty="0">
                <a:latin typeface="Arial"/>
                <a:cs typeface="Arial"/>
              </a:rPr>
              <a:t>between</a:t>
            </a:r>
            <a:r>
              <a:rPr sz="1000" spc="-20" dirty="0">
                <a:latin typeface="Arial"/>
                <a:cs typeface="Arial"/>
              </a:rPr>
              <a:t> </a:t>
            </a:r>
            <a:r>
              <a:rPr sz="1000" spc="-5" dirty="0">
                <a:latin typeface="Arial"/>
                <a:cs typeface="Arial"/>
              </a:rPr>
              <a:t>caller</a:t>
            </a:r>
            <a:r>
              <a:rPr sz="1000" spc="-15" dirty="0">
                <a:latin typeface="Arial"/>
                <a:cs typeface="Arial"/>
              </a:rPr>
              <a:t> </a:t>
            </a:r>
            <a:r>
              <a:rPr sz="1000" spc="-5" dirty="0">
                <a:latin typeface="Arial"/>
                <a:cs typeface="Arial"/>
              </a:rPr>
              <a:t>&amp; </a:t>
            </a:r>
            <a:r>
              <a:rPr sz="1000" spc="-265" dirty="0">
                <a:latin typeface="Arial"/>
                <a:cs typeface="Arial"/>
              </a:rPr>
              <a:t> </a:t>
            </a:r>
            <a:r>
              <a:rPr sz="1000" spc="-5" dirty="0">
                <a:latin typeface="Arial"/>
                <a:cs typeface="Arial"/>
              </a:rPr>
              <a:t>callee can be hidden </a:t>
            </a:r>
            <a:r>
              <a:rPr sz="1000" spc="-15" dirty="0">
                <a:latin typeface="Arial"/>
                <a:cs typeface="Arial"/>
              </a:rPr>
              <a:t>by </a:t>
            </a:r>
            <a:r>
              <a:rPr sz="1000" spc="-5" dirty="0">
                <a:latin typeface="Arial"/>
                <a:cs typeface="Arial"/>
              </a:rPr>
              <a:t>using </a:t>
            </a:r>
            <a:r>
              <a:rPr sz="1000" dirty="0">
                <a:latin typeface="Arial"/>
                <a:cs typeface="Arial"/>
              </a:rPr>
              <a:t> </a:t>
            </a:r>
            <a:r>
              <a:rPr sz="1000" spc="-5" dirty="0">
                <a:latin typeface="Arial"/>
                <a:cs typeface="Arial"/>
              </a:rPr>
              <a:t>procedure-call</a:t>
            </a:r>
            <a:r>
              <a:rPr sz="1000" spc="-10" dirty="0">
                <a:latin typeface="Arial"/>
                <a:cs typeface="Arial"/>
              </a:rPr>
              <a:t> </a:t>
            </a:r>
            <a:r>
              <a:rPr sz="1000" spc="-5" dirty="0">
                <a:latin typeface="Arial"/>
                <a:cs typeface="Arial"/>
              </a:rPr>
              <a:t>mechanism.</a:t>
            </a:r>
            <a:endParaRPr sz="1000" dirty="0">
              <a:latin typeface="Arial"/>
              <a:cs typeface="Arial"/>
            </a:endParaRPr>
          </a:p>
        </p:txBody>
      </p:sp>
      <p:sp>
        <p:nvSpPr>
          <p:cNvPr id="6" name="object 6"/>
          <p:cNvSpPr txBox="1"/>
          <p:nvPr/>
        </p:nvSpPr>
        <p:spPr>
          <a:xfrm>
            <a:off x="3073264" y="2604404"/>
            <a:ext cx="770890" cy="220979"/>
          </a:xfrm>
          <a:prstGeom prst="rect">
            <a:avLst/>
          </a:prstGeom>
        </p:spPr>
        <p:txBody>
          <a:bodyPr vert="horz" wrap="square" lIns="0" tIns="21590" rIns="0" bIns="0" rtlCol="0">
            <a:spAutoFit/>
          </a:bodyPr>
          <a:lstStyle/>
          <a:p>
            <a:pPr marL="57150" marR="5080" indent="-45085">
              <a:lnSpc>
                <a:spcPts val="740"/>
              </a:lnSpc>
              <a:spcBef>
                <a:spcPts val="170"/>
              </a:spcBef>
            </a:pPr>
            <a:r>
              <a:rPr sz="650" spc="5" dirty="0">
                <a:solidFill>
                  <a:srgbClr val="231F20"/>
                </a:solidFill>
                <a:latin typeface="Helvetica"/>
                <a:cs typeface="Helvetica"/>
              </a:rPr>
              <a:t>Call</a:t>
            </a:r>
            <a:r>
              <a:rPr sz="650" spc="-40" dirty="0">
                <a:solidFill>
                  <a:srgbClr val="231F20"/>
                </a:solidFill>
                <a:latin typeface="Helvetica"/>
                <a:cs typeface="Helvetica"/>
              </a:rPr>
              <a:t> </a:t>
            </a:r>
            <a:r>
              <a:rPr sz="650" spc="5" dirty="0">
                <a:solidFill>
                  <a:srgbClr val="231F20"/>
                </a:solidFill>
                <a:latin typeface="Helvetica"/>
                <a:cs typeface="Helvetica"/>
              </a:rPr>
              <a:t>local</a:t>
            </a:r>
            <a:r>
              <a:rPr sz="650" spc="-35" dirty="0">
                <a:solidFill>
                  <a:srgbClr val="231F20"/>
                </a:solidFill>
                <a:latin typeface="Helvetica"/>
                <a:cs typeface="Helvetica"/>
              </a:rPr>
              <a:t> </a:t>
            </a:r>
            <a:r>
              <a:rPr sz="650" spc="5" dirty="0">
                <a:solidFill>
                  <a:srgbClr val="231F20"/>
                </a:solidFill>
                <a:latin typeface="Helvetica"/>
                <a:cs typeface="Helvetica"/>
              </a:rPr>
              <a:t>procedure </a:t>
            </a:r>
            <a:r>
              <a:rPr sz="650" spc="-165" dirty="0">
                <a:solidFill>
                  <a:srgbClr val="231F20"/>
                </a:solidFill>
                <a:latin typeface="Helvetica"/>
                <a:cs typeface="Helvetica"/>
              </a:rPr>
              <a:t> </a:t>
            </a:r>
            <a:r>
              <a:rPr sz="650" spc="5" dirty="0">
                <a:solidFill>
                  <a:srgbClr val="231F20"/>
                </a:solidFill>
                <a:latin typeface="Helvetica"/>
                <a:cs typeface="Helvetica"/>
              </a:rPr>
              <a:t>and</a:t>
            </a:r>
            <a:r>
              <a:rPr sz="650" spc="-20" dirty="0">
                <a:solidFill>
                  <a:srgbClr val="231F20"/>
                </a:solidFill>
                <a:latin typeface="Helvetica"/>
                <a:cs typeface="Helvetica"/>
              </a:rPr>
              <a:t> </a:t>
            </a:r>
            <a:r>
              <a:rPr sz="650" spc="5" dirty="0">
                <a:solidFill>
                  <a:srgbClr val="231F20"/>
                </a:solidFill>
                <a:latin typeface="Helvetica"/>
                <a:cs typeface="Helvetica"/>
              </a:rPr>
              <a:t>return</a:t>
            </a:r>
            <a:r>
              <a:rPr sz="650" spc="-20" dirty="0">
                <a:solidFill>
                  <a:srgbClr val="231F20"/>
                </a:solidFill>
                <a:latin typeface="Helvetica"/>
                <a:cs typeface="Helvetica"/>
              </a:rPr>
              <a:t> </a:t>
            </a:r>
            <a:r>
              <a:rPr sz="650" spc="5" dirty="0">
                <a:solidFill>
                  <a:srgbClr val="231F20"/>
                </a:solidFill>
                <a:latin typeface="Helvetica"/>
                <a:cs typeface="Helvetica"/>
              </a:rPr>
              <a:t>results</a:t>
            </a:r>
            <a:endParaRPr sz="650">
              <a:latin typeface="Helvetica"/>
              <a:cs typeface="Helvetica"/>
            </a:endParaRPr>
          </a:p>
        </p:txBody>
      </p:sp>
      <p:sp>
        <p:nvSpPr>
          <p:cNvPr id="7" name="object 7"/>
          <p:cNvSpPr txBox="1"/>
          <p:nvPr/>
        </p:nvSpPr>
        <p:spPr>
          <a:xfrm>
            <a:off x="2713750" y="2006803"/>
            <a:ext cx="456565"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Helvetica"/>
                <a:cs typeface="Helvetica"/>
              </a:rPr>
              <a:t>Call remote  procedure</a:t>
            </a:r>
            <a:endParaRPr sz="650">
              <a:latin typeface="Helvetica"/>
              <a:cs typeface="Helvetica"/>
            </a:endParaRPr>
          </a:p>
        </p:txBody>
      </p:sp>
      <p:sp>
        <p:nvSpPr>
          <p:cNvPr id="8" name="object 8"/>
          <p:cNvSpPr txBox="1"/>
          <p:nvPr/>
        </p:nvSpPr>
        <p:spPr>
          <a:xfrm>
            <a:off x="3804374" y="2021745"/>
            <a:ext cx="344170"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Helvetica"/>
                <a:cs typeface="Helvetica"/>
              </a:rPr>
              <a:t>Return </a:t>
            </a:r>
            <a:r>
              <a:rPr sz="650" spc="10" dirty="0">
                <a:solidFill>
                  <a:srgbClr val="231F20"/>
                </a:solidFill>
                <a:latin typeface="Helvetica"/>
                <a:cs typeface="Helvetica"/>
              </a:rPr>
              <a:t> </a:t>
            </a:r>
            <a:r>
              <a:rPr sz="650" spc="5" dirty="0">
                <a:solidFill>
                  <a:srgbClr val="231F20"/>
                </a:solidFill>
                <a:latin typeface="Helvetica"/>
                <a:cs typeface="Helvetica"/>
              </a:rPr>
              <a:t>from</a:t>
            </a:r>
            <a:r>
              <a:rPr sz="650" dirty="0">
                <a:solidFill>
                  <a:srgbClr val="231F20"/>
                </a:solidFill>
                <a:latin typeface="Helvetica"/>
                <a:cs typeface="Helvetica"/>
              </a:rPr>
              <a:t> </a:t>
            </a:r>
            <a:r>
              <a:rPr sz="650" spc="5" dirty="0">
                <a:solidFill>
                  <a:srgbClr val="231F20"/>
                </a:solidFill>
                <a:latin typeface="Helvetica"/>
                <a:cs typeface="Helvetica"/>
              </a:rPr>
              <a:t>call</a:t>
            </a:r>
            <a:endParaRPr sz="650">
              <a:latin typeface="Helvetica"/>
              <a:cs typeface="Helvetica"/>
            </a:endParaRPr>
          </a:p>
        </p:txBody>
      </p:sp>
      <p:sp>
        <p:nvSpPr>
          <p:cNvPr id="9" name="object 9"/>
          <p:cNvSpPr txBox="1"/>
          <p:nvPr/>
        </p:nvSpPr>
        <p:spPr>
          <a:xfrm>
            <a:off x="2429891" y="1827524"/>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Helvetica"/>
                <a:cs typeface="Helvetica"/>
              </a:rPr>
              <a:t>Client</a:t>
            </a:r>
            <a:endParaRPr sz="650">
              <a:latin typeface="Helvetica"/>
              <a:cs typeface="Helvetica"/>
            </a:endParaRPr>
          </a:p>
        </p:txBody>
      </p:sp>
      <p:sp>
        <p:nvSpPr>
          <p:cNvPr id="10" name="object 10"/>
          <p:cNvSpPr txBox="1"/>
          <p:nvPr/>
        </p:nvSpPr>
        <p:spPr>
          <a:xfrm>
            <a:off x="2907975" y="2350423"/>
            <a:ext cx="339725" cy="127000"/>
          </a:xfrm>
          <a:prstGeom prst="rect">
            <a:avLst/>
          </a:prstGeom>
        </p:spPr>
        <p:txBody>
          <a:bodyPr vert="horz" wrap="square" lIns="0" tIns="14605" rIns="0" bIns="0" rtlCol="0">
            <a:spAutoFit/>
          </a:bodyPr>
          <a:lstStyle/>
          <a:p>
            <a:pPr marL="12700">
              <a:lnSpc>
                <a:spcPct val="100000"/>
              </a:lnSpc>
              <a:spcBef>
                <a:spcPts val="115"/>
              </a:spcBef>
            </a:pPr>
            <a:r>
              <a:rPr sz="650" spc="5" dirty="0">
                <a:solidFill>
                  <a:srgbClr val="231F20"/>
                </a:solidFill>
                <a:latin typeface="Helvetica"/>
                <a:cs typeface="Helvetica"/>
              </a:rPr>
              <a:t>Request</a:t>
            </a:r>
            <a:endParaRPr sz="650">
              <a:latin typeface="Helvetica"/>
              <a:cs typeface="Helvetica"/>
            </a:endParaRPr>
          </a:p>
        </p:txBody>
      </p:sp>
      <p:sp>
        <p:nvSpPr>
          <p:cNvPr id="11" name="object 11"/>
          <p:cNvSpPr txBox="1"/>
          <p:nvPr/>
        </p:nvSpPr>
        <p:spPr>
          <a:xfrm>
            <a:off x="3640031" y="2380305"/>
            <a:ext cx="241300" cy="127000"/>
          </a:xfrm>
          <a:prstGeom prst="rect">
            <a:avLst/>
          </a:prstGeom>
        </p:spPr>
        <p:txBody>
          <a:bodyPr vert="horz" wrap="square" lIns="0" tIns="14605" rIns="0" bIns="0" rtlCol="0">
            <a:spAutoFit/>
          </a:bodyPr>
          <a:lstStyle/>
          <a:p>
            <a:pPr marL="12700">
              <a:lnSpc>
                <a:spcPct val="100000"/>
              </a:lnSpc>
              <a:spcBef>
                <a:spcPts val="115"/>
              </a:spcBef>
            </a:pPr>
            <a:r>
              <a:rPr sz="650" spc="5" dirty="0">
                <a:solidFill>
                  <a:srgbClr val="231F20"/>
                </a:solidFill>
                <a:latin typeface="Helvetica"/>
                <a:cs typeface="Helvetica"/>
              </a:rPr>
              <a:t>Reply</a:t>
            </a:r>
            <a:endParaRPr sz="650">
              <a:latin typeface="Helvetica"/>
              <a:cs typeface="Helvetica"/>
            </a:endParaRPr>
          </a:p>
        </p:txBody>
      </p:sp>
      <p:sp>
        <p:nvSpPr>
          <p:cNvPr id="12" name="object 12"/>
          <p:cNvSpPr txBox="1"/>
          <p:nvPr/>
        </p:nvSpPr>
        <p:spPr>
          <a:xfrm>
            <a:off x="2414945" y="2514765"/>
            <a:ext cx="274320" cy="127000"/>
          </a:xfrm>
          <a:prstGeom prst="rect">
            <a:avLst/>
          </a:prstGeom>
        </p:spPr>
        <p:txBody>
          <a:bodyPr vert="horz" wrap="square" lIns="0" tIns="14605" rIns="0" bIns="0" rtlCol="0">
            <a:spAutoFit/>
          </a:bodyPr>
          <a:lstStyle/>
          <a:p>
            <a:pPr marL="12700">
              <a:lnSpc>
                <a:spcPct val="100000"/>
              </a:lnSpc>
              <a:spcBef>
                <a:spcPts val="115"/>
              </a:spcBef>
            </a:pPr>
            <a:r>
              <a:rPr sz="650" spc="5" dirty="0">
                <a:solidFill>
                  <a:srgbClr val="231F20"/>
                </a:solidFill>
                <a:latin typeface="Helvetica"/>
                <a:cs typeface="Helvetica"/>
              </a:rPr>
              <a:t>Server</a:t>
            </a:r>
            <a:endParaRPr sz="650">
              <a:latin typeface="Helvetica"/>
              <a:cs typeface="Helvetica"/>
            </a:endParaRPr>
          </a:p>
        </p:txBody>
      </p:sp>
      <p:sp>
        <p:nvSpPr>
          <p:cNvPr id="13" name="object 13"/>
          <p:cNvSpPr txBox="1"/>
          <p:nvPr/>
        </p:nvSpPr>
        <p:spPr>
          <a:xfrm>
            <a:off x="4013530" y="2619347"/>
            <a:ext cx="210185" cy="127000"/>
          </a:xfrm>
          <a:prstGeom prst="rect">
            <a:avLst/>
          </a:prstGeom>
        </p:spPr>
        <p:txBody>
          <a:bodyPr vert="horz" wrap="square" lIns="0" tIns="14605" rIns="0" bIns="0" rtlCol="0">
            <a:spAutoFit/>
          </a:bodyPr>
          <a:lstStyle/>
          <a:p>
            <a:pPr marL="12700">
              <a:lnSpc>
                <a:spcPct val="100000"/>
              </a:lnSpc>
              <a:spcBef>
                <a:spcPts val="115"/>
              </a:spcBef>
            </a:pPr>
            <a:r>
              <a:rPr sz="650" spc="-20" dirty="0">
                <a:solidFill>
                  <a:srgbClr val="231F20"/>
                </a:solidFill>
                <a:latin typeface="Helvetica"/>
                <a:cs typeface="Helvetica"/>
              </a:rPr>
              <a:t>T</a:t>
            </a:r>
            <a:r>
              <a:rPr sz="650" spc="5" dirty="0">
                <a:solidFill>
                  <a:srgbClr val="231F20"/>
                </a:solidFill>
                <a:latin typeface="Helvetica"/>
                <a:cs typeface="Helvetica"/>
              </a:rPr>
              <a:t>ime</a:t>
            </a:r>
            <a:endParaRPr sz="650">
              <a:latin typeface="Helvetica"/>
              <a:cs typeface="Helvetica"/>
            </a:endParaRPr>
          </a:p>
        </p:txBody>
      </p:sp>
      <p:sp>
        <p:nvSpPr>
          <p:cNvPr id="14" name="object 14"/>
          <p:cNvSpPr txBox="1"/>
          <p:nvPr/>
        </p:nvSpPr>
        <p:spPr>
          <a:xfrm>
            <a:off x="3176892" y="1752827"/>
            <a:ext cx="542925" cy="127000"/>
          </a:xfrm>
          <a:prstGeom prst="rect">
            <a:avLst/>
          </a:prstGeom>
        </p:spPr>
        <p:txBody>
          <a:bodyPr vert="horz" wrap="square" lIns="0" tIns="13970" rIns="0" bIns="0" rtlCol="0">
            <a:spAutoFit/>
          </a:bodyPr>
          <a:lstStyle/>
          <a:p>
            <a:pPr marL="12700">
              <a:lnSpc>
                <a:spcPct val="100000"/>
              </a:lnSpc>
              <a:spcBef>
                <a:spcPts val="110"/>
              </a:spcBef>
            </a:pPr>
            <a:r>
              <a:rPr sz="650" dirty="0">
                <a:solidFill>
                  <a:srgbClr val="231F20"/>
                </a:solidFill>
                <a:latin typeface="Helvetica"/>
                <a:cs typeface="Helvetica"/>
              </a:rPr>
              <a:t>Wait</a:t>
            </a:r>
            <a:r>
              <a:rPr sz="650" spc="-35" dirty="0">
                <a:solidFill>
                  <a:srgbClr val="231F20"/>
                </a:solidFill>
                <a:latin typeface="Helvetica"/>
                <a:cs typeface="Helvetica"/>
              </a:rPr>
              <a:t> </a:t>
            </a:r>
            <a:r>
              <a:rPr sz="650" spc="5" dirty="0">
                <a:solidFill>
                  <a:srgbClr val="231F20"/>
                </a:solidFill>
                <a:latin typeface="Helvetica"/>
                <a:cs typeface="Helvetica"/>
              </a:rPr>
              <a:t>for</a:t>
            </a:r>
            <a:r>
              <a:rPr sz="650" spc="-35" dirty="0">
                <a:solidFill>
                  <a:srgbClr val="231F20"/>
                </a:solidFill>
                <a:latin typeface="Helvetica"/>
                <a:cs typeface="Helvetica"/>
              </a:rPr>
              <a:t> </a:t>
            </a:r>
            <a:r>
              <a:rPr sz="650" spc="5" dirty="0">
                <a:solidFill>
                  <a:srgbClr val="231F20"/>
                </a:solidFill>
                <a:latin typeface="Helvetica"/>
                <a:cs typeface="Helvetica"/>
              </a:rPr>
              <a:t>result</a:t>
            </a:r>
            <a:endParaRPr sz="650">
              <a:latin typeface="Helvetica"/>
              <a:cs typeface="Helvetica"/>
            </a:endParaRPr>
          </a:p>
        </p:txBody>
      </p:sp>
      <p:grpSp>
        <p:nvGrpSpPr>
          <p:cNvPr id="15" name="object 15"/>
          <p:cNvGrpSpPr/>
          <p:nvPr/>
        </p:nvGrpSpPr>
        <p:grpSpPr>
          <a:xfrm>
            <a:off x="2744600" y="1893842"/>
            <a:ext cx="1520825" cy="690880"/>
            <a:chOff x="2744600" y="1893842"/>
            <a:chExt cx="1520825" cy="690880"/>
          </a:xfrm>
        </p:grpSpPr>
        <p:sp>
          <p:nvSpPr>
            <p:cNvPr id="16" name="object 16"/>
            <p:cNvSpPr/>
            <p:nvPr/>
          </p:nvSpPr>
          <p:spPr>
            <a:xfrm>
              <a:off x="3201824" y="1904384"/>
              <a:ext cx="541020" cy="0"/>
            </a:xfrm>
            <a:custGeom>
              <a:avLst/>
              <a:gdLst/>
              <a:ahLst/>
              <a:cxnLst/>
              <a:rect l="l" t="t" r="r" b="b"/>
              <a:pathLst>
                <a:path w="541020">
                  <a:moveTo>
                    <a:pt x="0" y="0"/>
                  </a:moveTo>
                  <a:lnTo>
                    <a:pt x="540978" y="0"/>
                  </a:lnTo>
                </a:path>
              </a:pathLst>
            </a:custGeom>
            <a:ln w="5270">
              <a:solidFill>
                <a:srgbClr val="231F20"/>
              </a:solidFill>
              <a:prstDash val="lgDash"/>
            </a:ln>
          </p:spPr>
          <p:txBody>
            <a:bodyPr wrap="square" lIns="0" tIns="0" rIns="0" bIns="0" rtlCol="0"/>
            <a:lstStyle/>
            <a:p>
              <a:endParaRPr/>
            </a:p>
          </p:txBody>
        </p:sp>
        <p:sp>
          <p:nvSpPr>
            <p:cNvPr id="17" name="object 17"/>
            <p:cNvSpPr/>
            <p:nvPr/>
          </p:nvSpPr>
          <p:spPr>
            <a:xfrm>
              <a:off x="3742371" y="1904384"/>
              <a:ext cx="523240" cy="0"/>
            </a:xfrm>
            <a:custGeom>
              <a:avLst/>
              <a:gdLst/>
              <a:ahLst/>
              <a:cxnLst/>
              <a:rect l="l" t="t" r="r" b="b"/>
              <a:pathLst>
                <a:path w="523239">
                  <a:moveTo>
                    <a:pt x="522896" y="0"/>
                  </a:moveTo>
                  <a:lnTo>
                    <a:pt x="0" y="0"/>
                  </a:lnTo>
                </a:path>
              </a:pathLst>
            </a:custGeom>
            <a:ln w="21083">
              <a:solidFill>
                <a:srgbClr val="231F20"/>
              </a:solidFill>
            </a:ln>
          </p:spPr>
          <p:txBody>
            <a:bodyPr wrap="square" lIns="0" tIns="0" rIns="0" bIns="0" rtlCol="0"/>
            <a:lstStyle/>
            <a:p>
              <a:endParaRPr/>
            </a:p>
          </p:txBody>
        </p:sp>
        <p:sp>
          <p:nvSpPr>
            <p:cNvPr id="18" name="object 18"/>
            <p:cNvSpPr/>
            <p:nvPr/>
          </p:nvSpPr>
          <p:spPr>
            <a:xfrm>
              <a:off x="3201824" y="1904384"/>
              <a:ext cx="139700" cy="612140"/>
            </a:xfrm>
            <a:custGeom>
              <a:avLst/>
              <a:gdLst/>
              <a:ahLst/>
              <a:cxnLst/>
              <a:rect l="l" t="t" r="r" b="b"/>
              <a:pathLst>
                <a:path w="139700" h="612139">
                  <a:moveTo>
                    <a:pt x="0" y="0"/>
                  </a:moveTo>
                  <a:lnTo>
                    <a:pt x="139112" y="611711"/>
                  </a:lnTo>
                </a:path>
              </a:pathLst>
            </a:custGeom>
            <a:ln w="5270">
              <a:solidFill>
                <a:srgbClr val="231F20"/>
              </a:solidFill>
            </a:ln>
          </p:spPr>
          <p:txBody>
            <a:bodyPr wrap="square" lIns="0" tIns="0" rIns="0" bIns="0" rtlCol="0"/>
            <a:lstStyle/>
            <a:p>
              <a:endParaRPr/>
            </a:p>
          </p:txBody>
        </p:sp>
        <p:sp>
          <p:nvSpPr>
            <p:cNvPr id="19" name="object 19"/>
            <p:cNvSpPr/>
            <p:nvPr/>
          </p:nvSpPr>
          <p:spPr>
            <a:xfrm>
              <a:off x="2744600" y="2575487"/>
              <a:ext cx="1517015" cy="0"/>
            </a:xfrm>
            <a:custGeom>
              <a:avLst/>
              <a:gdLst/>
              <a:ahLst/>
              <a:cxnLst/>
              <a:rect l="l" t="t" r="r" b="b"/>
              <a:pathLst>
                <a:path w="1517014">
                  <a:moveTo>
                    <a:pt x="1516862" y="0"/>
                  </a:moveTo>
                  <a:lnTo>
                    <a:pt x="0" y="0"/>
                  </a:lnTo>
                </a:path>
              </a:pathLst>
            </a:custGeom>
            <a:ln w="5270">
              <a:solidFill>
                <a:srgbClr val="231F20"/>
              </a:solidFill>
              <a:prstDash val="lgDash"/>
            </a:ln>
          </p:spPr>
          <p:txBody>
            <a:bodyPr wrap="square" lIns="0" tIns="0" rIns="0" bIns="0" rtlCol="0"/>
            <a:lstStyle/>
            <a:p>
              <a:endParaRPr/>
            </a:p>
          </p:txBody>
        </p:sp>
        <p:sp>
          <p:nvSpPr>
            <p:cNvPr id="20" name="object 20"/>
            <p:cNvSpPr/>
            <p:nvPr/>
          </p:nvSpPr>
          <p:spPr>
            <a:xfrm>
              <a:off x="3301647" y="2472947"/>
              <a:ext cx="62230" cy="80010"/>
            </a:xfrm>
            <a:custGeom>
              <a:avLst/>
              <a:gdLst/>
              <a:ahLst/>
              <a:cxnLst/>
              <a:rect l="l" t="t" r="r" b="b"/>
              <a:pathLst>
                <a:path w="62229" h="80010">
                  <a:moveTo>
                    <a:pt x="0" y="14135"/>
                  </a:moveTo>
                  <a:lnTo>
                    <a:pt x="47574" y="79597"/>
                  </a:lnTo>
                  <a:lnTo>
                    <a:pt x="59151" y="16431"/>
                  </a:lnTo>
                  <a:lnTo>
                    <a:pt x="16865" y="16431"/>
                  </a:lnTo>
                  <a:lnTo>
                    <a:pt x="0" y="14135"/>
                  </a:lnTo>
                  <a:close/>
                </a:path>
                <a:path w="62229" h="80010">
                  <a:moveTo>
                    <a:pt x="62163" y="0"/>
                  </a:moveTo>
                  <a:lnTo>
                    <a:pt x="47947" y="9363"/>
                  </a:lnTo>
                  <a:lnTo>
                    <a:pt x="32848" y="14840"/>
                  </a:lnTo>
                  <a:lnTo>
                    <a:pt x="16865" y="16431"/>
                  </a:lnTo>
                  <a:lnTo>
                    <a:pt x="59151" y="16431"/>
                  </a:lnTo>
                  <a:lnTo>
                    <a:pt x="62163" y="0"/>
                  </a:lnTo>
                  <a:close/>
                </a:path>
              </a:pathLst>
            </a:custGeom>
            <a:solidFill>
              <a:srgbClr val="231F20"/>
            </a:solidFill>
          </p:spPr>
          <p:txBody>
            <a:bodyPr wrap="square" lIns="0" tIns="0" rIns="0" bIns="0" rtlCol="0"/>
            <a:lstStyle/>
            <a:p>
              <a:endParaRPr/>
            </a:p>
          </p:txBody>
        </p:sp>
        <p:sp>
          <p:nvSpPr>
            <p:cNvPr id="21" name="object 21"/>
            <p:cNvSpPr/>
            <p:nvPr/>
          </p:nvSpPr>
          <p:spPr>
            <a:xfrm>
              <a:off x="3580029" y="1946094"/>
              <a:ext cx="139700" cy="626745"/>
            </a:xfrm>
            <a:custGeom>
              <a:avLst/>
              <a:gdLst/>
              <a:ahLst/>
              <a:cxnLst/>
              <a:rect l="l" t="t" r="r" b="b"/>
              <a:pathLst>
                <a:path w="139700" h="626744">
                  <a:moveTo>
                    <a:pt x="139288" y="0"/>
                  </a:moveTo>
                  <a:lnTo>
                    <a:pt x="0" y="626609"/>
                  </a:lnTo>
                </a:path>
              </a:pathLst>
            </a:custGeom>
            <a:ln w="5270">
              <a:solidFill>
                <a:srgbClr val="231F20"/>
              </a:solidFill>
            </a:ln>
          </p:spPr>
          <p:txBody>
            <a:bodyPr wrap="square" lIns="0" tIns="0" rIns="0" bIns="0" rtlCol="0"/>
            <a:lstStyle/>
            <a:p>
              <a:endParaRPr/>
            </a:p>
          </p:txBody>
        </p:sp>
        <p:sp>
          <p:nvSpPr>
            <p:cNvPr id="22" name="object 22"/>
            <p:cNvSpPr/>
            <p:nvPr/>
          </p:nvSpPr>
          <p:spPr>
            <a:xfrm>
              <a:off x="3680169" y="1909609"/>
              <a:ext cx="62230" cy="80010"/>
            </a:xfrm>
            <a:custGeom>
              <a:avLst/>
              <a:gdLst/>
              <a:ahLst/>
              <a:cxnLst/>
              <a:rect l="l" t="t" r="r" b="b"/>
              <a:pathLst>
                <a:path w="62229" h="80010">
                  <a:moveTo>
                    <a:pt x="59180" y="63314"/>
                  </a:moveTo>
                  <a:lnTo>
                    <a:pt x="16857" y="63314"/>
                  </a:lnTo>
                  <a:lnTo>
                    <a:pt x="32848" y="64827"/>
                  </a:lnTo>
                  <a:lnTo>
                    <a:pt x="47974" y="70231"/>
                  </a:lnTo>
                  <a:lnTo>
                    <a:pt x="62234" y="79526"/>
                  </a:lnTo>
                  <a:lnTo>
                    <a:pt x="59180" y="63314"/>
                  </a:lnTo>
                  <a:close/>
                </a:path>
                <a:path w="62229" h="80010">
                  <a:moveTo>
                    <a:pt x="47255" y="0"/>
                  </a:moveTo>
                  <a:lnTo>
                    <a:pt x="0" y="65691"/>
                  </a:lnTo>
                  <a:lnTo>
                    <a:pt x="16857" y="63314"/>
                  </a:lnTo>
                  <a:lnTo>
                    <a:pt x="59180" y="63314"/>
                  </a:lnTo>
                  <a:lnTo>
                    <a:pt x="47255" y="0"/>
                  </a:lnTo>
                  <a:close/>
                </a:path>
              </a:pathLst>
            </a:custGeom>
            <a:solidFill>
              <a:srgbClr val="231F20"/>
            </a:solidFill>
          </p:spPr>
          <p:txBody>
            <a:bodyPr wrap="square" lIns="0" tIns="0" rIns="0" bIns="0" rtlCol="0"/>
            <a:lstStyle/>
            <a:p>
              <a:endParaRPr/>
            </a:p>
          </p:txBody>
        </p:sp>
        <p:sp>
          <p:nvSpPr>
            <p:cNvPr id="23" name="object 23"/>
            <p:cNvSpPr/>
            <p:nvPr/>
          </p:nvSpPr>
          <p:spPr>
            <a:xfrm>
              <a:off x="2745704" y="1904384"/>
              <a:ext cx="836930" cy="669925"/>
            </a:xfrm>
            <a:custGeom>
              <a:avLst/>
              <a:gdLst/>
              <a:ahLst/>
              <a:cxnLst/>
              <a:rect l="l" t="t" r="r" b="b"/>
              <a:pathLst>
                <a:path w="836929" h="669925">
                  <a:moveTo>
                    <a:pt x="836886" y="669377"/>
                  </a:moveTo>
                  <a:lnTo>
                    <a:pt x="603517" y="669377"/>
                  </a:lnTo>
                </a:path>
                <a:path w="836929" h="669925">
                  <a:moveTo>
                    <a:pt x="456120" y="0"/>
                  </a:moveTo>
                  <a:lnTo>
                    <a:pt x="0" y="0"/>
                  </a:lnTo>
                </a:path>
              </a:pathLst>
            </a:custGeom>
            <a:ln w="21083">
              <a:solidFill>
                <a:srgbClr val="231F20"/>
              </a:solidFill>
            </a:ln>
          </p:spPr>
          <p:txBody>
            <a:bodyPr wrap="square" lIns="0" tIns="0" rIns="0" bIns="0" rtlCol="0"/>
            <a:lstStyle/>
            <a:p>
              <a:endParaRPr/>
            </a:p>
          </p:txBody>
        </p:sp>
        <p:sp>
          <p:nvSpPr>
            <p:cNvPr id="24" name="object 24"/>
            <p:cNvSpPr/>
            <p:nvPr/>
          </p:nvSpPr>
          <p:spPr>
            <a:xfrm>
              <a:off x="3115858" y="1921117"/>
              <a:ext cx="716280" cy="108585"/>
            </a:xfrm>
            <a:custGeom>
              <a:avLst/>
              <a:gdLst/>
              <a:ahLst/>
              <a:cxnLst/>
              <a:rect l="l" t="t" r="r" b="b"/>
              <a:pathLst>
                <a:path w="716279" h="108585">
                  <a:moveTo>
                    <a:pt x="0" y="90451"/>
                  </a:moveTo>
                  <a:lnTo>
                    <a:pt x="77632" y="0"/>
                  </a:lnTo>
                </a:path>
                <a:path w="716279" h="108585">
                  <a:moveTo>
                    <a:pt x="716153" y="108016"/>
                  </a:moveTo>
                  <a:lnTo>
                    <a:pt x="625764" y="0"/>
                  </a:lnTo>
                </a:path>
              </a:pathLst>
            </a:custGeom>
            <a:ln w="5270">
              <a:solidFill>
                <a:srgbClr val="231F20"/>
              </a:solidFill>
            </a:ln>
          </p:spPr>
          <p:txBody>
            <a:bodyPr wrap="square" lIns="0" tIns="0" rIns="0" bIns="0" rtlCol="0"/>
            <a:lstStyle/>
            <a:p>
              <a:endParaRPr/>
            </a:p>
          </p:txBody>
        </p:sp>
      </p:grpSp>
      <p:grpSp>
        <p:nvGrpSpPr>
          <p:cNvPr id="25" name="object 25"/>
          <p:cNvGrpSpPr/>
          <p:nvPr/>
        </p:nvGrpSpPr>
        <p:grpSpPr>
          <a:xfrm>
            <a:off x="4240243" y="2659251"/>
            <a:ext cx="276225" cy="64135"/>
            <a:chOff x="4240243" y="2659251"/>
            <a:chExt cx="276225" cy="64135"/>
          </a:xfrm>
        </p:grpSpPr>
        <p:sp>
          <p:nvSpPr>
            <p:cNvPr id="26" name="object 26"/>
            <p:cNvSpPr/>
            <p:nvPr/>
          </p:nvSpPr>
          <p:spPr>
            <a:xfrm>
              <a:off x="4240243" y="2691125"/>
              <a:ext cx="238760" cy="0"/>
            </a:xfrm>
            <a:custGeom>
              <a:avLst/>
              <a:gdLst/>
              <a:ahLst/>
              <a:cxnLst/>
              <a:rect l="l" t="t" r="r" b="b"/>
              <a:pathLst>
                <a:path w="238760">
                  <a:moveTo>
                    <a:pt x="0" y="0"/>
                  </a:moveTo>
                  <a:lnTo>
                    <a:pt x="238416" y="0"/>
                  </a:lnTo>
                </a:path>
              </a:pathLst>
            </a:custGeom>
            <a:ln w="5270">
              <a:solidFill>
                <a:srgbClr val="231F20"/>
              </a:solidFill>
            </a:ln>
          </p:spPr>
          <p:txBody>
            <a:bodyPr wrap="square" lIns="0" tIns="0" rIns="0" bIns="0" rtlCol="0"/>
            <a:lstStyle/>
            <a:p>
              <a:endParaRPr/>
            </a:p>
          </p:txBody>
        </p:sp>
        <p:sp>
          <p:nvSpPr>
            <p:cNvPr id="27" name="object 27"/>
            <p:cNvSpPr/>
            <p:nvPr/>
          </p:nvSpPr>
          <p:spPr>
            <a:xfrm>
              <a:off x="4441661" y="2659251"/>
              <a:ext cx="74930" cy="64135"/>
            </a:xfrm>
            <a:custGeom>
              <a:avLst/>
              <a:gdLst/>
              <a:ahLst/>
              <a:cxnLst/>
              <a:rect l="l" t="t" r="r" b="b"/>
              <a:pathLst>
                <a:path w="74929" h="64135">
                  <a:moveTo>
                    <a:pt x="0" y="0"/>
                  </a:moveTo>
                  <a:lnTo>
                    <a:pt x="5976" y="15938"/>
                  </a:lnTo>
                  <a:lnTo>
                    <a:pt x="7968" y="31876"/>
                  </a:lnTo>
                  <a:lnTo>
                    <a:pt x="5976" y="47815"/>
                  </a:lnTo>
                  <a:lnTo>
                    <a:pt x="0" y="63756"/>
                  </a:lnTo>
                  <a:lnTo>
                    <a:pt x="74377" y="31873"/>
                  </a:lnTo>
                  <a:lnTo>
                    <a:pt x="0" y="0"/>
                  </a:lnTo>
                  <a:close/>
                </a:path>
              </a:pathLst>
            </a:custGeom>
            <a:solidFill>
              <a:srgbClr val="231F20"/>
            </a:solidFill>
          </p:spPr>
          <p:txBody>
            <a:bodyPr wrap="square" lIns="0" tIns="0" rIns="0" bIns="0" rtlCol="0"/>
            <a:lstStyle/>
            <a:p>
              <a:endParaRPr/>
            </a:p>
          </p:txBody>
        </p:sp>
      </p:grpSp>
      <p:sp>
        <p:nvSpPr>
          <p:cNvPr id="28" name="object 2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12</a:t>
            </a:r>
            <a:r>
              <a:rPr spc="-40" dirty="0"/>
              <a:t> </a:t>
            </a:r>
            <a:r>
              <a:rPr spc="-5" dirty="0"/>
              <a:t>/</a:t>
            </a:r>
            <a:r>
              <a:rPr spc="-35" dirty="0"/>
              <a:t> </a:t>
            </a:r>
            <a:r>
              <a:rPr spc="-5" dirty="0"/>
              <a:t>49</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3766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Remote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procedure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call</a:t>
            </a:r>
            <a:endParaRPr sz="600">
              <a:latin typeface="Arial"/>
              <a:cs typeface="Arial"/>
            </a:endParaRPr>
          </a:p>
        </p:txBody>
      </p:sp>
      <p:sp>
        <p:nvSpPr>
          <p:cNvPr id="3" name="object 3"/>
          <p:cNvSpPr txBox="1"/>
          <p:nvPr/>
        </p:nvSpPr>
        <p:spPr>
          <a:xfrm>
            <a:off x="3812081" y="716"/>
            <a:ext cx="7296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Basic</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RPC</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operation</a:t>
            </a:r>
            <a:endParaRPr sz="600">
              <a:latin typeface="Arial"/>
              <a:cs typeface="Arial"/>
            </a:endParaRPr>
          </a:p>
        </p:txBody>
      </p:sp>
      <p:sp>
        <p:nvSpPr>
          <p:cNvPr id="4" name="object 4"/>
          <p:cNvSpPr txBox="1"/>
          <p:nvPr/>
        </p:nvSpPr>
        <p:spPr>
          <a:xfrm>
            <a:off x="95300" y="188846"/>
            <a:ext cx="171513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Basic</a:t>
            </a:r>
            <a:r>
              <a:rPr sz="1400" spc="-15" dirty="0">
                <a:solidFill>
                  <a:srgbClr val="3333B2"/>
                </a:solidFill>
                <a:latin typeface="Arial"/>
                <a:cs typeface="Arial"/>
              </a:rPr>
              <a:t> </a:t>
            </a:r>
            <a:r>
              <a:rPr sz="1400" spc="20" dirty="0">
                <a:solidFill>
                  <a:srgbClr val="3333B2"/>
                </a:solidFill>
                <a:latin typeface="Arial"/>
                <a:cs typeface="Arial"/>
              </a:rPr>
              <a:t>RPC</a:t>
            </a:r>
            <a:r>
              <a:rPr sz="1400" spc="-15" dirty="0">
                <a:solidFill>
                  <a:srgbClr val="3333B2"/>
                </a:solidFill>
                <a:latin typeface="Arial"/>
                <a:cs typeface="Arial"/>
              </a:rPr>
              <a:t> </a:t>
            </a:r>
            <a:r>
              <a:rPr sz="1400" spc="10" dirty="0">
                <a:solidFill>
                  <a:srgbClr val="3333B2"/>
                </a:solidFill>
                <a:latin typeface="Arial"/>
                <a:cs typeface="Arial"/>
              </a:rPr>
              <a:t>operation</a:t>
            </a:r>
            <a:endParaRPr sz="1400">
              <a:latin typeface="Arial"/>
              <a:cs typeface="Arial"/>
            </a:endParaRPr>
          </a:p>
        </p:txBody>
      </p:sp>
      <p:grpSp>
        <p:nvGrpSpPr>
          <p:cNvPr id="5" name="object 5"/>
          <p:cNvGrpSpPr/>
          <p:nvPr/>
        </p:nvGrpSpPr>
        <p:grpSpPr>
          <a:xfrm>
            <a:off x="960241" y="1845791"/>
            <a:ext cx="1962150" cy="379730"/>
            <a:chOff x="960241" y="1845791"/>
            <a:chExt cx="1962150" cy="379730"/>
          </a:xfrm>
        </p:grpSpPr>
        <p:sp>
          <p:nvSpPr>
            <p:cNvPr id="6" name="object 6"/>
            <p:cNvSpPr/>
            <p:nvPr/>
          </p:nvSpPr>
          <p:spPr>
            <a:xfrm>
              <a:off x="963098" y="1848648"/>
              <a:ext cx="1927860" cy="374015"/>
            </a:xfrm>
            <a:custGeom>
              <a:avLst/>
              <a:gdLst/>
              <a:ahLst/>
              <a:cxnLst/>
              <a:rect l="l" t="t" r="r" b="b"/>
              <a:pathLst>
                <a:path w="1927860" h="374014">
                  <a:moveTo>
                    <a:pt x="0" y="0"/>
                  </a:moveTo>
                  <a:lnTo>
                    <a:pt x="0" y="283861"/>
                  </a:lnTo>
                  <a:lnTo>
                    <a:pt x="5515" y="323080"/>
                  </a:lnTo>
                  <a:lnTo>
                    <a:pt x="22064" y="351092"/>
                  </a:lnTo>
                  <a:lnTo>
                    <a:pt x="49647" y="367899"/>
                  </a:lnTo>
                  <a:lnTo>
                    <a:pt x="88268" y="373501"/>
                  </a:lnTo>
                  <a:lnTo>
                    <a:pt x="1838980" y="373501"/>
                  </a:lnTo>
                  <a:lnTo>
                    <a:pt x="1877602" y="367899"/>
                  </a:lnTo>
                  <a:lnTo>
                    <a:pt x="1905190" y="351092"/>
                  </a:lnTo>
                  <a:lnTo>
                    <a:pt x="1921743" y="323080"/>
                  </a:lnTo>
                  <a:lnTo>
                    <a:pt x="1927261" y="283861"/>
                  </a:lnTo>
                  <a:lnTo>
                    <a:pt x="1927261" y="37379"/>
                  </a:lnTo>
                </a:path>
              </a:pathLst>
            </a:custGeom>
            <a:ln w="5270">
              <a:solidFill>
                <a:srgbClr val="231F20"/>
              </a:solidFill>
            </a:ln>
          </p:spPr>
          <p:txBody>
            <a:bodyPr wrap="square" lIns="0" tIns="0" rIns="0" bIns="0" rtlCol="0"/>
            <a:lstStyle/>
            <a:p>
              <a:endParaRPr/>
            </a:p>
          </p:txBody>
        </p:sp>
        <p:pic>
          <p:nvPicPr>
            <p:cNvPr id="7" name="object 7"/>
            <p:cNvPicPr/>
            <p:nvPr/>
          </p:nvPicPr>
          <p:blipFill>
            <a:blip r:embed="rId5" cstate="print"/>
            <a:stretch>
              <a:fillRect/>
            </a:stretch>
          </p:blipFill>
          <p:spPr>
            <a:xfrm>
              <a:off x="2858484" y="1848648"/>
              <a:ext cx="63741" cy="74375"/>
            </a:xfrm>
            <a:prstGeom prst="rect">
              <a:avLst/>
            </a:prstGeom>
          </p:spPr>
        </p:pic>
      </p:grpSp>
      <p:sp>
        <p:nvSpPr>
          <p:cNvPr id="8" name="object 8"/>
          <p:cNvSpPr txBox="1"/>
          <p:nvPr/>
        </p:nvSpPr>
        <p:spPr>
          <a:xfrm>
            <a:off x="2571526" y="1095026"/>
            <a:ext cx="642620" cy="269240"/>
          </a:xfrm>
          <a:prstGeom prst="rect">
            <a:avLst/>
          </a:prstGeom>
          <a:ln w="5270">
            <a:solidFill>
              <a:srgbClr val="231F20"/>
            </a:solidFill>
          </a:ln>
        </p:spPr>
        <p:txBody>
          <a:bodyPr vert="horz" wrap="square" lIns="0" tIns="51435" rIns="0" bIns="0" rtlCol="0">
            <a:spAutoFit/>
          </a:bodyPr>
          <a:lstStyle/>
          <a:p>
            <a:pPr marL="213995" marR="14604" indent="-171450">
              <a:lnSpc>
                <a:spcPts val="740"/>
              </a:lnSpc>
              <a:spcBef>
                <a:spcPts val="405"/>
              </a:spcBef>
            </a:pPr>
            <a:r>
              <a:rPr sz="650" spc="5" dirty="0">
                <a:solidFill>
                  <a:srgbClr val="231F20"/>
                </a:solidFill>
                <a:latin typeface="Arial"/>
                <a:cs typeface="Arial"/>
              </a:rPr>
              <a:t>Implementation  of</a:t>
            </a:r>
            <a:r>
              <a:rPr sz="650" spc="-15" dirty="0">
                <a:solidFill>
                  <a:srgbClr val="231F20"/>
                </a:solidFill>
                <a:latin typeface="Arial"/>
                <a:cs typeface="Arial"/>
              </a:rPr>
              <a:t> </a:t>
            </a:r>
            <a:r>
              <a:rPr sz="650" spc="5" dirty="0">
                <a:solidFill>
                  <a:srgbClr val="231F20"/>
                </a:solidFill>
                <a:latin typeface="Arial"/>
                <a:cs typeface="Arial"/>
              </a:rPr>
              <a:t>doit</a:t>
            </a:r>
            <a:endParaRPr sz="650">
              <a:latin typeface="Arial"/>
              <a:cs typeface="Arial"/>
            </a:endParaRPr>
          </a:p>
        </p:txBody>
      </p:sp>
      <p:sp>
        <p:nvSpPr>
          <p:cNvPr id="9" name="object 9"/>
          <p:cNvSpPr txBox="1"/>
          <p:nvPr/>
        </p:nvSpPr>
        <p:spPr>
          <a:xfrm>
            <a:off x="440163" y="1975724"/>
            <a:ext cx="3867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 </a:t>
            </a:r>
            <a:r>
              <a:rPr sz="650" spc="10" dirty="0">
                <a:solidFill>
                  <a:srgbClr val="231F20"/>
                </a:solidFill>
                <a:latin typeface="Arial"/>
                <a:cs typeface="Arial"/>
              </a:rPr>
              <a:t>OS</a:t>
            </a:r>
            <a:endParaRPr sz="650">
              <a:latin typeface="Arial"/>
              <a:cs typeface="Arial"/>
            </a:endParaRPr>
          </a:p>
        </p:txBody>
      </p:sp>
      <p:sp>
        <p:nvSpPr>
          <p:cNvPr id="10" name="object 10"/>
          <p:cNvSpPr txBox="1"/>
          <p:nvPr/>
        </p:nvSpPr>
        <p:spPr>
          <a:xfrm>
            <a:off x="2389299" y="1969095"/>
            <a:ext cx="4191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 </a:t>
            </a:r>
            <a:r>
              <a:rPr sz="650" spc="10" dirty="0">
                <a:solidFill>
                  <a:srgbClr val="231F20"/>
                </a:solidFill>
                <a:latin typeface="Arial"/>
                <a:cs typeface="Arial"/>
              </a:rPr>
              <a:t>OS</a:t>
            </a:r>
            <a:endParaRPr sz="650">
              <a:latin typeface="Arial"/>
              <a:cs typeface="Arial"/>
            </a:endParaRPr>
          </a:p>
        </p:txBody>
      </p:sp>
      <p:sp>
        <p:nvSpPr>
          <p:cNvPr id="11" name="object 11"/>
          <p:cNvSpPr txBox="1"/>
          <p:nvPr/>
        </p:nvSpPr>
        <p:spPr>
          <a:xfrm>
            <a:off x="666531" y="690883"/>
            <a:ext cx="5835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 machine</a:t>
            </a:r>
            <a:endParaRPr sz="650">
              <a:latin typeface="Arial"/>
              <a:cs typeface="Arial"/>
            </a:endParaRPr>
          </a:p>
        </p:txBody>
      </p:sp>
      <p:sp>
        <p:nvSpPr>
          <p:cNvPr id="12" name="object 12"/>
          <p:cNvSpPr txBox="1"/>
          <p:nvPr/>
        </p:nvSpPr>
        <p:spPr>
          <a:xfrm>
            <a:off x="2618587" y="684254"/>
            <a:ext cx="6159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 machine</a:t>
            </a:r>
            <a:endParaRPr sz="650">
              <a:latin typeface="Arial"/>
              <a:cs typeface="Arial"/>
            </a:endParaRPr>
          </a:p>
        </p:txBody>
      </p:sp>
      <p:sp>
        <p:nvSpPr>
          <p:cNvPr id="13" name="object 13"/>
          <p:cNvSpPr txBox="1"/>
          <p:nvPr/>
        </p:nvSpPr>
        <p:spPr>
          <a:xfrm>
            <a:off x="606771" y="989683"/>
            <a:ext cx="56007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 process</a:t>
            </a:r>
            <a:endParaRPr sz="650">
              <a:latin typeface="Arial"/>
              <a:cs typeface="Arial"/>
            </a:endParaRPr>
          </a:p>
        </p:txBody>
      </p:sp>
      <p:sp>
        <p:nvSpPr>
          <p:cNvPr id="14" name="object 14"/>
          <p:cNvSpPr txBox="1"/>
          <p:nvPr/>
        </p:nvSpPr>
        <p:spPr>
          <a:xfrm>
            <a:off x="2543890" y="953181"/>
            <a:ext cx="59245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 process</a:t>
            </a:r>
            <a:endParaRPr sz="650">
              <a:latin typeface="Arial"/>
              <a:cs typeface="Arial"/>
            </a:endParaRPr>
          </a:p>
        </p:txBody>
      </p:sp>
      <p:sp>
        <p:nvSpPr>
          <p:cNvPr id="15" name="object 15"/>
          <p:cNvSpPr txBox="1"/>
          <p:nvPr/>
        </p:nvSpPr>
        <p:spPr>
          <a:xfrm>
            <a:off x="1547988" y="1064380"/>
            <a:ext cx="574675" cy="220979"/>
          </a:xfrm>
          <a:prstGeom prst="rect">
            <a:avLst/>
          </a:prstGeom>
        </p:spPr>
        <p:txBody>
          <a:bodyPr vert="horz" wrap="square" lIns="0" tIns="21590" rIns="0" bIns="0" rtlCol="0">
            <a:spAutoFit/>
          </a:bodyPr>
          <a:lstStyle/>
          <a:p>
            <a:pPr marL="102235" marR="5080" indent="-90170">
              <a:lnSpc>
                <a:spcPts val="740"/>
              </a:lnSpc>
              <a:spcBef>
                <a:spcPts val="170"/>
              </a:spcBef>
            </a:pPr>
            <a:r>
              <a:rPr sz="650" spc="5" dirty="0">
                <a:solidFill>
                  <a:srgbClr val="231F20"/>
                </a:solidFill>
                <a:latin typeface="Arial"/>
                <a:cs typeface="Arial"/>
              </a:rPr>
              <a:t>1.</a:t>
            </a:r>
            <a:r>
              <a:rPr sz="650" spc="-30" dirty="0">
                <a:solidFill>
                  <a:srgbClr val="231F20"/>
                </a:solidFill>
                <a:latin typeface="Arial"/>
                <a:cs typeface="Arial"/>
              </a:rPr>
              <a:t> </a:t>
            </a:r>
            <a:r>
              <a:rPr sz="650" spc="5" dirty="0">
                <a:solidFill>
                  <a:srgbClr val="231F20"/>
                </a:solidFill>
                <a:latin typeface="Arial"/>
                <a:cs typeface="Arial"/>
              </a:rPr>
              <a:t>Client</a:t>
            </a:r>
            <a:r>
              <a:rPr sz="650" dirty="0">
                <a:solidFill>
                  <a:srgbClr val="231F20"/>
                </a:solidFill>
                <a:latin typeface="Arial"/>
                <a:cs typeface="Arial"/>
              </a:rPr>
              <a:t> </a:t>
            </a:r>
            <a:r>
              <a:rPr sz="650" spc="5" dirty="0">
                <a:solidFill>
                  <a:srgbClr val="231F20"/>
                </a:solidFill>
                <a:latin typeface="Arial"/>
                <a:cs typeface="Arial"/>
              </a:rPr>
              <a:t>call</a:t>
            </a:r>
            <a:r>
              <a:rPr sz="650" dirty="0">
                <a:solidFill>
                  <a:srgbClr val="231F20"/>
                </a:solidFill>
                <a:latin typeface="Arial"/>
                <a:cs typeface="Arial"/>
              </a:rPr>
              <a:t> to  </a:t>
            </a:r>
            <a:r>
              <a:rPr sz="650" spc="5" dirty="0">
                <a:solidFill>
                  <a:srgbClr val="231F20"/>
                </a:solidFill>
                <a:latin typeface="Arial"/>
                <a:cs typeface="Arial"/>
              </a:rPr>
              <a:t>procedure</a:t>
            </a:r>
            <a:endParaRPr sz="650">
              <a:latin typeface="Arial"/>
              <a:cs typeface="Arial"/>
            </a:endParaRPr>
          </a:p>
        </p:txBody>
      </p:sp>
      <p:sp>
        <p:nvSpPr>
          <p:cNvPr id="16" name="object 16"/>
          <p:cNvSpPr txBox="1"/>
          <p:nvPr/>
        </p:nvSpPr>
        <p:spPr>
          <a:xfrm>
            <a:off x="1547988" y="1661985"/>
            <a:ext cx="532765" cy="220979"/>
          </a:xfrm>
          <a:prstGeom prst="rect">
            <a:avLst/>
          </a:prstGeom>
        </p:spPr>
        <p:txBody>
          <a:bodyPr vert="horz" wrap="square" lIns="0" tIns="21590" rIns="0" bIns="0" rtlCol="0">
            <a:spAutoFit/>
          </a:bodyPr>
          <a:lstStyle/>
          <a:p>
            <a:pPr marL="102235" marR="5080" indent="-90170">
              <a:lnSpc>
                <a:spcPts val="740"/>
              </a:lnSpc>
              <a:spcBef>
                <a:spcPts val="170"/>
              </a:spcBef>
            </a:pPr>
            <a:r>
              <a:rPr sz="650" spc="5" dirty="0">
                <a:solidFill>
                  <a:srgbClr val="231F20"/>
                </a:solidFill>
                <a:latin typeface="Arial"/>
                <a:cs typeface="Arial"/>
              </a:rPr>
              <a:t>2.</a:t>
            </a:r>
            <a:r>
              <a:rPr sz="650" spc="-30" dirty="0">
                <a:solidFill>
                  <a:srgbClr val="231F20"/>
                </a:solidFill>
                <a:latin typeface="Arial"/>
                <a:cs typeface="Arial"/>
              </a:rPr>
              <a:t> </a:t>
            </a:r>
            <a:r>
              <a:rPr sz="650" spc="5" dirty="0">
                <a:solidFill>
                  <a:srgbClr val="231F20"/>
                </a:solidFill>
                <a:latin typeface="Arial"/>
                <a:cs typeface="Arial"/>
              </a:rPr>
              <a:t>Stub</a:t>
            </a:r>
            <a:r>
              <a:rPr sz="650" dirty="0">
                <a:solidFill>
                  <a:srgbClr val="231F20"/>
                </a:solidFill>
                <a:latin typeface="Arial"/>
                <a:cs typeface="Arial"/>
              </a:rPr>
              <a:t> </a:t>
            </a:r>
            <a:r>
              <a:rPr sz="650" spc="5" dirty="0">
                <a:solidFill>
                  <a:srgbClr val="231F20"/>
                </a:solidFill>
                <a:latin typeface="Arial"/>
                <a:cs typeface="Arial"/>
              </a:rPr>
              <a:t>builds  message</a:t>
            </a:r>
            <a:endParaRPr sz="650">
              <a:latin typeface="Arial"/>
              <a:cs typeface="Arial"/>
            </a:endParaRPr>
          </a:p>
        </p:txBody>
      </p:sp>
      <p:sp>
        <p:nvSpPr>
          <p:cNvPr id="17" name="object 17"/>
          <p:cNvSpPr txBox="1"/>
          <p:nvPr/>
        </p:nvSpPr>
        <p:spPr>
          <a:xfrm>
            <a:off x="3486636" y="1603850"/>
            <a:ext cx="626110" cy="220979"/>
          </a:xfrm>
          <a:prstGeom prst="rect">
            <a:avLst/>
          </a:prstGeom>
        </p:spPr>
        <p:txBody>
          <a:bodyPr vert="horz" wrap="square" lIns="0" tIns="21590" rIns="0" bIns="0" rtlCol="0">
            <a:spAutoFit/>
          </a:bodyPr>
          <a:lstStyle/>
          <a:p>
            <a:pPr marL="102235" marR="5080" indent="-90170">
              <a:lnSpc>
                <a:spcPts val="740"/>
              </a:lnSpc>
              <a:spcBef>
                <a:spcPts val="170"/>
              </a:spcBef>
            </a:pPr>
            <a:r>
              <a:rPr sz="650" spc="5" dirty="0">
                <a:solidFill>
                  <a:srgbClr val="231F20"/>
                </a:solidFill>
                <a:latin typeface="Arial"/>
                <a:cs typeface="Arial"/>
              </a:rPr>
              <a:t>5.</a:t>
            </a:r>
            <a:r>
              <a:rPr sz="650" spc="-30" dirty="0">
                <a:solidFill>
                  <a:srgbClr val="231F20"/>
                </a:solidFill>
                <a:latin typeface="Arial"/>
                <a:cs typeface="Arial"/>
              </a:rPr>
              <a:t> </a:t>
            </a:r>
            <a:r>
              <a:rPr sz="650" spc="5" dirty="0">
                <a:solidFill>
                  <a:srgbClr val="231F20"/>
                </a:solidFill>
                <a:latin typeface="Arial"/>
                <a:cs typeface="Arial"/>
              </a:rPr>
              <a:t>Stub</a:t>
            </a:r>
            <a:r>
              <a:rPr sz="650" dirty="0">
                <a:solidFill>
                  <a:srgbClr val="231F20"/>
                </a:solidFill>
                <a:latin typeface="Arial"/>
                <a:cs typeface="Arial"/>
              </a:rPr>
              <a:t> </a:t>
            </a:r>
            <a:r>
              <a:rPr sz="650" spc="5" dirty="0">
                <a:solidFill>
                  <a:srgbClr val="231F20"/>
                </a:solidFill>
                <a:latin typeface="Arial"/>
                <a:cs typeface="Arial"/>
              </a:rPr>
              <a:t>unpacks  message</a:t>
            </a:r>
            <a:endParaRPr sz="650">
              <a:latin typeface="Arial"/>
              <a:cs typeface="Arial"/>
            </a:endParaRPr>
          </a:p>
        </p:txBody>
      </p:sp>
      <p:sp>
        <p:nvSpPr>
          <p:cNvPr id="18" name="object 18"/>
          <p:cNvSpPr txBox="1"/>
          <p:nvPr/>
        </p:nvSpPr>
        <p:spPr>
          <a:xfrm>
            <a:off x="3475242" y="1124139"/>
            <a:ext cx="748030" cy="220979"/>
          </a:xfrm>
          <a:prstGeom prst="rect">
            <a:avLst/>
          </a:prstGeom>
        </p:spPr>
        <p:txBody>
          <a:bodyPr vert="horz" wrap="square" lIns="0" tIns="21590" rIns="0" bIns="0" rtlCol="0">
            <a:spAutoFit/>
          </a:bodyPr>
          <a:lstStyle/>
          <a:p>
            <a:pPr marL="102235" marR="5080" indent="-90170">
              <a:lnSpc>
                <a:spcPts val="740"/>
              </a:lnSpc>
              <a:spcBef>
                <a:spcPts val="170"/>
              </a:spcBef>
            </a:pPr>
            <a:r>
              <a:rPr sz="650" spc="5" dirty="0">
                <a:solidFill>
                  <a:srgbClr val="231F20"/>
                </a:solidFill>
                <a:latin typeface="Arial"/>
                <a:cs typeface="Arial"/>
              </a:rPr>
              <a:t>6. Stub  makes </a:t>
            </a:r>
            <a:r>
              <a:rPr sz="650" spc="10" dirty="0">
                <a:solidFill>
                  <a:srgbClr val="231F20"/>
                </a:solidFill>
                <a:latin typeface="Arial"/>
                <a:cs typeface="Arial"/>
              </a:rPr>
              <a:t> </a:t>
            </a:r>
            <a:r>
              <a:rPr sz="650" spc="5" dirty="0">
                <a:solidFill>
                  <a:srgbClr val="231F20"/>
                </a:solidFill>
                <a:latin typeface="Arial"/>
                <a:cs typeface="Arial"/>
              </a:rPr>
              <a:t>local</a:t>
            </a:r>
            <a:r>
              <a:rPr sz="650" spc="-30" dirty="0">
                <a:solidFill>
                  <a:srgbClr val="231F20"/>
                </a:solidFill>
                <a:latin typeface="Arial"/>
                <a:cs typeface="Arial"/>
              </a:rPr>
              <a:t> </a:t>
            </a:r>
            <a:r>
              <a:rPr sz="650" spc="5" dirty="0">
                <a:solidFill>
                  <a:srgbClr val="231F20"/>
                </a:solidFill>
                <a:latin typeface="Arial"/>
                <a:cs typeface="Arial"/>
              </a:rPr>
              <a:t>call</a:t>
            </a:r>
            <a:r>
              <a:rPr sz="650" spc="-30" dirty="0">
                <a:solidFill>
                  <a:srgbClr val="231F20"/>
                </a:solidFill>
                <a:latin typeface="Arial"/>
                <a:cs typeface="Arial"/>
              </a:rPr>
              <a:t> </a:t>
            </a:r>
            <a:r>
              <a:rPr sz="650" spc="5" dirty="0">
                <a:solidFill>
                  <a:srgbClr val="231F20"/>
                </a:solidFill>
                <a:latin typeface="Arial"/>
                <a:cs typeface="Arial"/>
              </a:rPr>
              <a:t>to</a:t>
            </a:r>
            <a:r>
              <a:rPr sz="650" spc="-30" dirty="0">
                <a:solidFill>
                  <a:srgbClr val="231F20"/>
                </a:solidFill>
                <a:latin typeface="Arial"/>
                <a:cs typeface="Arial"/>
              </a:rPr>
              <a:t> </a:t>
            </a:r>
            <a:r>
              <a:rPr sz="650" spc="5" dirty="0">
                <a:solidFill>
                  <a:srgbClr val="231F20"/>
                </a:solidFill>
                <a:latin typeface="Arial"/>
                <a:cs typeface="Arial"/>
              </a:rPr>
              <a:t>“doit”</a:t>
            </a:r>
            <a:endParaRPr sz="650">
              <a:latin typeface="Arial"/>
              <a:cs typeface="Arial"/>
            </a:endParaRPr>
          </a:p>
        </p:txBody>
      </p:sp>
      <p:sp>
        <p:nvSpPr>
          <p:cNvPr id="19" name="object 19"/>
          <p:cNvSpPr txBox="1"/>
          <p:nvPr/>
        </p:nvSpPr>
        <p:spPr>
          <a:xfrm>
            <a:off x="1637639" y="2319336"/>
            <a:ext cx="822960" cy="220979"/>
          </a:xfrm>
          <a:prstGeom prst="rect">
            <a:avLst/>
          </a:prstGeom>
        </p:spPr>
        <p:txBody>
          <a:bodyPr vert="horz" wrap="square" lIns="0" tIns="21590" rIns="0" bIns="0" rtlCol="0">
            <a:spAutoFit/>
          </a:bodyPr>
          <a:lstStyle/>
          <a:p>
            <a:pPr marL="102235" marR="5080" indent="-90170">
              <a:lnSpc>
                <a:spcPts val="740"/>
              </a:lnSpc>
              <a:spcBef>
                <a:spcPts val="170"/>
              </a:spcBef>
            </a:pPr>
            <a:r>
              <a:rPr sz="650" spc="5" dirty="0">
                <a:solidFill>
                  <a:srgbClr val="231F20"/>
                </a:solidFill>
                <a:latin typeface="Arial"/>
                <a:cs typeface="Arial"/>
              </a:rPr>
              <a:t>3. Message is sent </a:t>
            </a:r>
            <a:r>
              <a:rPr sz="650" spc="10" dirty="0">
                <a:solidFill>
                  <a:srgbClr val="231F20"/>
                </a:solidFill>
                <a:latin typeface="Arial"/>
                <a:cs typeface="Arial"/>
              </a:rPr>
              <a:t> </a:t>
            </a:r>
            <a:r>
              <a:rPr sz="650" spc="5" dirty="0">
                <a:solidFill>
                  <a:srgbClr val="231F20"/>
                </a:solidFill>
                <a:latin typeface="Arial"/>
                <a:cs typeface="Arial"/>
              </a:rPr>
              <a:t>across</a:t>
            </a:r>
            <a:r>
              <a:rPr sz="650" spc="-35" dirty="0">
                <a:solidFill>
                  <a:srgbClr val="231F20"/>
                </a:solidFill>
                <a:latin typeface="Arial"/>
                <a:cs typeface="Arial"/>
              </a:rPr>
              <a:t> </a:t>
            </a:r>
            <a:r>
              <a:rPr sz="650" spc="5" dirty="0">
                <a:solidFill>
                  <a:srgbClr val="231F20"/>
                </a:solidFill>
                <a:latin typeface="Arial"/>
                <a:cs typeface="Arial"/>
              </a:rPr>
              <a:t>the</a:t>
            </a:r>
            <a:r>
              <a:rPr sz="650" spc="-35" dirty="0">
                <a:solidFill>
                  <a:srgbClr val="231F20"/>
                </a:solidFill>
                <a:latin typeface="Arial"/>
                <a:cs typeface="Arial"/>
              </a:rPr>
              <a:t> </a:t>
            </a:r>
            <a:r>
              <a:rPr sz="650" spc="5" dirty="0">
                <a:solidFill>
                  <a:srgbClr val="231F20"/>
                </a:solidFill>
                <a:latin typeface="Arial"/>
                <a:cs typeface="Arial"/>
              </a:rPr>
              <a:t>network</a:t>
            </a:r>
            <a:endParaRPr sz="650">
              <a:latin typeface="Arial"/>
              <a:cs typeface="Arial"/>
            </a:endParaRPr>
          </a:p>
        </p:txBody>
      </p:sp>
      <p:sp>
        <p:nvSpPr>
          <p:cNvPr id="20" name="object 20"/>
          <p:cNvSpPr txBox="1"/>
          <p:nvPr/>
        </p:nvSpPr>
        <p:spPr>
          <a:xfrm>
            <a:off x="3490183" y="1915953"/>
            <a:ext cx="710565" cy="220979"/>
          </a:xfrm>
          <a:prstGeom prst="rect">
            <a:avLst/>
          </a:prstGeom>
        </p:spPr>
        <p:txBody>
          <a:bodyPr vert="horz" wrap="square" lIns="0" tIns="21590" rIns="0" bIns="0" rtlCol="0">
            <a:spAutoFit/>
          </a:bodyPr>
          <a:lstStyle/>
          <a:p>
            <a:pPr marL="102235" marR="5080" indent="-90170">
              <a:lnSpc>
                <a:spcPts val="740"/>
              </a:lnSpc>
              <a:spcBef>
                <a:spcPts val="170"/>
              </a:spcBef>
            </a:pPr>
            <a:r>
              <a:rPr sz="650" spc="5" dirty="0">
                <a:solidFill>
                  <a:srgbClr val="231F20"/>
                </a:solidFill>
                <a:latin typeface="Arial"/>
                <a:cs typeface="Arial"/>
              </a:rPr>
              <a:t>4. Server </a:t>
            </a:r>
            <a:r>
              <a:rPr sz="650" spc="10" dirty="0">
                <a:solidFill>
                  <a:srgbClr val="231F20"/>
                </a:solidFill>
                <a:latin typeface="Arial"/>
                <a:cs typeface="Arial"/>
              </a:rPr>
              <a:t>OS </a:t>
            </a:r>
            <a:r>
              <a:rPr sz="650" spc="15" dirty="0">
                <a:solidFill>
                  <a:srgbClr val="231F20"/>
                </a:solidFill>
                <a:latin typeface="Arial"/>
                <a:cs typeface="Arial"/>
              </a:rPr>
              <a:t> </a:t>
            </a:r>
            <a:r>
              <a:rPr sz="650" spc="5" dirty="0">
                <a:solidFill>
                  <a:srgbClr val="231F20"/>
                </a:solidFill>
                <a:latin typeface="Arial"/>
                <a:cs typeface="Arial"/>
              </a:rPr>
              <a:t>hands</a:t>
            </a:r>
            <a:r>
              <a:rPr sz="650" dirty="0">
                <a:solidFill>
                  <a:srgbClr val="231F20"/>
                </a:solidFill>
                <a:latin typeface="Arial"/>
                <a:cs typeface="Arial"/>
              </a:rPr>
              <a:t> </a:t>
            </a:r>
            <a:r>
              <a:rPr sz="650" spc="5" dirty="0">
                <a:solidFill>
                  <a:srgbClr val="231F20"/>
                </a:solidFill>
                <a:latin typeface="Arial"/>
                <a:cs typeface="Arial"/>
              </a:rPr>
              <a:t>message</a:t>
            </a:r>
            <a:endParaRPr sz="650">
              <a:latin typeface="Arial"/>
              <a:cs typeface="Arial"/>
            </a:endParaRPr>
          </a:p>
        </p:txBody>
      </p:sp>
      <p:sp>
        <p:nvSpPr>
          <p:cNvPr id="21" name="object 21"/>
          <p:cNvSpPr txBox="1"/>
          <p:nvPr/>
        </p:nvSpPr>
        <p:spPr>
          <a:xfrm>
            <a:off x="3579823" y="2104369"/>
            <a:ext cx="5365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to</a:t>
            </a:r>
            <a:r>
              <a:rPr sz="650" spc="-35" dirty="0">
                <a:solidFill>
                  <a:srgbClr val="231F20"/>
                </a:solidFill>
                <a:latin typeface="Arial"/>
                <a:cs typeface="Arial"/>
              </a:rPr>
              <a:t> </a:t>
            </a:r>
            <a:r>
              <a:rPr sz="650" spc="5" dirty="0">
                <a:solidFill>
                  <a:srgbClr val="231F20"/>
                </a:solidFill>
                <a:latin typeface="Arial"/>
                <a:cs typeface="Arial"/>
              </a:rPr>
              <a:t>server</a:t>
            </a:r>
            <a:r>
              <a:rPr sz="650" spc="-30" dirty="0">
                <a:solidFill>
                  <a:srgbClr val="231F20"/>
                </a:solidFill>
                <a:latin typeface="Arial"/>
                <a:cs typeface="Arial"/>
              </a:rPr>
              <a:t> </a:t>
            </a:r>
            <a:r>
              <a:rPr sz="650" spc="5" dirty="0">
                <a:solidFill>
                  <a:srgbClr val="231F20"/>
                </a:solidFill>
                <a:latin typeface="Arial"/>
                <a:cs typeface="Arial"/>
              </a:rPr>
              <a:t>stub</a:t>
            </a:r>
            <a:endParaRPr sz="650">
              <a:latin typeface="Arial"/>
              <a:cs typeface="Arial"/>
            </a:endParaRPr>
          </a:p>
        </p:txBody>
      </p:sp>
      <p:sp>
        <p:nvSpPr>
          <p:cNvPr id="22" name="object 22"/>
          <p:cNvSpPr txBox="1"/>
          <p:nvPr/>
        </p:nvSpPr>
        <p:spPr>
          <a:xfrm>
            <a:off x="1592812" y="1314961"/>
            <a:ext cx="725805" cy="264795"/>
          </a:xfrm>
          <a:prstGeom prst="rect">
            <a:avLst/>
          </a:prstGeom>
        </p:spPr>
        <p:txBody>
          <a:bodyPr vert="horz" wrap="square" lIns="0" tIns="12065" rIns="0" bIns="0" rtlCol="0">
            <a:spAutoFit/>
          </a:bodyPr>
          <a:lstStyle/>
          <a:p>
            <a:pPr marL="12700" marR="5080" indent="268605">
              <a:lnSpc>
                <a:spcPct val="120700"/>
              </a:lnSpc>
              <a:spcBef>
                <a:spcPts val="95"/>
              </a:spcBef>
            </a:pPr>
            <a:r>
              <a:rPr sz="650" spc="5" dirty="0">
                <a:solidFill>
                  <a:srgbClr val="231F20"/>
                </a:solidFill>
                <a:latin typeface="Arial"/>
                <a:cs typeface="Arial"/>
              </a:rPr>
              <a:t>Server stub  Client</a:t>
            </a:r>
            <a:r>
              <a:rPr sz="650" spc="-10" dirty="0">
                <a:solidFill>
                  <a:srgbClr val="231F20"/>
                </a:solidFill>
                <a:latin typeface="Arial"/>
                <a:cs typeface="Arial"/>
              </a:rPr>
              <a:t> </a:t>
            </a:r>
            <a:r>
              <a:rPr sz="650" spc="5" dirty="0">
                <a:solidFill>
                  <a:srgbClr val="231F20"/>
                </a:solidFill>
                <a:latin typeface="Arial"/>
                <a:cs typeface="Arial"/>
              </a:rPr>
              <a:t>stub</a:t>
            </a:r>
            <a:endParaRPr sz="650">
              <a:latin typeface="Arial"/>
              <a:cs typeface="Arial"/>
            </a:endParaRPr>
          </a:p>
        </p:txBody>
      </p:sp>
      <p:grpSp>
        <p:nvGrpSpPr>
          <p:cNvPr id="23" name="object 23"/>
          <p:cNvGrpSpPr/>
          <p:nvPr/>
        </p:nvGrpSpPr>
        <p:grpSpPr>
          <a:xfrm>
            <a:off x="394905" y="833901"/>
            <a:ext cx="3283585" cy="1463040"/>
            <a:chOff x="394905" y="833901"/>
            <a:chExt cx="3283585" cy="1463040"/>
          </a:xfrm>
        </p:grpSpPr>
        <p:sp>
          <p:nvSpPr>
            <p:cNvPr id="24" name="object 24"/>
            <p:cNvSpPr/>
            <p:nvPr/>
          </p:nvSpPr>
          <p:spPr>
            <a:xfrm>
              <a:off x="401345" y="839298"/>
              <a:ext cx="3046095" cy="1279525"/>
            </a:xfrm>
            <a:custGeom>
              <a:avLst/>
              <a:gdLst/>
              <a:ahLst/>
              <a:cxnLst/>
              <a:rect l="l" t="t" r="r" b="b"/>
              <a:pathLst>
                <a:path w="3046095" h="1279525">
                  <a:moveTo>
                    <a:pt x="0" y="1279521"/>
                  </a:moveTo>
                  <a:lnTo>
                    <a:pt x="0" y="6630"/>
                  </a:lnTo>
                  <a:lnTo>
                    <a:pt x="1103168" y="6630"/>
                  </a:lnTo>
                  <a:lnTo>
                    <a:pt x="1103168" y="1279521"/>
                  </a:lnTo>
                  <a:lnTo>
                    <a:pt x="0" y="1279521"/>
                  </a:lnTo>
                  <a:close/>
                </a:path>
                <a:path w="3046095" h="1279525">
                  <a:moveTo>
                    <a:pt x="1942495" y="1272891"/>
                  </a:moveTo>
                  <a:lnTo>
                    <a:pt x="1942495" y="0"/>
                  </a:lnTo>
                  <a:lnTo>
                    <a:pt x="3045663" y="0"/>
                  </a:lnTo>
                  <a:lnTo>
                    <a:pt x="3045663" y="1272891"/>
                  </a:lnTo>
                  <a:lnTo>
                    <a:pt x="1942495" y="1272891"/>
                  </a:lnTo>
                  <a:close/>
                </a:path>
              </a:pathLst>
            </a:custGeom>
            <a:ln w="10541">
              <a:solidFill>
                <a:srgbClr val="231F20"/>
              </a:solidFill>
            </a:ln>
          </p:spPr>
          <p:txBody>
            <a:bodyPr wrap="square" lIns="0" tIns="0" rIns="0" bIns="0" rtlCol="0"/>
            <a:lstStyle/>
            <a:p>
              <a:endParaRPr/>
            </a:p>
          </p:txBody>
        </p:sp>
        <p:sp>
          <p:nvSpPr>
            <p:cNvPr id="25" name="object 25"/>
            <p:cNvSpPr/>
            <p:nvPr/>
          </p:nvSpPr>
          <p:spPr>
            <a:xfrm>
              <a:off x="397763" y="957716"/>
              <a:ext cx="3045460" cy="995680"/>
            </a:xfrm>
            <a:custGeom>
              <a:avLst/>
              <a:gdLst/>
              <a:ahLst/>
              <a:cxnLst/>
              <a:rect l="l" t="t" r="r" b="b"/>
              <a:pathLst>
                <a:path w="3045460" h="995680">
                  <a:moveTo>
                    <a:pt x="173300" y="995515"/>
                  </a:moveTo>
                  <a:lnTo>
                    <a:pt x="937033" y="995515"/>
                  </a:lnTo>
                  <a:lnTo>
                    <a:pt x="937033" y="4892"/>
                  </a:lnTo>
                  <a:lnTo>
                    <a:pt x="173300" y="4892"/>
                  </a:lnTo>
                  <a:lnTo>
                    <a:pt x="173300" y="995515"/>
                  </a:lnTo>
                  <a:close/>
                </a:path>
                <a:path w="3045460" h="995680">
                  <a:moveTo>
                    <a:pt x="2115798" y="995515"/>
                  </a:moveTo>
                  <a:lnTo>
                    <a:pt x="2879522" y="995515"/>
                  </a:lnTo>
                  <a:lnTo>
                    <a:pt x="2879522" y="0"/>
                  </a:lnTo>
                  <a:lnTo>
                    <a:pt x="2115798" y="0"/>
                  </a:lnTo>
                  <a:lnTo>
                    <a:pt x="2115798" y="995515"/>
                  </a:lnTo>
                  <a:close/>
                </a:path>
                <a:path w="3045460" h="995680">
                  <a:moveTo>
                    <a:pt x="0" y="995515"/>
                  </a:moveTo>
                  <a:lnTo>
                    <a:pt x="1103166" y="995515"/>
                  </a:lnTo>
                </a:path>
                <a:path w="3045460" h="995680">
                  <a:moveTo>
                    <a:pt x="1942198" y="995515"/>
                  </a:moveTo>
                  <a:lnTo>
                    <a:pt x="3045377" y="995515"/>
                  </a:lnTo>
                </a:path>
              </a:pathLst>
            </a:custGeom>
            <a:ln w="5270">
              <a:solidFill>
                <a:srgbClr val="231F20"/>
              </a:solidFill>
            </a:ln>
          </p:spPr>
          <p:txBody>
            <a:bodyPr wrap="square" lIns="0" tIns="0" rIns="0" bIns="0" rtlCol="0"/>
            <a:lstStyle/>
            <a:p>
              <a:endParaRPr/>
            </a:p>
          </p:txBody>
        </p:sp>
        <p:sp>
          <p:nvSpPr>
            <p:cNvPr id="26" name="object 26"/>
            <p:cNvSpPr/>
            <p:nvPr/>
          </p:nvSpPr>
          <p:spPr>
            <a:xfrm>
              <a:off x="571063" y="1466879"/>
              <a:ext cx="2706370" cy="5080"/>
            </a:xfrm>
            <a:custGeom>
              <a:avLst/>
              <a:gdLst/>
              <a:ahLst/>
              <a:cxnLst/>
              <a:rect l="l" t="t" r="r" b="b"/>
              <a:pathLst>
                <a:path w="2706370" h="5080">
                  <a:moveTo>
                    <a:pt x="0" y="4892"/>
                  </a:moveTo>
                  <a:lnTo>
                    <a:pt x="153734" y="4892"/>
                  </a:lnTo>
                </a:path>
                <a:path w="2706370" h="5080">
                  <a:moveTo>
                    <a:pt x="631064" y="4892"/>
                  </a:moveTo>
                  <a:lnTo>
                    <a:pt x="763732" y="4892"/>
                  </a:lnTo>
                </a:path>
                <a:path w="2706370" h="5080">
                  <a:moveTo>
                    <a:pt x="1942497" y="0"/>
                  </a:moveTo>
                  <a:lnTo>
                    <a:pt x="2085580" y="0"/>
                  </a:lnTo>
                </a:path>
                <a:path w="2706370" h="5080">
                  <a:moveTo>
                    <a:pt x="2562919" y="0"/>
                  </a:moveTo>
                  <a:lnTo>
                    <a:pt x="2706224" y="0"/>
                  </a:lnTo>
                </a:path>
              </a:pathLst>
            </a:custGeom>
            <a:ln w="5270">
              <a:solidFill>
                <a:srgbClr val="231F20"/>
              </a:solidFill>
            </a:ln>
          </p:spPr>
          <p:txBody>
            <a:bodyPr wrap="square" lIns="0" tIns="0" rIns="0" bIns="0" rtlCol="0"/>
            <a:lstStyle/>
            <a:p>
              <a:endParaRPr/>
            </a:p>
          </p:txBody>
        </p:sp>
        <p:sp>
          <p:nvSpPr>
            <p:cNvPr id="27" name="object 27"/>
            <p:cNvSpPr/>
            <p:nvPr/>
          </p:nvSpPr>
          <p:spPr>
            <a:xfrm>
              <a:off x="1340618" y="1534909"/>
              <a:ext cx="205740" cy="64135"/>
            </a:xfrm>
            <a:custGeom>
              <a:avLst/>
              <a:gdLst/>
              <a:ahLst/>
              <a:cxnLst/>
              <a:rect l="l" t="t" r="r" b="b"/>
              <a:pathLst>
                <a:path w="205740" h="64134">
                  <a:moveTo>
                    <a:pt x="205142" y="0"/>
                  </a:moveTo>
                  <a:lnTo>
                    <a:pt x="0" y="63673"/>
                  </a:lnTo>
                </a:path>
              </a:pathLst>
            </a:custGeom>
            <a:ln w="5270">
              <a:solidFill>
                <a:srgbClr val="231F20"/>
              </a:solidFill>
            </a:ln>
          </p:spPr>
          <p:txBody>
            <a:bodyPr wrap="square" lIns="0" tIns="0" rIns="0" bIns="0" rtlCol="0"/>
            <a:lstStyle/>
            <a:p>
              <a:endParaRPr/>
            </a:p>
          </p:txBody>
        </p:sp>
        <p:sp>
          <p:nvSpPr>
            <p:cNvPr id="28" name="object 28"/>
            <p:cNvSpPr/>
            <p:nvPr/>
          </p:nvSpPr>
          <p:spPr>
            <a:xfrm>
              <a:off x="541190" y="2112189"/>
              <a:ext cx="3129280" cy="176530"/>
            </a:xfrm>
            <a:custGeom>
              <a:avLst/>
              <a:gdLst/>
              <a:ahLst/>
              <a:cxnLst/>
              <a:rect l="l" t="t" r="r" b="b"/>
              <a:pathLst>
                <a:path w="3129279" h="176530">
                  <a:moveTo>
                    <a:pt x="0" y="176347"/>
                  </a:moveTo>
                  <a:lnTo>
                    <a:pt x="3129182" y="176347"/>
                  </a:lnTo>
                </a:path>
                <a:path w="3129279" h="176530">
                  <a:moveTo>
                    <a:pt x="379916" y="6630"/>
                  </a:moveTo>
                  <a:lnTo>
                    <a:pt x="379916" y="176347"/>
                  </a:lnTo>
                </a:path>
                <a:path w="3129279" h="176530">
                  <a:moveTo>
                    <a:pt x="2396667" y="0"/>
                  </a:moveTo>
                  <a:lnTo>
                    <a:pt x="2396667" y="169722"/>
                  </a:lnTo>
                </a:path>
              </a:pathLst>
            </a:custGeom>
            <a:ln w="15812">
              <a:solidFill>
                <a:srgbClr val="231F20"/>
              </a:solidFill>
            </a:ln>
          </p:spPr>
          <p:txBody>
            <a:bodyPr wrap="square" lIns="0" tIns="0" rIns="0" bIns="0" rtlCol="0"/>
            <a:lstStyle/>
            <a:p>
              <a:endParaRPr/>
            </a:p>
          </p:txBody>
        </p:sp>
        <p:sp>
          <p:nvSpPr>
            <p:cNvPr id="29" name="object 29"/>
            <p:cNvSpPr/>
            <p:nvPr/>
          </p:nvSpPr>
          <p:spPr>
            <a:xfrm>
              <a:off x="724798" y="1430332"/>
              <a:ext cx="1785620" cy="170815"/>
            </a:xfrm>
            <a:custGeom>
              <a:avLst/>
              <a:gdLst/>
              <a:ahLst/>
              <a:cxnLst/>
              <a:rect l="l" t="t" r="r" b="b"/>
              <a:pathLst>
                <a:path w="1785620" h="170815">
                  <a:moveTo>
                    <a:pt x="1525449" y="36777"/>
                  </a:moveTo>
                  <a:lnTo>
                    <a:pt x="1785464" y="170302"/>
                  </a:lnTo>
                </a:path>
                <a:path w="1785620" h="170815">
                  <a:moveTo>
                    <a:pt x="0" y="84853"/>
                  </a:moveTo>
                  <a:lnTo>
                    <a:pt x="0" y="0"/>
                  </a:lnTo>
                  <a:lnTo>
                    <a:pt x="477330" y="0"/>
                  </a:lnTo>
                  <a:lnTo>
                    <a:pt x="477330" y="84853"/>
                  </a:lnTo>
                  <a:lnTo>
                    <a:pt x="0" y="84853"/>
                  </a:lnTo>
                  <a:close/>
                </a:path>
              </a:pathLst>
            </a:custGeom>
            <a:ln w="5270">
              <a:solidFill>
                <a:srgbClr val="231F20"/>
              </a:solidFill>
            </a:ln>
          </p:spPr>
          <p:txBody>
            <a:bodyPr wrap="square" lIns="0" tIns="0" rIns="0" bIns="0" rtlCol="0"/>
            <a:lstStyle/>
            <a:p>
              <a:endParaRPr/>
            </a:p>
          </p:txBody>
        </p:sp>
      </p:grpSp>
      <p:sp>
        <p:nvSpPr>
          <p:cNvPr id="30" name="object 30"/>
          <p:cNvSpPr txBox="1"/>
          <p:nvPr/>
        </p:nvSpPr>
        <p:spPr>
          <a:xfrm>
            <a:off x="768890" y="1404392"/>
            <a:ext cx="405130" cy="114300"/>
          </a:xfrm>
          <a:prstGeom prst="rect">
            <a:avLst/>
          </a:prstGeom>
        </p:spPr>
        <p:txBody>
          <a:bodyPr vert="horz" wrap="square" lIns="0" tIns="16510" rIns="0" bIns="0" rtlCol="0">
            <a:spAutoFit/>
          </a:bodyPr>
          <a:lstStyle/>
          <a:p>
            <a:pPr marL="12700">
              <a:lnSpc>
                <a:spcPct val="100000"/>
              </a:lnSpc>
              <a:spcBef>
                <a:spcPts val="130"/>
              </a:spcBef>
            </a:pPr>
            <a:r>
              <a:rPr sz="550" spc="10" dirty="0">
                <a:solidFill>
                  <a:srgbClr val="231F20"/>
                </a:solidFill>
                <a:latin typeface="Arial"/>
                <a:cs typeface="Arial"/>
              </a:rPr>
              <a:t>r</a:t>
            </a:r>
            <a:r>
              <a:rPr sz="550" spc="-25" dirty="0">
                <a:solidFill>
                  <a:srgbClr val="231F20"/>
                </a:solidFill>
                <a:latin typeface="Arial"/>
                <a:cs typeface="Arial"/>
              </a:rPr>
              <a:t> </a:t>
            </a:r>
            <a:r>
              <a:rPr sz="550" spc="15" dirty="0">
                <a:solidFill>
                  <a:srgbClr val="231F20"/>
                </a:solidFill>
                <a:latin typeface="Arial"/>
                <a:cs typeface="Arial"/>
              </a:rPr>
              <a:t>=</a:t>
            </a:r>
            <a:r>
              <a:rPr sz="550" spc="-20" dirty="0">
                <a:solidFill>
                  <a:srgbClr val="231F20"/>
                </a:solidFill>
                <a:latin typeface="Arial"/>
                <a:cs typeface="Arial"/>
              </a:rPr>
              <a:t> </a:t>
            </a:r>
            <a:r>
              <a:rPr sz="550" spc="10" dirty="0">
                <a:solidFill>
                  <a:srgbClr val="231F20"/>
                </a:solidFill>
                <a:latin typeface="Arial"/>
                <a:cs typeface="Arial"/>
              </a:rPr>
              <a:t>doit(a,b)</a:t>
            </a:r>
            <a:endParaRPr sz="550">
              <a:latin typeface="Arial"/>
              <a:cs typeface="Arial"/>
            </a:endParaRPr>
          </a:p>
        </p:txBody>
      </p:sp>
      <p:sp>
        <p:nvSpPr>
          <p:cNvPr id="31" name="object 31"/>
          <p:cNvSpPr/>
          <p:nvPr/>
        </p:nvSpPr>
        <p:spPr>
          <a:xfrm>
            <a:off x="2656645" y="1428319"/>
            <a:ext cx="477520" cy="85090"/>
          </a:xfrm>
          <a:custGeom>
            <a:avLst/>
            <a:gdLst/>
            <a:ahLst/>
            <a:cxnLst/>
            <a:rect l="l" t="t" r="r" b="b"/>
            <a:pathLst>
              <a:path w="477519" h="85090">
                <a:moveTo>
                  <a:pt x="0" y="84849"/>
                </a:moveTo>
                <a:lnTo>
                  <a:pt x="0" y="0"/>
                </a:lnTo>
                <a:lnTo>
                  <a:pt x="477338" y="0"/>
                </a:lnTo>
                <a:lnTo>
                  <a:pt x="477338" y="84849"/>
                </a:lnTo>
                <a:lnTo>
                  <a:pt x="0" y="84849"/>
                </a:lnTo>
                <a:close/>
              </a:path>
            </a:pathLst>
          </a:custGeom>
          <a:ln w="5270">
            <a:solidFill>
              <a:srgbClr val="231F20"/>
            </a:solidFill>
          </a:ln>
        </p:spPr>
        <p:txBody>
          <a:bodyPr wrap="square" lIns="0" tIns="0" rIns="0" bIns="0" rtlCol="0"/>
          <a:lstStyle/>
          <a:p>
            <a:endParaRPr/>
          </a:p>
        </p:txBody>
      </p:sp>
      <p:sp>
        <p:nvSpPr>
          <p:cNvPr id="32" name="object 32"/>
          <p:cNvSpPr txBox="1"/>
          <p:nvPr/>
        </p:nvSpPr>
        <p:spPr>
          <a:xfrm>
            <a:off x="2700739" y="1402374"/>
            <a:ext cx="405130" cy="114300"/>
          </a:xfrm>
          <a:prstGeom prst="rect">
            <a:avLst/>
          </a:prstGeom>
        </p:spPr>
        <p:txBody>
          <a:bodyPr vert="horz" wrap="square" lIns="0" tIns="16510" rIns="0" bIns="0" rtlCol="0">
            <a:spAutoFit/>
          </a:bodyPr>
          <a:lstStyle/>
          <a:p>
            <a:pPr marL="12700">
              <a:lnSpc>
                <a:spcPct val="100000"/>
              </a:lnSpc>
              <a:spcBef>
                <a:spcPts val="130"/>
              </a:spcBef>
            </a:pPr>
            <a:r>
              <a:rPr sz="550" spc="10" dirty="0">
                <a:solidFill>
                  <a:srgbClr val="231F20"/>
                </a:solidFill>
                <a:latin typeface="Arial"/>
                <a:cs typeface="Arial"/>
              </a:rPr>
              <a:t>r</a:t>
            </a:r>
            <a:r>
              <a:rPr sz="550" spc="-25" dirty="0">
                <a:solidFill>
                  <a:srgbClr val="231F20"/>
                </a:solidFill>
                <a:latin typeface="Arial"/>
                <a:cs typeface="Arial"/>
              </a:rPr>
              <a:t> </a:t>
            </a:r>
            <a:r>
              <a:rPr sz="550" spc="15" dirty="0">
                <a:solidFill>
                  <a:srgbClr val="231F20"/>
                </a:solidFill>
                <a:latin typeface="Arial"/>
                <a:cs typeface="Arial"/>
              </a:rPr>
              <a:t>=</a:t>
            </a:r>
            <a:r>
              <a:rPr sz="550" spc="-20" dirty="0">
                <a:solidFill>
                  <a:srgbClr val="231F20"/>
                </a:solidFill>
                <a:latin typeface="Arial"/>
                <a:cs typeface="Arial"/>
              </a:rPr>
              <a:t> </a:t>
            </a:r>
            <a:r>
              <a:rPr sz="550" spc="10" dirty="0">
                <a:solidFill>
                  <a:srgbClr val="231F20"/>
                </a:solidFill>
                <a:latin typeface="Arial"/>
                <a:cs typeface="Arial"/>
              </a:rPr>
              <a:t>doit(a,b)</a:t>
            </a:r>
            <a:endParaRPr sz="550">
              <a:latin typeface="Arial"/>
              <a:cs typeface="Arial"/>
            </a:endParaRPr>
          </a:p>
        </p:txBody>
      </p:sp>
      <p:graphicFrame>
        <p:nvGraphicFramePr>
          <p:cNvPr id="33" name="object 33"/>
          <p:cNvGraphicFramePr>
            <a:graphicFrameLocks noGrp="1"/>
          </p:cNvGraphicFramePr>
          <p:nvPr/>
        </p:nvGraphicFramePr>
        <p:xfrm>
          <a:off x="721417" y="1575208"/>
          <a:ext cx="478155" cy="270510"/>
        </p:xfrm>
        <a:graphic>
          <a:graphicData uri="http://schemas.openxmlformats.org/drawingml/2006/table">
            <a:tbl>
              <a:tblPr firstRow="1" bandRow="1">
                <a:tableStyleId>{2D5ABB26-0587-4C30-8999-92F81FD0307C}</a:tableStyleId>
              </a:tblPr>
              <a:tblGrid>
                <a:gridCol w="478155">
                  <a:extLst>
                    <a:ext uri="{9D8B030D-6E8A-4147-A177-3AD203B41FA5}">
                      <a16:colId xmlns:a16="http://schemas.microsoft.com/office/drawing/2014/main" val="20000"/>
                    </a:ext>
                  </a:extLst>
                </a:gridCol>
              </a:tblGrid>
              <a:tr h="91440">
                <a:tc>
                  <a:txBody>
                    <a:bodyPr/>
                    <a:lstStyle/>
                    <a:p>
                      <a:pPr marR="635" algn="ctr">
                        <a:lnSpc>
                          <a:spcPts val="620"/>
                        </a:lnSpc>
                      </a:pPr>
                      <a:r>
                        <a:rPr sz="550" spc="10" dirty="0">
                          <a:solidFill>
                            <a:srgbClr val="231F20"/>
                          </a:solidFill>
                          <a:latin typeface="Arial"/>
                          <a:cs typeface="Arial"/>
                        </a:rPr>
                        <a:t>proc:</a:t>
                      </a:r>
                      <a:r>
                        <a:rPr sz="550" spc="-30" dirty="0">
                          <a:solidFill>
                            <a:srgbClr val="231F20"/>
                          </a:solidFill>
                          <a:latin typeface="Arial"/>
                          <a:cs typeface="Arial"/>
                        </a:rPr>
                        <a:t> </a:t>
                      </a:r>
                      <a:r>
                        <a:rPr sz="550" spc="10" dirty="0">
                          <a:solidFill>
                            <a:srgbClr val="231F20"/>
                          </a:solidFill>
                          <a:latin typeface="Arial"/>
                          <a:cs typeface="Arial"/>
                        </a:rPr>
                        <a:t>“doit”</a:t>
                      </a:r>
                      <a:endParaRPr sz="5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89535">
                <a:tc>
                  <a:txBody>
                    <a:bodyPr/>
                    <a:lstStyle/>
                    <a:p>
                      <a:pPr algn="ctr">
                        <a:lnSpc>
                          <a:spcPts val="605"/>
                        </a:lnSpc>
                      </a:pPr>
                      <a:r>
                        <a:rPr sz="550" spc="10" dirty="0">
                          <a:solidFill>
                            <a:srgbClr val="231F20"/>
                          </a:solidFill>
                          <a:latin typeface="Arial"/>
                          <a:cs typeface="Arial"/>
                        </a:rPr>
                        <a:t>type1:</a:t>
                      </a:r>
                      <a:r>
                        <a:rPr sz="550" spc="130" dirty="0">
                          <a:solidFill>
                            <a:srgbClr val="231F20"/>
                          </a:solidFill>
                          <a:latin typeface="Arial"/>
                          <a:cs typeface="Arial"/>
                        </a:rPr>
                        <a:t> </a:t>
                      </a:r>
                      <a:r>
                        <a:rPr sz="550" spc="10" dirty="0">
                          <a:solidFill>
                            <a:srgbClr val="231F20"/>
                          </a:solidFill>
                          <a:latin typeface="Arial"/>
                          <a:cs typeface="Arial"/>
                        </a:rPr>
                        <a:t>val(a)</a:t>
                      </a:r>
                      <a:endParaRPr sz="5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89535">
                <a:tc>
                  <a:txBody>
                    <a:bodyPr/>
                    <a:lstStyle/>
                    <a:p>
                      <a:pPr algn="ctr">
                        <a:lnSpc>
                          <a:spcPts val="590"/>
                        </a:lnSpc>
                        <a:spcBef>
                          <a:spcPts val="15"/>
                        </a:spcBef>
                      </a:pPr>
                      <a:r>
                        <a:rPr sz="550" spc="10" dirty="0">
                          <a:solidFill>
                            <a:srgbClr val="231F20"/>
                          </a:solidFill>
                          <a:latin typeface="Arial"/>
                          <a:cs typeface="Arial"/>
                        </a:rPr>
                        <a:t>type2:</a:t>
                      </a:r>
                      <a:r>
                        <a:rPr sz="550" spc="130" dirty="0">
                          <a:solidFill>
                            <a:srgbClr val="231F20"/>
                          </a:solidFill>
                          <a:latin typeface="Arial"/>
                          <a:cs typeface="Arial"/>
                        </a:rPr>
                        <a:t> </a:t>
                      </a:r>
                      <a:r>
                        <a:rPr sz="550" spc="10" dirty="0">
                          <a:solidFill>
                            <a:srgbClr val="231F20"/>
                          </a:solidFill>
                          <a:latin typeface="Arial"/>
                          <a:cs typeface="Arial"/>
                        </a:rPr>
                        <a:t>val(b)</a:t>
                      </a:r>
                      <a:endParaRPr sz="550">
                        <a:latin typeface="Arial"/>
                        <a:cs typeface="Arial"/>
                      </a:endParaRPr>
                    </a:p>
                  </a:txBody>
                  <a:tcPr marL="0" marR="0" marT="190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bl>
          </a:graphicData>
        </a:graphic>
      </p:graphicFrame>
      <p:sp>
        <p:nvSpPr>
          <p:cNvPr id="34" name="object 34"/>
          <p:cNvSpPr/>
          <p:nvPr/>
        </p:nvSpPr>
        <p:spPr>
          <a:xfrm>
            <a:off x="1676521" y="1915605"/>
            <a:ext cx="478155" cy="271145"/>
          </a:xfrm>
          <a:custGeom>
            <a:avLst/>
            <a:gdLst/>
            <a:ahLst/>
            <a:cxnLst/>
            <a:rect l="l" t="t" r="r" b="b"/>
            <a:pathLst>
              <a:path w="478155" h="271144">
                <a:moveTo>
                  <a:pt x="0" y="270808"/>
                </a:moveTo>
                <a:lnTo>
                  <a:pt x="478075" y="270808"/>
                </a:lnTo>
                <a:lnTo>
                  <a:pt x="478075" y="0"/>
                </a:lnTo>
                <a:lnTo>
                  <a:pt x="0" y="0"/>
                </a:lnTo>
                <a:lnTo>
                  <a:pt x="0" y="270808"/>
                </a:lnTo>
                <a:close/>
              </a:path>
              <a:path w="478155" h="271144">
                <a:moveTo>
                  <a:pt x="737" y="91525"/>
                </a:moveTo>
                <a:lnTo>
                  <a:pt x="478076" y="91525"/>
                </a:lnTo>
              </a:path>
              <a:path w="478155" h="271144">
                <a:moveTo>
                  <a:pt x="737" y="181168"/>
                </a:moveTo>
                <a:lnTo>
                  <a:pt x="478076" y="181168"/>
                </a:lnTo>
              </a:path>
            </a:pathLst>
          </a:custGeom>
          <a:ln w="5270">
            <a:solidFill>
              <a:srgbClr val="231F20"/>
            </a:solidFill>
          </a:ln>
        </p:spPr>
        <p:txBody>
          <a:bodyPr wrap="square" lIns="0" tIns="0" rIns="0" bIns="0" rtlCol="0"/>
          <a:lstStyle/>
          <a:p>
            <a:endParaRPr/>
          </a:p>
        </p:txBody>
      </p:sp>
      <p:sp>
        <p:nvSpPr>
          <p:cNvPr id="35" name="object 35"/>
          <p:cNvSpPr txBox="1"/>
          <p:nvPr/>
        </p:nvSpPr>
        <p:spPr>
          <a:xfrm>
            <a:off x="1722103" y="1893972"/>
            <a:ext cx="378460" cy="114300"/>
          </a:xfrm>
          <a:prstGeom prst="rect">
            <a:avLst/>
          </a:prstGeom>
        </p:spPr>
        <p:txBody>
          <a:bodyPr vert="horz" wrap="square" lIns="0" tIns="16510" rIns="0" bIns="0" rtlCol="0">
            <a:spAutoFit/>
          </a:bodyPr>
          <a:lstStyle/>
          <a:p>
            <a:pPr marL="12700">
              <a:lnSpc>
                <a:spcPct val="100000"/>
              </a:lnSpc>
              <a:spcBef>
                <a:spcPts val="130"/>
              </a:spcBef>
            </a:pPr>
            <a:r>
              <a:rPr sz="550" spc="10" dirty="0">
                <a:solidFill>
                  <a:srgbClr val="231F20"/>
                </a:solidFill>
                <a:latin typeface="Arial"/>
                <a:cs typeface="Arial"/>
              </a:rPr>
              <a:t>proc:</a:t>
            </a:r>
            <a:r>
              <a:rPr sz="550" spc="-40" dirty="0">
                <a:solidFill>
                  <a:srgbClr val="231F20"/>
                </a:solidFill>
                <a:latin typeface="Arial"/>
                <a:cs typeface="Arial"/>
              </a:rPr>
              <a:t> </a:t>
            </a:r>
            <a:r>
              <a:rPr sz="550" spc="10" dirty="0">
                <a:solidFill>
                  <a:srgbClr val="231F20"/>
                </a:solidFill>
                <a:latin typeface="Arial"/>
                <a:cs typeface="Arial"/>
              </a:rPr>
              <a:t>“doit”</a:t>
            </a:r>
            <a:endParaRPr sz="550">
              <a:latin typeface="Arial"/>
              <a:cs typeface="Arial"/>
            </a:endParaRPr>
          </a:p>
        </p:txBody>
      </p:sp>
      <p:sp>
        <p:nvSpPr>
          <p:cNvPr id="36" name="object 36"/>
          <p:cNvSpPr txBox="1"/>
          <p:nvPr/>
        </p:nvSpPr>
        <p:spPr>
          <a:xfrm>
            <a:off x="1686650" y="1973446"/>
            <a:ext cx="452120" cy="222885"/>
          </a:xfrm>
          <a:prstGeom prst="rect">
            <a:avLst/>
          </a:prstGeom>
        </p:spPr>
        <p:txBody>
          <a:bodyPr vert="horz" wrap="square" lIns="0" tIns="11430" rIns="0" bIns="0" rtlCol="0">
            <a:spAutoFit/>
          </a:bodyPr>
          <a:lstStyle/>
          <a:p>
            <a:pPr marL="12700" marR="5080">
              <a:lnSpc>
                <a:spcPct val="117800"/>
              </a:lnSpc>
              <a:spcBef>
                <a:spcPts val="90"/>
              </a:spcBef>
            </a:pPr>
            <a:r>
              <a:rPr sz="550" spc="10" dirty="0">
                <a:solidFill>
                  <a:srgbClr val="231F20"/>
                </a:solidFill>
                <a:latin typeface="Arial"/>
                <a:cs typeface="Arial"/>
              </a:rPr>
              <a:t>type1:</a:t>
            </a:r>
            <a:r>
              <a:rPr sz="550" spc="110" dirty="0">
                <a:solidFill>
                  <a:srgbClr val="231F20"/>
                </a:solidFill>
                <a:latin typeface="Arial"/>
                <a:cs typeface="Arial"/>
              </a:rPr>
              <a:t> </a:t>
            </a:r>
            <a:r>
              <a:rPr sz="550" spc="10" dirty="0">
                <a:solidFill>
                  <a:srgbClr val="231F20"/>
                </a:solidFill>
                <a:latin typeface="Arial"/>
                <a:cs typeface="Arial"/>
              </a:rPr>
              <a:t>val(a) </a:t>
            </a:r>
            <a:r>
              <a:rPr sz="550" spc="-145" dirty="0">
                <a:solidFill>
                  <a:srgbClr val="231F20"/>
                </a:solidFill>
                <a:latin typeface="Arial"/>
                <a:cs typeface="Arial"/>
              </a:rPr>
              <a:t> </a:t>
            </a:r>
            <a:r>
              <a:rPr sz="550" spc="10" dirty="0">
                <a:solidFill>
                  <a:srgbClr val="231F20"/>
                </a:solidFill>
                <a:latin typeface="Arial"/>
                <a:cs typeface="Arial"/>
              </a:rPr>
              <a:t>type2:</a:t>
            </a:r>
            <a:r>
              <a:rPr sz="550" spc="110" dirty="0">
                <a:solidFill>
                  <a:srgbClr val="231F20"/>
                </a:solidFill>
                <a:latin typeface="Arial"/>
                <a:cs typeface="Arial"/>
              </a:rPr>
              <a:t> </a:t>
            </a:r>
            <a:r>
              <a:rPr sz="550" spc="10" dirty="0">
                <a:solidFill>
                  <a:srgbClr val="231F20"/>
                </a:solidFill>
                <a:latin typeface="Arial"/>
                <a:cs typeface="Arial"/>
              </a:rPr>
              <a:t>val(b)</a:t>
            </a:r>
            <a:endParaRPr sz="550">
              <a:latin typeface="Arial"/>
              <a:cs typeface="Arial"/>
            </a:endParaRPr>
          </a:p>
        </p:txBody>
      </p:sp>
      <p:graphicFrame>
        <p:nvGraphicFramePr>
          <p:cNvPr id="37" name="object 37"/>
          <p:cNvGraphicFramePr>
            <a:graphicFrameLocks noGrp="1"/>
          </p:cNvGraphicFramePr>
          <p:nvPr/>
        </p:nvGraphicFramePr>
        <p:xfrm>
          <a:off x="2653640" y="1573569"/>
          <a:ext cx="478155" cy="270510"/>
        </p:xfrm>
        <a:graphic>
          <a:graphicData uri="http://schemas.openxmlformats.org/drawingml/2006/table">
            <a:tbl>
              <a:tblPr firstRow="1" bandRow="1">
                <a:tableStyleId>{2D5ABB26-0587-4C30-8999-92F81FD0307C}</a:tableStyleId>
              </a:tblPr>
              <a:tblGrid>
                <a:gridCol w="478155">
                  <a:extLst>
                    <a:ext uri="{9D8B030D-6E8A-4147-A177-3AD203B41FA5}">
                      <a16:colId xmlns:a16="http://schemas.microsoft.com/office/drawing/2014/main" val="20000"/>
                    </a:ext>
                  </a:extLst>
                </a:gridCol>
              </a:tblGrid>
              <a:tr h="91440">
                <a:tc>
                  <a:txBody>
                    <a:bodyPr/>
                    <a:lstStyle/>
                    <a:p>
                      <a:pPr marR="635" algn="ctr">
                        <a:lnSpc>
                          <a:spcPts val="620"/>
                        </a:lnSpc>
                      </a:pPr>
                      <a:r>
                        <a:rPr sz="550" spc="10" dirty="0">
                          <a:solidFill>
                            <a:srgbClr val="231F20"/>
                          </a:solidFill>
                          <a:latin typeface="Arial"/>
                          <a:cs typeface="Arial"/>
                        </a:rPr>
                        <a:t>proc:</a:t>
                      </a:r>
                      <a:r>
                        <a:rPr sz="550" spc="-30" dirty="0">
                          <a:solidFill>
                            <a:srgbClr val="231F20"/>
                          </a:solidFill>
                          <a:latin typeface="Arial"/>
                          <a:cs typeface="Arial"/>
                        </a:rPr>
                        <a:t> </a:t>
                      </a:r>
                      <a:r>
                        <a:rPr sz="550" spc="10" dirty="0">
                          <a:solidFill>
                            <a:srgbClr val="231F20"/>
                          </a:solidFill>
                          <a:latin typeface="Arial"/>
                          <a:cs typeface="Arial"/>
                        </a:rPr>
                        <a:t>“doit”</a:t>
                      </a:r>
                      <a:endParaRPr sz="5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89535">
                <a:tc>
                  <a:txBody>
                    <a:bodyPr/>
                    <a:lstStyle/>
                    <a:p>
                      <a:pPr algn="ctr">
                        <a:lnSpc>
                          <a:spcPts val="605"/>
                        </a:lnSpc>
                      </a:pPr>
                      <a:r>
                        <a:rPr sz="550" spc="10" dirty="0">
                          <a:solidFill>
                            <a:srgbClr val="231F20"/>
                          </a:solidFill>
                          <a:latin typeface="Arial"/>
                          <a:cs typeface="Arial"/>
                        </a:rPr>
                        <a:t>type1:</a:t>
                      </a:r>
                      <a:r>
                        <a:rPr sz="550" spc="130" dirty="0">
                          <a:solidFill>
                            <a:srgbClr val="231F20"/>
                          </a:solidFill>
                          <a:latin typeface="Arial"/>
                          <a:cs typeface="Arial"/>
                        </a:rPr>
                        <a:t> </a:t>
                      </a:r>
                      <a:r>
                        <a:rPr sz="550" spc="10" dirty="0">
                          <a:solidFill>
                            <a:srgbClr val="231F20"/>
                          </a:solidFill>
                          <a:latin typeface="Arial"/>
                          <a:cs typeface="Arial"/>
                        </a:rPr>
                        <a:t>val(a)</a:t>
                      </a:r>
                      <a:endParaRPr sz="5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89535">
                <a:tc>
                  <a:txBody>
                    <a:bodyPr/>
                    <a:lstStyle/>
                    <a:p>
                      <a:pPr algn="ctr">
                        <a:lnSpc>
                          <a:spcPts val="590"/>
                        </a:lnSpc>
                        <a:spcBef>
                          <a:spcPts val="15"/>
                        </a:spcBef>
                      </a:pPr>
                      <a:r>
                        <a:rPr sz="550" spc="10" dirty="0">
                          <a:solidFill>
                            <a:srgbClr val="231F20"/>
                          </a:solidFill>
                          <a:latin typeface="Arial"/>
                          <a:cs typeface="Arial"/>
                        </a:rPr>
                        <a:t>type2:</a:t>
                      </a:r>
                      <a:r>
                        <a:rPr sz="550" spc="130" dirty="0">
                          <a:solidFill>
                            <a:srgbClr val="231F20"/>
                          </a:solidFill>
                          <a:latin typeface="Arial"/>
                          <a:cs typeface="Arial"/>
                        </a:rPr>
                        <a:t> </a:t>
                      </a:r>
                      <a:r>
                        <a:rPr sz="550" spc="10" dirty="0">
                          <a:solidFill>
                            <a:srgbClr val="231F20"/>
                          </a:solidFill>
                          <a:latin typeface="Arial"/>
                          <a:cs typeface="Arial"/>
                        </a:rPr>
                        <a:t>val(b)</a:t>
                      </a:r>
                      <a:endParaRPr sz="550">
                        <a:latin typeface="Arial"/>
                        <a:cs typeface="Arial"/>
                      </a:endParaRPr>
                    </a:p>
                  </a:txBody>
                  <a:tcPr marL="0" marR="0" marT="190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bl>
          </a:graphicData>
        </a:graphic>
      </p:graphicFrame>
      <p:sp>
        <p:nvSpPr>
          <p:cNvPr id="38" name="object 38"/>
          <p:cNvSpPr txBox="1"/>
          <p:nvPr/>
        </p:nvSpPr>
        <p:spPr>
          <a:xfrm>
            <a:off x="470700" y="2631514"/>
            <a:ext cx="1660525" cy="868680"/>
          </a:xfrm>
          <a:prstGeom prst="rect">
            <a:avLst/>
          </a:prstGeom>
        </p:spPr>
        <p:txBody>
          <a:bodyPr vert="horz" wrap="square" lIns="0" tIns="12065" rIns="0" bIns="0" rtlCol="0">
            <a:spAutoFit/>
          </a:bodyPr>
          <a:lstStyle/>
          <a:p>
            <a:pPr marL="165735" indent="-153670">
              <a:lnSpc>
                <a:spcPts val="955"/>
              </a:lnSpc>
              <a:spcBef>
                <a:spcPts val="95"/>
              </a:spcBef>
              <a:buClr>
                <a:srgbClr val="3333B2"/>
              </a:buClr>
              <a:buAutoNum type="arabicPeriod"/>
              <a:tabLst>
                <a:tab pos="166370" algn="l"/>
              </a:tabLst>
            </a:pPr>
            <a:r>
              <a:rPr sz="800" spc="-5" dirty="0">
                <a:latin typeface="Arial"/>
                <a:cs typeface="Arial"/>
              </a:rPr>
              <a:t>Client procedure calls client </a:t>
            </a:r>
            <a:r>
              <a:rPr sz="800" spc="-10" dirty="0">
                <a:latin typeface="Arial"/>
                <a:cs typeface="Arial"/>
              </a:rPr>
              <a:t>stub.</a:t>
            </a:r>
            <a:endParaRPr sz="800">
              <a:latin typeface="Arial"/>
              <a:cs typeface="Arial"/>
            </a:endParaRPr>
          </a:p>
          <a:p>
            <a:pPr marL="166370" marR="53340" indent="-154305">
              <a:lnSpc>
                <a:spcPts val="950"/>
              </a:lnSpc>
              <a:spcBef>
                <a:spcPts val="35"/>
              </a:spcBef>
              <a:buClr>
                <a:srgbClr val="3333B2"/>
              </a:buClr>
              <a:buAutoNum type="arabicPeriod"/>
              <a:tabLst>
                <a:tab pos="166370" algn="l"/>
              </a:tabLst>
            </a:pPr>
            <a:r>
              <a:rPr sz="800" spc="-5" dirty="0">
                <a:latin typeface="Arial"/>
                <a:cs typeface="Arial"/>
              </a:rPr>
              <a:t>Stub builds message; calls local </a:t>
            </a:r>
            <a:r>
              <a:rPr sz="800" spc="-210" dirty="0">
                <a:latin typeface="Arial"/>
                <a:cs typeface="Arial"/>
              </a:rPr>
              <a:t> </a:t>
            </a:r>
            <a:r>
              <a:rPr sz="800" spc="-10" dirty="0">
                <a:latin typeface="Arial"/>
                <a:cs typeface="Arial"/>
              </a:rPr>
              <a:t>OS.</a:t>
            </a:r>
            <a:endParaRPr sz="800">
              <a:latin typeface="Arial"/>
              <a:cs typeface="Arial"/>
            </a:endParaRPr>
          </a:p>
          <a:p>
            <a:pPr marL="165735" indent="-153670">
              <a:lnSpc>
                <a:spcPts val="905"/>
              </a:lnSpc>
              <a:buClr>
                <a:srgbClr val="3333B2"/>
              </a:buClr>
              <a:buAutoNum type="arabicPeriod"/>
              <a:tabLst>
                <a:tab pos="166370" algn="l"/>
              </a:tabLst>
            </a:pPr>
            <a:r>
              <a:rPr sz="800" spc="-5" dirty="0">
                <a:latin typeface="Arial"/>
                <a:cs typeface="Arial"/>
              </a:rPr>
              <a:t>OS</a:t>
            </a:r>
            <a:r>
              <a:rPr sz="800" spc="-15" dirty="0">
                <a:latin typeface="Arial"/>
                <a:cs typeface="Arial"/>
              </a:rPr>
              <a:t> </a:t>
            </a:r>
            <a:r>
              <a:rPr sz="800" spc="-5" dirty="0">
                <a:latin typeface="Arial"/>
                <a:cs typeface="Arial"/>
              </a:rPr>
              <a:t>sends</a:t>
            </a:r>
            <a:r>
              <a:rPr sz="800" spc="-10" dirty="0">
                <a:latin typeface="Arial"/>
                <a:cs typeface="Arial"/>
              </a:rPr>
              <a:t> </a:t>
            </a:r>
            <a:r>
              <a:rPr sz="800" spc="-5" dirty="0">
                <a:latin typeface="Arial"/>
                <a:cs typeface="Arial"/>
              </a:rPr>
              <a:t>message</a:t>
            </a:r>
            <a:r>
              <a:rPr sz="800" spc="-10" dirty="0">
                <a:latin typeface="Arial"/>
                <a:cs typeface="Arial"/>
              </a:rPr>
              <a:t> </a:t>
            </a:r>
            <a:r>
              <a:rPr sz="800" spc="-5" dirty="0">
                <a:latin typeface="Arial"/>
                <a:cs typeface="Arial"/>
              </a:rPr>
              <a:t>to</a:t>
            </a:r>
            <a:r>
              <a:rPr sz="800" spc="-10" dirty="0">
                <a:latin typeface="Arial"/>
                <a:cs typeface="Arial"/>
              </a:rPr>
              <a:t> </a:t>
            </a:r>
            <a:r>
              <a:rPr sz="800" spc="-5" dirty="0">
                <a:latin typeface="Arial"/>
                <a:cs typeface="Arial"/>
              </a:rPr>
              <a:t>remote</a:t>
            </a:r>
            <a:endParaRPr sz="800">
              <a:latin typeface="Arial"/>
              <a:cs typeface="Arial"/>
            </a:endParaRPr>
          </a:p>
          <a:p>
            <a:pPr marL="166370">
              <a:lnSpc>
                <a:spcPts val="944"/>
              </a:lnSpc>
            </a:pPr>
            <a:r>
              <a:rPr sz="800" spc="-10" dirty="0">
                <a:latin typeface="Arial"/>
                <a:cs typeface="Arial"/>
              </a:rPr>
              <a:t>OS.</a:t>
            </a:r>
            <a:endParaRPr sz="800">
              <a:latin typeface="Arial"/>
              <a:cs typeface="Arial"/>
            </a:endParaRPr>
          </a:p>
          <a:p>
            <a:pPr marL="166370" marR="144145" indent="-154305">
              <a:lnSpc>
                <a:spcPts val="950"/>
              </a:lnSpc>
              <a:spcBef>
                <a:spcPts val="30"/>
              </a:spcBef>
              <a:buClr>
                <a:srgbClr val="3333B2"/>
              </a:buClr>
              <a:buAutoNum type="arabicPeriod" startAt="4"/>
              <a:tabLst>
                <a:tab pos="166370" algn="l"/>
              </a:tabLst>
            </a:pPr>
            <a:r>
              <a:rPr sz="800" spc="-5" dirty="0">
                <a:latin typeface="Arial"/>
                <a:cs typeface="Arial"/>
              </a:rPr>
              <a:t>Remote OS </a:t>
            </a:r>
            <a:r>
              <a:rPr sz="800" spc="-10" dirty="0">
                <a:latin typeface="Arial"/>
                <a:cs typeface="Arial"/>
              </a:rPr>
              <a:t>gives </a:t>
            </a:r>
            <a:r>
              <a:rPr sz="800" spc="-5" dirty="0">
                <a:latin typeface="Arial"/>
                <a:cs typeface="Arial"/>
              </a:rPr>
              <a:t>message to </a:t>
            </a:r>
            <a:r>
              <a:rPr sz="800" spc="-215" dirty="0">
                <a:latin typeface="Arial"/>
                <a:cs typeface="Arial"/>
              </a:rPr>
              <a:t> </a:t>
            </a:r>
            <a:r>
              <a:rPr sz="800" spc="-10" dirty="0">
                <a:latin typeface="Arial"/>
                <a:cs typeface="Arial"/>
              </a:rPr>
              <a:t>stub.</a:t>
            </a:r>
            <a:endParaRPr sz="800">
              <a:latin typeface="Arial"/>
              <a:cs typeface="Arial"/>
            </a:endParaRPr>
          </a:p>
        </p:txBody>
      </p:sp>
      <p:sp>
        <p:nvSpPr>
          <p:cNvPr id="39" name="object 39"/>
          <p:cNvSpPr txBox="1"/>
          <p:nvPr/>
        </p:nvSpPr>
        <p:spPr>
          <a:xfrm>
            <a:off x="2315845" y="2751707"/>
            <a:ext cx="1960245" cy="748030"/>
          </a:xfrm>
          <a:prstGeom prst="rect">
            <a:avLst/>
          </a:prstGeom>
        </p:spPr>
        <p:txBody>
          <a:bodyPr vert="horz" wrap="square" lIns="0" tIns="17145" rIns="0" bIns="0" rtlCol="0">
            <a:spAutoFit/>
          </a:bodyPr>
          <a:lstStyle/>
          <a:p>
            <a:pPr marL="222250" marR="5080" indent="-154305">
              <a:lnSpc>
                <a:spcPts val="950"/>
              </a:lnSpc>
              <a:spcBef>
                <a:spcPts val="135"/>
              </a:spcBef>
              <a:buClr>
                <a:srgbClr val="3333B2"/>
              </a:buClr>
              <a:buAutoNum type="arabicPeriod" startAt="6"/>
              <a:tabLst>
                <a:tab pos="222885" algn="l"/>
              </a:tabLst>
            </a:pPr>
            <a:r>
              <a:rPr sz="800" spc="-5" dirty="0">
                <a:latin typeface="Arial"/>
                <a:cs typeface="Arial"/>
              </a:rPr>
              <a:t>Server does local call; </a:t>
            </a:r>
            <a:r>
              <a:rPr sz="800" dirty="0">
                <a:latin typeface="Arial"/>
                <a:cs typeface="Arial"/>
              </a:rPr>
              <a:t>returns </a:t>
            </a:r>
            <a:r>
              <a:rPr sz="800" spc="-5" dirty="0">
                <a:latin typeface="Arial"/>
                <a:cs typeface="Arial"/>
              </a:rPr>
              <a:t>result to </a:t>
            </a:r>
            <a:r>
              <a:rPr sz="800" spc="-210" dirty="0">
                <a:latin typeface="Arial"/>
                <a:cs typeface="Arial"/>
              </a:rPr>
              <a:t> </a:t>
            </a:r>
            <a:r>
              <a:rPr sz="800" spc="-10" dirty="0">
                <a:latin typeface="Arial"/>
                <a:cs typeface="Arial"/>
              </a:rPr>
              <a:t>stub.</a:t>
            </a:r>
            <a:endParaRPr sz="800">
              <a:latin typeface="Arial"/>
              <a:cs typeface="Arial"/>
            </a:endParaRPr>
          </a:p>
          <a:p>
            <a:pPr marL="222250" indent="-154305">
              <a:lnSpc>
                <a:spcPts val="905"/>
              </a:lnSpc>
              <a:buClr>
                <a:srgbClr val="3333B2"/>
              </a:buClr>
              <a:buAutoNum type="arabicPeriod" startAt="6"/>
              <a:tabLst>
                <a:tab pos="222885" algn="l"/>
              </a:tabLst>
            </a:pPr>
            <a:r>
              <a:rPr sz="800" spc="-5" dirty="0">
                <a:latin typeface="Arial"/>
                <a:cs typeface="Arial"/>
              </a:rPr>
              <a:t>Stub</a:t>
            </a:r>
            <a:r>
              <a:rPr sz="800" spc="-15" dirty="0">
                <a:latin typeface="Arial"/>
                <a:cs typeface="Arial"/>
              </a:rPr>
              <a:t> </a:t>
            </a:r>
            <a:r>
              <a:rPr sz="800" spc="-5" dirty="0">
                <a:latin typeface="Arial"/>
                <a:cs typeface="Arial"/>
              </a:rPr>
              <a:t>builds</a:t>
            </a:r>
            <a:r>
              <a:rPr sz="800" spc="-10" dirty="0">
                <a:latin typeface="Arial"/>
                <a:cs typeface="Arial"/>
              </a:rPr>
              <a:t> </a:t>
            </a:r>
            <a:r>
              <a:rPr sz="800" spc="-5" dirty="0">
                <a:latin typeface="Arial"/>
                <a:cs typeface="Arial"/>
              </a:rPr>
              <a:t>message;</a:t>
            </a:r>
            <a:r>
              <a:rPr sz="800" spc="-10" dirty="0">
                <a:latin typeface="Arial"/>
                <a:cs typeface="Arial"/>
              </a:rPr>
              <a:t> </a:t>
            </a:r>
            <a:r>
              <a:rPr sz="800" spc="-5" dirty="0">
                <a:latin typeface="Arial"/>
                <a:cs typeface="Arial"/>
              </a:rPr>
              <a:t>calls</a:t>
            </a:r>
            <a:r>
              <a:rPr sz="800" spc="-15" dirty="0">
                <a:latin typeface="Arial"/>
                <a:cs typeface="Arial"/>
              </a:rPr>
              <a:t> </a:t>
            </a:r>
            <a:r>
              <a:rPr sz="800" spc="-10" dirty="0">
                <a:latin typeface="Arial"/>
                <a:cs typeface="Arial"/>
              </a:rPr>
              <a:t>OS.</a:t>
            </a:r>
            <a:endParaRPr sz="800">
              <a:latin typeface="Arial"/>
              <a:cs typeface="Arial"/>
            </a:endParaRPr>
          </a:p>
          <a:p>
            <a:pPr marL="222250" indent="-154305">
              <a:lnSpc>
                <a:spcPts val="944"/>
              </a:lnSpc>
              <a:buClr>
                <a:srgbClr val="3333B2"/>
              </a:buClr>
              <a:buAutoNum type="arabicPeriod" startAt="6"/>
              <a:tabLst>
                <a:tab pos="222885" algn="l"/>
              </a:tabLst>
            </a:pPr>
            <a:r>
              <a:rPr sz="800" spc="-5" dirty="0">
                <a:latin typeface="Arial"/>
                <a:cs typeface="Arial"/>
              </a:rPr>
              <a:t>OS</a:t>
            </a:r>
            <a:r>
              <a:rPr sz="800" spc="-10" dirty="0">
                <a:latin typeface="Arial"/>
                <a:cs typeface="Arial"/>
              </a:rPr>
              <a:t> </a:t>
            </a:r>
            <a:r>
              <a:rPr sz="800" spc="-5" dirty="0">
                <a:latin typeface="Arial"/>
                <a:cs typeface="Arial"/>
              </a:rPr>
              <a:t>sends message</a:t>
            </a:r>
            <a:r>
              <a:rPr sz="800" spc="-10" dirty="0">
                <a:latin typeface="Arial"/>
                <a:cs typeface="Arial"/>
              </a:rPr>
              <a:t> </a:t>
            </a:r>
            <a:r>
              <a:rPr sz="800" spc="-5" dirty="0">
                <a:latin typeface="Arial"/>
                <a:cs typeface="Arial"/>
              </a:rPr>
              <a:t>to </a:t>
            </a:r>
            <a:r>
              <a:rPr sz="800" spc="-10" dirty="0">
                <a:latin typeface="Arial"/>
                <a:cs typeface="Arial"/>
              </a:rPr>
              <a:t>client’s OS.</a:t>
            </a:r>
            <a:endParaRPr sz="800">
              <a:latin typeface="Arial"/>
              <a:cs typeface="Arial"/>
            </a:endParaRPr>
          </a:p>
          <a:p>
            <a:pPr marL="222250" indent="-154305">
              <a:lnSpc>
                <a:spcPts val="944"/>
              </a:lnSpc>
              <a:buClr>
                <a:srgbClr val="3333B2"/>
              </a:buClr>
              <a:buAutoNum type="arabicPeriod" startAt="6"/>
              <a:tabLst>
                <a:tab pos="222885" algn="l"/>
              </a:tabLst>
            </a:pPr>
            <a:r>
              <a:rPr sz="800" spc="-10" dirty="0">
                <a:latin typeface="Arial"/>
                <a:cs typeface="Arial"/>
              </a:rPr>
              <a:t>Client’s </a:t>
            </a:r>
            <a:r>
              <a:rPr sz="800" spc="-5" dirty="0">
                <a:latin typeface="Arial"/>
                <a:cs typeface="Arial"/>
              </a:rPr>
              <a:t>OS </a:t>
            </a:r>
            <a:r>
              <a:rPr sz="800" spc="-10" dirty="0">
                <a:latin typeface="Arial"/>
                <a:cs typeface="Arial"/>
              </a:rPr>
              <a:t>gives</a:t>
            </a:r>
            <a:r>
              <a:rPr sz="800" spc="-5" dirty="0">
                <a:latin typeface="Arial"/>
                <a:cs typeface="Arial"/>
              </a:rPr>
              <a:t> message to </a:t>
            </a:r>
            <a:r>
              <a:rPr sz="800" spc="-10" dirty="0">
                <a:latin typeface="Arial"/>
                <a:cs typeface="Arial"/>
              </a:rPr>
              <a:t>stub.</a:t>
            </a:r>
            <a:endParaRPr sz="800">
              <a:latin typeface="Arial"/>
              <a:cs typeface="Arial"/>
            </a:endParaRPr>
          </a:p>
          <a:p>
            <a:pPr marL="222250" indent="-210185">
              <a:lnSpc>
                <a:spcPts val="955"/>
              </a:lnSpc>
              <a:buClr>
                <a:srgbClr val="3333B2"/>
              </a:buClr>
              <a:buAutoNum type="arabicPeriod" startAt="6"/>
              <a:tabLst>
                <a:tab pos="222885" algn="l"/>
              </a:tabLst>
            </a:pPr>
            <a:r>
              <a:rPr sz="800" spc="-5" dirty="0">
                <a:latin typeface="Arial"/>
                <a:cs typeface="Arial"/>
              </a:rPr>
              <a:t>Client</a:t>
            </a:r>
            <a:r>
              <a:rPr sz="800" spc="-10" dirty="0">
                <a:latin typeface="Arial"/>
                <a:cs typeface="Arial"/>
              </a:rPr>
              <a:t> </a:t>
            </a:r>
            <a:r>
              <a:rPr sz="800" spc="-5" dirty="0">
                <a:latin typeface="Arial"/>
                <a:cs typeface="Arial"/>
              </a:rPr>
              <a:t>stub</a:t>
            </a:r>
            <a:r>
              <a:rPr sz="800" spc="-10" dirty="0">
                <a:latin typeface="Arial"/>
                <a:cs typeface="Arial"/>
              </a:rPr>
              <a:t> </a:t>
            </a:r>
            <a:r>
              <a:rPr sz="800" spc="-5" dirty="0">
                <a:latin typeface="Arial"/>
                <a:cs typeface="Arial"/>
              </a:rPr>
              <a:t>unpacks result;</a:t>
            </a:r>
            <a:r>
              <a:rPr sz="800" spc="-10" dirty="0">
                <a:latin typeface="Arial"/>
                <a:cs typeface="Arial"/>
              </a:rPr>
              <a:t> </a:t>
            </a:r>
            <a:r>
              <a:rPr sz="800" dirty="0">
                <a:latin typeface="Arial"/>
                <a:cs typeface="Arial"/>
              </a:rPr>
              <a:t>returns</a:t>
            </a:r>
            <a:r>
              <a:rPr sz="800" spc="-10" dirty="0">
                <a:latin typeface="Arial"/>
                <a:cs typeface="Arial"/>
              </a:rPr>
              <a:t> </a:t>
            </a:r>
            <a:r>
              <a:rPr sz="800" spc="-5" dirty="0">
                <a:latin typeface="Arial"/>
                <a:cs typeface="Arial"/>
              </a:rPr>
              <a:t>to</a:t>
            </a:r>
            <a:endParaRPr sz="800">
              <a:latin typeface="Arial"/>
              <a:cs typeface="Arial"/>
            </a:endParaRPr>
          </a:p>
        </p:txBody>
      </p:sp>
      <p:sp>
        <p:nvSpPr>
          <p:cNvPr id="40" name="object 40"/>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13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14</a:t>
            </a:r>
            <a:r>
              <a:rPr spc="-40" dirty="0"/>
              <a:t> </a:t>
            </a:r>
            <a:r>
              <a:rPr spc="-5" dirty="0"/>
              <a:t>/</a:t>
            </a:r>
            <a:r>
              <a:rPr spc="-35" dirty="0"/>
              <a:t> </a:t>
            </a:r>
            <a:r>
              <a:rPr spc="-5" dirty="0"/>
              <a:t>49</a:t>
            </a:r>
          </a:p>
        </p:txBody>
      </p:sp>
      <p:sp>
        <p:nvSpPr>
          <p:cNvPr id="2" name="object 2"/>
          <p:cNvSpPr txBox="1"/>
          <p:nvPr/>
        </p:nvSpPr>
        <p:spPr>
          <a:xfrm>
            <a:off x="66713" y="716"/>
            <a:ext cx="13766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Remote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procedure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call</a:t>
            </a:r>
            <a:endParaRPr sz="600">
              <a:latin typeface="Arial"/>
              <a:cs typeface="Arial"/>
            </a:endParaRPr>
          </a:p>
        </p:txBody>
      </p:sp>
      <p:sp>
        <p:nvSpPr>
          <p:cNvPr id="3" name="object 3"/>
          <p:cNvSpPr txBox="1"/>
          <p:nvPr/>
        </p:nvSpPr>
        <p:spPr>
          <a:xfrm>
            <a:off x="3882606" y="716"/>
            <a:ext cx="65913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Parameter</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passing</a:t>
            </a:r>
            <a:endParaRPr sz="600">
              <a:latin typeface="Arial"/>
              <a:cs typeface="Arial"/>
            </a:endParaRPr>
          </a:p>
        </p:txBody>
      </p:sp>
      <p:sp>
        <p:nvSpPr>
          <p:cNvPr id="4" name="object 4"/>
          <p:cNvSpPr txBox="1"/>
          <p:nvPr/>
        </p:nvSpPr>
        <p:spPr>
          <a:xfrm>
            <a:off x="57200" y="188846"/>
            <a:ext cx="4123054" cy="2880360"/>
          </a:xfrm>
          <a:prstGeom prst="rect">
            <a:avLst/>
          </a:prstGeom>
        </p:spPr>
        <p:txBody>
          <a:bodyPr vert="horz" wrap="square" lIns="0" tIns="17145" rIns="0" bIns="0" rtlCol="0">
            <a:spAutoFit/>
          </a:bodyPr>
          <a:lstStyle/>
          <a:p>
            <a:pPr marL="50800">
              <a:lnSpc>
                <a:spcPct val="100000"/>
              </a:lnSpc>
              <a:spcBef>
                <a:spcPts val="135"/>
              </a:spcBef>
            </a:pPr>
            <a:r>
              <a:rPr sz="1400" spc="20" dirty="0">
                <a:solidFill>
                  <a:srgbClr val="3333B2"/>
                </a:solidFill>
                <a:latin typeface="Arial"/>
                <a:cs typeface="Arial"/>
              </a:rPr>
              <a:t>RPC:</a:t>
            </a:r>
            <a:r>
              <a:rPr sz="1400" spc="-20" dirty="0">
                <a:solidFill>
                  <a:srgbClr val="3333B2"/>
                </a:solidFill>
                <a:latin typeface="Arial"/>
                <a:cs typeface="Arial"/>
              </a:rPr>
              <a:t> </a:t>
            </a:r>
            <a:r>
              <a:rPr sz="1400" spc="5" dirty="0">
                <a:solidFill>
                  <a:srgbClr val="3333B2"/>
                </a:solidFill>
                <a:latin typeface="Arial"/>
                <a:cs typeface="Arial"/>
              </a:rPr>
              <a:t>Parameter</a:t>
            </a:r>
            <a:r>
              <a:rPr sz="1400" spc="-15" dirty="0">
                <a:solidFill>
                  <a:srgbClr val="3333B2"/>
                </a:solidFill>
                <a:latin typeface="Arial"/>
                <a:cs typeface="Arial"/>
              </a:rPr>
              <a:t> </a:t>
            </a:r>
            <a:r>
              <a:rPr sz="1400" spc="15" dirty="0">
                <a:solidFill>
                  <a:srgbClr val="3333B2"/>
                </a:solidFill>
                <a:latin typeface="Arial"/>
                <a:cs typeface="Arial"/>
              </a:rPr>
              <a:t>passing</a:t>
            </a:r>
            <a:endParaRPr sz="1400" dirty="0">
              <a:latin typeface="Arial"/>
              <a:cs typeface="Arial"/>
            </a:endParaRPr>
          </a:p>
          <a:p>
            <a:pPr marL="302260" marR="435609" indent="-5080">
              <a:lnSpc>
                <a:spcPts val="1390"/>
              </a:lnSpc>
              <a:spcBef>
                <a:spcPts val="1180"/>
              </a:spcBef>
            </a:pPr>
            <a:r>
              <a:rPr sz="1200" spc="-15" dirty="0">
                <a:solidFill>
                  <a:srgbClr val="3333B2"/>
                </a:solidFill>
                <a:latin typeface="Arial"/>
                <a:cs typeface="Arial"/>
              </a:rPr>
              <a:t>There’s</a:t>
            </a:r>
            <a:r>
              <a:rPr sz="1200" spc="-10" dirty="0">
                <a:solidFill>
                  <a:srgbClr val="3333B2"/>
                </a:solidFill>
                <a:latin typeface="Arial"/>
                <a:cs typeface="Arial"/>
              </a:rPr>
              <a:t> </a:t>
            </a:r>
            <a:r>
              <a:rPr sz="1200" spc="-5" dirty="0">
                <a:solidFill>
                  <a:srgbClr val="3333B2"/>
                </a:solidFill>
                <a:latin typeface="Arial"/>
                <a:cs typeface="Arial"/>
              </a:rPr>
              <a:t>more than just wrapping parameters</a:t>
            </a:r>
            <a:r>
              <a:rPr sz="1200" spc="-10" dirty="0">
                <a:solidFill>
                  <a:srgbClr val="3333B2"/>
                </a:solidFill>
                <a:latin typeface="Arial"/>
                <a:cs typeface="Arial"/>
              </a:rPr>
              <a:t> </a:t>
            </a:r>
            <a:r>
              <a:rPr sz="1200" spc="-5" dirty="0">
                <a:solidFill>
                  <a:srgbClr val="3333B2"/>
                </a:solidFill>
                <a:latin typeface="Arial"/>
                <a:cs typeface="Arial"/>
              </a:rPr>
              <a:t>into a </a:t>
            </a:r>
            <a:r>
              <a:rPr sz="1200" spc="-315" dirty="0">
                <a:solidFill>
                  <a:srgbClr val="3333B2"/>
                </a:solidFill>
                <a:latin typeface="Arial"/>
                <a:cs typeface="Arial"/>
              </a:rPr>
              <a:t> </a:t>
            </a:r>
            <a:r>
              <a:rPr sz="1200" spc="-5" dirty="0">
                <a:solidFill>
                  <a:srgbClr val="3333B2"/>
                </a:solidFill>
                <a:latin typeface="Arial"/>
                <a:cs typeface="Arial"/>
              </a:rPr>
              <a:t>message</a:t>
            </a:r>
            <a:endParaRPr sz="1200" dirty="0">
              <a:latin typeface="Arial"/>
              <a:cs typeface="Arial"/>
            </a:endParaRPr>
          </a:p>
          <a:p>
            <a:pPr marL="579755" marR="657225" indent="-168275">
              <a:lnSpc>
                <a:spcPct val="100000"/>
              </a:lnSpc>
              <a:spcBef>
                <a:spcPts val="755"/>
              </a:spcBef>
              <a:buClr>
                <a:srgbClr val="3333B2"/>
              </a:buClr>
              <a:buChar char="►"/>
              <a:tabLst>
                <a:tab pos="580390" algn="l"/>
              </a:tabLst>
            </a:pPr>
            <a:r>
              <a:rPr sz="1000" spc="-5" dirty="0">
                <a:latin typeface="Arial"/>
                <a:cs typeface="Arial"/>
              </a:rPr>
              <a:t>Client</a:t>
            </a:r>
            <a:r>
              <a:rPr sz="1000" spc="-10" dirty="0">
                <a:latin typeface="Arial"/>
                <a:cs typeface="Arial"/>
              </a:rPr>
              <a:t> </a:t>
            </a:r>
            <a:r>
              <a:rPr sz="1000" spc="-5" dirty="0">
                <a:latin typeface="Arial"/>
                <a:cs typeface="Arial"/>
              </a:rPr>
              <a:t>and server machines </a:t>
            </a:r>
            <a:r>
              <a:rPr sz="1000" spc="-15" dirty="0">
                <a:latin typeface="Arial"/>
                <a:cs typeface="Arial"/>
              </a:rPr>
              <a:t>may</a:t>
            </a:r>
            <a:r>
              <a:rPr sz="1000" spc="-5" dirty="0">
                <a:latin typeface="Arial"/>
                <a:cs typeface="Arial"/>
              </a:rPr>
              <a:t> </a:t>
            </a:r>
            <a:r>
              <a:rPr sz="1000" spc="-15" dirty="0">
                <a:latin typeface="Arial"/>
                <a:cs typeface="Arial"/>
              </a:rPr>
              <a:t>have</a:t>
            </a:r>
            <a:r>
              <a:rPr sz="1000" spc="-5" dirty="0">
                <a:latin typeface="Arial"/>
                <a:cs typeface="Arial"/>
              </a:rPr>
              <a:t> </a:t>
            </a:r>
            <a:r>
              <a:rPr sz="1000" spc="-5" dirty="0">
                <a:solidFill>
                  <a:srgbClr val="0000FA"/>
                </a:solidFill>
                <a:latin typeface="Arial"/>
                <a:cs typeface="Arial"/>
              </a:rPr>
              <a:t>different data </a:t>
            </a:r>
            <a:r>
              <a:rPr sz="1000" spc="-260" dirty="0">
                <a:solidFill>
                  <a:srgbClr val="0000FA"/>
                </a:solidFill>
                <a:latin typeface="Arial"/>
                <a:cs typeface="Arial"/>
              </a:rPr>
              <a:t> </a:t>
            </a:r>
            <a:r>
              <a:rPr sz="1000" spc="-5" dirty="0">
                <a:solidFill>
                  <a:srgbClr val="0000FA"/>
                </a:solidFill>
                <a:latin typeface="Arial"/>
                <a:cs typeface="Arial"/>
              </a:rPr>
              <a:t>representations </a:t>
            </a:r>
            <a:r>
              <a:rPr sz="1000" spc="-5" dirty="0">
                <a:latin typeface="Arial"/>
                <a:cs typeface="Arial"/>
              </a:rPr>
              <a:t>(think of </a:t>
            </a:r>
            <a:r>
              <a:rPr sz="1000" spc="-10" dirty="0">
                <a:latin typeface="Arial"/>
                <a:cs typeface="Arial"/>
              </a:rPr>
              <a:t>byte</a:t>
            </a:r>
            <a:r>
              <a:rPr sz="1000" spc="-5" dirty="0">
                <a:latin typeface="Arial"/>
                <a:cs typeface="Arial"/>
              </a:rPr>
              <a:t> ordering)</a:t>
            </a:r>
            <a:endParaRPr sz="1000" dirty="0">
              <a:latin typeface="Arial"/>
              <a:cs typeface="Arial"/>
            </a:endParaRPr>
          </a:p>
          <a:p>
            <a:pPr marL="579755" marR="342900" indent="-168275">
              <a:lnSpc>
                <a:spcPts val="1200"/>
              </a:lnSpc>
              <a:spcBef>
                <a:spcPts val="30"/>
              </a:spcBef>
              <a:buClr>
                <a:srgbClr val="3333B2"/>
              </a:buClr>
              <a:buChar char="►"/>
              <a:tabLst>
                <a:tab pos="580390" algn="l"/>
              </a:tabLst>
            </a:pPr>
            <a:r>
              <a:rPr sz="1000" spc="-5" dirty="0">
                <a:latin typeface="Arial"/>
                <a:cs typeface="Arial"/>
              </a:rPr>
              <a:t>Wrapping a parameter means </a:t>
            </a:r>
            <a:r>
              <a:rPr sz="1000" spc="-5" dirty="0">
                <a:solidFill>
                  <a:srgbClr val="0000FA"/>
                </a:solidFill>
                <a:latin typeface="Arial"/>
                <a:cs typeface="Arial"/>
              </a:rPr>
              <a:t>transforming a </a:t>
            </a:r>
            <a:r>
              <a:rPr sz="1000" spc="-10" dirty="0">
                <a:solidFill>
                  <a:srgbClr val="0000FA"/>
                </a:solidFill>
                <a:latin typeface="Arial"/>
                <a:cs typeface="Arial"/>
              </a:rPr>
              <a:t>value</a:t>
            </a:r>
            <a:r>
              <a:rPr sz="1000" spc="-5" dirty="0">
                <a:solidFill>
                  <a:srgbClr val="0000FA"/>
                </a:solidFill>
                <a:latin typeface="Arial"/>
                <a:cs typeface="Arial"/>
              </a:rPr>
              <a:t> into a </a:t>
            </a:r>
            <a:r>
              <a:rPr sz="1000" spc="-265" dirty="0">
                <a:solidFill>
                  <a:srgbClr val="0000FA"/>
                </a:solidFill>
                <a:latin typeface="Arial"/>
                <a:cs typeface="Arial"/>
              </a:rPr>
              <a:t> </a:t>
            </a:r>
            <a:r>
              <a:rPr sz="1000" spc="-5" dirty="0">
                <a:solidFill>
                  <a:srgbClr val="0000FA"/>
                </a:solidFill>
                <a:latin typeface="Arial"/>
                <a:cs typeface="Arial"/>
              </a:rPr>
              <a:t>sequence</a:t>
            </a:r>
            <a:r>
              <a:rPr sz="1000" spc="-10" dirty="0">
                <a:solidFill>
                  <a:srgbClr val="0000FA"/>
                </a:solidFill>
                <a:latin typeface="Arial"/>
                <a:cs typeface="Arial"/>
              </a:rPr>
              <a:t> </a:t>
            </a:r>
            <a:r>
              <a:rPr sz="1000" spc="-5" dirty="0">
                <a:solidFill>
                  <a:srgbClr val="0000FA"/>
                </a:solidFill>
                <a:latin typeface="Arial"/>
                <a:cs typeface="Arial"/>
              </a:rPr>
              <a:t>of </a:t>
            </a:r>
            <a:r>
              <a:rPr sz="1000" spc="-10" dirty="0">
                <a:solidFill>
                  <a:srgbClr val="0000FA"/>
                </a:solidFill>
                <a:latin typeface="Arial"/>
                <a:cs typeface="Arial"/>
              </a:rPr>
              <a:t>bytes</a:t>
            </a:r>
            <a:endParaRPr sz="1000" dirty="0">
              <a:latin typeface="Arial"/>
              <a:cs typeface="Arial"/>
            </a:endParaRPr>
          </a:p>
          <a:p>
            <a:pPr marL="579755" indent="-168275">
              <a:lnSpc>
                <a:spcPts val="1150"/>
              </a:lnSpc>
              <a:buClr>
                <a:srgbClr val="3333B2"/>
              </a:buClr>
              <a:buChar char="►"/>
              <a:tabLst>
                <a:tab pos="580390" algn="l"/>
              </a:tabLst>
            </a:pPr>
            <a:r>
              <a:rPr sz="1000" spc="-5" dirty="0">
                <a:latin typeface="Arial"/>
                <a:cs typeface="Arial"/>
              </a:rPr>
              <a:t>Client and server</a:t>
            </a:r>
            <a:r>
              <a:rPr sz="1000" dirty="0">
                <a:latin typeface="Arial"/>
                <a:cs typeface="Arial"/>
              </a:rPr>
              <a:t> </a:t>
            </a:r>
            <a:r>
              <a:rPr sz="1000" spc="-15" dirty="0">
                <a:latin typeface="Arial"/>
                <a:cs typeface="Arial"/>
              </a:rPr>
              <a:t>have</a:t>
            </a:r>
            <a:r>
              <a:rPr sz="1000" spc="-5" dirty="0">
                <a:latin typeface="Arial"/>
                <a:cs typeface="Arial"/>
              </a:rPr>
              <a:t> to </a:t>
            </a:r>
            <a:r>
              <a:rPr sz="1000" spc="-5" dirty="0">
                <a:solidFill>
                  <a:srgbClr val="0000FA"/>
                </a:solidFill>
                <a:latin typeface="Arial"/>
                <a:cs typeface="Arial"/>
              </a:rPr>
              <a:t>agree</a:t>
            </a:r>
            <a:r>
              <a:rPr sz="1000" dirty="0">
                <a:solidFill>
                  <a:srgbClr val="0000FA"/>
                </a:solidFill>
                <a:latin typeface="Arial"/>
                <a:cs typeface="Arial"/>
              </a:rPr>
              <a:t> </a:t>
            </a:r>
            <a:r>
              <a:rPr sz="1000" spc="-5" dirty="0">
                <a:solidFill>
                  <a:srgbClr val="0000FA"/>
                </a:solidFill>
                <a:latin typeface="Arial"/>
                <a:cs typeface="Arial"/>
              </a:rPr>
              <a:t>on the same</a:t>
            </a:r>
            <a:r>
              <a:rPr sz="1000" dirty="0">
                <a:solidFill>
                  <a:srgbClr val="0000FA"/>
                </a:solidFill>
                <a:latin typeface="Arial"/>
                <a:cs typeface="Arial"/>
              </a:rPr>
              <a:t> </a:t>
            </a:r>
            <a:r>
              <a:rPr sz="1000" spc="-5" dirty="0">
                <a:solidFill>
                  <a:srgbClr val="0000FA"/>
                </a:solidFill>
                <a:latin typeface="Arial"/>
                <a:cs typeface="Arial"/>
              </a:rPr>
              <a:t>encoding</a:t>
            </a:r>
            <a:r>
              <a:rPr sz="1000" spc="-5" dirty="0">
                <a:latin typeface="Arial"/>
                <a:cs typeface="Arial"/>
              </a:rPr>
              <a:t>:</a:t>
            </a:r>
            <a:endParaRPr sz="1000" dirty="0">
              <a:latin typeface="Arial"/>
              <a:cs typeface="Arial"/>
            </a:endParaRPr>
          </a:p>
          <a:p>
            <a:pPr marL="579755" marR="414655" indent="-168275">
              <a:lnSpc>
                <a:spcPct val="100000"/>
              </a:lnSpc>
              <a:spcBef>
                <a:spcPts val="1190"/>
              </a:spcBef>
              <a:buClr>
                <a:srgbClr val="3333B2"/>
              </a:buClr>
              <a:buChar char="►"/>
              <a:tabLst>
                <a:tab pos="580390" algn="l"/>
              </a:tabLst>
            </a:pPr>
            <a:r>
              <a:rPr sz="1000" spc="-10" dirty="0">
                <a:latin typeface="Arial"/>
                <a:cs typeface="Arial"/>
              </a:rPr>
              <a:t>How</a:t>
            </a:r>
            <a:r>
              <a:rPr sz="1000" spc="-5" dirty="0">
                <a:latin typeface="Arial"/>
                <a:cs typeface="Arial"/>
              </a:rPr>
              <a:t> are</a:t>
            </a:r>
            <a:r>
              <a:rPr sz="1000" dirty="0">
                <a:latin typeface="Arial"/>
                <a:cs typeface="Arial"/>
              </a:rPr>
              <a:t> </a:t>
            </a:r>
            <a:r>
              <a:rPr sz="1000" spc="-5" dirty="0">
                <a:solidFill>
                  <a:srgbClr val="0000FA"/>
                </a:solidFill>
                <a:latin typeface="Arial"/>
                <a:cs typeface="Arial"/>
              </a:rPr>
              <a:t>basic</a:t>
            </a:r>
            <a:r>
              <a:rPr sz="1000" dirty="0">
                <a:solidFill>
                  <a:srgbClr val="0000FA"/>
                </a:solidFill>
                <a:latin typeface="Arial"/>
                <a:cs typeface="Arial"/>
              </a:rPr>
              <a:t> </a:t>
            </a:r>
            <a:r>
              <a:rPr sz="1000" spc="-5" dirty="0">
                <a:solidFill>
                  <a:srgbClr val="0000FA"/>
                </a:solidFill>
                <a:latin typeface="Arial"/>
                <a:cs typeface="Arial"/>
              </a:rPr>
              <a:t>data</a:t>
            </a:r>
            <a:r>
              <a:rPr sz="1000" dirty="0">
                <a:solidFill>
                  <a:srgbClr val="0000FA"/>
                </a:solidFill>
                <a:latin typeface="Arial"/>
                <a:cs typeface="Arial"/>
              </a:rPr>
              <a:t> </a:t>
            </a:r>
            <a:r>
              <a:rPr sz="1000" spc="-10" dirty="0">
                <a:solidFill>
                  <a:srgbClr val="0000FA"/>
                </a:solidFill>
                <a:latin typeface="Arial"/>
                <a:cs typeface="Arial"/>
              </a:rPr>
              <a:t>values</a:t>
            </a:r>
            <a:r>
              <a:rPr sz="1000" dirty="0">
                <a:solidFill>
                  <a:srgbClr val="0000FA"/>
                </a:solidFill>
                <a:latin typeface="Arial"/>
                <a:cs typeface="Arial"/>
              </a:rPr>
              <a:t> </a:t>
            </a:r>
            <a:r>
              <a:rPr sz="1000" spc="-5" dirty="0">
                <a:latin typeface="Arial"/>
                <a:cs typeface="Arial"/>
              </a:rPr>
              <a:t>represented</a:t>
            </a:r>
            <a:r>
              <a:rPr sz="1000" dirty="0">
                <a:latin typeface="Arial"/>
                <a:cs typeface="Arial"/>
              </a:rPr>
              <a:t> </a:t>
            </a:r>
            <a:r>
              <a:rPr sz="1000" spc="-5" dirty="0">
                <a:latin typeface="Arial"/>
                <a:cs typeface="Arial"/>
              </a:rPr>
              <a:t>(integers,</a:t>
            </a:r>
            <a:r>
              <a:rPr sz="1000" dirty="0">
                <a:latin typeface="Arial"/>
                <a:cs typeface="Arial"/>
              </a:rPr>
              <a:t> </a:t>
            </a:r>
            <a:r>
              <a:rPr sz="1000" spc="-5" dirty="0">
                <a:latin typeface="Arial"/>
                <a:cs typeface="Arial"/>
              </a:rPr>
              <a:t>floats, </a:t>
            </a:r>
            <a:r>
              <a:rPr sz="1000" spc="-265" dirty="0">
                <a:latin typeface="Arial"/>
                <a:cs typeface="Arial"/>
              </a:rPr>
              <a:t> </a:t>
            </a:r>
            <a:r>
              <a:rPr sz="1000" spc="-5" dirty="0">
                <a:latin typeface="Arial"/>
                <a:cs typeface="Arial"/>
              </a:rPr>
              <a:t>characters)</a:t>
            </a:r>
            <a:endParaRPr sz="1000" dirty="0">
              <a:latin typeface="Arial"/>
              <a:cs typeface="Arial"/>
            </a:endParaRPr>
          </a:p>
          <a:p>
            <a:pPr marL="579755" indent="-168275">
              <a:lnSpc>
                <a:spcPts val="1190"/>
              </a:lnSpc>
              <a:buClr>
                <a:srgbClr val="3333B2"/>
              </a:buClr>
              <a:buChar char="►"/>
              <a:tabLst>
                <a:tab pos="580390" algn="l"/>
              </a:tabLst>
            </a:pPr>
            <a:r>
              <a:rPr sz="1000" spc="-10" dirty="0">
                <a:latin typeface="Arial"/>
                <a:cs typeface="Arial"/>
              </a:rPr>
              <a:t>How</a:t>
            </a:r>
            <a:r>
              <a:rPr sz="1000" dirty="0">
                <a:latin typeface="Arial"/>
                <a:cs typeface="Arial"/>
              </a:rPr>
              <a:t> </a:t>
            </a:r>
            <a:r>
              <a:rPr sz="1000" spc="-5" dirty="0">
                <a:latin typeface="Arial"/>
                <a:cs typeface="Arial"/>
              </a:rPr>
              <a:t>are</a:t>
            </a:r>
            <a:r>
              <a:rPr sz="1000" dirty="0">
                <a:latin typeface="Arial"/>
                <a:cs typeface="Arial"/>
              </a:rPr>
              <a:t> </a:t>
            </a:r>
            <a:r>
              <a:rPr sz="1000" spc="-10" dirty="0">
                <a:solidFill>
                  <a:srgbClr val="0000FA"/>
                </a:solidFill>
                <a:latin typeface="Arial"/>
                <a:cs typeface="Arial"/>
              </a:rPr>
              <a:t>complex</a:t>
            </a:r>
            <a:r>
              <a:rPr sz="1000" dirty="0">
                <a:solidFill>
                  <a:srgbClr val="0000FA"/>
                </a:solidFill>
                <a:latin typeface="Arial"/>
                <a:cs typeface="Arial"/>
              </a:rPr>
              <a:t> </a:t>
            </a:r>
            <a:r>
              <a:rPr sz="1000" spc="-5" dirty="0">
                <a:solidFill>
                  <a:srgbClr val="0000FA"/>
                </a:solidFill>
                <a:latin typeface="Arial"/>
                <a:cs typeface="Arial"/>
              </a:rPr>
              <a:t>data</a:t>
            </a:r>
            <a:r>
              <a:rPr sz="1000" dirty="0">
                <a:solidFill>
                  <a:srgbClr val="0000FA"/>
                </a:solidFill>
                <a:latin typeface="Arial"/>
                <a:cs typeface="Arial"/>
              </a:rPr>
              <a:t> </a:t>
            </a:r>
            <a:r>
              <a:rPr sz="1000" spc="-10" dirty="0">
                <a:solidFill>
                  <a:srgbClr val="0000FA"/>
                </a:solidFill>
                <a:latin typeface="Arial"/>
                <a:cs typeface="Arial"/>
              </a:rPr>
              <a:t>values</a:t>
            </a:r>
            <a:r>
              <a:rPr sz="1000" dirty="0">
                <a:solidFill>
                  <a:srgbClr val="0000FA"/>
                </a:solidFill>
                <a:latin typeface="Arial"/>
                <a:cs typeface="Arial"/>
              </a:rPr>
              <a:t> </a:t>
            </a:r>
            <a:r>
              <a:rPr sz="1000" spc="-5" dirty="0">
                <a:latin typeface="Arial"/>
                <a:cs typeface="Arial"/>
              </a:rPr>
              <a:t>represented</a:t>
            </a:r>
            <a:r>
              <a:rPr sz="1000" dirty="0">
                <a:latin typeface="Arial"/>
                <a:cs typeface="Arial"/>
              </a:rPr>
              <a:t> </a:t>
            </a:r>
            <a:r>
              <a:rPr sz="1000" spc="-10" dirty="0">
                <a:latin typeface="Arial"/>
                <a:cs typeface="Arial"/>
              </a:rPr>
              <a:t>(arrays,</a:t>
            </a:r>
            <a:r>
              <a:rPr sz="1000" dirty="0">
                <a:latin typeface="Arial"/>
                <a:cs typeface="Arial"/>
              </a:rPr>
              <a:t> </a:t>
            </a:r>
            <a:r>
              <a:rPr sz="1000" spc="-5" dirty="0">
                <a:latin typeface="Arial"/>
                <a:cs typeface="Arial"/>
              </a:rPr>
              <a:t>unions)</a:t>
            </a:r>
            <a:endParaRPr sz="1000" dirty="0">
              <a:latin typeface="Arial"/>
              <a:cs typeface="Arial"/>
            </a:endParaRPr>
          </a:p>
          <a:p>
            <a:pPr>
              <a:lnSpc>
                <a:spcPct val="100000"/>
              </a:lnSpc>
              <a:spcBef>
                <a:spcPts val="10"/>
              </a:spcBef>
            </a:pPr>
            <a:endParaRPr sz="1300" dirty="0">
              <a:latin typeface="Arial"/>
              <a:cs typeface="Arial"/>
            </a:endParaRPr>
          </a:p>
          <a:p>
            <a:pPr marL="302260">
              <a:lnSpc>
                <a:spcPts val="1410"/>
              </a:lnSpc>
            </a:pPr>
            <a:r>
              <a:rPr sz="1200" spc="-5" dirty="0">
                <a:solidFill>
                  <a:srgbClr val="FA0000"/>
                </a:solidFill>
                <a:latin typeface="Arial"/>
                <a:cs typeface="Arial"/>
              </a:rPr>
              <a:t>Conclusion</a:t>
            </a:r>
            <a:endParaRPr sz="1200" dirty="0">
              <a:latin typeface="Arial"/>
              <a:cs typeface="Arial"/>
            </a:endParaRPr>
          </a:p>
          <a:p>
            <a:pPr marL="302260" marR="17780">
              <a:lnSpc>
                <a:spcPts val="1200"/>
              </a:lnSpc>
              <a:spcBef>
                <a:spcPts val="10"/>
              </a:spcBef>
            </a:pPr>
            <a:r>
              <a:rPr sz="1000" spc="-5" dirty="0">
                <a:latin typeface="Arial"/>
                <a:cs typeface="Arial"/>
              </a:rPr>
              <a:t>Client</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server</a:t>
            </a:r>
            <a:r>
              <a:rPr sz="1000" spc="5" dirty="0">
                <a:latin typeface="Arial"/>
                <a:cs typeface="Arial"/>
              </a:rPr>
              <a:t> </a:t>
            </a:r>
            <a:r>
              <a:rPr sz="1000" spc="-5" dirty="0">
                <a:latin typeface="Arial"/>
                <a:cs typeface="Arial"/>
              </a:rPr>
              <a:t>need</a:t>
            </a:r>
            <a:r>
              <a:rPr sz="1000" dirty="0">
                <a:latin typeface="Arial"/>
                <a:cs typeface="Arial"/>
              </a:rPr>
              <a:t> </a:t>
            </a:r>
            <a:r>
              <a:rPr sz="1000" spc="-5" dirty="0">
                <a:latin typeface="Arial"/>
                <a:cs typeface="Arial"/>
              </a:rPr>
              <a:t>to</a:t>
            </a:r>
            <a:r>
              <a:rPr sz="1000" dirty="0">
                <a:latin typeface="Arial"/>
                <a:cs typeface="Arial"/>
              </a:rPr>
              <a:t> </a:t>
            </a:r>
            <a:r>
              <a:rPr sz="1000" spc="-5" dirty="0">
                <a:solidFill>
                  <a:srgbClr val="0000FA"/>
                </a:solidFill>
                <a:latin typeface="Arial"/>
                <a:cs typeface="Arial"/>
              </a:rPr>
              <a:t>properly</a:t>
            </a:r>
            <a:r>
              <a:rPr sz="1000" spc="5" dirty="0">
                <a:solidFill>
                  <a:srgbClr val="0000FA"/>
                </a:solidFill>
                <a:latin typeface="Arial"/>
                <a:cs typeface="Arial"/>
              </a:rPr>
              <a:t> </a:t>
            </a:r>
            <a:r>
              <a:rPr sz="1000" dirty="0">
                <a:solidFill>
                  <a:srgbClr val="0000FA"/>
                </a:solidFill>
                <a:latin typeface="Arial"/>
                <a:cs typeface="Arial"/>
              </a:rPr>
              <a:t>interpret </a:t>
            </a:r>
            <a:r>
              <a:rPr sz="1000" spc="-5" dirty="0">
                <a:solidFill>
                  <a:srgbClr val="0000FA"/>
                </a:solidFill>
                <a:latin typeface="Arial"/>
                <a:cs typeface="Arial"/>
              </a:rPr>
              <a:t>messages</a:t>
            </a:r>
            <a:r>
              <a:rPr sz="1000" spc="-5" dirty="0">
                <a:latin typeface="Arial"/>
                <a:cs typeface="Arial"/>
              </a:rPr>
              <a:t>,</a:t>
            </a:r>
            <a:r>
              <a:rPr sz="1000" spc="5" dirty="0">
                <a:latin typeface="Arial"/>
                <a:cs typeface="Arial"/>
              </a:rPr>
              <a:t> </a:t>
            </a:r>
            <a:r>
              <a:rPr sz="1000" spc="-5" dirty="0">
                <a:latin typeface="Arial"/>
                <a:cs typeface="Arial"/>
              </a:rPr>
              <a:t>transforming </a:t>
            </a:r>
            <a:r>
              <a:rPr sz="1000" spc="-265" dirty="0">
                <a:latin typeface="Arial"/>
                <a:cs typeface="Arial"/>
              </a:rPr>
              <a:t> </a:t>
            </a:r>
            <a:r>
              <a:rPr sz="1000" spc="-5" dirty="0">
                <a:latin typeface="Arial"/>
                <a:cs typeface="Arial"/>
              </a:rPr>
              <a:t>them into machine-dependent representations.</a:t>
            </a:r>
            <a:endParaRPr sz="1000" dirty="0">
              <a:latin typeface="Arial"/>
              <a:cs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28415" algn="l"/>
              </a:tabLst>
            </a:pPr>
            <a:r>
              <a:rPr sz="600" spc="-5" dirty="0">
                <a:solidFill>
                  <a:srgbClr val="3333B2"/>
                </a:solidFill>
                <a:latin typeface="Arial"/>
                <a:cs typeface="Arial"/>
                <a:hlinkClick r:id="rId2" action="ppaction://hlinksldjump"/>
              </a:rPr>
              <a:t>Communication:</a:t>
            </a:r>
            <a:r>
              <a:rPr sz="600" spc="175" dirty="0">
                <a:solidFill>
                  <a:srgbClr val="3333B2"/>
                </a:solidFill>
                <a:latin typeface="Arial"/>
                <a:cs typeface="Arial"/>
              </a:rPr>
              <a:t> </a:t>
            </a:r>
            <a:r>
              <a:rPr sz="600" spc="-5" dirty="0">
                <a:solidFill>
                  <a:srgbClr val="3333B2"/>
                </a:solidFill>
                <a:latin typeface="Arial"/>
                <a:cs typeface="Arial"/>
                <a:hlinkClick r:id="rId3" action="ppaction://hlinksldjump"/>
              </a:rPr>
              <a:t>Remote</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procedure</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call</a:t>
            </a:r>
            <a:r>
              <a:rPr sz="600" spc="-5" dirty="0">
                <a:solidFill>
                  <a:srgbClr val="3333B2"/>
                </a:solidFill>
                <a:latin typeface="Arial"/>
                <a:cs typeface="Arial"/>
              </a:rPr>
              <a:t>	</a:t>
            </a:r>
            <a:r>
              <a:rPr sz="600" spc="-10" dirty="0">
                <a:solidFill>
                  <a:srgbClr val="262685"/>
                </a:solidFill>
                <a:latin typeface="Arial"/>
                <a:cs typeface="Arial"/>
                <a:hlinkClick r:id="rId4" action="ppaction://hlinksldjump"/>
              </a:rPr>
              <a:t>Parameter</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passing</a:t>
            </a:r>
            <a:endParaRPr sz="600">
              <a:latin typeface="Arial"/>
              <a:cs typeface="Arial"/>
            </a:endParaRPr>
          </a:p>
        </p:txBody>
      </p:sp>
      <p:sp>
        <p:nvSpPr>
          <p:cNvPr id="3" name="object 3"/>
          <p:cNvSpPr txBox="1">
            <a:spLocks noGrp="1"/>
          </p:cNvSpPr>
          <p:nvPr>
            <p:ph type="title"/>
          </p:nvPr>
        </p:nvSpPr>
        <p:spPr>
          <a:xfrm>
            <a:off x="95300" y="188846"/>
            <a:ext cx="2031364" cy="244475"/>
          </a:xfrm>
          <a:prstGeom prst="rect">
            <a:avLst/>
          </a:prstGeom>
        </p:spPr>
        <p:txBody>
          <a:bodyPr vert="horz" wrap="square" lIns="0" tIns="17145" rIns="0" bIns="0" rtlCol="0">
            <a:spAutoFit/>
          </a:bodyPr>
          <a:lstStyle/>
          <a:p>
            <a:pPr marL="12700">
              <a:lnSpc>
                <a:spcPct val="100000"/>
              </a:lnSpc>
              <a:spcBef>
                <a:spcPts val="135"/>
              </a:spcBef>
            </a:pPr>
            <a:r>
              <a:rPr spc="20" dirty="0"/>
              <a:t>RPC:</a:t>
            </a:r>
            <a:r>
              <a:rPr spc="-15" dirty="0"/>
              <a:t> </a:t>
            </a:r>
            <a:r>
              <a:rPr spc="5" dirty="0"/>
              <a:t>Parameter</a:t>
            </a:r>
            <a:r>
              <a:rPr spc="-15" dirty="0"/>
              <a:t> </a:t>
            </a:r>
            <a:r>
              <a:rPr spc="15" dirty="0"/>
              <a:t>passing</a:t>
            </a:r>
          </a:p>
        </p:txBody>
      </p:sp>
      <p:sp>
        <p:nvSpPr>
          <p:cNvPr id="4" name="object 4"/>
          <p:cNvSpPr txBox="1"/>
          <p:nvPr/>
        </p:nvSpPr>
        <p:spPr>
          <a:xfrm>
            <a:off x="334594" y="577415"/>
            <a:ext cx="3938270" cy="913765"/>
          </a:xfrm>
          <a:prstGeom prst="rect">
            <a:avLst/>
          </a:prstGeom>
        </p:spPr>
        <p:txBody>
          <a:bodyPr vert="horz" wrap="square" lIns="0" tIns="12065" rIns="0" bIns="0" rtlCol="0">
            <a:spAutoFit/>
          </a:bodyPr>
          <a:lstStyle/>
          <a:p>
            <a:pPr marL="25400">
              <a:lnSpc>
                <a:spcPct val="100000"/>
              </a:lnSpc>
              <a:spcBef>
                <a:spcPts val="95"/>
              </a:spcBef>
            </a:pPr>
            <a:r>
              <a:rPr sz="1200" spc="-5" dirty="0">
                <a:solidFill>
                  <a:srgbClr val="3333B2"/>
                </a:solidFill>
                <a:latin typeface="Arial"/>
                <a:cs typeface="Arial"/>
              </a:rPr>
              <a:t>Some</a:t>
            </a:r>
            <a:r>
              <a:rPr sz="1200" spc="-35" dirty="0">
                <a:solidFill>
                  <a:srgbClr val="3333B2"/>
                </a:solidFill>
                <a:latin typeface="Arial"/>
                <a:cs typeface="Arial"/>
              </a:rPr>
              <a:t> </a:t>
            </a:r>
            <a:r>
              <a:rPr sz="1200" spc="-5" dirty="0">
                <a:solidFill>
                  <a:srgbClr val="3333B2"/>
                </a:solidFill>
                <a:latin typeface="Arial"/>
                <a:cs typeface="Arial"/>
              </a:rPr>
              <a:t>assumptions</a:t>
            </a:r>
            <a:endParaRPr sz="1200">
              <a:latin typeface="Arial"/>
              <a:cs typeface="Arial"/>
            </a:endParaRPr>
          </a:p>
          <a:p>
            <a:pPr marL="302260" marR="17780" indent="-168275">
              <a:lnSpc>
                <a:spcPct val="100000"/>
              </a:lnSpc>
              <a:spcBef>
                <a:spcPts val="770"/>
              </a:spcBef>
              <a:buClr>
                <a:srgbClr val="3333B2"/>
              </a:buClr>
              <a:buChar char="►"/>
              <a:tabLst>
                <a:tab pos="302895" algn="l"/>
              </a:tabLst>
            </a:pPr>
            <a:r>
              <a:rPr sz="1000" spc="-25" dirty="0">
                <a:solidFill>
                  <a:srgbClr val="0000FA"/>
                </a:solidFill>
                <a:latin typeface="Arial"/>
                <a:cs typeface="Arial"/>
              </a:rPr>
              <a:t>Copy</a:t>
            </a:r>
            <a:r>
              <a:rPr sz="1000" spc="-5" dirty="0">
                <a:solidFill>
                  <a:srgbClr val="0000FA"/>
                </a:solidFill>
                <a:latin typeface="Arial"/>
                <a:cs typeface="Arial"/>
              </a:rPr>
              <a:t> </a:t>
            </a:r>
            <a:r>
              <a:rPr sz="1000" spc="-15" dirty="0">
                <a:solidFill>
                  <a:srgbClr val="0000FA"/>
                </a:solidFill>
                <a:latin typeface="Arial"/>
                <a:cs typeface="Arial"/>
              </a:rPr>
              <a:t>in/copy</a:t>
            </a:r>
            <a:r>
              <a:rPr sz="1000" spc="-5" dirty="0">
                <a:solidFill>
                  <a:srgbClr val="0000FA"/>
                </a:solidFill>
                <a:latin typeface="Arial"/>
                <a:cs typeface="Arial"/>
              </a:rPr>
              <a:t> </a:t>
            </a:r>
            <a:r>
              <a:rPr sz="1000" spc="-10" dirty="0">
                <a:solidFill>
                  <a:srgbClr val="0000FA"/>
                </a:solidFill>
                <a:latin typeface="Arial"/>
                <a:cs typeface="Arial"/>
              </a:rPr>
              <a:t>out</a:t>
            </a:r>
            <a:r>
              <a:rPr sz="1000" dirty="0">
                <a:solidFill>
                  <a:srgbClr val="0000FA"/>
                </a:solidFill>
                <a:latin typeface="Arial"/>
                <a:cs typeface="Arial"/>
              </a:rPr>
              <a:t> </a:t>
            </a:r>
            <a:r>
              <a:rPr sz="1000" spc="-10" dirty="0">
                <a:latin typeface="Arial"/>
                <a:cs typeface="Arial"/>
              </a:rPr>
              <a:t>semantics:</a:t>
            </a:r>
            <a:r>
              <a:rPr sz="1000" spc="65" dirty="0">
                <a:latin typeface="Arial"/>
                <a:cs typeface="Arial"/>
              </a:rPr>
              <a:t> </a:t>
            </a:r>
            <a:r>
              <a:rPr sz="1000" spc="-10" dirty="0">
                <a:latin typeface="Arial"/>
                <a:cs typeface="Arial"/>
              </a:rPr>
              <a:t>while</a:t>
            </a:r>
            <a:r>
              <a:rPr sz="1000" dirty="0">
                <a:latin typeface="Arial"/>
                <a:cs typeface="Arial"/>
              </a:rPr>
              <a:t> </a:t>
            </a:r>
            <a:r>
              <a:rPr sz="1000" spc="-15" dirty="0">
                <a:latin typeface="Arial"/>
                <a:cs typeface="Arial"/>
              </a:rPr>
              <a:t>procedure</a:t>
            </a:r>
            <a:r>
              <a:rPr sz="1000" spc="-5" dirty="0">
                <a:latin typeface="Arial"/>
                <a:cs typeface="Arial"/>
              </a:rPr>
              <a:t> </a:t>
            </a:r>
            <a:r>
              <a:rPr sz="1000" spc="-10" dirty="0">
                <a:latin typeface="Arial"/>
                <a:cs typeface="Arial"/>
              </a:rPr>
              <a:t>is</a:t>
            </a:r>
            <a:r>
              <a:rPr sz="1000" dirty="0">
                <a:latin typeface="Arial"/>
                <a:cs typeface="Arial"/>
              </a:rPr>
              <a:t> </a:t>
            </a:r>
            <a:r>
              <a:rPr sz="1000" spc="-20" dirty="0">
                <a:latin typeface="Arial"/>
                <a:cs typeface="Arial"/>
              </a:rPr>
              <a:t>executed,</a:t>
            </a:r>
            <a:r>
              <a:rPr sz="1000" spc="-5" dirty="0">
                <a:latin typeface="Arial"/>
                <a:cs typeface="Arial"/>
              </a:rPr>
              <a:t> </a:t>
            </a:r>
            <a:r>
              <a:rPr sz="1000" spc="-10" dirty="0">
                <a:latin typeface="Arial"/>
                <a:cs typeface="Arial"/>
              </a:rPr>
              <a:t>nothing </a:t>
            </a:r>
            <a:r>
              <a:rPr sz="1000" spc="-260" dirty="0">
                <a:latin typeface="Arial"/>
                <a:cs typeface="Arial"/>
              </a:rPr>
              <a:t> </a:t>
            </a:r>
            <a:r>
              <a:rPr sz="1000" spc="-5" dirty="0">
                <a:latin typeface="Arial"/>
                <a:cs typeface="Arial"/>
              </a:rPr>
              <a:t>can</a:t>
            </a:r>
            <a:r>
              <a:rPr sz="1000" spc="-10" dirty="0">
                <a:latin typeface="Arial"/>
                <a:cs typeface="Arial"/>
              </a:rPr>
              <a:t> </a:t>
            </a:r>
            <a:r>
              <a:rPr sz="1000" spc="-5" dirty="0">
                <a:latin typeface="Arial"/>
                <a:cs typeface="Arial"/>
              </a:rPr>
              <a:t>be assumed about parameter </a:t>
            </a:r>
            <a:r>
              <a:rPr sz="1000" spc="-10" dirty="0">
                <a:latin typeface="Arial"/>
                <a:cs typeface="Arial"/>
              </a:rPr>
              <a:t>values.</a:t>
            </a:r>
            <a:endParaRPr sz="1000">
              <a:latin typeface="Arial"/>
              <a:cs typeface="Arial"/>
            </a:endParaRPr>
          </a:p>
          <a:p>
            <a:pPr marL="302260" marR="363855" indent="-168275">
              <a:lnSpc>
                <a:spcPts val="1200"/>
              </a:lnSpc>
              <a:spcBef>
                <a:spcPts val="30"/>
              </a:spcBef>
              <a:buClr>
                <a:srgbClr val="3333B2"/>
              </a:buClr>
              <a:buChar char="►"/>
              <a:tabLst>
                <a:tab pos="302895" algn="l"/>
              </a:tabLst>
            </a:pPr>
            <a:r>
              <a:rPr sz="1000" spc="-5" dirty="0">
                <a:solidFill>
                  <a:srgbClr val="0000FA"/>
                </a:solidFill>
                <a:latin typeface="Arial"/>
                <a:cs typeface="Arial"/>
              </a:rPr>
              <a:t>All </a:t>
            </a:r>
            <a:r>
              <a:rPr sz="1000" spc="-5" dirty="0">
                <a:latin typeface="Arial"/>
                <a:cs typeface="Arial"/>
              </a:rPr>
              <a:t>data that is</a:t>
            </a:r>
            <a:r>
              <a:rPr sz="1000" dirty="0">
                <a:latin typeface="Arial"/>
                <a:cs typeface="Arial"/>
              </a:rPr>
              <a:t> </a:t>
            </a:r>
            <a:r>
              <a:rPr sz="1000" spc="-5" dirty="0">
                <a:latin typeface="Arial"/>
                <a:cs typeface="Arial"/>
              </a:rPr>
              <a:t>to be operated</a:t>
            </a:r>
            <a:r>
              <a:rPr sz="1000" dirty="0">
                <a:latin typeface="Arial"/>
                <a:cs typeface="Arial"/>
              </a:rPr>
              <a:t> </a:t>
            </a:r>
            <a:r>
              <a:rPr sz="1000" spc="-5" dirty="0">
                <a:latin typeface="Arial"/>
                <a:cs typeface="Arial"/>
              </a:rPr>
              <a:t>on is passed </a:t>
            </a:r>
            <a:r>
              <a:rPr sz="1000" spc="-15" dirty="0">
                <a:latin typeface="Arial"/>
                <a:cs typeface="Arial"/>
              </a:rPr>
              <a:t>by</a:t>
            </a:r>
            <a:r>
              <a:rPr sz="1000" dirty="0">
                <a:latin typeface="Arial"/>
                <a:cs typeface="Arial"/>
              </a:rPr>
              <a:t> </a:t>
            </a:r>
            <a:r>
              <a:rPr sz="1000" spc="-5" dirty="0">
                <a:latin typeface="Arial"/>
                <a:cs typeface="Arial"/>
              </a:rPr>
              <a:t>parameters. </a:t>
            </a:r>
            <a:r>
              <a:rPr sz="1000" spc="-265" dirty="0">
                <a:latin typeface="Arial"/>
                <a:cs typeface="Arial"/>
              </a:rPr>
              <a:t> </a:t>
            </a:r>
            <a:r>
              <a:rPr sz="1000" spc="-5" dirty="0">
                <a:latin typeface="Arial"/>
                <a:cs typeface="Arial"/>
              </a:rPr>
              <a:t>Excludes</a:t>
            </a:r>
            <a:r>
              <a:rPr sz="1000" spc="-10" dirty="0">
                <a:latin typeface="Arial"/>
                <a:cs typeface="Arial"/>
              </a:rPr>
              <a:t> </a:t>
            </a:r>
            <a:r>
              <a:rPr sz="1000" spc="-5" dirty="0">
                <a:latin typeface="Arial"/>
                <a:cs typeface="Arial"/>
              </a:rPr>
              <a:t>passing </a:t>
            </a:r>
            <a:r>
              <a:rPr sz="1000" spc="-5" dirty="0">
                <a:solidFill>
                  <a:srgbClr val="0000FA"/>
                </a:solidFill>
                <a:latin typeface="Arial"/>
                <a:cs typeface="Arial"/>
              </a:rPr>
              <a:t>references to (global) data</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28415" algn="l"/>
              </a:tabLst>
            </a:pPr>
            <a:r>
              <a:rPr sz="600" spc="-5" dirty="0">
                <a:solidFill>
                  <a:srgbClr val="3333B2"/>
                </a:solidFill>
                <a:latin typeface="Arial"/>
                <a:cs typeface="Arial"/>
                <a:hlinkClick r:id="rId2" action="ppaction://hlinksldjump"/>
              </a:rPr>
              <a:t>Communication:</a:t>
            </a:r>
            <a:r>
              <a:rPr sz="600" spc="175" dirty="0">
                <a:solidFill>
                  <a:srgbClr val="3333B2"/>
                </a:solidFill>
                <a:latin typeface="Arial"/>
                <a:cs typeface="Arial"/>
              </a:rPr>
              <a:t> </a:t>
            </a:r>
            <a:r>
              <a:rPr sz="600" spc="-5" dirty="0">
                <a:solidFill>
                  <a:srgbClr val="3333B2"/>
                </a:solidFill>
                <a:latin typeface="Arial"/>
                <a:cs typeface="Arial"/>
                <a:hlinkClick r:id="rId3" action="ppaction://hlinksldjump"/>
              </a:rPr>
              <a:t>Remote</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procedure</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call</a:t>
            </a:r>
            <a:r>
              <a:rPr sz="600" spc="-5" dirty="0">
                <a:solidFill>
                  <a:srgbClr val="3333B2"/>
                </a:solidFill>
                <a:latin typeface="Arial"/>
                <a:cs typeface="Arial"/>
              </a:rPr>
              <a:t>	</a:t>
            </a:r>
            <a:r>
              <a:rPr sz="600" spc="-10" dirty="0">
                <a:solidFill>
                  <a:srgbClr val="262685"/>
                </a:solidFill>
                <a:latin typeface="Arial"/>
                <a:cs typeface="Arial"/>
                <a:hlinkClick r:id="rId4" action="ppaction://hlinksldjump"/>
              </a:rPr>
              <a:t>Parameter</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passing</a:t>
            </a:r>
            <a:endParaRPr sz="600">
              <a:latin typeface="Arial"/>
              <a:cs typeface="Arial"/>
            </a:endParaRPr>
          </a:p>
        </p:txBody>
      </p:sp>
      <p:sp>
        <p:nvSpPr>
          <p:cNvPr id="3" name="object 3"/>
          <p:cNvSpPr txBox="1">
            <a:spLocks noGrp="1"/>
          </p:cNvSpPr>
          <p:nvPr>
            <p:ph type="title"/>
          </p:nvPr>
        </p:nvSpPr>
        <p:spPr>
          <a:xfrm>
            <a:off x="95300" y="188846"/>
            <a:ext cx="2031364" cy="244475"/>
          </a:xfrm>
          <a:prstGeom prst="rect">
            <a:avLst/>
          </a:prstGeom>
        </p:spPr>
        <p:txBody>
          <a:bodyPr vert="horz" wrap="square" lIns="0" tIns="17145" rIns="0" bIns="0" rtlCol="0">
            <a:spAutoFit/>
          </a:bodyPr>
          <a:lstStyle/>
          <a:p>
            <a:pPr marL="12700">
              <a:lnSpc>
                <a:spcPct val="100000"/>
              </a:lnSpc>
              <a:spcBef>
                <a:spcPts val="135"/>
              </a:spcBef>
            </a:pPr>
            <a:r>
              <a:rPr spc="20" dirty="0"/>
              <a:t>RPC:</a:t>
            </a:r>
            <a:r>
              <a:rPr spc="-15" dirty="0"/>
              <a:t> </a:t>
            </a:r>
            <a:r>
              <a:rPr spc="5" dirty="0"/>
              <a:t>Parameter</a:t>
            </a:r>
            <a:r>
              <a:rPr spc="-15" dirty="0"/>
              <a:t> </a:t>
            </a:r>
            <a:r>
              <a:rPr spc="15" dirty="0"/>
              <a:t>passing</a:t>
            </a:r>
          </a:p>
        </p:txBody>
      </p:sp>
      <p:sp>
        <p:nvSpPr>
          <p:cNvPr id="4" name="object 4"/>
          <p:cNvSpPr txBox="1"/>
          <p:nvPr/>
        </p:nvSpPr>
        <p:spPr>
          <a:xfrm>
            <a:off x="321894" y="577415"/>
            <a:ext cx="3963670" cy="1435735"/>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Some</a:t>
            </a:r>
            <a:r>
              <a:rPr sz="1200" spc="-35" dirty="0">
                <a:solidFill>
                  <a:srgbClr val="3333B2"/>
                </a:solidFill>
                <a:latin typeface="Arial"/>
                <a:cs typeface="Arial"/>
              </a:rPr>
              <a:t> </a:t>
            </a:r>
            <a:r>
              <a:rPr sz="1200" spc="-5" dirty="0">
                <a:solidFill>
                  <a:srgbClr val="3333B2"/>
                </a:solidFill>
                <a:latin typeface="Arial"/>
                <a:cs typeface="Arial"/>
              </a:rPr>
              <a:t>assumptions</a:t>
            </a:r>
            <a:endParaRPr sz="1200">
              <a:latin typeface="Arial"/>
              <a:cs typeface="Arial"/>
            </a:endParaRPr>
          </a:p>
          <a:p>
            <a:pPr marL="314960" marR="30480" indent="-168275">
              <a:lnSpc>
                <a:spcPct val="100000"/>
              </a:lnSpc>
              <a:spcBef>
                <a:spcPts val="770"/>
              </a:spcBef>
              <a:buClr>
                <a:srgbClr val="3333B2"/>
              </a:buClr>
              <a:buChar char="►"/>
              <a:tabLst>
                <a:tab pos="315595" algn="l"/>
              </a:tabLst>
            </a:pPr>
            <a:r>
              <a:rPr sz="1000" spc="-25" dirty="0">
                <a:solidFill>
                  <a:srgbClr val="0000FA"/>
                </a:solidFill>
                <a:latin typeface="Arial"/>
                <a:cs typeface="Arial"/>
              </a:rPr>
              <a:t>Copy</a:t>
            </a:r>
            <a:r>
              <a:rPr sz="1000" spc="-5" dirty="0">
                <a:solidFill>
                  <a:srgbClr val="0000FA"/>
                </a:solidFill>
                <a:latin typeface="Arial"/>
                <a:cs typeface="Arial"/>
              </a:rPr>
              <a:t> </a:t>
            </a:r>
            <a:r>
              <a:rPr sz="1000" spc="-15" dirty="0">
                <a:solidFill>
                  <a:srgbClr val="0000FA"/>
                </a:solidFill>
                <a:latin typeface="Arial"/>
                <a:cs typeface="Arial"/>
              </a:rPr>
              <a:t>in/copy</a:t>
            </a:r>
            <a:r>
              <a:rPr sz="1000" spc="-5" dirty="0">
                <a:solidFill>
                  <a:srgbClr val="0000FA"/>
                </a:solidFill>
                <a:latin typeface="Arial"/>
                <a:cs typeface="Arial"/>
              </a:rPr>
              <a:t> </a:t>
            </a:r>
            <a:r>
              <a:rPr sz="1000" spc="-10" dirty="0">
                <a:solidFill>
                  <a:srgbClr val="0000FA"/>
                </a:solidFill>
                <a:latin typeface="Arial"/>
                <a:cs typeface="Arial"/>
              </a:rPr>
              <a:t>out</a:t>
            </a:r>
            <a:r>
              <a:rPr sz="1000" dirty="0">
                <a:solidFill>
                  <a:srgbClr val="0000FA"/>
                </a:solidFill>
                <a:latin typeface="Arial"/>
                <a:cs typeface="Arial"/>
              </a:rPr>
              <a:t> </a:t>
            </a:r>
            <a:r>
              <a:rPr sz="1000" spc="-10" dirty="0">
                <a:latin typeface="Arial"/>
                <a:cs typeface="Arial"/>
              </a:rPr>
              <a:t>semantics:</a:t>
            </a:r>
            <a:r>
              <a:rPr sz="1000" spc="65" dirty="0">
                <a:latin typeface="Arial"/>
                <a:cs typeface="Arial"/>
              </a:rPr>
              <a:t> </a:t>
            </a:r>
            <a:r>
              <a:rPr sz="1000" spc="-10" dirty="0">
                <a:latin typeface="Arial"/>
                <a:cs typeface="Arial"/>
              </a:rPr>
              <a:t>while</a:t>
            </a:r>
            <a:r>
              <a:rPr sz="1000" dirty="0">
                <a:latin typeface="Arial"/>
                <a:cs typeface="Arial"/>
              </a:rPr>
              <a:t> </a:t>
            </a:r>
            <a:r>
              <a:rPr sz="1000" spc="-15" dirty="0">
                <a:latin typeface="Arial"/>
                <a:cs typeface="Arial"/>
              </a:rPr>
              <a:t>procedure</a:t>
            </a:r>
            <a:r>
              <a:rPr sz="1000" spc="-5" dirty="0">
                <a:latin typeface="Arial"/>
                <a:cs typeface="Arial"/>
              </a:rPr>
              <a:t> </a:t>
            </a:r>
            <a:r>
              <a:rPr sz="1000" spc="-10" dirty="0">
                <a:latin typeface="Arial"/>
                <a:cs typeface="Arial"/>
              </a:rPr>
              <a:t>is</a:t>
            </a:r>
            <a:r>
              <a:rPr sz="1000" dirty="0">
                <a:latin typeface="Arial"/>
                <a:cs typeface="Arial"/>
              </a:rPr>
              <a:t> </a:t>
            </a:r>
            <a:r>
              <a:rPr sz="1000" spc="-20" dirty="0">
                <a:latin typeface="Arial"/>
                <a:cs typeface="Arial"/>
              </a:rPr>
              <a:t>executed,</a:t>
            </a:r>
            <a:r>
              <a:rPr sz="1000" spc="-5" dirty="0">
                <a:latin typeface="Arial"/>
                <a:cs typeface="Arial"/>
              </a:rPr>
              <a:t> </a:t>
            </a:r>
            <a:r>
              <a:rPr sz="1000" spc="-10" dirty="0">
                <a:latin typeface="Arial"/>
                <a:cs typeface="Arial"/>
              </a:rPr>
              <a:t>nothing </a:t>
            </a:r>
            <a:r>
              <a:rPr sz="1000" spc="-260" dirty="0">
                <a:latin typeface="Arial"/>
                <a:cs typeface="Arial"/>
              </a:rPr>
              <a:t> </a:t>
            </a:r>
            <a:r>
              <a:rPr sz="1000" spc="-5" dirty="0">
                <a:latin typeface="Arial"/>
                <a:cs typeface="Arial"/>
              </a:rPr>
              <a:t>can</a:t>
            </a:r>
            <a:r>
              <a:rPr sz="1000" spc="-10" dirty="0">
                <a:latin typeface="Arial"/>
                <a:cs typeface="Arial"/>
              </a:rPr>
              <a:t> </a:t>
            </a:r>
            <a:r>
              <a:rPr sz="1000" spc="-5" dirty="0">
                <a:latin typeface="Arial"/>
                <a:cs typeface="Arial"/>
              </a:rPr>
              <a:t>be assumed about parameter </a:t>
            </a:r>
            <a:r>
              <a:rPr sz="1000" spc="-10" dirty="0">
                <a:latin typeface="Arial"/>
                <a:cs typeface="Arial"/>
              </a:rPr>
              <a:t>values.</a:t>
            </a:r>
            <a:endParaRPr sz="1000">
              <a:latin typeface="Arial"/>
              <a:cs typeface="Arial"/>
            </a:endParaRPr>
          </a:p>
          <a:p>
            <a:pPr marL="314960" marR="376555" indent="-168275">
              <a:lnSpc>
                <a:spcPts val="1200"/>
              </a:lnSpc>
              <a:spcBef>
                <a:spcPts val="30"/>
              </a:spcBef>
              <a:buClr>
                <a:srgbClr val="3333B2"/>
              </a:buClr>
              <a:buChar char="►"/>
              <a:tabLst>
                <a:tab pos="315595" algn="l"/>
              </a:tabLst>
            </a:pPr>
            <a:r>
              <a:rPr sz="1000" spc="-5" dirty="0">
                <a:solidFill>
                  <a:srgbClr val="0000FA"/>
                </a:solidFill>
                <a:latin typeface="Arial"/>
                <a:cs typeface="Arial"/>
              </a:rPr>
              <a:t>All </a:t>
            </a:r>
            <a:r>
              <a:rPr sz="1000" spc="-5" dirty="0">
                <a:latin typeface="Arial"/>
                <a:cs typeface="Arial"/>
              </a:rPr>
              <a:t>data that is</a:t>
            </a:r>
            <a:r>
              <a:rPr sz="1000" dirty="0">
                <a:latin typeface="Arial"/>
                <a:cs typeface="Arial"/>
              </a:rPr>
              <a:t> </a:t>
            </a:r>
            <a:r>
              <a:rPr sz="1000" spc="-5" dirty="0">
                <a:latin typeface="Arial"/>
                <a:cs typeface="Arial"/>
              </a:rPr>
              <a:t>to be operated</a:t>
            </a:r>
            <a:r>
              <a:rPr sz="1000" dirty="0">
                <a:latin typeface="Arial"/>
                <a:cs typeface="Arial"/>
              </a:rPr>
              <a:t> </a:t>
            </a:r>
            <a:r>
              <a:rPr sz="1000" spc="-5" dirty="0">
                <a:latin typeface="Arial"/>
                <a:cs typeface="Arial"/>
              </a:rPr>
              <a:t>on is passed </a:t>
            </a:r>
            <a:r>
              <a:rPr sz="1000" spc="-15" dirty="0">
                <a:latin typeface="Arial"/>
                <a:cs typeface="Arial"/>
              </a:rPr>
              <a:t>by</a:t>
            </a:r>
            <a:r>
              <a:rPr sz="1000" dirty="0">
                <a:latin typeface="Arial"/>
                <a:cs typeface="Arial"/>
              </a:rPr>
              <a:t> </a:t>
            </a:r>
            <a:r>
              <a:rPr sz="1000" spc="-5" dirty="0">
                <a:latin typeface="Arial"/>
                <a:cs typeface="Arial"/>
              </a:rPr>
              <a:t>parameters. </a:t>
            </a:r>
            <a:r>
              <a:rPr sz="1000" spc="-265" dirty="0">
                <a:latin typeface="Arial"/>
                <a:cs typeface="Arial"/>
              </a:rPr>
              <a:t> </a:t>
            </a:r>
            <a:r>
              <a:rPr sz="1000" spc="-5" dirty="0">
                <a:latin typeface="Arial"/>
                <a:cs typeface="Arial"/>
              </a:rPr>
              <a:t>Excludes</a:t>
            </a:r>
            <a:r>
              <a:rPr sz="1000" spc="-10" dirty="0">
                <a:latin typeface="Arial"/>
                <a:cs typeface="Arial"/>
              </a:rPr>
              <a:t> </a:t>
            </a:r>
            <a:r>
              <a:rPr sz="1000" spc="-5" dirty="0">
                <a:latin typeface="Arial"/>
                <a:cs typeface="Arial"/>
              </a:rPr>
              <a:t>passing </a:t>
            </a:r>
            <a:r>
              <a:rPr sz="1000" spc="-5" dirty="0">
                <a:solidFill>
                  <a:srgbClr val="0000FA"/>
                </a:solidFill>
                <a:latin typeface="Arial"/>
                <a:cs typeface="Arial"/>
              </a:rPr>
              <a:t>references to (global) data</a:t>
            </a:r>
            <a:r>
              <a:rPr sz="1000" spc="-5" dirty="0">
                <a:latin typeface="Arial"/>
                <a:cs typeface="Arial"/>
              </a:rPr>
              <a:t>.</a:t>
            </a:r>
            <a:endParaRPr sz="1000">
              <a:latin typeface="Arial"/>
              <a:cs typeface="Arial"/>
            </a:endParaRPr>
          </a:p>
          <a:p>
            <a:pPr>
              <a:lnSpc>
                <a:spcPct val="100000"/>
              </a:lnSpc>
              <a:spcBef>
                <a:spcPts val="30"/>
              </a:spcBef>
            </a:pPr>
            <a:endParaRPr sz="1250">
              <a:latin typeface="Arial"/>
              <a:cs typeface="Arial"/>
            </a:endParaRPr>
          </a:p>
          <a:p>
            <a:pPr marL="38100">
              <a:lnSpc>
                <a:spcPts val="1420"/>
              </a:lnSpc>
            </a:pPr>
            <a:r>
              <a:rPr sz="1200" spc="-5" dirty="0">
                <a:solidFill>
                  <a:srgbClr val="FA0000"/>
                </a:solidFill>
                <a:latin typeface="Arial"/>
                <a:cs typeface="Arial"/>
              </a:rPr>
              <a:t>Conclusion</a:t>
            </a:r>
            <a:endParaRPr sz="1200">
              <a:latin typeface="Arial"/>
              <a:cs typeface="Arial"/>
            </a:endParaRPr>
          </a:p>
          <a:p>
            <a:pPr marL="38100">
              <a:lnSpc>
                <a:spcPts val="1180"/>
              </a:lnSpc>
            </a:pPr>
            <a:r>
              <a:rPr sz="1000" spc="-5" dirty="0">
                <a:latin typeface="Arial"/>
                <a:cs typeface="Arial"/>
              </a:rPr>
              <a:t>Full</a:t>
            </a:r>
            <a:r>
              <a:rPr sz="1000" spc="-10" dirty="0">
                <a:latin typeface="Arial"/>
                <a:cs typeface="Arial"/>
              </a:rPr>
              <a:t> </a:t>
            </a:r>
            <a:r>
              <a:rPr sz="1000" spc="-5" dirty="0">
                <a:latin typeface="Arial"/>
                <a:cs typeface="Arial"/>
              </a:rPr>
              <a:t>access transparency cannot be realized.</a:t>
            </a:r>
            <a:endParaRPr sz="1000">
              <a:latin typeface="Arial"/>
              <a:cs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28415" algn="l"/>
              </a:tabLst>
            </a:pPr>
            <a:r>
              <a:rPr sz="600" spc="-5" dirty="0">
                <a:solidFill>
                  <a:srgbClr val="3333B2"/>
                </a:solidFill>
                <a:latin typeface="Arial"/>
                <a:cs typeface="Arial"/>
                <a:hlinkClick r:id="rId3" action="ppaction://hlinksldjump"/>
              </a:rPr>
              <a:t>Communication:</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Remote</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procedure</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call</a:t>
            </a:r>
            <a:r>
              <a:rPr sz="600" spc="-5" dirty="0">
                <a:solidFill>
                  <a:srgbClr val="3333B2"/>
                </a:solidFill>
                <a:latin typeface="Arial"/>
                <a:cs typeface="Arial"/>
              </a:rPr>
              <a:t>	</a:t>
            </a:r>
            <a:r>
              <a:rPr sz="600" spc="-10" dirty="0">
                <a:solidFill>
                  <a:srgbClr val="262685"/>
                </a:solidFill>
                <a:latin typeface="Arial"/>
                <a:cs typeface="Arial"/>
                <a:hlinkClick r:id="rId5" action="ppaction://hlinksldjump"/>
              </a:rPr>
              <a:t>Parameter</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passing</a:t>
            </a:r>
            <a:endParaRPr sz="600">
              <a:latin typeface="Arial"/>
              <a:cs typeface="Arial"/>
            </a:endParaRPr>
          </a:p>
        </p:txBody>
      </p:sp>
      <p:sp>
        <p:nvSpPr>
          <p:cNvPr id="3" name="object 3"/>
          <p:cNvSpPr txBox="1">
            <a:spLocks noGrp="1"/>
          </p:cNvSpPr>
          <p:nvPr>
            <p:ph type="title"/>
          </p:nvPr>
        </p:nvSpPr>
        <p:spPr>
          <a:xfrm>
            <a:off x="95300" y="188846"/>
            <a:ext cx="2031364" cy="244475"/>
          </a:xfrm>
          <a:prstGeom prst="rect">
            <a:avLst/>
          </a:prstGeom>
        </p:spPr>
        <p:txBody>
          <a:bodyPr vert="horz" wrap="square" lIns="0" tIns="17145" rIns="0" bIns="0" rtlCol="0">
            <a:spAutoFit/>
          </a:bodyPr>
          <a:lstStyle/>
          <a:p>
            <a:pPr marL="12700">
              <a:lnSpc>
                <a:spcPct val="100000"/>
              </a:lnSpc>
              <a:spcBef>
                <a:spcPts val="135"/>
              </a:spcBef>
            </a:pPr>
            <a:r>
              <a:rPr spc="20" dirty="0"/>
              <a:t>RPC:</a:t>
            </a:r>
            <a:r>
              <a:rPr spc="-15" dirty="0"/>
              <a:t> </a:t>
            </a:r>
            <a:r>
              <a:rPr spc="5" dirty="0"/>
              <a:t>Parameter</a:t>
            </a:r>
            <a:r>
              <a:rPr spc="-15" dirty="0"/>
              <a:t> </a:t>
            </a:r>
            <a:r>
              <a:rPr spc="15" dirty="0"/>
              <a:t>passing</a:t>
            </a:r>
          </a:p>
        </p:txBody>
      </p:sp>
      <p:sp>
        <p:nvSpPr>
          <p:cNvPr id="4" name="object 4"/>
          <p:cNvSpPr txBox="1"/>
          <p:nvPr/>
        </p:nvSpPr>
        <p:spPr>
          <a:xfrm>
            <a:off x="304190" y="577415"/>
            <a:ext cx="3980815" cy="2437130"/>
          </a:xfrm>
          <a:prstGeom prst="rect">
            <a:avLst/>
          </a:prstGeom>
        </p:spPr>
        <p:txBody>
          <a:bodyPr vert="horz" wrap="square" lIns="0" tIns="12065" rIns="0" bIns="0" rtlCol="0">
            <a:spAutoFit/>
          </a:bodyPr>
          <a:lstStyle/>
          <a:p>
            <a:pPr marL="55244">
              <a:lnSpc>
                <a:spcPct val="100000"/>
              </a:lnSpc>
              <a:spcBef>
                <a:spcPts val="95"/>
              </a:spcBef>
            </a:pPr>
            <a:r>
              <a:rPr sz="1200" spc="-5" dirty="0">
                <a:solidFill>
                  <a:srgbClr val="3333B2"/>
                </a:solidFill>
                <a:latin typeface="Arial"/>
                <a:cs typeface="Arial"/>
              </a:rPr>
              <a:t>Some</a:t>
            </a:r>
            <a:r>
              <a:rPr sz="1200" spc="-35" dirty="0">
                <a:solidFill>
                  <a:srgbClr val="3333B2"/>
                </a:solidFill>
                <a:latin typeface="Arial"/>
                <a:cs typeface="Arial"/>
              </a:rPr>
              <a:t> </a:t>
            </a:r>
            <a:r>
              <a:rPr sz="1200" spc="-5" dirty="0">
                <a:solidFill>
                  <a:srgbClr val="3333B2"/>
                </a:solidFill>
                <a:latin typeface="Arial"/>
                <a:cs typeface="Arial"/>
              </a:rPr>
              <a:t>assumptions</a:t>
            </a:r>
            <a:endParaRPr sz="1200" dirty="0">
              <a:latin typeface="Arial"/>
              <a:cs typeface="Arial"/>
            </a:endParaRPr>
          </a:p>
          <a:p>
            <a:pPr marL="332740" marR="30480" indent="-168275">
              <a:lnSpc>
                <a:spcPct val="100000"/>
              </a:lnSpc>
              <a:spcBef>
                <a:spcPts val="770"/>
              </a:spcBef>
              <a:buClr>
                <a:srgbClr val="3333B2"/>
              </a:buClr>
              <a:buChar char="►"/>
              <a:tabLst>
                <a:tab pos="333375" algn="l"/>
              </a:tabLst>
            </a:pPr>
            <a:r>
              <a:rPr sz="1000" spc="-25" dirty="0">
                <a:solidFill>
                  <a:srgbClr val="0000FA"/>
                </a:solidFill>
                <a:latin typeface="Arial"/>
                <a:cs typeface="Arial"/>
              </a:rPr>
              <a:t>Copy</a:t>
            </a:r>
            <a:r>
              <a:rPr sz="1000" spc="-5" dirty="0">
                <a:solidFill>
                  <a:srgbClr val="0000FA"/>
                </a:solidFill>
                <a:latin typeface="Arial"/>
                <a:cs typeface="Arial"/>
              </a:rPr>
              <a:t> </a:t>
            </a:r>
            <a:r>
              <a:rPr sz="1000" spc="-15" dirty="0">
                <a:solidFill>
                  <a:srgbClr val="0000FA"/>
                </a:solidFill>
                <a:latin typeface="Arial"/>
                <a:cs typeface="Arial"/>
              </a:rPr>
              <a:t>in/copy</a:t>
            </a:r>
            <a:r>
              <a:rPr sz="1000" spc="-5" dirty="0">
                <a:solidFill>
                  <a:srgbClr val="0000FA"/>
                </a:solidFill>
                <a:latin typeface="Arial"/>
                <a:cs typeface="Arial"/>
              </a:rPr>
              <a:t> </a:t>
            </a:r>
            <a:r>
              <a:rPr sz="1000" spc="-10" dirty="0">
                <a:solidFill>
                  <a:srgbClr val="0000FA"/>
                </a:solidFill>
                <a:latin typeface="Arial"/>
                <a:cs typeface="Arial"/>
              </a:rPr>
              <a:t>out</a:t>
            </a:r>
            <a:r>
              <a:rPr sz="1000" dirty="0">
                <a:solidFill>
                  <a:srgbClr val="0000FA"/>
                </a:solidFill>
                <a:latin typeface="Arial"/>
                <a:cs typeface="Arial"/>
              </a:rPr>
              <a:t> </a:t>
            </a:r>
            <a:r>
              <a:rPr sz="1000" spc="-10" dirty="0">
                <a:latin typeface="Arial"/>
                <a:cs typeface="Arial"/>
              </a:rPr>
              <a:t>semantics:</a:t>
            </a:r>
            <a:r>
              <a:rPr sz="1000" spc="65" dirty="0">
                <a:latin typeface="Arial"/>
                <a:cs typeface="Arial"/>
              </a:rPr>
              <a:t> </a:t>
            </a:r>
            <a:r>
              <a:rPr sz="1000" spc="-10" dirty="0">
                <a:latin typeface="Arial"/>
                <a:cs typeface="Arial"/>
              </a:rPr>
              <a:t>while</a:t>
            </a:r>
            <a:r>
              <a:rPr sz="1000" dirty="0">
                <a:latin typeface="Arial"/>
                <a:cs typeface="Arial"/>
              </a:rPr>
              <a:t> </a:t>
            </a:r>
            <a:r>
              <a:rPr sz="1000" spc="-15" dirty="0">
                <a:latin typeface="Arial"/>
                <a:cs typeface="Arial"/>
              </a:rPr>
              <a:t>procedure</a:t>
            </a:r>
            <a:r>
              <a:rPr sz="1000" spc="-5" dirty="0">
                <a:latin typeface="Arial"/>
                <a:cs typeface="Arial"/>
              </a:rPr>
              <a:t> </a:t>
            </a:r>
            <a:r>
              <a:rPr sz="1000" spc="-10" dirty="0">
                <a:latin typeface="Arial"/>
                <a:cs typeface="Arial"/>
              </a:rPr>
              <a:t>is</a:t>
            </a:r>
            <a:r>
              <a:rPr sz="1000" dirty="0">
                <a:latin typeface="Arial"/>
                <a:cs typeface="Arial"/>
              </a:rPr>
              <a:t> </a:t>
            </a:r>
            <a:r>
              <a:rPr sz="1000" spc="-20" dirty="0">
                <a:latin typeface="Arial"/>
                <a:cs typeface="Arial"/>
              </a:rPr>
              <a:t>executed,</a:t>
            </a:r>
            <a:r>
              <a:rPr sz="1000" spc="-5" dirty="0">
                <a:latin typeface="Arial"/>
                <a:cs typeface="Arial"/>
              </a:rPr>
              <a:t> </a:t>
            </a:r>
            <a:r>
              <a:rPr sz="1000" spc="-10" dirty="0">
                <a:latin typeface="Arial"/>
                <a:cs typeface="Arial"/>
              </a:rPr>
              <a:t>nothing </a:t>
            </a:r>
            <a:r>
              <a:rPr sz="1000" spc="-260" dirty="0">
                <a:latin typeface="Arial"/>
                <a:cs typeface="Arial"/>
              </a:rPr>
              <a:t> </a:t>
            </a:r>
            <a:r>
              <a:rPr sz="1000" spc="-5" dirty="0">
                <a:latin typeface="Arial"/>
                <a:cs typeface="Arial"/>
              </a:rPr>
              <a:t>can</a:t>
            </a:r>
            <a:r>
              <a:rPr sz="1000" spc="-10" dirty="0">
                <a:latin typeface="Arial"/>
                <a:cs typeface="Arial"/>
              </a:rPr>
              <a:t> </a:t>
            </a:r>
            <a:r>
              <a:rPr sz="1000" spc="-5" dirty="0">
                <a:latin typeface="Arial"/>
                <a:cs typeface="Arial"/>
              </a:rPr>
              <a:t>be assumed about parameter </a:t>
            </a:r>
            <a:r>
              <a:rPr sz="1000" spc="-10" dirty="0">
                <a:latin typeface="Arial"/>
                <a:cs typeface="Arial"/>
              </a:rPr>
              <a:t>values.</a:t>
            </a:r>
            <a:endParaRPr sz="1000" dirty="0">
              <a:latin typeface="Arial"/>
              <a:cs typeface="Arial"/>
            </a:endParaRPr>
          </a:p>
          <a:p>
            <a:pPr marL="332740" marR="376555" indent="-168275">
              <a:lnSpc>
                <a:spcPts val="1200"/>
              </a:lnSpc>
              <a:spcBef>
                <a:spcPts val="30"/>
              </a:spcBef>
              <a:buClr>
                <a:srgbClr val="3333B2"/>
              </a:buClr>
              <a:buChar char="►"/>
              <a:tabLst>
                <a:tab pos="333375" algn="l"/>
              </a:tabLst>
            </a:pPr>
            <a:r>
              <a:rPr sz="1000" spc="-5" dirty="0">
                <a:solidFill>
                  <a:srgbClr val="0000FA"/>
                </a:solidFill>
                <a:latin typeface="Arial"/>
                <a:cs typeface="Arial"/>
              </a:rPr>
              <a:t>All </a:t>
            </a:r>
            <a:r>
              <a:rPr sz="1000" spc="-5" dirty="0">
                <a:latin typeface="Arial"/>
                <a:cs typeface="Arial"/>
              </a:rPr>
              <a:t>data that is</a:t>
            </a:r>
            <a:r>
              <a:rPr sz="1000" dirty="0">
                <a:latin typeface="Arial"/>
                <a:cs typeface="Arial"/>
              </a:rPr>
              <a:t> </a:t>
            </a:r>
            <a:r>
              <a:rPr sz="1000" spc="-5" dirty="0">
                <a:latin typeface="Arial"/>
                <a:cs typeface="Arial"/>
              </a:rPr>
              <a:t>to be operated</a:t>
            </a:r>
            <a:r>
              <a:rPr sz="1000" dirty="0">
                <a:latin typeface="Arial"/>
                <a:cs typeface="Arial"/>
              </a:rPr>
              <a:t> </a:t>
            </a:r>
            <a:r>
              <a:rPr sz="1000" spc="-5" dirty="0">
                <a:latin typeface="Arial"/>
                <a:cs typeface="Arial"/>
              </a:rPr>
              <a:t>on is passed </a:t>
            </a:r>
            <a:r>
              <a:rPr sz="1000" spc="-15" dirty="0">
                <a:latin typeface="Arial"/>
                <a:cs typeface="Arial"/>
              </a:rPr>
              <a:t>by</a:t>
            </a:r>
            <a:r>
              <a:rPr sz="1000" dirty="0">
                <a:latin typeface="Arial"/>
                <a:cs typeface="Arial"/>
              </a:rPr>
              <a:t> </a:t>
            </a:r>
            <a:r>
              <a:rPr sz="1000" spc="-5" dirty="0">
                <a:latin typeface="Arial"/>
                <a:cs typeface="Arial"/>
              </a:rPr>
              <a:t>parameters. </a:t>
            </a:r>
            <a:r>
              <a:rPr sz="1000" spc="-265" dirty="0">
                <a:latin typeface="Arial"/>
                <a:cs typeface="Arial"/>
              </a:rPr>
              <a:t> </a:t>
            </a:r>
            <a:r>
              <a:rPr sz="1000" spc="-5" dirty="0">
                <a:latin typeface="Arial"/>
                <a:cs typeface="Arial"/>
              </a:rPr>
              <a:t>Excludes</a:t>
            </a:r>
            <a:r>
              <a:rPr sz="1000" spc="-10" dirty="0">
                <a:latin typeface="Arial"/>
                <a:cs typeface="Arial"/>
              </a:rPr>
              <a:t> </a:t>
            </a:r>
            <a:r>
              <a:rPr sz="1000" spc="-5" dirty="0">
                <a:latin typeface="Arial"/>
                <a:cs typeface="Arial"/>
              </a:rPr>
              <a:t>passing </a:t>
            </a:r>
            <a:r>
              <a:rPr sz="1000" spc="-5" dirty="0">
                <a:solidFill>
                  <a:srgbClr val="0000FA"/>
                </a:solidFill>
                <a:latin typeface="Arial"/>
                <a:cs typeface="Arial"/>
              </a:rPr>
              <a:t>references to (global) data</a:t>
            </a:r>
            <a:r>
              <a:rPr sz="1000" spc="-5" dirty="0">
                <a:latin typeface="Arial"/>
                <a:cs typeface="Arial"/>
              </a:rPr>
              <a:t>.</a:t>
            </a:r>
            <a:endParaRPr sz="1000" dirty="0">
              <a:latin typeface="Arial"/>
              <a:cs typeface="Arial"/>
            </a:endParaRPr>
          </a:p>
          <a:p>
            <a:pPr>
              <a:lnSpc>
                <a:spcPct val="100000"/>
              </a:lnSpc>
              <a:spcBef>
                <a:spcPts val="30"/>
              </a:spcBef>
              <a:buClr>
                <a:srgbClr val="3333B2"/>
              </a:buClr>
              <a:buFont typeface="Arial"/>
              <a:buChar char="►"/>
            </a:pPr>
            <a:endParaRPr sz="1250" dirty="0">
              <a:latin typeface="Arial"/>
              <a:cs typeface="Arial"/>
            </a:endParaRPr>
          </a:p>
          <a:p>
            <a:pPr marL="55244">
              <a:lnSpc>
                <a:spcPts val="1420"/>
              </a:lnSpc>
            </a:pPr>
            <a:r>
              <a:rPr sz="1200" spc="-5" dirty="0">
                <a:solidFill>
                  <a:srgbClr val="FA0000"/>
                </a:solidFill>
                <a:latin typeface="Arial"/>
                <a:cs typeface="Arial"/>
              </a:rPr>
              <a:t>Conclusion</a:t>
            </a:r>
            <a:endParaRPr sz="1200" dirty="0">
              <a:latin typeface="Arial"/>
              <a:cs typeface="Arial"/>
            </a:endParaRPr>
          </a:p>
          <a:p>
            <a:pPr marL="55244">
              <a:lnSpc>
                <a:spcPts val="1180"/>
              </a:lnSpc>
            </a:pPr>
            <a:r>
              <a:rPr sz="1000" spc="-5" dirty="0">
                <a:latin typeface="Arial"/>
                <a:cs typeface="Arial"/>
              </a:rPr>
              <a:t>Full</a:t>
            </a:r>
            <a:r>
              <a:rPr sz="1000" spc="-10" dirty="0">
                <a:latin typeface="Arial"/>
                <a:cs typeface="Arial"/>
              </a:rPr>
              <a:t> </a:t>
            </a:r>
            <a:r>
              <a:rPr sz="1000" spc="-5" dirty="0">
                <a:latin typeface="Arial"/>
                <a:cs typeface="Arial"/>
              </a:rPr>
              <a:t>access transparency cannot be realized.</a:t>
            </a:r>
            <a:endParaRPr sz="1000" dirty="0">
              <a:latin typeface="Arial"/>
              <a:cs typeface="Arial"/>
            </a:endParaRPr>
          </a:p>
          <a:p>
            <a:pPr marL="55244" marR="593725" indent="-5080">
              <a:lnSpc>
                <a:spcPts val="1390"/>
              </a:lnSpc>
              <a:spcBef>
                <a:spcPts val="775"/>
              </a:spcBef>
            </a:pPr>
            <a:r>
              <a:rPr sz="1200" spc="-5" dirty="0">
                <a:solidFill>
                  <a:srgbClr val="3333B2"/>
                </a:solidFill>
                <a:latin typeface="Arial"/>
                <a:cs typeface="Arial"/>
              </a:rPr>
              <a:t>A </a:t>
            </a:r>
            <a:r>
              <a:rPr sz="1200" spc="-5" dirty="0">
                <a:solidFill>
                  <a:srgbClr val="0000FA"/>
                </a:solidFill>
                <a:latin typeface="Arial"/>
                <a:cs typeface="Arial"/>
              </a:rPr>
              <a:t>remote </a:t>
            </a:r>
            <a:r>
              <a:rPr sz="1200" spc="-10" dirty="0">
                <a:solidFill>
                  <a:srgbClr val="0000FA"/>
                </a:solidFill>
                <a:latin typeface="Arial"/>
                <a:cs typeface="Arial"/>
              </a:rPr>
              <a:t>reference</a:t>
            </a:r>
            <a:r>
              <a:rPr sz="1200" spc="-5" dirty="0">
                <a:solidFill>
                  <a:srgbClr val="0000FA"/>
                </a:solidFill>
                <a:latin typeface="Arial"/>
                <a:cs typeface="Arial"/>
              </a:rPr>
              <a:t> </a:t>
            </a:r>
            <a:r>
              <a:rPr sz="1200" spc="-5" dirty="0">
                <a:solidFill>
                  <a:srgbClr val="3333B2"/>
                </a:solidFill>
                <a:latin typeface="Arial"/>
                <a:cs typeface="Arial"/>
              </a:rPr>
              <a:t>mechanism enhances access </a:t>
            </a:r>
            <a:r>
              <a:rPr sz="1200" spc="-315" dirty="0">
                <a:solidFill>
                  <a:srgbClr val="3333B2"/>
                </a:solidFill>
                <a:latin typeface="Arial"/>
                <a:cs typeface="Arial"/>
              </a:rPr>
              <a:t> </a:t>
            </a:r>
            <a:r>
              <a:rPr sz="1200" spc="-5" dirty="0">
                <a:solidFill>
                  <a:srgbClr val="3333B2"/>
                </a:solidFill>
                <a:latin typeface="Arial"/>
                <a:cs typeface="Arial"/>
              </a:rPr>
              <a:t>transparency</a:t>
            </a:r>
            <a:endParaRPr sz="1200" dirty="0">
              <a:latin typeface="Arial"/>
              <a:cs typeface="Arial"/>
            </a:endParaRPr>
          </a:p>
          <a:p>
            <a:pPr marL="332740" indent="-168275">
              <a:lnSpc>
                <a:spcPts val="1200"/>
              </a:lnSpc>
              <a:spcBef>
                <a:spcPts val="745"/>
              </a:spcBef>
              <a:buClr>
                <a:srgbClr val="3333B2"/>
              </a:buClr>
              <a:buChar char="►"/>
              <a:tabLst>
                <a:tab pos="333375" algn="l"/>
              </a:tabLst>
            </a:pPr>
            <a:r>
              <a:rPr sz="1000" spc="-5" dirty="0">
                <a:latin typeface="Arial"/>
                <a:cs typeface="Arial"/>
              </a:rPr>
              <a:t>Remote</a:t>
            </a:r>
            <a:r>
              <a:rPr sz="1000" dirty="0">
                <a:latin typeface="Arial"/>
                <a:cs typeface="Arial"/>
              </a:rPr>
              <a:t> </a:t>
            </a:r>
            <a:r>
              <a:rPr sz="1000" spc="-10" dirty="0">
                <a:latin typeface="Arial"/>
                <a:cs typeface="Arial"/>
              </a:rPr>
              <a:t>reference</a:t>
            </a:r>
            <a:r>
              <a:rPr sz="1000" dirty="0">
                <a:latin typeface="Arial"/>
                <a:cs typeface="Arial"/>
              </a:rPr>
              <a:t> </a:t>
            </a:r>
            <a:r>
              <a:rPr sz="1000" spc="-10" dirty="0">
                <a:latin typeface="Arial"/>
                <a:cs typeface="Arial"/>
              </a:rPr>
              <a:t>offers</a:t>
            </a:r>
            <a:r>
              <a:rPr sz="1000" spc="5" dirty="0">
                <a:latin typeface="Arial"/>
                <a:cs typeface="Arial"/>
              </a:rPr>
              <a:t> </a:t>
            </a:r>
            <a:r>
              <a:rPr sz="1000" spc="-5" dirty="0">
                <a:solidFill>
                  <a:srgbClr val="0000FA"/>
                </a:solidFill>
                <a:latin typeface="Arial"/>
                <a:cs typeface="Arial"/>
              </a:rPr>
              <a:t>unified</a:t>
            </a:r>
            <a:r>
              <a:rPr sz="1000" dirty="0">
                <a:solidFill>
                  <a:srgbClr val="0000FA"/>
                </a:solidFill>
                <a:latin typeface="Arial"/>
                <a:cs typeface="Arial"/>
              </a:rPr>
              <a:t> </a:t>
            </a:r>
            <a:r>
              <a:rPr sz="1000" spc="-5" dirty="0">
                <a:solidFill>
                  <a:srgbClr val="0000FA"/>
                </a:solidFill>
                <a:latin typeface="Arial"/>
                <a:cs typeface="Arial"/>
              </a:rPr>
              <a:t>access</a:t>
            </a:r>
            <a:r>
              <a:rPr sz="1000" spc="5" dirty="0">
                <a:solidFill>
                  <a:srgbClr val="0000FA"/>
                </a:solidFill>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remote</a:t>
            </a:r>
            <a:r>
              <a:rPr sz="1000" spc="5" dirty="0">
                <a:latin typeface="Arial"/>
                <a:cs typeface="Arial"/>
              </a:rPr>
              <a:t> </a:t>
            </a:r>
            <a:r>
              <a:rPr sz="1000" spc="-5" dirty="0">
                <a:latin typeface="Arial"/>
                <a:cs typeface="Arial"/>
              </a:rPr>
              <a:t>data</a:t>
            </a:r>
            <a:endParaRPr sz="1000" dirty="0">
              <a:latin typeface="Arial"/>
              <a:cs typeface="Arial"/>
            </a:endParaRPr>
          </a:p>
          <a:p>
            <a:pPr marL="332740" indent="-168275">
              <a:lnSpc>
                <a:spcPts val="1195"/>
              </a:lnSpc>
              <a:buClr>
                <a:srgbClr val="3333B2"/>
              </a:buClr>
              <a:buChar char="►"/>
              <a:tabLst>
                <a:tab pos="333375" algn="l"/>
              </a:tabLst>
            </a:pPr>
            <a:r>
              <a:rPr sz="1000" spc="-5" dirty="0">
                <a:latin typeface="Arial"/>
                <a:cs typeface="Arial"/>
              </a:rPr>
              <a:t>Remote</a:t>
            </a:r>
            <a:r>
              <a:rPr sz="1000" spc="-10" dirty="0">
                <a:latin typeface="Arial"/>
                <a:cs typeface="Arial"/>
              </a:rPr>
              <a:t> </a:t>
            </a:r>
            <a:r>
              <a:rPr sz="1000" spc="-5" dirty="0">
                <a:latin typeface="Arial"/>
                <a:cs typeface="Arial"/>
              </a:rPr>
              <a:t>references can be </a:t>
            </a:r>
            <a:r>
              <a:rPr sz="1000" spc="-5" dirty="0">
                <a:solidFill>
                  <a:srgbClr val="0000FA"/>
                </a:solidFill>
                <a:latin typeface="Arial"/>
                <a:cs typeface="Arial"/>
              </a:rPr>
              <a:t>passed</a:t>
            </a:r>
            <a:r>
              <a:rPr sz="1000" spc="-10" dirty="0">
                <a:solidFill>
                  <a:srgbClr val="0000FA"/>
                </a:solidFill>
                <a:latin typeface="Arial"/>
                <a:cs typeface="Arial"/>
              </a:rPr>
              <a:t> </a:t>
            </a:r>
            <a:r>
              <a:rPr sz="1000" spc="-5" dirty="0">
                <a:solidFill>
                  <a:srgbClr val="0000FA"/>
                </a:solidFill>
                <a:latin typeface="Arial"/>
                <a:cs typeface="Arial"/>
              </a:rPr>
              <a:t>as parameter </a:t>
            </a:r>
            <a:r>
              <a:rPr sz="1000" spc="-5" dirty="0">
                <a:latin typeface="Arial"/>
                <a:cs typeface="Arial"/>
              </a:rPr>
              <a:t>in RPCs</a:t>
            </a:r>
            <a:endParaRPr sz="1000" dirty="0">
              <a:latin typeface="Arial"/>
              <a:cs typeface="Arial"/>
            </a:endParaRPr>
          </a:p>
          <a:p>
            <a:pPr marL="332740" indent="-168275">
              <a:lnSpc>
                <a:spcPts val="1200"/>
              </a:lnSpc>
              <a:buClr>
                <a:srgbClr val="3333B2"/>
              </a:buClr>
              <a:buChar char="►"/>
              <a:tabLst>
                <a:tab pos="333375" algn="l"/>
              </a:tabLst>
            </a:pPr>
            <a:r>
              <a:rPr sz="1000" spc="-5" dirty="0">
                <a:solidFill>
                  <a:srgbClr val="FA0000"/>
                </a:solidFill>
                <a:latin typeface="Arial"/>
                <a:cs typeface="Arial"/>
              </a:rPr>
              <a:t>Note</a:t>
            </a:r>
            <a:r>
              <a:rPr sz="1000" spc="-5" dirty="0">
                <a:latin typeface="Arial"/>
                <a:cs typeface="Arial"/>
              </a:rPr>
              <a:t>:</a:t>
            </a:r>
            <a:r>
              <a:rPr sz="1000" spc="60" dirty="0">
                <a:latin typeface="Arial"/>
                <a:cs typeface="Arial"/>
              </a:rPr>
              <a:t> </a:t>
            </a:r>
            <a:r>
              <a:rPr sz="1000" spc="-5" dirty="0">
                <a:latin typeface="Arial"/>
                <a:cs typeface="Arial"/>
              </a:rPr>
              <a:t>stubs can sometimes be used as such references</a:t>
            </a:r>
            <a:endParaRPr sz="1000" dirty="0">
              <a:latin typeface="Arial"/>
              <a:cs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3766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Remote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procedure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call</a:t>
            </a:r>
            <a:endParaRPr sz="600">
              <a:latin typeface="Arial"/>
              <a:cs typeface="Arial"/>
            </a:endParaRPr>
          </a:p>
        </p:txBody>
      </p:sp>
      <p:sp>
        <p:nvSpPr>
          <p:cNvPr id="3" name="object 3"/>
          <p:cNvSpPr txBox="1"/>
          <p:nvPr/>
        </p:nvSpPr>
        <p:spPr>
          <a:xfrm>
            <a:off x="3895664" y="716"/>
            <a:ext cx="64579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Variations</a:t>
            </a:r>
            <a:r>
              <a:rPr sz="600" spc="-4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on</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RPC</a:t>
            </a:r>
            <a:endParaRPr sz="600">
              <a:latin typeface="Arial"/>
              <a:cs typeface="Arial"/>
            </a:endParaRPr>
          </a:p>
        </p:txBody>
      </p:sp>
      <p:sp>
        <p:nvSpPr>
          <p:cNvPr id="4" name="object 4"/>
          <p:cNvSpPr txBox="1"/>
          <p:nvPr/>
        </p:nvSpPr>
        <p:spPr>
          <a:xfrm>
            <a:off x="95300" y="188846"/>
            <a:ext cx="3869690" cy="108775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Asynchronous</a:t>
            </a:r>
            <a:r>
              <a:rPr sz="1400" spc="-50" dirty="0">
                <a:solidFill>
                  <a:srgbClr val="3333B2"/>
                </a:solidFill>
                <a:latin typeface="Arial"/>
                <a:cs typeface="Arial"/>
              </a:rPr>
              <a:t> </a:t>
            </a:r>
            <a:r>
              <a:rPr sz="1400" spc="20" dirty="0">
                <a:solidFill>
                  <a:srgbClr val="3333B2"/>
                </a:solidFill>
                <a:latin typeface="Arial"/>
                <a:cs typeface="Arial"/>
              </a:rPr>
              <a:t>RPCs</a:t>
            </a:r>
            <a:endParaRPr sz="1400">
              <a:latin typeface="Arial"/>
              <a:cs typeface="Arial"/>
            </a:endParaRPr>
          </a:p>
          <a:p>
            <a:pPr>
              <a:lnSpc>
                <a:spcPct val="100000"/>
              </a:lnSpc>
              <a:spcBef>
                <a:spcPts val="50"/>
              </a:spcBef>
            </a:pPr>
            <a:endParaRPr sz="2450">
              <a:latin typeface="Arial"/>
              <a:cs typeface="Arial"/>
            </a:endParaRPr>
          </a:p>
          <a:p>
            <a:pPr marL="264160">
              <a:lnSpc>
                <a:spcPts val="1410"/>
              </a:lnSpc>
            </a:pPr>
            <a:r>
              <a:rPr sz="1200" spc="-5" dirty="0">
                <a:solidFill>
                  <a:srgbClr val="3333B2"/>
                </a:solidFill>
                <a:latin typeface="Arial"/>
                <a:cs typeface="Arial"/>
              </a:rPr>
              <a:t>Essence</a:t>
            </a:r>
            <a:endParaRPr sz="1200">
              <a:latin typeface="Arial"/>
              <a:cs typeface="Arial"/>
            </a:endParaRPr>
          </a:p>
          <a:p>
            <a:pPr marL="264160" marR="5080" indent="-4445">
              <a:lnSpc>
                <a:spcPts val="1200"/>
              </a:lnSpc>
              <a:spcBef>
                <a:spcPts val="10"/>
              </a:spcBef>
            </a:pPr>
            <a:r>
              <a:rPr sz="1000" spc="-35" dirty="0">
                <a:latin typeface="Arial"/>
                <a:cs typeface="Arial"/>
              </a:rPr>
              <a:t>Try</a:t>
            </a:r>
            <a:r>
              <a:rPr sz="1000" spc="-5" dirty="0">
                <a:latin typeface="Arial"/>
                <a:cs typeface="Arial"/>
              </a:rPr>
              <a:t> to</a:t>
            </a:r>
            <a:r>
              <a:rPr sz="1000" dirty="0">
                <a:latin typeface="Arial"/>
                <a:cs typeface="Arial"/>
              </a:rPr>
              <a:t> </a:t>
            </a:r>
            <a:r>
              <a:rPr sz="1000" spc="-5" dirty="0">
                <a:latin typeface="Arial"/>
                <a:cs typeface="Arial"/>
              </a:rPr>
              <a:t>get </a:t>
            </a:r>
            <a:r>
              <a:rPr sz="1000" dirty="0">
                <a:latin typeface="Arial"/>
                <a:cs typeface="Arial"/>
              </a:rPr>
              <a:t>rid </a:t>
            </a:r>
            <a:r>
              <a:rPr sz="1000" spc="-5" dirty="0">
                <a:latin typeface="Arial"/>
                <a:cs typeface="Arial"/>
              </a:rPr>
              <a:t>of</a:t>
            </a:r>
            <a:r>
              <a:rPr sz="1000" dirty="0">
                <a:latin typeface="Arial"/>
                <a:cs typeface="Arial"/>
              </a:rPr>
              <a:t> </a:t>
            </a:r>
            <a:r>
              <a:rPr sz="1000" spc="-5" dirty="0">
                <a:latin typeface="Arial"/>
                <a:cs typeface="Arial"/>
              </a:rPr>
              <a:t>the </a:t>
            </a:r>
            <a:r>
              <a:rPr sz="1000" dirty="0">
                <a:latin typeface="Arial"/>
                <a:cs typeface="Arial"/>
              </a:rPr>
              <a:t>strict </a:t>
            </a:r>
            <a:r>
              <a:rPr sz="1000" spc="-5" dirty="0">
                <a:latin typeface="Arial"/>
                <a:cs typeface="Arial"/>
              </a:rPr>
              <a:t>request-reply </a:t>
            </a:r>
            <a:r>
              <a:rPr sz="1000" spc="-10" dirty="0">
                <a:latin typeface="Arial"/>
                <a:cs typeface="Arial"/>
              </a:rPr>
              <a:t>behavior,</a:t>
            </a:r>
            <a:r>
              <a:rPr sz="1000" dirty="0">
                <a:latin typeface="Arial"/>
                <a:cs typeface="Arial"/>
              </a:rPr>
              <a:t> </a:t>
            </a:r>
            <a:r>
              <a:rPr sz="1000" spc="-10" dirty="0">
                <a:latin typeface="Arial"/>
                <a:cs typeface="Arial"/>
              </a:rPr>
              <a:t>but</a:t>
            </a:r>
            <a:r>
              <a:rPr sz="1000" dirty="0">
                <a:latin typeface="Arial"/>
                <a:cs typeface="Arial"/>
              </a:rPr>
              <a:t> </a:t>
            </a:r>
            <a:r>
              <a:rPr sz="1000" spc="-5" dirty="0">
                <a:latin typeface="Arial"/>
                <a:cs typeface="Arial"/>
              </a:rPr>
              <a:t>let the</a:t>
            </a:r>
            <a:r>
              <a:rPr sz="1000" dirty="0">
                <a:latin typeface="Arial"/>
                <a:cs typeface="Arial"/>
              </a:rPr>
              <a:t> </a:t>
            </a:r>
            <a:r>
              <a:rPr sz="1000" spc="-5" dirty="0">
                <a:latin typeface="Arial"/>
                <a:cs typeface="Arial"/>
              </a:rPr>
              <a:t>client </a:t>
            </a:r>
            <a:r>
              <a:rPr sz="1000" spc="-265" dirty="0">
                <a:latin typeface="Arial"/>
                <a:cs typeface="Arial"/>
              </a:rPr>
              <a:t> </a:t>
            </a:r>
            <a:r>
              <a:rPr sz="1000" spc="-5" dirty="0">
                <a:latin typeface="Arial"/>
                <a:cs typeface="Arial"/>
              </a:rPr>
              <a:t>continue without waiting</a:t>
            </a:r>
            <a:r>
              <a:rPr sz="1000" spc="-10" dirty="0">
                <a:latin typeface="Arial"/>
                <a:cs typeface="Arial"/>
              </a:rPr>
              <a:t> </a:t>
            </a:r>
            <a:r>
              <a:rPr sz="1000" spc="-15" dirty="0">
                <a:latin typeface="Arial"/>
                <a:cs typeface="Arial"/>
              </a:rPr>
              <a:t>for</a:t>
            </a:r>
            <a:r>
              <a:rPr sz="1000" spc="-5" dirty="0">
                <a:latin typeface="Arial"/>
                <a:cs typeface="Arial"/>
              </a:rPr>
              <a:t> an </a:t>
            </a:r>
            <a:r>
              <a:rPr sz="1000" spc="-10" dirty="0">
                <a:latin typeface="Arial"/>
                <a:cs typeface="Arial"/>
              </a:rPr>
              <a:t>answer</a:t>
            </a:r>
            <a:r>
              <a:rPr sz="1000" spc="-5" dirty="0">
                <a:latin typeface="Arial"/>
                <a:cs typeface="Arial"/>
              </a:rPr>
              <a:t> from the </a:t>
            </a:r>
            <a:r>
              <a:rPr sz="1000" spc="-10" dirty="0">
                <a:latin typeface="Arial"/>
                <a:cs typeface="Arial"/>
              </a:rPr>
              <a:t>server.</a:t>
            </a:r>
            <a:endParaRPr sz="1000">
              <a:latin typeface="Arial"/>
              <a:cs typeface="Arial"/>
            </a:endParaRPr>
          </a:p>
        </p:txBody>
      </p:sp>
      <p:sp>
        <p:nvSpPr>
          <p:cNvPr id="5" name="object 5"/>
          <p:cNvSpPr txBox="1"/>
          <p:nvPr/>
        </p:nvSpPr>
        <p:spPr>
          <a:xfrm>
            <a:off x="1809012" y="2526708"/>
            <a:ext cx="7708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Call</a:t>
            </a:r>
            <a:r>
              <a:rPr sz="650" spc="-30" dirty="0">
                <a:solidFill>
                  <a:srgbClr val="231F20"/>
                </a:solidFill>
                <a:latin typeface="Arial"/>
                <a:cs typeface="Arial"/>
              </a:rPr>
              <a:t> </a:t>
            </a:r>
            <a:r>
              <a:rPr sz="650" spc="5" dirty="0">
                <a:solidFill>
                  <a:srgbClr val="231F20"/>
                </a:solidFill>
                <a:latin typeface="Arial"/>
                <a:cs typeface="Arial"/>
              </a:rPr>
              <a:t>local</a:t>
            </a:r>
            <a:r>
              <a:rPr sz="650" spc="-30" dirty="0">
                <a:solidFill>
                  <a:srgbClr val="231F20"/>
                </a:solidFill>
                <a:latin typeface="Arial"/>
                <a:cs typeface="Arial"/>
              </a:rPr>
              <a:t> </a:t>
            </a:r>
            <a:r>
              <a:rPr sz="650" spc="5" dirty="0">
                <a:solidFill>
                  <a:srgbClr val="231F20"/>
                </a:solidFill>
                <a:latin typeface="Arial"/>
                <a:cs typeface="Arial"/>
              </a:rPr>
              <a:t>procedure</a:t>
            </a:r>
            <a:endParaRPr sz="650">
              <a:latin typeface="Arial"/>
              <a:cs typeface="Arial"/>
            </a:endParaRPr>
          </a:p>
        </p:txBody>
      </p:sp>
      <p:sp>
        <p:nvSpPr>
          <p:cNvPr id="6" name="object 6"/>
          <p:cNvSpPr txBox="1"/>
          <p:nvPr/>
        </p:nvSpPr>
        <p:spPr>
          <a:xfrm>
            <a:off x="1149735" y="1933419"/>
            <a:ext cx="456565" cy="211454"/>
          </a:xfrm>
          <a:prstGeom prst="rect">
            <a:avLst/>
          </a:prstGeom>
        </p:spPr>
        <p:txBody>
          <a:bodyPr vert="horz" wrap="square" lIns="0" tIns="29845" rIns="0" bIns="0" rtlCol="0">
            <a:spAutoFit/>
          </a:bodyPr>
          <a:lstStyle/>
          <a:p>
            <a:pPr marL="12700" marR="5080" indent="-635">
              <a:lnSpc>
                <a:spcPts val="660"/>
              </a:lnSpc>
              <a:spcBef>
                <a:spcPts val="235"/>
              </a:spcBef>
            </a:pPr>
            <a:r>
              <a:rPr sz="650" spc="5" dirty="0">
                <a:solidFill>
                  <a:srgbClr val="231F20"/>
                </a:solidFill>
                <a:latin typeface="Arial"/>
                <a:cs typeface="Arial"/>
              </a:rPr>
              <a:t>Call remote  procedure</a:t>
            </a:r>
            <a:endParaRPr sz="650">
              <a:latin typeface="Arial"/>
              <a:cs typeface="Arial"/>
            </a:endParaRPr>
          </a:p>
        </p:txBody>
      </p:sp>
      <p:sp>
        <p:nvSpPr>
          <p:cNvPr id="7" name="object 7"/>
          <p:cNvSpPr txBox="1"/>
          <p:nvPr/>
        </p:nvSpPr>
        <p:spPr>
          <a:xfrm>
            <a:off x="2105383" y="1926493"/>
            <a:ext cx="349885" cy="216535"/>
          </a:xfrm>
          <a:prstGeom prst="rect">
            <a:avLst/>
          </a:prstGeom>
        </p:spPr>
        <p:txBody>
          <a:bodyPr vert="horz" wrap="square" lIns="0" tIns="24765" rIns="0" bIns="0" rtlCol="0">
            <a:spAutoFit/>
          </a:bodyPr>
          <a:lstStyle/>
          <a:p>
            <a:pPr marL="18415" marR="5080" indent="-6350">
              <a:lnSpc>
                <a:spcPts val="710"/>
              </a:lnSpc>
              <a:spcBef>
                <a:spcPts val="195"/>
              </a:spcBef>
            </a:pPr>
            <a:r>
              <a:rPr sz="650" spc="5" dirty="0">
                <a:solidFill>
                  <a:srgbClr val="231F20"/>
                </a:solidFill>
                <a:latin typeface="Arial"/>
                <a:cs typeface="Arial"/>
              </a:rPr>
              <a:t>Return </a:t>
            </a:r>
            <a:r>
              <a:rPr sz="650" spc="10" dirty="0">
                <a:solidFill>
                  <a:srgbClr val="231F20"/>
                </a:solidFill>
                <a:latin typeface="Arial"/>
                <a:cs typeface="Arial"/>
              </a:rPr>
              <a:t> </a:t>
            </a:r>
            <a:r>
              <a:rPr sz="650" spc="5" dirty="0">
                <a:solidFill>
                  <a:srgbClr val="231F20"/>
                </a:solidFill>
                <a:latin typeface="Arial"/>
                <a:cs typeface="Arial"/>
              </a:rPr>
              <a:t>from</a:t>
            </a:r>
            <a:r>
              <a:rPr sz="650" dirty="0">
                <a:solidFill>
                  <a:srgbClr val="231F20"/>
                </a:solidFill>
                <a:latin typeface="Arial"/>
                <a:cs typeface="Arial"/>
              </a:rPr>
              <a:t> </a:t>
            </a:r>
            <a:r>
              <a:rPr sz="650" spc="5" dirty="0">
                <a:solidFill>
                  <a:srgbClr val="231F20"/>
                </a:solidFill>
                <a:latin typeface="Arial"/>
                <a:cs typeface="Arial"/>
              </a:rPr>
              <a:t>call</a:t>
            </a:r>
            <a:endParaRPr sz="650">
              <a:latin typeface="Arial"/>
              <a:cs typeface="Arial"/>
            </a:endParaRPr>
          </a:p>
        </p:txBody>
      </p:sp>
      <p:sp>
        <p:nvSpPr>
          <p:cNvPr id="8" name="object 8"/>
          <p:cNvSpPr txBox="1"/>
          <p:nvPr/>
        </p:nvSpPr>
        <p:spPr>
          <a:xfrm>
            <a:off x="1104610" y="1656265"/>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a:t>
            </a:r>
            <a:endParaRPr sz="650">
              <a:latin typeface="Arial"/>
              <a:cs typeface="Arial"/>
            </a:endParaRPr>
          </a:p>
        </p:txBody>
      </p:sp>
      <p:sp>
        <p:nvSpPr>
          <p:cNvPr id="9" name="object 9"/>
          <p:cNvSpPr txBox="1"/>
          <p:nvPr/>
        </p:nvSpPr>
        <p:spPr>
          <a:xfrm>
            <a:off x="1358385" y="2316518"/>
            <a:ext cx="3397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Request</a:t>
            </a:r>
            <a:endParaRPr sz="650">
              <a:latin typeface="Arial"/>
              <a:cs typeface="Arial"/>
            </a:endParaRPr>
          </a:p>
        </p:txBody>
      </p:sp>
      <p:sp>
        <p:nvSpPr>
          <p:cNvPr id="10" name="object 10"/>
          <p:cNvSpPr txBox="1"/>
          <p:nvPr/>
        </p:nvSpPr>
        <p:spPr>
          <a:xfrm>
            <a:off x="1914591" y="2226878"/>
            <a:ext cx="313055" cy="215265"/>
          </a:xfrm>
          <a:prstGeom prst="rect">
            <a:avLst/>
          </a:prstGeom>
        </p:spPr>
        <p:txBody>
          <a:bodyPr vert="horz" wrap="square" lIns="0" tIns="25400" rIns="0" bIns="0" rtlCol="0">
            <a:spAutoFit/>
          </a:bodyPr>
          <a:lstStyle/>
          <a:p>
            <a:pPr marL="19050" marR="5080" indent="-6985">
              <a:lnSpc>
                <a:spcPts val="700"/>
              </a:lnSpc>
              <a:spcBef>
                <a:spcPts val="200"/>
              </a:spcBef>
            </a:pPr>
            <a:r>
              <a:rPr sz="650" spc="5" dirty="0">
                <a:solidFill>
                  <a:srgbClr val="231F20"/>
                </a:solidFill>
                <a:latin typeface="Arial"/>
                <a:cs typeface="Arial"/>
              </a:rPr>
              <a:t>Accept </a:t>
            </a:r>
            <a:r>
              <a:rPr sz="650" spc="-170" dirty="0">
                <a:solidFill>
                  <a:srgbClr val="231F20"/>
                </a:solidFill>
                <a:latin typeface="Arial"/>
                <a:cs typeface="Arial"/>
              </a:rPr>
              <a:t> </a:t>
            </a:r>
            <a:r>
              <a:rPr sz="650" spc="5" dirty="0">
                <a:solidFill>
                  <a:srgbClr val="231F20"/>
                </a:solidFill>
                <a:latin typeface="Arial"/>
                <a:cs typeface="Arial"/>
              </a:rPr>
              <a:t>request</a:t>
            </a:r>
            <a:endParaRPr sz="650">
              <a:latin typeface="Arial"/>
              <a:cs typeface="Arial"/>
            </a:endParaRPr>
          </a:p>
        </p:txBody>
      </p:sp>
      <p:sp>
        <p:nvSpPr>
          <p:cNvPr id="11" name="object 11"/>
          <p:cNvSpPr txBox="1"/>
          <p:nvPr/>
        </p:nvSpPr>
        <p:spPr>
          <a:xfrm>
            <a:off x="1092302" y="2524053"/>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a:t>
            </a:r>
            <a:endParaRPr sz="650">
              <a:latin typeface="Arial"/>
              <a:cs typeface="Arial"/>
            </a:endParaRPr>
          </a:p>
        </p:txBody>
      </p:sp>
      <p:sp>
        <p:nvSpPr>
          <p:cNvPr id="12" name="object 12"/>
          <p:cNvSpPr txBox="1"/>
          <p:nvPr/>
        </p:nvSpPr>
        <p:spPr>
          <a:xfrm>
            <a:off x="3006432" y="2525679"/>
            <a:ext cx="210185" cy="127000"/>
          </a:xfrm>
          <a:prstGeom prst="rect">
            <a:avLst/>
          </a:prstGeom>
        </p:spPr>
        <p:txBody>
          <a:bodyPr vert="horz" wrap="square" lIns="0" tIns="13970" rIns="0" bIns="0" rtlCol="0">
            <a:spAutoFit/>
          </a:bodyPr>
          <a:lstStyle/>
          <a:p>
            <a:pPr marL="12700">
              <a:lnSpc>
                <a:spcPct val="100000"/>
              </a:lnSpc>
              <a:spcBef>
                <a:spcPts val="110"/>
              </a:spcBef>
            </a:pPr>
            <a:r>
              <a:rPr sz="650" spc="-20" dirty="0">
                <a:solidFill>
                  <a:srgbClr val="231F20"/>
                </a:solidFill>
                <a:latin typeface="Arial"/>
                <a:cs typeface="Arial"/>
              </a:rPr>
              <a:t>T</a:t>
            </a:r>
            <a:r>
              <a:rPr sz="650" spc="5" dirty="0">
                <a:solidFill>
                  <a:srgbClr val="231F20"/>
                </a:solidFill>
                <a:latin typeface="Arial"/>
                <a:cs typeface="Arial"/>
              </a:rPr>
              <a:t>ime</a:t>
            </a:r>
            <a:endParaRPr sz="650">
              <a:latin typeface="Arial"/>
              <a:cs typeface="Arial"/>
            </a:endParaRPr>
          </a:p>
        </p:txBody>
      </p:sp>
      <p:sp>
        <p:nvSpPr>
          <p:cNvPr id="13" name="object 13"/>
          <p:cNvSpPr txBox="1"/>
          <p:nvPr/>
        </p:nvSpPr>
        <p:spPr>
          <a:xfrm>
            <a:off x="1601003" y="1597812"/>
            <a:ext cx="457200" cy="216535"/>
          </a:xfrm>
          <a:prstGeom prst="rect">
            <a:avLst/>
          </a:prstGeom>
        </p:spPr>
        <p:txBody>
          <a:bodyPr vert="horz" wrap="square" lIns="0" tIns="24765" rIns="0" bIns="0" rtlCol="0">
            <a:spAutoFit/>
          </a:bodyPr>
          <a:lstStyle/>
          <a:p>
            <a:pPr marL="12700" marR="5080" indent="73025">
              <a:lnSpc>
                <a:spcPts val="710"/>
              </a:lnSpc>
              <a:spcBef>
                <a:spcPts val="195"/>
              </a:spcBef>
            </a:pPr>
            <a:r>
              <a:rPr sz="650" dirty="0">
                <a:solidFill>
                  <a:srgbClr val="231F20"/>
                </a:solidFill>
                <a:latin typeface="Arial"/>
                <a:cs typeface="Arial"/>
              </a:rPr>
              <a:t>Wait </a:t>
            </a:r>
            <a:r>
              <a:rPr sz="650" spc="5" dirty="0">
                <a:solidFill>
                  <a:srgbClr val="231F20"/>
                </a:solidFill>
                <a:latin typeface="Arial"/>
                <a:cs typeface="Arial"/>
              </a:rPr>
              <a:t>for </a:t>
            </a:r>
            <a:r>
              <a:rPr sz="650" spc="10" dirty="0">
                <a:solidFill>
                  <a:srgbClr val="231F20"/>
                </a:solidFill>
                <a:latin typeface="Arial"/>
                <a:cs typeface="Arial"/>
              </a:rPr>
              <a:t> </a:t>
            </a:r>
            <a:r>
              <a:rPr sz="650" spc="5" dirty="0">
                <a:solidFill>
                  <a:srgbClr val="231F20"/>
                </a:solidFill>
                <a:latin typeface="Arial"/>
                <a:cs typeface="Arial"/>
              </a:rPr>
              <a:t>acceptance</a:t>
            </a:r>
            <a:endParaRPr sz="650">
              <a:latin typeface="Arial"/>
              <a:cs typeface="Arial"/>
            </a:endParaRPr>
          </a:p>
        </p:txBody>
      </p:sp>
      <p:sp>
        <p:nvSpPr>
          <p:cNvPr id="14" name="object 14"/>
          <p:cNvSpPr txBox="1"/>
          <p:nvPr/>
        </p:nvSpPr>
        <p:spPr>
          <a:xfrm>
            <a:off x="2585891" y="1597771"/>
            <a:ext cx="6629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Callback</a:t>
            </a:r>
            <a:r>
              <a:rPr sz="650" spc="-35" dirty="0">
                <a:solidFill>
                  <a:srgbClr val="231F20"/>
                </a:solidFill>
                <a:latin typeface="Arial"/>
                <a:cs typeface="Arial"/>
              </a:rPr>
              <a:t> </a:t>
            </a:r>
            <a:r>
              <a:rPr sz="650" spc="5" dirty="0">
                <a:solidFill>
                  <a:srgbClr val="231F20"/>
                </a:solidFill>
                <a:latin typeface="Arial"/>
                <a:cs typeface="Arial"/>
              </a:rPr>
              <a:t>to</a:t>
            </a:r>
            <a:r>
              <a:rPr sz="650" spc="-30" dirty="0">
                <a:solidFill>
                  <a:srgbClr val="231F20"/>
                </a:solidFill>
                <a:latin typeface="Arial"/>
                <a:cs typeface="Arial"/>
              </a:rPr>
              <a:t> </a:t>
            </a:r>
            <a:r>
              <a:rPr sz="650" spc="5" dirty="0">
                <a:solidFill>
                  <a:srgbClr val="231F20"/>
                </a:solidFill>
                <a:latin typeface="Arial"/>
                <a:cs typeface="Arial"/>
              </a:rPr>
              <a:t>client</a:t>
            </a:r>
            <a:endParaRPr sz="650">
              <a:latin typeface="Arial"/>
              <a:cs typeface="Arial"/>
            </a:endParaRPr>
          </a:p>
        </p:txBody>
      </p:sp>
      <p:sp>
        <p:nvSpPr>
          <p:cNvPr id="15" name="object 15"/>
          <p:cNvSpPr txBox="1"/>
          <p:nvPr/>
        </p:nvSpPr>
        <p:spPr>
          <a:xfrm>
            <a:off x="2641589" y="2046010"/>
            <a:ext cx="278765" cy="216535"/>
          </a:xfrm>
          <a:prstGeom prst="rect">
            <a:avLst/>
          </a:prstGeom>
        </p:spPr>
        <p:txBody>
          <a:bodyPr vert="horz" wrap="square" lIns="0" tIns="24765" rIns="0" bIns="0" rtlCol="0">
            <a:spAutoFit/>
          </a:bodyPr>
          <a:lstStyle/>
          <a:p>
            <a:pPr marL="15240" marR="5080" indent="-3175">
              <a:lnSpc>
                <a:spcPts val="710"/>
              </a:lnSpc>
              <a:spcBef>
                <a:spcPts val="195"/>
              </a:spcBef>
            </a:pPr>
            <a:r>
              <a:rPr sz="650" spc="5" dirty="0">
                <a:solidFill>
                  <a:srgbClr val="231F20"/>
                </a:solidFill>
                <a:latin typeface="Arial"/>
                <a:cs typeface="Arial"/>
              </a:rPr>
              <a:t>Return  results</a:t>
            </a:r>
            <a:endParaRPr sz="650">
              <a:latin typeface="Arial"/>
              <a:cs typeface="Arial"/>
            </a:endParaRPr>
          </a:p>
        </p:txBody>
      </p:sp>
      <p:grpSp>
        <p:nvGrpSpPr>
          <p:cNvPr id="16" name="object 16"/>
          <p:cNvGrpSpPr/>
          <p:nvPr/>
        </p:nvGrpSpPr>
        <p:grpSpPr>
          <a:xfrm>
            <a:off x="1173337" y="1701520"/>
            <a:ext cx="2326640" cy="915669"/>
            <a:chOff x="1173337" y="1701520"/>
            <a:chExt cx="2326640" cy="915669"/>
          </a:xfrm>
        </p:grpSpPr>
        <p:sp>
          <p:nvSpPr>
            <p:cNvPr id="17" name="object 17"/>
            <p:cNvSpPr/>
            <p:nvPr/>
          </p:nvSpPr>
          <p:spPr>
            <a:xfrm>
              <a:off x="1644725" y="1815911"/>
              <a:ext cx="360045" cy="1270"/>
            </a:xfrm>
            <a:custGeom>
              <a:avLst/>
              <a:gdLst/>
              <a:ahLst/>
              <a:cxnLst/>
              <a:rect l="l" t="t" r="r" b="b"/>
              <a:pathLst>
                <a:path w="360044" h="1269">
                  <a:moveTo>
                    <a:pt x="0" y="0"/>
                  </a:moveTo>
                  <a:lnTo>
                    <a:pt x="359551" y="1102"/>
                  </a:lnTo>
                </a:path>
              </a:pathLst>
            </a:custGeom>
            <a:ln w="5270">
              <a:solidFill>
                <a:srgbClr val="231F20"/>
              </a:solidFill>
              <a:prstDash val="lgDash"/>
            </a:ln>
          </p:spPr>
          <p:txBody>
            <a:bodyPr wrap="square" lIns="0" tIns="0" rIns="0" bIns="0" rtlCol="0"/>
            <a:lstStyle/>
            <a:p>
              <a:endParaRPr/>
            </a:p>
          </p:txBody>
        </p:sp>
        <p:sp>
          <p:nvSpPr>
            <p:cNvPr id="18" name="object 18"/>
            <p:cNvSpPr/>
            <p:nvPr/>
          </p:nvSpPr>
          <p:spPr>
            <a:xfrm>
              <a:off x="2917608" y="1817014"/>
              <a:ext cx="360045" cy="1270"/>
            </a:xfrm>
            <a:custGeom>
              <a:avLst/>
              <a:gdLst/>
              <a:ahLst/>
              <a:cxnLst/>
              <a:rect l="l" t="t" r="r" b="b"/>
              <a:pathLst>
                <a:path w="360045" h="1269">
                  <a:moveTo>
                    <a:pt x="0" y="0"/>
                  </a:moveTo>
                  <a:lnTo>
                    <a:pt x="359553" y="1099"/>
                  </a:lnTo>
                </a:path>
              </a:pathLst>
            </a:custGeom>
            <a:ln w="5270">
              <a:solidFill>
                <a:srgbClr val="231F20"/>
              </a:solidFill>
              <a:prstDash val="lgDash"/>
            </a:ln>
          </p:spPr>
          <p:txBody>
            <a:bodyPr wrap="square" lIns="0" tIns="0" rIns="0" bIns="0" rtlCol="0"/>
            <a:lstStyle/>
            <a:p>
              <a:endParaRPr/>
            </a:p>
          </p:txBody>
        </p:sp>
        <p:sp>
          <p:nvSpPr>
            <p:cNvPr id="19" name="object 19"/>
            <p:cNvSpPr/>
            <p:nvPr/>
          </p:nvSpPr>
          <p:spPr>
            <a:xfrm>
              <a:off x="2005195" y="1817014"/>
              <a:ext cx="1484630" cy="1270"/>
            </a:xfrm>
            <a:custGeom>
              <a:avLst/>
              <a:gdLst/>
              <a:ahLst/>
              <a:cxnLst/>
              <a:rect l="l" t="t" r="r" b="b"/>
              <a:pathLst>
                <a:path w="1484629" h="1269">
                  <a:moveTo>
                    <a:pt x="1038599" y="0"/>
                  </a:moveTo>
                  <a:lnTo>
                    <a:pt x="0" y="0"/>
                  </a:lnTo>
                </a:path>
                <a:path w="1484629" h="1269">
                  <a:moveTo>
                    <a:pt x="1484114" y="0"/>
                  </a:moveTo>
                  <a:lnTo>
                    <a:pt x="1091641" y="1099"/>
                  </a:lnTo>
                </a:path>
              </a:pathLst>
            </a:custGeom>
            <a:ln w="21083">
              <a:solidFill>
                <a:srgbClr val="231F20"/>
              </a:solidFill>
            </a:ln>
          </p:spPr>
          <p:txBody>
            <a:bodyPr wrap="square" lIns="0" tIns="0" rIns="0" bIns="0" rtlCol="0"/>
            <a:lstStyle/>
            <a:p>
              <a:endParaRPr/>
            </a:p>
          </p:txBody>
        </p:sp>
        <p:sp>
          <p:nvSpPr>
            <p:cNvPr id="20" name="object 20"/>
            <p:cNvSpPr/>
            <p:nvPr/>
          </p:nvSpPr>
          <p:spPr>
            <a:xfrm>
              <a:off x="1173337" y="2502574"/>
              <a:ext cx="2326005" cy="0"/>
            </a:xfrm>
            <a:custGeom>
              <a:avLst/>
              <a:gdLst/>
              <a:ahLst/>
              <a:cxnLst/>
              <a:rect l="l" t="t" r="r" b="b"/>
              <a:pathLst>
                <a:path w="2326004">
                  <a:moveTo>
                    <a:pt x="2325859" y="0"/>
                  </a:moveTo>
                  <a:lnTo>
                    <a:pt x="0" y="0"/>
                  </a:lnTo>
                </a:path>
              </a:pathLst>
            </a:custGeom>
            <a:ln w="5270">
              <a:solidFill>
                <a:srgbClr val="231F20"/>
              </a:solidFill>
              <a:prstDash val="lgDash"/>
            </a:ln>
          </p:spPr>
          <p:txBody>
            <a:bodyPr wrap="square" lIns="0" tIns="0" rIns="0" bIns="0" rtlCol="0"/>
            <a:lstStyle/>
            <a:p>
              <a:endParaRPr/>
            </a:p>
          </p:txBody>
        </p:sp>
        <p:sp>
          <p:nvSpPr>
            <p:cNvPr id="21" name="object 21"/>
            <p:cNvSpPr/>
            <p:nvPr/>
          </p:nvSpPr>
          <p:spPr>
            <a:xfrm>
              <a:off x="1825916" y="1851507"/>
              <a:ext cx="170180" cy="651510"/>
            </a:xfrm>
            <a:custGeom>
              <a:avLst/>
              <a:gdLst/>
              <a:ahLst/>
              <a:cxnLst/>
              <a:rect l="l" t="t" r="r" b="b"/>
              <a:pathLst>
                <a:path w="170180" h="651510">
                  <a:moveTo>
                    <a:pt x="0" y="651075"/>
                  </a:moveTo>
                  <a:lnTo>
                    <a:pt x="169846" y="0"/>
                  </a:lnTo>
                </a:path>
              </a:pathLst>
            </a:custGeom>
            <a:ln w="5270">
              <a:solidFill>
                <a:srgbClr val="231F20"/>
              </a:solidFill>
            </a:ln>
          </p:spPr>
          <p:txBody>
            <a:bodyPr wrap="square" lIns="0" tIns="0" rIns="0" bIns="0" rtlCol="0"/>
            <a:lstStyle/>
            <a:p>
              <a:endParaRPr/>
            </a:p>
          </p:txBody>
        </p:sp>
        <p:sp>
          <p:nvSpPr>
            <p:cNvPr id="22" name="object 22"/>
            <p:cNvSpPr/>
            <p:nvPr/>
          </p:nvSpPr>
          <p:spPr>
            <a:xfrm>
              <a:off x="1955578" y="1815342"/>
              <a:ext cx="62230" cy="80010"/>
            </a:xfrm>
            <a:custGeom>
              <a:avLst/>
              <a:gdLst/>
              <a:ahLst/>
              <a:cxnLst/>
              <a:rect l="l" t="t" r="r" b="b"/>
              <a:pathLst>
                <a:path w="62230" h="80010">
                  <a:moveTo>
                    <a:pt x="49616" y="0"/>
                  </a:moveTo>
                  <a:lnTo>
                    <a:pt x="0" y="63921"/>
                  </a:lnTo>
                  <a:lnTo>
                    <a:pt x="16930" y="62160"/>
                  </a:lnTo>
                  <a:lnTo>
                    <a:pt x="32854" y="64256"/>
                  </a:lnTo>
                  <a:lnTo>
                    <a:pt x="47772" y="70207"/>
                  </a:lnTo>
                  <a:lnTo>
                    <a:pt x="61684" y="80013"/>
                  </a:lnTo>
                  <a:lnTo>
                    <a:pt x="49616" y="0"/>
                  </a:lnTo>
                  <a:close/>
                </a:path>
              </a:pathLst>
            </a:custGeom>
            <a:solidFill>
              <a:srgbClr val="231F20"/>
            </a:solidFill>
          </p:spPr>
          <p:txBody>
            <a:bodyPr wrap="square" lIns="0" tIns="0" rIns="0" bIns="0" rtlCol="0"/>
            <a:lstStyle/>
            <a:p>
              <a:endParaRPr/>
            </a:p>
          </p:txBody>
        </p:sp>
        <p:sp>
          <p:nvSpPr>
            <p:cNvPr id="23" name="object 23"/>
            <p:cNvSpPr/>
            <p:nvPr/>
          </p:nvSpPr>
          <p:spPr>
            <a:xfrm>
              <a:off x="2871712" y="1851507"/>
              <a:ext cx="170180" cy="651510"/>
            </a:xfrm>
            <a:custGeom>
              <a:avLst/>
              <a:gdLst/>
              <a:ahLst/>
              <a:cxnLst/>
              <a:rect l="l" t="t" r="r" b="b"/>
              <a:pathLst>
                <a:path w="170180" h="651510">
                  <a:moveTo>
                    <a:pt x="0" y="651075"/>
                  </a:moveTo>
                  <a:lnTo>
                    <a:pt x="169847" y="0"/>
                  </a:lnTo>
                </a:path>
              </a:pathLst>
            </a:custGeom>
            <a:ln w="5270">
              <a:solidFill>
                <a:srgbClr val="231F20"/>
              </a:solidFill>
            </a:ln>
          </p:spPr>
          <p:txBody>
            <a:bodyPr wrap="square" lIns="0" tIns="0" rIns="0" bIns="0" rtlCol="0"/>
            <a:lstStyle/>
            <a:p>
              <a:endParaRPr/>
            </a:p>
          </p:txBody>
        </p:sp>
        <p:sp>
          <p:nvSpPr>
            <p:cNvPr id="24" name="object 24"/>
            <p:cNvSpPr/>
            <p:nvPr/>
          </p:nvSpPr>
          <p:spPr>
            <a:xfrm>
              <a:off x="3001377" y="1815342"/>
              <a:ext cx="62230" cy="80010"/>
            </a:xfrm>
            <a:custGeom>
              <a:avLst/>
              <a:gdLst/>
              <a:ahLst/>
              <a:cxnLst/>
              <a:rect l="l" t="t" r="r" b="b"/>
              <a:pathLst>
                <a:path w="62230" h="80010">
                  <a:moveTo>
                    <a:pt x="49616" y="0"/>
                  </a:moveTo>
                  <a:lnTo>
                    <a:pt x="0" y="63921"/>
                  </a:lnTo>
                  <a:lnTo>
                    <a:pt x="16929" y="62160"/>
                  </a:lnTo>
                  <a:lnTo>
                    <a:pt x="32854" y="64256"/>
                  </a:lnTo>
                  <a:lnTo>
                    <a:pt x="47773" y="70207"/>
                  </a:lnTo>
                  <a:lnTo>
                    <a:pt x="61685" y="80013"/>
                  </a:lnTo>
                  <a:lnTo>
                    <a:pt x="49616" y="0"/>
                  </a:lnTo>
                  <a:close/>
                </a:path>
              </a:pathLst>
            </a:custGeom>
            <a:solidFill>
              <a:srgbClr val="231F20"/>
            </a:solidFill>
          </p:spPr>
          <p:txBody>
            <a:bodyPr wrap="square" lIns="0" tIns="0" rIns="0" bIns="0" rtlCol="0"/>
            <a:lstStyle/>
            <a:p>
              <a:endParaRPr/>
            </a:p>
          </p:txBody>
        </p:sp>
        <p:sp>
          <p:nvSpPr>
            <p:cNvPr id="25" name="object 25"/>
            <p:cNvSpPr/>
            <p:nvPr/>
          </p:nvSpPr>
          <p:spPr>
            <a:xfrm>
              <a:off x="1646636" y="1815342"/>
              <a:ext cx="141605" cy="650875"/>
            </a:xfrm>
            <a:custGeom>
              <a:avLst/>
              <a:gdLst/>
              <a:ahLst/>
              <a:cxnLst/>
              <a:rect l="l" t="t" r="r" b="b"/>
              <a:pathLst>
                <a:path w="141605" h="650875">
                  <a:moveTo>
                    <a:pt x="0" y="0"/>
                  </a:moveTo>
                  <a:lnTo>
                    <a:pt x="141459" y="650713"/>
                  </a:lnTo>
                </a:path>
              </a:pathLst>
            </a:custGeom>
            <a:ln w="5270">
              <a:solidFill>
                <a:srgbClr val="231F20"/>
              </a:solidFill>
            </a:ln>
          </p:spPr>
          <p:txBody>
            <a:bodyPr wrap="square" lIns="0" tIns="0" rIns="0" bIns="0" rtlCol="0"/>
            <a:lstStyle/>
            <a:p>
              <a:endParaRPr/>
            </a:p>
          </p:txBody>
        </p:sp>
        <p:sp>
          <p:nvSpPr>
            <p:cNvPr id="26" name="object 26"/>
            <p:cNvSpPr/>
            <p:nvPr/>
          </p:nvSpPr>
          <p:spPr>
            <a:xfrm>
              <a:off x="1749090" y="2423130"/>
              <a:ext cx="62865" cy="80010"/>
            </a:xfrm>
            <a:custGeom>
              <a:avLst/>
              <a:gdLst/>
              <a:ahLst/>
              <a:cxnLst/>
              <a:rect l="l" t="t" r="r" b="b"/>
              <a:pathLst>
                <a:path w="62864" h="80010">
                  <a:moveTo>
                    <a:pt x="62295" y="0"/>
                  </a:moveTo>
                  <a:lnTo>
                    <a:pt x="47988" y="9226"/>
                  </a:lnTo>
                  <a:lnTo>
                    <a:pt x="32838" y="14558"/>
                  </a:lnTo>
                  <a:lnTo>
                    <a:pt x="16842" y="15997"/>
                  </a:lnTo>
                  <a:lnTo>
                    <a:pt x="0" y="13543"/>
                  </a:lnTo>
                  <a:lnTo>
                    <a:pt x="46944" y="79452"/>
                  </a:lnTo>
                  <a:lnTo>
                    <a:pt x="62295" y="0"/>
                  </a:lnTo>
                  <a:close/>
                </a:path>
              </a:pathLst>
            </a:custGeom>
            <a:solidFill>
              <a:srgbClr val="231F20"/>
            </a:solidFill>
          </p:spPr>
          <p:txBody>
            <a:bodyPr wrap="square" lIns="0" tIns="0" rIns="0" bIns="0" rtlCol="0"/>
            <a:lstStyle/>
            <a:p>
              <a:endParaRPr/>
            </a:p>
          </p:txBody>
        </p:sp>
        <p:sp>
          <p:nvSpPr>
            <p:cNvPr id="27" name="object 27"/>
            <p:cNvSpPr/>
            <p:nvPr/>
          </p:nvSpPr>
          <p:spPr>
            <a:xfrm>
              <a:off x="1188609" y="1815911"/>
              <a:ext cx="1682114" cy="685165"/>
            </a:xfrm>
            <a:custGeom>
              <a:avLst/>
              <a:gdLst/>
              <a:ahLst/>
              <a:cxnLst/>
              <a:rect l="l" t="t" r="r" b="b"/>
              <a:pathLst>
                <a:path w="1682114" h="685164">
                  <a:moveTo>
                    <a:pt x="1681911" y="684929"/>
                  </a:moveTo>
                  <a:lnTo>
                    <a:pt x="637306" y="684929"/>
                  </a:lnTo>
                </a:path>
                <a:path w="1682114" h="685164">
                  <a:moveTo>
                    <a:pt x="456116" y="0"/>
                  </a:moveTo>
                  <a:lnTo>
                    <a:pt x="0" y="0"/>
                  </a:lnTo>
                </a:path>
              </a:pathLst>
            </a:custGeom>
            <a:ln w="21083">
              <a:solidFill>
                <a:srgbClr val="231F20"/>
              </a:solidFill>
            </a:ln>
          </p:spPr>
          <p:txBody>
            <a:bodyPr wrap="square" lIns="0" tIns="0" rIns="0" bIns="0" rtlCol="0"/>
            <a:lstStyle/>
            <a:p>
              <a:endParaRPr/>
            </a:p>
          </p:txBody>
        </p:sp>
        <p:sp>
          <p:nvSpPr>
            <p:cNvPr id="28" name="object 28"/>
            <p:cNvSpPr/>
            <p:nvPr/>
          </p:nvSpPr>
          <p:spPr>
            <a:xfrm>
              <a:off x="3249955" y="2584980"/>
              <a:ext cx="201295" cy="0"/>
            </a:xfrm>
            <a:custGeom>
              <a:avLst/>
              <a:gdLst/>
              <a:ahLst/>
              <a:cxnLst/>
              <a:rect l="l" t="t" r="r" b="b"/>
              <a:pathLst>
                <a:path w="201295">
                  <a:moveTo>
                    <a:pt x="0" y="0"/>
                  </a:moveTo>
                  <a:lnTo>
                    <a:pt x="201027" y="0"/>
                  </a:lnTo>
                </a:path>
              </a:pathLst>
            </a:custGeom>
            <a:ln w="5270">
              <a:solidFill>
                <a:srgbClr val="231F20"/>
              </a:solidFill>
            </a:ln>
          </p:spPr>
          <p:txBody>
            <a:bodyPr wrap="square" lIns="0" tIns="0" rIns="0" bIns="0" rtlCol="0"/>
            <a:lstStyle/>
            <a:p>
              <a:endParaRPr/>
            </a:p>
          </p:txBody>
        </p:sp>
        <p:sp>
          <p:nvSpPr>
            <p:cNvPr id="29" name="object 29"/>
            <p:cNvSpPr/>
            <p:nvPr/>
          </p:nvSpPr>
          <p:spPr>
            <a:xfrm>
              <a:off x="3413984" y="2553101"/>
              <a:ext cx="74930" cy="64135"/>
            </a:xfrm>
            <a:custGeom>
              <a:avLst/>
              <a:gdLst/>
              <a:ahLst/>
              <a:cxnLst/>
              <a:rect l="l" t="t" r="r" b="b"/>
              <a:pathLst>
                <a:path w="74929" h="64135">
                  <a:moveTo>
                    <a:pt x="0" y="0"/>
                  </a:moveTo>
                  <a:lnTo>
                    <a:pt x="5976" y="15938"/>
                  </a:lnTo>
                  <a:lnTo>
                    <a:pt x="7968" y="31876"/>
                  </a:lnTo>
                  <a:lnTo>
                    <a:pt x="5976" y="47814"/>
                  </a:lnTo>
                  <a:lnTo>
                    <a:pt x="0" y="63752"/>
                  </a:lnTo>
                  <a:lnTo>
                    <a:pt x="74377" y="31878"/>
                  </a:lnTo>
                  <a:lnTo>
                    <a:pt x="0" y="0"/>
                  </a:lnTo>
                  <a:close/>
                </a:path>
              </a:pathLst>
            </a:custGeom>
            <a:solidFill>
              <a:srgbClr val="231F20"/>
            </a:solidFill>
          </p:spPr>
          <p:txBody>
            <a:bodyPr wrap="square" lIns="0" tIns="0" rIns="0" bIns="0" rtlCol="0"/>
            <a:lstStyle/>
            <a:p>
              <a:endParaRPr/>
            </a:p>
          </p:txBody>
        </p:sp>
        <p:sp>
          <p:nvSpPr>
            <p:cNvPr id="30" name="object 30"/>
            <p:cNvSpPr/>
            <p:nvPr/>
          </p:nvSpPr>
          <p:spPr>
            <a:xfrm>
              <a:off x="1556997" y="1704155"/>
              <a:ext cx="1485265" cy="231140"/>
            </a:xfrm>
            <a:custGeom>
              <a:avLst/>
              <a:gdLst/>
              <a:ahLst/>
              <a:cxnLst/>
              <a:rect l="l" t="t" r="r" b="b"/>
              <a:pathLst>
                <a:path w="1485264" h="231139">
                  <a:moveTo>
                    <a:pt x="0" y="230703"/>
                  </a:moveTo>
                  <a:lnTo>
                    <a:pt x="89639" y="111186"/>
                  </a:lnTo>
                </a:path>
                <a:path w="1485264" h="231139">
                  <a:moveTo>
                    <a:pt x="537837" y="230703"/>
                  </a:moveTo>
                  <a:lnTo>
                    <a:pt x="448198" y="111186"/>
                  </a:lnTo>
                </a:path>
                <a:path w="1485264" h="231139">
                  <a:moveTo>
                    <a:pt x="1441703" y="0"/>
                  </a:moveTo>
                  <a:lnTo>
                    <a:pt x="1484868" y="108749"/>
                  </a:lnTo>
                </a:path>
              </a:pathLst>
            </a:custGeom>
            <a:ln w="5270">
              <a:solidFill>
                <a:srgbClr val="231F20"/>
              </a:solidFill>
            </a:ln>
          </p:spPr>
          <p:txBody>
            <a:bodyPr wrap="square" lIns="0" tIns="0" rIns="0" bIns="0" rtlCol="0"/>
            <a:lstStyle/>
            <a:p>
              <a:endParaRPr/>
            </a:p>
          </p:txBody>
        </p:sp>
      </p:grpSp>
      <p:sp>
        <p:nvSpPr>
          <p:cNvPr id="31" name="object 31"/>
          <p:cNvSpPr txBox="1"/>
          <p:nvPr/>
        </p:nvSpPr>
        <p:spPr>
          <a:xfrm>
            <a:off x="66713" y="3327684"/>
            <a:ext cx="6883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Asynchronous</a:t>
            </a:r>
            <a:r>
              <a:rPr sz="600" spc="-3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RPC</a:t>
            </a:r>
            <a:endParaRPr sz="600">
              <a:latin typeface="Arial"/>
              <a:cs typeface="Arial"/>
            </a:endParaRPr>
          </a:p>
        </p:txBody>
      </p:sp>
      <p:sp>
        <p:nvSpPr>
          <p:cNvPr id="32" name="object 32"/>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16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3766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Remote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procedure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call</a:t>
            </a:r>
            <a:endParaRPr sz="600">
              <a:latin typeface="Arial"/>
              <a:cs typeface="Arial"/>
            </a:endParaRPr>
          </a:p>
        </p:txBody>
      </p:sp>
      <p:sp>
        <p:nvSpPr>
          <p:cNvPr id="3" name="object 3"/>
          <p:cNvSpPr txBox="1"/>
          <p:nvPr/>
        </p:nvSpPr>
        <p:spPr>
          <a:xfrm>
            <a:off x="3895664" y="716"/>
            <a:ext cx="64579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Variations</a:t>
            </a:r>
            <a:r>
              <a:rPr sz="600" spc="-4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on</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RPC</a:t>
            </a:r>
            <a:endParaRPr sz="600">
              <a:latin typeface="Arial"/>
              <a:cs typeface="Arial"/>
            </a:endParaRPr>
          </a:p>
        </p:txBody>
      </p:sp>
      <p:sp>
        <p:nvSpPr>
          <p:cNvPr id="4" name="object 4"/>
          <p:cNvSpPr txBox="1"/>
          <p:nvPr/>
        </p:nvSpPr>
        <p:spPr>
          <a:xfrm>
            <a:off x="95300" y="188846"/>
            <a:ext cx="2905125" cy="871219"/>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Sending</a:t>
            </a:r>
            <a:r>
              <a:rPr sz="1400" spc="-10" dirty="0">
                <a:solidFill>
                  <a:srgbClr val="3333B2"/>
                </a:solidFill>
                <a:latin typeface="Arial"/>
                <a:cs typeface="Arial"/>
              </a:rPr>
              <a:t> </a:t>
            </a:r>
            <a:r>
              <a:rPr sz="1400" spc="15" dirty="0">
                <a:solidFill>
                  <a:srgbClr val="3333B2"/>
                </a:solidFill>
                <a:latin typeface="Arial"/>
                <a:cs typeface="Arial"/>
              </a:rPr>
              <a:t>out</a:t>
            </a:r>
            <a:r>
              <a:rPr sz="1400" spc="-5" dirty="0">
                <a:solidFill>
                  <a:srgbClr val="3333B2"/>
                </a:solidFill>
                <a:latin typeface="Arial"/>
                <a:cs typeface="Arial"/>
              </a:rPr>
              <a:t> </a:t>
            </a:r>
            <a:r>
              <a:rPr sz="1400" spc="10" dirty="0">
                <a:solidFill>
                  <a:srgbClr val="3333B2"/>
                </a:solidFill>
                <a:latin typeface="Arial"/>
                <a:cs typeface="Arial"/>
              </a:rPr>
              <a:t>multiple</a:t>
            </a:r>
            <a:r>
              <a:rPr sz="1400" spc="-5" dirty="0">
                <a:solidFill>
                  <a:srgbClr val="3333B2"/>
                </a:solidFill>
                <a:latin typeface="Arial"/>
                <a:cs typeface="Arial"/>
              </a:rPr>
              <a:t> </a:t>
            </a:r>
            <a:r>
              <a:rPr sz="1400" spc="20" dirty="0">
                <a:solidFill>
                  <a:srgbClr val="3333B2"/>
                </a:solidFill>
                <a:latin typeface="Arial"/>
                <a:cs typeface="Arial"/>
              </a:rPr>
              <a:t>RPCs</a:t>
            </a:r>
            <a:endParaRPr sz="1400">
              <a:latin typeface="Arial"/>
              <a:cs typeface="Arial"/>
            </a:endParaRPr>
          </a:p>
          <a:p>
            <a:pPr>
              <a:lnSpc>
                <a:spcPct val="100000"/>
              </a:lnSpc>
              <a:spcBef>
                <a:spcPts val="45"/>
              </a:spcBef>
            </a:pPr>
            <a:endParaRPr sz="2000">
              <a:latin typeface="Arial"/>
              <a:cs typeface="Arial"/>
            </a:endParaRPr>
          </a:p>
          <a:p>
            <a:pPr marL="264160">
              <a:lnSpc>
                <a:spcPts val="1420"/>
              </a:lnSpc>
            </a:pPr>
            <a:r>
              <a:rPr sz="1200" spc="-5" dirty="0">
                <a:solidFill>
                  <a:srgbClr val="3333B2"/>
                </a:solidFill>
                <a:latin typeface="Arial"/>
                <a:cs typeface="Arial"/>
              </a:rPr>
              <a:t>Essence</a:t>
            </a:r>
            <a:endParaRPr sz="1200">
              <a:latin typeface="Arial"/>
              <a:cs typeface="Arial"/>
            </a:endParaRPr>
          </a:p>
          <a:p>
            <a:pPr marL="264160">
              <a:lnSpc>
                <a:spcPts val="1180"/>
              </a:lnSpc>
            </a:pPr>
            <a:r>
              <a:rPr sz="1000" spc="-5" dirty="0">
                <a:latin typeface="Arial"/>
                <a:cs typeface="Arial"/>
              </a:rPr>
              <a:t>Sending</a:t>
            </a:r>
            <a:r>
              <a:rPr sz="1000" spc="-10" dirty="0">
                <a:latin typeface="Arial"/>
                <a:cs typeface="Arial"/>
              </a:rPr>
              <a:t> </a:t>
            </a:r>
            <a:r>
              <a:rPr sz="1000" spc="-5" dirty="0">
                <a:latin typeface="Arial"/>
                <a:cs typeface="Arial"/>
              </a:rPr>
              <a:t>an RPC request</a:t>
            </a:r>
            <a:r>
              <a:rPr sz="1000" spc="-10" dirty="0">
                <a:latin typeface="Arial"/>
                <a:cs typeface="Arial"/>
              </a:rPr>
              <a:t> </a:t>
            </a:r>
            <a:r>
              <a:rPr sz="1000" spc="-5" dirty="0">
                <a:latin typeface="Arial"/>
                <a:cs typeface="Arial"/>
              </a:rPr>
              <a:t>to a group</a:t>
            </a:r>
            <a:r>
              <a:rPr sz="1000" spc="-10" dirty="0">
                <a:latin typeface="Arial"/>
                <a:cs typeface="Arial"/>
              </a:rPr>
              <a:t> </a:t>
            </a:r>
            <a:r>
              <a:rPr sz="1000" spc="-5" dirty="0">
                <a:latin typeface="Arial"/>
                <a:cs typeface="Arial"/>
              </a:rPr>
              <a:t>of servers.</a:t>
            </a:r>
            <a:endParaRPr sz="1000">
              <a:latin typeface="Arial"/>
              <a:cs typeface="Arial"/>
            </a:endParaRPr>
          </a:p>
        </p:txBody>
      </p:sp>
      <p:sp>
        <p:nvSpPr>
          <p:cNvPr id="5" name="object 5"/>
          <p:cNvSpPr txBox="1"/>
          <p:nvPr/>
        </p:nvSpPr>
        <p:spPr>
          <a:xfrm>
            <a:off x="1816399" y="2630334"/>
            <a:ext cx="7708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Call</a:t>
            </a:r>
            <a:r>
              <a:rPr sz="650" spc="-30" dirty="0">
                <a:solidFill>
                  <a:srgbClr val="231F20"/>
                </a:solidFill>
                <a:latin typeface="Arial"/>
                <a:cs typeface="Arial"/>
              </a:rPr>
              <a:t> </a:t>
            </a:r>
            <a:r>
              <a:rPr sz="650" spc="5" dirty="0">
                <a:solidFill>
                  <a:srgbClr val="231F20"/>
                </a:solidFill>
                <a:latin typeface="Arial"/>
                <a:cs typeface="Arial"/>
              </a:rPr>
              <a:t>local</a:t>
            </a:r>
            <a:r>
              <a:rPr sz="650" spc="-30" dirty="0">
                <a:solidFill>
                  <a:srgbClr val="231F20"/>
                </a:solidFill>
                <a:latin typeface="Arial"/>
                <a:cs typeface="Arial"/>
              </a:rPr>
              <a:t> </a:t>
            </a:r>
            <a:r>
              <a:rPr sz="650" spc="5" dirty="0">
                <a:solidFill>
                  <a:srgbClr val="231F20"/>
                </a:solidFill>
                <a:latin typeface="Arial"/>
                <a:cs typeface="Arial"/>
              </a:rPr>
              <a:t>procedure</a:t>
            </a:r>
            <a:endParaRPr sz="650">
              <a:latin typeface="Arial"/>
              <a:cs typeface="Arial"/>
            </a:endParaRPr>
          </a:p>
        </p:txBody>
      </p:sp>
      <p:sp>
        <p:nvSpPr>
          <p:cNvPr id="6" name="object 6"/>
          <p:cNvSpPr txBox="1"/>
          <p:nvPr/>
        </p:nvSpPr>
        <p:spPr>
          <a:xfrm>
            <a:off x="1781301" y="1375375"/>
            <a:ext cx="7708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Call</a:t>
            </a:r>
            <a:r>
              <a:rPr sz="650" spc="-30" dirty="0">
                <a:solidFill>
                  <a:srgbClr val="231F20"/>
                </a:solidFill>
                <a:latin typeface="Arial"/>
                <a:cs typeface="Arial"/>
              </a:rPr>
              <a:t> </a:t>
            </a:r>
            <a:r>
              <a:rPr sz="650" spc="5" dirty="0">
                <a:solidFill>
                  <a:srgbClr val="231F20"/>
                </a:solidFill>
                <a:latin typeface="Arial"/>
                <a:cs typeface="Arial"/>
              </a:rPr>
              <a:t>local</a:t>
            </a:r>
            <a:r>
              <a:rPr sz="650" spc="-30" dirty="0">
                <a:solidFill>
                  <a:srgbClr val="231F20"/>
                </a:solidFill>
                <a:latin typeface="Arial"/>
                <a:cs typeface="Arial"/>
              </a:rPr>
              <a:t> </a:t>
            </a:r>
            <a:r>
              <a:rPr sz="650" spc="5" dirty="0">
                <a:solidFill>
                  <a:srgbClr val="231F20"/>
                </a:solidFill>
                <a:latin typeface="Arial"/>
                <a:cs typeface="Arial"/>
              </a:rPr>
              <a:t>procedure</a:t>
            </a:r>
            <a:endParaRPr sz="650">
              <a:latin typeface="Arial"/>
              <a:cs typeface="Arial"/>
            </a:endParaRPr>
          </a:p>
        </p:txBody>
      </p:sp>
      <p:sp>
        <p:nvSpPr>
          <p:cNvPr id="7" name="object 7"/>
          <p:cNvSpPr txBox="1"/>
          <p:nvPr/>
        </p:nvSpPr>
        <p:spPr>
          <a:xfrm>
            <a:off x="1176087" y="1910557"/>
            <a:ext cx="456565" cy="481330"/>
          </a:xfrm>
          <a:prstGeom prst="rect">
            <a:avLst/>
          </a:prstGeom>
        </p:spPr>
        <p:txBody>
          <a:bodyPr vert="horz" wrap="square" lIns="0" tIns="13970" rIns="0" bIns="0" rtlCol="0">
            <a:spAutoFit/>
          </a:bodyPr>
          <a:lstStyle/>
          <a:p>
            <a:pPr marL="19685">
              <a:lnSpc>
                <a:spcPct val="100000"/>
              </a:lnSpc>
              <a:spcBef>
                <a:spcPts val="110"/>
              </a:spcBef>
            </a:pPr>
            <a:r>
              <a:rPr sz="650" spc="5" dirty="0">
                <a:solidFill>
                  <a:srgbClr val="231F20"/>
                </a:solidFill>
                <a:latin typeface="Arial"/>
                <a:cs typeface="Arial"/>
              </a:rPr>
              <a:t>Client</a:t>
            </a:r>
            <a:endParaRPr sz="650">
              <a:latin typeface="Arial"/>
              <a:cs typeface="Arial"/>
            </a:endParaRPr>
          </a:p>
          <a:p>
            <a:pPr>
              <a:lnSpc>
                <a:spcPct val="100000"/>
              </a:lnSpc>
            </a:pPr>
            <a:endParaRPr sz="600">
              <a:latin typeface="Arial"/>
              <a:cs typeface="Arial"/>
            </a:endParaRPr>
          </a:p>
          <a:p>
            <a:pPr>
              <a:lnSpc>
                <a:spcPct val="100000"/>
              </a:lnSpc>
              <a:spcBef>
                <a:spcPts val="30"/>
              </a:spcBef>
            </a:pPr>
            <a:endParaRPr sz="650">
              <a:latin typeface="Arial"/>
              <a:cs typeface="Arial"/>
            </a:endParaRPr>
          </a:p>
          <a:p>
            <a:pPr marL="12700" marR="5715" indent="-635">
              <a:lnSpc>
                <a:spcPts val="660"/>
              </a:lnSpc>
            </a:pPr>
            <a:r>
              <a:rPr sz="650" spc="5" dirty="0">
                <a:solidFill>
                  <a:srgbClr val="231F20"/>
                </a:solidFill>
                <a:latin typeface="Arial"/>
                <a:cs typeface="Arial"/>
              </a:rPr>
              <a:t>Call remote  procedures</a:t>
            </a:r>
            <a:endParaRPr sz="650">
              <a:latin typeface="Arial"/>
              <a:cs typeface="Arial"/>
            </a:endParaRPr>
          </a:p>
        </p:txBody>
      </p:sp>
      <p:sp>
        <p:nvSpPr>
          <p:cNvPr id="8" name="object 8"/>
          <p:cNvSpPr txBox="1"/>
          <p:nvPr/>
        </p:nvSpPr>
        <p:spPr>
          <a:xfrm>
            <a:off x="1173217" y="2627678"/>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a:t>
            </a:r>
            <a:endParaRPr sz="650">
              <a:latin typeface="Arial"/>
              <a:cs typeface="Arial"/>
            </a:endParaRPr>
          </a:p>
        </p:txBody>
      </p:sp>
      <p:sp>
        <p:nvSpPr>
          <p:cNvPr id="9" name="object 9"/>
          <p:cNvSpPr txBox="1"/>
          <p:nvPr/>
        </p:nvSpPr>
        <p:spPr>
          <a:xfrm>
            <a:off x="1183701" y="1375376"/>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a:t>
            </a:r>
            <a:endParaRPr sz="650">
              <a:latin typeface="Arial"/>
              <a:cs typeface="Arial"/>
            </a:endParaRPr>
          </a:p>
        </p:txBody>
      </p:sp>
      <p:sp>
        <p:nvSpPr>
          <p:cNvPr id="10" name="object 10"/>
          <p:cNvSpPr txBox="1"/>
          <p:nvPr/>
        </p:nvSpPr>
        <p:spPr>
          <a:xfrm>
            <a:off x="2653000" y="2631157"/>
            <a:ext cx="210185" cy="127000"/>
          </a:xfrm>
          <a:prstGeom prst="rect">
            <a:avLst/>
          </a:prstGeom>
        </p:spPr>
        <p:txBody>
          <a:bodyPr vert="horz" wrap="square" lIns="0" tIns="13970" rIns="0" bIns="0" rtlCol="0">
            <a:spAutoFit/>
          </a:bodyPr>
          <a:lstStyle/>
          <a:p>
            <a:pPr marL="12700">
              <a:lnSpc>
                <a:spcPct val="100000"/>
              </a:lnSpc>
              <a:spcBef>
                <a:spcPts val="110"/>
              </a:spcBef>
            </a:pPr>
            <a:r>
              <a:rPr sz="650" spc="-20" dirty="0">
                <a:solidFill>
                  <a:srgbClr val="231F20"/>
                </a:solidFill>
                <a:latin typeface="Arial"/>
                <a:cs typeface="Arial"/>
              </a:rPr>
              <a:t>T</a:t>
            </a:r>
            <a:r>
              <a:rPr sz="650" spc="5" dirty="0">
                <a:solidFill>
                  <a:srgbClr val="231F20"/>
                </a:solidFill>
                <a:latin typeface="Arial"/>
                <a:cs typeface="Arial"/>
              </a:rPr>
              <a:t>ime</a:t>
            </a:r>
            <a:endParaRPr sz="650">
              <a:latin typeface="Arial"/>
              <a:cs typeface="Arial"/>
            </a:endParaRPr>
          </a:p>
        </p:txBody>
      </p:sp>
      <p:sp>
        <p:nvSpPr>
          <p:cNvPr id="11" name="object 11"/>
          <p:cNvSpPr txBox="1"/>
          <p:nvPr/>
        </p:nvSpPr>
        <p:spPr>
          <a:xfrm>
            <a:off x="2728117" y="1791035"/>
            <a:ext cx="7054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Callbacks</a:t>
            </a:r>
            <a:r>
              <a:rPr sz="650" spc="-35" dirty="0">
                <a:solidFill>
                  <a:srgbClr val="231F20"/>
                </a:solidFill>
                <a:latin typeface="Arial"/>
                <a:cs typeface="Arial"/>
              </a:rPr>
              <a:t> </a:t>
            </a:r>
            <a:r>
              <a:rPr sz="650" spc="5" dirty="0">
                <a:solidFill>
                  <a:srgbClr val="231F20"/>
                </a:solidFill>
                <a:latin typeface="Arial"/>
                <a:cs typeface="Arial"/>
              </a:rPr>
              <a:t>to</a:t>
            </a:r>
            <a:r>
              <a:rPr sz="650" spc="-30" dirty="0">
                <a:solidFill>
                  <a:srgbClr val="231F20"/>
                </a:solidFill>
                <a:latin typeface="Arial"/>
                <a:cs typeface="Arial"/>
              </a:rPr>
              <a:t> </a:t>
            </a:r>
            <a:r>
              <a:rPr sz="650" spc="5" dirty="0">
                <a:solidFill>
                  <a:srgbClr val="231F20"/>
                </a:solidFill>
                <a:latin typeface="Arial"/>
                <a:cs typeface="Arial"/>
              </a:rPr>
              <a:t>client</a:t>
            </a:r>
            <a:endParaRPr sz="650">
              <a:latin typeface="Arial"/>
              <a:cs typeface="Arial"/>
            </a:endParaRPr>
          </a:p>
        </p:txBody>
      </p:sp>
      <p:grpSp>
        <p:nvGrpSpPr>
          <p:cNvPr id="12" name="object 12"/>
          <p:cNvGrpSpPr/>
          <p:nvPr/>
        </p:nvGrpSpPr>
        <p:grpSpPr>
          <a:xfrm>
            <a:off x="1196404" y="1519976"/>
            <a:ext cx="1953260" cy="1202690"/>
            <a:chOff x="1196404" y="1519976"/>
            <a:chExt cx="1953260" cy="1202690"/>
          </a:xfrm>
        </p:grpSpPr>
        <p:sp>
          <p:nvSpPr>
            <p:cNvPr id="13" name="object 13"/>
            <p:cNvSpPr/>
            <p:nvPr/>
          </p:nvSpPr>
          <p:spPr>
            <a:xfrm>
              <a:off x="1671078" y="2068374"/>
              <a:ext cx="1079500" cy="1270"/>
            </a:xfrm>
            <a:custGeom>
              <a:avLst/>
              <a:gdLst/>
              <a:ahLst/>
              <a:cxnLst/>
              <a:rect l="l" t="t" r="r" b="b"/>
              <a:pathLst>
                <a:path w="1079500" h="1269">
                  <a:moveTo>
                    <a:pt x="0" y="0"/>
                  </a:moveTo>
                  <a:lnTo>
                    <a:pt x="1079086" y="1099"/>
                  </a:lnTo>
                </a:path>
              </a:pathLst>
            </a:custGeom>
            <a:ln w="5270">
              <a:solidFill>
                <a:srgbClr val="231F20"/>
              </a:solidFill>
              <a:prstDash val="lgDash"/>
            </a:ln>
          </p:spPr>
          <p:txBody>
            <a:bodyPr wrap="square" lIns="0" tIns="0" rIns="0" bIns="0" rtlCol="0"/>
            <a:lstStyle/>
            <a:p>
              <a:endParaRPr/>
            </a:p>
          </p:txBody>
        </p:sp>
        <p:sp>
          <p:nvSpPr>
            <p:cNvPr id="14" name="object 14"/>
            <p:cNvSpPr/>
            <p:nvPr/>
          </p:nvSpPr>
          <p:spPr>
            <a:xfrm>
              <a:off x="2746127" y="2072677"/>
              <a:ext cx="393065" cy="1270"/>
            </a:xfrm>
            <a:custGeom>
              <a:avLst/>
              <a:gdLst/>
              <a:ahLst/>
              <a:cxnLst/>
              <a:rect l="l" t="t" r="r" b="b"/>
              <a:pathLst>
                <a:path w="393064" h="1269">
                  <a:moveTo>
                    <a:pt x="392473" y="0"/>
                  </a:moveTo>
                  <a:lnTo>
                    <a:pt x="0" y="1099"/>
                  </a:lnTo>
                </a:path>
              </a:pathLst>
            </a:custGeom>
            <a:ln w="21083">
              <a:solidFill>
                <a:srgbClr val="231F20"/>
              </a:solidFill>
            </a:ln>
          </p:spPr>
          <p:txBody>
            <a:bodyPr wrap="square" lIns="0" tIns="0" rIns="0" bIns="0" rtlCol="0"/>
            <a:lstStyle/>
            <a:p>
              <a:endParaRPr/>
            </a:p>
          </p:txBody>
        </p:sp>
        <p:sp>
          <p:nvSpPr>
            <p:cNvPr id="15" name="object 15"/>
            <p:cNvSpPr/>
            <p:nvPr/>
          </p:nvSpPr>
          <p:spPr>
            <a:xfrm>
              <a:off x="1196404" y="2606200"/>
              <a:ext cx="1942464" cy="0"/>
            </a:xfrm>
            <a:custGeom>
              <a:avLst/>
              <a:gdLst/>
              <a:ahLst/>
              <a:cxnLst/>
              <a:rect l="l" t="t" r="r" b="b"/>
              <a:pathLst>
                <a:path w="1942464">
                  <a:moveTo>
                    <a:pt x="1942196" y="0"/>
                  </a:moveTo>
                  <a:lnTo>
                    <a:pt x="0" y="0"/>
                  </a:lnTo>
                </a:path>
              </a:pathLst>
            </a:custGeom>
            <a:ln w="5270">
              <a:solidFill>
                <a:srgbClr val="231F20"/>
              </a:solidFill>
              <a:prstDash val="lgDash"/>
            </a:ln>
          </p:spPr>
          <p:txBody>
            <a:bodyPr wrap="square" lIns="0" tIns="0" rIns="0" bIns="0" rtlCol="0"/>
            <a:lstStyle/>
            <a:p>
              <a:endParaRPr/>
            </a:p>
          </p:txBody>
        </p:sp>
        <p:sp>
          <p:nvSpPr>
            <p:cNvPr id="16" name="object 16"/>
            <p:cNvSpPr/>
            <p:nvPr/>
          </p:nvSpPr>
          <p:spPr>
            <a:xfrm>
              <a:off x="1672989" y="2062395"/>
              <a:ext cx="169545" cy="508634"/>
            </a:xfrm>
            <a:custGeom>
              <a:avLst/>
              <a:gdLst/>
              <a:ahLst/>
              <a:cxnLst/>
              <a:rect l="l" t="t" r="r" b="b"/>
              <a:pathLst>
                <a:path w="169544" h="508635">
                  <a:moveTo>
                    <a:pt x="0" y="0"/>
                  </a:moveTo>
                  <a:lnTo>
                    <a:pt x="168981" y="508339"/>
                  </a:lnTo>
                </a:path>
              </a:pathLst>
            </a:custGeom>
            <a:ln w="5270">
              <a:solidFill>
                <a:srgbClr val="231F20"/>
              </a:solidFill>
            </a:ln>
          </p:spPr>
          <p:txBody>
            <a:bodyPr wrap="square" lIns="0" tIns="0" rIns="0" bIns="0" rtlCol="0"/>
            <a:lstStyle/>
            <a:p>
              <a:endParaRPr/>
            </a:p>
          </p:txBody>
        </p:sp>
        <p:sp>
          <p:nvSpPr>
            <p:cNvPr id="17" name="object 17"/>
            <p:cNvSpPr/>
            <p:nvPr/>
          </p:nvSpPr>
          <p:spPr>
            <a:xfrm>
              <a:off x="1800053" y="2525574"/>
              <a:ext cx="60960" cy="80645"/>
            </a:xfrm>
            <a:custGeom>
              <a:avLst/>
              <a:gdLst/>
              <a:ahLst/>
              <a:cxnLst/>
              <a:rect l="l" t="t" r="r" b="b"/>
              <a:pathLst>
                <a:path w="60960" h="80644">
                  <a:moveTo>
                    <a:pt x="60495" y="0"/>
                  </a:moveTo>
                  <a:lnTo>
                    <a:pt x="47255" y="10698"/>
                  </a:lnTo>
                  <a:lnTo>
                    <a:pt x="32759" y="17616"/>
                  </a:lnTo>
                  <a:lnTo>
                    <a:pt x="17007" y="20752"/>
                  </a:lnTo>
                  <a:lnTo>
                    <a:pt x="0" y="20110"/>
                  </a:lnTo>
                  <a:lnTo>
                    <a:pt x="53709" y="80634"/>
                  </a:lnTo>
                  <a:lnTo>
                    <a:pt x="60495" y="0"/>
                  </a:lnTo>
                  <a:close/>
                </a:path>
              </a:pathLst>
            </a:custGeom>
            <a:solidFill>
              <a:srgbClr val="231F20"/>
            </a:solidFill>
          </p:spPr>
          <p:txBody>
            <a:bodyPr wrap="square" lIns="0" tIns="0" rIns="0" bIns="0" rtlCol="0"/>
            <a:lstStyle/>
            <a:p>
              <a:endParaRPr/>
            </a:p>
          </p:txBody>
        </p:sp>
        <p:sp>
          <p:nvSpPr>
            <p:cNvPr id="18" name="object 18"/>
            <p:cNvSpPr/>
            <p:nvPr/>
          </p:nvSpPr>
          <p:spPr>
            <a:xfrm>
              <a:off x="2569386" y="2097864"/>
              <a:ext cx="169545" cy="508634"/>
            </a:xfrm>
            <a:custGeom>
              <a:avLst/>
              <a:gdLst/>
              <a:ahLst/>
              <a:cxnLst/>
              <a:rect l="l" t="t" r="r" b="b"/>
              <a:pathLst>
                <a:path w="169544" h="508635">
                  <a:moveTo>
                    <a:pt x="0" y="508343"/>
                  </a:moveTo>
                  <a:lnTo>
                    <a:pt x="168982" y="0"/>
                  </a:lnTo>
                </a:path>
              </a:pathLst>
            </a:custGeom>
            <a:ln w="5270">
              <a:solidFill>
                <a:srgbClr val="231F20"/>
              </a:solidFill>
            </a:ln>
          </p:spPr>
          <p:txBody>
            <a:bodyPr wrap="square" lIns="0" tIns="0" rIns="0" bIns="0" rtlCol="0"/>
            <a:lstStyle/>
            <a:p>
              <a:endParaRPr/>
            </a:p>
          </p:txBody>
        </p:sp>
        <p:sp>
          <p:nvSpPr>
            <p:cNvPr id="19" name="object 19"/>
            <p:cNvSpPr/>
            <p:nvPr/>
          </p:nvSpPr>
          <p:spPr>
            <a:xfrm>
              <a:off x="2696458" y="2062395"/>
              <a:ext cx="60960" cy="80645"/>
            </a:xfrm>
            <a:custGeom>
              <a:avLst/>
              <a:gdLst/>
              <a:ahLst/>
              <a:cxnLst/>
              <a:rect l="l" t="t" r="r" b="b"/>
              <a:pathLst>
                <a:path w="60960" h="80644">
                  <a:moveTo>
                    <a:pt x="53706" y="0"/>
                  </a:moveTo>
                  <a:lnTo>
                    <a:pt x="0" y="60524"/>
                  </a:lnTo>
                  <a:lnTo>
                    <a:pt x="17007" y="59879"/>
                  </a:lnTo>
                  <a:lnTo>
                    <a:pt x="32757" y="63016"/>
                  </a:lnTo>
                  <a:lnTo>
                    <a:pt x="47252" y="69933"/>
                  </a:lnTo>
                  <a:lnTo>
                    <a:pt x="60494" y="80631"/>
                  </a:lnTo>
                  <a:lnTo>
                    <a:pt x="53706" y="0"/>
                  </a:lnTo>
                  <a:close/>
                </a:path>
              </a:pathLst>
            </a:custGeom>
            <a:solidFill>
              <a:srgbClr val="231F20"/>
            </a:solidFill>
          </p:spPr>
          <p:txBody>
            <a:bodyPr wrap="square" lIns="0" tIns="0" rIns="0" bIns="0" rtlCol="0"/>
            <a:lstStyle/>
            <a:p>
              <a:endParaRPr/>
            </a:p>
          </p:txBody>
        </p:sp>
        <p:sp>
          <p:nvSpPr>
            <p:cNvPr id="20" name="object 20"/>
            <p:cNvSpPr/>
            <p:nvPr/>
          </p:nvSpPr>
          <p:spPr>
            <a:xfrm>
              <a:off x="1848983" y="2604466"/>
              <a:ext cx="721995" cy="0"/>
            </a:xfrm>
            <a:custGeom>
              <a:avLst/>
              <a:gdLst/>
              <a:ahLst/>
              <a:cxnLst/>
              <a:rect l="l" t="t" r="r" b="b"/>
              <a:pathLst>
                <a:path w="721994">
                  <a:moveTo>
                    <a:pt x="721900" y="0"/>
                  </a:moveTo>
                  <a:lnTo>
                    <a:pt x="0" y="0"/>
                  </a:lnTo>
                </a:path>
              </a:pathLst>
            </a:custGeom>
            <a:ln w="21083">
              <a:solidFill>
                <a:srgbClr val="231F20"/>
              </a:solidFill>
            </a:ln>
          </p:spPr>
          <p:txBody>
            <a:bodyPr wrap="square" lIns="0" tIns="0" rIns="0" bIns="0" rtlCol="0"/>
            <a:lstStyle/>
            <a:p>
              <a:endParaRPr/>
            </a:p>
          </p:txBody>
        </p:sp>
        <p:sp>
          <p:nvSpPr>
            <p:cNvPr id="21" name="object 21"/>
            <p:cNvSpPr/>
            <p:nvPr/>
          </p:nvSpPr>
          <p:spPr>
            <a:xfrm>
              <a:off x="1196404" y="1528789"/>
              <a:ext cx="1942464" cy="0"/>
            </a:xfrm>
            <a:custGeom>
              <a:avLst/>
              <a:gdLst/>
              <a:ahLst/>
              <a:cxnLst/>
              <a:rect l="l" t="t" r="r" b="b"/>
              <a:pathLst>
                <a:path w="1942464">
                  <a:moveTo>
                    <a:pt x="1942196" y="0"/>
                  </a:moveTo>
                  <a:lnTo>
                    <a:pt x="0" y="0"/>
                  </a:lnTo>
                </a:path>
              </a:pathLst>
            </a:custGeom>
            <a:ln w="5270">
              <a:solidFill>
                <a:srgbClr val="231F20"/>
              </a:solidFill>
              <a:prstDash val="lgDash"/>
            </a:ln>
          </p:spPr>
          <p:txBody>
            <a:bodyPr wrap="square" lIns="0" tIns="0" rIns="0" bIns="0" rtlCol="0"/>
            <a:lstStyle/>
            <a:p>
              <a:endParaRPr/>
            </a:p>
          </p:txBody>
        </p:sp>
        <p:sp>
          <p:nvSpPr>
            <p:cNvPr id="22" name="object 22"/>
            <p:cNvSpPr/>
            <p:nvPr/>
          </p:nvSpPr>
          <p:spPr>
            <a:xfrm>
              <a:off x="1672989" y="1560022"/>
              <a:ext cx="169545" cy="508634"/>
            </a:xfrm>
            <a:custGeom>
              <a:avLst/>
              <a:gdLst/>
              <a:ahLst/>
              <a:cxnLst/>
              <a:rect l="l" t="t" r="r" b="b"/>
              <a:pathLst>
                <a:path w="169544" h="508635">
                  <a:moveTo>
                    <a:pt x="0" y="508344"/>
                  </a:moveTo>
                  <a:lnTo>
                    <a:pt x="168981" y="0"/>
                  </a:lnTo>
                </a:path>
              </a:pathLst>
            </a:custGeom>
            <a:ln w="5270">
              <a:solidFill>
                <a:srgbClr val="231F20"/>
              </a:solidFill>
            </a:ln>
          </p:spPr>
          <p:txBody>
            <a:bodyPr wrap="square" lIns="0" tIns="0" rIns="0" bIns="0" rtlCol="0"/>
            <a:lstStyle/>
            <a:p>
              <a:endParaRPr/>
            </a:p>
          </p:txBody>
        </p:sp>
        <p:sp>
          <p:nvSpPr>
            <p:cNvPr id="23" name="object 23"/>
            <p:cNvSpPr/>
            <p:nvPr/>
          </p:nvSpPr>
          <p:spPr>
            <a:xfrm>
              <a:off x="1800053" y="1524551"/>
              <a:ext cx="60960" cy="80645"/>
            </a:xfrm>
            <a:custGeom>
              <a:avLst/>
              <a:gdLst/>
              <a:ahLst/>
              <a:cxnLst/>
              <a:rect l="l" t="t" r="r" b="b"/>
              <a:pathLst>
                <a:path w="60960" h="80644">
                  <a:moveTo>
                    <a:pt x="53709" y="0"/>
                  </a:moveTo>
                  <a:lnTo>
                    <a:pt x="0" y="60526"/>
                  </a:lnTo>
                  <a:lnTo>
                    <a:pt x="17007" y="59884"/>
                  </a:lnTo>
                  <a:lnTo>
                    <a:pt x="32759" y="63020"/>
                  </a:lnTo>
                  <a:lnTo>
                    <a:pt x="47255" y="69937"/>
                  </a:lnTo>
                  <a:lnTo>
                    <a:pt x="60495" y="80638"/>
                  </a:lnTo>
                  <a:lnTo>
                    <a:pt x="53709" y="0"/>
                  </a:lnTo>
                  <a:close/>
                </a:path>
              </a:pathLst>
            </a:custGeom>
            <a:solidFill>
              <a:srgbClr val="231F20"/>
            </a:solidFill>
          </p:spPr>
          <p:txBody>
            <a:bodyPr wrap="square" lIns="0" tIns="0" rIns="0" bIns="0" rtlCol="0"/>
            <a:lstStyle/>
            <a:p>
              <a:endParaRPr/>
            </a:p>
          </p:txBody>
        </p:sp>
        <p:sp>
          <p:nvSpPr>
            <p:cNvPr id="24" name="object 24"/>
            <p:cNvSpPr/>
            <p:nvPr/>
          </p:nvSpPr>
          <p:spPr>
            <a:xfrm>
              <a:off x="2479745" y="1530528"/>
              <a:ext cx="169545" cy="508634"/>
            </a:xfrm>
            <a:custGeom>
              <a:avLst/>
              <a:gdLst/>
              <a:ahLst/>
              <a:cxnLst/>
              <a:rect l="l" t="t" r="r" b="b"/>
              <a:pathLst>
                <a:path w="169544" h="508635">
                  <a:moveTo>
                    <a:pt x="0" y="0"/>
                  </a:moveTo>
                  <a:lnTo>
                    <a:pt x="168982" y="508339"/>
                  </a:lnTo>
                </a:path>
              </a:pathLst>
            </a:custGeom>
            <a:ln w="5270">
              <a:solidFill>
                <a:srgbClr val="231F20"/>
              </a:solidFill>
            </a:ln>
          </p:spPr>
          <p:txBody>
            <a:bodyPr wrap="square" lIns="0" tIns="0" rIns="0" bIns="0" rtlCol="0"/>
            <a:lstStyle/>
            <a:p>
              <a:endParaRPr/>
            </a:p>
          </p:txBody>
        </p:sp>
        <p:sp>
          <p:nvSpPr>
            <p:cNvPr id="25" name="object 25"/>
            <p:cNvSpPr/>
            <p:nvPr/>
          </p:nvSpPr>
          <p:spPr>
            <a:xfrm>
              <a:off x="2606817" y="1993706"/>
              <a:ext cx="60960" cy="80645"/>
            </a:xfrm>
            <a:custGeom>
              <a:avLst/>
              <a:gdLst/>
              <a:ahLst/>
              <a:cxnLst/>
              <a:rect l="l" t="t" r="r" b="b"/>
              <a:pathLst>
                <a:path w="60960" h="80644">
                  <a:moveTo>
                    <a:pt x="60484" y="0"/>
                  </a:moveTo>
                  <a:lnTo>
                    <a:pt x="47247" y="10699"/>
                  </a:lnTo>
                  <a:lnTo>
                    <a:pt x="32756" y="17617"/>
                  </a:lnTo>
                  <a:lnTo>
                    <a:pt x="17007" y="20753"/>
                  </a:lnTo>
                  <a:lnTo>
                    <a:pt x="0" y="20111"/>
                  </a:lnTo>
                  <a:lnTo>
                    <a:pt x="53706" y="80634"/>
                  </a:lnTo>
                  <a:lnTo>
                    <a:pt x="60484" y="0"/>
                  </a:lnTo>
                  <a:close/>
                </a:path>
              </a:pathLst>
            </a:custGeom>
            <a:solidFill>
              <a:srgbClr val="231F20"/>
            </a:solidFill>
          </p:spPr>
          <p:txBody>
            <a:bodyPr wrap="square" lIns="0" tIns="0" rIns="0" bIns="0" rtlCol="0"/>
            <a:lstStyle/>
            <a:p>
              <a:endParaRPr/>
            </a:p>
          </p:txBody>
        </p:sp>
        <p:sp>
          <p:nvSpPr>
            <p:cNvPr id="26" name="object 26"/>
            <p:cNvSpPr/>
            <p:nvPr/>
          </p:nvSpPr>
          <p:spPr>
            <a:xfrm>
              <a:off x="1214962" y="1530517"/>
              <a:ext cx="1266825" cy="538480"/>
            </a:xfrm>
            <a:custGeom>
              <a:avLst/>
              <a:gdLst/>
              <a:ahLst/>
              <a:cxnLst/>
              <a:rect l="l" t="t" r="r" b="b"/>
              <a:pathLst>
                <a:path w="1266825" h="538480">
                  <a:moveTo>
                    <a:pt x="1266280" y="0"/>
                  </a:moveTo>
                  <a:lnTo>
                    <a:pt x="634020" y="0"/>
                  </a:lnTo>
                </a:path>
                <a:path w="1266825" h="538480">
                  <a:moveTo>
                    <a:pt x="456116" y="537856"/>
                  </a:moveTo>
                  <a:lnTo>
                    <a:pt x="0" y="537856"/>
                  </a:lnTo>
                </a:path>
              </a:pathLst>
            </a:custGeom>
            <a:ln w="21083">
              <a:solidFill>
                <a:srgbClr val="231F20"/>
              </a:solidFill>
            </a:ln>
          </p:spPr>
          <p:txBody>
            <a:bodyPr wrap="square" lIns="0" tIns="0" rIns="0" bIns="0" rtlCol="0"/>
            <a:lstStyle/>
            <a:p>
              <a:endParaRPr/>
            </a:p>
          </p:txBody>
        </p:sp>
        <p:sp>
          <p:nvSpPr>
            <p:cNvPr id="27" name="object 27"/>
            <p:cNvSpPr/>
            <p:nvPr/>
          </p:nvSpPr>
          <p:spPr>
            <a:xfrm>
              <a:off x="2896515" y="2690458"/>
              <a:ext cx="201295" cy="0"/>
            </a:xfrm>
            <a:custGeom>
              <a:avLst/>
              <a:gdLst/>
              <a:ahLst/>
              <a:cxnLst/>
              <a:rect l="l" t="t" r="r" b="b"/>
              <a:pathLst>
                <a:path w="201294">
                  <a:moveTo>
                    <a:pt x="0" y="0"/>
                  </a:moveTo>
                  <a:lnTo>
                    <a:pt x="201037" y="0"/>
                  </a:lnTo>
                </a:path>
              </a:pathLst>
            </a:custGeom>
            <a:ln w="5270">
              <a:solidFill>
                <a:srgbClr val="231F20"/>
              </a:solidFill>
            </a:ln>
          </p:spPr>
          <p:txBody>
            <a:bodyPr wrap="square" lIns="0" tIns="0" rIns="0" bIns="0" rtlCol="0"/>
            <a:lstStyle/>
            <a:p>
              <a:endParaRPr/>
            </a:p>
          </p:txBody>
        </p:sp>
        <p:sp>
          <p:nvSpPr>
            <p:cNvPr id="28" name="object 28"/>
            <p:cNvSpPr/>
            <p:nvPr/>
          </p:nvSpPr>
          <p:spPr>
            <a:xfrm>
              <a:off x="3060554" y="2658580"/>
              <a:ext cx="74930" cy="64135"/>
            </a:xfrm>
            <a:custGeom>
              <a:avLst/>
              <a:gdLst/>
              <a:ahLst/>
              <a:cxnLst/>
              <a:rect l="l" t="t" r="r" b="b"/>
              <a:pathLst>
                <a:path w="74930" h="64135">
                  <a:moveTo>
                    <a:pt x="0" y="0"/>
                  </a:moveTo>
                  <a:lnTo>
                    <a:pt x="5976" y="15938"/>
                  </a:lnTo>
                  <a:lnTo>
                    <a:pt x="7968" y="31876"/>
                  </a:lnTo>
                  <a:lnTo>
                    <a:pt x="5976" y="47814"/>
                  </a:lnTo>
                  <a:lnTo>
                    <a:pt x="0" y="63752"/>
                  </a:lnTo>
                  <a:lnTo>
                    <a:pt x="74377" y="31878"/>
                  </a:lnTo>
                  <a:lnTo>
                    <a:pt x="0" y="0"/>
                  </a:lnTo>
                  <a:close/>
                </a:path>
              </a:pathLst>
            </a:custGeom>
            <a:solidFill>
              <a:srgbClr val="231F20"/>
            </a:solidFill>
          </p:spPr>
          <p:txBody>
            <a:bodyPr wrap="square" lIns="0" tIns="0" rIns="0" bIns="0" rtlCol="0"/>
            <a:lstStyle/>
            <a:p>
              <a:endParaRPr/>
            </a:p>
          </p:txBody>
        </p:sp>
        <p:sp>
          <p:nvSpPr>
            <p:cNvPr id="29" name="object 29"/>
            <p:cNvSpPr/>
            <p:nvPr/>
          </p:nvSpPr>
          <p:spPr>
            <a:xfrm>
              <a:off x="1583349" y="2062395"/>
              <a:ext cx="90170" cy="120014"/>
            </a:xfrm>
            <a:custGeom>
              <a:avLst/>
              <a:gdLst/>
              <a:ahLst/>
              <a:cxnLst/>
              <a:rect l="l" t="t" r="r" b="b"/>
              <a:pathLst>
                <a:path w="90169" h="120014">
                  <a:moveTo>
                    <a:pt x="0" y="119517"/>
                  </a:moveTo>
                  <a:lnTo>
                    <a:pt x="89639" y="0"/>
                  </a:lnTo>
                </a:path>
              </a:pathLst>
            </a:custGeom>
            <a:ln w="5270">
              <a:solidFill>
                <a:srgbClr val="231F20"/>
              </a:solidFill>
            </a:ln>
          </p:spPr>
          <p:txBody>
            <a:bodyPr wrap="square" lIns="0" tIns="0" rIns="0" bIns="0" rtlCol="0"/>
            <a:lstStyle/>
            <a:p>
              <a:endParaRPr/>
            </a:p>
          </p:txBody>
        </p:sp>
        <p:sp>
          <p:nvSpPr>
            <p:cNvPr id="30" name="object 30"/>
            <p:cNvSpPr/>
            <p:nvPr/>
          </p:nvSpPr>
          <p:spPr>
            <a:xfrm>
              <a:off x="2660524" y="1918968"/>
              <a:ext cx="149860" cy="149860"/>
            </a:xfrm>
            <a:custGeom>
              <a:avLst/>
              <a:gdLst/>
              <a:ahLst/>
              <a:cxnLst/>
              <a:rect l="l" t="t" r="r" b="b"/>
              <a:pathLst>
                <a:path w="149860" h="149860">
                  <a:moveTo>
                    <a:pt x="89640" y="0"/>
                  </a:moveTo>
                  <a:lnTo>
                    <a:pt x="0" y="149398"/>
                  </a:lnTo>
                </a:path>
                <a:path w="149860" h="149860">
                  <a:moveTo>
                    <a:pt x="149397" y="0"/>
                  </a:moveTo>
                  <a:lnTo>
                    <a:pt x="89640" y="149398"/>
                  </a:lnTo>
                </a:path>
              </a:pathLst>
            </a:custGeom>
            <a:ln w="5270">
              <a:solidFill>
                <a:srgbClr val="231F20"/>
              </a:solidFill>
            </a:ln>
          </p:spPr>
          <p:txBody>
            <a:bodyPr wrap="square" lIns="0" tIns="0" rIns="0" bIns="0" rtlCol="0"/>
            <a:lstStyle/>
            <a:p>
              <a:endParaRPr/>
            </a:p>
          </p:txBody>
        </p:sp>
      </p:grpSp>
      <p:sp>
        <p:nvSpPr>
          <p:cNvPr id="31" name="object 31"/>
          <p:cNvSpPr txBox="1"/>
          <p:nvPr/>
        </p:nvSpPr>
        <p:spPr>
          <a:xfrm>
            <a:off x="66713" y="3327684"/>
            <a:ext cx="5067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6" action="ppaction://hlinksldjump"/>
              </a:rPr>
              <a:t>Multicast RPC</a:t>
            </a:r>
            <a:endParaRPr sz="600">
              <a:latin typeface="Arial"/>
              <a:cs typeface="Arial"/>
            </a:endParaRPr>
          </a:p>
        </p:txBody>
      </p:sp>
      <p:sp>
        <p:nvSpPr>
          <p:cNvPr id="32" name="object 32"/>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17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3766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Remote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procedure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call</a:t>
            </a:r>
            <a:endParaRPr sz="600">
              <a:latin typeface="Arial"/>
              <a:cs typeface="Arial"/>
            </a:endParaRPr>
          </a:p>
        </p:txBody>
      </p:sp>
      <p:sp>
        <p:nvSpPr>
          <p:cNvPr id="3" name="object 3"/>
          <p:cNvSpPr txBox="1"/>
          <p:nvPr/>
        </p:nvSpPr>
        <p:spPr>
          <a:xfrm>
            <a:off x="3831743" y="716"/>
            <a:ext cx="7099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DCE</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RPC</a:t>
            </a:r>
            <a:endParaRPr sz="600">
              <a:latin typeface="Arial"/>
              <a:cs typeface="Arial"/>
            </a:endParaRPr>
          </a:p>
        </p:txBody>
      </p:sp>
      <p:sp>
        <p:nvSpPr>
          <p:cNvPr id="4" name="object 4"/>
          <p:cNvSpPr txBox="1"/>
          <p:nvPr/>
        </p:nvSpPr>
        <p:spPr>
          <a:xfrm>
            <a:off x="95300" y="188846"/>
            <a:ext cx="128968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RPC</a:t>
            </a:r>
            <a:r>
              <a:rPr sz="1400" spc="-25" dirty="0">
                <a:solidFill>
                  <a:srgbClr val="3333B2"/>
                </a:solidFill>
                <a:latin typeface="Arial"/>
                <a:cs typeface="Arial"/>
              </a:rPr>
              <a:t> </a:t>
            </a:r>
            <a:r>
              <a:rPr sz="1400" spc="10" dirty="0">
                <a:solidFill>
                  <a:srgbClr val="3333B2"/>
                </a:solidFill>
                <a:latin typeface="Arial"/>
                <a:cs typeface="Arial"/>
              </a:rPr>
              <a:t>in</a:t>
            </a:r>
            <a:r>
              <a:rPr sz="1400" spc="-25" dirty="0">
                <a:solidFill>
                  <a:srgbClr val="3333B2"/>
                </a:solidFill>
                <a:latin typeface="Arial"/>
                <a:cs typeface="Arial"/>
              </a:rPr>
              <a:t> </a:t>
            </a:r>
            <a:r>
              <a:rPr sz="1400" spc="10" dirty="0">
                <a:solidFill>
                  <a:srgbClr val="3333B2"/>
                </a:solidFill>
                <a:latin typeface="Arial"/>
                <a:cs typeface="Arial"/>
              </a:rPr>
              <a:t>practice</a:t>
            </a:r>
            <a:endParaRPr sz="1400">
              <a:latin typeface="Arial"/>
              <a:cs typeface="Arial"/>
            </a:endParaRPr>
          </a:p>
        </p:txBody>
      </p:sp>
      <p:sp>
        <p:nvSpPr>
          <p:cNvPr id="5" name="object 5"/>
          <p:cNvSpPr txBox="1"/>
          <p:nvPr/>
        </p:nvSpPr>
        <p:spPr>
          <a:xfrm>
            <a:off x="2676772" y="1927897"/>
            <a:ext cx="370205" cy="112395"/>
          </a:xfrm>
          <a:prstGeom prst="rect">
            <a:avLst/>
          </a:prstGeom>
        </p:spPr>
        <p:txBody>
          <a:bodyPr vert="horz" wrap="square" lIns="0" tIns="14604" rIns="0" bIns="0" rtlCol="0">
            <a:spAutoFit/>
          </a:bodyPr>
          <a:lstStyle/>
          <a:p>
            <a:pPr marL="12700">
              <a:lnSpc>
                <a:spcPct val="100000"/>
              </a:lnSpc>
              <a:spcBef>
                <a:spcPts val="114"/>
              </a:spcBef>
            </a:pPr>
            <a:r>
              <a:rPr sz="550" spc="10" dirty="0">
                <a:solidFill>
                  <a:srgbClr val="231F20"/>
                </a:solidFill>
                <a:latin typeface="Helvetica"/>
                <a:cs typeface="Helvetica"/>
              </a:rPr>
              <a:t>C</a:t>
            </a:r>
            <a:r>
              <a:rPr sz="550" spc="-40" dirty="0">
                <a:solidFill>
                  <a:srgbClr val="231F20"/>
                </a:solidFill>
                <a:latin typeface="Helvetica"/>
                <a:cs typeface="Helvetica"/>
              </a:rPr>
              <a:t> </a:t>
            </a:r>
            <a:r>
              <a:rPr sz="550" spc="5" dirty="0">
                <a:solidFill>
                  <a:srgbClr val="231F20"/>
                </a:solidFill>
                <a:latin typeface="Helvetica"/>
                <a:cs typeface="Helvetica"/>
              </a:rPr>
              <a:t>compiler</a:t>
            </a:r>
            <a:endParaRPr sz="550">
              <a:latin typeface="Helvetica"/>
              <a:cs typeface="Helvetica"/>
            </a:endParaRPr>
          </a:p>
        </p:txBody>
      </p:sp>
      <p:sp>
        <p:nvSpPr>
          <p:cNvPr id="6" name="object 6"/>
          <p:cNvSpPr txBox="1"/>
          <p:nvPr/>
        </p:nvSpPr>
        <p:spPr>
          <a:xfrm>
            <a:off x="2183786" y="733433"/>
            <a:ext cx="29464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Uuidgen</a:t>
            </a:r>
            <a:endParaRPr sz="550">
              <a:latin typeface="Helvetica"/>
              <a:cs typeface="Helvetica"/>
            </a:endParaRPr>
          </a:p>
        </p:txBody>
      </p:sp>
      <p:sp>
        <p:nvSpPr>
          <p:cNvPr id="7" name="object 7"/>
          <p:cNvSpPr txBox="1"/>
          <p:nvPr/>
        </p:nvSpPr>
        <p:spPr>
          <a:xfrm>
            <a:off x="2102911" y="1270198"/>
            <a:ext cx="43053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IDL</a:t>
            </a:r>
            <a:r>
              <a:rPr sz="550" spc="-35" dirty="0">
                <a:solidFill>
                  <a:srgbClr val="231F20"/>
                </a:solidFill>
                <a:latin typeface="Helvetica"/>
                <a:cs typeface="Helvetica"/>
              </a:rPr>
              <a:t> </a:t>
            </a:r>
            <a:r>
              <a:rPr sz="550" spc="5" dirty="0">
                <a:solidFill>
                  <a:srgbClr val="231F20"/>
                </a:solidFill>
                <a:latin typeface="Helvetica"/>
                <a:cs typeface="Helvetica"/>
              </a:rPr>
              <a:t>compiler</a:t>
            </a:r>
            <a:endParaRPr sz="550">
              <a:latin typeface="Helvetica"/>
              <a:cs typeface="Helvetica"/>
            </a:endParaRPr>
          </a:p>
        </p:txBody>
      </p:sp>
      <p:sp>
        <p:nvSpPr>
          <p:cNvPr id="8" name="object 8"/>
          <p:cNvSpPr txBox="1"/>
          <p:nvPr/>
        </p:nvSpPr>
        <p:spPr>
          <a:xfrm>
            <a:off x="913506" y="1927899"/>
            <a:ext cx="370205" cy="112395"/>
          </a:xfrm>
          <a:prstGeom prst="rect">
            <a:avLst/>
          </a:prstGeom>
        </p:spPr>
        <p:txBody>
          <a:bodyPr vert="horz" wrap="square" lIns="0" tIns="14604" rIns="0" bIns="0" rtlCol="0">
            <a:spAutoFit/>
          </a:bodyPr>
          <a:lstStyle/>
          <a:p>
            <a:pPr marL="12700">
              <a:lnSpc>
                <a:spcPct val="100000"/>
              </a:lnSpc>
              <a:spcBef>
                <a:spcPts val="114"/>
              </a:spcBef>
            </a:pPr>
            <a:r>
              <a:rPr sz="550" spc="10" dirty="0">
                <a:solidFill>
                  <a:srgbClr val="231F20"/>
                </a:solidFill>
                <a:latin typeface="Helvetica"/>
                <a:cs typeface="Helvetica"/>
              </a:rPr>
              <a:t>C</a:t>
            </a:r>
            <a:r>
              <a:rPr sz="550" spc="-40" dirty="0">
                <a:solidFill>
                  <a:srgbClr val="231F20"/>
                </a:solidFill>
                <a:latin typeface="Helvetica"/>
                <a:cs typeface="Helvetica"/>
              </a:rPr>
              <a:t> </a:t>
            </a:r>
            <a:r>
              <a:rPr sz="550" spc="5" dirty="0">
                <a:solidFill>
                  <a:srgbClr val="231F20"/>
                </a:solidFill>
                <a:latin typeface="Helvetica"/>
                <a:cs typeface="Helvetica"/>
              </a:rPr>
              <a:t>compiler</a:t>
            </a:r>
            <a:endParaRPr sz="550">
              <a:latin typeface="Helvetica"/>
              <a:cs typeface="Helvetica"/>
            </a:endParaRPr>
          </a:p>
        </p:txBody>
      </p:sp>
      <p:sp>
        <p:nvSpPr>
          <p:cNvPr id="9" name="object 9"/>
          <p:cNvSpPr txBox="1"/>
          <p:nvPr/>
        </p:nvSpPr>
        <p:spPr>
          <a:xfrm>
            <a:off x="1557742" y="1927899"/>
            <a:ext cx="370205" cy="112395"/>
          </a:xfrm>
          <a:prstGeom prst="rect">
            <a:avLst/>
          </a:prstGeom>
        </p:spPr>
        <p:txBody>
          <a:bodyPr vert="horz" wrap="square" lIns="0" tIns="14604" rIns="0" bIns="0" rtlCol="0">
            <a:spAutoFit/>
          </a:bodyPr>
          <a:lstStyle/>
          <a:p>
            <a:pPr marL="12700">
              <a:lnSpc>
                <a:spcPct val="100000"/>
              </a:lnSpc>
              <a:spcBef>
                <a:spcPts val="114"/>
              </a:spcBef>
            </a:pPr>
            <a:r>
              <a:rPr sz="550" spc="10" dirty="0">
                <a:solidFill>
                  <a:srgbClr val="231F20"/>
                </a:solidFill>
                <a:latin typeface="Helvetica"/>
                <a:cs typeface="Helvetica"/>
              </a:rPr>
              <a:t>C</a:t>
            </a:r>
            <a:r>
              <a:rPr sz="550" spc="-40" dirty="0">
                <a:solidFill>
                  <a:srgbClr val="231F20"/>
                </a:solidFill>
                <a:latin typeface="Helvetica"/>
                <a:cs typeface="Helvetica"/>
              </a:rPr>
              <a:t> </a:t>
            </a:r>
            <a:r>
              <a:rPr sz="550" spc="5" dirty="0">
                <a:solidFill>
                  <a:srgbClr val="231F20"/>
                </a:solidFill>
                <a:latin typeface="Helvetica"/>
                <a:cs typeface="Helvetica"/>
              </a:rPr>
              <a:t>compiler</a:t>
            </a:r>
            <a:endParaRPr sz="550">
              <a:latin typeface="Helvetica"/>
              <a:cs typeface="Helvetica"/>
            </a:endParaRPr>
          </a:p>
        </p:txBody>
      </p:sp>
      <p:sp>
        <p:nvSpPr>
          <p:cNvPr id="10" name="object 10"/>
          <p:cNvSpPr txBox="1"/>
          <p:nvPr/>
        </p:nvSpPr>
        <p:spPr>
          <a:xfrm>
            <a:off x="1019381" y="2617101"/>
            <a:ext cx="22225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Linker</a:t>
            </a:r>
            <a:endParaRPr sz="550">
              <a:latin typeface="Helvetica"/>
              <a:cs typeface="Helvetica"/>
            </a:endParaRPr>
          </a:p>
        </p:txBody>
      </p:sp>
      <p:sp>
        <p:nvSpPr>
          <p:cNvPr id="11" name="object 11"/>
          <p:cNvSpPr txBox="1"/>
          <p:nvPr/>
        </p:nvSpPr>
        <p:spPr>
          <a:xfrm>
            <a:off x="3399662" y="2617101"/>
            <a:ext cx="22225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Linker</a:t>
            </a:r>
            <a:endParaRPr sz="550">
              <a:latin typeface="Helvetica"/>
              <a:cs typeface="Helvetica"/>
            </a:endParaRPr>
          </a:p>
        </p:txBody>
      </p:sp>
      <p:sp>
        <p:nvSpPr>
          <p:cNvPr id="12" name="object 12"/>
          <p:cNvSpPr txBox="1"/>
          <p:nvPr/>
        </p:nvSpPr>
        <p:spPr>
          <a:xfrm>
            <a:off x="3314885" y="1927899"/>
            <a:ext cx="370205" cy="112395"/>
          </a:xfrm>
          <a:prstGeom prst="rect">
            <a:avLst/>
          </a:prstGeom>
        </p:spPr>
        <p:txBody>
          <a:bodyPr vert="horz" wrap="square" lIns="0" tIns="14604" rIns="0" bIns="0" rtlCol="0">
            <a:spAutoFit/>
          </a:bodyPr>
          <a:lstStyle/>
          <a:p>
            <a:pPr marL="12700">
              <a:lnSpc>
                <a:spcPct val="100000"/>
              </a:lnSpc>
              <a:spcBef>
                <a:spcPts val="114"/>
              </a:spcBef>
            </a:pPr>
            <a:r>
              <a:rPr sz="550" spc="10" dirty="0">
                <a:solidFill>
                  <a:srgbClr val="231F20"/>
                </a:solidFill>
                <a:latin typeface="Helvetica"/>
                <a:cs typeface="Helvetica"/>
              </a:rPr>
              <a:t>C</a:t>
            </a:r>
            <a:r>
              <a:rPr sz="550" spc="-40" dirty="0">
                <a:solidFill>
                  <a:srgbClr val="231F20"/>
                </a:solidFill>
                <a:latin typeface="Helvetica"/>
                <a:cs typeface="Helvetica"/>
              </a:rPr>
              <a:t> </a:t>
            </a:r>
            <a:r>
              <a:rPr sz="550" spc="5" dirty="0">
                <a:solidFill>
                  <a:srgbClr val="231F20"/>
                </a:solidFill>
                <a:latin typeface="Helvetica"/>
                <a:cs typeface="Helvetica"/>
              </a:rPr>
              <a:t>compiler</a:t>
            </a:r>
            <a:endParaRPr sz="550">
              <a:latin typeface="Helvetica"/>
              <a:cs typeface="Helvetica"/>
            </a:endParaRPr>
          </a:p>
        </p:txBody>
      </p:sp>
      <p:sp>
        <p:nvSpPr>
          <p:cNvPr id="13" name="object 13"/>
          <p:cNvSpPr txBox="1"/>
          <p:nvPr/>
        </p:nvSpPr>
        <p:spPr>
          <a:xfrm>
            <a:off x="2632494" y="2227563"/>
            <a:ext cx="462915" cy="181610"/>
          </a:xfrm>
          <a:prstGeom prst="rect">
            <a:avLst/>
          </a:prstGeom>
          <a:ln w="4508">
            <a:solidFill>
              <a:srgbClr val="231F20"/>
            </a:solidFill>
          </a:ln>
        </p:spPr>
        <p:txBody>
          <a:bodyPr vert="horz" wrap="square" lIns="0" tIns="5080" rIns="0" bIns="0" rtlCol="0">
            <a:spAutoFit/>
          </a:bodyPr>
          <a:lstStyle/>
          <a:p>
            <a:pPr marL="80010" marR="37465" indent="-32384">
              <a:lnSpc>
                <a:spcPts val="630"/>
              </a:lnSpc>
              <a:spcBef>
                <a:spcPts val="40"/>
              </a:spcBef>
            </a:pPr>
            <a:r>
              <a:rPr sz="550" spc="5" dirty="0">
                <a:solidFill>
                  <a:srgbClr val="231F20"/>
                </a:solidFill>
                <a:latin typeface="Helvetica"/>
                <a:cs typeface="Helvetica"/>
              </a:rPr>
              <a:t>Server stub  object</a:t>
            </a:r>
            <a:r>
              <a:rPr sz="550" spc="-25" dirty="0">
                <a:solidFill>
                  <a:srgbClr val="231F20"/>
                </a:solidFill>
                <a:latin typeface="Helvetica"/>
                <a:cs typeface="Helvetica"/>
              </a:rPr>
              <a:t> </a:t>
            </a:r>
            <a:r>
              <a:rPr sz="550" spc="5" dirty="0">
                <a:solidFill>
                  <a:srgbClr val="231F20"/>
                </a:solidFill>
                <a:latin typeface="Helvetica"/>
                <a:cs typeface="Helvetica"/>
              </a:rPr>
              <a:t>file</a:t>
            </a:r>
            <a:endParaRPr sz="550">
              <a:latin typeface="Helvetica"/>
              <a:cs typeface="Helvetica"/>
            </a:endParaRPr>
          </a:p>
        </p:txBody>
      </p:sp>
      <p:sp>
        <p:nvSpPr>
          <p:cNvPr id="14" name="object 14"/>
          <p:cNvSpPr txBox="1"/>
          <p:nvPr/>
        </p:nvSpPr>
        <p:spPr>
          <a:xfrm>
            <a:off x="3270609" y="2227563"/>
            <a:ext cx="462915" cy="181610"/>
          </a:xfrm>
          <a:prstGeom prst="rect">
            <a:avLst/>
          </a:prstGeom>
          <a:ln w="4508">
            <a:solidFill>
              <a:srgbClr val="231F20"/>
            </a:solidFill>
          </a:ln>
        </p:spPr>
        <p:txBody>
          <a:bodyPr vert="horz" wrap="square" lIns="0" tIns="5080" rIns="0" bIns="0" rtlCol="0">
            <a:spAutoFit/>
          </a:bodyPr>
          <a:lstStyle/>
          <a:p>
            <a:pPr marL="80010" marR="69850" indent="45720">
              <a:lnSpc>
                <a:spcPts val="630"/>
              </a:lnSpc>
              <a:spcBef>
                <a:spcPts val="40"/>
              </a:spcBef>
            </a:pPr>
            <a:r>
              <a:rPr sz="550" spc="5" dirty="0">
                <a:solidFill>
                  <a:srgbClr val="231F20"/>
                </a:solidFill>
                <a:latin typeface="Helvetica"/>
                <a:cs typeface="Helvetica"/>
              </a:rPr>
              <a:t>Server </a:t>
            </a:r>
            <a:r>
              <a:rPr sz="550" spc="10" dirty="0">
                <a:solidFill>
                  <a:srgbClr val="231F20"/>
                </a:solidFill>
                <a:latin typeface="Helvetica"/>
                <a:cs typeface="Helvetica"/>
              </a:rPr>
              <a:t> </a:t>
            </a:r>
            <a:r>
              <a:rPr sz="550" spc="5" dirty="0">
                <a:solidFill>
                  <a:srgbClr val="231F20"/>
                </a:solidFill>
                <a:latin typeface="Helvetica"/>
                <a:cs typeface="Helvetica"/>
              </a:rPr>
              <a:t>object file</a:t>
            </a:r>
            <a:endParaRPr sz="550">
              <a:latin typeface="Helvetica"/>
              <a:cs typeface="Helvetica"/>
            </a:endParaRPr>
          </a:p>
        </p:txBody>
      </p:sp>
      <p:sp>
        <p:nvSpPr>
          <p:cNvPr id="15" name="object 15"/>
          <p:cNvSpPr txBox="1"/>
          <p:nvPr/>
        </p:nvSpPr>
        <p:spPr>
          <a:xfrm>
            <a:off x="2635442" y="2592517"/>
            <a:ext cx="462915" cy="181610"/>
          </a:xfrm>
          <a:prstGeom prst="rect">
            <a:avLst/>
          </a:prstGeom>
          <a:ln w="4508">
            <a:solidFill>
              <a:srgbClr val="231F20"/>
            </a:solidFill>
          </a:ln>
        </p:spPr>
        <p:txBody>
          <a:bodyPr vert="horz" wrap="square" lIns="0" tIns="4445" rIns="0" bIns="0" rtlCol="0">
            <a:spAutoFit/>
          </a:bodyPr>
          <a:lstStyle/>
          <a:p>
            <a:pPr marL="134620" marR="87630" indent="-36195">
              <a:lnSpc>
                <a:spcPts val="630"/>
              </a:lnSpc>
              <a:spcBef>
                <a:spcPts val="35"/>
              </a:spcBef>
            </a:pPr>
            <a:r>
              <a:rPr sz="550" spc="5" dirty="0">
                <a:solidFill>
                  <a:srgbClr val="231F20"/>
                </a:solidFill>
                <a:latin typeface="Helvetica"/>
                <a:cs typeface="Helvetica"/>
              </a:rPr>
              <a:t>Runtime  library</a:t>
            </a:r>
            <a:endParaRPr sz="550">
              <a:latin typeface="Helvetica"/>
              <a:cs typeface="Helvetica"/>
            </a:endParaRPr>
          </a:p>
        </p:txBody>
      </p:sp>
      <p:sp>
        <p:nvSpPr>
          <p:cNvPr id="16" name="object 16"/>
          <p:cNvSpPr txBox="1"/>
          <p:nvPr/>
        </p:nvSpPr>
        <p:spPr>
          <a:xfrm>
            <a:off x="3279680" y="2946395"/>
            <a:ext cx="462915" cy="181610"/>
          </a:xfrm>
          <a:prstGeom prst="rect">
            <a:avLst/>
          </a:prstGeom>
          <a:ln w="4508">
            <a:solidFill>
              <a:srgbClr val="231F20"/>
            </a:solidFill>
          </a:ln>
        </p:spPr>
        <p:txBody>
          <a:bodyPr vert="horz" wrap="square" lIns="0" tIns="5080" rIns="0" bIns="0" rtlCol="0">
            <a:spAutoFit/>
          </a:bodyPr>
          <a:lstStyle/>
          <a:p>
            <a:pPr marL="132080" marR="117475" indent="-8255">
              <a:lnSpc>
                <a:spcPts val="630"/>
              </a:lnSpc>
              <a:spcBef>
                <a:spcPts val="40"/>
              </a:spcBef>
            </a:pPr>
            <a:r>
              <a:rPr sz="550" spc="5" dirty="0">
                <a:solidFill>
                  <a:srgbClr val="231F20"/>
                </a:solidFill>
                <a:latin typeface="Helvetica"/>
                <a:cs typeface="Helvetica"/>
              </a:rPr>
              <a:t>Server  binary</a:t>
            </a:r>
            <a:endParaRPr sz="550">
              <a:latin typeface="Helvetica"/>
              <a:cs typeface="Helvetica"/>
            </a:endParaRPr>
          </a:p>
        </p:txBody>
      </p:sp>
      <p:sp>
        <p:nvSpPr>
          <p:cNvPr id="17" name="object 17"/>
          <p:cNvSpPr txBox="1"/>
          <p:nvPr/>
        </p:nvSpPr>
        <p:spPr>
          <a:xfrm>
            <a:off x="899400" y="2946395"/>
            <a:ext cx="462915" cy="181610"/>
          </a:xfrm>
          <a:prstGeom prst="rect">
            <a:avLst/>
          </a:prstGeom>
          <a:ln w="4508">
            <a:solidFill>
              <a:srgbClr val="231F20"/>
            </a:solidFill>
          </a:ln>
        </p:spPr>
        <p:txBody>
          <a:bodyPr vert="horz" wrap="square" lIns="0" tIns="5080" rIns="0" bIns="0" rtlCol="0">
            <a:spAutoFit/>
          </a:bodyPr>
          <a:lstStyle/>
          <a:p>
            <a:pPr marL="133350" marR="125095" indent="5715">
              <a:lnSpc>
                <a:spcPts val="630"/>
              </a:lnSpc>
              <a:spcBef>
                <a:spcPts val="40"/>
              </a:spcBef>
            </a:pPr>
            <a:r>
              <a:rPr sz="550" spc="5" dirty="0">
                <a:solidFill>
                  <a:srgbClr val="231F20"/>
                </a:solidFill>
                <a:latin typeface="Helvetica"/>
                <a:cs typeface="Helvetica"/>
              </a:rPr>
              <a:t>Client  binary</a:t>
            </a:r>
            <a:endParaRPr sz="550">
              <a:latin typeface="Helvetica"/>
              <a:cs typeface="Helvetica"/>
            </a:endParaRPr>
          </a:p>
        </p:txBody>
      </p:sp>
      <p:sp>
        <p:nvSpPr>
          <p:cNvPr id="18" name="object 18"/>
          <p:cNvSpPr txBox="1"/>
          <p:nvPr/>
        </p:nvSpPr>
        <p:spPr>
          <a:xfrm>
            <a:off x="1525490" y="2592517"/>
            <a:ext cx="462915" cy="181610"/>
          </a:xfrm>
          <a:prstGeom prst="rect">
            <a:avLst/>
          </a:prstGeom>
          <a:ln w="4508">
            <a:solidFill>
              <a:srgbClr val="231F20"/>
            </a:solidFill>
          </a:ln>
        </p:spPr>
        <p:txBody>
          <a:bodyPr vert="horz" wrap="square" lIns="0" tIns="4445" rIns="0" bIns="0" rtlCol="0">
            <a:spAutoFit/>
          </a:bodyPr>
          <a:lstStyle/>
          <a:p>
            <a:pPr marL="134620" marR="87630" indent="-36195">
              <a:lnSpc>
                <a:spcPts val="630"/>
              </a:lnSpc>
              <a:spcBef>
                <a:spcPts val="35"/>
              </a:spcBef>
            </a:pPr>
            <a:r>
              <a:rPr sz="550" spc="5" dirty="0">
                <a:solidFill>
                  <a:srgbClr val="231F20"/>
                </a:solidFill>
                <a:latin typeface="Helvetica"/>
                <a:cs typeface="Helvetica"/>
              </a:rPr>
              <a:t>Runtime  library</a:t>
            </a:r>
            <a:endParaRPr sz="550">
              <a:latin typeface="Helvetica"/>
              <a:cs typeface="Helvetica"/>
            </a:endParaRPr>
          </a:p>
        </p:txBody>
      </p:sp>
      <p:sp>
        <p:nvSpPr>
          <p:cNvPr id="19" name="object 19"/>
          <p:cNvSpPr txBox="1"/>
          <p:nvPr/>
        </p:nvSpPr>
        <p:spPr>
          <a:xfrm>
            <a:off x="1513472" y="2227563"/>
            <a:ext cx="462915" cy="181610"/>
          </a:xfrm>
          <a:prstGeom prst="rect">
            <a:avLst/>
          </a:prstGeom>
          <a:ln w="4508">
            <a:solidFill>
              <a:srgbClr val="231F20"/>
            </a:solidFill>
          </a:ln>
        </p:spPr>
        <p:txBody>
          <a:bodyPr vert="horz" wrap="square" lIns="0" tIns="5080" rIns="0" bIns="0" rtlCol="0">
            <a:spAutoFit/>
          </a:bodyPr>
          <a:lstStyle/>
          <a:p>
            <a:pPr marL="80010" marR="51435" indent="-18415">
              <a:lnSpc>
                <a:spcPts val="630"/>
              </a:lnSpc>
              <a:spcBef>
                <a:spcPts val="40"/>
              </a:spcBef>
            </a:pPr>
            <a:r>
              <a:rPr sz="550" spc="5" dirty="0">
                <a:solidFill>
                  <a:srgbClr val="231F20"/>
                </a:solidFill>
                <a:latin typeface="Helvetica"/>
                <a:cs typeface="Helvetica"/>
              </a:rPr>
              <a:t>Client stub  object</a:t>
            </a:r>
            <a:r>
              <a:rPr sz="550" spc="-35" dirty="0">
                <a:solidFill>
                  <a:srgbClr val="231F20"/>
                </a:solidFill>
                <a:latin typeface="Helvetica"/>
                <a:cs typeface="Helvetica"/>
              </a:rPr>
              <a:t> </a:t>
            </a:r>
            <a:r>
              <a:rPr sz="550" spc="5" dirty="0">
                <a:solidFill>
                  <a:srgbClr val="231F20"/>
                </a:solidFill>
                <a:latin typeface="Helvetica"/>
                <a:cs typeface="Helvetica"/>
              </a:rPr>
              <a:t>file</a:t>
            </a:r>
            <a:endParaRPr sz="550">
              <a:latin typeface="Helvetica"/>
              <a:cs typeface="Helvetica"/>
            </a:endParaRPr>
          </a:p>
        </p:txBody>
      </p:sp>
      <p:sp>
        <p:nvSpPr>
          <p:cNvPr id="20" name="object 20"/>
          <p:cNvSpPr txBox="1"/>
          <p:nvPr/>
        </p:nvSpPr>
        <p:spPr>
          <a:xfrm>
            <a:off x="878306" y="2229565"/>
            <a:ext cx="462915" cy="181610"/>
          </a:xfrm>
          <a:prstGeom prst="rect">
            <a:avLst/>
          </a:prstGeom>
          <a:ln w="4508">
            <a:solidFill>
              <a:srgbClr val="231F20"/>
            </a:solidFill>
          </a:ln>
        </p:spPr>
        <p:txBody>
          <a:bodyPr vert="horz" wrap="square" lIns="0" tIns="5080" rIns="0" bIns="0" rtlCol="0">
            <a:spAutoFit/>
          </a:bodyPr>
          <a:lstStyle/>
          <a:p>
            <a:pPr marL="80010" marR="69850" indent="59690">
              <a:lnSpc>
                <a:spcPts val="630"/>
              </a:lnSpc>
              <a:spcBef>
                <a:spcPts val="40"/>
              </a:spcBef>
            </a:pPr>
            <a:r>
              <a:rPr sz="550" spc="5" dirty="0">
                <a:solidFill>
                  <a:srgbClr val="231F20"/>
                </a:solidFill>
                <a:latin typeface="Helvetica"/>
                <a:cs typeface="Helvetica"/>
              </a:rPr>
              <a:t>Client </a:t>
            </a:r>
            <a:r>
              <a:rPr sz="550" spc="10" dirty="0">
                <a:solidFill>
                  <a:srgbClr val="231F20"/>
                </a:solidFill>
                <a:latin typeface="Helvetica"/>
                <a:cs typeface="Helvetica"/>
              </a:rPr>
              <a:t> </a:t>
            </a:r>
            <a:r>
              <a:rPr sz="550" spc="5" dirty="0">
                <a:solidFill>
                  <a:srgbClr val="231F20"/>
                </a:solidFill>
                <a:latin typeface="Helvetica"/>
                <a:cs typeface="Helvetica"/>
              </a:rPr>
              <a:t>object file</a:t>
            </a:r>
            <a:endParaRPr sz="550">
              <a:latin typeface="Helvetica"/>
              <a:cs typeface="Helvetica"/>
            </a:endParaRPr>
          </a:p>
        </p:txBody>
      </p:sp>
      <p:sp>
        <p:nvSpPr>
          <p:cNvPr id="21" name="object 21"/>
          <p:cNvSpPr txBox="1"/>
          <p:nvPr/>
        </p:nvSpPr>
        <p:spPr>
          <a:xfrm>
            <a:off x="1516417" y="1539953"/>
            <a:ext cx="462915" cy="181610"/>
          </a:xfrm>
          <a:prstGeom prst="rect">
            <a:avLst/>
          </a:prstGeom>
          <a:ln w="4508">
            <a:solidFill>
              <a:srgbClr val="231F20"/>
            </a:solidFill>
          </a:ln>
        </p:spPr>
        <p:txBody>
          <a:bodyPr vert="horz" wrap="square" lIns="0" tIns="46355" rIns="0" bIns="0" rtlCol="0">
            <a:spAutoFit/>
          </a:bodyPr>
          <a:lstStyle/>
          <a:p>
            <a:pPr marL="62230">
              <a:lnSpc>
                <a:spcPct val="100000"/>
              </a:lnSpc>
              <a:spcBef>
                <a:spcPts val="365"/>
              </a:spcBef>
            </a:pPr>
            <a:r>
              <a:rPr sz="550" spc="5" dirty="0">
                <a:solidFill>
                  <a:srgbClr val="231F20"/>
                </a:solidFill>
                <a:latin typeface="Helvetica"/>
                <a:cs typeface="Helvetica"/>
              </a:rPr>
              <a:t>Client</a:t>
            </a:r>
            <a:r>
              <a:rPr sz="550" spc="-30" dirty="0">
                <a:solidFill>
                  <a:srgbClr val="231F20"/>
                </a:solidFill>
                <a:latin typeface="Helvetica"/>
                <a:cs typeface="Helvetica"/>
              </a:rPr>
              <a:t> </a:t>
            </a:r>
            <a:r>
              <a:rPr sz="550" spc="5" dirty="0">
                <a:solidFill>
                  <a:srgbClr val="231F20"/>
                </a:solidFill>
                <a:latin typeface="Helvetica"/>
                <a:cs typeface="Helvetica"/>
              </a:rPr>
              <a:t>stub</a:t>
            </a:r>
            <a:endParaRPr sz="550">
              <a:latin typeface="Helvetica"/>
              <a:cs typeface="Helvetica"/>
            </a:endParaRPr>
          </a:p>
        </p:txBody>
      </p:sp>
      <p:sp>
        <p:nvSpPr>
          <p:cNvPr id="22" name="object 22"/>
          <p:cNvSpPr txBox="1"/>
          <p:nvPr/>
        </p:nvSpPr>
        <p:spPr>
          <a:xfrm>
            <a:off x="872177" y="1539953"/>
            <a:ext cx="462915" cy="181610"/>
          </a:xfrm>
          <a:prstGeom prst="rect">
            <a:avLst/>
          </a:prstGeom>
          <a:ln w="4508">
            <a:solidFill>
              <a:srgbClr val="231F20"/>
            </a:solidFill>
          </a:ln>
        </p:spPr>
        <p:txBody>
          <a:bodyPr vert="horz" wrap="square" lIns="0" tIns="46355" rIns="0" bIns="0" rtlCol="0">
            <a:spAutoFit/>
          </a:bodyPr>
          <a:lstStyle/>
          <a:p>
            <a:pPr marL="52069">
              <a:lnSpc>
                <a:spcPct val="100000"/>
              </a:lnSpc>
              <a:spcBef>
                <a:spcPts val="365"/>
              </a:spcBef>
            </a:pPr>
            <a:r>
              <a:rPr sz="550" spc="5" dirty="0">
                <a:solidFill>
                  <a:srgbClr val="231F20"/>
                </a:solidFill>
                <a:latin typeface="Helvetica"/>
                <a:cs typeface="Helvetica"/>
              </a:rPr>
              <a:t>Client</a:t>
            </a:r>
            <a:r>
              <a:rPr sz="550" spc="-30" dirty="0">
                <a:solidFill>
                  <a:srgbClr val="231F20"/>
                </a:solidFill>
                <a:latin typeface="Helvetica"/>
                <a:cs typeface="Helvetica"/>
              </a:rPr>
              <a:t> </a:t>
            </a:r>
            <a:r>
              <a:rPr sz="550" spc="5" dirty="0">
                <a:solidFill>
                  <a:srgbClr val="231F20"/>
                </a:solidFill>
                <a:latin typeface="Helvetica"/>
                <a:cs typeface="Helvetica"/>
              </a:rPr>
              <a:t>code</a:t>
            </a:r>
            <a:endParaRPr sz="550">
              <a:latin typeface="Helvetica"/>
              <a:cs typeface="Helvetica"/>
            </a:endParaRPr>
          </a:p>
        </p:txBody>
      </p:sp>
      <p:sp>
        <p:nvSpPr>
          <p:cNvPr id="23" name="object 23"/>
          <p:cNvSpPr txBox="1"/>
          <p:nvPr/>
        </p:nvSpPr>
        <p:spPr>
          <a:xfrm>
            <a:off x="2083530" y="1539953"/>
            <a:ext cx="462915" cy="181610"/>
          </a:xfrm>
          <a:prstGeom prst="rect">
            <a:avLst/>
          </a:prstGeom>
          <a:ln w="4508">
            <a:solidFill>
              <a:srgbClr val="231F20"/>
            </a:solidFill>
          </a:ln>
        </p:spPr>
        <p:txBody>
          <a:bodyPr vert="horz" wrap="square" lIns="0" tIns="46355" rIns="0" bIns="0" rtlCol="0">
            <a:spAutoFit/>
          </a:bodyPr>
          <a:lstStyle/>
          <a:p>
            <a:pPr marL="112395">
              <a:lnSpc>
                <a:spcPct val="100000"/>
              </a:lnSpc>
              <a:spcBef>
                <a:spcPts val="365"/>
              </a:spcBef>
            </a:pPr>
            <a:r>
              <a:rPr sz="550" spc="5" dirty="0">
                <a:solidFill>
                  <a:srgbClr val="231F20"/>
                </a:solidFill>
                <a:latin typeface="Helvetica"/>
                <a:cs typeface="Helvetica"/>
              </a:rPr>
              <a:t>Header</a:t>
            </a:r>
            <a:endParaRPr sz="550">
              <a:latin typeface="Helvetica"/>
              <a:cs typeface="Helvetica"/>
            </a:endParaRPr>
          </a:p>
        </p:txBody>
      </p:sp>
      <p:sp>
        <p:nvSpPr>
          <p:cNvPr id="24" name="object 24"/>
          <p:cNvSpPr txBox="1"/>
          <p:nvPr/>
        </p:nvSpPr>
        <p:spPr>
          <a:xfrm>
            <a:off x="2635442" y="1539953"/>
            <a:ext cx="462915" cy="181610"/>
          </a:xfrm>
          <a:prstGeom prst="rect">
            <a:avLst/>
          </a:prstGeom>
          <a:ln w="4508">
            <a:solidFill>
              <a:srgbClr val="231F20"/>
            </a:solidFill>
          </a:ln>
        </p:spPr>
        <p:txBody>
          <a:bodyPr vert="horz" wrap="square" lIns="0" tIns="46355" rIns="0" bIns="0" rtlCol="0">
            <a:spAutoFit/>
          </a:bodyPr>
          <a:lstStyle/>
          <a:p>
            <a:pPr marL="48260">
              <a:lnSpc>
                <a:spcPct val="100000"/>
              </a:lnSpc>
              <a:spcBef>
                <a:spcPts val="365"/>
              </a:spcBef>
            </a:pPr>
            <a:r>
              <a:rPr sz="550" spc="5" dirty="0">
                <a:solidFill>
                  <a:srgbClr val="231F20"/>
                </a:solidFill>
                <a:latin typeface="Helvetica"/>
                <a:cs typeface="Helvetica"/>
              </a:rPr>
              <a:t>Server</a:t>
            </a:r>
            <a:r>
              <a:rPr sz="550" spc="-25" dirty="0">
                <a:solidFill>
                  <a:srgbClr val="231F20"/>
                </a:solidFill>
                <a:latin typeface="Helvetica"/>
                <a:cs typeface="Helvetica"/>
              </a:rPr>
              <a:t> </a:t>
            </a:r>
            <a:r>
              <a:rPr sz="550" spc="5" dirty="0">
                <a:solidFill>
                  <a:srgbClr val="231F20"/>
                </a:solidFill>
                <a:latin typeface="Helvetica"/>
                <a:cs typeface="Helvetica"/>
              </a:rPr>
              <a:t>stub</a:t>
            </a:r>
            <a:endParaRPr sz="550">
              <a:latin typeface="Helvetica"/>
              <a:cs typeface="Helvetica"/>
            </a:endParaRPr>
          </a:p>
        </p:txBody>
      </p:sp>
      <p:sp>
        <p:nvSpPr>
          <p:cNvPr id="25" name="object 25"/>
          <p:cNvSpPr txBox="1"/>
          <p:nvPr/>
        </p:nvSpPr>
        <p:spPr>
          <a:xfrm>
            <a:off x="2083530" y="959232"/>
            <a:ext cx="462915" cy="181610"/>
          </a:xfrm>
          <a:prstGeom prst="rect">
            <a:avLst/>
          </a:prstGeom>
          <a:ln w="4508">
            <a:solidFill>
              <a:srgbClr val="231F20"/>
            </a:solidFill>
          </a:ln>
        </p:spPr>
        <p:txBody>
          <a:bodyPr vert="horz" wrap="square" lIns="0" tIns="12065" rIns="0" bIns="0" rtlCol="0">
            <a:spAutoFit/>
          </a:bodyPr>
          <a:lstStyle/>
          <a:p>
            <a:pPr marL="33655" marR="19685" indent="59690">
              <a:lnSpc>
                <a:spcPts val="630"/>
              </a:lnSpc>
              <a:spcBef>
                <a:spcPts val="95"/>
              </a:spcBef>
            </a:pPr>
            <a:r>
              <a:rPr sz="550" spc="5" dirty="0">
                <a:solidFill>
                  <a:srgbClr val="231F20"/>
                </a:solidFill>
                <a:latin typeface="Helvetica"/>
                <a:cs typeface="Helvetica"/>
              </a:rPr>
              <a:t>Interface </a:t>
            </a:r>
            <a:r>
              <a:rPr sz="550" spc="10" dirty="0">
                <a:solidFill>
                  <a:srgbClr val="231F20"/>
                </a:solidFill>
                <a:latin typeface="Helvetica"/>
                <a:cs typeface="Helvetica"/>
              </a:rPr>
              <a:t> </a:t>
            </a:r>
            <a:r>
              <a:rPr sz="550" spc="5" dirty="0">
                <a:solidFill>
                  <a:srgbClr val="231F20"/>
                </a:solidFill>
                <a:latin typeface="Helvetica"/>
                <a:cs typeface="Helvetica"/>
              </a:rPr>
              <a:t>definition file</a:t>
            </a:r>
            <a:endParaRPr sz="550">
              <a:latin typeface="Helvetica"/>
              <a:cs typeface="Helvetica"/>
            </a:endParaRPr>
          </a:p>
        </p:txBody>
      </p:sp>
      <p:sp>
        <p:nvSpPr>
          <p:cNvPr id="26" name="object 26"/>
          <p:cNvSpPr txBox="1"/>
          <p:nvPr/>
        </p:nvSpPr>
        <p:spPr>
          <a:xfrm>
            <a:off x="3273566" y="1539953"/>
            <a:ext cx="462915" cy="181610"/>
          </a:xfrm>
          <a:prstGeom prst="rect">
            <a:avLst/>
          </a:prstGeom>
          <a:ln w="4508">
            <a:solidFill>
              <a:srgbClr val="231F20"/>
            </a:solidFill>
          </a:ln>
        </p:spPr>
        <p:txBody>
          <a:bodyPr vert="horz" wrap="square" lIns="0" tIns="46355" rIns="0" bIns="0" rtlCol="0">
            <a:spAutoFit/>
          </a:bodyPr>
          <a:lstStyle/>
          <a:p>
            <a:pPr marL="38100">
              <a:lnSpc>
                <a:spcPct val="100000"/>
              </a:lnSpc>
              <a:spcBef>
                <a:spcPts val="365"/>
              </a:spcBef>
            </a:pPr>
            <a:r>
              <a:rPr sz="550" spc="5" dirty="0">
                <a:solidFill>
                  <a:srgbClr val="231F20"/>
                </a:solidFill>
                <a:latin typeface="Helvetica"/>
                <a:cs typeface="Helvetica"/>
              </a:rPr>
              <a:t>Server</a:t>
            </a:r>
            <a:r>
              <a:rPr sz="550" spc="-25" dirty="0">
                <a:solidFill>
                  <a:srgbClr val="231F20"/>
                </a:solidFill>
                <a:latin typeface="Helvetica"/>
                <a:cs typeface="Helvetica"/>
              </a:rPr>
              <a:t> </a:t>
            </a:r>
            <a:r>
              <a:rPr sz="550" spc="5" dirty="0">
                <a:solidFill>
                  <a:srgbClr val="231F20"/>
                </a:solidFill>
                <a:latin typeface="Helvetica"/>
                <a:cs typeface="Helvetica"/>
              </a:rPr>
              <a:t>code</a:t>
            </a:r>
            <a:endParaRPr sz="550">
              <a:latin typeface="Helvetica"/>
              <a:cs typeface="Helvetica"/>
            </a:endParaRPr>
          </a:p>
        </p:txBody>
      </p:sp>
      <p:grpSp>
        <p:nvGrpSpPr>
          <p:cNvPr id="27" name="object 27"/>
          <p:cNvGrpSpPr/>
          <p:nvPr/>
        </p:nvGrpSpPr>
        <p:grpSpPr>
          <a:xfrm>
            <a:off x="2085811" y="730137"/>
            <a:ext cx="458470" cy="229235"/>
            <a:chOff x="2085811" y="730137"/>
            <a:chExt cx="458470" cy="229235"/>
          </a:xfrm>
        </p:grpSpPr>
        <p:sp>
          <p:nvSpPr>
            <p:cNvPr id="28" name="object 28"/>
            <p:cNvSpPr/>
            <p:nvPr/>
          </p:nvSpPr>
          <p:spPr>
            <a:xfrm>
              <a:off x="2088065" y="732391"/>
              <a:ext cx="454025" cy="194945"/>
            </a:xfrm>
            <a:custGeom>
              <a:avLst/>
              <a:gdLst/>
              <a:ahLst/>
              <a:cxnLst/>
              <a:rect l="l" t="t" r="r" b="b"/>
              <a:pathLst>
                <a:path w="454025" h="194944">
                  <a:moveTo>
                    <a:pt x="27222" y="0"/>
                  </a:moveTo>
                  <a:lnTo>
                    <a:pt x="426468" y="0"/>
                  </a:lnTo>
                  <a:lnTo>
                    <a:pt x="437040" y="2147"/>
                  </a:lnTo>
                  <a:lnTo>
                    <a:pt x="445695" y="7993"/>
                  </a:lnTo>
                  <a:lnTo>
                    <a:pt x="451543" y="16646"/>
                  </a:lnTo>
                  <a:lnTo>
                    <a:pt x="453690" y="27213"/>
                  </a:lnTo>
                  <a:lnTo>
                    <a:pt x="453690" y="81657"/>
                  </a:lnTo>
                  <a:lnTo>
                    <a:pt x="451543" y="92229"/>
                  </a:lnTo>
                  <a:lnTo>
                    <a:pt x="445695" y="100885"/>
                  </a:lnTo>
                  <a:lnTo>
                    <a:pt x="437040" y="106732"/>
                  </a:lnTo>
                  <a:lnTo>
                    <a:pt x="426468" y="108880"/>
                  </a:lnTo>
                  <a:lnTo>
                    <a:pt x="27222" y="108880"/>
                  </a:lnTo>
                  <a:lnTo>
                    <a:pt x="16654" y="106732"/>
                  </a:lnTo>
                  <a:lnTo>
                    <a:pt x="7998" y="100885"/>
                  </a:lnTo>
                  <a:lnTo>
                    <a:pt x="2148" y="92229"/>
                  </a:lnTo>
                  <a:lnTo>
                    <a:pt x="0" y="81657"/>
                  </a:lnTo>
                  <a:lnTo>
                    <a:pt x="0" y="27213"/>
                  </a:lnTo>
                  <a:lnTo>
                    <a:pt x="2148" y="16646"/>
                  </a:lnTo>
                  <a:lnTo>
                    <a:pt x="7998" y="7993"/>
                  </a:lnTo>
                  <a:lnTo>
                    <a:pt x="16654" y="2147"/>
                  </a:lnTo>
                  <a:lnTo>
                    <a:pt x="27222" y="0"/>
                  </a:lnTo>
                  <a:close/>
                </a:path>
                <a:path w="454025" h="194944">
                  <a:moveTo>
                    <a:pt x="226849" y="108880"/>
                  </a:moveTo>
                  <a:lnTo>
                    <a:pt x="226849" y="194866"/>
                  </a:lnTo>
                </a:path>
              </a:pathLst>
            </a:custGeom>
            <a:ln w="4508">
              <a:solidFill>
                <a:srgbClr val="231F20"/>
              </a:solidFill>
            </a:ln>
          </p:spPr>
          <p:txBody>
            <a:bodyPr wrap="square" lIns="0" tIns="0" rIns="0" bIns="0" rtlCol="0"/>
            <a:lstStyle/>
            <a:p>
              <a:endParaRPr/>
            </a:p>
          </p:txBody>
        </p:sp>
        <p:sp>
          <p:nvSpPr>
            <p:cNvPr id="29" name="object 29"/>
            <p:cNvSpPr/>
            <p:nvPr/>
          </p:nvSpPr>
          <p:spPr>
            <a:xfrm>
              <a:off x="2287639" y="895608"/>
              <a:ext cx="54610" cy="64135"/>
            </a:xfrm>
            <a:custGeom>
              <a:avLst/>
              <a:gdLst/>
              <a:ahLst/>
              <a:cxnLst/>
              <a:rect l="l" t="t" r="r" b="b"/>
              <a:pathLst>
                <a:path w="54610" h="64134">
                  <a:moveTo>
                    <a:pt x="0" y="0"/>
                  </a:moveTo>
                  <a:lnTo>
                    <a:pt x="27276" y="63623"/>
                  </a:lnTo>
                  <a:lnTo>
                    <a:pt x="51622" y="6816"/>
                  </a:lnTo>
                  <a:lnTo>
                    <a:pt x="27275" y="6816"/>
                  </a:lnTo>
                  <a:lnTo>
                    <a:pt x="13638" y="5112"/>
                  </a:lnTo>
                  <a:lnTo>
                    <a:pt x="0" y="0"/>
                  </a:lnTo>
                  <a:close/>
                </a:path>
                <a:path w="54610" h="64134">
                  <a:moveTo>
                    <a:pt x="54543" y="0"/>
                  </a:moveTo>
                  <a:lnTo>
                    <a:pt x="40909" y="5112"/>
                  </a:lnTo>
                  <a:lnTo>
                    <a:pt x="27275" y="6816"/>
                  </a:lnTo>
                  <a:lnTo>
                    <a:pt x="51622" y="6816"/>
                  </a:lnTo>
                  <a:lnTo>
                    <a:pt x="54543" y="0"/>
                  </a:lnTo>
                  <a:close/>
                </a:path>
              </a:pathLst>
            </a:custGeom>
            <a:solidFill>
              <a:srgbClr val="231F20"/>
            </a:solidFill>
          </p:spPr>
          <p:txBody>
            <a:bodyPr wrap="square" lIns="0" tIns="0" rIns="0" bIns="0" rtlCol="0"/>
            <a:lstStyle/>
            <a:p>
              <a:endParaRPr/>
            </a:p>
          </p:txBody>
        </p:sp>
      </p:grpSp>
      <p:grpSp>
        <p:nvGrpSpPr>
          <p:cNvPr id="30" name="object 30"/>
          <p:cNvGrpSpPr/>
          <p:nvPr/>
        </p:nvGrpSpPr>
        <p:grpSpPr>
          <a:xfrm>
            <a:off x="1788629" y="1140708"/>
            <a:ext cx="1061720" cy="407034"/>
            <a:chOff x="1788629" y="1140708"/>
            <a:chExt cx="1061720" cy="407034"/>
          </a:xfrm>
        </p:grpSpPr>
        <p:sp>
          <p:nvSpPr>
            <p:cNvPr id="31" name="object 31"/>
            <p:cNvSpPr/>
            <p:nvPr/>
          </p:nvSpPr>
          <p:spPr>
            <a:xfrm>
              <a:off x="1819224" y="1276810"/>
              <a:ext cx="722630" cy="254000"/>
            </a:xfrm>
            <a:custGeom>
              <a:avLst/>
              <a:gdLst/>
              <a:ahLst/>
              <a:cxnLst/>
              <a:rect l="l" t="t" r="r" b="b"/>
              <a:pathLst>
                <a:path w="722630" h="254000">
                  <a:moveTo>
                    <a:pt x="296064" y="0"/>
                  </a:moveTo>
                  <a:lnTo>
                    <a:pt x="695309" y="0"/>
                  </a:lnTo>
                  <a:lnTo>
                    <a:pt x="705881" y="2148"/>
                  </a:lnTo>
                  <a:lnTo>
                    <a:pt x="714537" y="7998"/>
                  </a:lnTo>
                  <a:lnTo>
                    <a:pt x="720384" y="16654"/>
                  </a:lnTo>
                  <a:lnTo>
                    <a:pt x="722532" y="27222"/>
                  </a:lnTo>
                  <a:lnTo>
                    <a:pt x="722532" y="81666"/>
                  </a:lnTo>
                  <a:lnTo>
                    <a:pt x="720384" y="92238"/>
                  </a:lnTo>
                  <a:lnTo>
                    <a:pt x="714537" y="100894"/>
                  </a:lnTo>
                  <a:lnTo>
                    <a:pt x="705881" y="106741"/>
                  </a:lnTo>
                  <a:lnTo>
                    <a:pt x="695309" y="108889"/>
                  </a:lnTo>
                  <a:lnTo>
                    <a:pt x="296064" y="108889"/>
                  </a:lnTo>
                  <a:lnTo>
                    <a:pt x="285495" y="106741"/>
                  </a:lnTo>
                  <a:lnTo>
                    <a:pt x="276839" y="100894"/>
                  </a:lnTo>
                  <a:lnTo>
                    <a:pt x="270990" y="92238"/>
                  </a:lnTo>
                  <a:lnTo>
                    <a:pt x="268841" y="81666"/>
                  </a:lnTo>
                  <a:lnTo>
                    <a:pt x="268841" y="27222"/>
                  </a:lnTo>
                  <a:lnTo>
                    <a:pt x="270990" y="16654"/>
                  </a:lnTo>
                  <a:lnTo>
                    <a:pt x="276839" y="7998"/>
                  </a:lnTo>
                  <a:lnTo>
                    <a:pt x="285495" y="2148"/>
                  </a:lnTo>
                  <a:lnTo>
                    <a:pt x="296064" y="0"/>
                  </a:lnTo>
                  <a:close/>
                </a:path>
                <a:path w="722630" h="254000">
                  <a:moveTo>
                    <a:pt x="477540" y="108889"/>
                  </a:moveTo>
                  <a:lnTo>
                    <a:pt x="0" y="253855"/>
                  </a:lnTo>
                </a:path>
              </a:pathLst>
            </a:custGeom>
            <a:ln w="4508">
              <a:solidFill>
                <a:srgbClr val="231F20"/>
              </a:solidFill>
            </a:ln>
          </p:spPr>
          <p:txBody>
            <a:bodyPr wrap="square" lIns="0" tIns="0" rIns="0" bIns="0" rtlCol="0"/>
            <a:lstStyle/>
            <a:p>
              <a:endParaRPr/>
            </a:p>
          </p:txBody>
        </p:sp>
        <p:sp>
          <p:nvSpPr>
            <p:cNvPr id="32" name="object 32"/>
            <p:cNvSpPr/>
            <p:nvPr/>
          </p:nvSpPr>
          <p:spPr>
            <a:xfrm>
              <a:off x="1788629" y="1495382"/>
              <a:ext cx="69215" cy="52705"/>
            </a:xfrm>
            <a:custGeom>
              <a:avLst/>
              <a:gdLst/>
              <a:ahLst/>
              <a:cxnLst/>
              <a:rect l="l" t="t" r="r" b="b"/>
              <a:pathLst>
                <a:path w="69214" h="52705">
                  <a:moveTo>
                    <a:pt x="52965" y="0"/>
                  </a:moveTo>
                  <a:lnTo>
                    <a:pt x="0" y="44571"/>
                  </a:lnTo>
                  <a:lnTo>
                    <a:pt x="68808" y="52181"/>
                  </a:lnTo>
                  <a:lnTo>
                    <a:pt x="59952" y="40622"/>
                  </a:lnTo>
                  <a:lnTo>
                    <a:pt x="54361" y="28072"/>
                  </a:lnTo>
                  <a:lnTo>
                    <a:pt x="52032" y="14531"/>
                  </a:lnTo>
                  <a:lnTo>
                    <a:pt x="52965" y="0"/>
                  </a:lnTo>
                  <a:close/>
                </a:path>
              </a:pathLst>
            </a:custGeom>
            <a:solidFill>
              <a:srgbClr val="231F20"/>
            </a:solidFill>
          </p:spPr>
          <p:txBody>
            <a:bodyPr wrap="square" lIns="0" tIns="0" rIns="0" bIns="0" rtlCol="0"/>
            <a:lstStyle/>
            <a:p>
              <a:endParaRPr/>
            </a:p>
          </p:txBody>
        </p:sp>
        <p:sp>
          <p:nvSpPr>
            <p:cNvPr id="33" name="object 33"/>
            <p:cNvSpPr/>
            <p:nvPr/>
          </p:nvSpPr>
          <p:spPr>
            <a:xfrm>
              <a:off x="2342137" y="1385700"/>
              <a:ext cx="478155" cy="145415"/>
            </a:xfrm>
            <a:custGeom>
              <a:avLst/>
              <a:gdLst/>
              <a:ahLst/>
              <a:cxnLst/>
              <a:rect l="l" t="t" r="r" b="b"/>
              <a:pathLst>
                <a:path w="478155" h="145415">
                  <a:moveTo>
                    <a:pt x="0" y="0"/>
                  </a:moveTo>
                  <a:lnTo>
                    <a:pt x="477531" y="144966"/>
                  </a:lnTo>
                </a:path>
              </a:pathLst>
            </a:custGeom>
            <a:ln w="4508">
              <a:solidFill>
                <a:srgbClr val="231F20"/>
              </a:solidFill>
            </a:ln>
          </p:spPr>
          <p:txBody>
            <a:bodyPr wrap="square" lIns="0" tIns="0" rIns="0" bIns="0" rtlCol="0"/>
            <a:lstStyle/>
            <a:p>
              <a:endParaRPr/>
            </a:p>
          </p:txBody>
        </p:sp>
        <p:sp>
          <p:nvSpPr>
            <p:cNvPr id="34" name="object 34"/>
            <p:cNvSpPr/>
            <p:nvPr/>
          </p:nvSpPr>
          <p:spPr>
            <a:xfrm>
              <a:off x="2781464" y="1495382"/>
              <a:ext cx="69215" cy="52705"/>
            </a:xfrm>
            <a:custGeom>
              <a:avLst/>
              <a:gdLst/>
              <a:ahLst/>
              <a:cxnLst/>
              <a:rect l="l" t="t" r="r" b="b"/>
              <a:pathLst>
                <a:path w="69214" h="52705">
                  <a:moveTo>
                    <a:pt x="15842" y="0"/>
                  </a:moveTo>
                  <a:lnTo>
                    <a:pt x="16774" y="14531"/>
                  </a:lnTo>
                  <a:lnTo>
                    <a:pt x="14444" y="28072"/>
                  </a:lnTo>
                  <a:lnTo>
                    <a:pt x="8852" y="40622"/>
                  </a:lnTo>
                  <a:lnTo>
                    <a:pt x="0" y="52181"/>
                  </a:lnTo>
                  <a:lnTo>
                    <a:pt x="68799" y="44571"/>
                  </a:lnTo>
                  <a:lnTo>
                    <a:pt x="15842" y="0"/>
                  </a:lnTo>
                  <a:close/>
                </a:path>
              </a:pathLst>
            </a:custGeom>
            <a:solidFill>
              <a:srgbClr val="231F20"/>
            </a:solidFill>
          </p:spPr>
          <p:txBody>
            <a:bodyPr wrap="square" lIns="0" tIns="0" rIns="0" bIns="0" rtlCol="0"/>
            <a:lstStyle/>
            <a:p>
              <a:endParaRPr/>
            </a:p>
          </p:txBody>
        </p:sp>
        <p:sp>
          <p:nvSpPr>
            <p:cNvPr id="35" name="object 35"/>
            <p:cNvSpPr/>
            <p:nvPr/>
          </p:nvSpPr>
          <p:spPr>
            <a:xfrm>
              <a:off x="2314915" y="1140708"/>
              <a:ext cx="0" cy="104139"/>
            </a:xfrm>
            <a:custGeom>
              <a:avLst/>
              <a:gdLst/>
              <a:ahLst/>
              <a:cxnLst/>
              <a:rect l="l" t="t" r="r" b="b"/>
              <a:pathLst>
                <a:path h="104140">
                  <a:moveTo>
                    <a:pt x="0" y="0"/>
                  </a:moveTo>
                  <a:lnTo>
                    <a:pt x="0" y="104137"/>
                  </a:lnTo>
                </a:path>
              </a:pathLst>
            </a:custGeom>
            <a:ln w="4508">
              <a:solidFill>
                <a:srgbClr val="231F20"/>
              </a:solidFill>
            </a:ln>
          </p:spPr>
          <p:txBody>
            <a:bodyPr wrap="square" lIns="0" tIns="0" rIns="0" bIns="0" rtlCol="0"/>
            <a:lstStyle/>
            <a:p>
              <a:endParaRPr/>
            </a:p>
          </p:txBody>
        </p:sp>
        <p:sp>
          <p:nvSpPr>
            <p:cNvPr id="36" name="object 36"/>
            <p:cNvSpPr/>
            <p:nvPr/>
          </p:nvSpPr>
          <p:spPr>
            <a:xfrm>
              <a:off x="2287639" y="1213186"/>
              <a:ext cx="54610" cy="64135"/>
            </a:xfrm>
            <a:custGeom>
              <a:avLst/>
              <a:gdLst/>
              <a:ahLst/>
              <a:cxnLst/>
              <a:rect l="l" t="t" r="r" b="b"/>
              <a:pathLst>
                <a:path w="54610" h="64134">
                  <a:moveTo>
                    <a:pt x="0" y="0"/>
                  </a:moveTo>
                  <a:lnTo>
                    <a:pt x="27276" y="63623"/>
                  </a:lnTo>
                  <a:lnTo>
                    <a:pt x="51619" y="6823"/>
                  </a:lnTo>
                  <a:lnTo>
                    <a:pt x="27275" y="6823"/>
                  </a:lnTo>
                  <a:lnTo>
                    <a:pt x="13638" y="5117"/>
                  </a:lnTo>
                  <a:lnTo>
                    <a:pt x="0" y="0"/>
                  </a:lnTo>
                  <a:close/>
                </a:path>
                <a:path w="54610" h="64134">
                  <a:moveTo>
                    <a:pt x="54543" y="0"/>
                  </a:moveTo>
                  <a:lnTo>
                    <a:pt x="40909" y="5117"/>
                  </a:lnTo>
                  <a:lnTo>
                    <a:pt x="27275" y="6823"/>
                  </a:lnTo>
                  <a:lnTo>
                    <a:pt x="51619" y="6823"/>
                  </a:lnTo>
                  <a:lnTo>
                    <a:pt x="54543" y="0"/>
                  </a:lnTo>
                  <a:close/>
                </a:path>
              </a:pathLst>
            </a:custGeom>
            <a:solidFill>
              <a:srgbClr val="231F20"/>
            </a:solidFill>
          </p:spPr>
          <p:txBody>
            <a:bodyPr wrap="square" lIns="0" tIns="0" rIns="0" bIns="0" rtlCol="0"/>
            <a:lstStyle/>
            <a:p>
              <a:endParaRPr/>
            </a:p>
          </p:txBody>
        </p:sp>
        <p:sp>
          <p:nvSpPr>
            <p:cNvPr id="37" name="object 37"/>
            <p:cNvSpPr/>
            <p:nvPr/>
          </p:nvSpPr>
          <p:spPr>
            <a:xfrm>
              <a:off x="2314915" y="1385700"/>
              <a:ext cx="0" cy="122555"/>
            </a:xfrm>
            <a:custGeom>
              <a:avLst/>
              <a:gdLst/>
              <a:ahLst/>
              <a:cxnLst/>
              <a:rect l="l" t="t" r="r" b="b"/>
              <a:pathLst>
                <a:path h="122555">
                  <a:moveTo>
                    <a:pt x="0" y="0"/>
                  </a:moveTo>
                  <a:lnTo>
                    <a:pt x="0" y="122279"/>
                  </a:lnTo>
                </a:path>
              </a:pathLst>
            </a:custGeom>
            <a:ln w="4508">
              <a:solidFill>
                <a:srgbClr val="231F20"/>
              </a:solidFill>
            </a:ln>
          </p:spPr>
          <p:txBody>
            <a:bodyPr wrap="square" lIns="0" tIns="0" rIns="0" bIns="0" rtlCol="0"/>
            <a:lstStyle/>
            <a:p>
              <a:endParaRPr/>
            </a:p>
          </p:txBody>
        </p:sp>
        <p:sp>
          <p:nvSpPr>
            <p:cNvPr id="38" name="object 38"/>
            <p:cNvSpPr/>
            <p:nvPr/>
          </p:nvSpPr>
          <p:spPr>
            <a:xfrm>
              <a:off x="2287639" y="1476329"/>
              <a:ext cx="54610" cy="64135"/>
            </a:xfrm>
            <a:custGeom>
              <a:avLst/>
              <a:gdLst/>
              <a:ahLst/>
              <a:cxnLst/>
              <a:rect l="l" t="t" r="r" b="b"/>
              <a:pathLst>
                <a:path w="54610" h="64134">
                  <a:moveTo>
                    <a:pt x="0" y="0"/>
                  </a:moveTo>
                  <a:lnTo>
                    <a:pt x="27276" y="63623"/>
                  </a:lnTo>
                  <a:lnTo>
                    <a:pt x="51622" y="6816"/>
                  </a:lnTo>
                  <a:lnTo>
                    <a:pt x="27275" y="6816"/>
                  </a:lnTo>
                  <a:lnTo>
                    <a:pt x="13638" y="5112"/>
                  </a:lnTo>
                  <a:lnTo>
                    <a:pt x="0" y="0"/>
                  </a:lnTo>
                  <a:close/>
                </a:path>
                <a:path w="54610" h="64134">
                  <a:moveTo>
                    <a:pt x="54543" y="0"/>
                  </a:moveTo>
                  <a:lnTo>
                    <a:pt x="40909" y="5112"/>
                  </a:lnTo>
                  <a:lnTo>
                    <a:pt x="27275" y="6816"/>
                  </a:lnTo>
                  <a:lnTo>
                    <a:pt x="51622" y="6816"/>
                  </a:lnTo>
                  <a:lnTo>
                    <a:pt x="54543" y="0"/>
                  </a:lnTo>
                  <a:close/>
                </a:path>
              </a:pathLst>
            </a:custGeom>
            <a:solidFill>
              <a:srgbClr val="231F20"/>
            </a:solidFill>
          </p:spPr>
          <p:txBody>
            <a:bodyPr wrap="square" lIns="0" tIns="0" rIns="0" bIns="0" rtlCol="0"/>
            <a:lstStyle/>
            <a:p>
              <a:endParaRPr/>
            </a:p>
          </p:txBody>
        </p:sp>
      </p:grpSp>
      <p:grpSp>
        <p:nvGrpSpPr>
          <p:cNvPr id="39" name="object 39"/>
          <p:cNvGrpSpPr/>
          <p:nvPr/>
        </p:nvGrpSpPr>
        <p:grpSpPr>
          <a:xfrm>
            <a:off x="3271312" y="1721430"/>
            <a:ext cx="458470" cy="508634"/>
            <a:chOff x="3271312" y="1721430"/>
            <a:chExt cx="458470" cy="508634"/>
          </a:xfrm>
        </p:grpSpPr>
        <p:sp>
          <p:nvSpPr>
            <p:cNvPr id="40" name="object 40"/>
            <p:cNvSpPr/>
            <p:nvPr/>
          </p:nvSpPr>
          <p:spPr>
            <a:xfrm>
              <a:off x="3273566" y="1721430"/>
              <a:ext cx="454025" cy="327025"/>
            </a:xfrm>
            <a:custGeom>
              <a:avLst/>
              <a:gdLst/>
              <a:ahLst/>
              <a:cxnLst/>
              <a:rect l="l" t="t" r="r" b="b"/>
              <a:pathLst>
                <a:path w="454025" h="327025">
                  <a:moveTo>
                    <a:pt x="27213" y="217778"/>
                  </a:moveTo>
                  <a:lnTo>
                    <a:pt x="426459" y="217778"/>
                  </a:lnTo>
                  <a:lnTo>
                    <a:pt x="437027" y="219925"/>
                  </a:lnTo>
                  <a:lnTo>
                    <a:pt x="445683" y="225773"/>
                  </a:lnTo>
                  <a:lnTo>
                    <a:pt x="451532" y="234428"/>
                  </a:lnTo>
                  <a:lnTo>
                    <a:pt x="453681" y="245000"/>
                  </a:lnTo>
                  <a:lnTo>
                    <a:pt x="453681" y="299436"/>
                  </a:lnTo>
                  <a:lnTo>
                    <a:pt x="451532" y="310004"/>
                  </a:lnTo>
                  <a:lnTo>
                    <a:pt x="445683" y="318660"/>
                  </a:lnTo>
                  <a:lnTo>
                    <a:pt x="437027" y="324510"/>
                  </a:lnTo>
                  <a:lnTo>
                    <a:pt x="426459" y="326658"/>
                  </a:lnTo>
                  <a:lnTo>
                    <a:pt x="27213" y="326658"/>
                  </a:lnTo>
                  <a:lnTo>
                    <a:pt x="16646" y="324510"/>
                  </a:lnTo>
                  <a:lnTo>
                    <a:pt x="7993" y="318660"/>
                  </a:lnTo>
                  <a:lnTo>
                    <a:pt x="2147" y="310004"/>
                  </a:lnTo>
                  <a:lnTo>
                    <a:pt x="0" y="299436"/>
                  </a:lnTo>
                  <a:lnTo>
                    <a:pt x="0" y="245000"/>
                  </a:lnTo>
                  <a:lnTo>
                    <a:pt x="2147" y="234428"/>
                  </a:lnTo>
                  <a:lnTo>
                    <a:pt x="7993" y="225773"/>
                  </a:lnTo>
                  <a:lnTo>
                    <a:pt x="16646" y="219925"/>
                  </a:lnTo>
                  <a:lnTo>
                    <a:pt x="27213" y="217778"/>
                  </a:lnTo>
                  <a:close/>
                </a:path>
                <a:path w="454025" h="327025">
                  <a:moveTo>
                    <a:pt x="237498" y="0"/>
                  </a:moveTo>
                  <a:lnTo>
                    <a:pt x="237498" y="185795"/>
                  </a:lnTo>
                </a:path>
              </a:pathLst>
            </a:custGeom>
            <a:ln w="4508">
              <a:solidFill>
                <a:srgbClr val="231F20"/>
              </a:solidFill>
            </a:ln>
          </p:spPr>
          <p:txBody>
            <a:bodyPr wrap="square" lIns="0" tIns="0" rIns="0" bIns="0" rtlCol="0"/>
            <a:lstStyle/>
            <a:p>
              <a:endParaRPr/>
            </a:p>
          </p:txBody>
        </p:sp>
        <p:sp>
          <p:nvSpPr>
            <p:cNvPr id="41" name="object 41"/>
            <p:cNvSpPr/>
            <p:nvPr/>
          </p:nvSpPr>
          <p:spPr>
            <a:xfrm>
              <a:off x="3483798" y="1875575"/>
              <a:ext cx="54610" cy="64135"/>
            </a:xfrm>
            <a:custGeom>
              <a:avLst/>
              <a:gdLst/>
              <a:ahLst/>
              <a:cxnLst/>
              <a:rect l="l" t="t" r="r" b="b"/>
              <a:pathLst>
                <a:path w="54610" h="64135">
                  <a:moveTo>
                    <a:pt x="0" y="0"/>
                  </a:moveTo>
                  <a:lnTo>
                    <a:pt x="27267" y="63632"/>
                  </a:lnTo>
                  <a:lnTo>
                    <a:pt x="51613" y="6816"/>
                  </a:lnTo>
                  <a:lnTo>
                    <a:pt x="27270" y="6816"/>
                  </a:lnTo>
                  <a:lnTo>
                    <a:pt x="13637" y="5112"/>
                  </a:lnTo>
                  <a:lnTo>
                    <a:pt x="0" y="0"/>
                  </a:lnTo>
                  <a:close/>
                </a:path>
                <a:path w="54610" h="64135">
                  <a:moveTo>
                    <a:pt x="54534" y="0"/>
                  </a:moveTo>
                  <a:lnTo>
                    <a:pt x="40902" y="5112"/>
                  </a:lnTo>
                  <a:lnTo>
                    <a:pt x="27270" y="6816"/>
                  </a:lnTo>
                  <a:lnTo>
                    <a:pt x="51613" y="6816"/>
                  </a:lnTo>
                  <a:lnTo>
                    <a:pt x="54534" y="0"/>
                  </a:lnTo>
                  <a:close/>
                </a:path>
              </a:pathLst>
            </a:custGeom>
            <a:solidFill>
              <a:srgbClr val="231F20"/>
            </a:solidFill>
          </p:spPr>
          <p:txBody>
            <a:bodyPr wrap="square" lIns="0" tIns="0" rIns="0" bIns="0" rtlCol="0"/>
            <a:lstStyle/>
            <a:p>
              <a:endParaRPr/>
            </a:p>
          </p:txBody>
        </p:sp>
        <p:sp>
          <p:nvSpPr>
            <p:cNvPr id="42" name="object 42"/>
            <p:cNvSpPr/>
            <p:nvPr/>
          </p:nvSpPr>
          <p:spPr>
            <a:xfrm>
              <a:off x="3511065" y="2048088"/>
              <a:ext cx="0" cy="149860"/>
            </a:xfrm>
            <a:custGeom>
              <a:avLst/>
              <a:gdLst/>
              <a:ahLst/>
              <a:cxnLst/>
              <a:rect l="l" t="t" r="r" b="b"/>
              <a:pathLst>
                <a:path h="149860">
                  <a:moveTo>
                    <a:pt x="0" y="0"/>
                  </a:moveTo>
                  <a:lnTo>
                    <a:pt x="0" y="149501"/>
                  </a:lnTo>
                </a:path>
              </a:pathLst>
            </a:custGeom>
            <a:ln w="4508">
              <a:solidFill>
                <a:srgbClr val="231F20"/>
              </a:solidFill>
            </a:ln>
          </p:spPr>
          <p:txBody>
            <a:bodyPr wrap="square" lIns="0" tIns="0" rIns="0" bIns="0" rtlCol="0"/>
            <a:lstStyle/>
            <a:p>
              <a:endParaRPr/>
            </a:p>
          </p:txBody>
        </p:sp>
        <p:sp>
          <p:nvSpPr>
            <p:cNvPr id="43" name="object 43"/>
            <p:cNvSpPr/>
            <p:nvPr/>
          </p:nvSpPr>
          <p:spPr>
            <a:xfrm>
              <a:off x="3483798" y="2165941"/>
              <a:ext cx="54610" cy="64135"/>
            </a:xfrm>
            <a:custGeom>
              <a:avLst/>
              <a:gdLst/>
              <a:ahLst/>
              <a:cxnLst/>
              <a:rect l="l" t="t" r="r" b="b"/>
              <a:pathLst>
                <a:path w="54610" h="64135">
                  <a:moveTo>
                    <a:pt x="0" y="0"/>
                  </a:moveTo>
                  <a:lnTo>
                    <a:pt x="27267" y="63623"/>
                  </a:lnTo>
                  <a:lnTo>
                    <a:pt x="51613" y="6816"/>
                  </a:lnTo>
                  <a:lnTo>
                    <a:pt x="27270" y="6816"/>
                  </a:lnTo>
                  <a:lnTo>
                    <a:pt x="13637" y="5112"/>
                  </a:lnTo>
                  <a:lnTo>
                    <a:pt x="0" y="0"/>
                  </a:lnTo>
                  <a:close/>
                </a:path>
                <a:path w="54610" h="64135">
                  <a:moveTo>
                    <a:pt x="54534" y="0"/>
                  </a:moveTo>
                  <a:lnTo>
                    <a:pt x="40902" y="5112"/>
                  </a:lnTo>
                  <a:lnTo>
                    <a:pt x="27270" y="6816"/>
                  </a:lnTo>
                  <a:lnTo>
                    <a:pt x="51613" y="6816"/>
                  </a:lnTo>
                  <a:lnTo>
                    <a:pt x="54534" y="0"/>
                  </a:lnTo>
                  <a:close/>
                </a:path>
              </a:pathLst>
            </a:custGeom>
            <a:solidFill>
              <a:srgbClr val="231F20"/>
            </a:solidFill>
          </p:spPr>
          <p:txBody>
            <a:bodyPr wrap="square" lIns="0" tIns="0" rIns="0" bIns="0" rtlCol="0"/>
            <a:lstStyle/>
            <a:p>
              <a:endParaRPr/>
            </a:p>
          </p:txBody>
        </p:sp>
      </p:grpSp>
      <p:grpSp>
        <p:nvGrpSpPr>
          <p:cNvPr id="44" name="object 44"/>
          <p:cNvGrpSpPr/>
          <p:nvPr/>
        </p:nvGrpSpPr>
        <p:grpSpPr>
          <a:xfrm>
            <a:off x="901683" y="2408788"/>
            <a:ext cx="843915" cy="537845"/>
            <a:chOff x="901683" y="2408788"/>
            <a:chExt cx="843915" cy="537845"/>
          </a:xfrm>
        </p:grpSpPr>
        <p:sp>
          <p:nvSpPr>
            <p:cNvPr id="45" name="object 45"/>
            <p:cNvSpPr/>
            <p:nvPr/>
          </p:nvSpPr>
          <p:spPr>
            <a:xfrm>
              <a:off x="903937" y="2411043"/>
              <a:ext cx="454025" cy="320040"/>
            </a:xfrm>
            <a:custGeom>
              <a:avLst/>
              <a:gdLst/>
              <a:ahLst/>
              <a:cxnLst/>
              <a:rect l="l" t="t" r="r" b="b"/>
              <a:pathLst>
                <a:path w="454025" h="320039">
                  <a:moveTo>
                    <a:pt x="27220" y="211051"/>
                  </a:moveTo>
                  <a:lnTo>
                    <a:pt x="426468" y="211051"/>
                  </a:lnTo>
                  <a:lnTo>
                    <a:pt x="437038" y="213199"/>
                  </a:lnTo>
                  <a:lnTo>
                    <a:pt x="445693" y="219047"/>
                  </a:lnTo>
                  <a:lnTo>
                    <a:pt x="451541" y="227703"/>
                  </a:lnTo>
                  <a:lnTo>
                    <a:pt x="453689" y="238274"/>
                  </a:lnTo>
                  <a:lnTo>
                    <a:pt x="453689" y="292714"/>
                  </a:lnTo>
                  <a:lnTo>
                    <a:pt x="451541" y="303286"/>
                  </a:lnTo>
                  <a:lnTo>
                    <a:pt x="445693" y="311942"/>
                  </a:lnTo>
                  <a:lnTo>
                    <a:pt x="437038" y="317790"/>
                  </a:lnTo>
                  <a:lnTo>
                    <a:pt x="426468" y="319938"/>
                  </a:lnTo>
                  <a:lnTo>
                    <a:pt x="27220" y="319938"/>
                  </a:lnTo>
                  <a:lnTo>
                    <a:pt x="16651" y="317790"/>
                  </a:lnTo>
                  <a:lnTo>
                    <a:pt x="7996" y="311942"/>
                  </a:lnTo>
                  <a:lnTo>
                    <a:pt x="2148" y="303286"/>
                  </a:lnTo>
                  <a:lnTo>
                    <a:pt x="0" y="292714"/>
                  </a:lnTo>
                  <a:lnTo>
                    <a:pt x="0" y="238274"/>
                  </a:lnTo>
                  <a:lnTo>
                    <a:pt x="2148" y="227703"/>
                  </a:lnTo>
                  <a:lnTo>
                    <a:pt x="7996" y="219047"/>
                  </a:lnTo>
                  <a:lnTo>
                    <a:pt x="16651" y="213199"/>
                  </a:lnTo>
                  <a:lnTo>
                    <a:pt x="27220" y="211051"/>
                  </a:lnTo>
                  <a:close/>
                </a:path>
                <a:path w="454025" h="320039">
                  <a:moveTo>
                    <a:pt x="226844" y="0"/>
                  </a:moveTo>
                  <a:lnTo>
                    <a:pt x="226844" y="176719"/>
                  </a:lnTo>
                </a:path>
              </a:pathLst>
            </a:custGeom>
            <a:ln w="4508">
              <a:solidFill>
                <a:srgbClr val="231F20"/>
              </a:solidFill>
            </a:ln>
          </p:spPr>
          <p:txBody>
            <a:bodyPr wrap="square" lIns="0" tIns="0" rIns="0" bIns="0" rtlCol="0"/>
            <a:lstStyle/>
            <a:p>
              <a:endParaRPr/>
            </a:p>
          </p:txBody>
        </p:sp>
        <p:sp>
          <p:nvSpPr>
            <p:cNvPr id="46" name="object 46"/>
            <p:cNvSpPr/>
            <p:nvPr/>
          </p:nvSpPr>
          <p:spPr>
            <a:xfrm>
              <a:off x="1103515" y="2556114"/>
              <a:ext cx="54610" cy="64135"/>
            </a:xfrm>
            <a:custGeom>
              <a:avLst/>
              <a:gdLst/>
              <a:ahLst/>
              <a:cxnLst/>
              <a:rect l="l" t="t" r="r" b="b"/>
              <a:pathLst>
                <a:path w="54609" h="64135">
                  <a:moveTo>
                    <a:pt x="0" y="0"/>
                  </a:moveTo>
                  <a:lnTo>
                    <a:pt x="27266" y="63619"/>
                  </a:lnTo>
                  <a:lnTo>
                    <a:pt x="51611" y="6815"/>
                  </a:lnTo>
                  <a:lnTo>
                    <a:pt x="27265" y="6815"/>
                  </a:lnTo>
                  <a:lnTo>
                    <a:pt x="13632" y="5111"/>
                  </a:lnTo>
                  <a:lnTo>
                    <a:pt x="0" y="0"/>
                  </a:lnTo>
                  <a:close/>
                </a:path>
                <a:path w="54609" h="64135">
                  <a:moveTo>
                    <a:pt x="54532" y="0"/>
                  </a:moveTo>
                  <a:lnTo>
                    <a:pt x="40898" y="5111"/>
                  </a:lnTo>
                  <a:lnTo>
                    <a:pt x="27265" y="6815"/>
                  </a:lnTo>
                  <a:lnTo>
                    <a:pt x="51611" y="6815"/>
                  </a:lnTo>
                  <a:lnTo>
                    <a:pt x="54532" y="0"/>
                  </a:lnTo>
                  <a:close/>
                </a:path>
              </a:pathLst>
            </a:custGeom>
            <a:solidFill>
              <a:srgbClr val="231F20"/>
            </a:solidFill>
          </p:spPr>
          <p:txBody>
            <a:bodyPr wrap="square" lIns="0" tIns="0" rIns="0" bIns="0" rtlCol="0"/>
            <a:lstStyle/>
            <a:p>
              <a:endParaRPr/>
            </a:p>
          </p:txBody>
        </p:sp>
        <p:sp>
          <p:nvSpPr>
            <p:cNvPr id="47" name="object 47"/>
            <p:cNvSpPr/>
            <p:nvPr/>
          </p:nvSpPr>
          <p:spPr>
            <a:xfrm>
              <a:off x="1130782" y="2728621"/>
              <a:ext cx="0" cy="186055"/>
            </a:xfrm>
            <a:custGeom>
              <a:avLst/>
              <a:gdLst/>
              <a:ahLst/>
              <a:cxnLst/>
              <a:rect l="l" t="t" r="r" b="b"/>
              <a:pathLst>
                <a:path h="186055">
                  <a:moveTo>
                    <a:pt x="0" y="0"/>
                  </a:moveTo>
                  <a:lnTo>
                    <a:pt x="0" y="185795"/>
                  </a:lnTo>
                </a:path>
              </a:pathLst>
            </a:custGeom>
            <a:ln w="4508">
              <a:solidFill>
                <a:srgbClr val="231F20"/>
              </a:solidFill>
            </a:ln>
          </p:spPr>
          <p:txBody>
            <a:bodyPr wrap="square" lIns="0" tIns="0" rIns="0" bIns="0" rtlCol="0"/>
            <a:lstStyle/>
            <a:p>
              <a:endParaRPr/>
            </a:p>
          </p:txBody>
        </p:sp>
        <p:sp>
          <p:nvSpPr>
            <p:cNvPr id="48" name="object 48"/>
            <p:cNvSpPr/>
            <p:nvPr/>
          </p:nvSpPr>
          <p:spPr>
            <a:xfrm>
              <a:off x="1103515" y="2882770"/>
              <a:ext cx="54610" cy="64135"/>
            </a:xfrm>
            <a:custGeom>
              <a:avLst/>
              <a:gdLst/>
              <a:ahLst/>
              <a:cxnLst/>
              <a:rect l="l" t="t" r="r" b="b"/>
              <a:pathLst>
                <a:path w="54609" h="64135">
                  <a:moveTo>
                    <a:pt x="0" y="0"/>
                  </a:moveTo>
                  <a:lnTo>
                    <a:pt x="27266" y="63625"/>
                  </a:lnTo>
                  <a:lnTo>
                    <a:pt x="51610" y="6818"/>
                  </a:lnTo>
                  <a:lnTo>
                    <a:pt x="27265" y="6818"/>
                  </a:lnTo>
                  <a:lnTo>
                    <a:pt x="13632" y="5113"/>
                  </a:lnTo>
                  <a:lnTo>
                    <a:pt x="0" y="0"/>
                  </a:lnTo>
                  <a:close/>
                </a:path>
                <a:path w="54609" h="64135">
                  <a:moveTo>
                    <a:pt x="54532" y="0"/>
                  </a:moveTo>
                  <a:lnTo>
                    <a:pt x="40898" y="5113"/>
                  </a:lnTo>
                  <a:lnTo>
                    <a:pt x="27265" y="6818"/>
                  </a:lnTo>
                  <a:lnTo>
                    <a:pt x="51610" y="6818"/>
                  </a:lnTo>
                  <a:lnTo>
                    <a:pt x="54532" y="0"/>
                  </a:lnTo>
                  <a:close/>
                </a:path>
              </a:pathLst>
            </a:custGeom>
            <a:solidFill>
              <a:srgbClr val="231F20"/>
            </a:solidFill>
          </p:spPr>
          <p:txBody>
            <a:bodyPr wrap="square" lIns="0" tIns="0" rIns="0" bIns="0" rtlCol="0"/>
            <a:lstStyle/>
            <a:p>
              <a:endParaRPr/>
            </a:p>
          </p:txBody>
        </p:sp>
        <p:sp>
          <p:nvSpPr>
            <p:cNvPr id="49" name="object 49"/>
            <p:cNvSpPr/>
            <p:nvPr/>
          </p:nvSpPr>
          <p:spPr>
            <a:xfrm>
              <a:off x="1372088" y="2411043"/>
              <a:ext cx="371475" cy="202565"/>
            </a:xfrm>
            <a:custGeom>
              <a:avLst/>
              <a:gdLst/>
              <a:ahLst/>
              <a:cxnLst/>
              <a:rect l="l" t="t" r="r" b="b"/>
              <a:pathLst>
                <a:path w="371475" h="202564">
                  <a:moveTo>
                    <a:pt x="371176" y="0"/>
                  </a:moveTo>
                  <a:lnTo>
                    <a:pt x="0" y="202460"/>
                  </a:lnTo>
                </a:path>
              </a:pathLst>
            </a:custGeom>
            <a:ln w="4508">
              <a:solidFill>
                <a:srgbClr val="231F20"/>
              </a:solidFill>
            </a:ln>
          </p:spPr>
          <p:txBody>
            <a:bodyPr wrap="square" lIns="0" tIns="0" rIns="0" bIns="0" rtlCol="0"/>
            <a:lstStyle/>
            <a:p>
              <a:endParaRPr/>
            </a:p>
          </p:txBody>
        </p:sp>
        <p:sp>
          <p:nvSpPr>
            <p:cNvPr id="50" name="object 50"/>
            <p:cNvSpPr/>
            <p:nvPr/>
          </p:nvSpPr>
          <p:spPr>
            <a:xfrm>
              <a:off x="1344016" y="2574409"/>
              <a:ext cx="69215" cy="54610"/>
            </a:xfrm>
            <a:custGeom>
              <a:avLst/>
              <a:gdLst/>
              <a:ahLst/>
              <a:cxnLst/>
              <a:rect l="l" t="t" r="r" b="b"/>
              <a:pathLst>
                <a:path w="69215" h="54610">
                  <a:moveTo>
                    <a:pt x="42799" y="0"/>
                  </a:moveTo>
                  <a:lnTo>
                    <a:pt x="0" y="54404"/>
                  </a:lnTo>
                  <a:lnTo>
                    <a:pt x="68913" y="47874"/>
                  </a:lnTo>
                  <a:lnTo>
                    <a:pt x="57897" y="38352"/>
                  </a:lnTo>
                  <a:lnTo>
                    <a:pt x="49871" y="27200"/>
                  </a:lnTo>
                  <a:lnTo>
                    <a:pt x="44838" y="14416"/>
                  </a:lnTo>
                  <a:lnTo>
                    <a:pt x="42799" y="0"/>
                  </a:lnTo>
                  <a:close/>
                </a:path>
              </a:pathLst>
            </a:custGeom>
            <a:solidFill>
              <a:srgbClr val="231F20"/>
            </a:solidFill>
          </p:spPr>
          <p:txBody>
            <a:bodyPr wrap="square" lIns="0" tIns="0" rIns="0" bIns="0" rtlCol="0"/>
            <a:lstStyle/>
            <a:p>
              <a:endParaRPr/>
            </a:p>
          </p:txBody>
        </p:sp>
        <p:sp>
          <p:nvSpPr>
            <p:cNvPr id="51" name="object 51"/>
            <p:cNvSpPr/>
            <p:nvPr/>
          </p:nvSpPr>
          <p:spPr>
            <a:xfrm>
              <a:off x="1385065" y="2683254"/>
              <a:ext cx="140970" cy="0"/>
            </a:xfrm>
            <a:custGeom>
              <a:avLst/>
              <a:gdLst/>
              <a:ahLst/>
              <a:cxnLst/>
              <a:rect l="l" t="t" r="r" b="b"/>
              <a:pathLst>
                <a:path w="140969">
                  <a:moveTo>
                    <a:pt x="140425" y="0"/>
                  </a:moveTo>
                  <a:lnTo>
                    <a:pt x="0" y="0"/>
                  </a:lnTo>
                </a:path>
              </a:pathLst>
            </a:custGeom>
            <a:ln w="4508">
              <a:solidFill>
                <a:srgbClr val="231F20"/>
              </a:solidFill>
            </a:ln>
          </p:spPr>
          <p:txBody>
            <a:bodyPr wrap="square" lIns="0" tIns="0" rIns="0" bIns="0" rtlCol="0"/>
            <a:lstStyle/>
            <a:p>
              <a:endParaRPr/>
            </a:p>
          </p:txBody>
        </p:sp>
        <p:sp>
          <p:nvSpPr>
            <p:cNvPr id="52" name="object 52"/>
            <p:cNvSpPr/>
            <p:nvPr/>
          </p:nvSpPr>
          <p:spPr>
            <a:xfrm>
              <a:off x="1353090" y="2655988"/>
              <a:ext cx="64135" cy="54610"/>
            </a:xfrm>
            <a:custGeom>
              <a:avLst/>
              <a:gdLst/>
              <a:ahLst/>
              <a:cxnLst/>
              <a:rect l="l" t="t" r="r" b="b"/>
              <a:pathLst>
                <a:path w="64134" h="54610">
                  <a:moveTo>
                    <a:pt x="63625" y="0"/>
                  </a:moveTo>
                  <a:lnTo>
                    <a:pt x="0" y="27265"/>
                  </a:lnTo>
                  <a:lnTo>
                    <a:pt x="63625" y="54531"/>
                  </a:lnTo>
                  <a:lnTo>
                    <a:pt x="58510" y="40897"/>
                  </a:lnTo>
                  <a:lnTo>
                    <a:pt x="56804" y="27264"/>
                  </a:lnTo>
                  <a:lnTo>
                    <a:pt x="58510" y="13631"/>
                  </a:lnTo>
                  <a:lnTo>
                    <a:pt x="63625" y="0"/>
                  </a:lnTo>
                  <a:close/>
                </a:path>
              </a:pathLst>
            </a:custGeom>
            <a:solidFill>
              <a:srgbClr val="231F20"/>
            </a:solidFill>
          </p:spPr>
          <p:txBody>
            <a:bodyPr wrap="square" lIns="0" tIns="0" rIns="0" bIns="0" rtlCol="0"/>
            <a:lstStyle/>
            <a:p>
              <a:endParaRPr/>
            </a:p>
          </p:txBody>
        </p:sp>
      </p:grpSp>
      <p:grpSp>
        <p:nvGrpSpPr>
          <p:cNvPr id="53" name="object 53"/>
          <p:cNvGrpSpPr/>
          <p:nvPr/>
        </p:nvGrpSpPr>
        <p:grpSpPr>
          <a:xfrm>
            <a:off x="2869109" y="2408788"/>
            <a:ext cx="871219" cy="537845"/>
            <a:chOff x="2869109" y="2408788"/>
            <a:chExt cx="871219" cy="537845"/>
          </a:xfrm>
        </p:grpSpPr>
        <p:sp>
          <p:nvSpPr>
            <p:cNvPr id="54" name="object 54"/>
            <p:cNvSpPr/>
            <p:nvPr/>
          </p:nvSpPr>
          <p:spPr>
            <a:xfrm>
              <a:off x="3284225" y="2411043"/>
              <a:ext cx="454025" cy="320040"/>
            </a:xfrm>
            <a:custGeom>
              <a:avLst/>
              <a:gdLst/>
              <a:ahLst/>
              <a:cxnLst/>
              <a:rect l="l" t="t" r="r" b="b"/>
              <a:pathLst>
                <a:path w="454025" h="320039">
                  <a:moveTo>
                    <a:pt x="27213" y="211051"/>
                  </a:moveTo>
                  <a:lnTo>
                    <a:pt x="426468" y="211051"/>
                  </a:lnTo>
                  <a:lnTo>
                    <a:pt x="437034" y="213199"/>
                  </a:lnTo>
                  <a:lnTo>
                    <a:pt x="445687" y="219047"/>
                  </a:lnTo>
                  <a:lnTo>
                    <a:pt x="451534" y="227703"/>
                  </a:lnTo>
                  <a:lnTo>
                    <a:pt x="453681" y="238274"/>
                  </a:lnTo>
                  <a:lnTo>
                    <a:pt x="453681" y="292714"/>
                  </a:lnTo>
                  <a:lnTo>
                    <a:pt x="451534" y="303286"/>
                  </a:lnTo>
                  <a:lnTo>
                    <a:pt x="445687" y="311942"/>
                  </a:lnTo>
                  <a:lnTo>
                    <a:pt x="437034" y="317790"/>
                  </a:lnTo>
                  <a:lnTo>
                    <a:pt x="426468" y="319938"/>
                  </a:lnTo>
                  <a:lnTo>
                    <a:pt x="27213" y="319938"/>
                  </a:lnTo>
                  <a:lnTo>
                    <a:pt x="16650" y="317790"/>
                  </a:lnTo>
                  <a:lnTo>
                    <a:pt x="7996" y="311942"/>
                  </a:lnTo>
                  <a:lnTo>
                    <a:pt x="2148" y="303286"/>
                  </a:lnTo>
                  <a:lnTo>
                    <a:pt x="0" y="292714"/>
                  </a:lnTo>
                  <a:lnTo>
                    <a:pt x="0" y="238274"/>
                  </a:lnTo>
                  <a:lnTo>
                    <a:pt x="2148" y="227703"/>
                  </a:lnTo>
                  <a:lnTo>
                    <a:pt x="7996" y="219047"/>
                  </a:lnTo>
                  <a:lnTo>
                    <a:pt x="16650" y="213199"/>
                  </a:lnTo>
                  <a:lnTo>
                    <a:pt x="27213" y="211051"/>
                  </a:lnTo>
                  <a:close/>
                </a:path>
                <a:path w="454025" h="320039">
                  <a:moveTo>
                    <a:pt x="226840" y="0"/>
                  </a:moveTo>
                  <a:lnTo>
                    <a:pt x="226840" y="176719"/>
                  </a:lnTo>
                </a:path>
              </a:pathLst>
            </a:custGeom>
            <a:ln w="4508">
              <a:solidFill>
                <a:srgbClr val="231F20"/>
              </a:solidFill>
            </a:ln>
          </p:spPr>
          <p:txBody>
            <a:bodyPr wrap="square" lIns="0" tIns="0" rIns="0" bIns="0" rtlCol="0"/>
            <a:lstStyle/>
            <a:p>
              <a:endParaRPr/>
            </a:p>
          </p:txBody>
        </p:sp>
        <p:sp>
          <p:nvSpPr>
            <p:cNvPr id="55" name="object 55"/>
            <p:cNvSpPr/>
            <p:nvPr/>
          </p:nvSpPr>
          <p:spPr>
            <a:xfrm>
              <a:off x="3483798" y="2556114"/>
              <a:ext cx="54610" cy="64135"/>
            </a:xfrm>
            <a:custGeom>
              <a:avLst/>
              <a:gdLst/>
              <a:ahLst/>
              <a:cxnLst/>
              <a:rect l="l" t="t" r="r" b="b"/>
              <a:pathLst>
                <a:path w="54610" h="64135">
                  <a:moveTo>
                    <a:pt x="0" y="0"/>
                  </a:moveTo>
                  <a:lnTo>
                    <a:pt x="27267" y="63619"/>
                  </a:lnTo>
                  <a:lnTo>
                    <a:pt x="51613" y="6815"/>
                  </a:lnTo>
                  <a:lnTo>
                    <a:pt x="27270" y="6815"/>
                  </a:lnTo>
                  <a:lnTo>
                    <a:pt x="13637" y="5111"/>
                  </a:lnTo>
                  <a:lnTo>
                    <a:pt x="0" y="0"/>
                  </a:lnTo>
                  <a:close/>
                </a:path>
                <a:path w="54610" h="64135">
                  <a:moveTo>
                    <a:pt x="54534" y="0"/>
                  </a:moveTo>
                  <a:lnTo>
                    <a:pt x="40902" y="5111"/>
                  </a:lnTo>
                  <a:lnTo>
                    <a:pt x="27270" y="6815"/>
                  </a:lnTo>
                  <a:lnTo>
                    <a:pt x="51613" y="6815"/>
                  </a:lnTo>
                  <a:lnTo>
                    <a:pt x="54534" y="0"/>
                  </a:lnTo>
                  <a:close/>
                </a:path>
              </a:pathLst>
            </a:custGeom>
            <a:solidFill>
              <a:srgbClr val="231F20"/>
            </a:solidFill>
          </p:spPr>
          <p:txBody>
            <a:bodyPr wrap="square" lIns="0" tIns="0" rIns="0" bIns="0" rtlCol="0"/>
            <a:lstStyle/>
            <a:p>
              <a:endParaRPr/>
            </a:p>
          </p:txBody>
        </p:sp>
        <p:sp>
          <p:nvSpPr>
            <p:cNvPr id="56" name="object 56"/>
            <p:cNvSpPr/>
            <p:nvPr/>
          </p:nvSpPr>
          <p:spPr>
            <a:xfrm>
              <a:off x="3511065" y="2728621"/>
              <a:ext cx="0" cy="186055"/>
            </a:xfrm>
            <a:custGeom>
              <a:avLst/>
              <a:gdLst/>
              <a:ahLst/>
              <a:cxnLst/>
              <a:rect l="l" t="t" r="r" b="b"/>
              <a:pathLst>
                <a:path h="186055">
                  <a:moveTo>
                    <a:pt x="0" y="0"/>
                  </a:moveTo>
                  <a:lnTo>
                    <a:pt x="0" y="185795"/>
                  </a:lnTo>
                </a:path>
              </a:pathLst>
            </a:custGeom>
            <a:ln w="4508">
              <a:solidFill>
                <a:srgbClr val="231F20"/>
              </a:solidFill>
            </a:ln>
          </p:spPr>
          <p:txBody>
            <a:bodyPr wrap="square" lIns="0" tIns="0" rIns="0" bIns="0" rtlCol="0"/>
            <a:lstStyle/>
            <a:p>
              <a:endParaRPr/>
            </a:p>
          </p:txBody>
        </p:sp>
        <p:sp>
          <p:nvSpPr>
            <p:cNvPr id="57" name="object 57"/>
            <p:cNvSpPr/>
            <p:nvPr/>
          </p:nvSpPr>
          <p:spPr>
            <a:xfrm>
              <a:off x="3483798" y="2882770"/>
              <a:ext cx="54610" cy="64135"/>
            </a:xfrm>
            <a:custGeom>
              <a:avLst/>
              <a:gdLst/>
              <a:ahLst/>
              <a:cxnLst/>
              <a:rect l="l" t="t" r="r" b="b"/>
              <a:pathLst>
                <a:path w="54610" h="64135">
                  <a:moveTo>
                    <a:pt x="0" y="0"/>
                  </a:moveTo>
                  <a:lnTo>
                    <a:pt x="27267" y="63625"/>
                  </a:lnTo>
                  <a:lnTo>
                    <a:pt x="51612" y="6818"/>
                  </a:lnTo>
                  <a:lnTo>
                    <a:pt x="27270" y="6818"/>
                  </a:lnTo>
                  <a:lnTo>
                    <a:pt x="13637" y="5113"/>
                  </a:lnTo>
                  <a:lnTo>
                    <a:pt x="0" y="0"/>
                  </a:lnTo>
                  <a:close/>
                </a:path>
                <a:path w="54610" h="64135">
                  <a:moveTo>
                    <a:pt x="54534" y="0"/>
                  </a:moveTo>
                  <a:lnTo>
                    <a:pt x="40902" y="5113"/>
                  </a:lnTo>
                  <a:lnTo>
                    <a:pt x="27270" y="6818"/>
                  </a:lnTo>
                  <a:lnTo>
                    <a:pt x="51612" y="6818"/>
                  </a:lnTo>
                  <a:lnTo>
                    <a:pt x="54534" y="0"/>
                  </a:lnTo>
                  <a:close/>
                </a:path>
              </a:pathLst>
            </a:custGeom>
            <a:solidFill>
              <a:srgbClr val="231F20"/>
            </a:solidFill>
          </p:spPr>
          <p:txBody>
            <a:bodyPr wrap="square" lIns="0" tIns="0" rIns="0" bIns="0" rtlCol="0"/>
            <a:lstStyle/>
            <a:p>
              <a:endParaRPr/>
            </a:p>
          </p:txBody>
        </p:sp>
        <p:sp>
          <p:nvSpPr>
            <p:cNvPr id="58" name="object 58"/>
            <p:cNvSpPr/>
            <p:nvPr/>
          </p:nvSpPr>
          <p:spPr>
            <a:xfrm>
              <a:off x="3098213" y="2683254"/>
              <a:ext cx="158750" cy="0"/>
            </a:xfrm>
            <a:custGeom>
              <a:avLst/>
              <a:gdLst/>
              <a:ahLst/>
              <a:cxnLst/>
              <a:rect l="l" t="t" r="r" b="b"/>
              <a:pathLst>
                <a:path w="158750">
                  <a:moveTo>
                    <a:pt x="0" y="0"/>
                  </a:moveTo>
                  <a:lnTo>
                    <a:pt x="158572" y="0"/>
                  </a:lnTo>
                </a:path>
              </a:pathLst>
            </a:custGeom>
            <a:ln w="4508">
              <a:solidFill>
                <a:srgbClr val="231F20"/>
              </a:solidFill>
            </a:ln>
          </p:spPr>
          <p:txBody>
            <a:bodyPr wrap="square" lIns="0" tIns="0" rIns="0" bIns="0" rtlCol="0"/>
            <a:lstStyle/>
            <a:p>
              <a:endParaRPr/>
            </a:p>
          </p:txBody>
        </p:sp>
        <p:sp>
          <p:nvSpPr>
            <p:cNvPr id="59" name="object 59"/>
            <p:cNvSpPr/>
            <p:nvPr/>
          </p:nvSpPr>
          <p:spPr>
            <a:xfrm>
              <a:off x="3225136" y="2655988"/>
              <a:ext cx="64135" cy="54610"/>
            </a:xfrm>
            <a:custGeom>
              <a:avLst/>
              <a:gdLst/>
              <a:ahLst/>
              <a:cxnLst/>
              <a:rect l="l" t="t" r="r" b="b"/>
              <a:pathLst>
                <a:path w="64135" h="54610">
                  <a:moveTo>
                    <a:pt x="0" y="0"/>
                  </a:moveTo>
                  <a:lnTo>
                    <a:pt x="5112" y="13631"/>
                  </a:lnTo>
                  <a:lnTo>
                    <a:pt x="6816" y="27265"/>
                  </a:lnTo>
                  <a:lnTo>
                    <a:pt x="5112" y="40897"/>
                  </a:lnTo>
                  <a:lnTo>
                    <a:pt x="0" y="54531"/>
                  </a:lnTo>
                  <a:lnTo>
                    <a:pt x="63623" y="27265"/>
                  </a:lnTo>
                  <a:lnTo>
                    <a:pt x="0" y="0"/>
                  </a:lnTo>
                  <a:close/>
                </a:path>
              </a:pathLst>
            </a:custGeom>
            <a:solidFill>
              <a:srgbClr val="231F20"/>
            </a:solidFill>
          </p:spPr>
          <p:txBody>
            <a:bodyPr wrap="square" lIns="0" tIns="0" rIns="0" bIns="0" rtlCol="0"/>
            <a:lstStyle/>
            <a:p>
              <a:endParaRPr/>
            </a:p>
          </p:txBody>
        </p:sp>
        <p:sp>
          <p:nvSpPr>
            <p:cNvPr id="60" name="object 60"/>
            <p:cNvSpPr/>
            <p:nvPr/>
          </p:nvSpPr>
          <p:spPr>
            <a:xfrm>
              <a:off x="2871363" y="2411043"/>
              <a:ext cx="389255" cy="203200"/>
            </a:xfrm>
            <a:custGeom>
              <a:avLst/>
              <a:gdLst/>
              <a:ahLst/>
              <a:cxnLst/>
              <a:rect l="l" t="t" r="r" b="b"/>
              <a:pathLst>
                <a:path w="389254" h="203200">
                  <a:moveTo>
                    <a:pt x="0" y="0"/>
                  </a:moveTo>
                  <a:lnTo>
                    <a:pt x="389047" y="202978"/>
                  </a:lnTo>
                </a:path>
              </a:pathLst>
            </a:custGeom>
            <a:ln w="4508">
              <a:solidFill>
                <a:srgbClr val="231F20"/>
              </a:solidFill>
            </a:ln>
          </p:spPr>
          <p:txBody>
            <a:bodyPr wrap="square" lIns="0" tIns="0" rIns="0" bIns="0" rtlCol="0"/>
            <a:lstStyle/>
            <a:p>
              <a:endParaRPr/>
            </a:p>
          </p:txBody>
        </p:sp>
        <p:sp>
          <p:nvSpPr>
            <p:cNvPr id="61" name="object 61"/>
            <p:cNvSpPr/>
            <p:nvPr/>
          </p:nvSpPr>
          <p:spPr>
            <a:xfrm>
              <a:off x="3219735" y="2575205"/>
              <a:ext cx="69215" cy="53975"/>
            </a:xfrm>
            <a:custGeom>
              <a:avLst/>
              <a:gdLst/>
              <a:ahLst/>
              <a:cxnLst/>
              <a:rect l="l" t="t" r="r" b="b"/>
              <a:pathLst>
                <a:path w="69214" h="53975">
                  <a:moveTo>
                    <a:pt x="25229" y="0"/>
                  </a:moveTo>
                  <a:lnTo>
                    <a:pt x="23454" y="14453"/>
                  </a:lnTo>
                  <a:lnTo>
                    <a:pt x="18657" y="27329"/>
                  </a:lnTo>
                  <a:lnTo>
                    <a:pt x="10838" y="38627"/>
                  </a:lnTo>
                  <a:lnTo>
                    <a:pt x="0" y="48350"/>
                  </a:lnTo>
                  <a:lnTo>
                    <a:pt x="69025" y="53608"/>
                  </a:lnTo>
                  <a:lnTo>
                    <a:pt x="25229" y="0"/>
                  </a:lnTo>
                  <a:close/>
                </a:path>
              </a:pathLst>
            </a:custGeom>
            <a:solidFill>
              <a:srgbClr val="231F20"/>
            </a:solidFill>
          </p:spPr>
          <p:txBody>
            <a:bodyPr wrap="square" lIns="0" tIns="0" rIns="0" bIns="0" rtlCol="0"/>
            <a:lstStyle/>
            <a:p>
              <a:endParaRPr/>
            </a:p>
          </p:txBody>
        </p:sp>
      </p:grpSp>
      <p:sp>
        <p:nvSpPr>
          <p:cNvPr id="62" name="object 62"/>
          <p:cNvSpPr/>
          <p:nvPr/>
        </p:nvSpPr>
        <p:spPr>
          <a:xfrm>
            <a:off x="2559907" y="1721430"/>
            <a:ext cx="907415" cy="129539"/>
          </a:xfrm>
          <a:custGeom>
            <a:avLst/>
            <a:gdLst/>
            <a:ahLst/>
            <a:cxnLst/>
            <a:rect l="l" t="t" r="r" b="b"/>
            <a:pathLst>
              <a:path w="907414" h="129539">
                <a:moveTo>
                  <a:pt x="907380" y="0"/>
                </a:moveTo>
                <a:lnTo>
                  <a:pt x="585686" y="129160"/>
                </a:lnTo>
                <a:lnTo>
                  <a:pt x="293764" y="121364"/>
                </a:lnTo>
                <a:lnTo>
                  <a:pt x="81806" y="57423"/>
                </a:lnTo>
                <a:lnTo>
                  <a:pt x="0" y="18151"/>
                </a:lnTo>
              </a:path>
            </a:pathLst>
          </a:custGeom>
          <a:ln w="4508">
            <a:solidFill>
              <a:srgbClr val="231F20"/>
            </a:solidFill>
          </a:ln>
        </p:spPr>
        <p:txBody>
          <a:bodyPr wrap="square" lIns="0" tIns="0" rIns="0" bIns="0" rtlCol="0"/>
          <a:lstStyle/>
          <a:p>
            <a:endParaRPr/>
          </a:p>
        </p:txBody>
      </p:sp>
      <p:grpSp>
        <p:nvGrpSpPr>
          <p:cNvPr id="63" name="object 63"/>
          <p:cNvGrpSpPr/>
          <p:nvPr/>
        </p:nvGrpSpPr>
        <p:grpSpPr>
          <a:xfrm>
            <a:off x="2532306" y="1721430"/>
            <a:ext cx="559435" cy="508634"/>
            <a:chOff x="2532306" y="1721430"/>
            <a:chExt cx="559435" cy="508634"/>
          </a:xfrm>
        </p:grpSpPr>
        <p:sp>
          <p:nvSpPr>
            <p:cNvPr id="64" name="object 64"/>
            <p:cNvSpPr/>
            <p:nvPr/>
          </p:nvSpPr>
          <p:spPr>
            <a:xfrm>
              <a:off x="2635442" y="1721430"/>
              <a:ext cx="454025" cy="327025"/>
            </a:xfrm>
            <a:custGeom>
              <a:avLst/>
              <a:gdLst/>
              <a:ahLst/>
              <a:cxnLst/>
              <a:rect l="l" t="t" r="r" b="b"/>
              <a:pathLst>
                <a:path w="454025" h="327025">
                  <a:moveTo>
                    <a:pt x="27222" y="217778"/>
                  </a:moveTo>
                  <a:lnTo>
                    <a:pt x="426468" y="217778"/>
                  </a:lnTo>
                  <a:lnTo>
                    <a:pt x="437040" y="219925"/>
                  </a:lnTo>
                  <a:lnTo>
                    <a:pt x="445695" y="225773"/>
                  </a:lnTo>
                  <a:lnTo>
                    <a:pt x="451543" y="234428"/>
                  </a:lnTo>
                  <a:lnTo>
                    <a:pt x="453690" y="245000"/>
                  </a:lnTo>
                  <a:lnTo>
                    <a:pt x="453690" y="299436"/>
                  </a:lnTo>
                  <a:lnTo>
                    <a:pt x="451543" y="310004"/>
                  </a:lnTo>
                  <a:lnTo>
                    <a:pt x="445695" y="318660"/>
                  </a:lnTo>
                  <a:lnTo>
                    <a:pt x="437040" y="324510"/>
                  </a:lnTo>
                  <a:lnTo>
                    <a:pt x="426468" y="326658"/>
                  </a:lnTo>
                  <a:lnTo>
                    <a:pt x="27222" y="326658"/>
                  </a:lnTo>
                  <a:lnTo>
                    <a:pt x="16654" y="324510"/>
                  </a:lnTo>
                  <a:lnTo>
                    <a:pt x="7998" y="318660"/>
                  </a:lnTo>
                  <a:lnTo>
                    <a:pt x="2148" y="310004"/>
                  </a:lnTo>
                  <a:lnTo>
                    <a:pt x="0" y="299436"/>
                  </a:lnTo>
                  <a:lnTo>
                    <a:pt x="0" y="245000"/>
                  </a:lnTo>
                  <a:lnTo>
                    <a:pt x="2148" y="234428"/>
                  </a:lnTo>
                  <a:lnTo>
                    <a:pt x="7998" y="225773"/>
                  </a:lnTo>
                  <a:lnTo>
                    <a:pt x="16654" y="219925"/>
                  </a:lnTo>
                  <a:lnTo>
                    <a:pt x="27222" y="217778"/>
                  </a:lnTo>
                  <a:close/>
                </a:path>
                <a:path w="454025" h="327025">
                  <a:moveTo>
                    <a:pt x="226849" y="0"/>
                  </a:moveTo>
                  <a:lnTo>
                    <a:pt x="226849" y="185795"/>
                  </a:lnTo>
                </a:path>
              </a:pathLst>
            </a:custGeom>
            <a:ln w="4508">
              <a:solidFill>
                <a:srgbClr val="231F20"/>
              </a:solidFill>
            </a:ln>
          </p:spPr>
          <p:txBody>
            <a:bodyPr wrap="square" lIns="0" tIns="0" rIns="0" bIns="0" rtlCol="0"/>
            <a:lstStyle/>
            <a:p>
              <a:endParaRPr/>
            </a:p>
          </p:txBody>
        </p:sp>
        <p:sp>
          <p:nvSpPr>
            <p:cNvPr id="65" name="object 65"/>
            <p:cNvSpPr/>
            <p:nvPr/>
          </p:nvSpPr>
          <p:spPr>
            <a:xfrm>
              <a:off x="2835025" y="1875575"/>
              <a:ext cx="54610" cy="64135"/>
            </a:xfrm>
            <a:custGeom>
              <a:avLst/>
              <a:gdLst/>
              <a:ahLst/>
              <a:cxnLst/>
              <a:rect l="l" t="t" r="r" b="b"/>
              <a:pathLst>
                <a:path w="54610" h="64135">
                  <a:moveTo>
                    <a:pt x="0" y="0"/>
                  </a:moveTo>
                  <a:lnTo>
                    <a:pt x="27267" y="63632"/>
                  </a:lnTo>
                  <a:lnTo>
                    <a:pt x="51613" y="6816"/>
                  </a:lnTo>
                  <a:lnTo>
                    <a:pt x="27267" y="6816"/>
                  </a:lnTo>
                  <a:lnTo>
                    <a:pt x="13633" y="5112"/>
                  </a:lnTo>
                  <a:lnTo>
                    <a:pt x="0" y="0"/>
                  </a:lnTo>
                  <a:close/>
                </a:path>
                <a:path w="54610" h="64135">
                  <a:moveTo>
                    <a:pt x="54534" y="0"/>
                  </a:moveTo>
                  <a:lnTo>
                    <a:pt x="40901" y="5112"/>
                  </a:lnTo>
                  <a:lnTo>
                    <a:pt x="27267" y="6816"/>
                  </a:lnTo>
                  <a:lnTo>
                    <a:pt x="51613" y="6816"/>
                  </a:lnTo>
                  <a:lnTo>
                    <a:pt x="54534" y="0"/>
                  </a:lnTo>
                  <a:close/>
                </a:path>
              </a:pathLst>
            </a:custGeom>
            <a:solidFill>
              <a:srgbClr val="231F20"/>
            </a:solidFill>
          </p:spPr>
          <p:txBody>
            <a:bodyPr wrap="square" lIns="0" tIns="0" rIns="0" bIns="0" rtlCol="0"/>
            <a:lstStyle/>
            <a:p>
              <a:endParaRPr/>
            </a:p>
          </p:txBody>
        </p:sp>
        <p:sp>
          <p:nvSpPr>
            <p:cNvPr id="66" name="object 66"/>
            <p:cNvSpPr/>
            <p:nvPr/>
          </p:nvSpPr>
          <p:spPr>
            <a:xfrm>
              <a:off x="2862292" y="2048088"/>
              <a:ext cx="0" cy="149860"/>
            </a:xfrm>
            <a:custGeom>
              <a:avLst/>
              <a:gdLst/>
              <a:ahLst/>
              <a:cxnLst/>
              <a:rect l="l" t="t" r="r" b="b"/>
              <a:pathLst>
                <a:path h="149860">
                  <a:moveTo>
                    <a:pt x="0" y="0"/>
                  </a:moveTo>
                  <a:lnTo>
                    <a:pt x="0" y="149501"/>
                  </a:lnTo>
                </a:path>
              </a:pathLst>
            </a:custGeom>
            <a:ln w="4508">
              <a:solidFill>
                <a:srgbClr val="231F20"/>
              </a:solidFill>
            </a:ln>
          </p:spPr>
          <p:txBody>
            <a:bodyPr wrap="square" lIns="0" tIns="0" rIns="0" bIns="0" rtlCol="0"/>
            <a:lstStyle/>
            <a:p>
              <a:endParaRPr/>
            </a:p>
          </p:txBody>
        </p:sp>
        <p:sp>
          <p:nvSpPr>
            <p:cNvPr id="67" name="object 67"/>
            <p:cNvSpPr/>
            <p:nvPr/>
          </p:nvSpPr>
          <p:spPr>
            <a:xfrm>
              <a:off x="2532303" y="1723440"/>
              <a:ext cx="357505" cy="506730"/>
            </a:xfrm>
            <a:custGeom>
              <a:avLst/>
              <a:gdLst/>
              <a:ahLst/>
              <a:cxnLst/>
              <a:rect l="l" t="t" r="r" b="b"/>
              <a:pathLst>
                <a:path w="357505" h="506730">
                  <a:moveTo>
                    <a:pt x="68681" y="8585"/>
                  </a:moveTo>
                  <a:lnTo>
                    <a:pt x="0" y="0"/>
                  </a:lnTo>
                  <a:lnTo>
                    <a:pt x="41148" y="55664"/>
                  </a:lnTo>
                  <a:lnTo>
                    <a:pt x="43624" y="41313"/>
                  </a:lnTo>
                  <a:lnTo>
                    <a:pt x="49034" y="28676"/>
                  </a:lnTo>
                  <a:lnTo>
                    <a:pt x="57391" y="17780"/>
                  </a:lnTo>
                  <a:lnTo>
                    <a:pt x="68681" y="8585"/>
                  </a:lnTo>
                  <a:close/>
                </a:path>
                <a:path w="357505" h="506730">
                  <a:moveTo>
                    <a:pt x="357251" y="442506"/>
                  </a:moveTo>
                  <a:lnTo>
                    <a:pt x="343611" y="447624"/>
                  </a:lnTo>
                  <a:lnTo>
                    <a:pt x="329984" y="449326"/>
                  </a:lnTo>
                  <a:lnTo>
                    <a:pt x="316344" y="447624"/>
                  </a:lnTo>
                  <a:lnTo>
                    <a:pt x="302717" y="442506"/>
                  </a:lnTo>
                  <a:lnTo>
                    <a:pt x="329984" y="506133"/>
                  </a:lnTo>
                  <a:lnTo>
                    <a:pt x="354330" y="449326"/>
                  </a:lnTo>
                  <a:lnTo>
                    <a:pt x="357251" y="442506"/>
                  </a:lnTo>
                  <a:close/>
                </a:path>
              </a:pathLst>
            </a:custGeom>
            <a:solidFill>
              <a:srgbClr val="231F20"/>
            </a:solidFill>
          </p:spPr>
          <p:txBody>
            <a:bodyPr wrap="square" lIns="0" tIns="0" rIns="0" bIns="0" rtlCol="0"/>
            <a:lstStyle/>
            <a:p>
              <a:endParaRPr/>
            </a:p>
          </p:txBody>
        </p:sp>
      </p:grpSp>
      <p:grpSp>
        <p:nvGrpSpPr>
          <p:cNvPr id="68" name="object 68"/>
          <p:cNvGrpSpPr/>
          <p:nvPr/>
        </p:nvGrpSpPr>
        <p:grpSpPr>
          <a:xfrm>
            <a:off x="869923" y="1719175"/>
            <a:ext cx="1236980" cy="510540"/>
            <a:chOff x="869923" y="1719175"/>
            <a:chExt cx="1236980" cy="510540"/>
          </a:xfrm>
        </p:grpSpPr>
        <p:sp>
          <p:nvSpPr>
            <p:cNvPr id="69" name="object 69"/>
            <p:cNvSpPr/>
            <p:nvPr/>
          </p:nvSpPr>
          <p:spPr>
            <a:xfrm>
              <a:off x="872177" y="1721430"/>
              <a:ext cx="454025" cy="327025"/>
            </a:xfrm>
            <a:custGeom>
              <a:avLst/>
              <a:gdLst/>
              <a:ahLst/>
              <a:cxnLst/>
              <a:rect l="l" t="t" r="r" b="b"/>
              <a:pathLst>
                <a:path w="454025" h="327025">
                  <a:moveTo>
                    <a:pt x="27223" y="217778"/>
                  </a:moveTo>
                  <a:lnTo>
                    <a:pt x="426472" y="217778"/>
                  </a:lnTo>
                  <a:lnTo>
                    <a:pt x="437040" y="219925"/>
                  </a:lnTo>
                  <a:lnTo>
                    <a:pt x="445694" y="225773"/>
                  </a:lnTo>
                  <a:lnTo>
                    <a:pt x="451541" y="234428"/>
                  </a:lnTo>
                  <a:lnTo>
                    <a:pt x="453688" y="245000"/>
                  </a:lnTo>
                  <a:lnTo>
                    <a:pt x="453688" y="299436"/>
                  </a:lnTo>
                  <a:lnTo>
                    <a:pt x="451541" y="310004"/>
                  </a:lnTo>
                  <a:lnTo>
                    <a:pt x="445694" y="318660"/>
                  </a:lnTo>
                  <a:lnTo>
                    <a:pt x="437040" y="324510"/>
                  </a:lnTo>
                  <a:lnTo>
                    <a:pt x="426472" y="326658"/>
                  </a:lnTo>
                  <a:lnTo>
                    <a:pt x="27223" y="326658"/>
                  </a:lnTo>
                  <a:lnTo>
                    <a:pt x="16654" y="324510"/>
                  </a:lnTo>
                  <a:lnTo>
                    <a:pt x="7998" y="318660"/>
                  </a:lnTo>
                  <a:lnTo>
                    <a:pt x="2148" y="310004"/>
                  </a:lnTo>
                  <a:lnTo>
                    <a:pt x="0" y="299436"/>
                  </a:lnTo>
                  <a:lnTo>
                    <a:pt x="0" y="245000"/>
                  </a:lnTo>
                  <a:lnTo>
                    <a:pt x="2148" y="234428"/>
                  </a:lnTo>
                  <a:lnTo>
                    <a:pt x="7998" y="225773"/>
                  </a:lnTo>
                  <a:lnTo>
                    <a:pt x="16654" y="219925"/>
                  </a:lnTo>
                  <a:lnTo>
                    <a:pt x="27223" y="217778"/>
                  </a:lnTo>
                  <a:close/>
                </a:path>
                <a:path w="454025" h="327025">
                  <a:moveTo>
                    <a:pt x="258605" y="0"/>
                  </a:moveTo>
                  <a:lnTo>
                    <a:pt x="258605" y="185795"/>
                  </a:lnTo>
                </a:path>
              </a:pathLst>
            </a:custGeom>
            <a:ln w="4508">
              <a:solidFill>
                <a:srgbClr val="231F20"/>
              </a:solidFill>
            </a:ln>
          </p:spPr>
          <p:txBody>
            <a:bodyPr wrap="square" lIns="0" tIns="0" rIns="0" bIns="0" rtlCol="0"/>
            <a:lstStyle/>
            <a:p>
              <a:endParaRPr/>
            </a:p>
          </p:txBody>
        </p:sp>
        <p:sp>
          <p:nvSpPr>
            <p:cNvPr id="70" name="object 70"/>
            <p:cNvSpPr/>
            <p:nvPr/>
          </p:nvSpPr>
          <p:spPr>
            <a:xfrm>
              <a:off x="1103515" y="1875575"/>
              <a:ext cx="54610" cy="64135"/>
            </a:xfrm>
            <a:custGeom>
              <a:avLst/>
              <a:gdLst/>
              <a:ahLst/>
              <a:cxnLst/>
              <a:rect l="l" t="t" r="r" b="b"/>
              <a:pathLst>
                <a:path w="54609" h="64135">
                  <a:moveTo>
                    <a:pt x="0" y="0"/>
                  </a:moveTo>
                  <a:lnTo>
                    <a:pt x="27266" y="63632"/>
                  </a:lnTo>
                  <a:lnTo>
                    <a:pt x="51611" y="6816"/>
                  </a:lnTo>
                  <a:lnTo>
                    <a:pt x="27265" y="6816"/>
                  </a:lnTo>
                  <a:lnTo>
                    <a:pt x="13632" y="5112"/>
                  </a:lnTo>
                  <a:lnTo>
                    <a:pt x="0" y="0"/>
                  </a:lnTo>
                  <a:close/>
                </a:path>
                <a:path w="54609" h="64135">
                  <a:moveTo>
                    <a:pt x="54532" y="0"/>
                  </a:moveTo>
                  <a:lnTo>
                    <a:pt x="40898" y="5112"/>
                  </a:lnTo>
                  <a:lnTo>
                    <a:pt x="27265" y="6816"/>
                  </a:lnTo>
                  <a:lnTo>
                    <a:pt x="51611" y="6816"/>
                  </a:lnTo>
                  <a:lnTo>
                    <a:pt x="54532" y="0"/>
                  </a:lnTo>
                  <a:close/>
                </a:path>
              </a:pathLst>
            </a:custGeom>
            <a:solidFill>
              <a:srgbClr val="231F20"/>
            </a:solidFill>
          </p:spPr>
          <p:txBody>
            <a:bodyPr wrap="square" lIns="0" tIns="0" rIns="0" bIns="0" rtlCol="0"/>
            <a:lstStyle/>
            <a:p>
              <a:endParaRPr/>
            </a:p>
          </p:txBody>
        </p:sp>
        <p:sp>
          <p:nvSpPr>
            <p:cNvPr id="71" name="object 71"/>
            <p:cNvSpPr/>
            <p:nvPr/>
          </p:nvSpPr>
          <p:spPr>
            <a:xfrm>
              <a:off x="1130782" y="2048088"/>
              <a:ext cx="0" cy="149860"/>
            </a:xfrm>
            <a:custGeom>
              <a:avLst/>
              <a:gdLst/>
              <a:ahLst/>
              <a:cxnLst/>
              <a:rect l="l" t="t" r="r" b="b"/>
              <a:pathLst>
                <a:path h="149860">
                  <a:moveTo>
                    <a:pt x="0" y="0"/>
                  </a:moveTo>
                  <a:lnTo>
                    <a:pt x="0" y="149501"/>
                  </a:lnTo>
                </a:path>
              </a:pathLst>
            </a:custGeom>
            <a:ln w="4508">
              <a:solidFill>
                <a:srgbClr val="231F20"/>
              </a:solidFill>
            </a:ln>
          </p:spPr>
          <p:txBody>
            <a:bodyPr wrap="square" lIns="0" tIns="0" rIns="0" bIns="0" rtlCol="0"/>
            <a:lstStyle/>
            <a:p>
              <a:endParaRPr/>
            </a:p>
          </p:txBody>
        </p:sp>
        <p:sp>
          <p:nvSpPr>
            <p:cNvPr id="72" name="object 72"/>
            <p:cNvSpPr/>
            <p:nvPr/>
          </p:nvSpPr>
          <p:spPr>
            <a:xfrm>
              <a:off x="1103515" y="2165941"/>
              <a:ext cx="54610" cy="64135"/>
            </a:xfrm>
            <a:custGeom>
              <a:avLst/>
              <a:gdLst/>
              <a:ahLst/>
              <a:cxnLst/>
              <a:rect l="l" t="t" r="r" b="b"/>
              <a:pathLst>
                <a:path w="54609" h="64135">
                  <a:moveTo>
                    <a:pt x="0" y="0"/>
                  </a:moveTo>
                  <a:lnTo>
                    <a:pt x="27266" y="63623"/>
                  </a:lnTo>
                  <a:lnTo>
                    <a:pt x="51610" y="6816"/>
                  </a:lnTo>
                  <a:lnTo>
                    <a:pt x="27265" y="6816"/>
                  </a:lnTo>
                  <a:lnTo>
                    <a:pt x="13632" y="5112"/>
                  </a:lnTo>
                  <a:lnTo>
                    <a:pt x="0" y="0"/>
                  </a:lnTo>
                  <a:close/>
                </a:path>
                <a:path w="54609" h="64135">
                  <a:moveTo>
                    <a:pt x="54532" y="0"/>
                  </a:moveTo>
                  <a:lnTo>
                    <a:pt x="40898" y="5112"/>
                  </a:lnTo>
                  <a:lnTo>
                    <a:pt x="27265" y="6816"/>
                  </a:lnTo>
                  <a:lnTo>
                    <a:pt x="51610" y="6816"/>
                  </a:lnTo>
                  <a:lnTo>
                    <a:pt x="54532" y="0"/>
                  </a:lnTo>
                  <a:close/>
                </a:path>
              </a:pathLst>
            </a:custGeom>
            <a:solidFill>
              <a:srgbClr val="231F20"/>
            </a:solidFill>
          </p:spPr>
          <p:txBody>
            <a:bodyPr wrap="square" lIns="0" tIns="0" rIns="0" bIns="0" rtlCol="0"/>
            <a:lstStyle/>
            <a:p>
              <a:endParaRPr/>
            </a:p>
          </p:txBody>
        </p:sp>
        <p:sp>
          <p:nvSpPr>
            <p:cNvPr id="73" name="object 73"/>
            <p:cNvSpPr/>
            <p:nvPr/>
          </p:nvSpPr>
          <p:spPr>
            <a:xfrm>
              <a:off x="1516417" y="1721430"/>
              <a:ext cx="454025" cy="327025"/>
            </a:xfrm>
            <a:custGeom>
              <a:avLst/>
              <a:gdLst/>
              <a:ahLst/>
              <a:cxnLst/>
              <a:rect l="l" t="t" r="r" b="b"/>
              <a:pathLst>
                <a:path w="454025" h="327025">
                  <a:moveTo>
                    <a:pt x="27223" y="217778"/>
                  </a:moveTo>
                  <a:lnTo>
                    <a:pt x="426465" y="217778"/>
                  </a:lnTo>
                  <a:lnTo>
                    <a:pt x="437037" y="219925"/>
                  </a:lnTo>
                  <a:lnTo>
                    <a:pt x="445692" y="225773"/>
                  </a:lnTo>
                  <a:lnTo>
                    <a:pt x="451540" y="234428"/>
                  </a:lnTo>
                  <a:lnTo>
                    <a:pt x="453687" y="245000"/>
                  </a:lnTo>
                  <a:lnTo>
                    <a:pt x="453687" y="299436"/>
                  </a:lnTo>
                  <a:lnTo>
                    <a:pt x="451540" y="310004"/>
                  </a:lnTo>
                  <a:lnTo>
                    <a:pt x="445692" y="318660"/>
                  </a:lnTo>
                  <a:lnTo>
                    <a:pt x="437037" y="324510"/>
                  </a:lnTo>
                  <a:lnTo>
                    <a:pt x="426465" y="326658"/>
                  </a:lnTo>
                  <a:lnTo>
                    <a:pt x="27223" y="326658"/>
                  </a:lnTo>
                  <a:lnTo>
                    <a:pt x="16654" y="324510"/>
                  </a:lnTo>
                  <a:lnTo>
                    <a:pt x="7997" y="318660"/>
                  </a:lnTo>
                  <a:lnTo>
                    <a:pt x="2148" y="310004"/>
                  </a:lnTo>
                  <a:lnTo>
                    <a:pt x="0" y="299436"/>
                  </a:lnTo>
                  <a:lnTo>
                    <a:pt x="0" y="245000"/>
                  </a:lnTo>
                  <a:lnTo>
                    <a:pt x="2148" y="234428"/>
                  </a:lnTo>
                  <a:lnTo>
                    <a:pt x="7997" y="225773"/>
                  </a:lnTo>
                  <a:lnTo>
                    <a:pt x="16654" y="219925"/>
                  </a:lnTo>
                  <a:lnTo>
                    <a:pt x="27223" y="217778"/>
                  </a:lnTo>
                  <a:close/>
                </a:path>
                <a:path w="454025" h="327025">
                  <a:moveTo>
                    <a:pt x="226847" y="0"/>
                  </a:moveTo>
                  <a:lnTo>
                    <a:pt x="226847" y="185795"/>
                  </a:lnTo>
                </a:path>
              </a:pathLst>
            </a:custGeom>
            <a:ln w="4508">
              <a:solidFill>
                <a:srgbClr val="231F20"/>
              </a:solidFill>
            </a:ln>
          </p:spPr>
          <p:txBody>
            <a:bodyPr wrap="square" lIns="0" tIns="0" rIns="0" bIns="0" rtlCol="0"/>
            <a:lstStyle/>
            <a:p>
              <a:endParaRPr/>
            </a:p>
          </p:txBody>
        </p:sp>
        <p:sp>
          <p:nvSpPr>
            <p:cNvPr id="74" name="object 74"/>
            <p:cNvSpPr/>
            <p:nvPr/>
          </p:nvSpPr>
          <p:spPr>
            <a:xfrm>
              <a:off x="1715995" y="1875575"/>
              <a:ext cx="54610" cy="64135"/>
            </a:xfrm>
            <a:custGeom>
              <a:avLst/>
              <a:gdLst/>
              <a:ahLst/>
              <a:cxnLst/>
              <a:rect l="l" t="t" r="r" b="b"/>
              <a:pathLst>
                <a:path w="54610" h="64135">
                  <a:moveTo>
                    <a:pt x="0" y="0"/>
                  </a:moveTo>
                  <a:lnTo>
                    <a:pt x="27270" y="63632"/>
                  </a:lnTo>
                  <a:lnTo>
                    <a:pt x="51615" y="6816"/>
                  </a:lnTo>
                  <a:lnTo>
                    <a:pt x="27268" y="6816"/>
                  </a:lnTo>
                  <a:lnTo>
                    <a:pt x="13634" y="5112"/>
                  </a:lnTo>
                  <a:lnTo>
                    <a:pt x="0" y="0"/>
                  </a:lnTo>
                  <a:close/>
                </a:path>
                <a:path w="54610" h="64135">
                  <a:moveTo>
                    <a:pt x="54536" y="0"/>
                  </a:moveTo>
                  <a:lnTo>
                    <a:pt x="40902" y="5112"/>
                  </a:lnTo>
                  <a:lnTo>
                    <a:pt x="27268" y="6816"/>
                  </a:lnTo>
                  <a:lnTo>
                    <a:pt x="51615" y="6816"/>
                  </a:lnTo>
                  <a:lnTo>
                    <a:pt x="54536" y="0"/>
                  </a:lnTo>
                  <a:close/>
                </a:path>
              </a:pathLst>
            </a:custGeom>
            <a:solidFill>
              <a:srgbClr val="231F20"/>
            </a:solidFill>
          </p:spPr>
          <p:txBody>
            <a:bodyPr wrap="square" lIns="0" tIns="0" rIns="0" bIns="0" rtlCol="0"/>
            <a:lstStyle/>
            <a:p>
              <a:endParaRPr/>
            </a:p>
          </p:txBody>
        </p:sp>
        <p:sp>
          <p:nvSpPr>
            <p:cNvPr id="75" name="object 75"/>
            <p:cNvSpPr/>
            <p:nvPr/>
          </p:nvSpPr>
          <p:spPr>
            <a:xfrm>
              <a:off x="1743265" y="2048088"/>
              <a:ext cx="0" cy="149860"/>
            </a:xfrm>
            <a:custGeom>
              <a:avLst/>
              <a:gdLst/>
              <a:ahLst/>
              <a:cxnLst/>
              <a:rect l="l" t="t" r="r" b="b"/>
              <a:pathLst>
                <a:path h="149860">
                  <a:moveTo>
                    <a:pt x="0" y="0"/>
                  </a:moveTo>
                  <a:lnTo>
                    <a:pt x="0" y="149501"/>
                  </a:lnTo>
                </a:path>
              </a:pathLst>
            </a:custGeom>
            <a:ln w="4508">
              <a:solidFill>
                <a:srgbClr val="231F20"/>
              </a:solidFill>
            </a:ln>
          </p:spPr>
          <p:txBody>
            <a:bodyPr wrap="square" lIns="0" tIns="0" rIns="0" bIns="0" rtlCol="0"/>
            <a:lstStyle/>
            <a:p>
              <a:endParaRPr/>
            </a:p>
          </p:txBody>
        </p:sp>
        <p:sp>
          <p:nvSpPr>
            <p:cNvPr id="76" name="object 76"/>
            <p:cNvSpPr/>
            <p:nvPr/>
          </p:nvSpPr>
          <p:spPr>
            <a:xfrm>
              <a:off x="1715995" y="2165941"/>
              <a:ext cx="54610" cy="64135"/>
            </a:xfrm>
            <a:custGeom>
              <a:avLst/>
              <a:gdLst/>
              <a:ahLst/>
              <a:cxnLst/>
              <a:rect l="l" t="t" r="r" b="b"/>
              <a:pathLst>
                <a:path w="54610" h="64135">
                  <a:moveTo>
                    <a:pt x="0" y="0"/>
                  </a:moveTo>
                  <a:lnTo>
                    <a:pt x="27270" y="63623"/>
                  </a:lnTo>
                  <a:lnTo>
                    <a:pt x="51615" y="6816"/>
                  </a:lnTo>
                  <a:lnTo>
                    <a:pt x="27268" y="6816"/>
                  </a:lnTo>
                  <a:lnTo>
                    <a:pt x="13634" y="5112"/>
                  </a:lnTo>
                  <a:lnTo>
                    <a:pt x="0" y="0"/>
                  </a:lnTo>
                  <a:close/>
                </a:path>
                <a:path w="54610" h="64135">
                  <a:moveTo>
                    <a:pt x="54536" y="0"/>
                  </a:moveTo>
                  <a:lnTo>
                    <a:pt x="40902" y="5112"/>
                  </a:lnTo>
                  <a:lnTo>
                    <a:pt x="27268" y="6816"/>
                  </a:lnTo>
                  <a:lnTo>
                    <a:pt x="51615" y="6816"/>
                  </a:lnTo>
                  <a:lnTo>
                    <a:pt x="54536" y="0"/>
                  </a:lnTo>
                  <a:close/>
                </a:path>
              </a:pathLst>
            </a:custGeom>
            <a:solidFill>
              <a:srgbClr val="231F20"/>
            </a:solidFill>
          </p:spPr>
          <p:txBody>
            <a:bodyPr wrap="square" lIns="0" tIns="0" rIns="0" bIns="0" rtlCol="0"/>
            <a:lstStyle/>
            <a:p>
              <a:endParaRPr/>
            </a:p>
          </p:txBody>
        </p:sp>
        <p:sp>
          <p:nvSpPr>
            <p:cNvPr id="77" name="object 77"/>
            <p:cNvSpPr/>
            <p:nvPr/>
          </p:nvSpPr>
          <p:spPr>
            <a:xfrm>
              <a:off x="1171615" y="1721430"/>
              <a:ext cx="907415" cy="129539"/>
            </a:xfrm>
            <a:custGeom>
              <a:avLst/>
              <a:gdLst/>
              <a:ahLst/>
              <a:cxnLst/>
              <a:rect l="l" t="t" r="r" b="b"/>
              <a:pathLst>
                <a:path w="907414" h="129539">
                  <a:moveTo>
                    <a:pt x="0" y="0"/>
                  </a:moveTo>
                  <a:lnTo>
                    <a:pt x="321693" y="129160"/>
                  </a:lnTo>
                  <a:lnTo>
                    <a:pt x="613613" y="121364"/>
                  </a:lnTo>
                  <a:lnTo>
                    <a:pt x="825572" y="57423"/>
                  </a:lnTo>
                  <a:lnTo>
                    <a:pt x="907378" y="18151"/>
                  </a:lnTo>
                </a:path>
              </a:pathLst>
            </a:custGeom>
            <a:ln w="4508">
              <a:solidFill>
                <a:srgbClr val="231F20"/>
              </a:solidFill>
            </a:ln>
          </p:spPr>
          <p:txBody>
            <a:bodyPr wrap="square" lIns="0" tIns="0" rIns="0" bIns="0" rtlCol="0"/>
            <a:lstStyle/>
            <a:p>
              <a:endParaRPr/>
            </a:p>
          </p:txBody>
        </p:sp>
        <p:sp>
          <p:nvSpPr>
            <p:cNvPr id="78" name="object 78"/>
            <p:cNvSpPr/>
            <p:nvPr/>
          </p:nvSpPr>
          <p:spPr>
            <a:xfrm>
              <a:off x="2037904" y="1723431"/>
              <a:ext cx="69215" cy="55880"/>
            </a:xfrm>
            <a:custGeom>
              <a:avLst/>
              <a:gdLst/>
              <a:ahLst/>
              <a:cxnLst/>
              <a:rect l="l" t="t" r="r" b="b"/>
              <a:pathLst>
                <a:path w="69214" h="55880">
                  <a:moveTo>
                    <a:pt x="68691" y="0"/>
                  </a:moveTo>
                  <a:lnTo>
                    <a:pt x="0" y="8593"/>
                  </a:lnTo>
                  <a:lnTo>
                    <a:pt x="11300" y="17778"/>
                  </a:lnTo>
                  <a:lnTo>
                    <a:pt x="19655" y="28685"/>
                  </a:lnTo>
                  <a:lnTo>
                    <a:pt x="25067" y="41313"/>
                  </a:lnTo>
                  <a:lnTo>
                    <a:pt x="27537" y="55661"/>
                  </a:lnTo>
                  <a:lnTo>
                    <a:pt x="68691" y="0"/>
                  </a:lnTo>
                  <a:close/>
                </a:path>
              </a:pathLst>
            </a:custGeom>
            <a:solidFill>
              <a:srgbClr val="231F20"/>
            </a:solidFill>
          </p:spPr>
          <p:txBody>
            <a:bodyPr wrap="square" lIns="0" tIns="0" rIns="0" bIns="0" rtlCol="0"/>
            <a:lstStyle/>
            <a:p>
              <a:endParaRPr/>
            </a:p>
          </p:txBody>
        </p:sp>
      </p:grpSp>
      <p:sp>
        <p:nvSpPr>
          <p:cNvPr id="79" name="object 79"/>
          <p:cNvSpPr txBox="1"/>
          <p:nvPr/>
        </p:nvSpPr>
        <p:spPr>
          <a:xfrm>
            <a:off x="2905975" y="1743057"/>
            <a:ext cx="29464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#include</a:t>
            </a:r>
            <a:endParaRPr sz="550">
              <a:latin typeface="Helvetica"/>
              <a:cs typeface="Helvetica"/>
            </a:endParaRPr>
          </a:p>
        </p:txBody>
      </p:sp>
      <p:sp>
        <p:nvSpPr>
          <p:cNvPr id="80" name="object 80"/>
          <p:cNvSpPr txBox="1"/>
          <p:nvPr/>
        </p:nvSpPr>
        <p:spPr>
          <a:xfrm>
            <a:off x="1423499" y="1743057"/>
            <a:ext cx="29464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Helvetica"/>
                <a:cs typeface="Helvetica"/>
              </a:rPr>
              <a:t>#include</a:t>
            </a:r>
            <a:endParaRPr sz="550">
              <a:latin typeface="Helvetica"/>
              <a:cs typeface="Helvetica"/>
            </a:endParaRPr>
          </a:p>
        </p:txBody>
      </p:sp>
      <p:sp>
        <p:nvSpPr>
          <p:cNvPr id="81" name="object 81"/>
          <p:cNvSpPr txBox="1"/>
          <p:nvPr/>
        </p:nvSpPr>
        <p:spPr>
          <a:xfrm>
            <a:off x="66713" y="3327684"/>
            <a:ext cx="9975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Writing</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a Client and a Server</a:t>
            </a:r>
            <a:endParaRPr sz="600">
              <a:latin typeface="Arial"/>
              <a:cs typeface="Arial"/>
            </a:endParaRPr>
          </a:p>
        </p:txBody>
      </p:sp>
      <p:sp>
        <p:nvSpPr>
          <p:cNvPr id="82" name="object 82"/>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18</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3766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Remote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procedure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call</a:t>
            </a:r>
            <a:endParaRPr sz="600">
              <a:latin typeface="Arial"/>
              <a:cs typeface="Arial"/>
            </a:endParaRPr>
          </a:p>
        </p:txBody>
      </p:sp>
      <p:sp>
        <p:nvSpPr>
          <p:cNvPr id="3" name="object 3"/>
          <p:cNvSpPr txBox="1"/>
          <p:nvPr/>
        </p:nvSpPr>
        <p:spPr>
          <a:xfrm>
            <a:off x="3831743" y="716"/>
            <a:ext cx="7099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DCE</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RPC</a:t>
            </a:r>
            <a:endParaRPr sz="600">
              <a:latin typeface="Arial"/>
              <a:cs typeface="Arial"/>
            </a:endParaRPr>
          </a:p>
        </p:txBody>
      </p:sp>
      <p:sp>
        <p:nvSpPr>
          <p:cNvPr id="4" name="object 4"/>
          <p:cNvSpPr txBox="1"/>
          <p:nvPr/>
        </p:nvSpPr>
        <p:spPr>
          <a:xfrm>
            <a:off x="95300" y="188846"/>
            <a:ext cx="3837304" cy="820419"/>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Client-to-server</a:t>
            </a:r>
            <a:r>
              <a:rPr sz="1400" spc="5" dirty="0">
                <a:solidFill>
                  <a:srgbClr val="3333B2"/>
                </a:solidFill>
                <a:latin typeface="Arial"/>
                <a:cs typeface="Arial"/>
              </a:rPr>
              <a:t> </a:t>
            </a:r>
            <a:r>
              <a:rPr sz="1400" spc="15" dirty="0">
                <a:solidFill>
                  <a:srgbClr val="3333B2"/>
                </a:solidFill>
                <a:latin typeface="Arial"/>
                <a:cs typeface="Arial"/>
              </a:rPr>
              <a:t>binding</a:t>
            </a:r>
            <a:r>
              <a:rPr sz="1400" spc="5" dirty="0">
                <a:solidFill>
                  <a:srgbClr val="3333B2"/>
                </a:solidFill>
                <a:latin typeface="Arial"/>
                <a:cs typeface="Arial"/>
              </a:rPr>
              <a:t> </a:t>
            </a:r>
            <a:r>
              <a:rPr sz="1400" spc="15" dirty="0">
                <a:solidFill>
                  <a:srgbClr val="3333B2"/>
                </a:solidFill>
                <a:latin typeface="Arial"/>
                <a:cs typeface="Arial"/>
              </a:rPr>
              <a:t>(DCE)</a:t>
            </a:r>
            <a:endParaRPr sz="1400">
              <a:latin typeface="Arial"/>
              <a:cs typeface="Arial"/>
            </a:endParaRPr>
          </a:p>
          <a:p>
            <a:pPr>
              <a:lnSpc>
                <a:spcPct val="100000"/>
              </a:lnSpc>
              <a:spcBef>
                <a:spcPts val="50"/>
              </a:spcBef>
            </a:pPr>
            <a:endParaRPr sz="1650">
              <a:latin typeface="Arial"/>
              <a:cs typeface="Arial"/>
            </a:endParaRPr>
          </a:p>
          <a:p>
            <a:pPr marL="264160">
              <a:lnSpc>
                <a:spcPts val="1420"/>
              </a:lnSpc>
            </a:pPr>
            <a:r>
              <a:rPr sz="1200" spc="-5" dirty="0">
                <a:solidFill>
                  <a:srgbClr val="3333B2"/>
                </a:solidFill>
                <a:latin typeface="Arial"/>
                <a:cs typeface="Arial"/>
              </a:rPr>
              <a:t>Issues</a:t>
            </a:r>
            <a:endParaRPr sz="1200">
              <a:latin typeface="Arial"/>
              <a:cs typeface="Arial"/>
            </a:endParaRPr>
          </a:p>
          <a:p>
            <a:pPr marL="260350">
              <a:lnSpc>
                <a:spcPts val="1180"/>
              </a:lnSpc>
            </a:pPr>
            <a:r>
              <a:rPr sz="1000" spc="-5" dirty="0">
                <a:latin typeface="Arial"/>
                <a:cs typeface="Arial"/>
              </a:rPr>
              <a:t>(1) Client</a:t>
            </a:r>
            <a:r>
              <a:rPr sz="1000" dirty="0">
                <a:latin typeface="Arial"/>
                <a:cs typeface="Arial"/>
              </a:rPr>
              <a:t> </a:t>
            </a:r>
            <a:r>
              <a:rPr sz="1000" spc="-5" dirty="0">
                <a:latin typeface="Arial"/>
                <a:cs typeface="Arial"/>
              </a:rPr>
              <a:t>must</a:t>
            </a:r>
            <a:r>
              <a:rPr sz="1000" dirty="0">
                <a:latin typeface="Arial"/>
                <a:cs typeface="Arial"/>
              </a:rPr>
              <a:t> </a:t>
            </a:r>
            <a:r>
              <a:rPr sz="1000" spc="-5" dirty="0">
                <a:latin typeface="Arial"/>
                <a:cs typeface="Arial"/>
              </a:rPr>
              <a:t>locate server</a:t>
            </a:r>
            <a:r>
              <a:rPr sz="1000" dirty="0">
                <a:latin typeface="Arial"/>
                <a:cs typeface="Arial"/>
              </a:rPr>
              <a:t> </a:t>
            </a:r>
            <a:r>
              <a:rPr sz="1000" spc="-5" dirty="0">
                <a:latin typeface="Arial"/>
                <a:cs typeface="Arial"/>
              </a:rPr>
              <a:t>machine,</a:t>
            </a:r>
            <a:r>
              <a:rPr sz="1000" dirty="0">
                <a:latin typeface="Arial"/>
                <a:cs typeface="Arial"/>
              </a:rPr>
              <a:t> </a:t>
            </a:r>
            <a:r>
              <a:rPr sz="1000" spc="-5" dirty="0">
                <a:latin typeface="Arial"/>
                <a:cs typeface="Arial"/>
              </a:rPr>
              <a:t>and (2)</a:t>
            </a:r>
            <a:r>
              <a:rPr sz="1000" dirty="0">
                <a:latin typeface="Arial"/>
                <a:cs typeface="Arial"/>
              </a:rPr>
              <a:t> </a:t>
            </a:r>
            <a:r>
              <a:rPr sz="1000" spc="-5" dirty="0">
                <a:latin typeface="Arial"/>
                <a:cs typeface="Arial"/>
              </a:rPr>
              <a:t>locate</a:t>
            </a:r>
            <a:r>
              <a:rPr sz="1000" dirty="0">
                <a:latin typeface="Arial"/>
                <a:cs typeface="Arial"/>
              </a:rPr>
              <a:t> </a:t>
            </a:r>
            <a:r>
              <a:rPr sz="1000" spc="-5" dirty="0">
                <a:latin typeface="Arial"/>
                <a:cs typeface="Arial"/>
              </a:rPr>
              <a:t>the </a:t>
            </a:r>
            <a:r>
              <a:rPr sz="1000" spc="-10" dirty="0">
                <a:latin typeface="Arial"/>
                <a:cs typeface="Arial"/>
              </a:rPr>
              <a:t>server.</a:t>
            </a:r>
            <a:endParaRPr sz="1000">
              <a:latin typeface="Arial"/>
              <a:cs typeface="Arial"/>
            </a:endParaRPr>
          </a:p>
        </p:txBody>
      </p:sp>
      <p:sp>
        <p:nvSpPr>
          <p:cNvPr id="5" name="object 5"/>
          <p:cNvSpPr txBox="1"/>
          <p:nvPr/>
        </p:nvSpPr>
        <p:spPr>
          <a:xfrm>
            <a:off x="3660044" y="2623342"/>
            <a:ext cx="208279"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Port </a:t>
            </a:r>
            <a:r>
              <a:rPr sz="650" spc="-170" dirty="0">
                <a:solidFill>
                  <a:srgbClr val="231F20"/>
                </a:solidFill>
                <a:latin typeface="Arial"/>
                <a:cs typeface="Arial"/>
              </a:rPr>
              <a:t> </a:t>
            </a:r>
            <a:r>
              <a:rPr sz="650" spc="5" dirty="0">
                <a:solidFill>
                  <a:srgbClr val="231F20"/>
                </a:solidFill>
                <a:latin typeface="Arial"/>
                <a:cs typeface="Arial"/>
              </a:rPr>
              <a:t>table</a:t>
            </a:r>
            <a:endParaRPr sz="650">
              <a:latin typeface="Arial"/>
              <a:cs typeface="Arial"/>
            </a:endParaRPr>
          </a:p>
        </p:txBody>
      </p:sp>
      <p:sp>
        <p:nvSpPr>
          <p:cNvPr id="6" name="object 6"/>
          <p:cNvSpPr txBox="1"/>
          <p:nvPr/>
        </p:nvSpPr>
        <p:spPr>
          <a:xfrm>
            <a:off x="2965390" y="2055404"/>
            <a:ext cx="466725" cy="287020"/>
          </a:xfrm>
          <a:prstGeom prst="rect">
            <a:avLst/>
          </a:prstGeom>
          <a:ln w="5270">
            <a:solidFill>
              <a:srgbClr val="231F20"/>
            </a:solidFill>
          </a:ln>
        </p:spPr>
        <p:txBody>
          <a:bodyPr vert="horz" wrap="square" lIns="0" tIns="1270" rIns="0" bIns="0" rtlCol="0">
            <a:spAutoFit/>
          </a:bodyPr>
          <a:lstStyle/>
          <a:p>
            <a:pPr>
              <a:lnSpc>
                <a:spcPct val="100000"/>
              </a:lnSpc>
              <a:spcBef>
                <a:spcPts val="10"/>
              </a:spcBef>
            </a:pPr>
            <a:endParaRPr sz="600">
              <a:latin typeface="Times New Roman"/>
              <a:cs typeface="Times New Roman"/>
            </a:endParaRPr>
          </a:p>
          <a:p>
            <a:pPr marL="109220">
              <a:lnSpc>
                <a:spcPct val="100000"/>
              </a:lnSpc>
            </a:pPr>
            <a:r>
              <a:rPr sz="650" spc="5" dirty="0">
                <a:solidFill>
                  <a:srgbClr val="231F20"/>
                </a:solidFill>
                <a:latin typeface="Arial"/>
                <a:cs typeface="Arial"/>
              </a:rPr>
              <a:t>Server</a:t>
            </a:r>
            <a:endParaRPr sz="650">
              <a:latin typeface="Arial"/>
              <a:cs typeface="Arial"/>
            </a:endParaRPr>
          </a:p>
        </p:txBody>
      </p:sp>
      <p:sp>
        <p:nvSpPr>
          <p:cNvPr id="7" name="object 7"/>
          <p:cNvSpPr txBox="1"/>
          <p:nvPr/>
        </p:nvSpPr>
        <p:spPr>
          <a:xfrm>
            <a:off x="2972804" y="2488882"/>
            <a:ext cx="330200" cy="220979"/>
          </a:xfrm>
          <a:prstGeom prst="rect">
            <a:avLst/>
          </a:prstGeom>
        </p:spPr>
        <p:txBody>
          <a:bodyPr vert="horz" wrap="square" lIns="0" tIns="13970" rIns="0" bIns="0" rtlCol="0">
            <a:spAutoFit/>
          </a:bodyPr>
          <a:lstStyle/>
          <a:p>
            <a:pPr marL="12700">
              <a:lnSpc>
                <a:spcPts val="760"/>
              </a:lnSpc>
              <a:spcBef>
                <a:spcPts val="110"/>
              </a:spcBef>
            </a:pPr>
            <a:r>
              <a:rPr sz="650" spc="5" dirty="0">
                <a:solidFill>
                  <a:srgbClr val="231F20"/>
                </a:solidFill>
                <a:latin typeface="Arial"/>
                <a:cs typeface="Arial"/>
              </a:rPr>
              <a:t>DCE</a:t>
            </a:r>
            <a:endParaRPr sz="650">
              <a:latin typeface="Arial"/>
              <a:cs typeface="Arial"/>
            </a:endParaRPr>
          </a:p>
          <a:p>
            <a:pPr marL="12700">
              <a:lnSpc>
                <a:spcPts val="760"/>
              </a:lnSpc>
            </a:pPr>
            <a:r>
              <a:rPr sz="650" spc="5" dirty="0">
                <a:solidFill>
                  <a:srgbClr val="231F20"/>
                </a:solidFill>
                <a:latin typeface="Arial"/>
                <a:cs typeface="Arial"/>
              </a:rPr>
              <a:t>daemon</a:t>
            </a:r>
            <a:endParaRPr sz="650">
              <a:latin typeface="Arial"/>
              <a:cs typeface="Arial"/>
            </a:endParaRPr>
          </a:p>
        </p:txBody>
      </p:sp>
      <p:sp>
        <p:nvSpPr>
          <p:cNvPr id="8" name="object 8"/>
          <p:cNvSpPr txBox="1"/>
          <p:nvPr/>
        </p:nvSpPr>
        <p:spPr>
          <a:xfrm>
            <a:off x="586195" y="2122137"/>
            <a:ext cx="466725" cy="287020"/>
          </a:xfrm>
          <a:prstGeom prst="rect">
            <a:avLst/>
          </a:prstGeom>
          <a:ln w="5270">
            <a:solidFill>
              <a:srgbClr val="231F20"/>
            </a:solidFill>
          </a:ln>
        </p:spPr>
        <p:txBody>
          <a:bodyPr vert="horz" wrap="square" lIns="0" tIns="1905" rIns="0" bIns="0" rtlCol="0">
            <a:spAutoFit/>
          </a:bodyPr>
          <a:lstStyle/>
          <a:p>
            <a:pPr>
              <a:lnSpc>
                <a:spcPct val="100000"/>
              </a:lnSpc>
              <a:spcBef>
                <a:spcPts val="15"/>
              </a:spcBef>
            </a:pPr>
            <a:endParaRPr sz="650">
              <a:latin typeface="Times New Roman"/>
              <a:cs typeface="Times New Roman"/>
            </a:endParaRPr>
          </a:p>
          <a:p>
            <a:pPr marL="113030">
              <a:lnSpc>
                <a:spcPct val="100000"/>
              </a:lnSpc>
              <a:spcBef>
                <a:spcPts val="5"/>
              </a:spcBef>
            </a:pPr>
            <a:r>
              <a:rPr sz="650" spc="5" dirty="0">
                <a:solidFill>
                  <a:srgbClr val="231F20"/>
                </a:solidFill>
                <a:latin typeface="Arial"/>
                <a:cs typeface="Arial"/>
              </a:rPr>
              <a:t>Client</a:t>
            </a:r>
            <a:endParaRPr sz="650">
              <a:latin typeface="Arial"/>
              <a:cs typeface="Arial"/>
            </a:endParaRPr>
          </a:p>
        </p:txBody>
      </p:sp>
      <p:sp>
        <p:nvSpPr>
          <p:cNvPr id="9" name="object 9"/>
          <p:cNvSpPr txBox="1"/>
          <p:nvPr/>
        </p:nvSpPr>
        <p:spPr>
          <a:xfrm>
            <a:off x="3555468" y="2100446"/>
            <a:ext cx="6019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1.</a:t>
            </a:r>
            <a:r>
              <a:rPr sz="650" spc="-35" dirty="0">
                <a:solidFill>
                  <a:srgbClr val="231F20"/>
                </a:solidFill>
                <a:latin typeface="Arial"/>
                <a:cs typeface="Arial"/>
              </a:rPr>
              <a:t> </a:t>
            </a:r>
            <a:r>
              <a:rPr sz="650" spc="5" dirty="0">
                <a:solidFill>
                  <a:srgbClr val="231F20"/>
                </a:solidFill>
                <a:latin typeface="Arial"/>
                <a:cs typeface="Arial"/>
              </a:rPr>
              <a:t>Register</a:t>
            </a:r>
            <a:r>
              <a:rPr sz="650" spc="-30" dirty="0">
                <a:solidFill>
                  <a:srgbClr val="231F20"/>
                </a:solidFill>
                <a:latin typeface="Arial"/>
                <a:cs typeface="Arial"/>
              </a:rPr>
              <a:t> </a:t>
            </a:r>
            <a:r>
              <a:rPr sz="650" spc="5" dirty="0">
                <a:solidFill>
                  <a:srgbClr val="231F20"/>
                </a:solidFill>
                <a:latin typeface="Arial"/>
                <a:cs typeface="Arial"/>
              </a:rPr>
              <a:t>port</a:t>
            </a:r>
            <a:endParaRPr sz="650">
              <a:latin typeface="Arial"/>
              <a:cs typeface="Arial"/>
            </a:endParaRPr>
          </a:p>
        </p:txBody>
      </p:sp>
      <p:sp>
        <p:nvSpPr>
          <p:cNvPr id="10" name="object 10"/>
          <p:cNvSpPr txBox="1"/>
          <p:nvPr/>
        </p:nvSpPr>
        <p:spPr>
          <a:xfrm>
            <a:off x="1673020" y="2488886"/>
            <a:ext cx="5461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4.</a:t>
            </a:r>
            <a:r>
              <a:rPr sz="650" spc="-35" dirty="0">
                <a:solidFill>
                  <a:srgbClr val="231F20"/>
                </a:solidFill>
                <a:latin typeface="Arial"/>
                <a:cs typeface="Arial"/>
              </a:rPr>
              <a:t> </a:t>
            </a:r>
            <a:r>
              <a:rPr sz="650" spc="5" dirty="0">
                <a:solidFill>
                  <a:srgbClr val="231F20"/>
                </a:solidFill>
                <a:latin typeface="Arial"/>
                <a:cs typeface="Arial"/>
              </a:rPr>
              <a:t>Ask</a:t>
            </a:r>
            <a:r>
              <a:rPr sz="650" dirty="0">
                <a:solidFill>
                  <a:srgbClr val="231F20"/>
                </a:solidFill>
                <a:latin typeface="Arial"/>
                <a:cs typeface="Arial"/>
              </a:rPr>
              <a:t> </a:t>
            </a:r>
            <a:r>
              <a:rPr sz="650" spc="5" dirty="0">
                <a:solidFill>
                  <a:srgbClr val="231F20"/>
                </a:solidFill>
                <a:latin typeface="Arial"/>
                <a:cs typeface="Arial"/>
              </a:rPr>
              <a:t>for</a:t>
            </a:r>
            <a:r>
              <a:rPr sz="650" dirty="0">
                <a:solidFill>
                  <a:srgbClr val="231F20"/>
                </a:solidFill>
                <a:latin typeface="Arial"/>
                <a:cs typeface="Arial"/>
              </a:rPr>
              <a:t> </a:t>
            </a:r>
            <a:r>
              <a:rPr sz="650" spc="5" dirty="0">
                <a:solidFill>
                  <a:srgbClr val="231F20"/>
                </a:solidFill>
                <a:latin typeface="Arial"/>
                <a:cs typeface="Arial"/>
              </a:rPr>
              <a:t>port</a:t>
            </a:r>
            <a:endParaRPr sz="650">
              <a:latin typeface="Arial"/>
              <a:cs typeface="Arial"/>
            </a:endParaRPr>
          </a:p>
        </p:txBody>
      </p:sp>
      <p:sp>
        <p:nvSpPr>
          <p:cNvPr id="11" name="object 11"/>
          <p:cNvSpPr txBox="1"/>
          <p:nvPr/>
        </p:nvSpPr>
        <p:spPr>
          <a:xfrm>
            <a:off x="1852308" y="2085507"/>
            <a:ext cx="4286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5.</a:t>
            </a:r>
            <a:r>
              <a:rPr sz="650" spc="-30" dirty="0">
                <a:solidFill>
                  <a:srgbClr val="231F20"/>
                </a:solidFill>
                <a:latin typeface="Arial"/>
                <a:cs typeface="Arial"/>
              </a:rPr>
              <a:t> </a:t>
            </a:r>
            <a:r>
              <a:rPr sz="650" spc="5" dirty="0">
                <a:solidFill>
                  <a:srgbClr val="231F20"/>
                </a:solidFill>
                <a:latin typeface="Arial"/>
                <a:cs typeface="Arial"/>
              </a:rPr>
              <a:t>Do</a:t>
            </a:r>
            <a:r>
              <a:rPr sz="650" spc="-30" dirty="0">
                <a:solidFill>
                  <a:srgbClr val="231F20"/>
                </a:solidFill>
                <a:latin typeface="Arial"/>
                <a:cs typeface="Arial"/>
              </a:rPr>
              <a:t> </a:t>
            </a:r>
            <a:r>
              <a:rPr sz="650" spc="5" dirty="0">
                <a:solidFill>
                  <a:srgbClr val="231F20"/>
                </a:solidFill>
                <a:latin typeface="Arial"/>
                <a:cs typeface="Arial"/>
              </a:rPr>
              <a:t>RPC</a:t>
            </a:r>
            <a:endParaRPr sz="650">
              <a:latin typeface="Arial"/>
              <a:cs typeface="Arial"/>
            </a:endParaRPr>
          </a:p>
        </p:txBody>
      </p:sp>
      <p:grpSp>
        <p:nvGrpSpPr>
          <p:cNvPr id="12" name="object 12"/>
          <p:cNvGrpSpPr/>
          <p:nvPr/>
        </p:nvGrpSpPr>
        <p:grpSpPr>
          <a:xfrm>
            <a:off x="469421" y="1975754"/>
            <a:ext cx="3167380" cy="806450"/>
            <a:chOff x="469421" y="1975754"/>
            <a:chExt cx="3167380" cy="806450"/>
          </a:xfrm>
        </p:grpSpPr>
        <p:sp>
          <p:nvSpPr>
            <p:cNvPr id="13" name="object 13"/>
            <p:cNvSpPr/>
            <p:nvPr/>
          </p:nvSpPr>
          <p:spPr>
            <a:xfrm>
              <a:off x="2961638" y="2416050"/>
              <a:ext cx="466725" cy="287020"/>
            </a:xfrm>
            <a:custGeom>
              <a:avLst/>
              <a:gdLst/>
              <a:ahLst/>
              <a:cxnLst/>
              <a:rect l="l" t="t" r="r" b="b"/>
              <a:pathLst>
                <a:path w="466725" h="287019">
                  <a:moveTo>
                    <a:pt x="0" y="286402"/>
                  </a:moveTo>
                  <a:lnTo>
                    <a:pt x="466723" y="286402"/>
                  </a:lnTo>
                  <a:lnTo>
                    <a:pt x="466723" y="0"/>
                  </a:lnTo>
                  <a:lnTo>
                    <a:pt x="0" y="0"/>
                  </a:lnTo>
                  <a:lnTo>
                    <a:pt x="0" y="286402"/>
                  </a:lnTo>
                  <a:close/>
                </a:path>
              </a:pathLst>
            </a:custGeom>
            <a:ln w="5270">
              <a:solidFill>
                <a:srgbClr val="231F20"/>
              </a:solidFill>
            </a:ln>
          </p:spPr>
          <p:txBody>
            <a:bodyPr wrap="square" lIns="0" tIns="0" rIns="0" bIns="0" rtlCol="0"/>
            <a:lstStyle/>
            <a:p>
              <a:endParaRPr/>
            </a:p>
          </p:txBody>
        </p:sp>
        <p:pic>
          <p:nvPicPr>
            <p:cNvPr id="14" name="object 14"/>
            <p:cNvPicPr/>
            <p:nvPr/>
          </p:nvPicPr>
          <p:blipFill>
            <a:blip r:embed="rId6" cstate="print"/>
            <a:stretch>
              <a:fillRect/>
            </a:stretch>
          </p:blipFill>
          <p:spPr>
            <a:xfrm>
              <a:off x="3192359" y="2455842"/>
              <a:ext cx="443923" cy="259852"/>
            </a:xfrm>
            <a:prstGeom prst="rect">
              <a:avLst/>
            </a:prstGeom>
          </p:spPr>
        </p:pic>
        <p:sp>
          <p:nvSpPr>
            <p:cNvPr id="15" name="object 15"/>
            <p:cNvSpPr/>
            <p:nvPr/>
          </p:nvSpPr>
          <p:spPr>
            <a:xfrm>
              <a:off x="474819" y="1981151"/>
              <a:ext cx="3048635" cy="795655"/>
            </a:xfrm>
            <a:custGeom>
              <a:avLst/>
              <a:gdLst/>
              <a:ahLst/>
              <a:cxnLst/>
              <a:rect l="l" t="t" r="r" b="b"/>
              <a:pathLst>
                <a:path w="3048635" h="795655">
                  <a:moveTo>
                    <a:pt x="2391169" y="795549"/>
                  </a:moveTo>
                  <a:lnTo>
                    <a:pt x="3048532" y="795549"/>
                  </a:lnTo>
                  <a:lnTo>
                    <a:pt x="3048532" y="0"/>
                  </a:lnTo>
                  <a:lnTo>
                    <a:pt x="2391169" y="0"/>
                  </a:lnTo>
                  <a:lnTo>
                    <a:pt x="2391169" y="795549"/>
                  </a:lnTo>
                  <a:close/>
                </a:path>
                <a:path w="3048635" h="795655">
                  <a:moveTo>
                    <a:pt x="0" y="501636"/>
                  </a:moveTo>
                  <a:lnTo>
                    <a:pt x="689480" y="501636"/>
                  </a:lnTo>
                  <a:lnTo>
                    <a:pt x="689480" y="66734"/>
                  </a:lnTo>
                  <a:lnTo>
                    <a:pt x="0" y="66734"/>
                  </a:lnTo>
                  <a:lnTo>
                    <a:pt x="0" y="501636"/>
                  </a:lnTo>
                  <a:close/>
                </a:path>
              </a:pathLst>
            </a:custGeom>
            <a:ln w="10541">
              <a:solidFill>
                <a:srgbClr val="231F20"/>
              </a:solidFill>
            </a:ln>
          </p:spPr>
          <p:txBody>
            <a:bodyPr wrap="square" lIns="0" tIns="0" rIns="0" bIns="0" rtlCol="0"/>
            <a:lstStyle/>
            <a:p>
              <a:endParaRPr/>
            </a:p>
          </p:txBody>
        </p:sp>
      </p:grpSp>
      <p:sp>
        <p:nvSpPr>
          <p:cNvPr id="16" name="object 16"/>
          <p:cNvSpPr txBox="1"/>
          <p:nvPr/>
        </p:nvSpPr>
        <p:spPr>
          <a:xfrm>
            <a:off x="1837872" y="1538731"/>
            <a:ext cx="466725" cy="287020"/>
          </a:xfrm>
          <a:prstGeom prst="rect">
            <a:avLst/>
          </a:prstGeom>
          <a:ln w="5270">
            <a:solidFill>
              <a:srgbClr val="231F20"/>
            </a:solidFill>
          </a:ln>
        </p:spPr>
        <p:txBody>
          <a:bodyPr vert="horz" wrap="square" lIns="0" tIns="45719" rIns="0" bIns="0" rtlCol="0">
            <a:spAutoFit/>
          </a:bodyPr>
          <a:lstStyle/>
          <a:p>
            <a:pPr marL="118745" marR="53975" indent="-52069">
              <a:lnSpc>
                <a:spcPts val="740"/>
              </a:lnSpc>
              <a:spcBef>
                <a:spcPts val="359"/>
              </a:spcBef>
            </a:pPr>
            <a:r>
              <a:rPr sz="650" spc="5" dirty="0">
                <a:solidFill>
                  <a:srgbClr val="231F20"/>
                </a:solidFill>
                <a:latin typeface="Arial"/>
                <a:cs typeface="Arial"/>
              </a:rPr>
              <a:t>Directory  server</a:t>
            </a:r>
            <a:endParaRPr sz="650">
              <a:latin typeface="Arial"/>
              <a:cs typeface="Arial"/>
            </a:endParaRPr>
          </a:p>
        </p:txBody>
      </p:sp>
      <p:grpSp>
        <p:nvGrpSpPr>
          <p:cNvPr id="17" name="object 17"/>
          <p:cNvGrpSpPr/>
          <p:nvPr/>
        </p:nvGrpSpPr>
        <p:grpSpPr>
          <a:xfrm>
            <a:off x="1050288" y="1459211"/>
            <a:ext cx="2593975" cy="1090930"/>
            <a:chOff x="1050288" y="1459211"/>
            <a:chExt cx="2593975" cy="1090930"/>
          </a:xfrm>
        </p:grpSpPr>
        <p:sp>
          <p:nvSpPr>
            <p:cNvPr id="18" name="object 18"/>
            <p:cNvSpPr/>
            <p:nvPr/>
          </p:nvSpPr>
          <p:spPr>
            <a:xfrm>
              <a:off x="3432114" y="2203905"/>
              <a:ext cx="209550" cy="265430"/>
            </a:xfrm>
            <a:custGeom>
              <a:avLst/>
              <a:gdLst/>
              <a:ahLst/>
              <a:cxnLst/>
              <a:rect l="l" t="t" r="r" b="b"/>
              <a:pathLst>
                <a:path w="209550" h="265430">
                  <a:moveTo>
                    <a:pt x="0" y="0"/>
                  </a:moveTo>
                  <a:lnTo>
                    <a:pt x="209164" y="81709"/>
                  </a:lnTo>
                  <a:lnTo>
                    <a:pt x="193582" y="168391"/>
                  </a:lnTo>
                  <a:lnTo>
                    <a:pt x="86511" y="237173"/>
                  </a:lnTo>
                  <a:lnTo>
                    <a:pt x="21208" y="265184"/>
                  </a:lnTo>
                </a:path>
              </a:pathLst>
            </a:custGeom>
            <a:ln w="5270">
              <a:solidFill>
                <a:srgbClr val="231F20"/>
              </a:solidFill>
            </a:ln>
          </p:spPr>
          <p:txBody>
            <a:bodyPr wrap="square" lIns="0" tIns="0" rIns="0" bIns="0" rtlCol="0"/>
            <a:lstStyle/>
            <a:p>
              <a:endParaRPr/>
            </a:p>
          </p:txBody>
        </p:sp>
        <p:sp>
          <p:nvSpPr>
            <p:cNvPr id="19" name="object 19"/>
            <p:cNvSpPr/>
            <p:nvPr/>
          </p:nvSpPr>
          <p:spPr>
            <a:xfrm>
              <a:off x="3418200" y="2426493"/>
              <a:ext cx="81280" cy="60325"/>
            </a:xfrm>
            <a:custGeom>
              <a:avLst/>
              <a:gdLst/>
              <a:ahLst/>
              <a:cxnLst/>
              <a:rect l="l" t="t" r="r" b="b"/>
              <a:pathLst>
                <a:path w="81279" h="60325">
                  <a:moveTo>
                    <a:pt x="59008" y="0"/>
                  </a:moveTo>
                  <a:lnTo>
                    <a:pt x="0" y="55368"/>
                  </a:lnTo>
                  <a:lnTo>
                    <a:pt x="80796" y="59910"/>
                  </a:lnTo>
                  <a:lnTo>
                    <a:pt x="69733" y="46973"/>
                  </a:lnTo>
                  <a:lnTo>
                    <a:pt x="62411" y="32675"/>
                  </a:lnTo>
                  <a:lnTo>
                    <a:pt x="58836" y="17017"/>
                  </a:lnTo>
                  <a:lnTo>
                    <a:pt x="59008" y="0"/>
                  </a:lnTo>
                  <a:close/>
                </a:path>
              </a:pathLst>
            </a:custGeom>
            <a:solidFill>
              <a:srgbClr val="231F20"/>
            </a:solidFill>
          </p:spPr>
          <p:txBody>
            <a:bodyPr wrap="square" lIns="0" tIns="0" rIns="0" bIns="0" rtlCol="0"/>
            <a:lstStyle/>
            <a:p>
              <a:endParaRPr/>
            </a:p>
          </p:txBody>
        </p:sp>
        <p:sp>
          <p:nvSpPr>
            <p:cNvPr id="20" name="object 20"/>
            <p:cNvSpPr/>
            <p:nvPr/>
          </p:nvSpPr>
          <p:spPr>
            <a:xfrm>
              <a:off x="1726486" y="1464482"/>
              <a:ext cx="689610" cy="434975"/>
            </a:xfrm>
            <a:custGeom>
              <a:avLst/>
              <a:gdLst/>
              <a:ahLst/>
              <a:cxnLst/>
              <a:rect l="l" t="t" r="r" b="b"/>
              <a:pathLst>
                <a:path w="689610" h="434975">
                  <a:moveTo>
                    <a:pt x="0" y="434898"/>
                  </a:moveTo>
                  <a:lnTo>
                    <a:pt x="689484" y="434898"/>
                  </a:lnTo>
                  <a:lnTo>
                    <a:pt x="689484" y="0"/>
                  </a:lnTo>
                  <a:lnTo>
                    <a:pt x="0" y="0"/>
                  </a:lnTo>
                  <a:lnTo>
                    <a:pt x="0" y="434898"/>
                  </a:lnTo>
                  <a:close/>
                </a:path>
              </a:pathLst>
            </a:custGeom>
            <a:ln w="10541">
              <a:solidFill>
                <a:srgbClr val="231F20"/>
              </a:solidFill>
            </a:ln>
          </p:spPr>
          <p:txBody>
            <a:bodyPr wrap="square" lIns="0" tIns="0" rIns="0" bIns="0" rtlCol="0"/>
            <a:lstStyle/>
            <a:p>
              <a:endParaRPr/>
            </a:p>
          </p:txBody>
        </p:sp>
        <p:sp>
          <p:nvSpPr>
            <p:cNvPr id="21" name="object 21"/>
            <p:cNvSpPr/>
            <p:nvPr/>
          </p:nvSpPr>
          <p:spPr>
            <a:xfrm>
              <a:off x="2338022" y="1746397"/>
              <a:ext cx="633095" cy="316865"/>
            </a:xfrm>
            <a:custGeom>
              <a:avLst/>
              <a:gdLst/>
              <a:ahLst/>
              <a:cxnLst/>
              <a:rect l="l" t="t" r="r" b="b"/>
              <a:pathLst>
                <a:path w="633094" h="316864">
                  <a:moveTo>
                    <a:pt x="632544" y="316611"/>
                  </a:moveTo>
                  <a:lnTo>
                    <a:pt x="0" y="0"/>
                  </a:lnTo>
                </a:path>
              </a:pathLst>
            </a:custGeom>
            <a:ln w="5270">
              <a:solidFill>
                <a:srgbClr val="231F20"/>
              </a:solidFill>
            </a:ln>
          </p:spPr>
          <p:txBody>
            <a:bodyPr wrap="square" lIns="0" tIns="0" rIns="0" bIns="0" rtlCol="0"/>
            <a:lstStyle/>
            <a:p>
              <a:endParaRPr/>
            </a:p>
          </p:txBody>
        </p:sp>
        <p:sp>
          <p:nvSpPr>
            <p:cNvPr id="22" name="object 22"/>
            <p:cNvSpPr/>
            <p:nvPr/>
          </p:nvSpPr>
          <p:spPr>
            <a:xfrm>
              <a:off x="2304596" y="1729668"/>
              <a:ext cx="81280" cy="62230"/>
            </a:xfrm>
            <a:custGeom>
              <a:avLst/>
              <a:gdLst/>
              <a:ahLst/>
              <a:cxnLst/>
              <a:rect l="l" t="t" r="r" b="b"/>
              <a:pathLst>
                <a:path w="81280" h="62230">
                  <a:moveTo>
                    <a:pt x="0" y="0"/>
                  </a:moveTo>
                  <a:lnTo>
                    <a:pt x="52241" y="61790"/>
                  </a:lnTo>
                  <a:lnTo>
                    <a:pt x="54030" y="44862"/>
                  </a:lnTo>
                  <a:lnTo>
                    <a:pt x="59381" y="29718"/>
                  </a:lnTo>
                  <a:lnTo>
                    <a:pt x="68296" y="16359"/>
                  </a:lnTo>
                  <a:lnTo>
                    <a:pt x="80775" y="4785"/>
                  </a:lnTo>
                  <a:lnTo>
                    <a:pt x="0" y="0"/>
                  </a:lnTo>
                  <a:close/>
                </a:path>
              </a:pathLst>
            </a:custGeom>
            <a:solidFill>
              <a:srgbClr val="231F20"/>
            </a:solidFill>
          </p:spPr>
          <p:txBody>
            <a:bodyPr wrap="square" lIns="0" tIns="0" rIns="0" bIns="0" rtlCol="0"/>
            <a:lstStyle/>
            <a:p>
              <a:endParaRPr/>
            </a:p>
          </p:txBody>
        </p:sp>
        <p:sp>
          <p:nvSpPr>
            <p:cNvPr id="23" name="object 23"/>
            <p:cNvSpPr/>
            <p:nvPr/>
          </p:nvSpPr>
          <p:spPr>
            <a:xfrm>
              <a:off x="1052923" y="1779600"/>
              <a:ext cx="752475" cy="417195"/>
            </a:xfrm>
            <a:custGeom>
              <a:avLst/>
              <a:gdLst/>
              <a:ahLst/>
              <a:cxnLst/>
              <a:rect l="l" t="t" r="r" b="b"/>
              <a:pathLst>
                <a:path w="752475" h="417194">
                  <a:moveTo>
                    <a:pt x="0" y="416790"/>
                  </a:moveTo>
                  <a:lnTo>
                    <a:pt x="752251" y="0"/>
                  </a:lnTo>
                </a:path>
              </a:pathLst>
            </a:custGeom>
            <a:ln w="5270">
              <a:solidFill>
                <a:srgbClr val="231F20"/>
              </a:solidFill>
            </a:ln>
          </p:spPr>
          <p:txBody>
            <a:bodyPr wrap="square" lIns="0" tIns="0" rIns="0" bIns="0" rtlCol="0"/>
            <a:lstStyle/>
            <a:p>
              <a:endParaRPr/>
            </a:p>
          </p:txBody>
        </p:sp>
        <p:pic>
          <p:nvPicPr>
            <p:cNvPr id="24" name="object 24"/>
            <p:cNvPicPr/>
            <p:nvPr/>
          </p:nvPicPr>
          <p:blipFill>
            <a:blip r:embed="rId7" cstate="print"/>
            <a:stretch>
              <a:fillRect/>
            </a:stretch>
          </p:blipFill>
          <p:spPr>
            <a:xfrm>
              <a:off x="1757360" y="1761492"/>
              <a:ext cx="80512" cy="63924"/>
            </a:xfrm>
            <a:prstGeom prst="rect">
              <a:avLst/>
            </a:prstGeom>
          </p:spPr>
        </p:pic>
        <p:sp>
          <p:nvSpPr>
            <p:cNvPr id="25" name="object 25"/>
            <p:cNvSpPr/>
            <p:nvPr/>
          </p:nvSpPr>
          <p:spPr>
            <a:xfrm>
              <a:off x="1052923" y="2197831"/>
              <a:ext cx="1882775" cy="73025"/>
            </a:xfrm>
            <a:custGeom>
              <a:avLst/>
              <a:gdLst/>
              <a:ahLst/>
              <a:cxnLst/>
              <a:rect l="l" t="t" r="r" b="b"/>
              <a:pathLst>
                <a:path w="1882775" h="73025">
                  <a:moveTo>
                    <a:pt x="0" y="72806"/>
                  </a:moveTo>
                  <a:lnTo>
                    <a:pt x="1882583" y="0"/>
                  </a:lnTo>
                </a:path>
              </a:pathLst>
            </a:custGeom>
            <a:ln w="5270">
              <a:solidFill>
                <a:srgbClr val="231F20"/>
              </a:solidFill>
            </a:ln>
          </p:spPr>
          <p:txBody>
            <a:bodyPr wrap="square" lIns="0" tIns="0" rIns="0" bIns="0" rtlCol="0"/>
            <a:lstStyle/>
            <a:p>
              <a:endParaRPr/>
            </a:p>
          </p:txBody>
        </p:sp>
        <p:pic>
          <p:nvPicPr>
            <p:cNvPr id="26" name="object 26"/>
            <p:cNvPicPr/>
            <p:nvPr/>
          </p:nvPicPr>
          <p:blipFill>
            <a:blip r:embed="rId8" cstate="print"/>
            <a:stretch>
              <a:fillRect/>
            </a:stretch>
          </p:blipFill>
          <p:spPr>
            <a:xfrm>
              <a:off x="2897306" y="2167414"/>
              <a:ext cx="75557" cy="63703"/>
            </a:xfrm>
            <a:prstGeom prst="rect">
              <a:avLst/>
            </a:prstGeom>
          </p:spPr>
        </p:pic>
        <p:sp>
          <p:nvSpPr>
            <p:cNvPr id="27" name="object 27"/>
            <p:cNvSpPr/>
            <p:nvPr/>
          </p:nvSpPr>
          <p:spPr>
            <a:xfrm>
              <a:off x="1052923" y="2344891"/>
              <a:ext cx="1872614" cy="177165"/>
            </a:xfrm>
            <a:custGeom>
              <a:avLst/>
              <a:gdLst/>
              <a:ahLst/>
              <a:cxnLst/>
              <a:rect l="l" t="t" r="r" b="b"/>
              <a:pathLst>
                <a:path w="1872614" h="177164">
                  <a:moveTo>
                    <a:pt x="0" y="0"/>
                  </a:moveTo>
                  <a:lnTo>
                    <a:pt x="1872116" y="176812"/>
                  </a:lnTo>
                </a:path>
              </a:pathLst>
            </a:custGeom>
            <a:ln w="5270">
              <a:solidFill>
                <a:srgbClr val="231F20"/>
              </a:solidFill>
            </a:ln>
          </p:spPr>
          <p:txBody>
            <a:bodyPr wrap="square" lIns="0" tIns="0" rIns="0" bIns="0" rtlCol="0"/>
            <a:lstStyle/>
            <a:p>
              <a:endParaRPr/>
            </a:p>
          </p:txBody>
        </p:sp>
        <p:sp>
          <p:nvSpPr>
            <p:cNvPr id="28" name="object 28"/>
            <p:cNvSpPr/>
            <p:nvPr/>
          </p:nvSpPr>
          <p:spPr>
            <a:xfrm>
              <a:off x="2885205" y="2486490"/>
              <a:ext cx="77470" cy="63500"/>
            </a:xfrm>
            <a:custGeom>
              <a:avLst/>
              <a:gdLst/>
              <a:ahLst/>
              <a:cxnLst/>
              <a:rect l="l" t="t" r="r" b="b"/>
              <a:pathLst>
                <a:path w="77469" h="63500">
                  <a:moveTo>
                    <a:pt x="5997" y="0"/>
                  </a:moveTo>
                  <a:lnTo>
                    <a:pt x="10448" y="16429"/>
                  </a:lnTo>
                  <a:lnTo>
                    <a:pt x="10932" y="32484"/>
                  </a:lnTo>
                  <a:lnTo>
                    <a:pt x="7449" y="48164"/>
                  </a:lnTo>
                  <a:lnTo>
                    <a:pt x="0" y="63471"/>
                  </a:lnTo>
                  <a:lnTo>
                    <a:pt x="77044" y="38729"/>
                  </a:lnTo>
                  <a:lnTo>
                    <a:pt x="5997" y="0"/>
                  </a:lnTo>
                  <a:close/>
                </a:path>
              </a:pathLst>
            </a:custGeom>
            <a:solidFill>
              <a:srgbClr val="231F20"/>
            </a:solidFill>
          </p:spPr>
          <p:txBody>
            <a:bodyPr wrap="square" lIns="0" tIns="0" rIns="0" bIns="0" rtlCol="0"/>
            <a:lstStyle/>
            <a:p>
              <a:endParaRPr/>
            </a:p>
          </p:txBody>
        </p:sp>
      </p:grpSp>
      <p:sp>
        <p:nvSpPr>
          <p:cNvPr id="29" name="object 29"/>
          <p:cNvSpPr txBox="1"/>
          <p:nvPr/>
        </p:nvSpPr>
        <p:spPr>
          <a:xfrm>
            <a:off x="2539546" y="1663803"/>
            <a:ext cx="974725" cy="324485"/>
          </a:xfrm>
          <a:prstGeom prst="rect">
            <a:avLst/>
          </a:prstGeom>
        </p:spPr>
        <p:txBody>
          <a:bodyPr vert="horz" wrap="square" lIns="0" tIns="62230" rIns="0" bIns="0" rtlCol="0">
            <a:spAutoFit/>
          </a:bodyPr>
          <a:lstStyle/>
          <a:p>
            <a:pPr marL="12700">
              <a:lnSpc>
                <a:spcPct val="100000"/>
              </a:lnSpc>
              <a:spcBef>
                <a:spcPts val="490"/>
              </a:spcBef>
            </a:pPr>
            <a:r>
              <a:rPr sz="650" spc="5" dirty="0">
                <a:solidFill>
                  <a:srgbClr val="231F20"/>
                </a:solidFill>
                <a:latin typeface="Arial"/>
                <a:cs typeface="Arial"/>
              </a:rPr>
              <a:t>2.</a:t>
            </a:r>
            <a:r>
              <a:rPr sz="650" spc="-25" dirty="0">
                <a:solidFill>
                  <a:srgbClr val="231F20"/>
                </a:solidFill>
                <a:latin typeface="Arial"/>
                <a:cs typeface="Arial"/>
              </a:rPr>
              <a:t> </a:t>
            </a:r>
            <a:r>
              <a:rPr sz="650" spc="5" dirty="0">
                <a:solidFill>
                  <a:srgbClr val="231F20"/>
                </a:solidFill>
                <a:latin typeface="Arial"/>
                <a:cs typeface="Arial"/>
              </a:rPr>
              <a:t>Register</a:t>
            </a:r>
            <a:r>
              <a:rPr sz="650" spc="-25" dirty="0">
                <a:solidFill>
                  <a:srgbClr val="231F20"/>
                </a:solidFill>
                <a:latin typeface="Arial"/>
                <a:cs typeface="Arial"/>
              </a:rPr>
              <a:t> </a:t>
            </a:r>
            <a:r>
              <a:rPr sz="650" spc="5" dirty="0">
                <a:solidFill>
                  <a:srgbClr val="231F20"/>
                </a:solidFill>
                <a:latin typeface="Arial"/>
                <a:cs typeface="Arial"/>
              </a:rPr>
              <a:t>service</a:t>
            </a:r>
            <a:endParaRPr sz="650">
              <a:latin typeface="Arial"/>
              <a:cs typeface="Arial"/>
            </a:endParaRPr>
          </a:p>
          <a:p>
            <a:pPr marL="370840">
              <a:lnSpc>
                <a:spcPct val="100000"/>
              </a:lnSpc>
              <a:spcBef>
                <a:spcPts val="400"/>
              </a:spcBef>
            </a:pPr>
            <a:r>
              <a:rPr sz="650" spc="5" dirty="0">
                <a:solidFill>
                  <a:srgbClr val="231F20"/>
                </a:solidFill>
                <a:latin typeface="Arial"/>
                <a:cs typeface="Arial"/>
              </a:rPr>
              <a:t>Server</a:t>
            </a:r>
            <a:r>
              <a:rPr sz="650" spc="-45" dirty="0">
                <a:solidFill>
                  <a:srgbClr val="231F20"/>
                </a:solidFill>
                <a:latin typeface="Arial"/>
                <a:cs typeface="Arial"/>
              </a:rPr>
              <a:t> </a:t>
            </a:r>
            <a:r>
              <a:rPr sz="650" spc="5" dirty="0">
                <a:solidFill>
                  <a:srgbClr val="231F20"/>
                </a:solidFill>
                <a:latin typeface="Arial"/>
                <a:cs typeface="Arial"/>
              </a:rPr>
              <a:t>machine</a:t>
            </a:r>
            <a:endParaRPr sz="650">
              <a:latin typeface="Arial"/>
              <a:cs typeface="Arial"/>
            </a:endParaRPr>
          </a:p>
        </p:txBody>
      </p:sp>
      <p:sp>
        <p:nvSpPr>
          <p:cNvPr id="30" name="object 30"/>
          <p:cNvSpPr txBox="1"/>
          <p:nvPr/>
        </p:nvSpPr>
        <p:spPr>
          <a:xfrm>
            <a:off x="522653" y="1708627"/>
            <a:ext cx="1125220" cy="324485"/>
          </a:xfrm>
          <a:prstGeom prst="rect">
            <a:avLst/>
          </a:prstGeom>
        </p:spPr>
        <p:txBody>
          <a:bodyPr vert="horz" wrap="square" lIns="0" tIns="12065" rIns="0" bIns="0" rtlCol="0">
            <a:spAutoFit/>
          </a:bodyPr>
          <a:lstStyle/>
          <a:p>
            <a:pPr marL="12700" marR="5080" indent="447675">
              <a:lnSpc>
                <a:spcPct val="150800"/>
              </a:lnSpc>
              <a:spcBef>
                <a:spcPts val="95"/>
              </a:spcBef>
            </a:pPr>
            <a:r>
              <a:rPr sz="650" spc="5" dirty="0">
                <a:solidFill>
                  <a:srgbClr val="231F20"/>
                </a:solidFill>
                <a:latin typeface="Arial"/>
                <a:cs typeface="Arial"/>
              </a:rPr>
              <a:t>3.</a:t>
            </a:r>
            <a:r>
              <a:rPr sz="650" spc="-25" dirty="0">
                <a:solidFill>
                  <a:srgbClr val="231F20"/>
                </a:solidFill>
                <a:latin typeface="Arial"/>
                <a:cs typeface="Arial"/>
              </a:rPr>
              <a:t> </a:t>
            </a:r>
            <a:r>
              <a:rPr sz="650" spc="5" dirty="0">
                <a:solidFill>
                  <a:srgbClr val="231F20"/>
                </a:solidFill>
                <a:latin typeface="Arial"/>
                <a:cs typeface="Arial"/>
              </a:rPr>
              <a:t>Look</a:t>
            </a:r>
            <a:r>
              <a:rPr sz="650" spc="-25" dirty="0">
                <a:solidFill>
                  <a:srgbClr val="231F20"/>
                </a:solidFill>
                <a:latin typeface="Arial"/>
                <a:cs typeface="Arial"/>
              </a:rPr>
              <a:t> </a:t>
            </a:r>
            <a:r>
              <a:rPr sz="650" spc="5" dirty="0">
                <a:solidFill>
                  <a:srgbClr val="231F20"/>
                </a:solidFill>
                <a:latin typeface="Arial"/>
                <a:cs typeface="Arial"/>
              </a:rPr>
              <a:t>up</a:t>
            </a:r>
            <a:r>
              <a:rPr sz="650" spc="-25" dirty="0">
                <a:solidFill>
                  <a:srgbClr val="231F20"/>
                </a:solidFill>
                <a:latin typeface="Arial"/>
                <a:cs typeface="Arial"/>
              </a:rPr>
              <a:t> </a:t>
            </a:r>
            <a:r>
              <a:rPr sz="650" spc="5" dirty="0">
                <a:solidFill>
                  <a:srgbClr val="231F20"/>
                </a:solidFill>
                <a:latin typeface="Arial"/>
                <a:cs typeface="Arial"/>
              </a:rPr>
              <a:t>server </a:t>
            </a:r>
            <a:r>
              <a:rPr sz="650" spc="-165" dirty="0">
                <a:solidFill>
                  <a:srgbClr val="231F20"/>
                </a:solidFill>
                <a:latin typeface="Arial"/>
                <a:cs typeface="Arial"/>
              </a:rPr>
              <a:t> </a:t>
            </a:r>
            <a:r>
              <a:rPr sz="650" spc="5" dirty="0">
                <a:solidFill>
                  <a:srgbClr val="231F20"/>
                </a:solidFill>
                <a:latin typeface="Arial"/>
                <a:cs typeface="Arial"/>
              </a:rPr>
              <a:t>Client</a:t>
            </a:r>
            <a:r>
              <a:rPr sz="650" spc="-5" dirty="0">
                <a:solidFill>
                  <a:srgbClr val="231F20"/>
                </a:solidFill>
                <a:latin typeface="Arial"/>
                <a:cs typeface="Arial"/>
              </a:rPr>
              <a:t> </a:t>
            </a:r>
            <a:r>
              <a:rPr sz="650" spc="5" dirty="0">
                <a:solidFill>
                  <a:srgbClr val="231F20"/>
                </a:solidFill>
                <a:latin typeface="Arial"/>
                <a:cs typeface="Arial"/>
              </a:rPr>
              <a:t>machine</a:t>
            </a:r>
            <a:endParaRPr sz="650">
              <a:latin typeface="Arial"/>
              <a:cs typeface="Arial"/>
            </a:endParaRPr>
          </a:p>
        </p:txBody>
      </p:sp>
      <p:sp>
        <p:nvSpPr>
          <p:cNvPr id="31" name="object 31"/>
          <p:cNvSpPr txBox="1"/>
          <p:nvPr/>
        </p:nvSpPr>
        <p:spPr>
          <a:xfrm>
            <a:off x="1702918" y="1323563"/>
            <a:ext cx="7048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Directory machine</a:t>
            </a:r>
            <a:endParaRPr sz="650">
              <a:latin typeface="Arial"/>
              <a:cs typeface="Arial"/>
            </a:endParaRPr>
          </a:p>
        </p:txBody>
      </p:sp>
      <p:sp>
        <p:nvSpPr>
          <p:cNvPr id="32" name="object 32"/>
          <p:cNvSpPr txBox="1"/>
          <p:nvPr/>
        </p:nvSpPr>
        <p:spPr>
          <a:xfrm>
            <a:off x="66713" y="3327684"/>
            <a:ext cx="9207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9" action="ppaction://hlinksldjump"/>
              </a:rPr>
              <a:t>Binding</a:t>
            </a:r>
            <a:r>
              <a:rPr sz="600" spc="-10"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a client to</a:t>
            </a:r>
            <a:r>
              <a:rPr sz="600" spc="-10"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a server</a:t>
            </a:r>
            <a:endParaRPr sz="600">
              <a:latin typeface="Arial"/>
              <a:cs typeface="Arial"/>
            </a:endParaRPr>
          </a:p>
        </p:txBody>
      </p:sp>
      <p:sp>
        <p:nvSpPr>
          <p:cNvPr id="33" name="object 33"/>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19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752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Message-oriented</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152755" y="716"/>
            <a:ext cx="13887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Simple</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transient</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messaging</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with</a:t>
            </a:r>
            <a:r>
              <a:rPr sz="600" spc="5"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sockets</a:t>
            </a:r>
            <a:endParaRPr sz="600">
              <a:latin typeface="Arial"/>
              <a:cs typeface="Arial"/>
            </a:endParaRPr>
          </a:p>
        </p:txBody>
      </p:sp>
      <p:sp>
        <p:nvSpPr>
          <p:cNvPr id="4" name="object 4"/>
          <p:cNvSpPr txBox="1"/>
          <p:nvPr/>
        </p:nvSpPr>
        <p:spPr>
          <a:xfrm>
            <a:off x="95300" y="162640"/>
            <a:ext cx="2416810" cy="474345"/>
          </a:xfrm>
          <a:prstGeom prst="rect">
            <a:avLst/>
          </a:prstGeom>
        </p:spPr>
        <p:txBody>
          <a:bodyPr vert="horz" wrap="square" lIns="0" tIns="43180" rIns="0" bIns="0" rtlCol="0">
            <a:spAutoFit/>
          </a:bodyPr>
          <a:lstStyle/>
          <a:p>
            <a:pPr marL="12700">
              <a:lnSpc>
                <a:spcPct val="100000"/>
              </a:lnSpc>
              <a:spcBef>
                <a:spcPts val="340"/>
              </a:spcBef>
            </a:pPr>
            <a:r>
              <a:rPr sz="1400" spc="-10" dirty="0">
                <a:solidFill>
                  <a:srgbClr val="3333B2"/>
                </a:solidFill>
                <a:latin typeface="Arial"/>
                <a:cs typeface="Arial"/>
              </a:rPr>
              <a:t>Transient</a:t>
            </a:r>
            <a:r>
              <a:rPr sz="1400" dirty="0">
                <a:solidFill>
                  <a:srgbClr val="3333B2"/>
                </a:solidFill>
                <a:latin typeface="Arial"/>
                <a:cs typeface="Arial"/>
              </a:rPr>
              <a:t> </a:t>
            </a:r>
            <a:r>
              <a:rPr sz="1400" spc="15" dirty="0">
                <a:solidFill>
                  <a:srgbClr val="3333B2"/>
                </a:solidFill>
                <a:latin typeface="Arial"/>
                <a:cs typeface="Arial"/>
              </a:rPr>
              <a:t>messaging:</a:t>
            </a:r>
            <a:r>
              <a:rPr sz="1400" spc="95" dirty="0">
                <a:solidFill>
                  <a:srgbClr val="3333B2"/>
                </a:solidFill>
                <a:latin typeface="Arial"/>
                <a:cs typeface="Arial"/>
              </a:rPr>
              <a:t> </a:t>
            </a:r>
            <a:r>
              <a:rPr sz="1400" spc="5" dirty="0">
                <a:solidFill>
                  <a:srgbClr val="3333B2"/>
                </a:solidFill>
                <a:latin typeface="Arial"/>
                <a:cs typeface="Arial"/>
              </a:rPr>
              <a:t>sockets</a:t>
            </a:r>
            <a:endParaRPr sz="1400">
              <a:latin typeface="Arial"/>
              <a:cs typeface="Arial"/>
            </a:endParaRPr>
          </a:p>
          <a:p>
            <a:pPr marL="264160">
              <a:lnSpc>
                <a:spcPct val="100000"/>
              </a:lnSpc>
              <a:spcBef>
                <a:spcPts val="175"/>
              </a:spcBef>
            </a:pPr>
            <a:r>
              <a:rPr sz="1200" spc="-10" dirty="0">
                <a:solidFill>
                  <a:srgbClr val="3333B2"/>
                </a:solidFill>
                <a:latin typeface="Arial"/>
                <a:cs typeface="Arial"/>
              </a:rPr>
              <a:t>Berkeley </a:t>
            </a:r>
            <a:r>
              <a:rPr sz="1200" spc="-15" dirty="0">
                <a:solidFill>
                  <a:srgbClr val="3333B2"/>
                </a:solidFill>
                <a:latin typeface="Arial"/>
                <a:cs typeface="Arial"/>
              </a:rPr>
              <a:t>socket</a:t>
            </a:r>
            <a:r>
              <a:rPr sz="1200" spc="-10" dirty="0">
                <a:solidFill>
                  <a:srgbClr val="3333B2"/>
                </a:solidFill>
                <a:latin typeface="Arial"/>
                <a:cs typeface="Arial"/>
              </a:rPr>
              <a:t> interface</a:t>
            </a:r>
            <a:endParaRPr sz="1200">
              <a:latin typeface="Arial"/>
              <a:cs typeface="Arial"/>
            </a:endParaRPr>
          </a:p>
        </p:txBody>
      </p:sp>
      <p:graphicFrame>
        <p:nvGraphicFramePr>
          <p:cNvPr id="5" name="object 5"/>
          <p:cNvGraphicFramePr>
            <a:graphicFrameLocks noGrp="1"/>
          </p:cNvGraphicFramePr>
          <p:nvPr/>
        </p:nvGraphicFramePr>
        <p:xfrm>
          <a:off x="544753" y="748982"/>
          <a:ext cx="3513454" cy="1249363"/>
        </p:xfrm>
        <a:graphic>
          <a:graphicData uri="http://schemas.openxmlformats.org/drawingml/2006/table">
            <a:tbl>
              <a:tblPr firstRow="1" bandRow="1">
                <a:tableStyleId>{2D5ABB26-0587-4C30-8999-92F81FD0307C}</a:tableStyleId>
              </a:tblPr>
              <a:tblGrid>
                <a:gridCol w="635000">
                  <a:extLst>
                    <a:ext uri="{9D8B030D-6E8A-4147-A177-3AD203B41FA5}">
                      <a16:colId xmlns:a16="http://schemas.microsoft.com/office/drawing/2014/main" val="20000"/>
                    </a:ext>
                  </a:extLst>
                </a:gridCol>
                <a:gridCol w="2878454">
                  <a:extLst>
                    <a:ext uri="{9D8B030D-6E8A-4147-A177-3AD203B41FA5}">
                      <a16:colId xmlns:a16="http://schemas.microsoft.com/office/drawing/2014/main" val="20001"/>
                    </a:ext>
                  </a:extLst>
                </a:gridCol>
              </a:tblGrid>
              <a:tr h="132080">
                <a:tc>
                  <a:txBody>
                    <a:bodyPr/>
                    <a:lstStyle/>
                    <a:p>
                      <a:pPr marL="78105">
                        <a:lnSpc>
                          <a:spcPts val="844"/>
                        </a:lnSpc>
                      </a:pPr>
                      <a:r>
                        <a:rPr sz="800" b="1" spc="-5" dirty="0">
                          <a:latin typeface="Arial"/>
                          <a:cs typeface="Arial"/>
                        </a:rPr>
                        <a:t>Operation</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ts val="844"/>
                        </a:lnSpc>
                      </a:pPr>
                      <a:r>
                        <a:rPr sz="800" b="1" spc="-5" dirty="0">
                          <a:latin typeface="Arial"/>
                          <a:cs typeface="Arial"/>
                        </a:rPr>
                        <a:t>Description</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093470">
                <a:tc>
                  <a:txBody>
                    <a:bodyPr/>
                    <a:lstStyle/>
                    <a:p>
                      <a:pPr marL="73025">
                        <a:lnSpc>
                          <a:spcPts val="890"/>
                        </a:lnSpc>
                      </a:pPr>
                      <a:r>
                        <a:rPr sz="800" spc="70" dirty="0">
                          <a:latin typeface="Times New Roman"/>
                          <a:cs typeface="Times New Roman"/>
                        </a:rPr>
                        <a:t>socket</a:t>
                      </a:r>
                      <a:endParaRPr sz="800">
                        <a:latin typeface="Times New Roman"/>
                        <a:cs typeface="Times New Roman"/>
                      </a:endParaRPr>
                    </a:p>
                    <a:p>
                      <a:pPr marL="73025" marR="240029">
                        <a:lnSpc>
                          <a:spcPts val="950"/>
                        </a:lnSpc>
                        <a:spcBef>
                          <a:spcPts val="30"/>
                        </a:spcBef>
                      </a:pPr>
                      <a:r>
                        <a:rPr sz="800" spc="60" dirty="0">
                          <a:latin typeface="Times New Roman"/>
                          <a:cs typeface="Times New Roman"/>
                        </a:rPr>
                        <a:t>bind </a:t>
                      </a:r>
                      <a:r>
                        <a:rPr sz="800" spc="65" dirty="0">
                          <a:latin typeface="Times New Roman"/>
                          <a:cs typeface="Times New Roman"/>
                        </a:rPr>
                        <a:t> </a:t>
                      </a:r>
                      <a:r>
                        <a:rPr sz="800" spc="-80" dirty="0">
                          <a:latin typeface="Times New Roman"/>
                          <a:cs typeface="Times New Roman"/>
                        </a:rPr>
                        <a:t>liste</a:t>
                      </a:r>
                      <a:r>
                        <a:rPr sz="800" dirty="0">
                          <a:latin typeface="Times New Roman"/>
                          <a:cs typeface="Times New Roman"/>
                        </a:rPr>
                        <a:t>n</a:t>
                      </a:r>
                      <a:endParaRPr sz="800">
                        <a:latin typeface="Times New Roman"/>
                        <a:cs typeface="Times New Roman"/>
                      </a:endParaRPr>
                    </a:p>
                    <a:p>
                      <a:pPr>
                        <a:lnSpc>
                          <a:spcPct val="100000"/>
                        </a:lnSpc>
                        <a:spcBef>
                          <a:spcPts val="20"/>
                        </a:spcBef>
                      </a:pPr>
                      <a:endParaRPr sz="800">
                        <a:latin typeface="Times New Roman"/>
                        <a:cs typeface="Times New Roman"/>
                      </a:endParaRPr>
                    </a:p>
                    <a:p>
                      <a:pPr marL="73025" marR="189230">
                        <a:lnSpc>
                          <a:spcPts val="950"/>
                        </a:lnSpc>
                      </a:pPr>
                      <a:r>
                        <a:rPr sz="800" spc="70" dirty="0">
                          <a:latin typeface="Times New Roman"/>
                          <a:cs typeface="Times New Roman"/>
                        </a:rPr>
                        <a:t>accept </a:t>
                      </a:r>
                      <a:r>
                        <a:rPr sz="800" spc="75" dirty="0">
                          <a:latin typeface="Times New Roman"/>
                          <a:cs typeface="Times New Roman"/>
                        </a:rPr>
                        <a:t> </a:t>
                      </a:r>
                      <a:r>
                        <a:rPr sz="800" spc="-80" dirty="0">
                          <a:latin typeface="Times New Roman"/>
                          <a:cs typeface="Times New Roman"/>
                        </a:rPr>
                        <a:t>connec</a:t>
                      </a:r>
                      <a:r>
                        <a:rPr sz="800" dirty="0">
                          <a:latin typeface="Times New Roman"/>
                          <a:cs typeface="Times New Roman"/>
                        </a:rPr>
                        <a:t>t  </a:t>
                      </a:r>
                      <a:r>
                        <a:rPr sz="800" spc="50" dirty="0">
                          <a:latin typeface="Times New Roman"/>
                          <a:cs typeface="Times New Roman"/>
                        </a:rPr>
                        <a:t>send </a:t>
                      </a:r>
                      <a:r>
                        <a:rPr sz="800" spc="55" dirty="0">
                          <a:latin typeface="Times New Roman"/>
                          <a:cs typeface="Times New Roman"/>
                        </a:rPr>
                        <a:t> </a:t>
                      </a:r>
                      <a:r>
                        <a:rPr sz="800" spc="-80" dirty="0">
                          <a:latin typeface="Times New Roman"/>
                          <a:cs typeface="Times New Roman"/>
                        </a:rPr>
                        <a:t>receiv</a:t>
                      </a:r>
                      <a:r>
                        <a:rPr sz="800" dirty="0">
                          <a:latin typeface="Times New Roman"/>
                          <a:cs typeface="Times New Roman"/>
                        </a:rPr>
                        <a:t>e  </a:t>
                      </a:r>
                      <a:r>
                        <a:rPr sz="800" spc="85" dirty="0">
                          <a:latin typeface="Times New Roman"/>
                          <a:cs typeface="Times New Roman"/>
                        </a:rPr>
                        <a:t>close</a:t>
                      </a:r>
                      <a:endParaRPr sz="800">
                        <a:latin typeface="Times New Roman"/>
                        <a:cs typeface="Times New Roman"/>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ts val="890"/>
                        </a:lnSpc>
                      </a:pPr>
                      <a:r>
                        <a:rPr sz="800" spc="-5" dirty="0">
                          <a:latin typeface="Arial"/>
                          <a:cs typeface="Arial"/>
                        </a:rPr>
                        <a:t>Create</a:t>
                      </a:r>
                      <a:r>
                        <a:rPr sz="800" spc="-10" dirty="0">
                          <a:latin typeface="Arial"/>
                          <a:cs typeface="Arial"/>
                        </a:rPr>
                        <a:t> </a:t>
                      </a:r>
                      <a:r>
                        <a:rPr sz="800" spc="-5" dirty="0">
                          <a:latin typeface="Arial"/>
                          <a:cs typeface="Arial"/>
                        </a:rPr>
                        <a:t>a </a:t>
                      </a:r>
                      <a:r>
                        <a:rPr sz="800" spc="-10" dirty="0">
                          <a:latin typeface="Arial"/>
                          <a:cs typeface="Arial"/>
                        </a:rPr>
                        <a:t>new</a:t>
                      </a:r>
                      <a:r>
                        <a:rPr sz="800" spc="-5" dirty="0">
                          <a:latin typeface="Arial"/>
                          <a:cs typeface="Arial"/>
                        </a:rPr>
                        <a:t> communication</a:t>
                      </a:r>
                      <a:r>
                        <a:rPr sz="800" spc="-10" dirty="0">
                          <a:latin typeface="Arial"/>
                          <a:cs typeface="Arial"/>
                        </a:rPr>
                        <a:t> </a:t>
                      </a:r>
                      <a:r>
                        <a:rPr sz="800" spc="-5" dirty="0">
                          <a:latin typeface="Arial"/>
                          <a:cs typeface="Arial"/>
                        </a:rPr>
                        <a:t>end point</a:t>
                      </a:r>
                      <a:endParaRPr sz="800">
                        <a:latin typeface="Arial"/>
                        <a:cs typeface="Arial"/>
                      </a:endParaRPr>
                    </a:p>
                    <a:p>
                      <a:pPr marL="78105">
                        <a:lnSpc>
                          <a:spcPts val="944"/>
                        </a:lnSpc>
                      </a:pPr>
                      <a:r>
                        <a:rPr sz="800" spc="-5" dirty="0">
                          <a:latin typeface="Arial"/>
                          <a:cs typeface="Arial"/>
                        </a:rPr>
                        <a:t>Attach</a:t>
                      </a:r>
                      <a:r>
                        <a:rPr sz="800" spc="-10" dirty="0">
                          <a:latin typeface="Arial"/>
                          <a:cs typeface="Arial"/>
                        </a:rPr>
                        <a:t> </a:t>
                      </a:r>
                      <a:r>
                        <a:rPr sz="800" spc="-5" dirty="0">
                          <a:latin typeface="Arial"/>
                          <a:cs typeface="Arial"/>
                        </a:rPr>
                        <a:t>a local address</a:t>
                      </a:r>
                      <a:r>
                        <a:rPr sz="800" spc="-10" dirty="0">
                          <a:latin typeface="Arial"/>
                          <a:cs typeface="Arial"/>
                        </a:rPr>
                        <a:t> </a:t>
                      </a:r>
                      <a:r>
                        <a:rPr sz="800" spc="-5" dirty="0">
                          <a:latin typeface="Arial"/>
                          <a:cs typeface="Arial"/>
                        </a:rPr>
                        <a:t>to a </a:t>
                      </a:r>
                      <a:r>
                        <a:rPr sz="800" spc="-10" dirty="0">
                          <a:latin typeface="Arial"/>
                          <a:cs typeface="Arial"/>
                        </a:rPr>
                        <a:t>socket</a:t>
                      </a:r>
                      <a:endParaRPr sz="800">
                        <a:latin typeface="Arial"/>
                        <a:cs typeface="Arial"/>
                      </a:endParaRPr>
                    </a:p>
                    <a:p>
                      <a:pPr marL="78105" marR="95885">
                        <a:lnSpc>
                          <a:spcPts val="950"/>
                        </a:lnSpc>
                        <a:spcBef>
                          <a:spcPts val="30"/>
                        </a:spcBef>
                      </a:pPr>
                      <a:r>
                        <a:rPr sz="800" spc="-30" dirty="0">
                          <a:latin typeface="Arial"/>
                          <a:cs typeface="Arial"/>
                        </a:rPr>
                        <a:t>Tell</a:t>
                      </a:r>
                      <a:r>
                        <a:rPr sz="800" spc="-5" dirty="0">
                          <a:latin typeface="Arial"/>
                          <a:cs typeface="Arial"/>
                        </a:rPr>
                        <a:t> operating</a:t>
                      </a:r>
                      <a:r>
                        <a:rPr sz="800" dirty="0">
                          <a:latin typeface="Arial"/>
                          <a:cs typeface="Arial"/>
                        </a:rPr>
                        <a:t> </a:t>
                      </a:r>
                      <a:r>
                        <a:rPr sz="800" spc="-5" dirty="0">
                          <a:latin typeface="Arial"/>
                          <a:cs typeface="Arial"/>
                        </a:rPr>
                        <a:t>system</a:t>
                      </a:r>
                      <a:r>
                        <a:rPr sz="800" dirty="0">
                          <a:latin typeface="Arial"/>
                          <a:cs typeface="Arial"/>
                        </a:rPr>
                        <a:t> </a:t>
                      </a:r>
                      <a:r>
                        <a:rPr sz="800" spc="-5" dirty="0">
                          <a:latin typeface="Arial"/>
                          <a:cs typeface="Arial"/>
                        </a:rPr>
                        <a:t>what</a:t>
                      </a:r>
                      <a:r>
                        <a:rPr sz="800" dirty="0">
                          <a:latin typeface="Arial"/>
                          <a:cs typeface="Arial"/>
                        </a:rPr>
                        <a:t> </a:t>
                      </a:r>
                      <a:r>
                        <a:rPr sz="800" spc="-5" dirty="0">
                          <a:latin typeface="Arial"/>
                          <a:cs typeface="Arial"/>
                        </a:rPr>
                        <a:t>the</a:t>
                      </a:r>
                      <a:r>
                        <a:rPr sz="800" dirty="0">
                          <a:latin typeface="Arial"/>
                          <a:cs typeface="Arial"/>
                        </a:rPr>
                        <a:t> </a:t>
                      </a:r>
                      <a:r>
                        <a:rPr sz="800" spc="-5" dirty="0">
                          <a:latin typeface="Arial"/>
                          <a:cs typeface="Arial"/>
                        </a:rPr>
                        <a:t>maximum number</a:t>
                      </a:r>
                      <a:r>
                        <a:rPr sz="800" dirty="0">
                          <a:latin typeface="Arial"/>
                          <a:cs typeface="Arial"/>
                        </a:rPr>
                        <a:t> </a:t>
                      </a:r>
                      <a:r>
                        <a:rPr sz="800" spc="-5" dirty="0">
                          <a:latin typeface="Arial"/>
                          <a:cs typeface="Arial"/>
                        </a:rPr>
                        <a:t>of</a:t>
                      </a:r>
                      <a:r>
                        <a:rPr sz="800" dirty="0">
                          <a:latin typeface="Arial"/>
                          <a:cs typeface="Arial"/>
                        </a:rPr>
                        <a:t> </a:t>
                      </a:r>
                      <a:r>
                        <a:rPr sz="800" spc="-5" dirty="0">
                          <a:latin typeface="Arial"/>
                          <a:cs typeface="Arial"/>
                        </a:rPr>
                        <a:t>pending </a:t>
                      </a:r>
                      <a:r>
                        <a:rPr sz="800" spc="-204" dirty="0">
                          <a:latin typeface="Arial"/>
                          <a:cs typeface="Arial"/>
                        </a:rPr>
                        <a:t> </a:t>
                      </a:r>
                      <a:r>
                        <a:rPr sz="800" spc="-5" dirty="0">
                          <a:latin typeface="Arial"/>
                          <a:cs typeface="Arial"/>
                        </a:rPr>
                        <a:t>connection</a:t>
                      </a:r>
                      <a:r>
                        <a:rPr sz="800" spc="-10" dirty="0">
                          <a:latin typeface="Arial"/>
                          <a:cs typeface="Arial"/>
                        </a:rPr>
                        <a:t> </a:t>
                      </a:r>
                      <a:r>
                        <a:rPr sz="800" spc="-5" dirty="0">
                          <a:latin typeface="Arial"/>
                          <a:cs typeface="Arial"/>
                        </a:rPr>
                        <a:t>requests should be</a:t>
                      </a:r>
                      <a:endParaRPr sz="800">
                        <a:latin typeface="Arial"/>
                        <a:cs typeface="Arial"/>
                      </a:endParaRPr>
                    </a:p>
                    <a:p>
                      <a:pPr marL="78105">
                        <a:lnSpc>
                          <a:spcPts val="905"/>
                        </a:lnSpc>
                      </a:pPr>
                      <a:r>
                        <a:rPr sz="800" spc="-10" dirty="0">
                          <a:latin typeface="Arial"/>
                          <a:cs typeface="Arial"/>
                        </a:rPr>
                        <a:t>Block</a:t>
                      </a:r>
                      <a:r>
                        <a:rPr sz="800" dirty="0">
                          <a:latin typeface="Arial"/>
                          <a:cs typeface="Arial"/>
                        </a:rPr>
                        <a:t> </a:t>
                      </a:r>
                      <a:r>
                        <a:rPr sz="800" spc="-5" dirty="0">
                          <a:latin typeface="Arial"/>
                          <a:cs typeface="Arial"/>
                        </a:rPr>
                        <a:t>caller</a:t>
                      </a:r>
                      <a:r>
                        <a:rPr sz="800" dirty="0">
                          <a:latin typeface="Arial"/>
                          <a:cs typeface="Arial"/>
                        </a:rPr>
                        <a:t> </a:t>
                      </a:r>
                      <a:r>
                        <a:rPr sz="800" spc="-5" dirty="0">
                          <a:latin typeface="Arial"/>
                          <a:cs typeface="Arial"/>
                        </a:rPr>
                        <a:t>until</a:t>
                      </a:r>
                      <a:r>
                        <a:rPr sz="800" dirty="0">
                          <a:latin typeface="Arial"/>
                          <a:cs typeface="Arial"/>
                        </a:rPr>
                        <a:t> </a:t>
                      </a:r>
                      <a:r>
                        <a:rPr sz="800" spc="-5" dirty="0">
                          <a:latin typeface="Arial"/>
                          <a:cs typeface="Arial"/>
                        </a:rPr>
                        <a:t>a</a:t>
                      </a:r>
                      <a:r>
                        <a:rPr sz="800" dirty="0">
                          <a:latin typeface="Arial"/>
                          <a:cs typeface="Arial"/>
                        </a:rPr>
                        <a:t> </a:t>
                      </a:r>
                      <a:r>
                        <a:rPr sz="800" spc="-5" dirty="0">
                          <a:latin typeface="Arial"/>
                          <a:cs typeface="Arial"/>
                        </a:rPr>
                        <a:t>connection</a:t>
                      </a:r>
                      <a:r>
                        <a:rPr sz="800" dirty="0">
                          <a:latin typeface="Arial"/>
                          <a:cs typeface="Arial"/>
                        </a:rPr>
                        <a:t> </a:t>
                      </a:r>
                      <a:r>
                        <a:rPr sz="800" spc="-5" dirty="0">
                          <a:latin typeface="Arial"/>
                          <a:cs typeface="Arial"/>
                        </a:rPr>
                        <a:t>request</a:t>
                      </a:r>
                      <a:r>
                        <a:rPr sz="800" spc="5" dirty="0">
                          <a:latin typeface="Arial"/>
                          <a:cs typeface="Arial"/>
                        </a:rPr>
                        <a:t> </a:t>
                      </a:r>
                      <a:r>
                        <a:rPr sz="800" spc="-5" dirty="0">
                          <a:latin typeface="Arial"/>
                          <a:cs typeface="Arial"/>
                        </a:rPr>
                        <a:t>arrives</a:t>
                      </a:r>
                      <a:endParaRPr sz="800">
                        <a:latin typeface="Arial"/>
                        <a:cs typeface="Arial"/>
                      </a:endParaRPr>
                    </a:p>
                    <a:p>
                      <a:pPr marL="78105" marR="939800">
                        <a:lnSpc>
                          <a:spcPts val="950"/>
                        </a:lnSpc>
                        <a:spcBef>
                          <a:spcPts val="35"/>
                        </a:spcBef>
                      </a:pPr>
                      <a:r>
                        <a:rPr sz="800" spc="-5" dirty="0">
                          <a:latin typeface="Arial"/>
                          <a:cs typeface="Arial"/>
                        </a:rPr>
                        <a:t>Actively attempt to establish a connection </a:t>
                      </a:r>
                      <a:r>
                        <a:rPr sz="800" spc="-210" dirty="0">
                          <a:latin typeface="Arial"/>
                          <a:cs typeface="Arial"/>
                        </a:rPr>
                        <a:t> </a:t>
                      </a:r>
                      <a:r>
                        <a:rPr sz="800" spc="-5" dirty="0">
                          <a:latin typeface="Arial"/>
                          <a:cs typeface="Arial"/>
                        </a:rPr>
                        <a:t>Send some data </a:t>
                      </a:r>
                      <a:r>
                        <a:rPr sz="800" spc="-15" dirty="0">
                          <a:latin typeface="Arial"/>
                          <a:cs typeface="Arial"/>
                        </a:rPr>
                        <a:t>over</a:t>
                      </a:r>
                      <a:r>
                        <a:rPr sz="800" spc="-5" dirty="0">
                          <a:latin typeface="Arial"/>
                          <a:cs typeface="Arial"/>
                        </a:rPr>
                        <a:t> the connection </a:t>
                      </a:r>
                      <a:r>
                        <a:rPr sz="800" dirty="0">
                          <a:latin typeface="Arial"/>
                          <a:cs typeface="Arial"/>
                        </a:rPr>
                        <a:t> </a:t>
                      </a:r>
                      <a:r>
                        <a:rPr sz="800" spc="-5" dirty="0">
                          <a:latin typeface="Arial"/>
                          <a:cs typeface="Arial"/>
                        </a:rPr>
                        <a:t>Receive</a:t>
                      </a:r>
                      <a:r>
                        <a:rPr sz="800" spc="-10" dirty="0">
                          <a:latin typeface="Arial"/>
                          <a:cs typeface="Arial"/>
                        </a:rPr>
                        <a:t> </a:t>
                      </a:r>
                      <a:r>
                        <a:rPr sz="800" spc="-5" dirty="0">
                          <a:latin typeface="Arial"/>
                          <a:cs typeface="Arial"/>
                        </a:rPr>
                        <a:t>some data </a:t>
                      </a:r>
                      <a:r>
                        <a:rPr sz="800" spc="-15" dirty="0">
                          <a:latin typeface="Arial"/>
                          <a:cs typeface="Arial"/>
                        </a:rPr>
                        <a:t>over</a:t>
                      </a:r>
                      <a:r>
                        <a:rPr sz="800" spc="-5" dirty="0">
                          <a:latin typeface="Arial"/>
                          <a:cs typeface="Arial"/>
                        </a:rPr>
                        <a:t> the connection </a:t>
                      </a:r>
                      <a:r>
                        <a:rPr sz="800" dirty="0">
                          <a:latin typeface="Arial"/>
                          <a:cs typeface="Arial"/>
                        </a:rPr>
                        <a:t> </a:t>
                      </a:r>
                      <a:r>
                        <a:rPr sz="800" spc="-5" dirty="0">
                          <a:latin typeface="Arial"/>
                          <a:cs typeface="Arial"/>
                        </a:rPr>
                        <a:t>Release</a:t>
                      </a:r>
                      <a:r>
                        <a:rPr sz="800" spc="-10" dirty="0">
                          <a:latin typeface="Arial"/>
                          <a:cs typeface="Arial"/>
                        </a:rPr>
                        <a:t> </a:t>
                      </a:r>
                      <a:r>
                        <a:rPr sz="800" spc="-5" dirty="0">
                          <a:latin typeface="Arial"/>
                          <a:cs typeface="Arial"/>
                        </a:rPr>
                        <a:t>the connection</a:t>
                      </a:r>
                      <a:endParaRPr sz="800">
                        <a:latin typeface="Arial"/>
                        <a:cs typeface="Arial"/>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sp>
        <p:nvSpPr>
          <p:cNvPr id="6" name="object 6"/>
          <p:cNvSpPr txBox="1"/>
          <p:nvPr/>
        </p:nvSpPr>
        <p:spPr>
          <a:xfrm>
            <a:off x="2022785" y="3058579"/>
            <a:ext cx="32131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connect</a:t>
            </a:r>
            <a:endParaRPr sz="650">
              <a:latin typeface="Arial"/>
              <a:cs typeface="Arial"/>
            </a:endParaRPr>
          </a:p>
        </p:txBody>
      </p:sp>
      <p:sp>
        <p:nvSpPr>
          <p:cNvPr id="7" name="object 7"/>
          <p:cNvSpPr txBox="1"/>
          <p:nvPr/>
        </p:nvSpPr>
        <p:spPr>
          <a:xfrm>
            <a:off x="612918" y="3055434"/>
            <a:ext cx="2692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socket</a:t>
            </a:r>
            <a:endParaRPr sz="650">
              <a:latin typeface="Arial"/>
              <a:cs typeface="Arial"/>
            </a:endParaRPr>
          </a:p>
        </p:txBody>
      </p:sp>
      <p:sp>
        <p:nvSpPr>
          <p:cNvPr id="8" name="object 8"/>
          <p:cNvSpPr txBox="1"/>
          <p:nvPr/>
        </p:nvSpPr>
        <p:spPr>
          <a:xfrm>
            <a:off x="2639898" y="2575189"/>
            <a:ext cx="2971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receive</a:t>
            </a:r>
            <a:endParaRPr sz="650">
              <a:latin typeface="Arial"/>
              <a:cs typeface="Arial"/>
            </a:endParaRPr>
          </a:p>
        </p:txBody>
      </p:sp>
      <p:sp>
        <p:nvSpPr>
          <p:cNvPr id="9" name="object 9"/>
          <p:cNvSpPr txBox="1"/>
          <p:nvPr/>
        </p:nvSpPr>
        <p:spPr>
          <a:xfrm>
            <a:off x="3234357" y="3055241"/>
            <a:ext cx="2971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receive</a:t>
            </a:r>
            <a:endParaRPr sz="650">
              <a:latin typeface="Arial"/>
              <a:cs typeface="Arial"/>
            </a:endParaRPr>
          </a:p>
        </p:txBody>
      </p:sp>
      <p:sp>
        <p:nvSpPr>
          <p:cNvPr id="10" name="object 10"/>
          <p:cNvSpPr txBox="1"/>
          <p:nvPr/>
        </p:nvSpPr>
        <p:spPr>
          <a:xfrm>
            <a:off x="3193622" y="2577355"/>
            <a:ext cx="20827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send</a:t>
            </a:r>
            <a:endParaRPr sz="650">
              <a:latin typeface="Arial"/>
              <a:cs typeface="Arial"/>
            </a:endParaRPr>
          </a:p>
        </p:txBody>
      </p:sp>
      <p:sp>
        <p:nvSpPr>
          <p:cNvPr id="11" name="object 11"/>
          <p:cNvSpPr txBox="1"/>
          <p:nvPr/>
        </p:nvSpPr>
        <p:spPr>
          <a:xfrm>
            <a:off x="2555924" y="3053867"/>
            <a:ext cx="20827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send</a:t>
            </a:r>
            <a:endParaRPr sz="650">
              <a:latin typeface="Arial"/>
              <a:cs typeface="Arial"/>
            </a:endParaRPr>
          </a:p>
        </p:txBody>
      </p:sp>
      <p:sp>
        <p:nvSpPr>
          <p:cNvPr id="12" name="object 12"/>
          <p:cNvSpPr txBox="1"/>
          <p:nvPr/>
        </p:nvSpPr>
        <p:spPr>
          <a:xfrm>
            <a:off x="2052673" y="2580498"/>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accept</a:t>
            </a:r>
            <a:endParaRPr sz="650">
              <a:latin typeface="Arial"/>
              <a:cs typeface="Arial"/>
            </a:endParaRPr>
          </a:p>
        </p:txBody>
      </p:sp>
      <p:sp>
        <p:nvSpPr>
          <p:cNvPr id="13" name="object 13"/>
          <p:cNvSpPr txBox="1"/>
          <p:nvPr/>
        </p:nvSpPr>
        <p:spPr>
          <a:xfrm>
            <a:off x="3693826" y="2602820"/>
            <a:ext cx="328930" cy="90170"/>
          </a:xfrm>
          <a:prstGeom prst="rect">
            <a:avLst/>
          </a:prstGeom>
          <a:ln w="5270">
            <a:solidFill>
              <a:srgbClr val="231F20"/>
            </a:solidFill>
          </a:ln>
        </p:spPr>
        <p:txBody>
          <a:bodyPr vert="horz" wrap="square" lIns="0" tIns="0" rIns="0" bIns="0" rtlCol="0">
            <a:spAutoFit/>
          </a:bodyPr>
          <a:lstStyle/>
          <a:p>
            <a:pPr marL="73660">
              <a:lnSpc>
                <a:spcPts val="705"/>
              </a:lnSpc>
            </a:pPr>
            <a:r>
              <a:rPr sz="650" spc="5" dirty="0">
                <a:solidFill>
                  <a:srgbClr val="231F20"/>
                </a:solidFill>
                <a:latin typeface="Arial"/>
                <a:cs typeface="Arial"/>
              </a:rPr>
              <a:t>close</a:t>
            </a:r>
            <a:endParaRPr sz="650">
              <a:latin typeface="Arial"/>
              <a:cs typeface="Arial"/>
            </a:endParaRPr>
          </a:p>
        </p:txBody>
      </p:sp>
      <p:sp>
        <p:nvSpPr>
          <p:cNvPr id="14" name="object 14"/>
          <p:cNvSpPr txBox="1"/>
          <p:nvPr/>
        </p:nvSpPr>
        <p:spPr>
          <a:xfrm>
            <a:off x="3693826" y="3080899"/>
            <a:ext cx="328930" cy="90170"/>
          </a:xfrm>
          <a:prstGeom prst="rect">
            <a:avLst/>
          </a:prstGeom>
          <a:ln w="5270">
            <a:solidFill>
              <a:srgbClr val="231F20"/>
            </a:solidFill>
          </a:ln>
        </p:spPr>
        <p:txBody>
          <a:bodyPr vert="horz" wrap="square" lIns="0" tIns="0" rIns="0" bIns="0" rtlCol="0">
            <a:spAutoFit/>
          </a:bodyPr>
          <a:lstStyle/>
          <a:p>
            <a:pPr marL="73025">
              <a:lnSpc>
                <a:spcPts val="700"/>
              </a:lnSpc>
            </a:pPr>
            <a:r>
              <a:rPr sz="650" spc="5" dirty="0">
                <a:solidFill>
                  <a:srgbClr val="231F20"/>
                </a:solidFill>
                <a:latin typeface="Arial"/>
                <a:cs typeface="Arial"/>
              </a:rPr>
              <a:t>close</a:t>
            </a:r>
            <a:endParaRPr sz="650">
              <a:latin typeface="Arial"/>
              <a:cs typeface="Arial"/>
            </a:endParaRPr>
          </a:p>
        </p:txBody>
      </p:sp>
      <p:sp>
        <p:nvSpPr>
          <p:cNvPr id="15" name="object 15"/>
          <p:cNvSpPr txBox="1"/>
          <p:nvPr/>
        </p:nvSpPr>
        <p:spPr>
          <a:xfrm>
            <a:off x="573613" y="2385241"/>
            <a:ext cx="308610" cy="320040"/>
          </a:xfrm>
          <a:prstGeom prst="rect">
            <a:avLst/>
          </a:prstGeom>
        </p:spPr>
        <p:txBody>
          <a:bodyPr vert="horz" wrap="square" lIns="0" tIns="12065" rIns="0" bIns="0" rtlCol="0">
            <a:spAutoFit/>
          </a:bodyPr>
          <a:lstStyle/>
          <a:p>
            <a:pPr marL="51435" marR="5080" indent="-39370">
              <a:lnSpc>
                <a:spcPct val="148400"/>
              </a:lnSpc>
              <a:spcBef>
                <a:spcPts val="95"/>
              </a:spcBef>
            </a:pPr>
            <a:r>
              <a:rPr sz="650" spc="5" dirty="0">
                <a:solidFill>
                  <a:srgbClr val="231F20"/>
                </a:solidFill>
                <a:latin typeface="Arial"/>
                <a:cs typeface="Arial"/>
              </a:rPr>
              <a:t>Server </a:t>
            </a:r>
            <a:r>
              <a:rPr sz="650" spc="10" dirty="0">
                <a:solidFill>
                  <a:srgbClr val="231F20"/>
                </a:solidFill>
                <a:latin typeface="Arial"/>
                <a:cs typeface="Arial"/>
              </a:rPr>
              <a:t> </a:t>
            </a:r>
            <a:r>
              <a:rPr sz="650" spc="5" dirty="0">
                <a:solidFill>
                  <a:srgbClr val="231F20"/>
                </a:solidFill>
                <a:latin typeface="Arial"/>
                <a:cs typeface="Arial"/>
              </a:rPr>
              <a:t>socket</a:t>
            </a:r>
            <a:endParaRPr sz="650">
              <a:latin typeface="Arial"/>
              <a:cs typeface="Arial"/>
            </a:endParaRPr>
          </a:p>
        </p:txBody>
      </p:sp>
      <p:sp>
        <p:nvSpPr>
          <p:cNvPr id="16" name="object 16"/>
          <p:cNvSpPr txBox="1"/>
          <p:nvPr/>
        </p:nvSpPr>
        <p:spPr>
          <a:xfrm>
            <a:off x="573613" y="3207984"/>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a:t>
            </a:r>
            <a:endParaRPr sz="650">
              <a:latin typeface="Arial"/>
              <a:cs typeface="Arial"/>
            </a:endParaRPr>
          </a:p>
        </p:txBody>
      </p:sp>
      <p:sp>
        <p:nvSpPr>
          <p:cNvPr id="17" name="object 17"/>
          <p:cNvSpPr txBox="1"/>
          <p:nvPr/>
        </p:nvSpPr>
        <p:spPr>
          <a:xfrm>
            <a:off x="1141326" y="2580497"/>
            <a:ext cx="861694" cy="365760"/>
          </a:xfrm>
          <a:prstGeom prst="rect">
            <a:avLst/>
          </a:prstGeom>
        </p:spPr>
        <p:txBody>
          <a:bodyPr vert="horz" wrap="square" lIns="0" tIns="13970" rIns="0" bIns="0" rtlCol="0">
            <a:spAutoFit/>
          </a:bodyPr>
          <a:lstStyle/>
          <a:p>
            <a:pPr marL="12700">
              <a:lnSpc>
                <a:spcPct val="100000"/>
              </a:lnSpc>
              <a:spcBef>
                <a:spcPts val="110"/>
              </a:spcBef>
              <a:tabLst>
                <a:tab pos="475615" algn="l"/>
              </a:tabLst>
            </a:pPr>
            <a:r>
              <a:rPr sz="650" spc="5" dirty="0">
                <a:solidFill>
                  <a:srgbClr val="231F20"/>
                </a:solidFill>
                <a:latin typeface="Arial"/>
                <a:cs typeface="Arial"/>
              </a:rPr>
              <a:t>bind	listen</a:t>
            </a:r>
            <a:endParaRPr sz="650">
              <a:latin typeface="Arial"/>
              <a:cs typeface="Arial"/>
            </a:endParaRPr>
          </a:p>
          <a:p>
            <a:pPr>
              <a:lnSpc>
                <a:spcPct val="100000"/>
              </a:lnSpc>
            </a:pPr>
            <a:endParaRPr sz="600">
              <a:latin typeface="Arial"/>
              <a:cs typeface="Arial"/>
            </a:endParaRPr>
          </a:p>
          <a:p>
            <a:pPr marL="42545">
              <a:lnSpc>
                <a:spcPct val="100000"/>
              </a:lnSpc>
              <a:spcBef>
                <a:spcPts val="415"/>
              </a:spcBef>
            </a:pPr>
            <a:r>
              <a:rPr sz="650" spc="5" dirty="0">
                <a:solidFill>
                  <a:srgbClr val="231F20"/>
                </a:solidFill>
                <a:latin typeface="Arial"/>
                <a:cs typeface="Arial"/>
              </a:rPr>
              <a:t>Synchronization</a:t>
            </a:r>
            <a:r>
              <a:rPr sz="650" spc="-45" dirty="0">
                <a:solidFill>
                  <a:srgbClr val="231F20"/>
                </a:solidFill>
                <a:latin typeface="Arial"/>
                <a:cs typeface="Arial"/>
              </a:rPr>
              <a:t> </a:t>
            </a:r>
            <a:r>
              <a:rPr sz="650" spc="5" dirty="0">
                <a:solidFill>
                  <a:srgbClr val="231F20"/>
                </a:solidFill>
                <a:latin typeface="Arial"/>
                <a:cs typeface="Arial"/>
              </a:rPr>
              <a:t>point</a:t>
            </a:r>
            <a:endParaRPr sz="650">
              <a:latin typeface="Arial"/>
              <a:cs typeface="Arial"/>
            </a:endParaRPr>
          </a:p>
        </p:txBody>
      </p:sp>
      <p:sp>
        <p:nvSpPr>
          <p:cNvPr id="18" name="object 18"/>
          <p:cNvSpPr txBox="1"/>
          <p:nvPr/>
        </p:nvSpPr>
        <p:spPr>
          <a:xfrm>
            <a:off x="2739915" y="2849417"/>
            <a:ext cx="6115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Communication</a:t>
            </a:r>
            <a:endParaRPr sz="650">
              <a:latin typeface="Arial"/>
              <a:cs typeface="Arial"/>
            </a:endParaRPr>
          </a:p>
        </p:txBody>
      </p:sp>
      <p:grpSp>
        <p:nvGrpSpPr>
          <p:cNvPr id="19" name="object 19"/>
          <p:cNvGrpSpPr/>
          <p:nvPr/>
        </p:nvGrpSpPr>
        <p:grpSpPr>
          <a:xfrm>
            <a:off x="583679" y="2450791"/>
            <a:ext cx="3110230" cy="859155"/>
            <a:chOff x="583679" y="2450791"/>
            <a:chExt cx="3110230" cy="859155"/>
          </a:xfrm>
        </p:grpSpPr>
        <p:sp>
          <p:nvSpPr>
            <p:cNvPr id="20" name="object 20"/>
            <p:cNvSpPr/>
            <p:nvPr/>
          </p:nvSpPr>
          <p:spPr>
            <a:xfrm>
              <a:off x="2199829" y="2729843"/>
              <a:ext cx="0" cy="313690"/>
            </a:xfrm>
            <a:custGeom>
              <a:avLst/>
              <a:gdLst/>
              <a:ahLst/>
              <a:cxnLst/>
              <a:rect l="l" t="t" r="r" b="b"/>
              <a:pathLst>
                <a:path h="313689">
                  <a:moveTo>
                    <a:pt x="0" y="313673"/>
                  </a:moveTo>
                  <a:lnTo>
                    <a:pt x="0" y="0"/>
                  </a:lnTo>
                </a:path>
              </a:pathLst>
            </a:custGeom>
            <a:ln w="5270">
              <a:solidFill>
                <a:srgbClr val="231F20"/>
              </a:solidFill>
              <a:prstDash val="lgDash"/>
            </a:ln>
          </p:spPr>
          <p:txBody>
            <a:bodyPr wrap="square" lIns="0" tIns="0" rIns="0" bIns="0" rtlCol="0"/>
            <a:lstStyle/>
            <a:p>
              <a:endParaRPr/>
            </a:p>
          </p:txBody>
        </p:sp>
        <p:pic>
          <p:nvPicPr>
            <p:cNvPr id="21" name="object 21"/>
            <p:cNvPicPr/>
            <p:nvPr/>
          </p:nvPicPr>
          <p:blipFill>
            <a:blip r:embed="rId5" cstate="print"/>
            <a:stretch>
              <a:fillRect/>
            </a:stretch>
          </p:blipFill>
          <p:spPr>
            <a:xfrm>
              <a:off x="2167964" y="3006520"/>
              <a:ext cx="63741" cy="74379"/>
            </a:xfrm>
            <a:prstGeom prst="rect">
              <a:avLst/>
            </a:prstGeom>
          </p:spPr>
        </p:pic>
        <p:pic>
          <p:nvPicPr>
            <p:cNvPr id="22" name="object 22"/>
            <p:cNvPicPr/>
            <p:nvPr/>
          </p:nvPicPr>
          <p:blipFill>
            <a:blip r:embed="rId6" cstate="print"/>
            <a:stretch>
              <a:fillRect/>
            </a:stretch>
          </p:blipFill>
          <p:spPr>
            <a:xfrm>
              <a:off x="2167964" y="2692464"/>
              <a:ext cx="63741" cy="74376"/>
            </a:xfrm>
            <a:prstGeom prst="rect">
              <a:avLst/>
            </a:prstGeom>
          </p:spPr>
        </p:pic>
        <p:sp>
          <p:nvSpPr>
            <p:cNvPr id="23" name="object 23"/>
            <p:cNvSpPr/>
            <p:nvPr/>
          </p:nvSpPr>
          <p:spPr>
            <a:xfrm>
              <a:off x="914992" y="2602820"/>
              <a:ext cx="1434465" cy="523240"/>
            </a:xfrm>
            <a:custGeom>
              <a:avLst/>
              <a:gdLst/>
              <a:ahLst/>
              <a:cxnLst/>
              <a:rect l="l" t="t" r="r" b="b"/>
              <a:pathLst>
                <a:path w="1434464" h="523239">
                  <a:moveTo>
                    <a:pt x="1114937" y="286868"/>
                  </a:moveTo>
                  <a:lnTo>
                    <a:pt x="1278322" y="287749"/>
                  </a:lnTo>
                </a:path>
                <a:path w="1434464" h="523239">
                  <a:moveTo>
                    <a:pt x="1105566" y="89643"/>
                  </a:moveTo>
                  <a:lnTo>
                    <a:pt x="1434244" y="89643"/>
                  </a:lnTo>
                  <a:lnTo>
                    <a:pt x="1434244" y="0"/>
                  </a:lnTo>
                  <a:lnTo>
                    <a:pt x="1105566" y="0"/>
                  </a:lnTo>
                  <a:lnTo>
                    <a:pt x="1105566" y="89643"/>
                  </a:lnTo>
                  <a:close/>
                </a:path>
                <a:path w="1434464" h="523239">
                  <a:moveTo>
                    <a:pt x="0" y="522899"/>
                  </a:moveTo>
                  <a:lnTo>
                    <a:pt x="1083124" y="522899"/>
                  </a:lnTo>
                </a:path>
              </a:pathLst>
            </a:custGeom>
            <a:ln w="5270">
              <a:solidFill>
                <a:srgbClr val="231F20"/>
              </a:solidFill>
            </a:ln>
          </p:spPr>
          <p:txBody>
            <a:bodyPr wrap="square" lIns="0" tIns="0" rIns="0" bIns="0" rtlCol="0"/>
            <a:lstStyle/>
            <a:p>
              <a:endParaRPr/>
            </a:p>
          </p:txBody>
        </p:sp>
        <p:pic>
          <p:nvPicPr>
            <p:cNvPr id="24" name="object 24"/>
            <p:cNvPicPr/>
            <p:nvPr/>
          </p:nvPicPr>
          <p:blipFill>
            <a:blip r:embed="rId7" cstate="print"/>
            <a:stretch>
              <a:fillRect/>
            </a:stretch>
          </p:blipFill>
          <p:spPr>
            <a:xfrm>
              <a:off x="1945401" y="3093842"/>
              <a:ext cx="74366" cy="63751"/>
            </a:xfrm>
            <a:prstGeom prst="rect">
              <a:avLst/>
            </a:prstGeom>
          </p:spPr>
        </p:pic>
        <p:sp>
          <p:nvSpPr>
            <p:cNvPr id="25" name="object 25"/>
            <p:cNvSpPr/>
            <p:nvPr/>
          </p:nvSpPr>
          <p:spPr>
            <a:xfrm>
              <a:off x="586315" y="2602820"/>
              <a:ext cx="1763395" cy="568325"/>
            </a:xfrm>
            <a:custGeom>
              <a:avLst/>
              <a:gdLst/>
              <a:ahLst/>
              <a:cxnLst/>
              <a:rect l="l" t="t" r="r" b="b"/>
              <a:pathLst>
                <a:path w="1763395" h="568325">
                  <a:moveTo>
                    <a:pt x="0" y="567719"/>
                  </a:moveTo>
                  <a:lnTo>
                    <a:pt x="328677" y="567719"/>
                  </a:lnTo>
                  <a:lnTo>
                    <a:pt x="328677" y="478079"/>
                  </a:lnTo>
                  <a:lnTo>
                    <a:pt x="0" y="478079"/>
                  </a:lnTo>
                  <a:lnTo>
                    <a:pt x="0" y="567719"/>
                  </a:lnTo>
                  <a:close/>
                </a:path>
                <a:path w="1763395" h="568325">
                  <a:moveTo>
                    <a:pt x="1434243" y="567719"/>
                  </a:moveTo>
                  <a:lnTo>
                    <a:pt x="1762921" y="567719"/>
                  </a:lnTo>
                  <a:lnTo>
                    <a:pt x="1762921" y="478079"/>
                  </a:lnTo>
                  <a:lnTo>
                    <a:pt x="1434243" y="478079"/>
                  </a:lnTo>
                  <a:lnTo>
                    <a:pt x="1434243" y="567719"/>
                  </a:lnTo>
                  <a:close/>
                </a:path>
                <a:path w="1763395" h="568325">
                  <a:moveTo>
                    <a:pt x="0" y="89643"/>
                  </a:moveTo>
                  <a:lnTo>
                    <a:pt x="328677" y="89643"/>
                  </a:lnTo>
                  <a:lnTo>
                    <a:pt x="328677" y="0"/>
                  </a:lnTo>
                  <a:lnTo>
                    <a:pt x="0" y="0"/>
                  </a:lnTo>
                  <a:lnTo>
                    <a:pt x="0" y="89643"/>
                  </a:lnTo>
                  <a:close/>
                </a:path>
                <a:path w="1763395" h="568325">
                  <a:moveTo>
                    <a:pt x="478075" y="89643"/>
                  </a:moveTo>
                  <a:lnTo>
                    <a:pt x="806757" y="89643"/>
                  </a:lnTo>
                  <a:lnTo>
                    <a:pt x="806757" y="0"/>
                  </a:lnTo>
                  <a:lnTo>
                    <a:pt x="478075" y="0"/>
                  </a:lnTo>
                  <a:lnTo>
                    <a:pt x="478075" y="89643"/>
                  </a:lnTo>
                  <a:close/>
                </a:path>
                <a:path w="1763395" h="568325">
                  <a:moveTo>
                    <a:pt x="328677" y="44824"/>
                  </a:moveTo>
                  <a:lnTo>
                    <a:pt x="440700" y="44824"/>
                  </a:lnTo>
                </a:path>
              </a:pathLst>
            </a:custGeom>
            <a:ln w="5270">
              <a:solidFill>
                <a:srgbClr val="231F20"/>
              </a:solidFill>
            </a:ln>
          </p:spPr>
          <p:txBody>
            <a:bodyPr wrap="square" lIns="0" tIns="0" rIns="0" bIns="0" rtlCol="0"/>
            <a:lstStyle/>
            <a:p>
              <a:endParaRPr/>
            </a:p>
          </p:txBody>
        </p:sp>
        <p:sp>
          <p:nvSpPr>
            <p:cNvPr id="26" name="object 26"/>
            <p:cNvSpPr/>
            <p:nvPr/>
          </p:nvSpPr>
          <p:spPr>
            <a:xfrm>
              <a:off x="990019" y="2615770"/>
              <a:ext cx="74930" cy="64135"/>
            </a:xfrm>
            <a:custGeom>
              <a:avLst/>
              <a:gdLst/>
              <a:ahLst/>
              <a:cxnLst/>
              <a:rect l="l" t="t" r="r" b="b"/>
              <a:pathLst>
                <a:path w="74930" h="64135">
                  <a:moveTo>
                    <a:pt x="0" y="0"/>
                  </a:moveTo>
                  <a:lnTo>
                    <a:pt x="5973" y="15935"/>
                  </a:lnTo>
                  <a:lnTo>
                    <a:pt x="7964" y="31872"/>
                  </a:lnTo>
                  <a:lnTo>
                    <a:pt x="5973" y="47811"/>
                  </a:lnTo>
                  <a:lnTo>
                    <a:pt x="0" y="63751"/>
                  </a:lnTo>
                  <a:lnTo>
                    <a:pt x="74372" y="31873"/>
                  </a:lnTo>
                  <a:lnTo>
                    <a:pt x="0" y="0"/>
                  </a:lnTo>
                  <a:close/>
                </a:path>
              </a:pathLst>
            </a:custGeom>
            <a:solidFill>
              <a:srgbClr val="231F20"/>
            </a:solidFill>
          </p:spPr>
          <p:txBody>
            <a:bodyPr wrap="square" lIns="0" tIns="0" rIns="0" bIns="0" rtlCol="0"/>
            <a:lstStyle/>
            <a:p>
              <a:endParaRPr/>
            </a:p>
          </p:txBody>
        </p:sp>
        <p:sp>
          <p:nvSpPr>
            <p:cNvPr id="27" name="object 27"/>
            <p:cNvSpPr/>
            <p:nvPr/>
          </p:nvSpPr>
          <p:spPr>
            <a:xfrm>
              <a:off x="1393072" y="2602820"/>
              <a:ext cx="478155" cy="90170"/>
            </a:xfrm>
            <a:custGeom>
              <a:avLst/>
              <a:gdLst/>
              <a:ahLst/>
              <a:cxnLst/>
              <a:rect l="l" t="t" r="r" b="b"/>
              <a:pathLst>
                <a:path w="478155" h="90169">
                  <a:moveTo>
                    <a:pt x="149398" y="89643"/>
                  </a:moveTo>
                  <a:lnTo>
                    <a:pt x="478080" y="89643"/>
                  </a:lnTo>
                  <a:lnTo>
                    <a:pt x="478080" y="0"/>
                  </a:lnTo>
                  <a:lnTo>
                    <a:pt x="149398" y="0"/>
                  </a:lnTo>
                  <a:lnTo>
                    <a:pt x="149398" y="89643"/>
                  </a:lnTo>
                  <a:close/>
                </a:path>
                <a:path w="478155" h="90169">
                  <a:moveTo>
                    <a:pt x="0" y="44824"/>
                  </a:moveTo>
                  <a:lnTo>
                    <a:pt x="112014" y="44824"/>
                  </a:lnTo>
                </a:path>
              </a:pathLst>
            </a:custGeom>
            <a:ln w="5270">
              <a:solidFill>
                <a:srgbClr val="231F20"/>
              </a:solidFill>
            </a:ln>
          </p:spPr>
          <p:txBody>
            <a:bodyPr wrap="square" lIns="0" tIns="0" rIns="0" bIns="0" rtlCol="0"/>
            <a:lstStyle/>
            <a:p>
              <a:endParaRPr/>
            </a:p>
          </p:txBody>
        </p:sp>
        <p:sp>
          <p:nvSpPr>
            <p:cNvPr id="28" name="object 28"/>
            <p:cNvSpPr/>
            <p:nvPr/>
          </p:nvSpPr>
          <p:spPr>
            <a:xfrm>
              <a:off x="1468094" y="2615770"/>
              <a:ext cx="74930" cy="64135"/>
            </a:xfrm>
            <a:custGeom>
              <a:avLst/>
              <a:gdLst/>
              <a:ahLst/>
              <a:cxnLst/>
              <a:rect l="l" t="t" r="r" b="b"/>
              <a:pathLst>
                <a:path w="74930" h="64135">
                  <a:moveTo>
                    <a:pt x="0" y="0"/>
                  </a:moveTo>
                  <a:lnTo>
                    <a:pt x="5977" y="15935"/>
                  </a:lnTo>
                  <a:lnTo>
                    <a:pt x="7970" y="31872"/>
                  </a:lnTo>
                  <a:lnTo>
                    <a:pt x="5977" y="47811"/>
                  </a:lnTo>
                  <a:lnTo>
                    <a:pt x="0" y="63751"/>
                  </a:lnTo>
                  <a:lnTo>
                    <a:pt x="74376" y="31873"/>
                  </a:lnTo>
                  <a:lnTo>
                    <a:pt x="0" y="0"/>
                  </a:lnTo>
                  <a:close/>
                </a:path>
              </a:pathLst>
            </a:custGeom>
            <a:solidFill>
              <a:srgbClr val="231F20"/>
            </a:solidFill>
          </p:spPr>
          <p:txBody>
            <a:bodyPr wrap="square" lIns="0" tIns="0" rIns="0" bIns="0" rtlCol="0"/>
            <a:lstStyle/>
            <a:p>
              <a:endParaRPr/>
            </a:p>
          </p:txBody>
        </p:sp>
        <p:sp>
          <p:nvSpPr>
            <p:cNvPr id="29" name="object 29"/>
            <p:cNvSpPr/>
            <p:nvPr/>
          </p:nvSpPr>
          <p:spPr>
            <a:xfrm>
              <a:off x="1871150" y="2647644"/>
              <a:ext cx="112395" cy="0"/>
            </a:xfrm>
            <a:custGeom>
              <a:avLst/>
              <a:gdLst/>
              <a:ahLst/>
              <a:cxnLst/>
              <a:rect l="l" t="t" r="r" b="b"/>
              <a:pathLst>
                <a:path w="112394">
                  <a:moveTo>
                    <a:pt x="0" y="0"/>
                  </a:moveTo>
                  <a:lnTo>
                    <a:pt x="112019" y="0"/>
                  </a:lnTo>
                </a:path>
              </a:pathLst>
            </a:custGeom>
            <a:ln w="5270">
              <a:solidFill>
                <a:srgbClr val="231F20"/>
              </a:solidFill>
            </a:ln>
          </p:spPr>
          <p:txBody>
            <a:bodyPr wrap="square" lIns="0" tIns="0" rIns="0" bIns="0" rtlCol="0"/>
            <a:lstStyle/>
            <a:p>
              <a:endParaRPr/>
            </a:p>
          </p:txBody>
        </p:sp>
        <p:sp>
          <p:nvSpPr>
            <p:cNvPr id="30" name="object 30"/>
            <p:cNvSpPr/>
            <p:nvPr/>
          </p:nvSpPr>
          <p:spPr>
            <a:xfrm>
              <a:off x="1946171" y="2615770"/>
              <a:ext cx="74930" cy="64135"/>
            </a:xfrm>
            <a:custGeom>
              <a:avLst/>
              <a:gdLst/>
              <a:ahLst/>
              <a:cxnLst/>
              <a:rect l="l" t="t" r="r" b="b"/>
              <a:pathLst>
                <a:path w="74930" h="64135">
                  <a:moveTo>
                    <a:pt x="0" y="0"/>
                  </a:moveTo>
                  <a:lnTo>
                    <a:pt x="5976" y="15935"/>
                  </a:lnTo>
                  <a:lnTo>
                    <a:pt x="7968" y="31872"/>
                  </a:lnTo>
                  <a:lnTo>
                    <a:pt x="5976" y="47811"/>
                  </a:lnTo>
                  <a:lnTo>
                    <a:pt x="0" y="63751"/>
                  </a:lnTo>
                  <a:lnTo>
                    <a:pt x="74387" y="31873"/>
                  </a:lnTo>
                  <a:lnTo>
                    <a:pt x="0" y="0"/>
                  </a:lnTo>
                  <a:close/>
                </a:path>
              </a:pathLst>
            </a:custGeom>
            <a:solidFill>
              <a:srgbClr val="231F20"/>
            </a:solidFill>
          </p:spPr>
          <p:txBody>
            <a:bodyPr wrap="square" lIns="0" tIns="0" rIns="0" bIns="0" rtlCol="0"/>
            <a:lstStyle/>
            <a:p>
              <a:endParaRPr/>
            </a:p>
          </p:txBody>
        </p:sp>
        <p:sp>
          <p:nvSpPr>
            <p:cNvPr id="31" name="object 31"/>
            <p:cNvSpPr/>
            <p:nvPr/>
          </p:nvSpPr>
          <p:spPr>
            <a:xfrm>
              <a:off x="2662969" y="2728559"/>
              <a:ext cx="95250" cy="352425"/>
            </a:xfrm>
            <a:custGeom>
              <a:avLst/>
              <a:gdLst/>
              <a:ahLst/>
              <a:cxnLst/>
              <a:rect l="l" t="t" r="r" b="b"/>
              <a:pathLst>
                <a:path w="95250" h="352425">
                  <a:moveTo>
                    <a:pt x="0" y="352340"/>
                  </a:moveTo>
                  <a:lnTo>
                    <a:pt x="94868" y="0"/>
                  </a:lnTo>
                </a:path>
              </a:pathLst>
            </a:custGeom>
            <a:ln w="5270">
              <a:solidFill>
                <a:srgbClr val="231F20"/>
              </a:solidFill>
              <a:prstDash val="lgDash"/>
            </a:ln>
          </p:spPr>
          <p:txBody>
            <a:bodyPr wrap="square" lIns="0" tIns="0" rIns="0" bIns="0" rtlCol="0"/>
            <a:lstStyle/>
            <a:p>
              <a:endParaRPr/>
            </a:p>
          </p:txBody>
        </p:sp>
        <p:sp>
          <p:nvSpPr>
            <p:cNvPr id="32" name="object 32"/>
            <p:cNvSpPr/>
            <p:nvPr/>
          </p:nvSpPr>
          <p:spPr>
            <a:xfrm>
              <a:off x="2717434" y="2692464"/>
              <a:ext cx="61594" cy="80645"/>
            </a:xfrm>
            <a:custGeom>
              <a:avLst/>
              <a:gdLst/>
              <a:ahLst/>
              <a:cxnLst/>
              <a:rect l="l" t="t" r="r" b="b"/>
              <a:pathLst>
                <a:path w="61594" h="80644">
                  <a:moveTo>
                    <a:pt x="50122" y="0"/>
                  </a:moveTo>
                  <a:lnTo>
                    <a:pt x="0" y="63534"/>
                  </a:lnTo>
                  <a:lnTo>
                    <a:pt x="16944" y="61905"/>
                  </a:lnTo>
                  <a:lnTo>
                    <a:pt x="32851" y="64125"/>
                  </a:lnTo>
                  <a:lnTo>
                    <a:pt x="47722" y="70193"/>
                  </a:lnTo>
                  <a:lnTo>
                    <a:pt x="61559" y="80108"/>
                  </a:lnTo>
                  <a:lnTo>
                    <a:pt x="50122" y="0"/>
                  </a:lnTo>
                  <a:close/>
                </a:path>
              </a:pathLst>
            </a:custGeom>
            <a:solidFill>
              <a:srgbClr val="231F20"/>
            </a:solidFill>
          </p:spPr>
          <p:txBody>
            <a:bodyPr wrap="square" lIns="0" tIns="0" rIns="0" bIns="0" rtlCol="0"/>
            <a:lstStyle/>
            <a:p>
              <a:endParaRPr/>
            </a:p>
          </p:txBody>
        </p:sp>
        <p:sp>
          <p:nvSpPr>
            <p:cNvPr id="33" name="object 33"/>
            <p:cNvSpPr/>
            <p:nvPr/>
          </p:nvSpPr>
          <p:spPr>
            <a:xfrm>
              <a:off x="2522116" y="2453426"/>
              <a:ext cx="1002030" cy="170180"/>
            </a:xfrm>
            <a:custGeom>
              <a:avLst/>
              <a:gdLst/>
              <a:ahLst/>
              <a:cxnLst/>
              <a:rect l="l" t="t" r="r" b="b"/>
              <a:pathLst>
                <a:path w="1002029" h="170180">
                  <a:moveTo>
                    <a:pt x="935201" y="169714"/>
                  </a:moveTo>
                  <a:lnTo>
                    <a:pt x="974531" y="158357"/>
                  </a:lnTo>
                  <a:lnTo>
                    <a:pt x="999768" y="129630"/>
                  </a:lnTo>
                  <a:lnTo>
                    <a:pt x="1001741" y="117580"/>
                  </a:lnTo>
                  <a:lnTo>
                    <a:pt x="999312" y="104787"/>
                  </a:lnTo>
                  <a:lnTo>
                    <a:pt x="958524" y="64926"/>
                  </a:lnTo>
                  <a:lnTo>
                    <a:pt x="896326" y="40084"/>
                  </a:lnTo>
                  <a:lnTo>
                    <a:pt x="852599" y="29073"/>
                  </a:lnTo>
                  <a:lnTo>
                    <a:pt x="799507" y="19398"/>
                  </a:lnTo>
                  <a:lnTo>
                    <a:pt x="736341" y="11357"/>
                  </a:lnTo>
                  <a:lnTo>
                    <a:pt x="662393" y="5245"/>
                  </a:lnTo>
                  <a:lnTo>
                    <a:pt x="576953" y="1360"/>
                  </a:lnTo>
                  <a:lnTo>
                    <a:pt x="479313" y="0"/>
                  </a:lnTo>
                  <a:lnTo>
                    <a:pt x="382282" y="1030"/>
                  </a:lnTo>
                  <a:lnTo>
                    <a:pt x="298559" y="3986"/>
                  </a:lnTo>
                  <a:lnTo>
                    <a:pt x="227273" y="8661"/>
                  </a:lnTo>
                  <a:lnTo>
                    <a:pt x="167550" y="14849"/>
                  </a:lnTo>
                  <a:lnTo>
                    <a:pt x="118519" y="22345"/>
                  </a:lnTo>
                  <a:lnTo>
                    <a:pt x="79307" y="30943"/>
                  </a:lnTo>
                  <a:lnTo>
                    <a:pt x="26850" y="50621"/>
                  </a:lnTo>
                  <a:lnTo>
                    <a:pt x="0" y="83261"/>
                  </a:lnTo>
                  <a:lnTo>
                    <a:pt x="1382" y="94150"/>
                  </a:lnTo>
                  <a:lnTo>
                    <a:pt x="35315" y="132271"/>
                  </a:lnTo>
                  <a:lnTo>
                    <a:pt x="66159" y="149393"/>
                  </a:lnTo>
                </a:path>
              </a:pathLst>
            </a:custGeom>
            <a:ln w="5270">
              <a:solidFill>
                <a:srgbClr val="231F20"/>
              </a:solidFill>
            </a:ln>
          </p:spPr>
          <p:txBody>
            <a:bodyPr wrap="square" lIns="0" tIns="0" rIns="0" bIns="0" rtlCol="0"/>
            <a:lstStyle/>
            <a:p>
              <a:endParaRPr/>
            </a:p>
          </p:txBody>
        </p:sp>
        <p:sp>
          <p:nvSpPr>
            <p:cNvPr id="34" name="object 34"/>
            <p:cNvSpPr/>
            <p:nvPr/>
          </p:nvSpPr>
          <p:spPr>
            <a:xfrm>
              <a:off x="2541832" y="2559128"/>
              <a:ext cx="81280" cy="59055"/>
            </a:xfrm>
            <a:custGeom>
              <a:avLst/>
              <a:gdLst/>
              <a:ahLst/>
              <a:cxnLst/>
              <a:rect l="l" t="t" r="r" b="b"/>
              <a:pathLst>
                <a:path w="81280" h="59055">
                  <a:moveTo>
                    <a:pt x="24623" y="0"/>
                  </a:moveTo>
                  <a:lnTo>
                    <a:pt x="23979" y="17009"/>
                  </a:lnTo>
                  <a:lnTo>
                    <a:pt x="19660" y="32479"/>
                  </a:lnTo>
                  <a:lnTo>
                    <a:pt x="11666" y="46410"/>
                  </a:lnTo>
                  <a:lnTo>
                    <a:pt x="0" y="58802"/>
                  </a:lnTo>
                  <a:lnTo>
                    <a:pt x="80912" y="58136"/>
                  </a:lnTo>
                  <a:lnTo>
                    <a:pt x="24623" y="0"/>
                  </a:lnTo>
                  <a:close/>
                </a:path>
              </a:pathLst>
            </a:custGeom>
            <a:solidFill>
              <a:srgbClr val="231F20"/>
            </a:solidFill>
          </p:spPr>
          <p:txBody>
            <a:bodyPr wrap="square" lIns="0" tIns="0" rIns="0" bIns="0" rtlCol="0"/>
            <a:lstStyle/>
            <a:p>
              <a:endParaRPr/>
            </a:p>
          </p:txBody>
        </p:sp>
        <p:sp>
          <p:nvSpPr>
            <p:cNvPr id="35" name="object 35"/>
            <p:cNvSpPr/>
            <p:nvPr/>
          </p:nvSpPr>
          <p:spPr>
            <a:xfrm>
              <a:off x="2429666" y="2602820"/>
              <a:ext cx="1158875" cy="704215"/>
            </a:xfrm>
            <a:custGeom>
              <a:avLst/>
              <a:gdLst/>
              <a:ahLst/>
              <a:cxnLst/>
              <a:rect l="l" t="t" r="r" b="b"/>
              <a:pathLst>
                <a:path w="1158875" h="704214">
                  <a:moveTo>
                    <a:pt x="188483" y="89643"/>
                  </a:moveTo>
                  <a:lnTo>
                    <a:pt x="517165" y="89643"/>
                  </a:lnTo>
                  <a:lnTo>
                    <a:pt x="517165" y="0"/>
                  </a:lnTo>
                  <a:lnTo>
                    <a:pt x="188483" y="0"/>
                  </a:lnTo>
                  <a:lnTo>
                    <a:pt x="188483" y="89643"/>
                  </a:lnTo>
                  <a:close/>
                </a:path>
                <a:path w="1158875" h="704214">
                  <a:moveTo>
                    <a:pt x="39085" y="582657"/>
                  </a:moveTo>
                  <a:lnTo>
                    <a:pt x="10720" y="609251"/>
                  </a:lnTo>
                  <a:lnTo>
                    <a:pt x="0" y="635265"/>
                  </a:lnTo>
                  <a:lnTo>
                    <a:pt x="2737" y="644270"/>
                  </a:lnTo>
                  <a:lnTo>
                    <a:pt x="41175" y="670134"/>
                  </a:lnTo>
                  <a:lnTo>
                    <a:pt x="100051" y="684873"/>
                  </a:lnTo>
                  <a:lnTo>
                    <a:pt x="141884" y="691030"/>
                  </a:lnTo>
                  <a:lnTo>
                    <a:pt x="193056" y="696172"/>
                  </a:lnTo>
                  <a:lnTo>
                    <a:pt x="254372" y="700147"/>
                  </a:lnTo>
                  <a:lnTo>
                    <a:pt x="326640" y="702799"/>
                  </a:lnTo>
                  <a:lnTo>
                    <a:pt x="410666" y="703975"/>
                  </a:lnTo>
                  <a:lnTo>
                    <a:pt x="507256" y="703520"/>
                  </a:lnTo>
                  <a:lnTo>
                    <a:pt x="617217" y="701281"/>
                  </a:lnTo>
                  <a:lnTo>
                    <a:pt x="1023786" y="669128"/>
                  </a:lnTo>
                  <a:lnTo>
                    <a:pt x="1158281" y="619076"/>
                  </a:lnTo>
                  <a:lnTo>
                    <a:pt x="1146630" y="573001"/>
                  </a:lnTo>
                  <a:lnTo>
                    <a:pt x="1114762" y="552781"/>
                  </a:lnTo>
                </a:path>
              </a:pathLst>
            </a:custGeom>
            <a:ln w="5270">
              <a:solidFill>
                <a:srgbClr val="231F20"/>
              </a:solidFill>
            </a:ln>
          </p:spPr>
          <p:txBody>
            <a:bodyPr wrap="square" lIns="0" tIns="0" rIns="0" bIns="0" rtlCol="0"/>
            <a:lstStyle/>
            <a:p>
              <a:endParaRPr/>
            </a:p>
          </p:txBody>
        </p:sp>
        <p:pic>
          <p:nvPicPr>
            <p:cNvPr id="36" name="object 36"/>
            <p:cNvPicPr/>
            <p:nvPr/>
          </p:nvPicPr>
          <p:blipFill>
            <a:blip r:embed="rId8" cstate="print"/>
            <a:stretch>
              <a:fillRect/>
            </a:stretch>
          </p:blipFill>
          <p:spPr>
            <a:xfrm>
              <a:off x="2419925" y="3160567"/>
              <a:ext cx="76685" cy="73333"/>
            </a:xfrm>
            <a:prstGeom prst="rect">
              <a:avLst/>
            </a:prstGeom>
          </p:spPr>
        </p:pic>
        <p:sp>
          <p:nvSpPr>
            <p:cNvPr id="37" name="object 37"/>
            <p:cNvSpPr/>
            <p:nvPr/>
          </p:nvSpPr>
          <p:spPr>
            <a:xfrm>
              <a:off x="2498624" y="3080899"/>
              <a:ext cx="328930" cy="90170"/>
            </a:xfrm>
            <a:custGeom>
              <a:avLst/>
              <a:gdLst/>
              <a:ahLst/>
              <a:cxnLst/>
              <a:rect l="l" t="t" r="r" b="b"/>
              <a:pathLst>
                <a:path w="328930" h="90169">
                  <a:moveTo>
                    <a:pt x="0" y="89639"/>
                  </a:moveTo>
                  <a:lnTo>
                    <a:pt x="328677" y="89639"/>
                  </a:lnTo>
                  <a:lnTo>
                    <a:pt x="328677" y="0"/>
                  </a:lnTo>
                  <a:lnTo>
                    <a:pt x="0" y="0"/>
                  </a:lnTo>
                  <a:lnTo>
                    <a:pt x="0" y="89639"/>
                  </a:lnTo>
                  <a:close/>
                </a:path>
              </a:pathLst>
            </a:custGeom>
            <a:ln w="5270">
              <a:solidFill>
                <a:srgbClr val="231F20"/>
              </a:solidFill>
            </a:ln>
          </p:spPr>
          <p:txBody>
            <a:bodyPr wrap="square" lIns="0" tIns="0" rIns="0" bIns="0" rtlCol="0"/>
            <a:lstStyle/>
            <a:p>
              <a:endParaRPr/>
            </a:p>
          </p:txBody>
        </p:sp>
        <p:sp>
          <p:nvSpPr>
            <p:cNvPr id="38" name="object 38"/>
            <p:cNvSpPr/>
            <p:nvPr/>
          </p:nvSpPr>
          <p:spPr>
            <a:xfrm>
              <a:off x="3305390" y="2692464"/>
              <a:ext cx="108585" cy="353060"/>
            </a:xfrm>
            <a:custGeom>
              <a:avLst/>
              <a:gdLst/>
              <a:ahLst/>
              <a:cxnLst/>
              <a:rect l="l" t="t" r="r" b="b"/>
              <a:pathLst>
                <a:path w="108585" h="353060">
                  <a:moveTo>
                    <a:pt x="0" y="0"/>
                  </a:moveTo>
                  <a:lnTo>
                    <a:pt x="108530" y="352712"/>
                  </a:lnTo>
                </a:path>
              </a:pathLst>
            </a:custGeom>
            <a:ln w="5270">
              <a:solidFill>
                <a:srgbClr val="231F20"/>
              </a:solidFill>
              <a:prstDash val="lgDash"/>
            </a:ln>
          </p:spPr>
          <p:txBody>
            <a:bodyPr wrap="square" lIns="0" tIns="0" rIns="0" bIns="0" rtlCol="0"/>
            <a:lstStyle/>
            <a:p>
              <a:endParaRPr/>
            </a:p>
          </p:txBody>
        </p:sp>
        <p:sp>
          <p:nvSpPr>
            <p:cNvPr id="39" name="object 39"/>
            <p:cNvSpPr/>
            <p:nvPr/>
          </p:nvSpPr>
          <p:spPr>
            <a:xfrm>
              <a:off x="3372568" y="3000434"/>
              <a:ext cx="60960" cy="80645"/>
            </a:xfrm>
            <a:custGeom>
              <a:avLst/>
              <a:gdLst/>
              <a:ahLst/>
              <a:cxnLst/>
              <a:rect l="l" t="t" r="r" b="b"/>
              <a:pathLst>
                <a:path w="60960" h="80644">
                  <a:moveTo>
                    <a:pt x="60926" y="0"/>
                  </a:moveTo>
                  <a:lnTo>
                    <a:pt x="47453" y="10404"/>
                  </a:lnTo>
                  <a:lnTo>
                    <a:pt x="32807" y="16996"/>
                  </a:lnTo>
                  <a:lnTo>
                    <a:pt x="16989" y="19780"/>
                  </a:lnTo>
                  <a:lnTo>
                    <a:pt x="0" y="18755"/>
                  </a:lnTo>
                  <a:lnTo>
                    <a:pt x="52336" y="80465"/>
                  </a:lnTo>
                  <a:lnTo>
                    <a:pt x="60926" y="0"/>
                  </a:lnTo>
                  <a:close/>
                </a:path>
              </a:pathLst>
            </a:custGeom>
            <a:solidFill>
              <a:srgbClr val="231F20"/>
            </a:solidFill>
          </p:spPr>
          <p:txBody>
            <a:bodyPr wrap="square" lIns="0" tIns="0" rIns="0" bIns="0" rtlCol="0"/>
            <a:lstStyle/>
            <a:p>
              <a:endParaRPr/>
            </a:p>
          </p:txBody>
        </p:sp>
        <p:sp>
          <p:nvSpPr>
            <p:cNvPr id="40" name="object 40"/>
            <p:cNvSpPr/>
            <p:nvPr/>
          </p:nvSpPr>
          <p:spPr>
            <a:xfrm>
              <a:off x="2349227" y="2602820"/>
              <a:ext cx="1195705" cy="568325"/>
            </a:xfrm>
            <a:custGeom>
              <a:avLst/>
              <a:gdLst/>
              <a:ahLst/>
              <a:cxnLst/>
              <a:rect l="l" t="t" r="r" b="b"/>
              <a:pathLst>
                <a:path w="1195704" h="568325">
                  <a:moveTo>
                    <a:pt x="776882" y="89643"/>
                  </a:moveTo>
                  <a:lnTo>
                    <a:pt x="1105564" y="89643"/>
                  </a:lnTo>
                  <a:lnTo>
                    <a:pt x="1105564" y="0"/>
                  </a:lnTo>
                  <a:lnTo>
                    <a:pt x="776882" y="0"/>
                  </a:lnTo>
                  <a:lnTo>
                    <a:pt x="776882" y="89643"/>
                  </a:lnTo>
                  <a:close/>
                </a:path>
                <a:path w="1195704" h="568325">
                  <a:moveTo>
                    <a:pt x="866522" y="567719"/>
                  </a:moveTo>
                  <a:lnTo>
                    <a:pt x="1195204" y="567719"/>
                  </a:lnTo>
                  <a:lnTo>
                    <a:pt x="1195204" y="478079"/>
                  </a:lnTo>
                  <a:lnTo>
                    <a:pt x="866522" y="478079"/>
                  </a:lnTo>
                  <a:lnTo>
                    <a:pt x="866522" y="567719"/>
                  </a:lnTo>
                  <a:close/>
                </a:path>
                <a:path w="1195704" h="568325">
                  <a:moveTo>
                    <a:pt x="0" y="44824"/>
                  </a:moveTo>
                  <a:lnTo>
                    <a:pt x="231543" y="44824"/>
                  </a:lnTo>
                </a:path>
              </a:pathLst>
            </a:custGeom>
            <a:ln w="5270">
              <a:solidFill>
                <a:srgbClr val="231F20"/>
              </a:solidFill>
            </a:ln>
          </p:spPr>
          <p:txBody>
            <a:bodyPr wrap="square" lIns="0" tIns="0" rIns="0" bIns="0" rtlCol="0"/>
            <a:lstStyle/>
            <a:p>
              <a:endParaRPr/>
            </a:p>
          </p:txBody>
        </p:sp>
        <p:sp>
          <p:nvSpPr>
            <p:cNvPr id="41" name="object 41"/>
            <p:cNvSpPr/>
            <p:nvPr/>
          </p:nvSpPr>
          <p:spPr>
            <a:xfrm>
              <a:off x="2543772" y="2615770"/>
              <a:ext cx="74930" cy="64135"/>
            </a:xfrm>
            <a:custGeom>
              <a:avLst/>
              <a:gdLst/>
              <a:ahLst/>
              <a:cxnLst/>
              <a:rect l="l" t="t" r="r" b="b"/>
              <a:pathLst>
                <a:path w="74930" h="64135">
                  <a:moveTo>
                    <a:pt x="0" y="0"/>
                  </a:moveTo>
                  <a:lnTo>
                    <a:pt x="5976" y="15935"/>
                  </a:lnTo>
                  <a:lnTo>
                    <a:pt x="7968" y="31872"/>
                  </a:lnTo>
                  <a:lnTo>
                    <a:pt x="5976" y="47811"/>
                  </a:lnTo>
                  <a:lnTo>
                    <a:pt x="0" y="63751"/>
                  </a:lnTo>
                  <a:lnTo>
                    <a:pt x="74377" y="31873"/>
                  </a:lnTo>
                  <a:lnTo>
                    <a:pt x="0" y="0"/>
                  </a:lnTo>
                  <a:close/>
                </a:path>
              </a:pathLst>
            </a:custGeom>
            <a:solidFill>
              <a:srgbClr val="231F20"/>
            </a:solidFill>
          </p:spPr>
          <p:txBody>
            <a:bodyPr wrap="square" lIns="0" tIns="0" rIns="0" bIns="0" rtlCol="0"/>
            <a:lstStyle/>
            <a:p>
              <a:endParaRPr/>
            </a:p>
          </p:txBody>
        </p:sp>
        <p:sp>
          <p:nvSpPr>
            <p:cNvPr id="42" name="object 42"/>
            <p:cNvSpPr/>
            <p:nvPr/>
          </p:nvSpPr>
          <p:spPr>
            <a:xfrm>
              <a:off x="2349227" y="3125720"/>
              <a:ext cx="112395" cy="0"/>
            </a:xfrm>
            <a:custGeom>
              <a:avLst/>
              <a:gdLst/>
              <a:ahLst/>
              <a:cxnLst/>
              <a:rect l="l" t="t" r="r" b="b"/>
              <a:pathLst>
                <a:path w="112394">
                  <a:moveTo>
                    <a:pt x="0" y="0"/>
                  </a:moveTo>
                  <a:lnTo>
                    <a:pt x="112019" y="0"/>
                  </a:lnTo>
                </a:path>
              </a:pathLst>
            </a:custGeom>
            <a:ln w="5270">
              <a:solidFill>
                <a:srgbClr val="231F20"/>
              </a:solidFill>
            </a:ln>
          </p:spPr>
          <p:txBody>
            <a:bodyPr wrap="square" lIns="0" tIns="0" rIns="0" bIns="0" rtlCol="0"/>
            <a:lstStyle/>
            <a:p>
              <a:endParaRPr/>
            </a:p>
          </p:txBody>
        </p:sp>
        <p:sp>
          <p:nvSpPr>
            <p:cNvPr id="43" name="object 43"/>
            <p:cNvSpPr/>
            <p:nvPr/>
          </p:nvSpPr>
          <p:spPr>
            <a:xfrm>
              <a:off x="2424258" y="3093842"/>
              <a:ext cx="74930" cy="64135"/>
            </a:xfrm>
            <a:custGeom>
              <a:avLst/>
              <a:gdLst/>
              <a:ahLst/>
              <a:cxnLst/>
              <a:rect l="l" t="t" r="r" b="b"/>
              <a:pathLst>
                <a:path w="74930" h="64135">
                  <a:moveTo>
                    <a:pt x="0" y="0"/>
                  </a:moveTo>
                  <a:lnTo>
                    <a:pt x="5970" y="15940"/>
                  </a:lnTo>
                  <a:lnTo>
                    <a:pt x="7961" y="31879"/>
                  </a:lnTo>
                  <a:lnTo>
                    <a:pt x="5970" y="47816"/>
                  </a:lnTo>
                  <a:lnTo>
                    <a:pt x="0" y="63751"/>
                  </a:lnTo>
                  <a:lnTo>
                    <a:pt x="74366" y="31878"/>
                  </a:lnTo>
                  <a:lnTo>
                    <a:pt x="0" y="0"/>
                  </a:lnTo>
                  <a:close/>
                </a:path>
              </a:pathLst>
            </a:custGeom>
            <a:solidFill>
              <a:srgbClr val="231F20"/>
            </a:solidFill>
          </p:spPr>
          <p:txBody>
            <a:bodyPr wrap="square" lIns="0" tIns="0" rIns="0" bIns="0" rtlCol="0"/>
            <a:lstStyle/>
            <a:p>
              <a:endParaRPr/>
            </a:p>
          </p:txBody>
        </p:sp>
        <p:sp>
          <p:nvSpPr>
            <p:cNvPr id="44" name="object 44"/>
            <p:cNvSpPr/>
            <p:nvPr/>
          </p:nvSpPr>
          <p:spPr>
            <a:xfrm>
              <a:off x="2827303" y="3125720"/>
              <a:ext cx="351155" cy="0"/>
            </a:xfrm>
            <a:custGeom>
              <a:avLst/>
              <a:gdLst/>
              <a:ahLst/>
              <a:cxnLst/>
              <a:rect l="l" t="t" r="r" b="b"/>
              <a:pathLst>
                <a:path w="351155">
                  <a:moveTo>
                    <a:pt x="0" y="0"/>
                  </a:moveTo>
                  <a:lnTo>
                    <a:pt x="351067" y="0"/>
                  </a:lnTo>
                </a:path>
              </a:pathLst>
            </a:custGeom>
            <a:ln w="5270">
              <a:solidFill>
                <a:srgbClr val="231F20"/>
              </a:solidFill>
            </a:ln>
          </p:spPr>
          <p:txBody>
            <a:bodyPr wrap="square" lIns="0" tIns="0" rIns="0" bIns="0" rtlCol="0"/>
            <a:lstStyle/>
            <a:p>
              <a:endParaRPr/>
            </a:p>
          </p:txBody>
        </p:sp>
        <p:pic>
          <p:nvPicPr>
            <p:cNvPr id="45" name="object 45"/>
            <p:cNvPicPr/>
            <p:nvPr/>
          </p:nvPicPr>
          <p:blipFill>
            <a:blip r:embed="rId9" cstate="print"/>
            <a:stretch>
              <a:fillRect/>
            </a:stretch>
          </p:blipFill>
          <p:spPr>
            <a:xfrm>
              <a:off x="3141372" y="3093842"/>
              <a:ext cx="74377" cy="63751"/>
            </a:xfrm>
            <a:prstGeom prst="rect">
              <a:avLst/>
            </a:prstGeom>
          </p:spPr>
        </p:pic>
        <p:sp>
          <p:nvSpPr>
            <p:cNvPr id="46" name="object 46"/>
            <p:cNvSpPr/>
            <p:nvPr/>
          </p:nvSpPr>
          <p:spPr>
            <a:xfrm>
              <a:off x="2946828" y="2647644"/>
              <a:ext cx="142240" cy="0"/>
            </a:xfrm>
            <a:custGeom>
              <a:avLst/>
              <a:gdLst/>
              <a:ahLst/>
              <a:cxnLst/>
              <a:rect l="l" t="t" r="r" b="b"/>
              <a:pathLst>
                <a:path w="142239">
                  <a:moveTo>
                    <a:pt x="0" y="0"/>
                  </a:moveTo>
                  <a:lnTo>
                    <a:pt x="141902" y="0"/>
                  </a:lnTo>
                </a:path>
              </a:pathLst>
            </a:custGeom>
            <a:ln w="5270">
              <a:solidFill>
                <a:srgbClr val="231F20"/>
              </a:solidFill>
            </a:ln>
          </p:spPr>
          <p:txBody>
            <a:bodyPr wrap="square" lIns="0" tIns="0" rIns="0" bIns="0" rtlCol="0"/>
            <a:lstStyle/>
            <a:p>
              <a:endParaRPr/>
            </a:p>
          </p:txBody>
        </p:sp>
        <p:sp>
          <p:nvSpPr>
            <p:cNvPr id="47" name="object 47"/>
            <p:cNvSpPr/>
            <p:nvPr/>
          </p:nvSpPr>
          <p:spPr>
            <a:xfrm>
              <a:off x="3051732" y="2615770"/>
              <a:ext cx="74930" cy="64135"/>
            </a:xfrm>
            <a:custGeom>
              <a:avLst/>
              <a:gdLst/>
              <a:ahLst/>
              <a:cxnLst/>
              <a:rect l="l" t="t" r="r" b="b"/>
              <a:pathLst>
                <a:path w="74930" h="64135">
                  <a:moveTo>
                    <a:pt x="0" y="0"/>
                  </a:moveTo>
                  <a:lnTo>
                    <a:pt x="5976" y="15935"/>
                  </a:lnTo>
                  <a:lnTo>
                    <a:pt x="7968" y="31872"/>
                  </a:lnTo>
                  <a:lnTo>
                    <a:pt x="5976" y="47811"/>
                  </a:lnTo>
                  <a:lnTo>
                    <a:pt x="0" y="63751"/>
                  </a:lnTo>
                  <a:lnTo>
                    <a:pt x="74377" y="31873"/>
                  </a:lnTo>
                  <a:lnTo>
                    <a:pt x="0" y="0"/>
                  </a:lnTo>
                  <a:close/>
                </a:path>
              </a:pathLst>
            </a:custGeom>
            <a:solidFill>
              <a:srgbClr val="231F20"/>
            </a:solidFill>
          </p:spPr>
          <p:txBody>
            <a:bodyPr wrap="square" lIns="0" tIns="0" rIns="0" bIns="0" rtlCol="0"/>
            <a:lstStyle/>
            <a:p>
              <a:endParaRPr/>
            </a:p>
          </p:txBody>
        </p:sp>
        <p:sp>
          <p:nvSpPr>
            <p:cNvPr id="48" name="object 48"/>
            <p:cNvSpPr/>
            <p:nvPr/>
          </p:nvSpPr>
          <p:spPr>
            <a:xfrm>
              <a:off x="3454788" y="2647644"/>
              <a:ext cx="201930" cy="0"/>
            </a:xfrm>
            <a:custGeom>
              <a:avLst/>
              <a:gdLst/>
              <a:ahLst/>
              <a:cxnLst/>
              <a:rect l="l" t="t" r="r" b="b"/>
              <a:pathLst>
                <a:path w="201929">
                  <a:moveTo>
                    <a:pt x="0" y="0"/>
                  </a:moveTo>
                  <a:lnTo>
                    <a:pt x="201659" y="0"/>
                  </a:lnTo>
                </a:path>
              </a:pathLst>
            </a:custGeom>
            <a:ln w="5270">
              <a:solidFill>
                <a:srgbClr val="231F20"/>
              </a:solidFill>
            </a:ln>
          </p:spPr>
          <p:txBody>
            <a:bodyPr wrap="square" lIns="0" tIns="0" rIns="0" bIns="0" rtlCol="0"/>
            <a:lstStyle/>
            <a:p>
              <a:endParaRPr/>
            </a:p>
          </p:txBody>
        </p:sp>
        <p:sp>
          <p:nvSpPr>
            <p:cNvPr id="49" name="object 49"/>
            <p:cNvSpPr/>
            <p:nvPr/>
          </p:nvSpPr>
          <p:spPr>
            <a:xfrm>
              <a:off x="3619449" y="2615770"/>
              <a:ext cx="74930" cy="64135"/>
            </a:xfrm>
            <a:custGeom>
              <a:avLst/>
              <a:gdLst/>
              <a:ahLst/>
              <a:cxnLst/>
              <a:rect l="l" t="t" r="r" b="b"/>
              <a:pathLst>
                <a:path w="74929" h="64135">
                  <a:moveTo>
                    <a:pt x="0" y="0"/>
                  </a:moveTo>
                  <a:lnTo>
                    <a:pt x="5976" y="15935"/>
                  </a:lnTo>
                  <a:lnTo>
                    <a:pt x="7968" y="31872"/>
                  </a:lnTo>
                  <a:lnTo>
                    <a:pt x="5976" y="47811"/>
                  </a:lnTo>
                  <a:lnTo>
                    <a:pt x="0" y="63751"/>
                  </a:lnTo>
                  <a:lnTo>
                    <a:pt x="74377" y="31873"/>
                  </a:lnTo>
                  <a:lnTo>
                    <a:pt x="0" y="0"/>
                  </a:lnTo>
                  <a:close/>
                </a:path>
              </a:pathLst>
            </a:custGeom>
            <a:solidFill>
              <a:srgbClr val="231F20"/>
            </a:solidFill>
          </p:spPr>
          <p:txBody>
            <a:bodyPr wrap="square" lIns="0" tIns="0" rIns="0" bIns="0" rtlCol="0"/>
            <a:lstStyle/>
            <a:p>
              <a:endParaRPr/>
            </a:p>
          </p:txBody>
        </p:sp>
        <p:sp>
          <p:nvSpPr>
            <p:cNvPr id="50" name="object 50"/>
            <p:cNvSpPr/>
            <p:nvPr/>
          </p:nvSpPr>
          <p:spPr>
            <a:xfrm>
              <a:off x="3544428" y="3125720"/>
              <a:ext cx="112395" cy="0"/>
            </a:xfrm>
            <a:custGeom>
              <a:avLst/>
              <a:gdLst/>
              <a:ahLst/>
              <a:cxnLst/>
              <a:rect l="l" t="t" r="r" b="b"/>
              <a:pathLst>
                <a:path w="112395">
                  <a:moveTo>
                    <a:pt x="0" y="0"/>
                  </a:moveTo>
                  <a:lnTo>
                    <a:pt x="112019" y="0"/>
                  </a:lnTo>
                </a:path>
              </a:pathLst>
            </a:custGeom>
            <a:ln w="5270">
              <a:solidFill>
                <a:srgbClr val="231F20"/>
              </a:solidFill>
            </a:ln>
          </p:spPr>
          <p:txBody>
            <a:bodyPr wrap="square" lIns="0" tIns="0" rIns="0" bIns="0" rtlCol="0"/>
            <a:lstStyle/>
            <a:p>
              <a:endParaRPr/>
            </a:p>
          </p:txBody>
        </p:sp>
        <p:sp>
          <p:nvSpPr>
            <p:cNvPr id="51" name="object 51"/>
            <p:cNvSpPr/>
            <p:nvPr/>
          </p:nvSpPr>
          <p:spPr>
            <a:xfrm>
              <a:off x="3619449" y="3093842"/>
              <a:ext cx="74930" cy="64135"/>
            </a:xfrm>
            <a:custGeom>
              <a:avLst/>
              <a:gdLst/>
              <a:ahLst/>
              <a:cxnLst/>
              <a:rect l="l" t="t" r="r" b="b"/>
              <a:pathLst>
                <a:path w="74929" h="64135">
                  <a:moveTo>
                    <a:pt x="0" y="0"/>
                  </a:moveTo>
                  <a:lnTo>
                    <a:pt x="5976" y="15940"/>
                  </a:lnTo>
                  <a:lnTo>
                    <a:pt x="7968" y="31879"/>
                  </a:lnTo>
                  <a:lnTo>
                    <a:pt x="5976" y="47816"/>
                  </a:lnTo>
                  <a:lnTo>
                    <a:pt x="0" y="63751"/>
                  </a:lnTo>
                  <a:lnTo>
                    <a:pt x="74377" y="31878"/>
                  </a:lnTo>
                  <a:lnTo>
                    <a:pt x="0" y="0"/>
                  </a:lnTo>
                  <a:close/>
                </a:path>
              </a:pathLst>
            </a:custGeom>
            <a:solidFill>
              <a:srgbClr val="231F20"/>
            </a:solidFill>
          </p:spPr>
          <p:txBody>
            <a:bodyPr wrap="square" lIns="0" tIns="0" rIns="0" bIns="0" rtlCol="0"/>
            <a:lstStyle/>
            <a:p>
              <a:endParaRPr/>
            </a:p>
          </p:txBody>
        </p:sp>
      </p:grpSp>
      <p:sp>
        <p:nvSpPr>
          <p:cNvPr id="52" name="object 52"/>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20</a:t>
            </a:r>
            <a:r>
              <a:rPr spc="-40" dirty="0"/>
              <a:t> </a:t>
            </a:r>
            <a:r>
              <a:rPr spc="-5" dirty="0"/>
              <a:t>/</a:t>
            </a:r>
            <a:r>
              <a:rPr spc="-35" dirty="0"/>
              <a:t> </a:t>
            </a:r>
            <a:r>
              <a:rPr spc="-5" dirty="0"/>
              <a:t>49</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21</a:t>
            </a:r>
            <a:r>
              <a:rPr spc="-40" dirty="0"/>
              <a:t> </a:t>
            </a:r>
            <a:r>
              <a:rPr spc="-5" dirty="0"/>
              <a:t>/</a:t>
            </a:r>
            <a:r>
              <a:rPr spc="-35" dirty="0"/>
              <a:t> </a:t>
            </a:r>
            <a:r>
              <a:rPr spc="-5" dirty="0"/>
              <a:t>49</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098165" algn="l"/>
              </a:tabLst>
            </a:pPr>
            <a:r>
              <a:rPr sz="600" spc="-5" dirty="0">
                <a:solidFill>
                  <a:srgbClr val="3333B2"/>
                </a:solidFill>
                <a:latin typeface="Arial"/>
                <a:cs typeface="Arial"/>
                <a:hlinkClick r:id="rId3" action="ppaction://hlinksldjump"/>
              </a:rPr>
              <a:t>Communication:</a:t>
            </a:r>
            <a:r>
              <a:rPr sz="600" spc="195" dirty="0">
                <a:solidFill>
                  <a:srgbClr val="3333B2"/>
                </a:solidFill>
                <a:latin typeface="Arial"/>
                <a:cs typeface="Arial"/>
              </a:rPr>
              <a:t> </a:t>
            </a:r>
            <a:r>
              <a:rPr sz="600" spc="-5" dirty="0">
                <a:solidFill>
                  <a:srgbClr val="3333B2"/>
                </a:solidFill>
                <a:latin typeface="Arial"/>
                <a:cs typeface="Arial"/>
                <a:hlinkClick r:id="rId4" action="ppaction://hlinksldjump"/>
              </a:rPr>
              <a:t>Message-oriented</a:t>
            </a:r>
            <a:r>
              <a:rPr sz="600" spc="2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Simple</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transient</a:t>
            </a:r>
            <a:r>
              <a:rPr sz="600" spc="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messaging</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with</a:t>
            </a:r>
            <a:r>
              <a:rPr sz="600"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sockets</a:t>
            </a:r>
            <a:endParaRPr sz="600">
              <a:latin typeface="Arial"/>
              <a:cs typeface="Arial"/>
            </a:endParaRPr>
          </a:p>
        </p:txBody>
      </p:sp>
      <p:sp>
        <p:nvSpPr>
          <p:cNvPr id="3" name="object 3"/>
          <p:cNvSpPr txBox="1">
            <a:spLocks noGrp="1"/>
          </p:cNvSpPr>
          <p:nvPr>
            <p:ph type="title"/>
          </p:nvPr>
        </p:nvSpPr>
        <p:spPr>
          <a:xfrm>
            <a:off x="95300" y="188846"/>
            <a:ext cx="1792605" cy="244475"/>
          </a:xfrm>
          <a:prstGeom prst="rect">
            <a:avLst/>
          </a:prstGeom>
        </p:spPr>
        <p:txBody>
          <a:bodyPr vert="horz" wrap="square" lIns="0" tIns="17145" rIns="0" bIns="0" rtlCol="0">
            <a:spAutoFit/>
          </a:bodyPr>
          <a:lstStyle/>
          <a:p>
            <a:pPr marL="12700">
              <a:lnSpc>
                <a:spcPct val="100000"/>
              </a:lnSpc>
              <a:spcBef>
                <a:spcPts val="135"/>
              </a:spcBef>
            </a:pPr>
            <a:r>
              <a:rPr spc="5" dirty="0"/>
              <a:t>Sockets:</a:t>
            </a:r>
            <a:r>
              <a:rPr spc="80" dirty="0"/>
              <a:t> </a:t>
            </a:r>
            <a:r>
              <a:rPr spc="15" dirty="0"/>
              <a:t>Python</a:t>
            </a:r>
            <a:r>
              <a:rPr spc="-10" dirty="0"/>
              <a:t> </a:t>
            </a:r>
            <a:r>
              <a:rPr spc="15" dirty="0"/>
              <a:t>code</a:t>
            </a:r>
          </a:p>
        </p:txBody>
      </p:sp>
      <p:sp>
        <p:nvSpPr>
          <p:cNvPr id="4" name="object 4"/>
          <p:cNvSpPr txBox="1"/>
          <p:nvPr/>
        </p:nvSpPr>
        <p:spPr>
          <a:xfrm>
            <a:off x="321894" y="590814"/>
            <a:ext cx="3450590" cy="857885"/>
          </a:xfrm>
          <a:prstGeom prst="rect">
            <a:avLst/>
          </a:prstGeom>
        </p:spPr>
        <p:txBody>
          <a:bodyPr vert="horz" wrap="square" lIns="0" tIns="12065" rIns="0" bIns="0" rtlCol="0">
            <a:spAutoFit/>
          </a:bodyPr>
          <a:lstStyle/>
          <a:p>
            <a:pPr marL="38100">
              <a:lnSpc>
                <a:spcPts val="1390"/>
              </a:lnSpc>
              <a:spcBef>
                <a:spcPts val="95"/>
              </a:spcBef>
            </a:pPr>
            <a:r>
              <a:rPr sz="1200" spc="-5" dirty="0">
                <a:solidFill>
                  <a:srgbClr val="3333B2"/>
                </a:solidFill>
                <a:latin typeface="Arial"/>
                <a:cs typeface="Arial"/>
              </a:rPr>
              <a:t>Server</a:t>
            </a:r>
            <a:endParaRPr sz="1200">
              <a:latin typeface="Arial"/>
              <a:cs typeface="Arial"/>
            </a:endParaRPr>
          </a:p>
          <a:p>
            <a:pPr marL="42545">
              <a:lnSpc>
                <a:spcPts val="855"/>
              </a:lnSpc>
            </a:pPr>
            <a:r>
              <a:rPr sz="600" spc="55" dirty="0">
                <a:latin typeface="Times New Roman"/>
                <a:cs typeface="Times New Roman"/>
              </a:rPr>
              <a:t>1 </a:t>
            </a:r>
            <a:r>
              <a:rPr sz="600" spc="160" dirty="0">
                <a:latin typeface="Times New Roman"/>
                <a:cs typeface="Times New Roman"/>
              </a:rPr>
              <a:t> </a:t>
            </a:r>
            <a:r>
              <a:rPr sz="800" b="1" spc="5" dirty="0">
                <a:solidFill>
                  <a:srgbClr val="FF0059"/>
                </a:solidFill>
                <a:latin typeface="Times New Roman"/>
                <a:cs typeface="Times New Roman"/>
              </a:rPr>
              <a:t>from</a:t>
            </a:r>
            <a:r>
              <a:rPr sz="800" b="1" spc="60" dirty="0">
                <a:solidFill>
                  <a:srgbClr val="FF0059"/>
                </a:solidFill>
                <a:latin typeface="Times New Roman"/>
                <a:cs typeface="Times New Roman"/>
              </a:rPr>
              <a:t> </a:t>
            </a:r>
            <a:r>
              <a:rPr sz="800" spc="75" dirty="0">
                <a:latin typeface="Times New Roman"/>
                <a:cs typeface="Times New Roman"/>
              </a:rPr>
              <a:t>socket </a:t>
            </a:r>
            <a:r>
              <a:rPr sz="800" spc="170" dirty="0">
                <a:latin typeface="Times New Roman"/>
                <a:cs typeface="Times New Roman"/>
              </a:rPr>
              <a:t> </a:t>
            </a:r>
            <a:r>
              <a:rPr sz="800" b="1" spc="25" dirty="0">
                <a:solidFill>
                  <a:srgbClr val="FF0059"/>
                </a:solidFill>
                <a:latin typeface="Times New Roman"/>
                <a:cs typeface="Times New Roman"/>
              </a:rPr>
              <a:t>import</a:t>
            </a:r>
            <a:r>
              <a:rPr sz="800" b="1" spc="85" dirty="0">
                <a:solidFill>
                  <a:srgbClr val="FF0059"/>
                </a:solidFill>
                <a:latin typeface="Times New Roman"/>
                <a:cs typeface="Times New Roman"/>
              </a:rPr>
              <a:t> </a:t>
            </a:r>
            <a:r>
              <a:rPr sz="1200" spc="112" baseline="-10416" dirty="0">
                <a:latin typeface="Times New Roman"/>
                <a:cs typeface="Times New Roman"/>
              </a:rPr>
              <a:t>*</a:t>
            </a:r>
            <a:endParaRPr sz="1200" baseline="-10416">
              <a:latin typeface="Times New Roman"/>
              <a:cs typeface="Times New Roman"/>
            </a:endParaRPr>
          </a:p>
          <a:p>
            <a:pPr marL="42545">
              <a:lnSpc>
                <a:spcPts val="850"/>
              </a:lnSpc>
            </a:pPr>
            <a:r>
              <a:rPr sz="600" spc="55" dirty="0">
                <a:latin typeface="Times New Roman"/>
                <a:cs typeface="Times New Roman"/>
              </a:rPr>
              <a:t>2 </a:t>
            </a:r>
            <a:r>
              <a:rPr sz="600" spc="200" dirty="0">
                <a:latin typeface="Times New Roman"/>
                <a:cs typeface="Times New Roman"/>
              </a:rPr>
              <a:t> </a:t>
            </a:r>
            <a:r>
              <a:rPr sz="800" spc="165" dirty="0">
                <a:latin typeface="Times New Roman"/>
                <a:cs typeface="Times New Roman"/>
              </a:rPr>
              <a:t>s</a:t>
            </a:r>
            <a:r>
              <a:rPr sz="800" spc="12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15" dirty="0">
                <a:latin typeface="Times New Roman"/>
                <a:cs typeface="Times New Roman"/>
              </a:rPr>
              <a:t>socket(AF_INET,</a:t>
            </a:r>
            <a:r>
              <a:rPr sz="800" spc="85" dirty="0">
                <a:latin typeface="Times New Roman"/>
                <a:cs typeface="Times New Roman"/>
              </a:rPr>
              <a:t> </a:t>
            </a:r>
            <a:r>
              <a:rPr sz="800" spc="-100" dirty="0">
                <a:latin typeface="Times New Roman"/>
                <a:cs typeface="Times New Roman"/>
              </a:rPr>
              <a:t>SOCK_STREAM)</a:t>
            </a:r>
            <a:endParaRPr sz="800">
              <a:latin typeface="Times New Roman"/>
              <a:cs typeface="Times New Roman"/>
            </a:endParaRPr>
          </a:p>
          <a:p>
            <a:pPr marL="42545">
              <a:lnSpc>
                <a:spcPts val="850"/>
              </a:lnSpc>
            </a:pPr>
            <a:r>
              <a:rPr sz="600" spc="55" dirty="0">
                <a:latin typeface="Times New Roman"/>
                <a:cs typeface="Times New Roman"/>
              </a:rPr>
              <a:t>3 </a:t>
            </a:r>
            <a:r>
              <a:rPr sz="600" spc="165" dirty="0">
                <a:latin typeface="Times New Roman"/>
                <a:cs typeface="Times New Roman"/>
              </a:rPr>
              <a:t> </a:t>
            </a:r>
            <a:r>
              <a:rPr sz="800" spc="35" dirty="0">
                <a:latin typeface="Times New Roman"/>
                <a:cs typeface="Times New Roman"/>
              </a:rPr>
              <a:t>s.bind((HOST,</a:t>
            </a:r>
            <a:r>
              <a:rPr sz="800" spc="75" dirty="0">
                <a:latin typeface="Times New Roman"/>
                <a:cs typeface="Times New Roman"/>
              </a:rPr>
              <a:t> </a:t>
            </a:r>
            <a:r>
              <a:rPr sz="800" spc="-15" dirty="0">
                <a:latin typeface="Times New Roman"/>
                <a:cs typeface="Times New Roman"/>
              </a:rPr>
              <a:t>PORT))</a:t>
            </a:r>
            <a:endParaRPr sz="800">
              <a:latin typeface="Times New Roman"/>
              <a:cs typeface="Times New Roman"/>
            </a:endParaRPr>
          </a:p>
          <a:p>
            <a:pPr marL="42545">
              <a:lnSpc>
                <a:spcPts val="850"/>
              </a:lnSpc>
            </a:pPr>
            <a:r>
              <a:rPr sz="600" spc="55" dirty="0">
                <a:latin typeface="Times New Roman"/>
                <a:cs typeface="Times New Roman"/>
              </a:rPr>
              <a:t>4 </a:t>
            </a:r>
            <a:r>
              <a:rPr sz="600" spc="145" dirty="0">
                <a:latin typeface="Times New Roman"/>
                <a:cs typeface="Times New Roman"/>
              </a:rPr>
              <a:t> </a:t>
            </a:r>
            <a:r>
              <a:rPr sz="800" spc="114" dirty="0">
                <a:latin typeface="Times New Roman"/>
                <a:cs typeface="Times New Roman"/>
              </a:rPr>
              <a:t>s.listen(1)</a:t>
            </a:r>
            <a:endParaRPr sz="800">
              <a:latin typeface="Times New Roman"/>
              <a:cs typeface="Times New Roman"/>
            </a:endParaRPr>
          </a:p>
          <a:p>
            <a:pPr marL="42545">
              <a:lnSpc>
                <a:spcPts val="850"/>
              </a:lnSpc>
            </a:pPr>
            <a:r>
              <a:rPr sz="600" spc="55" dirty="0">
                <a:latin typeface="Times New Roman"/>
                <a:cs typeface="Times New Roman"/>
              </a:rPr>
              <a:t>5 </a:t>
            </a:r>
            <a:r>
              <a:rPr sz="600" spc="200" dirty="0">
                <a:latin typeface="Times New Roman"/>
                <a:cs typeface="Times New Roman"/>
              </a:rPr>
              <a:t> </a:t>
            </a:r>
            <a:r>
              <a:rPr sz="800" spc="70" dirty="0">
                <a:latin typeface="Times New Roman"/>
                <a:cs typeface="Times New Roman"/>
              </a:rPr>
              <a:t>(conn,</a:t>
            </a:r>
            <a:r>
              <a:rPr sz="800" spc="90" dirty="0">
                <a:latin typeface="Times New Roman"/>
                <a:cs typeface="Times New Roman"/>
              </a:rPr>
              <a:t> </a:t>
            </a:r>
            <a:r>
              <a:rPr sz="800" spc="80" dirty="0">
                <a:latin typeface="Times New Roman"/>
                <a:cs typeface="Times New Roman"/>
              </a:rPr>
              <a:t>addr)</a:t>
            </a:r>
            <a:r>
              <a:rPr sz="800" spc="120" dirty="0">
                <a:latin typeface="Times New Roman"/>
                <a:cs typeface="Times New Roman"/>
              </a:rPr>
              <a:t> </a:t>
            </a:r>
            <a:r>
              <a:rPr sz="800" spc="25" dirty="0">
                <a:latin typeface="Times New Roman"/>
                <a:cs typeface="Times New Roman"/>
              </a:rPr>
              <a:t>=</a:t>
            </a:r>
            <a:r>
              <a:rPr sz="800" spc="114" dirty="0">
                <a:latin typeface="Times New Roman"/>
                <a:cs typeface="Times New Roman"/>
              </a:rPr>
              <a:t> </a:t>
            </a:r>
            <a:r>
              <a:rPr sz="800" spc="95" dirty="0">
                <a:latin typeface="Times New Roman"/>
                <a:cs typeface="Times New Roman"/>
              </a:rPr>
              <a:t>s.accept() </a:t>
            </a:r>
            <a:r>
              <a:rPr sz="800" spc="210" dirty="0">
                <a:latin typeface="Times New Roman"/>
                <a:cs typeface="Times New Roman"/>
              </a:rPr>
              <a:t> </a:t>
            </a: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returns</a:t>
            </a:r>
            <a:r>
              <a:rPr sz="800" i="1" spc="65" dirty="0">
                <a:solidFill>
                  <a:srgbClr val="009600"/>
                </a:solidFill>
                <a:latin typeface="Times New Roman"/>
                <a:cs typeface="Times New Roman"/>
              </a:rPr>
              <a:t> </a:t>
            </a:r>
            <a:r>
              <a:rPr sz="800" i="1" spc="5" dirty="0">
                <a:solidFill>
                  <a:srgbClr val="009600"/>
                </a:solidFill>
                <a:latin typeface="Times New Roman"/>
                <a:cs typeface="Times New Roman"/>
              </a:rPr>
              <a:t>new</a:t>
            </a:r>
            <a:r>
              <a:rPr sz="800" i="1" spc="70" dirty="0">
                <a:solidFill>
                  <a:srgbClr val="009600"/>
                </a:solidFill>
                <a:latin typeface="Times New Roman"/>
                <a:cs typeface="Times New Roman"/>
              </a:rPr>
              <a:t> </a:t>
            </a:r>
            <a:r>
              <a:rPr sz="800" i="1" spc="85" dirty="0">
                <a:solidFill>
                  <a:srgbClr val="009600"/>
                </a:solidFill>
                <a:latin typeface="Times New Roman"/>
                <a:cs typeface="Times New Roman"/>
              </a:rPr>
              <a:t>socket</a:t>
            </a:r>
            <a:r>
              <a:rPr sz="800" i="1" spc="75" dirty="0">
                <a:solidFill>
                  <a:srgbClr val="009600"/>
                </a:solidFill>
                <a:latin typeface="Times New Roman"/>
                <a:cs typeface="Times New Roman"/>
              </a:rPr>
              <a:t> </a:t>
            </a:r>
            <a:r>
              <a:rPr sz="800" i="1" spc="35" dirty="0">
                <a:solidFill>
                  <a:srgbClr val="009600"/>
                </a:solidFill>
                <a:latin typeface="Times New Roman"/>
                <a:cs typeface="Times New Roman"/>
              </a:rPr>
              <a:t>and</a:t>
            </a:r>
            <a:r>
              <a:rPr sz="800" i="1" spc="75" dirty="0">
                <a:solidFill>
                  <a:srgbClr val="009600"/>
                </a:solidFill>
                <a:latin typeface="Times New Roman"/>
                <a:cs typeface="Times New Roman"/>
              </a:rPr>
              <a:t> addr.</a:t>
            </a:r>
            <a:r>
              <a:rPr sz="800" i="1" spc="90" dirty="0">
                <a:solidFill>
                  <a:srgbClr val="009600"/>
                </a:solidFill>
                <a:latin typeface="Times New Roman"/>
                <a:cs typeface="Times New Roman"/>
              </a:rPr>
              <a:t> </a:t>
            </a:r>
            <a:r>
              <a:rPr sz="800" i="1" spc="120" dirty="0">
                <a:solidFill>
                  <a:srgbClr val="009600"/>
                </a:solidFill>
                <a:latin typeface="Times New Roman"/>
                <a:cs typeface="Times New Roman"/>
              </a:rPr>
              <a:t>client</a:t>
            </a:r>
            <a:endParaRPr sz="800">
              <a:latin typeface="Times New Roman"/>
              <a:cs typeface="Times New Roman"/>
            </a:endParaRPr>
          </a:p>
          <a:p>
            <a:pPr marL="42545">
              <a:lnSpc>
                <a:spcPts val="905"/>
              </a:lnSpc>
              <a:tabLst>
                <a:tab pos="1525905" algn="l"/>
              </a:tabLst>
            </a:pPr>
            <a:r>
              <a:rPr sz="600" spc="55" dirty="0">
                <a:latin typeface="Times New Roman"/>
                <a:cs typeface="Times New Roman"/>
              </a:rPr>
              <a:t>6 </a:t>
            </a:r>
            <a:r>
              <a:rPr sz="600" spc="185" dirty="0">
                <a:latin typeface="Times New Roman"/>
                <a:cs typeface="Times New Roman"/>
              </a:rPr>
              <a:t> </a:t>
            </a:r>
            <a:r>
              <a:rPr sz="800" b="1" spc="55" dirty="0">
                <a:solidFill>
                  <a:srgbClr val="FF0059"/>
                </a:solidFill>
                <a:latin typeface="Times New Roman"/>
                <a:cs typeface="Times New Roman"/>
              </a:rPr>
              <a:t>while</a:t>
            </a:r>
            <a:r>
              <a:rPr sz="800" b="1" spc="70" dirty="0">
                <a:solidFill>
                  <a:srgbClr val="FF0059"/>
                </a:solidFill>
                <a:latin typeface="Times New Roman"/>
                <a:cs typeface="Times New Roman"/>
              </a:rPr>
              <a:t> </a:t>
            </a:r>
            <a:r>
              <a:rPr sz="800" spc="70" dirty="0">
                <a:latin typeface="Times New Roman"/>
                <a:cs typeface="Times New Roman"/>
              </a:rPr>
              <a:t>True:	</a:t>
            </a:r>
            <a:r>
              <a:rPr sz="800" i="1" spc="75" dirty="0">
                <a:solidFill>
                  <a:srgbClr val="009600"/>
                </a:solidFill>
                <a:latin typeface="Times New Roman"/>
                <a:cs typeface="Times New Roman"/>
              </a:rPr>
              <a:t>#</a:t>
            </a:r>
            <a:r>
              <a:rPr sz="800" i="1" spc="30" dirty="0">
                <a:solidFill>
                  <a:srgbClr val="009600"/>
                </a:solidFill>
                <a:latin typeface="Times New Roman"/>
                <a:cs typeface="Times New Roman"/>
              </a:rPr>
              <a:t> </a:t>
            </a:r>
            <a:r>
              <a:rPr sz="800" i="1" spc="85" dirty="0">
                <a:solidFill>
                  <a:srgbClr val="009600"/>
                </a:solidFill>
                <a:latin typeface="Times New Roman"/>
                <a:cs typeface="Times New Roman"/>
              </a:rPr>
              <a:t>forever</a:t>
            </a:r>
            <a:endParaRPr sz="800">
              <a:latin typeface="Times New Roman"/>
              <a:cs typeface="Times New Roman"/>
            </a:endParaRPr>
          </a:p>
        </p:txBody>
      </p:sp>
      <p:sp>
        <p:nvSpPr>
          <p:cNvPr id="5" name="object 5"/>
          <p:cNvSpPr txBox="1"/>
          <p:nvPr/>
        </p:nvSpPr>
        <p:spPr>
          <a:xfrm>
            <a:off x="566953" y="1409940"/>
            <a:ext cx="2623820" cy="147320"/>
          </a:xfrm>
          <a:prstGeom prst="rect">
            <a:avLst/>
          </a:prstGeom>
        </p:spPr>
        <p:txBody>
          <a:bodyPr vert="horz" wrap="square" lIns="0" tIns="12065" rIns="0" bIns="0" rtlCol="0">
            <a:spAutoFit/>
          </a:bodyPr>
          <a:lstStyle/>
          <a:p>
            <a:pPr marL="12700">
              <a:lnSpc>
                <a:spcPct val="100000"/>
              </a:lnSpc>
              <a:spcBef>
                <a:spcPts val="95"/>
              </a:spcBef>
              <a:tabLst>
                <a:tab pos="1280795" algn="l"/>
              </a:tabLst>
            </a:pPr>
            <a:r>
              <a:rPr sz="800" spc="95" dirty="0">
                <a:latin typeface="Times New Roman"/>
                <a:cs typeface="Times New Roman"/>
              </a:rPr>
              <a:t>data</a:t>
            </a:r>
            <a:r>
              <a:rPr sz="800" spc="110" dirty="0">
                <a:latin typeface="Times New Roman"/>
                <a:cs typeface="Times New Roman"/>
              </a:rPr>
              <a:t> </a:t>
            </a:r>
            <a:r>
              <a:rPr sz="800" spc="25" dirty="0">
                <a:latin typeface="Times New Roman"/>
                <a:cs typeface="Times New Roman"/>
              </a:rPr>
              <a:t>=</a:t>
            </a:r>
            <a:r>
              <a:rPr sz="800" spc="114" dirty="0">
                <a:latin typeface="Times New Roman"/>
                <a:cs typeface="Times New Roman"/>
              </a:rPr>
              <a:t> </a:t>
            </a:r>
            <a:r>
              <a:rPr sz="800" spc="50" dirty="0">
                <a:latin typeface="Times New Roman"/>
                <a:cs typeface="Times New Roman"/>
              </a:rPr>
              <a:t>conn.recv(1024)	</a:t>
            </a:r>
            <a:r>
              <a:rPr sz="800" i="1" spc="75" dirty="0">
                <a:solidFill>
                  <a:srgbClr val="009600"/>
                </a:solidFill>
                <a:latin typeface="Times New Roman"/>
                <a:cs typeface="Times New Roman"/>
              </a:rPr>
              <a:t># </a:t>
            </a:r>
            <a:r>
              <a:rPr sz="800" i="1" spc="85" dirty="0">
                <a:solidFill>
                  <a:srgbClr val="009600"/>
                </a:solidFill>
                <a:latin typeface="Times New Roman"/>
                <a:cs typeface="Times New Roman"/>
              </a:rPr>
              <a:t>receive</a:t>
            </a:r>
            <a:r>
              <a:rPr sz="800" i="1" spc="50" dirty="0">
                <a:solidFill>
                  <a:srgbClr val="009600"/>
                </a:solidFill>
                <a:latin typeface="Times New Roman"/>
                <a:cs typeface="Times New Roman"/>
              </a:rPr>
              <a:t> </a:t>
            </a:r>
            <a:r>
              <a:rPr sz="800" i="1" spc="70" dirty="0">
                <a:solidFill>
                  <a:srgbClr val="009600"/>
                </a:solidFill>
                <a:latin typeface="Times New Roman"/>
                <a:cs typeface="Times New Roman"/>
              </a:rPr>
              <a:t>data</a:t>
            </a:r>
            <a:r>
              <a:rPr sz="800" i="1" spc="60" dirty="0">
                <a:solidFill>
                  <a:srgbClr val="009600"/>
                </a:solidFill>
                <a:latin typeface="Times New Roman"/>
                <a:cs typeface="Times New Roman"/>
              </a:rPr>
              <a:t> </a:t>
            </a:r>
            <a:r>
              <a:rPr sz="800" i="1" spc="50" dirty="0">
                <a:solidFill>
                  <a:srgbClr val="009600"/>
                </a:solidFill>
                <a:latin typeface="Times New Roman"/>
                <a:cs typeface="Times New Roman"/>
              </a:rPr>
              <a:t>from</a:t>
            </a:r>
            <a:r>
              <a:rPr sz="800" i="1" spc="55" dirty="0">
                <a:solidFill>
                  <a:srgbClr val="009600"/>
                </a:solidFill>
                <a:latin typeface="Times New Roman"/>
                <a:cs typeface="Times New Roman"/>
              </a:rPr>
              <a:t> </a:t>
            </a:r>
            <a:r>
              <a:rPr sz="800" i="1" spc="120" dirty="0">
                <a:solidFill>
                  <a:srgbClr val="009600"/>
                </a:solidFill>
                <a:latin typeface="Times New Roman"/>
                <a:cs typeface="Times New Roman"/>
              </a:rPr>
              <a:t>client</a:t>
            </a:r>
            <a:endParaRPr sz="800">
              <a:latin typeface="Times New Roman"/>
              <a:cs typeface="Times New Roman"/>
            </a:endParaRPr>
          </a:p>
        </p:txBody>
      </p:sp>
      <p:sp>
        <p:nvSpPr>
          <p:cNvPr id="6" name="object 6"/>
          <p:cNvSpPr txBox="1"/>
          <p:nvPr/>
        </p:nvSpPr>
        <p:spPr>
          <a:xfrm>
            <a:off x="314261" y="1435244"/>
            <a:ext cx="3128645" cy="338455"/>
          </a:xfrm>
          <a:prstGeom prst="rect">
            <a:avLst/>
          </a:prstGeom>
        </p:spPr>
        <p:txBody>
          <a:bodyPr vert="horz" wrap="square" lIns="0" tIns="12065" rIns="0" bIns="0" rtlCol="0">
            <a:spAutoFit/>
          </a:bodyPr>
          <a:lstStyle/>
          <a:p>
            <a:pPr marL="50800">
              <a:lnSpc>
                <a:spcPts val="685"/>
              </a:lnSpc>
              <a:spcBef>
                <a:spcPts val="95"/>
              </a:spcBef>
            </a:pPr>
            <a:r>
              <a:rPr sz="600" spc="55" dirty="0">
                <a:latin typeface="Times New Roman"/>
                <a:cs typeface="Times New Roman"/>
              </a:rPr>
              <a:t>7</a:t>
            </a:r>
            <a:endParaRPr sz="600">
              <a:latin typeface="Times New Roman"/>
              <a:cs typeface="Times New Roman"/>
            </a:endParaRPr>
          </a:p>
          <a:p>
            <a:pPr marL="50800">
              <a:lnSpc>
                <a:spcPts val="869"/>
              </a:lnSpc>
              <a:tabLst>
                <a:tab pos="266065" algn="l"/>
                <a:tab pos="1533525" algn="l"/>
              </a:tabLst>
            </a:pPr>
            <a:r>
              <a:rPr sz="600" spc="55" dirty="0">
                <a:latin typeface="Times New Roman"/>
                <a:cs typeface="Times New Roman"/>
              </a:rPr>
              <a:t>8	</a:t>
            </a:r>
            <a:r>
              <a:rPr sz="800" b="1" spc="204" dirty="0">
                <a:solidFill>
                  <a:srgbClr val="FF0059"/>
                </a:solidFill>
                <a:latin typeface="Times New Roman"/>
                <a:cs typeface="Times New Roman"/>
              </a:rPr>
              <a:t>if</a:t>
            </a:r>
            <a:r>
              <a:rPr sz="800" b="1" spc="90" dirty="0">
                <a:solidFill>
                  <a:srgbClr val="FF0059"/>
                </a:solidFill>
                <a:latin typeface="Times New Roman"/>
                <a:cs typeface="Times New Roman"/>
              </a:rPr>
              <a:t> </a:t>
            </a:r>
            <a:r>
              <a:rPr sz="800" b="1" spc="65" dirty="0">
                <a:solidFill>
                  <a:srgbClr val="FF0059"/>
                </a:solidFill>
                <a:latin typeface="Times New Roman"/>
                <a:cs typeface="Times New Roman"/>
              </a:rPr>
              <a:t>not</a:t>
            </a:r>
            <a:r>
              <a:rPr sz="800" b="1" spc="75" dirty="0">
                <a:solidFill>
                  <a:srgbClr val="FF0059"/>
                </a:solidFill>
                <a:latin typeface="Times New Roman"/>
                <a:cs typeface="Times New Roman"/>
              </a:rPr>
              <a:t> </a:t>
            </a:r>
            <a:r>
              <a:rPr sz="800" spc="105" dirty="0">
                <a:latin typeface="Times New Roman"/>
                <a:cs typeface="Times New Roman"/>
              </a:rPr>
              <a:t>data:</a:t>
            </a:r>
            <a:r>
              <a:rPr sz="800" spc="100" dirty="0">
                <a:latin typeface="Times New Roman"/>
                <a:cs typeface="Times New Roman"/>
              </a:rPr>
              <a:t> </a:t>
            </a:r>
            <a:r>
              <a:rPr sz="800" b="1" spc="20" dirty="0">
                <a:solidFill>
                  <a:srgbClr val="FF0059"/>
                </a:solidFill>
                <a:latin typeface="Times New Roman"/>
                <a:cs typeface="Times New Roman"/>
              </a:rPr>
              <a:t>break	</a:t>
            </a:r>
            <a:r>
              <a:rPr sz="800" i="1" spc="75" dirty="0">
                <a:solidFill>
                  <a:srgbClr val="009600"/>
                </a:solidFill>
                <a:latin typeface="Times New Roman"/>
                <a:cs typeface="Times New Roman"/>
              </a:rPr>
              <a:t># </a:t>
            </a:r>
            <a:r>
              <a:rPr sz="800" i="1" spc="95" dirty="0">
                <a:solidFill>
                  <a:srgbClr val="009600"/>
                </a:solidFill>
                <a:latin typeface="Times New Roman"/>
                <a:cs typeface="Times New Roman"/>
              </a:rPr>
              <a:t>stop</a:t>
            </a:r>
            <a:r>
              <a:rPr sz="800" i="1" spc="70" dirty="0">
                <a:solidFill>
                  <a:srgbClr val="009600"/>
                </a:solidFill>
                <a:latin typeface="Times New Roman"/>
                <a:cs typeface="Times New Roman"/>
              </a:rPr>
              <a:t> </a:t>
            </a:r>
            <a:r>
              <a:rPr sz="800" i="1" spc="225" dirty="0">
                <a:solidFill>
                  <a:srgbClr val="009600"/>
                </a:solidFill>
                <a:latin typeface="Times New Roman"/>
                <a:cs typeface="Times New Roman"/>
              </a:rPr>
              <a:t>if</a:t>
            </a:r>
            <a:r>
              <a:rPr sz="800" i="1" spc="60" dirty="0">
                <a:solidFill>
                  <a:srgbClr val="009600"/>
                </a:solidFill>
                <a:latin typeface="Times New Roman"/>
                <a:cs typeface="Times New Roman"/>
              </a:rPr>
              <a:t> </a:t>
            </a:r>
            <a:r>
              <a:rPr sz="800" i="1" spc="120" dirty="0">
                <a:solidFill>
                  <a:srgbClr val="009600"/>
                </a:solidFill>
                <a:latin typeface="Times New Roman"/>
                <a:cs typeface="Times New Roman"/>
              </a:rPr>
              <a:t>client</a:t>
            </a:r>
            <a:r>
              <a:rPr sz="800" i="1" spc="50" dirty="0">
                <a:solidFill>
                  <a:srgbClr val="009600"/>
                </a:solidFill>
                <a:latin typeface="Times New Roman"/>
                <a:cs typeface="Times New Roman"/>
              </a:rPr>
              <a:t> </a:t>
            </a:r>
            <a:r>
              <a:rPr sz="800" i="1" spc="60" dirty="0">
                <a:solidFill>
                  <a:srgbClr val="009600"/>
                </a:solidFill>
                <a:latin typeface="Times New Roman"/>
                <a:cs typeface="Times New Roman"/>
              </a:rPr>
              <a:t>stopped</a:t>
            </a:r>
            <a:endParaRPr sz="800">
              <a:latin typeface="Times New Roman"/>
              <a:cs typeface="Times New Roman"/>
            </a:endParaRPr>
          </a:p>
          <a:p>
            <a:pPr marL="50800">
              <a:lnSpc>
                <a:spcPts val="905"/>
              </a:lnSpc>
              <a:tabLst>
                <a:tab pos="264795" algn="l"/>
              </a:tabLst>
            </a:pPr>
            <a:r>
              <a:rPr sz="600" spc="55" dirty="0">
                <a:latin typeface="Times New Roman"/>
                <a:cs typeface="Times New Roman"/>
              </a:rPr>
              <a:t>9	</a:t>
            </a:r>
            <a:r>
              <a:rPr sz="800" spc="65" dirty="0">
                <a:latin typeface="Times New Roman"/>
                <a:cs typeface="Times New Roman"/>
              </a:rPr>
              <a:t>conn.send(</a:t>
            </a:r>
            <a:r>
              <a:rPr sz="800" b="1" spc="65" dirty="0">
                <a:solidFill>
                  <a:srgbClr val="FF0059"/>
                </a:solidFill>
                <a:latin typeface="Times New Roman"/>
                <a:cs typeface="Times New Roman"/>
              </a:rPr>
              <a:t>str</a:t>
            </a:r>
            <a:r>
              <a:rPr sz="800" spc="65" dirty="0">
                <a:latin typeface="Times New Roman"/>
                <a:cs typeface="Times New Roman"/>
              </a:rPr>
              <a:t>(data)+</a:t>
            </a:r>
            <a:r>
              <a:rPr sz="800" spc="65" dirty="0">
                <a:solidFill>
                  <a:srgbClr val="FA0000"/>
                </a:solidFill>
                <a:latin typeface="Times New Roman"/>
                <a:cs typeface="Times New Roman"/>
              </a:rPr>
              <a:t>"</a:t>
            </a:r>
            <a:r>
              <a:rPr sz="1200" spc="97" baseline="-10416" dirty="0">
                <a:solidFill>
                  <a:srgbClr val="FA0000"/>
                </a:solidFill>
                <a:latin typeface="Times New Roman"/>
                <a:cs typeface="Times New Roman"/>
              </a:rPr>
              <a:t>*</a:t>
            </a:r>
            <a:r>
              <a:rPr sz="800" spc="65" dirty="0">
                <a:solidFill>
                  <a:srgbClr val="FA0000"/>
                </a:solidFill>
                <a:latin typeface="Times New Roman"/>
                <a:cs typeface="Times New Roman"/>
              </a:rPr>
              <a:t>"</a:t>
            </a:r>
            <a:r>
              <a:rPr sz="800" spc="65" dirty="0">
                <a:latin typeface="Times New Roman"/>
                <a:cs typeface="Times New Roman"/>
              </a:rPr>
              <a:t>)</a:t>
            </a:r>
            <a:r>
              <a:rPr sz="800" spc="110" dirty="0">
                <a:latin typeface="Times New Roman"/>
                <a:cs typeface="Times New Roman"/>
              </a:rPr>
              <a:t> </a:t>
            </a: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return</a:t>
            </a:r>
            <a:r>
              <a:rPr sz="800" i="1" spc="60" dirty="0">
                <a:solidFill>
                  <a:srgbClr val="009600"/>
                </a:solidFill>
                <a:latin typeface="Times New Roman"/>
                <a:cs typeface="Times New Roman"/>
              </a:rPr>
              <a:t> </a:t>
            </a:r>
            <a:r>
              <a:rPr sz="800" i="1" spc="105" dirty="0">
                <a:solidFill>
                  <a:srgbClr val="009600"/>
                </a:solidFill>
                <a:latin typeface="Times New Roman"/>
                <a:cs typeface="Times New Roman"/>
              </a:rPr>
              <a:t>sent</a:t>
            </a:r>
            <a:r>
              <a:rPr sz="800" i="1" spc="65" dirty="0">
                <a:solidFill>
                  <a:srgbClr val="009600"/>
                </a:solidFill>
                <a:latin typeface="Times New Roman"/>
                <a:cs typeface="Times New Roman"/>
              </a:rPr>
              <a:t> </a:t>
            </a:r>
            <a:r>
              <a:rPr sz="800" i="1" spc="70" dirty="0">
                <a:solidFill>
                  <a:srgbClr val="009600"/>
                </a:solidFill>
                <a:latin typeface="Times New Roman"/>
                <a:cs typeface="Times New Roman"/>
              </a:rPr>
              <a:t>data </a:t>
            </a:r>
            <a:r>
              <a:rPr sz="800" i="1" spc="95" dirty="0">
                <a:solidFill>
                  <a:srgbClr val="009600"/>
                </a:solidFill>
                <a:latin typeface="Times New Roman"/>
                <a:cs typeface="Times New Roman"/>
              </a:rPr>
              <a:t>plus</a:t>
            </a:r>
            <a:r>
              <a:rPr sz="800" i="1" spc="75" dirty="0">
                <a:solidFill>
                  <a:srgbClr val="009600"/>
                </a:solidFill>
                <a:latin typeface="Times New Roman"/>
                <a:cs typeface="Times New Roman"/>
              </a:rPr>
              <a:t> </a:t>
            </a:r>
            <a:r>
              <a:rPr sz="800" i="1" spc="50" dirty="0">
                <a:solidFill>
                  <a:srgbClr val="009600"/>
                </a:solidFill>
                <a:latin typeface="Times New Roman"/>
                <a:cs typeface="Times New Roman"/>
              </a:rPr>
              <a:t>an</a:t>
            </a:r>
            <a:r>
              <a:rPr sz="800" i="1" spc="80" dirty="0">
                <a:solidFill>
                  <a:srgbClr val="009600"/>
                </a:solidFill>
                <a:latin typeface="Times New Roman"/>
                <a:cs typeface="Times New Roman"/>
              </a:rPr>
              <a:t> "</a:t>
            </a:r>
            <a:r>
              <a:rPr sz="1200" i="1" spc="120" baseline="-10416" dirty="0">
                <a:solidFill>
                  <a:srgbClr val="009600"/>
                </a:solidFill>
                <a:latin typeface="Times New Roman"/>
                <a:cs typeface="Times New Roman"/>
              </a:rPr>
              <a:t>*</a:t>
            </a:r>
            <a:r>
              <a:rPr sz="800" i="1" spc="80" dirty="0">
                <a:solidFill>
                  <a:srgbClr val="009600"/>
                </a:solidFill>
                <a:latin typeface="Times New Roman"/>
                <a:cs typeface="Times New Roman"/>
              </a:rPr>
              <a:t>"</a:t>
            </a:r>
            <a:endParaRPr sz="800">
              <a:latin typeface="Times New Roman"/>
              <a:cs typeface="Times New Roman"/>
            </a:endParaRPr>
          </a:p>
        </p:txBody>
      </p:sp>
      <p:sp>
        <p:nvSpPr>
          <p:cNvPr id="7" name="object 7"/>
          <p:cNvSpPr txBox="1"/>
          <p:nvPr/>
        </p:nvSpPr>
        <p:spPr>
          <a:xfrm>
            <a:off x="294106" y="1668607"/>
            <a:ext cx="3589020" cy="1036319"/>
          </a:xfrm>
          <a:prstGeom prst="rect">
            <a:avLst/>
          </a:prstGeom>
        </p:spPr>
        <p:txBody>
          <a:bodyPr vert="horz" wrap="square" lIns="0" tIns="78105" rIns="0" bIns="0" rtlCol="0">
            <a:spAutoFit/>
          </a:bodyPr>
          <a:lstStyle/>
          <a:p>
            <a:pPr marL="25400">
              <a:lnSpc>
                <a:spcPct val="100000"/>
              </a:lnSpc>
              <a:spcBef>
                <a:spcPts val="615"/>
              </a:spcBef>
              <a:tabLst>
                <a:tab pos="1553210" algn="l"/>
              </a:tabLst>
            </a:pPr>
            <a:r>
              <a:rPr sz="600" spc="55" dirty="0">
                <a:latin typeface="Times New Roman"/>
                <a:cs typeface="Times New Roman"/>
              </a:rPr>
              <a:t>10 </a:t>
            </a:r>
            <a:r>
              <a:rPr sz="600" spc="200" dirty="0">
                <a:latin typeface="Times New Roman"/>
                <a:cs typeface="Times New Roman"/>
              </a:rPr>
              <a:t> </a:t>
            </a:r>
            <a:r>
              <a:rPr sz="800" spc="75" dirty="0">
                <a:latin typeface="Times New Roman"/>
                <a:cs typeface="Times New Roman"/>
              </a:rPr>
              <a:t>conn.close()	</a:t>
            </a: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90" dirty="0">
                <a:solidFill>
                  <a:srgbClr val="009600"/>
                </a:solidFill>
                <a:latin typeface="Times New Roman"/>
                <a:cs typeface="Times New Roman"/>
              </a:rPr>
              <a:t>close</a:t>
            </a:r>
            <a:r>
              <a:rPr sz="800" i="1" spc="65" dirty="0">
                <a:solidFill>
                  <a:srgbClr val="009600"/>
                </a:solidFill>
                <a:latin typeface="Times New Roman"/>
                <a:cs typeface="Times New Roman"/>
              </a:rPr>
              <a:t> </a:t>
            </a:r>
            <a:r>
              <a:rPr sz="800" i="1" spc="110" dirty="0">
                <a:solidFill>
                  <a:srgbClr val="009600"/>
                </a:solidFill>
                <a:latin typeface="Times New Roman"/>
                <a:cs typeface="Times New Roman"/>
              </a:rPr>
              <a:t>the</a:t>
            </a:r>
            <a:r>
              <a:rPr sz="800" i="1" spc="60" dirty="0">
                <a:solidFill>
                  <a:srgbClr val="009600"/>
                </a:solidFill>
                <a:latin typeface="Times New Roman"/>
                <a:cs typeface="Times New Roman"/>
              </a:rPr>
              <a:t> </a:t>
            </a:r>
            <a:r>
              <a:rPr sz="800" i="1" spc="55" dirty="0">
                <a:solidFill>
                  <a:srgbClr val="009600"/>
                </a:solidFill>
                <a:latin typeface="Times New Roman"/>
                <a:cs typeface="Times New Roman"/>
              </a:rPr>
              <a:t>connection</a:t>
            </a:r>
            <a:endParaRPr sz="800">
              <a:latin typeface="Times New Roman"/>
              <a:cs typeface="Times New Roman"/>
            </a:endParaRPr>
          </a:p>
          <a:p>
            <a:pPr>
              <a:lnSpc>
                <a:spcPct val="100000"/>
              </a:lnSpc>
              <a:spcBef>
                <a:spcPts val="25"/>
              </a:spcBef>
            </a:pPr>
            <a:endParaRPr sz="650">
              <a:latin typeface="Times New Roman"/>
              <a:cs typeface="Times New Roman"/>
            </a:endParaRPr>
          </a:p>
          <a:p>
            <a:pPr marL="65405">
              <a:lnSpc>
                <a:spcPts val="1390"/>
              </a:lnSpc>
            </a:pPr>
            <a:r>
              <a:rPr sz="1200" spc="-5" dirty="0">
                <a:solidFill>
                  <a:srgbClr val="3333B2"/>
                </a:solidFill>
                <a:latin typeface="Arial"/>
                <a:cs typeface="Arial"/>
              </a:rPr>
              <a:t>Client</a:t>
            </a:r>
            <a:endParaRPr sz="1200">
              <a:latin typeface="Arial"/>
              <a:cs typeface="Arial"/>
            </a:endParaRPr>
          </a:p>
          <a:p>
            <a:pPr marL="70485">
              <a:lnSpc>
                <a:spcPts val="855"/>
              </a:lnSpc>
            </a:pPr>
            <a:r>
              <a:rPr sz="600" spc="55" dirty="0">
                <a:latin typeface="Times New Roman"/>
                <a:cs typeface="Times New Roman"/>
              </a:rPr>
              <a:t>1 </a:t>
            </a:r>
            <a:r>
              <a:rPr sz="600" spc="160" dirty="0">
                <a:latin typeface="Times New Roman"/>
                <a:cs typeface="Times New Roman"/>
              </a:rPr>
              <a:t> </a:t>
            </a:r>
            <a:r>
              <a:rPr sz="800" b="1" spc="5" dirty="0">
                <a:solidFill>
                  <a:srgbClr val="FF0059"/>
                </a:solidFill>
                <a:latin typeface="Times New Roman"/>
                <a:cs typeface="Times New Roman"/>
              </a:rPr>
              <a:t>from</a:t>
            </a:r>
            <a:r>
              <a:rPr sz="800" b="1" spc="60" dirty="0">
                <a:solidFill>
                  <a:srgbClr val="FF0059"/>
                </a:solidFill>
                <a:latin typeface="Times New Roman"/>
                <a:cs typeface="Times New Roman"/>
              </a:rPr>
              <a:t> </a:t>
            </a:r>
            <a:r>
              <a:rPr sz="800" spc="75" dirty="0">
                <a:latin typeface="Times New Roman"/>
                <a:cs typeface="Times New Roman"/>
              </a:rPr>
              <a:t>socket </a:t>
            </a:r>
            <a:r>
              <a:rPr sz="800" spc="170" dirty="0">
                <a:latin typeface="Times New Roman"/>
                <a:cs typeface="Times New Roman"/>
              </a:rPr>
              <a:t> </a:t>
            </a:r>
            <a:r>
              <a:rPr sz="800" b="1" spc="25" dirty="0">
                <a:solidFill>
                  <a:srgbClr val="FF0059"/>
                </a:solidFill>
                <a:latin typeface="Times New Roman"/>
                <a:cs typeface="Times New Roman"/>
              </a:rPr>
              <a:t>import</a:t>
            </a:r>
            <a:r>
              <a:rPr sz="800" b="1" spc="85" dirty="0">
                <a:solidFill>
                  <a:srgbClr val="FF0059"/>
                </a:solidFill>
                <a:latin typeface="Times New Roman"/>
                <a:cs typeface="Times New Roman"/>
              </a:rPr>
              <a:t> </a:t>
            </a:r>
            <a:r>
              <a:rPr sz="1200" spc="112" baseline="-10416" dirty="0">
                <a:latin typeface="Times New Roman"/>
                <a:cs typeface="Times New Roman"/>
              </a:rPr>
              <a:t>*</a:t>
            </a:r>
            <a:endParaRPr sz="1200" baseline="-10416">
              <a:latin typeface="Times New Roman"/>
              <a:cs typeface="Times New Roman"/>
            </a:endParaRPr>
          </a:p>
          <a:p>
            <a:pPr marL="70485">
              <a:lnSpc>
                <a:spcPts val="850"/>
              </a:lnSpc>
            </a:pPr>
            <a:r>
              <a:rPr sz="600" spc="55" dirty="0">
                <a:latin typeface="Times New Roman"/>
                <a:cs typeface="Times New Roman"/>
              </a:rPr>
              <a:t>2 </a:t>
            </a:r>
            <a:r>
              <a:rPr sz="600" spc="200" dirty="0">
                <a:latin typeface="Times New Roman"/>
                <a:cs typeface="Times New Roman"/>
              </a:rPr>
              <a:t> </a:t>
            </a:r>
            <a:r>
              <a:rPr sz="800" spc="165" dirty="0">
                <a:latin typeface="Times New Roman"/>
                <a:cs typeface="Times New Roman"/>
              </a:rPr>
              <a:t>s</a:t>
            </a:r>
            <a:r>
              <a:rPr sz="800" spc="12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15" dirty="0">
                <a:latin typeface="Times New Roman"/>
                <a:cs typeface="Times New Roman"/>
              </a:rPr>
              <a:t>socket(AF_INET,</a:t>
            </a:r>
            <a:r>
              <a:rPr sz="800" spc="85" dirty="0">
                <a:latin typeface="Times New Roman"/>
                <a:cs typeface="Times New Roman"/>
              </a:rPr>
              <a:t> </a:t>
            </a:r>
            <a:r>
              <a:rPr sz="800" spc="-100" dirty="0">
                <a:latin typeface="Times New Roman"/>
                <a:cs typeface="Times New Roman"/>
              </a:rPr>
              <a:t>SOCK_STREAM)</a:t>
            </a:r>
            <a:endParaRPr sz="800">
              <a:latin typeface="Times New Roman"/>
              <a:cs typeface="Times New Roman"/>
            </a:endParaRPr>
          </a:p>
          <a:p>
            <a:pPr marL="70485">
              <a:lnSpc>
                <a:spcPts val="850"/>
              </a:lnSpc>
            </a:pPr>
            <a:r>
              <a:rPr sz="600" spc="55" dirty="0">
                <a:latin typeface="Times New Roman"/>
                <a:cs typeface="Times New Roman"/>
              </a:rPr>
              <a:t>3 </a:t>
            </a:r>
            <a:r>
              <a:rPr sz="600" spc="200" dirty="0">
                <a:latin typeface="Times New Roman"/>
                <a:cs typeface="Times New Roman"/>
              </a:rPr>
              <a:t> </a:t>
            </a:r>
            <a:r>
              <a:rPr sz="800" spc="35" dirty="0">
                <a:latin typeface="Times New Roman"/>
                <a:cs typeface="Times New Roman"/>
              </a:rPr>
              <a:t>s.connect((HOST,</a:t>
            </a:r>
            <a:r>
              <a:rPr sz="800" spc="95" dirty="0">
                <a:latin typeface="Times New Roman"/>
                <a:cs typeface="Times New Roman"/>
              </a:rPr>
              <a:t> </a:t>
            </a:r>
            <a:r>
              <a:rPr sz="800" spc="-15" dirty="0">
                <a:latin typeface="Times New Roman"/>
                <a:cs typeface="Times New Roman"/>
              </a:rPr>
              <a:t>PORT))</a:t>
            </a:r>
            <a:r>
              <a:rPr sz="800" spc="105" dirty="0">
                <a:latin typeface="Times New Roman"/>
                <a:cs typeface="Times New Roman"/>
              </a:rPr>
              <a:t> </a:t>
            </a: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a:t>
            </a:r>
            <a:r>
              <a:rPr sz="800" i="1" spc="60" dirty="0">
                <a:solidFill>
                  <a:srgbClr val="009600"/>
                </a:solidFill>
                <a:latin typeface="Times New Roman"/>
                <a:cs typeface="Times New Roman"/>
              </a:rPr>
              <a:t>connect</a:t>
            </a:r>
            <a:r>
              <a:rPr sz="800" i="1" spc="80"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75" dirty="0">
                <a:solidFill>
                  <a:srgbClr val="009600"/>
                </a:solidFill>
                <a:latin typeface="Times New Roman"/>
                <a:cs typeface="Times New Roman"/>
              </a:rPr>
              <a:t> </a:t>
            </a:r>
            <a:r>
              <a:rPr sz="800" i="1" spc="85" dirty="0">
                <a:solidFill>
                  <a:srgbClr val="009600"/>
                </a:solidFill>
                <a:latin typeface="Times New Roman"/>
                <a:cs typeface="Times New Roman"/>
              </a:rPr>
              <a:t>server</a:t>
            </a:r>
            <a:r>
              <a:rPr sz="800" i="1" spc="90" dirty="0">
                <a:solidFill>
                  <a:srgbClr val="009600"/>
                </a:solidFill>
                <a:latin typeface="Times New Roman"/>
                <a:cs typeface="Times New Roman"/>
              </a:rPr>
              <a:t> </a:t>
            </a:r>
            <a:r>
              <a:rPr sz="800" i="1" spc="80" dirty="0">
                <a:solidFill>
                  <a:srgbClr val="009600"/>
                </a:solidFill>
                <a:latin typeface="Times New Roman"/>
                <a:cs typeface="Times New Roman"/>
              </a:rPr>
              <a:t>(block</a:t>
            </a:r>
            <a:r>
              <a:rPr sz="800" i="1" spc="65" dirty="0">
                <a:solidFill>
                  <a:srgbClr val="009600"/>
                </a:solidFill>
                <a:latin typeface="Times New Roman"/>
                <a:cs typeface="Times New Roman"/>
              </a:rPr>
              <a:t> </a:t>
            </a:r>
            <a:r>
              <a:rPr sz="800" i="1" spc="125" dirty="0">
                <a:solidFill>
                  <a:srgbClr val="009600"/>
                </a:solidFill>
                <a:latin typeface="Times New Roman"/>
                <a:cs typeface="Times New Roman"/>
              </a:rPr>
              <a:t>until</a:t>
            </a:r>
            <a:r>
              <a:rPr sz="800" i="1" spc="65" dirty="0">
                <a:solidFill>
                  <a:srgbClr val="009600"/>
                </a:solidFill>
                <a:latin typeface="Times New Roman"/>
                <a:cs typeface="Times New Roman"/>
              </a:rPr>
              <a:t> </a:t>
            </a:r>
            <a:r>
              <a:rPr sz="800" i="1" spc="60" dirty="0">
                <a:solidFill>
                  <a:srgbClr val="009600"/>
                </a:solidFill>
                <a:latin typeface="Times New Roman"/>
                <a:cs typeface="Times New Roman"/>
              </a:rPr>
              <a:t>accepted)</a:t>
            </a:r>
            <a:endParaRPr sz="800">
              <a:latin typeface="Times New Roman"/>
              <a:cs typeface="Times New Roman"/>
            </a:endParaRPr>
          </a:p>
          <a:p>
            <a:pPr marL="70485">
              <a:lnSpc>
                <a:spcPts val="850"/>
              </a:lnSpc>
            </a:pPr>
            <a:r>
              <a:rPr sz="600" spc="55" dirty="0">
                <a:latin typeface="Times New Roman"/>
                <a:cs typeface="Times New Roman"/>
              </a:rPr>
              <a:t>4 </a:t>
            </a:r>
            <a:r>
              <a:rPr sz="600" spc="195" dirty="0">
                <a:latin typeface="Times New Roman"/>
                <a:cs typeface="Times New Roman"/>
              </a:rPr>
              <a:t> </a:t>
            </a:r>
            <a:r>
              <a:rPr sz="800" spc="80" dirty="0">
                <a:latin typeface="Times New Roman"/>
                <a:cs typeface="Times New Roman"/>
              </a:rPr>
              <a:t>s.send(</a:t>
            </a:r>
            <a:r>
              <a:rPr sz="800" spc="80" dirty="0">
                <a:solidFill>
                  <a:srgbClr val="FA0000"/>
                </a:solidFill>
                <a:latin typeface="Times New Roman"/>
                <a:cs typeface="Times New Roman"/>
              </a:rPr>
              <a:t>’Hello,</a:t>
            </a:r>
            <a:r>
              <a:rPr sz="800" spc="90" dirty="0">
                <a:solidFill>
                  <a:srgbClr val="FA0000"/>
                </a:solidFill>
                <a:latin typeface="Times New Roman"/>
                <a:cs typeface="Times New Roman"/>
              </a:rPr>
              <a:t> </a:t>
            </a:r>
            <a:r>
              <a:rPr sz="800" spc="65" dirty="0">
                <a:solidFill>
                  <a:srgbClr val="FA0000"/>
                </a:solidFill>
                <a:latin typeface="Times New Roman"/>
                <a:cs typeface="Times New Roman"/>
              </a:rPr>
              <a:t>world’</a:t>
            </a:r>
            <a:r>
              <a:rPr sz="800" spc="65" dirty="0">
                <a:latin typeface="Times New Roman"/>
                <a:cs typeface="Times New Roman"/>
              </a:rPr>
              <a:t>) </a:t>
            </a:r>
            <a:r>
              <a:rPr sz="800" spc="250" dirty="0">
                <a:latin typeface="Times New Roman"/>
                <a:cs typeface="Times New Roman"/>
              </a:rPr>
              <a:t> </a:t>
            </a:r>
            <a:r>
              <a:rPr sz="800" i="1" spc="75" dirty="0">
                <a:solidFill>
                  <a:srgbClr val="009600"/>
                </a:solidFill>
                <a:latin typeface="Times New Roman"/>
                <a:cs typeface="Times New Roman"/>
              </a:rPr>
              <a:t>#</a:t>
            </a:r>
            <a:r>
              <a:rPr sz="800" i="1" spc="90" dirty="0">
                <a:solidFill>
                  <a:srgbClr val="009600"/>
                </a:solidFill>
                <a:latin typeface="Times New Roman"/>
                <a:cs typeface="Times New Roman"/>
              </a:rPr>
              <a:t> </a:t>
            </a:r>
            <a:r>
              <a:rPr sz="800" i="1" spc="60" dirty="0">
                <a:solidFill>
                  <a:srgbClr val="009600"/>
                </a:solidFill>
                <a:latin typeface="Times New Roman"/>
                <a:cs typeface="Times New Roman"/>
              </a:rPr>
              <a:t>send</a:t>
            </a:r>
            <a:r>
              <a:rPr sz="800" i="1" spc="70" dirty="0">
                <a:solidFill>
                  <a:srgbClr val="009600"/>
                </a:solidFill>
                <a:latin typeface="Times New Roman"/>
                <a:cs typeface="Times New Roman"/>
              </a:rPr>
              <a:t> </a:t>
            </a:r>
            <a:r>
              <a:rPr sz="800" i="1" spc="15" dirty="0">
                <a:solidFill>
                  <a:srgbClr val="009600"/>
                </a:solidFill>
                <a:latin typeface="Times New Roman"/>
                <a:cs typeface="Times New Roman"/>
              </a:rPr>
              <a:t>same</a:t>
            </a:r>
            <a:r>
              <a:rPr sz="800" i="1" spc="70" dirty="0">
                <a:solidFill>
                  <a:srgbClr val="009600"/>
                </a:solidFill>
                <a:latin typeface="Times New Roman"/>
                <a:cs typeface="Times New Roman"/>
              </a:rPr>
              <a:t> data</a:t>
            </a:r>
            <a:endParaRPr sz="800">
              <a:latin typeface="Times New Roman"/>
              <a:cs typeface="Times New Roman"/>
            </a:endParaRPr>
          </a:p>
          <a:p>
            <a:pPr marL="70485">
              <a:lnSpc>
                <a:spcPts val="905"/>
              </a:lnSpc>
              <a:tabLst>
                <a:tab pos="1401445" algn="l"/>
              </a:tabLst>
            </a:pPr>
            <a:r>
              <a:rPr sz="600" spc="55" dirty="0">
                <a:latin typeface="Times New Roman"/>
                <a:cs typeface="Times New Roman"/>
              </a:rPr>
              <a:t>5 </a:t>
            </a:r>
            <a:r>
              <a:rPr sz="600" spc="180" dirty="0">
                <a:latin typeface="Times New Roman"/>
                <a:cs typeface="Times New Roman"/>
              </a:rPr>
              <a:t> </a:t>
            </a:r>
            <a:r>
              <a:rPr sz="800" spc="95" dirty="0">
                <a:latin typeface="Times New Roman"/>
                <a:cs typeface="Times New Roman"/>
              </a:rPr>
              <a:t>data </a:t>
            </a:r>
            <a:r>
              <a:rPr sz="800" spc="25" dirty="0">
                <a:latin typeface="Times New Roman"/>
                <a:cs typeface="Times New Roman"/>
              </a:rPr>
              <a:t>=</a:t>
            </a:r>
            <a:r>
              <a:rPr sz="800" spc="120" dirty="0">
                <a:latin typeface="Times New Roman"/>
                <a:cs typeface="Times New Roman"/>
              </a:rPr>
              <a:t> </a:t>
            </a:r>
            <a:r>
              <a:rPr sz="800" spc="70" dirty="0">
                <a:latin typeface="Times New Roman"/>
                <a:cs typeface="Times New Roman"/>
              </a:rPr>
              <a:t>s.recv(1024)	</a:t>
            </a:r>
            <a:r>
              <a:rPr sz="800" i="1" spc="75" dirty="0">
                <a:solidFill>
                  <a:srgbClr val="009600"/>
                </a:solidFill>
                <a:latin typeface="Times New Roman"/>
                <a:cs typeface="Times New Roman"/>
              </a:rPr>
              <a:t>#</a:t>
            </a:r>
            <a:r>
              <a:rPr sz="800" i="1" spc="65" dirty="0">
                <a:solidFill>
                  <a:srgbClr val="009600"/>
                </a:solidFill>
                <a:latin typeface="Times New Roman"/>
                <a:cs typeface="Times New Roman"/>
              </a:rPr>
              <a:t> </a:t>
            </a:r>
            <a:r>
              <a:rPr sz="800" i="1" spc="85" dirty="0">
                <a:solidFill>
                  <a:srgbClr val="009600"/>
                </a:solidFill>
                <a:latin typeface="Times New Roman"/>
                <a:cs typeface="Times New Roman"/>
              </a:rPr>
              <a:t>receive</a:t>
            </a:r>
            <a:r>
              <a:rPr sz="800" i="1" spc="50" dirty="0">
                <a:solidFill>
                  <a:srgbClr val="009600"/>
                </a:solidFill>
                <a:latin typeface="Times New Roman"/>
                <a:cs typeface="Times New Roman"/>
              </a:rPr>
              <a:t> </a:t>
            </a:r>
            <a:r>
              <a:rPr sz="800" i="1" spc="110" dirty="0">
                <a:solidFill>
                  <a:srgbClr val="009600"/>
                </a:solidFill>
                <a:latin typeface="Times New Roman"/>
                <a:cs typeface="Times New Roman"/>
              </a:rPr>
              <a:t>the</a:t>
            </a:r>
            <a:r>
              <a:rPr sz="800" i="1" spc="50" dirty="0">
                <a:solidFill>
                  <a:srgbClr val="009600"/>
                </a:solidFill>
                <a:latin typeface="Times New Roman"/>
                <a:cs typeface="Times New Roman"/>
              </a:rPr>
              <a:t> </a:t>
            </a:r>
            <a:r>
              <a:rPr sz="800" i="1" spc="55" dirty="0">
                <a:solidFill>
                  <a:srgbClr val="009600"/>
                </a:solidFill>
                <a:latin typeface="Times New Roman"/>
                <a:cs typeface="Times New Roman"/>
              </a:rPr>
              <a:t>response</a:t>
            </a:r>
            <a:endParaRPr sz="800">
              <a:latin typeface="Times New Roman"/>
              <a:cs typeface="Times New Roman"/>
            </a:endParaRPr>
          </a:p>
        </p:txBody>
      </p:sp>
      <p:sp>
        <p:nvSpPr>
          <p:cNvPr id="8" name="object 8"/>
          <p:cNvSpPr txBox="1"/>
          <p:nvPr/>
        </p:nvSpPr>
        <p:spPr>
          <a:xfrm>
            <a:off x="352361" y="2665690"/>
            <a:ext cx="661670" cy="255270"/>
          </a:xfrm>
          <a:prstGeom prst="rect">
            <a:avLst/>
          </a:prstGeom>
        </p:spPr>
        <p:txBody>
          <a:bodyPr vert="horz" wrap="square" lIns="0" tIns="12065" rIns="0" bIns="0" rtlCol="0">
            <a:spAutoFit/>
          </a:bodyPr>
          <a:lstStyle/>
          <a:p>
            <a:pPr marL="12700">
              <a:lnSpc>
                <a:spcPts val="905"/>
              </a:lnSpc>
              <a:spcBef>
                <a:spcPts val="95"/>
              </a:spcBef>
            </a:pPr>
            <a:r>
              <a:rPr sz="600" spc="55" dirty="0">
                <a:latin typeface="Times New Roman"/>
                <a:cs typeface="Times New Roman"/>
              </a:rPr>
              <a:t>6 </a:t>
            </a:r>
            <a:r>
              <a:rPr sz="600" spc="120" dirty="0">
                <a:latin typeface="Times New Roman"/>
                <a:cs typeface="Times New Roman"/>
              </a:rPr>
              <a:t> </a:t>
            </a:r>
            <a:r>
              <a:rPr sz="800" b="1" spc="75" dirty="0">
                <a:solidFill>
                  <a:srgbClr val="FF0059"/>
                </a:solidFill>
                <a:latin typeface="Times New Roman"/>
                <a:cs typeface="Times New Roman"/>
              </a:rPr>
              <a:t>print</a:t>
            </a:r>
            <a:r>
              <a:rPr sz="800" b="1" spc="40" dirty="0">
                <a:solidFill>
                  <a:srgbClr val="FF0059"/>
                </a:solidFill>
                <a:latin typeface="Times New Roman"/>
                <a:cs typeface="Times New Roman"/>
              </a:rPr>
              <a:t> </a:t>
            </a:r>
            <a:r>
              <a:rPr sz="800" spc="95" dirty="0">
                <a:latin typeface="Times New Roman"/>
                <a:cs typeface="Times New Roman"/>
              </a:rPr>
              <a:t>data</a:t>
            </a:r>
            <a:endParaRPr sz="800">
              <a:latin typeface="Times New Roman"/>
              <a:cs typeface="Times New Roman"/>
            </a:endParaRPr>
          </a:p>
          <a:p>
            <a:pPr marL="12700">
              <a:lnSpc>
                <a:spcPts val="905"/>
              </a:lnSpc>
            </a:pPr>
            <a:r>
              <a:rPr sz="600" spc="55" dirty="0">
                <a:latin typeface="Times New Roman"/>
                <a:cs typeface="Times New Roman"/>
              </a:rPr>
              <a:t>7 </a:t>
            </a:r>
            <a:r>
              <a:rPr sz="600" spc="145" dirty="0">
                <a:latin typeface="Times New Roman"/>
                <a:cs typeface="Times New Roman"/>
              </a:rPr>
              <a:t> </a:t>
            </a:r>
            <a:r>
              <a:rPr sz="800" spc="105" dirty="0">
                <a:latin typeface="Times New Roman"/>
                <a:cs typeface="Times New Roman"/>
              </a:rPr>
              <a:t>s.close()</a:t>
            </a:r>
            <a:endParaRPr sz="800">
              <a:latin typeface="Times New Roman"/>
              <a:cs typeface="Times New Roman"/>
            </a:endParaRPr>
          </a:p>
        </p:txBody>
      </p:sp>
      <p:sp>
        <p:nvSpPr>
          <p:cNvPr id="9" name="object 9"/>
          <p:cNvSpPr txBox="1"/>
          <p:nvPr/>
        </p:nvSpPr>
        <p:spPr>
          <a:xfrm>
            <a:off x="1683410" y="2665690"/>
            <a:ext cx="1153160" cy="255270"/>
          </a:xfrm>
          <a:prstGeom prst="rect">
            <a:avLst/>
          </a:prstGeom>
        </p:spPr>
        <p:txBody>
          <a:bodyPr vert="horz" wrap="square" lIns="0" tIns="12065" rIns="0" bIns="0" rtlCol="0">
            <a:spAutoFit/>
          </a:bodyPr>
          <a:lstStyle/>
          <a:p>
            <a:pPr marL="12700">
              <a:lnSpc>
                <a:spcPts val="905"/>
              </a:lnSpc>
              <a:spcBef>
                <a:spcPts val="95"/>
              </a:spcBef>
            </a:pPr>
            <a:r>
              <a:rPr sz="800" i="1" spc="75" dirty="0">
                <a:solidFill>
                  <a:srgbClr val="009600"/>
                </a:solidFill>
                <a:latin typeface="Times New Roman"/>
                <a:cs typeface="Times New Roman"/>
              </a:rPr>
              <a:t>#</a:t>
            </a:r>
            <a:r>
              <a:rPr sz="800" i="1" spc="65" dirty="0">
                <a:solidFill>
                  <a:srgbClr val="009600"/>
                </a:solidFill>
                <a:latin typeface="Times New Roman"/>
                <a:cs typeface="Times New Roman"/>
              </a:rPr>
              <a:t> </a:t>
            </a:r>
            <a:r>
              <a:rPr sz="800" i="1" spc="110" dirty="0">
                <a:solidFill>
                  <a:srgbClr val="009600"/>
                </a:solidFill>
                <a:latin typeface="Times New Roman"/>
                <a:cs typeface="Times New Roman"/>
              </a:rPr>
              <a:t>print</a:t>
            </a:r>
            <a:r>
              <a:rPr sz="800" i="1" spc="55" dirty="0">
                <a:solidFill>
                  <a:srgbClr val="009600"/>
                </a:solidFill>
                <a:latin typeface="Times New Roman"/>
                <a:cs typeface="Times New Roman"/>
              </a:rPr>
              <a:t> </a:t>
            </a:r>
            <a:r>
              <a:rPr sz="800" i="1" spc="110" dirty="0">
                <a:solidFill>
                  <a:srgbClr val="009600"/>
                </a:solidFill>
                <a:latin typeface="Times New Roman"/>
                <a:cs typeface="Times New Roman"/>
              </a:rPr>
              <a:t>the</a:t>
            </a:r>
            <a:r>
              <a:rPr sz="800" i="1" spc="50" dirty="0">
                <a:solidFill>
                  <a:srgbClr val="009600"/>
                </a:solidFill>
                <a:latin typeface="Times New Roman"/>
                <a:cs typeface="Times New Roman"/>
              </a:rPr>
              <a:t> </a:t>
            </a:r>
            <a:r>
              <a:rPr sz="800" i="1" spc="114" dirty="0">
                <a:solidFill>
                  <a:srgbClr val="009600"/>
                </a:solidFill>
                <a:latin typeface="Times New Roman"/>
                <a:cs typeface="Times New Roman"/>
              </a:rPr>
              <a:t>result</a:t>
            </a:r>
            <a:endParaRPr sz="800">
              <a:latin typeface="Times New Roman"/>
              <a:cs typeface="Times New Roman"/>
            </a:endParaRPr>
          </a:p>
          <a:p>
            <a:pPr marL="12700">
              <a:lnSpc>
                <a:spcPts val="905"/>
              </a:lnSpc>
            </a:pP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90" dirty="0">
                <a:solidFill>
                  <a:srgbClr val="009600"/>
                </a:solidFill>
                <a:latin typeface="Times New Roman"/>
                <a:cs typeface="Times New Roman"/>
              </a:rPr>
              <a:t>close</a:t>
            </a:r>
            <a:r>
              <a:rPr sz="800" i="1" spc="65" dirty="0">
                <a:solidFill>
                  <a:srgbClr val="009600"/>
                </a:solidFill>
                <a:latin typeface="Times New Roman"/>
                <a:cs typeface="Times New Roman"/>
              </a:rPr>
              <a:t> </a:t>
            </a:r>
            <a:r>
              <a:rPr sz="800" i="1" spc="110" dirty="0">
                <a:solidFill>
                  <a:srgbClr val="009600"/>
                </a:solidFill>
                <a:latin typeface="Times New Roman"/>
                <a:cs typeface="Times New Roman"/>
              </a:rPr>
              <a:t>the</a:t>
            </a:r>
            <a:r>
              <a:rPr sz="800" i="1" spc="55" dirty="0">
                <a:solidFill>
                  <a:srgbClr val="009600"/>
                </a:solidFill>
                <a:latin typeface="Times New Roman"/>
                <a:cs typeface="Times New Roman"/>
              </a:rPr>
              <a:t> connection</a:t>
            </a:r>
            <a:endParaRPr sz="800">
              <a:latin typeface="Times New Roman"/>
              <a:cs typeface="Times New Roman"/>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2306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Using</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messaging</a:t>
            </a:r>
            <a:r>
              <a:rPr sz="600" spc="-10" dirty="0">
                <a:solidFill>
                  <a:srgbClr val="3333B2"/>
                </a:solidFill>
                <a:latin typeface="Arial"/>
                <a:cs typeface="Arial"/>
                <a:hlinkClick r:id="rId3" action="ppaction://hlinksldjump"/>
              </a:rPr>
              <a:t> </a:t>
            </a:r>
            <a:r>
              <a:rPr sz="600" dirty="0">
                <a:solidFill>
                  <a:srgbClr val="3333B2"/>
                </a:solidFill>
                <a:latin typeface="Arial"/>
                <a:cs typeface="Arial"/>
                <a:hlinkClick r:id="rId3" action="ppaction://hlinksldjump"/>
              </a:rPr>
              <a:t>patterns:</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ZeroMQ</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22</a:t>
            </a:r>
            <a:r>
              <a:rPr spc="-40" dirty="0"/>
              <a:t> </a:t>
            </a:r>
            <a:r>
              <a:rPr spc="-5" dirty="0"/>
              <a:t>/</a:t>
            </a:r>
            <a:r>
              <a:rPr spc="-35" dirty="0"/>
              <a:t> </a:t>
            </a:r>
            <a:r>
              <a:rPr spc="-5" dirty="0"/>
              <a:t>49</a:t>
            </a:r>
          </a:p>
        </p:txBody>
      </p:sp>
      <p:sp>
        <p:nvSpPr>
          <p:cNvPr id="2" name="object 2"/>
          <p:cNvSpPr txBox="1"/>
          <p:nvPr/>
        </p:nvSpPr>
        <p:spPr>
          <a:xfrm>
            <a:off x="66713" y="716"/>
            <a:ext cx="1752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65" dirty="0">
                <a:solidFill>
                  <a:srgbClr val="3333B2"/>
                </a:solidFill>
                <a:latin typeface="Arial"/>
                <a:cs typeface="Arial"/>
              </a:rPr>
              <a:t> </a:t>
            </a:r>
            <a:r>
              <a:rPr sz="600" spc="-5" dirty="0">
                <a:solidFill>
                  <a:srgbClr val="3333B2"/>
                </a:solidFill>
                <a:latin typeface="Arial"/>
                <a:cs typeface="Arial"/>
                <a:hlinkClick r:id="rId5" action="ppaction://hlinksldjump"/>
              </a:rPr>
              <a:t>Message-oriented</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endParaRPr sz="600">
              <a:latin typeface="Arial"/>
              <a:cs typeface="Arial"/>
            </a:endParaRPr>
          </a:p>
        </p:txBody>
      </p:sp>
      <p:sp>
        <p:nvSpPr>
          <p:cNvPr id="3" name="object 3"/>
          <p:cNvSpPr txBox="1"/>
          <p:nvPr/>
        </p:nvSpPr>
        <p:spPr>
          <a:xfrm>
            <a:off x="3480558" y="716"/>
            <a:ext cx="10610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Advanced</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transient</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messaging</a:t>
            </a:r>
            <a:endParaRPr sz="600">
              <a:latin typeface="Arial"/>
              <a:cs typeface="Arial"/>
            </a:endParaRPr>
          </a:p>
        </p:txBody>
      </p:sp>
      <p:sp>
        <p:nvSpPr>
          <p:cNvPr id="4" name="object 4"/>
          <p:cNvSpPr txBox="1"/>
          <p:nvPr/>
        </p:nvSpPr>
        <p:spPr>
          <a:xfrm>
            <a:off x="82600" y="188846"/>
            <a:ext cx="4216400" cy="267843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Making</a:t>
            </a:r>
            <a:r>
              <a:rPr sz="1400" spc="-5" dirty="0">
                <a:solidFill>
                  <a:srgbClr val="3333B2"/>
                </a:solidFill>
                <a:latin typeface="Arial"/>
                <a:cs typeface="Arial"/>
              </a:rPr>
              <a:t> </a:t>
            </a:r>
            <a:r>
              <a:rPr sz="1400" spc="5" dirty="0">
                <a:solidFill>
                  <a:srgbClr val="3333B2"/>
                </a:solidFill>
                <a:latin typeface="Arial"/>
                <a:cs typeface="Arial"/>
              </a:rPr>
              <a:t>sockets</a:t>
            </a:r>
            <a:r>
              <a:rPr sz="1400" dirty="0">
                <a:solidFill>
                  <a:srgbClr val="3333B2"/>
                </a:solidFill>
                <a:latin typeface="Arial"/>
                <a:cs typeface="Arial"/>
              </a:rPr>
              <a:t> </a:t>
            </a:r>
            <a:r>
              <a:rPr sz="1400" spc="15" dirty="0">
                <a:solidFill>
                  <a:srgbClr val="3333B2"/>
                </a:solidFill>
                <a:latin typeface="Arial"/>
                <a:cs typeface="Arial"/>
              </a:rPr>
              <a:t>easier</a:t>
            </a:r>
            <a:r>
              <a:rPr sz="1400" dirty="0">
                <a:solidFill>
                  <a:srgbClr val="3333B2"/>
                </a:solidFill>
                <a:latin typeface="Arial"/>
                <a:cs typeface="Arial"/>
              </a:rPr>
              <a:t> </a:t>
            </a:r>
            <a:r>
              <a:rPr sz="1400" spc="10" dirty="0">
                <a:solidFill>
                  <a:srgbClr val="3333B2"/>
                </a:solidFill>
                <a:latin typeface="Arial"/>
                <a:cs typeface="Arial"/>
              </a:rPr>
              <a:t>to</a:t>
            </a:r>
            <a:r>
              <a:rPr sz="1400" dirty="0">
                <a:solidFill>
                  <a:srgbClr val="3333B2"/>
                </a:solidFill>
                <a:latin typeface="Arial"/>
                <a:cs typeface="Arial"/>
              </a:rPr>
              <a:t> </a:t>
            </a:r>
            <a:r>
              <a:rPr sz="1400" spc="15" dirty="0">
                <a:solidFill>
                  <a:srgbClr val="3333B2"/>
                </a:solidFill>
                <a:latin typeface="Arial"/>
                <a:cs typeface="Arial"/>
              </a:rPr>
              <a:t>work</a:t>
            </a:r>
            <a:r>
              <a:rPr sz="1400" dirty="0">
                <a:solidFill>
                  <a:srgbClr val="3333B2"/>
                </a:solidFill>
                <a:latin typeface="Arial"/>
                <a:cs typeface="Arial"/>
              </a:rPr>
              <a:t> </a:t>
            </a:r>
            <a:r>
              <a:rPr sz="1400" spc="15" dirty="0">
                <a:solidFill>
                  <a:srgbClr val="3333B2"/>
                </a:solidFill>
                <a:latin typeface="Arial"/>
                <a:cs typeface="Arial"/>
              </a:rPr>
              <a:t>with</a:t>
            </a:r>
            <a:endParaRPr sz="1400" dirty="0">
              <a:latin typeface="Arial"/>
              <a:cs typeface="Arial"/>
            </a:endParaRPr>
          </a:p>
          <a:p>
            <a:pPr>
              <a:lnSpc>
                <a:spcPct val="100000"/>
              </a:lnSpc>
              <a:spcBef>
                <a:spcPts val="30"/>
              </a:spcBef>
            </a:pPr>
            <a:endParaRPr sz="1700" dirty="0">
              <a:latin typeface="Arial"/>
              <a:cs typeface="Arial"/>
            </a:endParaRPr>
          </a:p>
          <a:p>
            <a:pPr marL="276860">
              <a:lnSpc>
                <a:spcPts val="1410"/>
              </a:lnSpc>
            </a:pPr>
            <a:r>
              <a:rPr sz="1200" spc="-5" dirty="0">
                <a:solidFill>
                  <a:srgbClr val="3333B2"/>
                </a:solidFill>
                <a:latin typeface="Arial"/>
                <a:cs typeface="Arial"/>
              </a:rPr>
              <a:t>Observation</a:t>
            </a:r>
            <a:endParaRPr sz="1200" dirty="0">
              <a:latin typeface="Arial"/>
              <a:cs typeface="Arial"/>
            </a:endParaRPr>
          </a:p>
          <a:p>
            <a:pPr marL="276860" marR="43180">
              <a:lnSpc>
                <a:spcPts val="1200"/>
              </a:lnSpc>
              <a:spcBef>
                <a:spcPts val="10"/>
              </a:spcBef>
            </a:pPr>
            <a:r>
              <a:rPr sz="1000" spc="-10" dirty="0">
                <a:latin typeface="Arial"/>
                <a:cs typeface="Arial"/>
              </a:rPr>
              <a:t>Sockets</a:t>
            </a:r>
            <a:r>
              <a:rPr sz="1000" spc="-5" dirty="0">
                <a:latin typeface="Arial"/>
                <a:cs typeface="Arial"/>
              </a:rPr>
              <a:t> are rather </a:t>
            </a:r>
            <a:r>
              <a:rPr sz="1000" spc="-10" dirty="0">
                <a:latin typeface="Arial"/>
                <a:cs typeface="Arial"/>
              </a:rPr>
              <a:t>low</a:t>
            </a:r>
            <a:r>
              <a:rPr sz="1000" spc="-5" dirty="0">
                <a:latin typeface="Arial"/>
                <a:cs typeface="Arial"/>
              </a:rPr>
              <a:t> </a:t>
            </a:r>
            <a:r>
              <a:rPr sz="1000" spc="-15" dirty="0">
                <a:latin typeface="Arial"/>
                <a:cs typeface="Arial"/>
              </a:rPr>
              <a:t>level</a:t>
            </a:r>
            <a:r>
              <a:rPr sz="1000" spc="-5" dirty="0">
                <a:latin typeface="Arial"/>
                <a:cs typeface="Arial"/>
              </a:rPr>
              <a:t> and programming mistakes</a:t>
            </a:r>
            <a:r>
              <a:rPr sz="1000" dirty="0">
                <a:latin typeface="Arial"/>
                <a:cs typeface="Arial"/>
              </a:rPr>
              <a:t> </a:t>
            </a:r>
            <a:r>
              <a:rPr sz="1000" spc="-5" dirty="0">
                <a:latin typeface="Arial"/>
                <a:cs typeface="Arial"/>
              </a:rPr>
              <a:t>are easily </a:t>
            </a:r>
            <a:r>
              <a:rPr sz="1000" dirty="0">
                <a:latin typeface="Arial"/>
                <a:cs typeface="Arial"/>
              </a:rPr>
              <a:t> </a:t>
            </a:r>
            <a:r>
              <a:rPr sz="1000" spc="-15" dirty="0">
                <a:latin typeface="Arial"/>
                <a:cs typeface="Arial"/>
              </a:rPr>
              <a:t>made.</a:t>
            </a:r>
            <a:r>
              <a:rPr sz="1000" spc="60" dirty="0">
                <a:latin typeface="Arial"/>
                <a:cs typeface="Arial"/>
              </a:rPr>
              <a:t> </a:t>
            </a:r>
            <a:r>
              <a:rPr sz="1000" spc="-30" dirty="0">
                <a:latin typeface="Arial"/>
                <a:cs typeface="Arial"/>
              </a:rPr>
              <a:t>However,</a:t>
            </a:r>
            <a:r>
              <a:rPr sz="1000" dirty="0">
                <a:latin typeface="Arial"/>
                <a:cs typeface="Arial"/>
              </a:rPr>
              <a:t> </a:t>
            </a:r>
            <a:r>
              <a:rPr sz="1000" spc="-10" dirty="0">
                <a:latin typeface="Arial"/>
                <a:cs typeface="Arial"/>
              </a:rPr>
              <a:t>the</a:t>
            </a:r>
            <a:r>
              <a:rPr sz="1000" spc="-5" dirty="0">
                <a:latin typeface="Arial"/>
                <a:cs typeface="Arial"/>
              </a:rPr>
              <a:t> </a:t>
            </a:r>
            <a:r>
              <a:rPr sz="1000" spc="-25" dirty="0">
                <a:latin typeface="Arial"/>
                <a:cs typeface="Arial"/>
              </a:rPr>
              <a:t>way</a:t>
            </a:r>
            <a:r>
              <a:rPr sz="1000" dirty="0">
                <a:latin typeface="Arial"/>
                <a:cs typeface="Arial"/>
              </a:rPr>
              <a:t> </a:t>
            </a:r>
            <a:r>
              <a:rPr sz="1000" spc="-10" dirty="0">
                <a:latin typeface="Arial"/>
                <a:cs typeface="Arial"/>
              </a:rPr>
              <a:t>that</a:t>
            </a:r>
            <a:r>
              <a:rPr sz="1000" dirty="0">
                <a:latin typeface="Arial"/>
                <a:cs typeface="Arial"/>
              </a:rPr>
              <a:t> </a:t>
            </a:r>
            <a:r>
              <a:rPr sz="1000" spc="-15" dirty="0">
                <a:latin typeface="Arial"/>
                <a:cs typeface="Arial"/>
              </a:rPr>
              <a:t>they</a:t>
            </a:r>
            <a:r>
              <a:rPr sz="1000" spc="-5" dirty="0">
                <a:latin typeface="Arial"/>
                <a:cs typeface="Arial"/>
              </a:rPr>
              <a:t> </a:t>
            </a:r>
            <a:r>
              <a:rPr sz="1000" spc="-10" dirty="0">
                <a:latin typeface="Arial"/>
                <a:cs typeface="Arial"/>
              </a:rPr>
              <a:t>are</a:t>
            </a:r>
            <a:r>
              <a:rPr sz="1000" dirty="0">
                <a:latin typeface="Arial"/>
                <a:cs typeface="Arial"/>
              </a:rPr>
              <a:t> </a:t>
            </a:r>
            <a:r>
              <a:rPr sz="1000" spc="-10" dirty="0">
                <a:latin typeface="Arial"/>
                <a:cs typeface="Arial"/>
              </a:rPr>
              <a:t>used</a:t>
            </a:r>
            <a:r>
              <a:rPr sz="1000" spc="-5" dirty="0">
                <a:latin typeface="Arial"/>
                <a:cs typeface="Arial"/>
              </a:rPr>
              <a:t> </a:t>
            </a:r>
            <a:r>
              <a:rPr sz="1000" spc="-10" dirty="0">
                <a:latin typeface="Arial"/>
                <a:cs typeface="Arial"/>
              </a:rPr>
              <a:t>is</a:t>
            </a:r>
            <a:r>
              <a:rPr sz="1000" dirty="0">
                <a:latin typeface="Arial"/>
                <a:cs typeface="Arial"/>
              </a:rPr>
              <a:t> </a:t>
            </a:r>
            <a:r>
              <a:rPr sz="1000" spc="-10" dirty="0">
                <a:latin typeface="Arial"/>
                <a:cs typeface="Arial"/>
              </a:rPr>
              <a:t>often</a:t>
            </a:r>
            <a:r>
              <a:rPr sz="1000" dirty="0">
                <a:latin typeface="Arial"/>
                <a:cs typeface="Arial"/>
              </a:rPr>
              <a:t> </a:t>
            </a:r>
            <a:r>
              <a:rPr sz="1000" spc="-10" dirty="0">
                <a:latin typeface="Arial"/>
                <a:cs typeface="Arial"/>
              </a:rPr>
              <a:t>the</a:t>
            </a:r>
            <a:r>
              <a:rPr sz="1000" spc="-5" dirty="0">
                <a:latin typeface="Arial"/>
                <a:cs typeface="Arial"/>
              </a:rPr>
              <a:t> </a:t>
            </a:r>
            <a:r>
              <a:rPr sz="1000" spc="-15" dirty="0">
                <a:latin typeface="Arial"/>
                <a:cs typeface="Arial"/>
              </a:rPr>
              <a:t>same</a:t>
            </a:r>
            <a:r>
              <a:rPr sz="1000" dirty="0">
                <a:latin typeface="Arial"/>
                <a:cs typeface="Arial"/>
              </a:rPr>
              <a:t> </a:t>
            </a:r>
            <a:r>
              <a:rPr sz="1000" spc="-10" dirty="0">
                <a:latin typeface="Arial"/>
                <a:cs typeface="Arial"/>
              </a:rPr>
              <a:t>(such</a:t>
            </a:r>
            <a:r>
              <a:rPr sz="1000" spc="-5" dirty="0">
                <a:latin typeface="Arial"/>
                <a:cs typeface="Arial"/>
              </a:rPr>
              <a:t> </a:t>
            </a:r>
            <a:r>
              <a:rPr sz="1000" spc="-10" dirty="0">
                <a:latin typeface="Arial"/>
                <a:cs typeface="Arial"/>
              </a:rPr>
              <a:t>as </a:t>
            </a:r>
            <a:r>
              <a:rPr sz="1000" spc="-260" dirty="0">
                <a:latin typeface="Arial"/>
                <a:cs typeface="Arial"/>
              </a:rPr>
              <a:t> </a:t>
            </a:r>
            <a:r>
              <a:rPr sz="1000" spc="-5" dirty="0">
                <a:latin typeface="Arial"/>
                <a:cs typeface="Arial"/>
              </a:rPr>
              <a:t>in</a:t>
            </a:r>
            <a:r>
              <a:rPr sz="1000" spc="-10" dirty="0">
                <a:latin typeface="Arial"/>
                <a:cs typeface="Arial"/>
              </a:rPr>
              <a:t> </a:t>
            </a:r>
            <a:r>
              <a:rPr sz="1000" spc="-5" dirty="0">
                <a:latin typeface="Arial"/>
                <a:cs typeface="Arial"/>
              </a:rPr>
              <a:t>a client-server setting).</a:t>
            </a:r>
            <a:endParaRPr sz="1000" dirty="0">
              <a:latin typeface="Arial"/>
              <a:cs typeface="Arial"/>
            </a:endParaRPr>
          </a:p>
          <a:p>
            <a:pPr marL="271780">
              <a:lnSpc>
                <a:spcPts val="1435"/>
              </a:lnSpc>
              <a:spcBef>
                <a:spcPts val="645"/>
              </a:spcBef>
            </a:pPr>
            <a:r>
              <a:rPr sz="1200" spc="-5" dirty="0">
                <a:solidFill>
                  <a:srgbClr val="3333B2"/>
                </a:solidFill>
                <a:latin typeface="Arial"/>
                <a:cs typeface="Arial"/>
              </a:rPr>
              <a:t>Alternative:</a:t>
            </a:r>
            <a:r>
              <a:rPr sz="1200" spc="45" dirty="0">
                <a:solidFill>
                  <a:srgbClr val="3333B2"/>
                </a:solidFill>
                <a:latin typeface="Arial"/>
                <a:cs typeface="Arial"/>
              </a:rPr>
              <a:t> </a:t>
            </a:r>
            <a:r>
              <a:rPr sz="1200" spc="-5" dirty="0">
                <a:solidFill>
                  <a:srgbClr val="3333B2"/>
                </a:solidFill>
                <a:latin typeface="Arial"/>
                <a:cs typeface="Arial"/>
              </a:rPr>
              <a:t>ZeroMQ</a:t>
            </a:r>
            <a:endParaRPr sz="1200" dirty="0">
              <a:latin typeface="Arial"/>
              <a:cs typeface="Arial"/>
            </a:endParaRPr>
          </a:p>
          <a:p>
            <a:pPr marL="276860" marR="74930">
              <a:lnSpc>
                <a:spcPts val="1200"/>
              </a:lnSpc>
              <a:spcBef>
                <a:spcPts val="35"/>
              </a:spcBef>
            </a:pPr>
            <a:r>
              <a:rPr sz="1000" spc="-5" dirty="0">
                <a:latin typeface="Arial"/>
                <a:cs typeface="Arial"/>
              </a:rPr>
              <a:t>Provides a higher</a:t>
            </a:r>
            <a:r>
              <a:rPr sz="1000" dirty="0">
                <a:latin typeface="Arial"/>
                <a:cs typeface="Arial"/>
              </a:rPr>
              <a:t> </a:t>
            </a:r>
            <a:r>
              <a:rPr sz="1000" spc="-15" dirty="0">
                <a:latin typeface="Arial"/>
                <a:cs typeface="Arial"/>
              </a:rPr>
              <a:t>level</a:t>
            </a:r>
            <a:r>
              <a:rPr sz="1000" spc="-5" dirty="0">
                <a:latin typeface="Arial"/>
                <a:cs typeface="Arial"/>
              </a:rPr>
              <a:t> of expression</a:t>
            </a:r>
            <a:r>
              <a:rPr sz="1000" dirty="0">
                <a:latin typeface="Arial"/>
                <a:cs typeface="Arial"/>
              </a:rPr>
              <a:t> </a:t>
            </a:r>
            <a:r>
              <a:rPr sz="1000" spc="-15" dirty="0">
                <a:latin typeface="Arial"/>
                <a:cs typeface="Arial"/>
              </a:rPr>
              <a:t>by</a:t>
            </a:r>
            <a:r>
              <a:rPr sz="1000" spc="-5" dirty="0">
                <a:latin typeface="Arial"/>
                <a:cs typeface="Arial"/>
              </a:rPr>
              <a:t> </a:t>
            </a:r>
            <a:r>
              <a:rPr sz="1000" spc="-5" dirty="0">
                <a:solidFill>
                  <a:srgbClr val="FA0000"/>
                </a:solidFill>
                <a:latin typeface="Arial"/>
                <a:cs typeface="Arial"/>
              </a:rPr>
              <a:t>pairing </a:t>
            </a:r>
            <a:r>
              <a:rPr sz="1000" spc="-10" dirty="0">
                <a:latin typeface="Arial"/>
                <a:cs typeface="Arial"/>
              </a:rPr>
              <a:t>sockets:</a:t>
            </a:r>
            <a:r>
              <a:rPr sz="1000" spc="65" dirty="0">
                <a:latin typeface="Arial"/>
                <a:cs typeface="Arial"/>
              </a:rPr>
              <a:t> </a:t>
            </a:r>
            <a:r>
              <a:rPr sz="1000" spc="-5" dirty="0">
                <a:latin typeface="Arial"/>
                <a:cs typeface="Arial"/>
              </a:rPr>
              <a:t>one </a:t>
            </a:r>
            <a:r>
              <a:rPr sz="1000" spc="-15" dirty="0">
                <a:latin typeface="Arial"/>
                <a:cs typeface="Arial"/>
              </a:rPr>
              <a:t>for </a:t>
            </a:r>
            <a:r>
              <a:rPr sz="1000" spc="-10" dirty="0">
                <a:latin typeface="Arial"/>
                <a:cs typeface="Arial"/>
              </a:rPr>
              <a:t> </a:t>
            </a:r>
            <a:r>
              <a:rPr sz="1000" spc="-5" dirty="0">
                <a:latin typeface="Arial"/>
                <a:cs typeface="Arial"/>
              </a:rPr>
              <a:t>sending</a:t>
            </a:r>
            <a:r>
              <a:rPr sz="1000" dirty="0">
                <a:latin typeface="Arial"/>
                <a:cs typeface="Arial"/>
              </a:rPr>
              <a:t> </a:t>
            </a:r>
            <a:r>
              <a:rPr sz="1000" spc="-5" dirty="0">
                <a:latin typeface="Arial"/>
                <a:cs typeface="Arial"/>
              </a:rPr>
              <a:t>messages</a:t>
            </a:r>
            <a:r>
              <a:rPr sz="1000"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process</a:t>
            </a:r>
            <a:r>
              <a:rPr sz="1000" dirty="0">
                <a:latin typeface="Arial"/>
                <a:cs typeface="Arial"/>
              </a:rPr>
              <a:t> </a:t>
            </a:r>
            <a:r>
              <a:rPr sz="1000" i="1" spc="-5" dirty="0">
                <a:latin typeface="Arial"/>
                <a:cs typeface="Arial"/>
              </a:rPr>
              <a:t>P</a:t>
            </a:r>
            <a:r>
              <a:rPr sz="1000" i="1" spc="75"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corresponding</a:t>
            </a:r>
            <a:r>
              <a:rPr sz="1000" dirty="0">
                <a:latin typeface="Arial"/>
                <a:cs typeface="Arial"/>
              </a:rPr>
              <a:t> </a:t>
            </a:r>
            <a:r>
              <a:rPr sz="1000" spc="-5" dirty="0">
                <a:latin typeface="Arial"/>
                <a:cs typeface="Arial"/>
              </a:rPr>
              <a:t>one</a:t>
            </a:r>
            <a:r>
              <a:rPr sz="1000" dirty="0">
                <a:latin typeface="Arial"/>
                <a:cs typeface="Arial"/>
              </a:rPr>
              <a:t> </a:t>
            </a:r>
            <a:r>
              <a:rPr sz="1000" spc="-5" dirty="0">
                <a:latin typeface="Arial"/>
                <a:cs typeface="Arial"/>
              </a:rPr>
              <a:t>at</a:t>
            </a:r>
            <a:r>
              <a:rPr sz="1000" spc="5" dirty="0">
                <a:latin typeface="Arial"/>
                <a:cs typeface="Arial"/>
              </a:rPr>
              <a:t> </a:t>
            </a:r>
            <a:r>
              <a:rPr sz="1000" spc="-5" dirty="0">
                <a:latin typeface="Arial"/>
                <a:cs typeface="Arial"/>
              </a:rPr>
              <a:t>process </a:t>
            </a:r>
            <a:r>
              <a:rPr sz="1000" spc="-265" dirty="0">
                <a:latin typeface="Arial"/>
                <a:cs typeface="Arial"/>
              </a:rPr>
              <a:t> </a:t>
            </a:r>
            <a:r>
              <a:rPr sz="1000" i="1" spc="-5" dirty="0">
                <a:latin typeface="Arial"/>
                <a:cs typeface="Arial"/>
              </a:rPr>
              <a:t>Q</a:t>
            </a:r>
            <a:r>
              <a:rPr sz="1000" i="1" spc="45"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receiving messages.</a:t>
            </a:r>
            <a:r>
              <a:rPr sz="1000" spc="65" dirty="0">
                <a:latin typeface="Arial"/>
                <a:cs typeface="Arial"/>
              </a:rPr>
              <a:t> </a:t>
            </a:r>
            <a:r>
              <a:rPr sz="1000" spc="-5" dirty="0">
                <a:latin typeface="Arial"/>
                <a:cs typeface="Arial"/>
              </a:rPr>
              <a:t>All communication is</a:t>
            </a:r>
            <a:r>
              <a:rPr sz="1000" dirty="0">
                <a:latin typeface="Arial"/>
                <a:cs typeface="Arial"/>
              </a:rPr>
              <a:t> </a:t>
            </a:r>
            <a:r>
              <a:rPr sz="1000" spc="-5" dirty="0">
                <a:solidFill>
                  <a:srgbClr val="FA0000"/>
                </a:solidFill>
                <a:latin typeface="Arial"/>
                <a:cs typeface="Arial"/>
              </a:rPr>
              <a:t>asynchronous</a:t>
            </a:r>
            <a:r>
              <a:rPr sz="1000" spc="-5" dirty="0">
                <a:latin typeface="Arial"/>
                <a:cs typeface="Arial"/>
              </a:rPr>
              <a:t>.</a:t>
            </a:r>
            <a:endParaRPr sz="1000" dirty="0">
              <a:latin typeface="Arial"/>
              <a:cs typeface="Arial"/>
            </a:endParaRPr>
          </a:p>
          <a:p>
            <a:pPr marL="272415">
              <a:lnSpc>
                <a:spcPct val="100000"/>
              </a:lnSpc>
              <a:spcBef>
                <a:spcPts val="645"/>
              </a:spcBef>
            </a:pPr>
            <a:r>
              <a:rPr sz="1200" spc="-5" dirty="0">
                <a:solidFill>
                  <a:srgbClr val="3333B2"/>
                </a:solidFill>
                <a:latin typeface="Arial"/>
                <a:cs typeface="Arial"/>
              </a:rPr>
              <a:t>Three</a:t>
            </a:r>
            <a:r>
              <a:rPr sz="1200" spc="-45" dirty="0">
                <a:solidFill>
                  <a:srgbClr val="3333B2"/>
                </a:solidFill>
                <a:latin typeface="Arial"/>
                <a:cs typeface="Arial"/>
              </a:rPr>
              <a:t> </a:t>
            </a:r>
            <a:r>
              <a:rPr sz="1200" dirty="0">
                <a:solidFill>
                  <a:srgbClr val="3333B2"/>
                </a:solidFill>
                <a:latin typeface="Arial"/>
                <a:cs typeface="Arial"/>
              </a:rPr>
              <a:t>patterns</a:t>
            </a:r>
            <a:endParaRPr sz="1200" dirty="0">
              <a:latin typeface="Arial"/>
              <a:cs typeface="Arial"/>
            </a:endParaRPr>
          </a:p>
          <a:p>
            <a:pPr marL="554355" indent="-168275">
              <a:lnSpc>
                <a:spcPts val="1200"/>
              </a:lnSpc>
              <a:spcBef>
                <a:spcPts val="770"/>
              </a:spcBef>
              <a:buClr>
                <a:srgbClr val="3333B2"/>
              </a:buClr>
              <a:buChar char="►"/>
              <a:tabLst>
                <a:tab pos="554990" algn="l"/>
              </a:tabLst>
            </a:pPr>
            <a:r>
              <a:rPr sz="1000" spc="-5" dirty="0">
                <a:latin typeface="Arial"/>
                <a:cs typeface="Arial"/>
              </a:rPr>
              <a:t>Request-reply</a:t>
            </a:r>
            <a:endParaRPr sz="1000" dirty="0">
              <a:latin typeface="Arial"/>
              <a:cs typeface="Arial"/>
            </a:endParaRPr>
          </a:p>
          <a:p>
            <a:pPr marL="554355" indent="-168275">
              <a:lnSpc>
                <a:spcPts val="1195"/>
              </a:lnSpc>
              <a:buClr>
                <a:srgbClr val="3333B2"/>
              </a:buClr>
              <a:buChar char="►"/>
              <a:tabLst>
                <a:tab pos="554990" algn="l"/>
              </a:tabLst>
            </a:pPr>
            <a:r>
              <a:rPr sz="1000" spc="-5" dirty="0">
                <a:latin typeface="Arial"/>
                <a:cs typeface="Arial"/>
              </a:rPr>
              <a:t>Publish-subscribe</a:t>
            </a:r>
            <a:endParaRPr sz="1000" dirty="0">
              <a:latin typeface="Arial"/>
              <a:cs typeface="Arial"/>
            </a:endParaRPr>
          </a:p>
          <a:p>
            <a:pPr marL="554355" indent="-168275">
              <a:lnSpc>
                <a:spcPts val="1200"/>
              </a:lnSpc>
              <a:buClr>
                <a:srgbClr val="3333B2"/>
              </a:buClr>
              <a:buChar char="►"/>
              <a:tabLst>
                <a:tab pos="554990" algn="l"/>
              </a:tabLst>
            </a:pPr>
            <a:r>
              <a:rPr sz="1000" spc="-5" dirty="0">
                <a:latin typeface="Arial"/>
                <a:cs typeface="Arial"/>
              </a:rPr>
              <a:t>Pipeline</a:t>
            </a:r>
            <a:endParaRPr sz="1000" dirty="0">
              <a:latin typeface="Arial"/>
              <a:cs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p:cNvSpPr txBox="1"/>
          <p:nvPr/>
        </p:nvSpPr>
        <p:spPr>
          <a:xfrm>
            <a:off x="66713" y="3331252"/>
            <a:ext cx="12306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Using</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messaging</a:t>
            </a:r>
            <a:r>
              <a:rPr sz="600" spc="-10" dirty="0">
                <a:solidFill>
                  <a:srgbClr val="3333B2"/>
                </a:solidFill>
                <a:latin typeface="Arial"/>
                <a:cs typeface="Arial"/>
                <a:hlinkClick r:id="rId3" action="ppaction://hlinksldjump"/>
              </a:rPr>
              <a:t> </a:t>
            </a:r>
            <a:r>
              <a:rPr sz="600" dirty="0">
                <a:solidFill>
                  <a:srgbClr val="3333B2"/>
                </a:solidFill>
                <a:latin typeface="Arial"/>
                <a:cs typeface="Arial"/>
                <a:hlinkClick r:id="rId3" action="ppaction://hlinksldjump"/>
              </a:rPr>
              <a:t>patterns:</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ZeroMQ</a:t>
            </a:r>
            <a:endParaRPr sz="60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23</a:t>
            </a:r>
            <a:r>
              <a:rPr spc="-40" dirty="0"/>
              <a:t> </a:t>
            </a:r>
            <a:r>
              <a:rPr spc="-5" dirty="0"/>
              <a:t>/</a:t>
            </a:r>
            <a:r>
              <a:rPr spc="-35" dirty="0"/>
              <a:t> </a:t>
            </a:r>
            <a:r>
              <a:rPr spc="-5" dirty="0"/>
              <a:t>49</a:t>
            </a:r>
          </a:p>
        </p:txBody>
      </p:sp>
      <p:sp>
        <p:nvSpPr>
          <p:cNvPr id="2" name="object 2"/>
          <p:cNvSpPr txBox="1"/>
          <p:nvPr/>
        </p:nvSpPr>
        <p:spPr>
          <a:xfrm>
            <a:off x="66713" y="716"/>
            <a:ext cx="1752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65" dirty="0">
                <a:solidFill>
                  <a:srgbClr val="3333B2"/>
                </a:solidFill>
                <a:latin typeface="Arial"/>
                <a:cs typeface="Arial"/>
              </a:rPr>
              <a:t> </a:t>
            </a:r>
            <a:r>
              <a:rPr sz="600" spc="-5" dirty="0">
                <a:solidFill>
                  <a:srgbClr val="3333B2"/>
                </a:solidFill>
                <a:latin typeface="Arial"/>
                <a:cs typeface="Arial"/>
                <a:hlinkClick r:id="rId5" action="ppaction://hlinksldjump"/>
              </a:rPr>
              <a:t>Message-oriented</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endParaRPr sz="600">
              <a:latin typeface="Arial"/>
              <a:cs typeface="Arial"/>
            </a:endParaRPr>
          </a:p>
        </p:txBody>
      </p:sp>
      <p:sp>
        <p:nvSpPr>
          <p:cNvPr id="3" name="object 3"/>
          <p:cNvSpPr txBox="1"/>
          <p:nvPr/>
        </p:nvSpPr>
        <p:spPr>
          <a:xfrm>
            <a:off x="3480558" y="716"/>
            <a:ext cx="10610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Advanced</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transient</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messaging</a:t>
            </a:r>
            <a:endParaRPr sz="600">
              <a:latin typeface="Arial"/>
              <a:cs typeface="Arial"/>
            </a:endParaRPr>
          </a:p>
        </p:txBody>
      </p:sp>
      <p:sp>
        <p:nvSpPr>
          <p:cNvPr id="4" name="object 4"/>
          <p:cNvSpPr txBox="1"/>
          <p:nvPr/>
        </p:nvSpPr>
        <p:spPr>
          <a:xfrm>
            <a:off x="95300" y="188846"/>
            <a:ext cx="115951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Request-reply</a:t>
            </a:r>
            <a:endParaRPr sz="1400">
              <a:latin typeface="Arial"/>
              <a:cs typeface="Arial"/>
            </a:endParaRPr>
          </a:p>
        </p:txBody>
      </p:sp>
      <p:sp>
        <p:nvSpPr>
          <p:cNvPr id="5" name="object 5"/>
          <p:cNvSpPr txBox="1"/>
          <p:nvPr/>
        </p:nvSpPr>
        <p:spPr>
          <a:xfrm>
            <a:off x="347294" y="835759"/>
            <a:ext cx="3096260" cy="749935"/>
          </a:xfrm>
          <a:prstGeom prst="rect">
            <a:avLst/>
          </a:prstGeom>
        </p:spPr>
        <p:txBody>
          <a:bodyPr vert="horz" wrap="square" lIns="0" tIns="12065" rIns="0" bIns="0" rtlCol="0">
            <a:spAutoFit/>
          </a:bodyPr>
          <a:lstStyle/>
          <a:p>
            <a:pPr marL="12700">
              <a:lnSpc>
                <a:spcPts val="1390"/>
              </a:lnSpc>
              <a:spcBef>
                <a:spcPts val="95"/>
              </a:spcBef>
            </a:pPr>
            <a:r>
              <a:rPr sz="1200" spc="-5" dirty="0">
                <a:solidFill>
                  <a:srgbClr val="3333B2"/>
                </a:solidFill>
                <a:latin typeface="Arial"/>
                <a:cs typeface="Arial"/>
              </a:rPr>
              <a:t>Server</a:t>
            </a:r>
            <a:endParaRPr sz="1200">
              <a:latin typeface="Arial"/>
              <a:cs typeface="Arial"/>
            </a:endParaRPr>
          </a:p>
          <a:p>
            <a:pPr marL="17145">
              <a:lnSpc>
                <a:spcPts val="855"/>
              </a:lnSpc>
            </a:pPr>
            <a:r>
              <a:rPr sz="600" spc="55" dirty="0">
                <a:latin typeface="Times New Roman"/>
                <a:cs typeface="Times New Roman"/>
              </a:rPr>
              <a:t>1 </a:t>
            </a:r>
            <a:r>
              <a:rPr sz="600" spc="130" dirty="0">
                <a:latin typeface="Times New Roman"/>
                <a:cs typeface="Times New Roman"/>
              </a:rPr>
              <a:t> </a:t>
            </a:r>
            <a:r>
              <a:rPr sz="800" b="1" spc="25" dirty="0">
                <a:solidFill>
                  <a:srgbClr val="FF0059"/>
                </a:solidFill>
                <a:latin typeface="Times New Roman"/>
                <a:cs typeface="Times New Roman"/>
              </a:rPr>
              <a:t>import</a:t>
            </a:r>
            <a:r>
              <a:rPr sz="800" b="1" spc="50" dirty="0">
                <a:solidFill>
                  <a:srgbClr val="FF0059"/>
                </a:solidFill>
                <a:latin typeface="Times New Roman"/>
                <a:cs typeface="Times New Roman"/>
              </a:rPr>
              <a:t> </a:t>
            </a:r>
            <a:r>
              <a:rPr sz="800" spc="-25" dirty="0">
                <a:latin typeface="Times New Roman"/>
                <a:cs typeface="Times New Roman"/>
              </a:rPr>
              <a:t>zmq</a:t>
            </a:r>
            <a:endParaRPr sz="800">
              <a:latin typeface="Times New Roman"/>
              <a:cs typeface="Times New Roman"/>
            </a:endParaRPr>
          </a:p>
          <a:p>
            <a:pPr marL="17145">
              <a:lnSpc>
                <a:spcPts val="905"/>
              </a:lnSpc>
            </a:pPr>
            <a:r>
              <a:rPr sz="600" spc="55" dirty="0">
                <a:latin typeface="Times New Roman"/>
                <a:cs typeface="Times New Roman"/>
              </a:rPr>
              <a:t>2 </a:t>
            </a:r>
            <a:r>
              <a:rPr sz="600" spc="160" dirty="0">
                <a:latin typeface="Times New Roman"/>
                <a:cs typeface="Times New Roman"/>
              </a:rPr>
              <a:t> </a:t>
            </a:r>
            <a:r>
              <a:rPr sz="800" spc="75" dirty="0">
                <a:latin typeface="Times New Roman"/>
                <a:cs typeface="Times New Roman"/>
              </a:rPr>
              <a:t>context</a:t>
            </a:r>
            <a:r>
              <a:rPr sz="800" spc="8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45" dirty="0">
                <a:latin typeface="Times New Roman"/>
                <a:cs typeface="Times New Roman"/>
              </a:rPr>
              <a:t>zmq.Context()</a:t>
            </a:r>
            <a:endParaRPr sz="800">
              <a:latin typeface="Times New Roman"/>
              <a:cs typeface="Times New Roman"/>
            </a:endParaRPr>
          </a:p>
          <a:p>
            <a:pPr marL="17145">
              <a:lnSpc>
                <a:spcPts val="685"/>
              </a:lnSpc>
              <a:spcBef>
                <a:spcPts val="90"/>
              </a:spcBef>
            </a:pPr>
            <a:r>
              <a:rPr sz="600" spc="55" dirty="0">
                <a:latin typeface="Times New Roman"/>
                <a:cs typeface="Times New Roman"/>
              </a:rPr>
              <a:t>3</a:t>
            </a:r>
            <a:endParaRPr sz="600">
              <a:latin typeface="Times New Roman"/>
              <a:cs typeface="Times New Roman"/>
            </a:endParaRPr>
          </a:p>
          <a:p>
            <a:pPr marL="17145">
              <a:lnSpc>
                <a:spcPts val="869"/>
              </a:lnSpc>
            </a:pPr>
            <a:r>
              <a:rPr sz="600" spc="55" dirty="0">
                <a:latin typeface="Times New Roman"/>
                <a:cs typeface="Times New Roman"/>
              </a:rPr>
              <a:t>4 </a:t>
            </a:r>
            <a:r>
              <a:rPr sz="600" spc="185" dirty="0">
                <a:latin typeface="Times New Roman"/>
                <a:cs typeface="Times New Roman"/>
              </a:rPr>
              <a:t> </a:t>
            </a:r>
            <a:r>
              <a:rPr sz="800" spc="50" dirty="0">
                <a:latin typeface="Times New Roman"/>
                <a:cs typeface="Times New Roman"/>
              </a:rPr>
              <a:t>p1</a:t>
            </a:r>
            <a:r>
              <a:rPr sz="800" spc="105" dirty="0">
                <a:latin typeface="Times New Roman"/>
                <a:cs typeface="Times New Roman"/>
              </a:rPr>
              <a:t> </a:t>
            </a:r>
            <a:r>
              <a:rPr sz="800" spc="25" dirty="0">
                <a:latin typeface="Times New Roman"/>
                <a:cs typeface="Times New Roman"/>
              </a:rPr>
              <a:t>=</a:t>
            </a:r>
            <a:r>
              <a:rPr sz="800" spc="114" dirty="0">
                <a:latin typeface="Times New Roman"/>
                <a:cs typeface="Times New Roman"/>
              </a:rPr>
              <a:t> </a:t>
            </a:r>
            <a:r>
              <a:rPr sz="800" spc="100" dirty="0">
                <a:solidFill>
                  <a:srgbClr val="FA0000"/>
                </a:solidFill>
                <a:latin typeface="Times New Roman"/>
                <a:cs typeface="Times New Roman"/>
              </a:rPr>
              <a:t>"tcp://"</a:t>
            </a:r>
            <a:r>
              <a:rPr sz="800" spc="100" dirty="0">
                <a:latin typeface="Times New Roman"/>
                <a:cs typeface="Times New Roman"/>
              </a:rPr>
              <a:t>+</a:t>
            </a:r>
            <a:r>
              <a:rPr sz="800" spc="90" dirty="0">
                <a:latin typeface="Times New Roman"/>
                <a:cs typeface="Times New Roman"/>
              </a:rPr>
              <a:t> </a:t>
            </a:r>
            <a:r>
              <a:rPr sz="800" spc="-95" dirty="0">
                <a:latin typeface="Times New Roman"/>
                <a:cs typeface="Times New Roman"/>
              </a:rPr>
              <a:t>HOST</a:t>
            </a:r>
            <a:r>
              <a:rPr sz="800" spc="90" dirty="0">
                <a:latin typeface="Times New Roman"/>
                <a:cs typeface="Times New Roman"/>
              </a:rPr>
              <a:t> </a:t>
            </a:r>
            <a:r>
              <a:rPr sz="800" spc="55" dirty="0">
                <a:latin typeface="Times New Roman"/>
                <a:cs typeface="Times New Roman"/>
              </a:rPr>
              <a:t>+</a:t>
            </a:r>
            <a:r>
              <a:rPr sz="800" spc="55" dirty="0">
                <a:solidFill>
                  <a:srgbClr val="FA0000"/>
                </a:solidFill>
                <a:latin typeface="Times New Roman"/>
                <a:cs typeface="Times New Roman"/>
              </a:rPr>
              <a:t>":"</a:t>
            </a:r>
            <a:r>
              <a:rPr sz="800" spc="55" dirty="0">
                <a:latin typeface="Times New Roman"/>
                <a:cs typeface="Times New Roman"/>
              </a:rPr>
              <a:t>+</a:t>
            </a:r>
            <a:r>
              <a:rPr sz="800" spc="95" dirty="0">
                <a:latin typeface="Times New Roman"/>
                <a:cs typeface="Times New Roman"/>
              </a:rPr>
              <a:t> </a:t>
            </a:r>
            <a:r>
              <a:rPr sz="800" spc="-70" dirty="0">
                <a:latin typeface="Times New Roman"/>
                <a:cs typeface="Times New Roman"/>
              </a:rPr>
              <a:t>PORT1</a:t>
            </a:r>
            <a:r>
              <a:rPr sz="800" spc="90" dirty="0">
                <a:latin typeface="Times New Roman"/>
                <a:cs typeface="Times New Roman"/>
              </a:rPr>
              <a:t> </a:t>
            </a:r>
            <a:r>
              <a:rPr sz="800" i="1" spc="75" dirty="0">
                <a:solidFill>
                  <a:srgbClr val="009600"/>
                </a:solidFill>
                <a:latin typeface="Times New Roman"/>
                <a:cs typeface="Times New Roman"/>
              </a:rPr>
              <a:t>#</a:t>
            </a:r>
            <a:r>
              <a:rPr sz="800" i="1" spc="95" dirty="0">
                <a:solidFill>
                  <a:srgbClr val="009600"/>
                </a:solidFill>
                <a:latin typeface="Times New Roman"/>
                <a:cs typeface="Times New Roman"/>
              </a:rPr>
              <a:t> </a:t>
            </a:r>
            <a:r>
              <a:rPr sz="800" i="1" spc="-10" dirty="0">
                <a:solidFill>
                  <a:srgbClr val="009600"/>
                </a:solidFill>
                <a:latin typeface="Times New Roman"/>
                <a:cs typeface="Times New Roman"/>
              </a:rPr>
              <a:t>how</a:t>
            </a:r>
            <a:r>
              <a:rPr sz="800" i="1" spc="75" dirty="0">
                <a:solidFill>
                  <a:srgbClr val="009600"/>
                </a:solidFill>
                <a:latin typeface="Times New Roman"/>
                <a:cs typeface="Times New Roman"/>
              </a:rPr>
              <a:t> </a:t>
            </a:r>
            <a:r>
              <a:rPr sz="800" i="1" spc="35" dirty="0">
                <a:solidFill>
                  <a:srgbClr val="009600"/>
                </a:solidFill>
                <a:latin typeface="Times New Roman"/>
                <a:cs typeface="Times New Roman"/>
              </a:rPr>
              <a:t>and</a:t>
            </a:r>
            <a:r>
              <a:rPr sz="800" i="1" spc="70" dirty="0">
                <a:solidFill>
                  <a:srgbClr val="009600"/>
                </a:solidFill>
                <a:latin typeface="Times New Roman"/>
                <a:cs typeface="Times New Roman"/>
              </a:rPr>
              <a:t> </a:t>
            </a:r>
            <a:r>
              <a:rPr sz="800" i="1" spc="30" dirty="0">
                <a:solidFill>
                  <a:srgbClr val="009600"/>
                </a:solidFill>
                <a:latin typeface="Times New Roman"/>
                <a:cs typeface="Times New Roman"/>
              </a:rPr>
              <a:t>where</a:t>
            </a:r>
            <a:r>
              <a:rPr sz="800" i="1" spc="75"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80" dirty="0">
                <a:solidFill>
                  <a:srgbClr val="009600"/>
                </a:solidFill>
                <a:latin typeface="Times New Roman"/>
                <a:cs typeface="Times New Roman"/>
              </a:rPr>
              <a:t> </a:t>
            </a:r>
            <a:r>
              <a:rPr sz="800" i="1" spc="60" dirty="0">
                <a:solidFill>
                  <a:srgbClr val="009600"/>
                </a:solidFill>
                <a:latin typeface="Times New Roman"/>
                <a:cs typeface="Times New Roman"/>
              </a:rPr>
              <a:t>connect</a:t>
            </a:r>
            <a:endParaRPr sz="800">
              <a:latin typeface="Times New Roman"/>
              <a:cs typeface="Times New Roman"/>
            </a:endParaRPr>
          </a:p>
          <a:p>
            <a:pPr marL="17145">
              <a:lnSpc>
                <a:spcPts val="905"/>
              </a:lnSpc>
            </a:pPr>
            <a:r>
              <a:rPr sz="600" spc="55" dirty="0">
                <a:latin typeface="Times New Roman"/>
                <a:cs typeface="Times New Roman"/>
              </a:rPr>
              <a:t>5 </a:t>
            </a:r>
            <a:r>
              <a:rPr sz="600" spc="185" dirty="0">
                <a:latin typeface="Times New Roman"/>
                <a:cs typeface="Times New Roman"/>
              </a:rPr>
              <a:t> </a:t>
            </a:r>
            <a:r>
              <a:rPr sz="800" spc="50" dirty="0">
                <a:latin typeface="Times New Roman"/>
                <a:cs typeface="Times New Roman"/>
              </a:rPr>
              <a:t>p2</a:t>
            </a:r>
            <a:r>
              <a:rPr sz="800" spc="105" dirty="0">
                <a:latin typeface="Times New Roman"/>
                <a:cs typeface="Times New Roman"/>
              </a:rPr>
              <a:t> </a:t>
            </a:r>
            <a:r>
              <a:rPr sz="800" spc="25" dirty="0">
                <a:latin typeface="Times New Roman"/>
                <a:cs typeface="Times New Roman"/>
              </a:rPr>
              <a:t>=</a:t>
            </a:r>
            <a:r>
              <a:rPr sz="800" spc="114" dirty="0">
                <a:latin typeface="Times New Roman"/>
                <a:cs typeface="Times New Roman"/>
              </a:rPr>
              <a:t> </a:t>
            </a:r>
            <a:r>
              <a:rPr sz="800" spc="100" dirty="0">
                <a:solidFill>
                  <a:srgbClr val="FA0000"/>
                </a:solidFill>
                <a:latin typeface="Times New Roman"/>
                <a:cs typeface="Times New Roman"/>
              </a:rPr>
              <a:t>"tcp://"</a:t>
            </a:r>
            <a:r>
              <a:rPr sz="800" spc="100" dirty="0">
                <a:latin typeface="Times New Roman"/>
                <a:cs typeface="Times New Roman"/>
              </a:rPr>
              <a:t>+</a:t>
            </a:r>
            <a:r>
              <a:rPr sz="800" spc="90" dirty="0">
                <a:latin typeface="Times New Roman"/>
                <a:cs typeface="Times New Roman"/>
              </a:rPr>
              <a:t> </a:t>
            </a:r>
            <a:r>
              <a:rPr sz="800" spc="-95" dirty="0">
                <a:latin typeface="Times New Roman"/>
                <a:cs typeface="Times New Roman"/>
              </a:rPr>
              <a:t>HOST</a:t>
            </a:r>
            <a:r>
              <a:rPr sz="800" spc="90" dirty="0">
                <a:latin typeface="Times New Roman"/>
                <a:cs typeface="Times New Roman"/>
              </a:rPr>
              <a:t> </a:t>
            </a:r>
            <a:r>
              <a:rPr sz="800" spc="55" dirty="0">
                <a:latin typeface="Times New Roman"/>
                <a:cs typeface="Times New Roman"/>
              </a:rPr>
              <a:t>+</a:t>
            </a:r>
            <a:r>
              <a:rPr sz="800" spc="55" dirty="0">
                <a:solidFill>
                  <a:srgbClr val="FA0000"/>
                </a:solidFill>
                <a:latin typeface="Times New Roman"/>
                <a:cs typeface="Times New Roman"/>
              </a:rPr>
              <a:t>":"</a:t>
            </a:r>
            <a:r>
              <a:rPr sz="800" spc="55" dirty="0">
                <a:latin typeface="Times New Roman"/>
                <a:cs typeface="Times New Roman"/>
              </a:rPr>
              <a:t>+</a:t>
            </a:r>
            <a:r>
              <a:rPr sz="800" spc="95" dirty="0">
                <a:latin typeface="Times New Roman"/>
                <a:cs typeface="Times New Roman"/>
              </a:rPr>
              <a:t> </a:t>
            </a:r>
            <a:r>
              <a:rPr sz="800" spc="-70" dirty="0">
                <a:latin typeface="Times New Roman"/>
                <a:cs typeface="Times New Roman"/>
              </a:rPr>
              <a:t>PORT2</a:t>
            </a:r>
            <a:r>
              <a:rPr sz="800" spc="90" dirty="0">
                <a:latin typeface="Times New Roman"/>
                <a:cs typeface="Times New Roman"/>
              </a:rPr>
              <a:t> </a:t>
            </a:r>
            <a:r>
              <a:rPr sz="800" i="1" spc="75" dirty="0">
                <a:solidFill>
                  <a:srgbClr val="009600"/>
                </a:solidFill>
                <a:latin typeface="Times New Roman"/>
                <a:cs typeface="Times New Roman"/>
              </a:rPr>
              <a:t>#</a:t>
            </a:r>
            <a:r>
              <a:rPr sz="800" i="1" spc="95" dirty="0">
                <a:solidFill>
                  <a:srgbClr val="009600"/>
                </a:solidFill>
                <a:latin typeface="Times New Roman"/>
                <a:cs typeface="Times New Roman"/>
              </a:rPr>
              <a:t> </a:t>
            </a:r>
            <a:r>
              <a:rPr sz="800" i="1" spc="-10" dirty="0">
                <a:solidFill>
                  <a:srgbClr val="009600"/>
                </a:solidFill>
                <a:latin typeface="Times New Roman"/>
                <a:cs typeface="Times New Roman"/>
              </a:rPr>
              <a:t>how</a:t>
            </a:r>
            <a:r>
              <a:rPr sz="800" i="1" spc="75" dirty="0">
                <a:solidFill>
                  <a:srgbClr val="009600"/>
                </a:solidFill>
                <a:latin typeface="Times New Roman"/>
                <a:cs typeface="Times New Roman"/>
              </a:rPr>
              <a:t> </a:t>
            </a:r>
            <a:r>
              <a:rPr sz="800" i="1" spc="35" dirty="0">
                <a:solidFill>
                  <a:srgbClr val="009600"/>
                </a:solidFill>
                <a:latin typeface="Times New Roman"/>
                <a:cs typeface="Times New Roman"/>
              </a:rPr>
              <a:t>and</a:t>
            </a:r>
            <a:r>
              <a:rPr sz="800" i="1" spc="70" dirty="0">
                <a:solidFill>
                  <a:srgbClr val="009600"/>
                </a:solidFill>
                <a:latin typeface="Times New Roman"/>
                <a:cs typeface="Times New Roman"/>
              </a:rPr>
              <a:t> </a:t>
            </a:r>
            <a:r>
              <a:rPr sz="800" i="1" spc="30" dirty="0">
                <a:solidFill>
                  <a:srgbClr val="009600"/>
                </a:solidFill>
                <a:latin typeface="Times New Roman"/>
                <a:cs typeface="Times New Roman"/>
              </a:rPr>
              <a:t>where</a:t>
            </a:r>
            <a:r>
              <a:rPr sz="800" i="1" spc="75"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80" dirty="0">
                <a:solidFill>
                  <a:srgbClr val="009600"/>
                </a:solidFill>
                <a:latin typeface="Times New Roman"/>
                <a:cs typeface="Times New Roman"/>
              </a:rPr>
              <a:t> </a:t>
            </a:r>
            <a:r>
              <a:rPr sz="800" i="1" spc="60" dirty="0">
                <a:solidFill>
                  <a:srgbClr val="009600"/>
                </a:solidFill>
                <a:latin typeface="Times New Roman"/>
                <a:cs typeface="Times New Roman"/>
              </a:rPr>
              <a:t>connect</a:t>
            </a:r>
            <a:endParaRPr sz="800">
              <a:latin typeface="Times New Roman"/>
              <a:cs typeface="Times New Roman"/>
            </a:endParaRPr>
          </a:p>
        </p:txBody>
      </p:sp>
      <p:sp>
        <p:nvSpPr>
          <p:cNvPr id="6" name="object 6"/>
          <p:cNvSpPr txBox="1"/>
          <p:nvPr/>
        </p:nvSpPr>
        <p:spPr>
          <a:xfrm>
            <a:off x="2088286" y="1546719"/>
            <a:ext cx="1102360" cy="147320"/>
          </a:xfrm>
          <a:prstGeom prst="rect">
            <a:avLst/>
          </a:prstGeom>
        </p:spPr>
        <p:txBody>
          <a:bodyPr vert="horz" wrap="square" lIns="0" tIns="12065" rIns="0" bIns="0" rtlCol="0">
            <a:spAutoFit/>
          </a:bodyPr>
          <a:lstStyle/>
          <a:p>
            <a:pPr marL="12700">
              <a:lnSpc>
                <a:spcPct val="100000"/>
              </a:lnSpc>
              <a:spcBef>
                <a:spcPts val="95"/>
              </a:spcBef>
            </a:pPr>
            <a:r>
              <a:rPr sz="800" i="1" spc="75" dirty="0">
                <a:solidFill>
                  <a:srgbClr val="009600"/>
                </a:solidFill>
                <a:latin typeface="Times New Roman"/>
                <a:cs typeface="Times New Roman"/>
              </a:rPr>
              <a:t>#</a:t>
            </a:r>
            <a:r>
              <a:rPr sz="800" i="1" spc="70" dirty="0">
                <a:solidFill>
                  <a:srgbClr val="009600"/>
                </a:solidFill>
                <a:latin typeface="Times New Roman"/>
                <a:cs typeface="Times New Roman"/>
              </a:rPr>
              <a:t> </a:t>
            </a:r>
            <a:r>
              <a:rPr sz="800" i="1" spc="85" dirty="0">
                <a:solidFill>
                  <a:srgbClr val="009600"/>
                </a:solidFill>
                <a:latin typeface="Times New Roman"/>
                <a:cs typeface="Times New Roman"/>
              </a:rPr>
              <a:t>create</a:t>
            </a:r>
            <a:r>
              <a:rPr sz="800" i="1" spc="45" dirty="0">
                <a:solidFill>
                  <a:srgbClr val="009600"/>
                </a:solidFill>
                <a:latin typeface="Times New Roman"/>
                <a:cs typeface="Times New Roman"/>
              </a:rPr>
              <a:t> </a:t>
            </a:r>
            <a:r>
              <a:rPr sz="800" i="1" spc="90" dirty="0">
                <a:solidFill>
                  <a:srgbClr val="009600"/>
                </a:solidFill>
                <a:latin typeface="Times New Roman"/>
                <a:cs typeface="Times New Roman"/>
              </a:rPr>
              <a:t>reply</a:t>
            </a:r>
            <a:r>
              <a:rPr sz="800" i="1" spc="45" dirty="0">
                <a:solidFill>
                  <a:srgbClr val="009600"/>
                </a:solidFill>
                <a:latin typeface="Times New Roman"/>
                <a:cs typeface="Times New Roman"/>
              </a:rPr>
              <a:t> </a:t>
            </a:r>
            <a:r>
              <a:rPr sz="800" i="1" spc="85" dirty="0">
                <a:solidFill>
                  <a:srgbClr val="009600"/>
                </a:solidFill>
                <a:latin typeface="Times New Roman"/>
                <a:cs typeface="Times New Roman"/>
              </a:rPr>
              <a:t>socket</a:t>
            </a:r>
            <a:endParaRPr sz="800">
              <a:latin typeface="Times New Roman"/>
              <a:cs typeface="Times New Roman"/>
            </a:endParaRPr>
          </a:p>
        </p:txBody>
      </p:sp>
      <p:sp>
        <p:nvSpPr>
          <p:cNvPr id="7" name="object 7"/>
          <p:cNvSpPr txBox="1"/>
          <p:nvPr/>
        </p:nvSpPr>
        <p:spPr>
          <a:xfrm>
            <a:off x="306806" y="1530693"/>
            <a:ext cx="1614805" cy="595630"/>
          </a:xfrm>
          <a:prstGeom prst="rect">
            <a:avLst/>
          </a:prstGeom>
        </p:spPr>
        <p:txBody>
          <a:bodyPr vert="horz" wrap="square" lIns="0" tIns="27940" rIns="0" bIns="0" rtlCol="0">
            <a:spAutoFit/>
          </a:bodyPr>
          <a:lstStyle/>
          <a:p>
            <a:pPr marL="57785">
              <a:lnSpc>
                <a:spcPct val="100000"/>
              </a:lnSpc>
              <a:spcBef>
                <a:spcPts val="220"/>
              </a:spcBef>
            </a:pPr>
            <a:r>
              <a:rPr sz="600" spc="55" dirty="0">
                <a:latin typeface="Times New Roman"/>
                <a:cs typeface="Times New Roman"/>
              </a:rPr>
              <a:t>6 </a:t>
            </a:r>
            <a:r>
              <a:rPr sz="600" spc="180" dirty="0">
                <a:latin typeface="Times New Roman"/>
                <a:cs typeface="Times New Roman"/>
              </a:rPr>
              <a:t> </a:t>
            </a:r>
            <a:r>
              <a:rPr sz="800" spc="165" dirty="0">
                <a:latin typeface="Times New Roman"/>
                <a:cs typeface="Times New Roman"/>
              </a:rPr>
              <a:t>s</a:t>
            </a:r>
            <a:r>
              <a:rPr sz="800" spc="490" dirty="0">
                <a:latin typeface="Times New Roman"/>
                <a:cs typeface="Times New Roman"/>
              </a:rPr>
              <a:t> </a:t>
            </a:r>
            <a:r>
              <a:rPr sz="800" spc="25" dirty="0">
                <a:latin typeface="Times New Roman"/>
                <a:cs typeface="Times New Roman"/>
              </a:rPr>
              <a:t>=</a:t>
            </a:r>
            <a:r>
              <a:rPr sz="800" spc="75" dirty="0">
                <a:latin typeface="Times New Roman"/>
                <a:cs typeface="Times New Roman"/>
              </a:rPr>
              <a:t> </a:t>
            </a:r>
            <a:r>
              <a:rPr sz="800" spc="45" dirty="0">
                <a:latin typeface="Times New Roman"/>
                <a:cs typeface="Times New Roman"/>
              </a:rPr>
              <a:t>context.socket(zmq.REP)</a:t>
            </a:r>
            <a:endParaRPr sz="800">
              <a:latin typeface="Times New Roman"/>
              <a:cs typeface="Times New Roman"/>
            </a:endParaRPr>
          </a:p>
          <a:p>
            <a:pPr marL="57785">
              <a:lnSpc>
                <a:spcPts val="685"/>
              </a:lnSpc>
              <a:spcBef>
                <a:spcPts val="95"/>
              </a:spcBef>
            </a:pPr>
            <a:r>
              <a:rPr sz="600" spc="55" dirty="0">
                <a:latin typeface="Times New Roman"/>
                <a:cs typeface="Times New Roman"/>
              </a:rPr>
              <a:t>7</a:t>
            </a:r>
            <a:endParaRPr sz="600">
              <a:latin typeface="Times New Roman"/>
              <a:cs typeface="Times New Roman"/>
            </a:endParaRPr>
          </a:p>
          <a:p>
            <a:pPr marL="57785">
              <a:lnSpc>
                <a:spcPts val="869"/>
              </a:lnSpc>
            </a:pPr>
            <a:r>
              <a:rPr sz="600" spc="55" dirty="0">
                <a:latin typeface="Times New Roman"/>
                <a:cs typeface="Times New Roman"/>
              </a:rPr>
              <a:t>8 </a:t>
            </a:r>
            <a:r>
              <a:rPr sz="600" spc="135" dirty="0">
                <a:latin typeface="Times New Roman"/>
                <a:cs typeface="Times New Roman"/>
              </a:rPr>
              <a:t> </a:t>
            </a:r>
            <a:r>
              <a:rPr sz="800" spc="75" dirty="0">
                <a:latin typeface="Times New Roman"/>
                <a:cs typeface="Times New Roman"/>
              </a:rPr>
              <a:t>s.bind(p1)</a:t>
            </a:r>
            <a:endParaRPr sz="800">
              <a:latin typeface="Times New Roman"/>
              <a:cs typeface="Times New Roman"/>
            </a:endParaRPr>
          </a:p>
          <a:p>
            <a:pPr marL="57785">
              <a:lnSpc>
                <a:spcPts val="850"/>
              </a:lnSpc>
            </a:pPr>
            <a:r>
              <a:rPr sz="600" spc="55" dirty="0">
                <a:latin typeface="Times New Roman"/>
                <a:cs typeface="Times New Roman"/>
              </a:rPr>
              <a:t>9 </a:t>
            </a:r>
            <a:r>
              <a:rPr sz="600" spc="135" dirty="0">
                <a:latin typeface="Times New Roman"/>
                <a:cs typeface="Times New Roman"/>
              </a:rPr>
              <a:t> </a:t>
            </a:r>
            <a:r>
              <a:rPr sz="800" spc="75" dirty="0">
                <a:latin typeface="Times New Roman"/>
                <a:cs typeface="Times New Roman"/>
              </a:rPr>
              <a:t>s.bind(p2)</a:t>
            </a:r>
            <a:endParaRPr sz="800">
              <a:latin typeface="Times New Roman"/>
              <a:cs typeface="Times New Roman"/>
            </a:endParaRPr>
          </a:p>
          <a:p>
            <a:pPr marL="12700">
              <a:lnSpc>
                <a:spcPts val="905"/>
              </a:lnSpc>
            </a:pPr>
            <a:r>
              <a:rPr sz="600" spc="55" dirty="0">
                <a:latin typeface="Times New Roman"/>
                <a:cs typeface="Times New Roman"/>
              </a:rPr>
              <a:t>10 </a:t>
            </a:r>
            <a:r>
              <a:rPr sz="600" spc="135" dirty="0">
                <a:latin typeface="Times New Roman"/>
                <a:cs typeface="Times New Roman"/>
              </a:rPr>
              <a:t> </a:t>
            </a:r>
            <a:r>
              <a:rPr sz="800" b="1" spc="55" dirty="0">
                <a:solidFill>
                  <a:srgbClr val="FF0059"/>
                </a:solidFill>
                <a:latin typeface="Times New Roman"/>
                <a:cs typeface="Times New Roman"/>
              </a:rPr>
              <a:t>while</a:t>
            </a:r>
            <a:r>
              <a:rPr sz="800" b="1" spc="45" dirty="0">
                <a:solidFill>
                  <a:srgbClr val="FF0059"/>
                </a:solidFill>
                <a:latin typeface="Times New Roman"/>
                <a:cs typeface="Times New Roman"/>
              </a:rPr>
              <a:t> </a:t>
            </a:r>
            <a:r>
              <a:rPr sz="800" spc="70" dirty="0">
                <a:latin typeface="Times New Roman"/>
                <a:cs typeface="Times New Roman"/>
              </a:rPr>
              <a:t>True:</a:t>
            </a:r>
            <a:endParaRPr sz="800">
              <a:latin typeface="Times New Roman"/>
              <a:cs typeface="Times New Roman"/>
            </a:endParaRPr>
          </a:p>
        </p:txBody>
      </p:sp>
      <p:sp>
        <p:nvSpPr>
          <p:cNvPr id="8" name="object 8"/>
          <p:cNvSpPr txBox="1"/>
          <p:nvPr/>
        </p:nvSpPr>
        <p:spPr>
          <a:xfrm>
            <a:off x="2088286" y="1763076"/>
            <a:ext cx="1254125" cy="255270"/>
          </a:xfrm>
          <a:prstGeom prst="rect">
            <a:avLst/>
          </a:prstGeom>
        </p:spPr>
        <p:txBody>
          <a:bodyPr vert="horz" wrap="square" lIns="0" tIns="27305" rIns="0" bIns="0" rtlCol="0">
            <a:spAutoFit/>
          </a:bodyPr>
          <a:lstStyle/>
          <a:p>
            <a:pPr marL="12700" marR="5080">
              <a:lnSpc>
                <a:spcPts val="850"/>
              </a:lnSpc>
              <a:spcBef>
                <a:spcPts val="215"/>
              </a:spcBef>
            </a:pPr>
            <a:r>
              <a:rPr sz="800" i="1" spc="75" dirty="0">
                <a:solidFill>
                  <a:srgbClr val="009600"/>
                </a:solidFill>
                <a:latin typeface="Times New Roman"/>
                <a:cs typeface="Times New Roman"/>
              </a:rPr>
              <a:t># </a:t>
            </a:r>
            <a:r>
              <a:rPr sz="800" i="1" spc="70" dirty="0">
                <a:solidFill>
                  <a:srgbClr val="009600"/>
                </a:solidFill>
                <a:latin typeface="Times New Roman"/>
                <a:cs typeface="Times New Roman"/>
              </a:rPr>
              <a:t>bind</a:t>
            </a:r>
            <a:r>
              <a:rPr sz="800" i="1" spc="50" dirty="0">
                <a:solidFill>
                  <a:srgbClr val="009600"/>
                </a:solidFill>
                <a:latin typeface="Times New Roman"/>
                <a:cs typeface="Times New Roman"/>
              </a:rPr>
              <a:t> </a:t>
            </a:r>
            <a:r>
              <a:rPr sz="800" i="1" spc="85" dirty="0">
                <a:solidFill>
                  <a:srgbClr val="009600"/>
                </a:solidFill>
                <a:latin typeface="Times New Roman"/>
                <a:cs typeface="Times New Roman"/>
              </a:rPr>
              <a:t>socket</a:t>
            </a:r>
            <a:r>
              <a:rPr sz="800" i="1" spc="60"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60" dirty="0">
                <a:solidFill>
                  <a:srgbClr val="009600"/>
                </a:solidFill>
                <a:latin typeface="Times New Roman"/>
                <a:cs typeface="Times New Roman"/>
              </a:rPr>
              <a:t> address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 </a:t>
            </a:r>
            <a:r>
              <a:rPr sz="800" i="1" spc="70" dirty="0">
                <a:solidFill>
                  <a:srgbClr val="009600"/>
                </a:solidFill>
                <a:latin typeface="Times New Roman"/>
                <a:cs typeface="Times New Roman"/>
              </a:rPr>
              <a:t>bind</a:t>
            </a:r>
            <a:r>
              <a:rPr sz="800" i="1" spc="50" dirty="0">
                <a:solidFill>
                  <a:srgbClr val="009600"/>
                </a:solidFill>
                <a:latin typeface="Times New Roman"/>
                <a:cs typeface="Times New Roman"/>
              </a:rPr>
              <a:t> </a:t>
            </a:r>
            <a:r>
              <a:rPr sz="800" i="1" spc="85" dirty="0">
                <a:solidFill>
                  <a:srgbClr val="009600"/>
                </a:solidFill>
                <a:latin typeface="Times New Roman"/>
                <a:cs typeface="Times New Roman"/>
              </a:rPr>
              <a:t>socket</a:t>
            </a:r>
            <a:r>
              <a:rPr sz="800" i="1" spc="60"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60" dirty="0">
                <a:solidFill>
                  <a:srgbClr val="009600"/>
                </a:solidFill>
                <a:latin typeface="Times New Roman"/>
                <a:cs typeface="Times New Roman"/>
              </a:rPr>
              <a:t> address</a:t>
            </a:r>
            <a:endParaRPr sz="800">
              <a:latin typeface="Times New Roman"/>
              <a:cs typeface="Times New Roman"/>
            </a:endParaRPr>
          </a:p>
        </p:txBody>
      </p:sp>
      <p:sp>
        <p:nvSpPr>
          <p:cNvPr id="9" name="object 9"/>
          <p:cNvSpPr txBox="1"/>
          <p:nvPr/>
        </p:nvSpPr>
        <p:spPr>
          <a:xfrm>
            <a:off x="281406" y="2087612"/>
            <a:ext cx="1627505" cy="579755"/>
          </a:xfrm>
          <a:prstGeom prst="rect">
            <a:avLst/>
          </a:prstGeom>
        </p:spPr>
        <p:txBody>
          <a:bodyPr vert="horz" wrap="square" lIns="0" tIns="12065" rIns="0" bIns="0" rtlCol="0">
            <a:spAutoFit/>
          </a:bodyPr>
          <a:lstStyle/>
          <a:p>
            <a:pPr marL="38100">
              <a:lnSpc>
                <a:spcPts val="905"/>
              </a:lnSpc>
              <a:spcBef>
                <a:spcPts val="95"/>
              </a:spcBef>
              <a:tabLst>
                <a:tab pos="297180" algn="l"/>
              </a:tabLst>
            </a:pPr>
            <a:r>
              <a:rPr sz="600" spc="55" dirty="0">
                <a:latin typeface="Times New Roman"/>
                <a:cs typeface="Times New Roman"/>
              </a:rPr>
              <a:t>11	</a:t>
            </a:r>
            <a:r>
              <a:rPr sz="800" spc="25" dirty="0">
                <a:latin typeface="Times New Roman"/>
                <a:cs typeface="Times New Roman"/>
              </a:rPr>
              <a:t>message</a:t>
            </a:r>
            <a:r>
              <a:rPr sz="800" spc="6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105" dirty="0">
                <a:latin typeface="Times New Roman"/>
                <a:cs typeface="Times New Roman"/>
              </a:rPr>
              <a:t>s.recv()</a:t>
            </a:r>
            <a:endParaRPr sz="800">
              <a:latin typeface="Times New Roman"/>
              <a:cs typeface="Times New Roman"/>
            </a:endParaRPr>
          </a:p>
          <a:p>
            <a:pPr marL="38100">
              <a:lnSpc>
                <a:spcPts val="850"/>
              </a:lnSpc>
              <a:tabLst>
                <a:tab pos="299085" algn="l"/>
              </a:tabLst>
            </a:pPr>
            <a:r>
              <a:rPr sz="600" spc="55" dirty="0">
                <a:latin typeface="Times New Roman"/>
                <a:cs typeface="Times New Roman"/>
              </a:rPr>
              <a:t>12	</a:t>
            </a:r>
            <a:r>
              <a:rPr sz="800" b="1" spc="204" dirty="0">
                <a:solidFill>
                  <a:srgbClr val="FF0059"/>
                </a:solidFill>
                <a:latin typeface="Times New Roman"/>
                <a:cs typeface="Times New Roman"/>
              </a:rPr>
              <a:t>if</a:t>
            </a:r>
            <a:r>
              <a:rPr sz="800" b="1" spc="70" dirty="0">
                <a:solidFill>
                  <a:srgbClr val="FF0059"/>
                </a:solidFill>
                <a:latin typeface="Times New Roman"/>
                <a:cs typeface="Times New Roman"/>
              </a:rPr>
              <a:t> </a:t>
            </a:r>
            <a:r>
              <a:rPr sz="800" b="1" spc="65" dirty="0">
                <a:solidFill>
                  <a:srgbClr val="FF0059"/>
                </a:solidFill>
                <a:latin typeface="Times New Roman"/>
                <a:cs typeface="Times New Roman"/>
              </a:rPr>
              <a:t>not</a:t>
            </a:r>
            <a:r>
              <a:rPr sz="800" b="1" spc="85" dirty="0">
                <a:solidFill>
                  <a:srgbClr val="FF0059"/>
                </a:solidFill>
                <a:latin typeface="Times New Roman"/>
                <a:cs typeface="Times New Roman"/>
              </a:rPr>
              <a:t> </a:t>
            </a:r>
            <a:r>
              <a:rPr sz="800" spc="-25" dirty="0">
                <a:solidFill>
                  <a:srgbClr val="FA0000"/>
                </a:solidFill>
                <a:latin typeface="Times New Roman"/>
                <a:cs typeface="Times New Roman"/>
              </a:rPr>
              <a:t>"STOP"</a:t>
            </a:r>
            <a:r>
              <a:rPr sz="800" spc="95" dirty="0">
                <a:solidFill>
                  <a:srgbClr val="FA0000"/>
                </a:solidFill>
                <a:latin typeface="Times New Roman"/>
                <a:cs typeface="Times New Roman"/>
              </a:rPr>
              <a:t> </a:t>
            </a:r>
            <a:r>
              <a:rPr sz="800" b="1" spc="114" dirty="0">
                <a:solidFill>
                  <a:srgbClr val="FF0059"/>
                </a:solidFill>
                <a:latin typeface="Times New Roman"/>
                <a:cs typeface="Times New Roman"/>
              </a:rPr>
              <a:t>in</a:t>
            </a:r>
            <a:r>
              <a:rPr sz="800" b="1" spc="65" dirty="0">
                <a:solidFill>
                  <a:srgbClr val="FF0059"/>
                </a:solidFill>
                <a:latin typeface="Times New Roman"/>
                <a:cs typeface="Times New Roman"/>
              </a:rPr>
              <a:t> </a:t>
            </a:r>
            <a:r>
              <a:rPr sz="800" spc="40" dirty="0">
                <a:latin typeface="Times New Roman"/>
                <a:cs typeface="Times New Roman"/>
              </a:rPr>
              <a:t>message:</a:t>
            </a:r>
            <a:endParaRPr sz="800">
              <a:latin typeface="Times New Roman"/>
              <a:cs typeface="Times New Roman"/>
            </a:endParaRPr>
          </a:p>
          <a:p>
            <a:pPr marL="38100">
              <a:lnSpc>
                <a:spcPts val="850"/>
              </a:lnSpc>
              <a:tabLst>
                <a:tab pos="401955" algn="l"/>
              </a:tabLst>
            </a:pPr>
            <a:r>
              <a:rPr sz="600" spc="55" dirty="0">
                <a:latin typeface="Times New Roman"/>
                <a:cs typeface="Times New Roman"/>
              </a:rPr>
              <a:t>13	</a:t>
            </a:r>
            <a:r>
              <a:rPr sz="800" spc="50" dirty="0">
                <a:latin typeface="Times New Roman"/>
                <a:cs typeface="Times New Roman"/>
              </a:rPr>
              <a:t>s.send(message</a:t>
            </a:r>
            <a:r>
              <a:rPr sz="800" spc="55" dirty="0">
                <a:latin typeface="Times New Roman"/>
                <a:cs typeface="Times New Roman"/>
              </a:rPr>
              <a:t> </a:t>
            </a:r>
            <a:r>
              <a:rPr sz="800" spc="25" dirty="0">
                <a:latin typeface="Times New Roman"/>
                <a:cs typeface="Times New Roman"/>
              </a:rPr>
              <a:t>+</a:t>
            </a:r>
            <a:r>
              <a:rPr sz="800" spc="85" dirty="0">
                <a:latin typeface="Times New Roman"/>
                <a:cs typeface="Times New Roman"/>
              </a:rPr>
              <a:t> </a:t>
            </a:r>
            <a:r>
              <a:rPr sz="800" spc="85" dirty="0">
                <a:solidFill>
                  <a:srgbClr val="FA0000"/>
                </a:solidFill>
                <a:latin typeface="Times New Roman"/>
                <a:cs typeface="Times New Roman"/>
              </a:rPr>
              <a:t>"</a:t>
            </a:r>
            <a:r>
              <a:rPr sz="1200" spc="127" baseline="-10416" dirty="0">
                <a:solidFill>
                  <a:srgbClr val="FA0000"/>
                </a:solidFill>
                <a:latin typeface="Times New Roman"/>
                <a:cs typeface="Times New Roman"/>
              </a:rPr>
              <a:t>*</a:t>
            </a:r>
            <a:r>
              <a:rPr sz="800" spc="85" dirty="0">
                <a:solidFill>
                  <a:srgbClr val="FA0000"/>
                </a:solidFill>
                <a:latin typeface="Times New Roman"/>
                <a:cs typeface="Times New Roman"/>
              </a:rPr>
              <a:t>"</a:t>
            </a:r>
            <a:r>
              <a:rPr sz="800" spc="85" dirty="0">
                <a:latin typeface="Times New Roman"/>
                <a:cs typeface="Times New Roman"/>
              </a:rPr>
              <a:t>)</a:t>
            </a:r>
            <a:endParaRPr sz="800">
              <a:latin typeface="Times New Roman"/>
              <a:cs typeface="Times New Roman"/>
            </a:endParaRPr>
          </a:p>
          <a:p>
            <a:pPr marL="38100">
              <a:lnSpc>
                <a:spcPts val="850"/>
              </a:lnSpc>
              <a:tabLst>
                <a:tab pos="297815" algn="l"/>
              </a:tabLst>
            </a:pPr>
            <a:r>
              <a:rPr sz="600" spc="55" dirty="0">
                <a:latin typeface="Times New Roman"/>
                <a:cs typeface="Times New Roman"/>
              </a:rPr>
              <a:t>14	</a:t>
            </a:r>
            <a:r>
              <a:rPr sz="800" b="1" spc="125" dirty="0">
                <a:solidFill>
                  <a:srgbClr val="FF0059"/>
                </a:solidFill>
                <a:latin typeface="Times New Roman"/>
                <a:cs typeface="Times New Roman"/>
              </a:rPr>
              <a:t>else</a:t>
            </a:r>
            <a:r>
              <a:rPr sz="800" spc="125" dirty="0">
                <a:latin typeface="Times New Roman"/>
                <a:cs typeface="Times New Roman"/>
              </a:rPr>
              <a:t>:</a:t>
            </a:r>
            <a:endParaRPr sz="800">
              <a:latin typeface="Times New Roman"/>
              <a:cs typeface="Times New Roman"/>
            </a:endParaRPr>
          </a:p>
          <a:p>
            <a:pPr marL="38100">
              <a:lnSpc>
                <a:spcPts val="905"/>
              </a:lnSpc>
              <a:tabLst>
                <a:tab pos="398780" algn="l"/>
              </a:tabLst>
            </a:pPr>
            <a:r>
              <a:rPr sz="600" spc="55" dirty="0">
                <a:latin typeface="Times New Roman"/>
                <a:cs typeface="Times New Roman"/>
              </a:rPr>
              <a:t>15	</a:t>
            </a:r>
            <a:r>
              <a:rPr sz="800" b="1" spc="20" dirty="0">
                <a:solidFill>
                  <a:srgbClr val="FF0059"/>
                </a:solidFill>
                <a:latin typeface="Times New Roman"/>
                <a:cs typeface="Times New Roman"/>
              </a:rPr>
              <a:t>break</a:t>
            </a:r>
            <a:endParaRPr sz="800">
              <a:latin typeface="Times New Roman"/>
              <a:cs typeface="Times New Roman"/>
            </a:endParaRPr>
          </a:p>
        </p:txBody>
      </p:sp>
      <p:sp>
        <p:nvSpPr>
          <p:cNvPr id="10" name="object 10"/>
          <p:cNvSpPr txBox="1"/>
          <p:nvPr/>
        </p:nvSpPr>
        <p:spPr>
          <a:xfrm>
            <a:off x="2062886" y="2087612"/>
            <a:ext cx="1456690" cy="579755"/>
          </a:xfrm>
          <a:prstGeom prst="rect">
            <a:avLst/>
          </a:prstGeom>
        </p:spPr>
        <p:txBody>
          <a:bodyPr vert="horz" wrap="square" lIns="0" tIns="27305" rIns="0" bIns="0" rtlCol="0">
            <a:spAutoFit/>
          </a:bodyPr>
          <a:lstStyle/>
          <a:p>
            <a:pPr marL="38100" marR="30480">
              <a:lnSpc>
                <a:spcPts val="850"/>
              </a:lnSpc>
              <a:spcBef>
                <a:spcPts val="215"/>
              </a:spcBef>
            </a:pPr>
            <a:r>
              <a:rPr sz="800" i="1" spc="75" dirty="0">
                <a:solidFill>
                  <a:srgbClr val="009600"/>
                </a:solidFill>
                <a:latin typeface="Times New Roman"/>
                <a:cs typeface="Times New Roman"/>
              </a:rPr>
              <a:t># </a:t>
            </a:r>
            <a:r>
              <a:rPr sz="800" i="1" spc="80" dirty="0">
                <a:solidFill>
                  <a:srgbClr val="009600"/>
                </a:solidFill>
                <a:latin typeface="Times New Roman"/>
                <a:cs typeface="Times New Roman"/>
              </a:rPr>
              <a:t>wait</a:t>
            </a:r>
            <a:r>
              <a:rPr sz="800" i="1" spc="70" dirty="0">
                <a:solidFill>
                  <a:srgbClr val="009600"/>
                </a:solidFill>
                <a:latin typeface="Times New Roman"/>
                <a:cs typeface="Times New Roman"/>
              </a:rPr>
              <a:t> </a:t>
            </a:r>
            <a:r>
              <a:rPr sz="800" i="1" spc="125" dirty="0">
                <a:solidFill>
                  <a:srgbClr val="009600"/>
                </a:solidFill>
                <a:latin typeface="Times New Roman"/>
                <a:cs typeface="Times New Roman"/>
              </a:rPr>
              <a:t>for</a:t>
            </a:r>
            <a:r>
              <a:rPr sz="800" i="1" spc="55" dirty="0">
                <a:solidFill>
                  <a:srgbClr val="009600"/>
                </a:solidFill>
                <a:latin typeface="Times New Roman"/>
                <a:cs typeface="Times New Roman"/>
              </a:rPr>
              <a:t> </a:t>
            </a:r>
            <a:r>
              <a:rPr sz="800" i="1" spc="40" dirty="0">
                <a:solidFill>
                  <a:srgbClr val="009600"/>
                </a:solidFill>
                <a:latin typeface="Times New Roman"/>
                <a:cs typeface="Times New Roman"/>
              </a:rPr>
              <a:t>incoming</a:t>
            </a:r>
            <a:r>
              <a:rPr sz="800" i="1" spc="45" dirty="0">
                <a:solidFill>
                  <a:srgbClr val="009600"/>
                </a:solidFill>
                <a:latin typeface="Times New Roman"/>
                <a:cs typeface="Times New Roman"/>
              </a:rPr>
              <a:t> </a:t>
            </a:r>
            <a:r>
              <a:rPr sz="800" i="1" spc="25" dirty="0">
                <a:solidFill>
                  <a:srgbClr val="009600"/>
                </a:solidFill>
                <a:latin typeface="Times New Roman"/>
                <a:cs typeface="Times New Roman"/>
              </a:rPr>
              <a:t>message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100" dirty="0">
                <a:solidFill>
                  <a:srgbClr val="009600"/>
                </a:solidFill>
                <a:latin typeface="Times New Roman"/>
                <a:cs typeface="Times New Roman"/>
              </a:rPr>
              <a:t> </a:t>
            </a:r>
            <a:r>
              <a:rPr sz="800" i="1" spc="225" dirty="0">
                <a:solidFill>
                  <a:srgbClr val="009600"/>
                </a:solidFill>
                <a:latin typeface="Times New Roman"/>
                <a:cs typeface="Times New Roman"/>
              </a:rPr>
              <a:t>if</a:t>
            </a:r>
            <a:r>
              <a:rPr sz="800" i="1" spc="80" dirty="0">
                <a:solidFill>
                  <a:srgbClr val="009600"/>
                </a:solidFill>
                <a:latin typeface="Times New Roman"/>
                <a:cs typeface="Times New Roman"/>
              </a:rPr>
              <a:t> </a:t>
            </a:r>
            <a:r>
              <a:rPr sz="800" i="1" spc="95" dirty="0">
                <a:solidFill>
                  <a:srgbClr val="009600"/>
                </a:solidFill>
                <a:latin typeface="Times New Roman"/>
                <a:cs typeface="Times New Roman"/>
              </a:rPr>
              <a:t>not</a:t>
            </a:r>
            <a:r>
              <a:rPr sz="800" i="1" spc="85"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75" dirty="0">
                <a:solidFill>
                  <a:srgbClr val="009600"/>
                </a:solidFill>
                <a:latin typeface="Times New Roman"/>
                <a:cs typeface="Times New Roman"/>
              </a:rPr>
              <a:t> </a:t>
            </a:r>
            <a:r>
              <a:rPr sz="800" i="1" spc="135" dirty="0">
                <a:solidFill>
                  <a:srgbClr val="009600"/>
                </a:solidFill>
                <a:latin typeface="Times New Roman"/>
                <a:cs typeface="Times New Roman"/>
              </a:rPr>
              <a:t>stop...</a:t>
            </a:r>
            <a:endParaRPr sz="800">
              <a:latin typeface="Times New Roman"/>
              <a:cs typeface="Times New Roman"/>
            </a:endParaRPr>
          </a:p>
          <a:p>
            <a:pPr marL="38100" marR="232410">
              <a:lnSpc>
                <a:spcPts val="850"/>
              </a:lnSpc>
              <a:spcBef>
                <a:spcPts val="5"/>
              </a:spcBef>
            </a:pPr>
            <a:r>
              <a:rPr sz="800" i="1" spc="75" dirty="0">
                <a:solidFill>
                  <a:srgbClr val="009600"/>
                </a:solidFill>
                <a:latin typeface="Times New Roman"/>
                <a:cs typeface="Times New Roman"/>
              </a:rPr>
              <a:t># </a:t>
            </a:r>
            <a:r>
              <a:rPr sz="800" i="1" spc="25" dirty="0">
                <a:solidFill>
                  <a:srgbClr val="009600"/>
                </a:solidFill>
                <a:latin typeface="Times New Roman"/>
                <a:cs typeface="Times New Roman"/>
              </a:rPr>
              <a:t>append</a:t>
            </a:r>
            <a:r>
              <a:rPr sz="800" i="1" spc="60" dirty="0">
                <a:solidFill>
                  <a:srgbClr val="009600"/>
                </a:solidFill>
                <a:latin typeface="Times New Roman"/>
                <a:cs typeface="Times New Roman"/>
              </a:rPr>
              <a:t> </a:t>
            </a:r>
            <a:r>
              <a:rPr sz="800" i="1" spc="80" dirty="0">
                <a:solidFill>
                  <a:srgbClr val="009600"/>
                </a:solidFill>
                <a:latin typeface="Times New Roman"/>
                <a:cs typeface="Times New Roman"/>
              </a:rPr>
              <a:t>"</a:t>
            </a:r>
            <a:r>
              <a:rPr sz="1200" i="1" spc="120" baseline="-10416" dirty="0">
                <a:solidFill>
                  <a:srgbClr val="009600"/>
                </a:solidFill>
                <a:latin typeface="Times New Roman"/>
                <a:cs typeface="Times New Roman"/>
              </a:rPr>
              <a:t>*</a:t>
            </a:r>
            <a:r>
              <a:rPr sz="800" i="1" spc="80" dirty="0">
                <a:solidFill>
                  <a:srgbClr val="009600"/>
                </a:solidFill>
                <a:latin typeface="Times New Roman"/>
                <a:cs typeface="Times New Roman"/>
              </a:rPr>
              <a:t>"</a:t>
            </a:r>
            <a:r>
              <a:rPr sz="800" i="1" spc="75"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65" dirty="0">
                <a:solidFill>
                  <a:srgbClr val="009600"/>
                </a:solidFill>
                <a:latin typeface="Times New Roman"/>
                <a:cs typeface="Times New Roman"/>
              </a:rPr>
              <a:t> </a:t>
            </a:r>
            <a:r>
              <a:rPr sz="800" i="1" spc="25" dirty="0">
                <a:solidFill>
                  <a:srgbClr val="009600"/>
                </a:solidFill>
                <a:latin typeface="Times New Roman"/>
                <a:cs typeface="Times New Roman"/>
              </a:rPr>
              <a:t>message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a:t>
            </a:r>
            <a:r>
              <a:rPr sz="800" i="1" spc="150" dirty="0">
                <a:solidFill>
                  <a:srgbClr val="009600"/>
                </a:solidFill>
                <a:latin typeface="Times New Roman"/>
                <a:cs typeface="Times New Roman"/>
              </a:rPr>
              <a:t>else...</a:t>
            </a:r>
            <a:endParaRPr sz="800">
              <a:latin typeface="Times New Roman"/>
              <a:cs typeface="Times New Roman"/>
            </a:endParaRPr>
          </a:p>
          <a:p>
            <a:pPr marL="38100">
              <a:lnSpc>
                <a:spcPts val="844"/>
              </a:lnSpc>
            </a:pP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a:t>
            </a:r>
            <a:r>
              <a:rPr sz="800" i="1" spc="55" dirty="0">
                <a:solidFill>
                  <a:srgbClr val="009600"/>
                </a:solidFill>
                <a:latin typeface="Times New Roman"/>
                <a:cs typeface="Times New Roman"/>
              </a:rPr>
              <a:t>break</a:t>
            </a:r>
            <a:r>
              <a:rPr sz="800" i="1" spc="65" dirty="0">
                <a:solidFill>
                  <a:srgbClr val="009600"/>
                </a:solidFill>
                <a:latin typeface="Times New Roman"/>
                <a:cs typeface="Times New Roman"/>
              </a:rPr>
              <a:t> </a:t>
            </a:r>
            <a:r>
              <a:rPr sz="800" i="1" spc="95" dirty="0">
                <a:solidFill>
                  <a:srgbClr val="009600"/>
                </a:solidFill>
                <a:latin typeface="Times New Roman"/>
                <a:cs typeface="Times New Roman"/>
              </a:rPr>
              <a:t>out</a:t>
            </a:r>
            <a:r>
              <a:rPr sz="800" i="1" spc="80" dirty="0">
                <a:solidFill>
                  <a:srgbClr val="009600"/>
                </a:solidFill>
                <a:latin typeface="Times New Roman"/>
                <a:cs typeface="Times New Roman"/>
              </a:rPr>
              <a:t> </a:t>
            </a:r>
            <a:r>
              <a:rPr sz="800" i="1" spc="135" dirty="0">
                <a:solidFill>
                  <a:srgbClr val="009600"/>
                </a:solidFill>
                <a:latin typeface="Times New Roman"/>
                <a:cs typeface="Times New Roman"/>
              </a:rPr>
              <a:t>of</a:t>
            </a:r>
            <a:r>
              <a:rPr sz="800" i="1" spc="75" dirty="0">
                <a:solidFill>
                  <a:srgbClr val="009600"/>
                </a:solidFill>
                <a:latin typeface="Times New Roman"/>
                <a:cs typeface="Times New Roman"/>
              </a:rPr>
              <a:t> </a:t>
            </a:r>
            <a:r>
              <a:rPr sz="800" i="1" spc="70" dirty="0">
                <a:solidFill>
                  <a:srgbClr val="009600"/>
                </a:solidFill>
                <a:latin typeface="Times New Roman"/>
                <a:cs typeface="Times New Roman"/>
              </a:rPr>
              <a:t>loop </a:t>
            </a:r>
            <a:r>
              <a:rPr sz="800" i="1" spc="35" dirty="0">
                <a:solidFill>
                  <a:srgbClr val="009600"/>
                </a:solidFill>
                <a:latin typeface="Times New Roman"/>
                <a:cs typeface="Times New Roman"/>
              </a:rPr>
              <a:t>and</a:t>
            </a:r>
            <a:r>
              <a:rPr sz="800" i="1" spc="70" dirty="0">
                <a:solidFill>
                  <a:srgbClr val="009600"/>
                </a:solidFill>
                <a:latin typeface="Times New Roman"/>
                <a:cs typeface="Times New Roman"/>
              </a:rPr>
              <a:t> </a:t>
            </a:r>
            <a:r>
              <a:rPr sz="800" i="1" spc="50" dirty="0">
                <a:solidFill>
                  <a:srgbClr val="009600"/>
                </a:solidFill>
                <a:latin typeface="Times New Roman"/>
                <a:cs typeface="Times New Roman"/>
              </a:rPr>
              <a:t>end</a:t>
            </a:r>
            <a:endParaRPr sz="800">
              <a:latin typeface="Times New Roman"/>
              <a:cs typeface="Times New Roman"/>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p:nvPr/>
        </p:nvSpPr>
        <p:spPr>
          <a:xfrm>
            <a:off x="66713" y="3331252"/>
            <a:ext cx="12306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Using</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messaging</a:t>
            </a:r>
            <a:r>
              <a:rPr sz="600" spc="-10" dirty="0">
                <a:solidFill>
                  <a:srgbClr val="3333B2"/>
                </a:solidFill>
                <a:latin typeface="Arial"/>
                <a:cs typeface="Arial"/>
                <a:hlinkClick r:id="rId3" action="ppaction://hlinksldjump"/>
              </a:rPr>
              <a:t> </a:t>
            </a:r>
            <a:r>
              <a:rPr sz="600" dirty="0">
                <a:solidFill>
                  <a:srgbClr val="3333B2"/>
                </a:solidFill>
                <a:latin typeface="Arial"/>
                <a:cs typeface="Arial"/>
                <a:hlinkClick r:id="rId3" action="ppaction://hlinksldjump"/>
              </a:rPr>
              <a:t>patterns:</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ZeroMQ</a:t>
            </a:r>
            <a:endParaRPr sz="6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24</a:t>
            </a:r>
            <a:r>
              <a:rPr spc="-40" dirty="0"/>
              <a:t> </a:t>
            </a:r>
            <a:r>
              <a:rPr spc="-5" dirty="0"/>
              <a:t>/</a:t>
            </a:r>
            <a:r>
              <a:rPr spc="-35" dirty="0"/>
              <a:t> </a:t>
            </a:r>
            <a:r>
              <a:rPr spc="-5" dirty="0"/>
              <a:t>49</a:t>
            </a:r>
          </a:p>
        </p:txBody>
      </p:sp>
      <p:sp>
        <p:nvSpPr>
          <p:cNvPr id="2" name="object 2"/>
          <p:cNvSpPr txBox="1"/>
          <p:nvPr/>
        </p:nvSpPr>
        <p:spPr>
          <a:xfrm>
            <a:off x="66713" y="716"/>
            <a:ext cx="1752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65" dirty="0">
                <a:solidFill>
                  <a:srgbClr val="3333B2"/>
                </a:solidFill>
                <a:latin typeface="Arial"/>
                <a:cs typeface="Arial"/>
              </a:rPr>
              <a:t> </a:t>
            </a:r>
            <a:r>
              <a:rPr sz="600" spc="-5" dirty="0">
                <a:solidFill>
                  <a:srgbClr val="3333B2"/>
                </a:solidFill>
                <a:latin typeface="Arial"/>
                <a:cs typeface="Arial"/>
                <a:hlinkClick r:id="rId5" action="ppaction://hlinksldjump"/>
              </a:rPr>
              <a:t>Message-oriented</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endParaRPr sz="600">
              <a:latin typeface="Arial"/>
              <a:cs typeface="Arial"/>
            </a:endParaRPr>
          </a:p>
        </p:txBody>
      </p:sp>
      <p:sp>
        <p:nvSpPr>
          <p:cNvPr id="3" name="object 3"/>
          <p:cNvSpPr txBox="1"/>
          <p:nvPr/>
        </p:nvSpPr>
        <p:spPr>
          <a:xfrm>
            <a:off x="3480558" y="716"/>
            <a:ext cx="10610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Advanced</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transient</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messaging</a:t>
            </a:r>
            <a:endParaRPr sz="600">
              <a:latin typeface="Arial"/>
              <a:cs typeface="Arial"/>
            </a:endParaRPr>
          </a:p>
        </p:txBody>
      </p:sp>
      <p:sp>
        <p:nvSpPr>
          <p:cNvPr id="4" name="object 4"/>
          <p:cNvSpPr txBox="1"/>
          <p:nvPr/>
        </p:nvSpPr>
        <p:spPr>
          <a:xfrm>
            <a:off x="95300" y="188846"/>
            <a:ext cx="115951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Request-reply</a:t>
            </a:r>
            <a:endParaRPr sz="1400">
              <a:latin typeface="Arial"/>
              <a:cs typeface="Arial"/>
            </a:endParaRPr>
          </a:p>
        </p:txBody>
      </p:sp>
      <p:sp>
        <p:nvSpPr>
          <p:cNvPr id="5" name="object 5"/>
          <p:cNvSpPr txBox="1"/>
          <p:nvPr/>
        </p:nvSpPr>
        <p:spPr>
          <a:xfrm>
            <a:off x="347294" y="1008847"/>
            <a:ext cx="3096260" cy="852805"/>
          </a:xfrm>
          <a:prstGeom prst="rect">
            <a:avLst/>
          </a:prstGeom>
        </p:spPr>
        <p:txBody>
          <a:bodyPr vert="horz" wrap="square" lIns="0" tIns="12065" rIns="0" bIns="0" rtlCol="0">
            <a:spAutoFit/>
          </a:bodyPr>
          <a:lstStyle/>
          <a:p>
            <a:pPr marL="12700">
              <a:lnSpc>
                <a:spcPts val="1390"/>
              </a:lnSpc>
              <a:spcBef>
                <a:spcPts val="95"/>
              </a:spcBef>
            </a:pPr>
            <a:r>
              <a:rPr sz="1200" spc="-5" dirty="0">
                <a:solidFill>
                  <a:srgbClr val="3333B2"/>
                </a:solidFill>
                <a:latin typeface="Arial"/>
                <a:cs typeface="Arial"/>
              </a:rPr>
              <a:t>Client</a:t>
            </a:r>
            <a:endParaRPr sz="1200">
              <a:latin typeface="Arial"/>
              <a:cs typeface="Arial"/>
            </a:endParaRPr>
          </a:p>
          <a:p>
            <a:pPr marL="17145">
              <a:lnSpc>
                <a:spcPts val="855"/>
              </a:lnSpc>
            </a:pPr>
            <a:r>
              <a:rPr sz="600" spc="55" dirty="0">
                <a:latin typeface="Times New Roman"/>
                <a:cs typeface="Times New Roman"/>
              </a:rPr>
              <a:t>1 </a:t>
            </a:r>
            <a:r>
              <a:rPr sz="600" spc="130" dirty="0">
                <a:latin typeface="Times New Roman"/>
                <a:cs typeface="Times New Roman"/>
              </a:rPr>
              <a:t> </a:t>
            </a:r>
            <a:r>
              <a:rPr sz="800" b="1" spc="25" dirty="0">
                <a:solidFill>
                  <a:srgbClr val="FF0059"/>
                </a:solidFill>
                <a:latin typeface="Times New Roman"/>
                <a:cs typeface="Times New Roman"/>
              </a:rPr>
              <a:t>import</a:t>
            </a:r>
            <a:r>
              <a:rPr sz="800" b="1" spc="50" dirty="0">
                <a:solidFill>
                  <a:srgbClr val="FF0059"/>
                </a:solidFill>
                <a:latin typeface="Times New Roman"/>
                <a:cs typeface="Times New Roman"/>
              </a:rPr>
              <a:t> </a:t>
            </a:r>
            <a:r>
              <a:rPr sz="800" spc="-25" dirty="0">
                <a:latin typeface="Times New Roman"/>
                <a:cs typeface="Times New Roman"/>
              </a:rPr>
              <a:t>zmq</a:t>
            </a:r>
            <a:endParaRPr sz="800">
              <a:latin typeface="Times New Roman"/>
              <a:cs typeface="Times New Roman"/>
            </a:endParaRPr>
          </a:p>
          <a:p>
            <a:pPr marL="17145">
              <a:lnSpc>
                <a:spcPts val="905"/>
              </a:lnSpc>
            </a:pPr>
            <a:r>
              <a:rPr sz="600" spc="55" dirty="0">
                <a:latin typeface="Times New Roman"/>
                <a:cs typeface="Times New Roman"/>
              </a:rPr>
              <a:t>2 </a:t>
            </a:r>
            <a:r>
              <a:rPr sz="600" spc="160" dirty="0">
                <a:latin typeface="Times New Roman"/>
                <a:cs typeface="Times New Roman"/>
              </a:rPr>
              <a:t> </a:t>
            </a:r>
            <a:r>
              <a:rPr sz="800" spc="75" dirty="0">
                <a:latin typeface="Times New Roman"/>
                <a:cs typeface="Times New Roman"/>
              </a:rPr>
              <a:t>context</a:t>
            </a:r>
            <a:r>
              <a:rPr sz="800" spc="8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45" dirty="0">
                <a:latin typeface="Times New Roman"/>
                <a:cs typeface="Times New Roman"/>
              </a:rPr>
              <a:t>zmq.Context()</a:t>
            </a:r>
            <a:endParaRPr sz="800">
              <a:latin typeface="Times New Roman"/>
              <a:cs typeface="Times New Roman"/>
            </a:endParaRPr>
          </a:p>
          <a:p>
            <a:pPr marL="17145">
              <a:lnSpc>
                <a:spcPts val="685"/>
              </a:lnSpc>
              <a:spcBef>
                <a:spcPts val="90"/>
              </a:spcBef>
            </a:pPr>
            <a:r>
              <a:rPr sz="600" spc="55" dirty="0">
                <a:latin typeface="Times New Roman"/>
                <a:cs typeface="Times New Roman"/>
              </a:rPr>
              <a:t>3</a:t>
            </a:r>
            <a:endParaRPr sz="600">
              <a:latin typeface="Times New Roman"/>
              <a:cs typeface="Times New Roman"/>
            </a:endParaRPr>
          </a:p>
          <a:p>
            <a:pPr marL="17145">
              <a:lnSpc>
                <a:spcPts val="869"/>
              </a:lnSpc>
            </a:pPr>
            <a:r>
              <a:rPr sz="600" spc="55" dirty="0">
                <a:latin typeface="Times New Roman"/>
                <a:cs typeface="Times New Roman"/>
              </a:rPr>
              <a:t>4 </a:t>
            </a:r>
            <a:r>
              <a:rPr sz="600" spc="180" dirty="0">
                <a:latin typeface="Times New Roman"/>
                <a:cs typeface="Times New Roman"/>
              </a:rPr>
              <a:t> </a:t>
            </a:r>
            <a:r>
              <a:rPr sz="800" spc="35" dirty="0">
                <a:latin typeface="Times New Roman"/>
                <a:cs typeface="Times New Roman"/>
              </a:rPr>
              <a:t>php</a:t>
            </a:r>
            <a:r>
              <a:rPr sz="800" spc="95" dirty="0">
                <a:latin typeface="Times New Roman"/>
                <a:cs typeface="Times New Roman"/>
              </a:rPr>
              <a:t> </a:t>
            </a:r>
            <a:r>
              <a:rPr sz="800" spc="25" dirty="0">
                <a:latin typeface="Times New Roman"/>
                <a:cs typeface="Times New Roman"/>
              </a:rPr>
              <a:t>=</a:t>
            </a:r>
            <a:r>
              <a:rPr sz="800" spc="114" dirty="0">
                <a:latin typeface="Times New Roman"/>
                <a:cs typeface="Times New Roman"/>
              </a:rPr>
              <a:t> </a:t>
            </a:r>
            <a:r>
              <a:rPr sz="800" spc="100" dirty="0">
                <a:solidFill>
                  <a:srgbClr val="FA0000"/>
                </a:solidFill>
                <a:latin typeface="Times New Roman"/>
                <a:cs typeface="Times New Roman"/>
              </a:rPr>
              <a:t>"tcp://"</a:t>
            </a:r>
            <a:r>
              <a:rPr sz="800" spc="100" dirty="0">
                <a:latin typeface="Times New Roman"/>
                <a:cs typeface="Times New Roman"/>
              </a:rPr>
              <a:t>+</a:t>
            </a:r>
            <a:r>
              <a:rPr sz="800" spc="95" dirty="0">
                <a:latin typeface="Times New Roman"/>
                <a:cs typeface="Times New Roman"/>
              </a:rPr>
              <a:t> </a:t>
            </a:r>
            <a:r>
              <a:rPr sz="800" spc="-95" dirty="0">
                <a:latin typeface="Times New Roman"/>
                <a:cs typeface="Times New Roman"/>
              </a:rPr>
              <a:t>HOST</a:t>
            </a:r>
            <a:r>
              <a:rPr sz="800" spc="90" dirty="0">
                <a:latin typeface="Times New Roman"/>
                <a:cs typeface="Times New Roman"/>
              </a:rPr>
              <a:t> </a:t>
            </a:r>
            <a:r>
              <a:rPr sz="800" spc="55" dirty="0">
                <a:latin typeface="Times New Roman"/>
                <a:cs typeface="Times New Roman"/>
              </a:rPr>
              <a:t>+</a:t>
            </a:r>
            <a:r>
              <a:rPr sz="800" spc="55" dirty="0">
                <a:solidFill>
                  <a:srgbClr val="FA0000"/>
                </a:solidFill>
                <a:latin typeface="Times New Roman"/>
                <a:cs typeface="Times New Roman"/>
              </a:rPr>
              <a:t>":"</a:t>
            </a:r>
            <a:r>
              <a:rPr sz="800" spc="55" dirty="0">
                <a:latin typeface="Times New Roman"/>
                <a:cs typeface="Times New Roman"/>
              </a:rPr>
              <a:t>+</a:t>
            </a:r>
            <a:r>
              <a:rPr sz="800" spc="90" dirty="0">
                <a:latin typeface="Times New Roman"/>
                <a:cs typeface="Times New Roman"/>
              </a:rPr>
              <a:t> </a:t>
            </a:r>
            <a:r>
              <a:rPr sz="800" spc="-85" dirty="0">
                <a:latin typeface="Times New Roman"/>
                <a:cs typeface="Times New Roman"/>
              </a:rPr>
              <a:t>PORT</a:t>
            </a:r>
            <a:r>
              <a:rPr sz="800" spc="90" dirty="0">
                <a:latin typeface="Times New Roman"/>
                <a:cs typeface="Times New Roman"/>
              </a:rPr>
              <a:t> </a:t>
            </a:r>
            <a:r>
              <a:rPr sz="800" i="1" spc="75" dirty="0">
                <a:solidFill>
                  <a:srgbClr val="009600"/>
                </a:solidFill>
                <a:latin typeface="Times New Roman"/>
                <a:cs typeface="Times New Roman"/>
              </a:rPr>
              <a:t>#</a:t>
            </a:r>
            <a:r>
              <a:rPr sz="800" i="1" spc="95" dirty="0">
                <a:solidFill>
                  <a:srgbClr val="009600"/>
                </a:solidFill>
                <a:latin typeface="Times New Roman"/>
                <a:cs typeface="Times New Roman"/>
              </a:rPr>
              <a:t> </a:t>
            </a:r>
            <a:r>
              <a:rPr sz="800" i="1" spc="-10" dirty="0">
                <a:solidFill>
                  <a:srgbClr val="009600"/>
                </a:solidFill>
                <a:latin typeface="Times New Roman"/>
                <a:cs typeface="Times New Roman"/>
              </a:rPr>
              <a:t>how</a:t>
            </a:r>
            <a:r>
              <a:rPr sz="800" i="1" spc="80" dirty="0">
                <a:solidFill>
                  <a:srgbClr val="009600"/>
                </a:solidFill>
                <a:latin typeface="Times New Roman"/>
                <a:cs typeface="Times New Roman"/>
              </a:rPr>
              <a:t> </a:t>
            </a:r>
            <a:r>
              <a:rPr sz="800" i="1" spc="35" dirty="0">
                <a:solidFill>
                  <a:srgbClr val="009600"/>
                </a:solidFill>
                <a:latin typeface="Times New Roman"/>
                <a:cs typeface="Times New Roman"/>
              </a:rPr>
              <a:t>and</a:t>
            </a:r>
            <a:r>
              <a:rPr sz="800" i="1" spc="70" dirty="0">
                <a:solidFill>
                  <a:srgbClr val="009600"/>
                </a:solidFill>
                <a:latin typeface="Times New Roman"/>
                <a:cs typeface="Times New Roman"/>
              </a:rPr>
              <a:t> </a:t>
            </a:r>
            <a:r>
              <a:rPr sz="800" i="1" spc="30" dirty="0">
                <a:solidFill>
                  <a:srgbClr val="009600"/>
                </a:solidFill>
                <a:latin typeface="Times New Roman"/>
                <a:cs typeface="Times New Roman"/>
              </a:rPr>
              <a:t>where</a:t>
            </a:r>
            <a:r>
              <a:rPr sz="800" i="1" spc="75"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75" dirty="0">
                <a:solidFill>
                  <a:srgbClr val="009600"/>
                </a:solidFill>
                <a:latin typeface="Times New Roman"/>
                <a:cs typeface="Times New Roman"/>
              </a:rPr>
              <a:t> </a:t>
            </a:r>
            <a:r>
              <a:rPr sz="800" i="1" spc="60" dirty="0">
                <a:solidFill>
                  <a:srgbClr val="009600"/>
                </a:solidFill>
                <a:latin typeface="Times New Roman"/>
                <a:cs typeface="Times New Roman"/>
              </a:rPr>
              <a:t>connect</a:t>
            </a:r>
            <a:endParaRPr sz="800">
              <a:latin typeface="Times New Roman"/>
              <a:cs typeface="Times New Roman"/>
            </a:endParaRPr>
          </a:p>
          <a:p>
            <a:pPr marL="17145">
              <a:lnSpc>
                <a:spcPts val="905"/>
              </a:lnSpc>
              <a:tabLst>
                <a:tab pos="336550" algn="l"/>
                <a:tab pos="1753235" algn="l"/>
              </a:tabLst>
            </a:pPr>
            <a:r>
              <a:rPr sz="600" spc="55" dirty="0">
                <a:latin typeface="Times New Roman"/>
                <a:cs typeface="Times New Roman"/>
              </a:rPr>
              <a:t>5 </a:t>
            </a:r>
            <a:r>
              <a:rPr sz="600" spc="200" dirty="0">
                <a:latin typeface="Times New Roman"/>
                <a:cs typeface="Times New Roman"/>
              </a:rPr>
              <a:t> </a:t>
            </a:r>
            <a:r>
              <a:rPr sz="800" spc="165" dirty="0">
                <a:latin typeface="Times New Roman"/>
                <a:cs typeface="Times New Roman"/>
              </a:rPr>
              <a:t>s	</a:t>
            </a:r>
            <a:r>
              <a:rPr sz="800" spc="25" dirty="0">
                <a:latin typeface="Times New Roman"/>
                <a:cs typeface="Times New Roman"/>
              </a:rPr>
              <a:t>=</a:t>
            </a:r>
            <a:r>
              <a:rPr sz="800" spc="90" dirty="0">
                <a:latin typeface="Times New Roman"/>
                <a:cs typeface="Times New Roman"/>
              </a:rPr>
              <a:t> </a:t>
            </a:r>
            <a:r>
              <a:rPr sz="800" spc="40" dirty="0">
                <a:latin typeface="Times New Roman"/>
                <a:cs typeface="Times New Roman"/>
              </a:rPr>
              <a:t>context.socket(zmq.REQ)	</a:t>
            </a:r>
            <a:r>
              <a:rPr sz="800" i="1" spc="75" dirty="0">
                <a:solidFill>
                  <a:srgbClr val="009600"/>
                </a:solidFill>
                <a:latin typeface="Times New Roman"/>
                <a:cs typeface="Times New Roman"/>
              </a:rPr>
              <a:t>#</a:t>
            </a:r>
            <a:r>
              <a:rPr sz="800" i="1" spc="65" dirty="0">
                <a:solidFill>
                  <a:srgbClr val="009600"/>
                </a:solidFill>
                <a:latin typeface="Times New Roman"/>
                <a:cs typeface="Times New Roman"/>
              </a:rPr>
              <a:t> </a:t>
            </a:r>
            <a:r>
              <a:rPr sz="800" i="1" spc="85" dirty="0">
                <a:solidFill>
                  <a:srgbClr val="009600"/>
                </a:solidFill>
                <a:latin typeface="Times New Roman"/>
                <a:cs typeface="Times New Roman"/>
              </a:rPr>
              <a:t>create</a:t>
            </a:r>
            <a:r>
              <a:rPr sz="800" i="1" spc="30" dirty="0">
                <a:solidFill>
                  <a:srgbClr val="009600"/>
                </a:solidFill>
                <a:latin typeface="Times New Roman"/>
                <a:cs typeface="Times New Roman"/>
              </a:rPr>
              <a:t> </a:t>
            </a:r>
            <a:r>
              <a:rPr sz="800" i="1" spc="85" dirty="0">
                <a:solidFill>
                  <a:srgbClr val="009600"/>
                </a:solidFill>
                <a:latin typeface="Times New Roman"/>
                <a:cs typeface="Times New Roman"/>
              </a:rPr>
              <a:t>socket</a:t>
            </a:r>
            <a:endParaRPr sz="800">
              <a:latin typeface="Times New Roman"/>
              <a:cs typeface="Times New Roman"/>
            </a:endParaRPr>
          </a:p>
          <a:p>
            <a:pPr marL="17145">
              <a:lnSpc>
                <a:spcPct val="100000"/>
              </a:lnSpc>
              <a:spcBef>
                <a:spcPts val="95"/>
              </a:spcBef>
            </a:pPr>
            <a:r>
              <a:rPr sz="600" spc="55" dirty="0">
                <a:latin typeface="Times New Roman"/>
                <a:cs typeface="Times New Roman"/>
              </a:rPr>
              <a:t>6</a:t>
            </a:r>
            <a:endParaRPr sz="600">
              <a:latin typeface="Times New Roman"/>
              <a:cs typeface="Times New Roman"/>
            </a:endParaRPr>
          </a:p>
        </p:txBody>
      </p:sp>
      <p:sp>
        <p:nvSpPr>
          <p:cNvPr id="6" name="object 6"/>
          <p:cNvSpPr txBox="1"/>
          <p:nvPr/>
        </p:nvSpPr>
        <p:spPr>
          <a:xfrm>
            <a:off x="306806" y="1827973"/>
            <a:ext cx="1260475" cy="579755"/>
          </a:xfrm>
          <a:prstGeom prst="rect">
            <a:avLst/>
          </a:prstGeom>
        </p:spPr>
        <p:txBody>
          <a:bodyPr vert="horz" wrap="square" lIns="0" tIns="12065" rIns="0" bIns="0" rtlCol="0">
            <a:spAutoFit/>
          </a:bodyPr>
          <a:lstStyle/>
          <a:p>
            <a:pPr marL="57785">
              <a:lnSpc>
                <a:spcPts val="905"/>
              </a:lnSpc>
              <a:spcBef>
                <a:spcPts val="95"/>
              </a:spcBef>
            </a:pPr>
            <a:r>
              <a:rPr sz="600" spc="55" dirty="0">
                <a:latin typeface="Times New Roman"/>
                <a:cs typeface="Times New Roman"/>
              </a:rPr>
              <a:t>7 </a:t>
            </a:r>
            <a:r>
              <a:rPr sz="600" spc="175" dirty="0">
                <a:latin typeface="Times New Roman"/>
                <a:cs typeface="Times New Roman"/>
              </a:rPr>
              <a:t> </a:t>
            </a:r>
            <a:r>
              <a:rPr sz="800" spc="60" dirty="0">
                <a:latin typeface="Times New Roman"/>
                <a:cs typeface="Times New Roman"/>
              </a:rPr>
              <a:t>s.connect(php)</a:t>
            </a:r>
            <a:endParaRPr sz="800">
              <a:latin typeface="Times New Roman"/>
              <a:cs typeface="Times New Roman"/>
            </a:endParaRPr>
          </a:p>
          <a:p>
            <a:pPr marL="57785">
              <a:lnSpc>
                <a:spcPts val="850"/>
              </a:lnSpc>
            </a:pPr>
            <a:r>
              <a:rPr sz="600" spc="55" dirty="0">
                <a:latin typeface="Times New Roman"/>
                <a:cs typeface="Times New Roman"/>
              </a:rPr>
              <a:t>8 </a:t>
            </a:r>
            <a:r>
              <a:rPr sz="600" spc="160" dirty="0">
                <a:latin typeface="Times New Roman"/>
                <a:cs typeface="Times New Roman"/>
              </a:rPr>
              <a:t> </a:t>
            </a:r>
            <a:r>
              <a:rPr sz="800" spc="70" dirty="0">
                <a:latin typeface="Times New Roman"/>
                <a:cs typeface="Times New Roman"/>
              </a:rPr>
              <a:t>s.send(</a:t>
            </a:r>
            <a:r>
              <a:rPr sz="800" spc="70" dirty="0">
                <a:solidFill>
                  <a:srgbClr val="FA0000"/>
                </a:solidFill>
                <a:latin typeface="Times New Roman"/>
                <a:cs typeface="Times New Roman"/>
              </a:rPr>
              <a:t>"Hello</a:t>
            </a:r>
            <a:r>
              <a:rPr sz="800" spc="50" dirty="0">
                <a:solidFill>
                  <a:srgbClr val="FA0000"/>
                </a:solidFill>
                <a:latin typeface="Times New Roman"/>
                <a:cs typeface="Times New Roman"/>
              </a:rPr>
              <a:t> </a:t>
            </a:r>
            <a:r>
              <a:rPr sz="800" spc="30" dirty="0">
                <a:solidFill>
                  <a:srgbClr val="FA0000"/>
                </a:solidFill>
                <a:latin typeface="Times New Roman"/>
                <a:cs typeface="Times New Roman"/>
              </a:rPr>
              <a:t>World"</a:t>
            </a:r>
            <a:r>
              <a:rPr sz="800" spc="30" dirty="0">
                <a:latin typeface="Times New Roman"/>
                <a:cs typeface="Times New Roman"/>
              </a:rPr>
              <a:t>)</a:t>
            </a:r>
            <a:endParaRPr sz="800">
              <a:latin typeface="Times New Roman"/>
              <a:cs typeface="Times New Roman"/>
            </a:endParaRPr>
          </a:p>
          <a:p>
            <a:pPr marL="57785">
              <a:lnSpc>
                <a:spcPts val="850"/>
              </a:lnSpc>
            </a:pPr>
            <a:r>
              <a:rPr sz="600" spc="55" dirty="0">
                <a:latin typeface="Times New Roman"/>
                <a:cs typeface="Times New Roman"/>
              </a:rPr>
              <a:t>9 </a:t>
            </a:r>
            <a:r>
              <a:rPr sz="600" spc="145" dirty="0">
                <a:latin typeface="Times New Roman"/>
                <a:cs typeface="Times New Roman"/>
              </a:rPr>
              <a:t> </a:t>
            </a:r>
            <a:r>
              <a:rPr sz="800" spc="25" dirty="0">
                <a:latin typeface="Times New Roman"/>
                <a:cs typeface="Times New Roman"/>
              </a:rPr>
              <a:t>message</a:t>
            </a:r>
            <a:r>
              <a:rPr sz="800" spc="75" dirty="0">
                <a:latin typeface="Times New Roman"/>
                <a:cs typeface="Times New Roman"/>
              </a:rPr>
              <a:t> </a:t>
            </a:r>
            <a:r>
              <a:rPr sz="800" spc="25" dirty="0">
                <a:latin typeface="Times New Roman"/>
                <a:cs typeface="Times New Roman"/>
              </a:rPr>
              <a:t>=</a:t>
            </a:r>
            <a:r>
              <a:rPr sz="800" spc="100" dirty="0">
                <a:latin typeface="Times New Roman"/>
                <a:cs typeface="Times New Roman"/>
              </a:rPr>
              <a:t> </a:t>
            </a:r>
            <a:r>
              <a:rPr sz="800" spc="105" dirty="0">
                <a:latin typeface="Times New Roman"/>
                <a:cs typeface="Times New Roman"/>
              </a:rPr>
              <a:t>s.recv()</a:t>
            </a:r>
            <a:endParaRPr sz="800">
              <a:latin typeface="Times New Roman"/>
              <a:cs typeface="Times New Roman"/>
            </a:endParaRPr>
          </a:p>
          <a:p>
            <a:pPr marL="12700">
              <a:lnSpc>
                <a:spcPts val="850"/>
              </a:lnSpc>
            </a:pPr>
            <a:r>
              <a:rPr sz="600" spc="55" dirty="0">
                <a:latin typeface="Times New Roman"/>
                <a:cs typeface="Times New Roman"/>
              </a:rPr>
              <a:t>10 </a:t>
            </a:r>
            <a:r>
              <a:rPr sz="600" spc="155" dirty="0">
                <a:latin typeface="Times New Roman"/>
                <a:cs typeface="Times New Roman"/>
              </a:rPr>
              <a:t> </a:t>
            </a:r>
            <a:r>
              <a:rPr sz="800" spc="35" dirty="0">
                <a:latin typeface="Times New Roman"/>
                <a:cs typeface="Times New Roman"/>
              </a:rPr>
              <a:t>s.send(</a:t>
            </a:r>
            <a:r>
              <a:rPr sz="800" spc="35" dirty="0">
                <a:solidFill>
                  <a:srgbClr val="FA0000"/>
                </a:solidFill>
                <a:latin typeface="Times New Roman"/>
                <a:cs typeface="Times New Roman"/>
              </a:rPr>
              <a:t>"STOP"</a:t>
            </a:r>
            <a:r>
              <a:rPr sz="800" spc="35" dirty="0">
                <a:latin typeface="Times New Roman"/>
                <a:cs typeface="Times New Roman"/>
              </a:rPr>
              <a:t>)</a:t>
            </a:r>
            <a:endParaRPr sz="800">
              <a:latin typeface="Times New Roman"/>
              <a:cs typeface="Times New Roman"/>
            </a:endParaRPr>
          </a:p>
          <a:p>
            <a:pPr marL="12700">
              <a:lnSpc>
                <a:spcPts val="905"/>
              </a:lnSpc>
            </a:pPr>
            <a:r>
              <a:rPr sz="600" spc="55" dirty="0">
                <a:latin typeface="Times New Roman"/>
                <a:cs typeface="Times New Roman"/>
              </a:rPr>
              <a:t>11 </a:t>
            </a:r>
            <a:r>
              <a:rPr sz="600" spc="140" dirty="0">
                <a:latin typeface="Times New Roman"/>
                <a:cs typeface="Times New Roman"/>
              </a:rPr>
              <a:t> </a:t>
            </a:r>
            <a:r>
              <a:rPr sz="800" b="1" spc="75" dirty="0">
                <a:solidFill>
                  <a:srgbClr val="FF0059"/>
                </a:solidFill>
                <a:latin typeface="Times New Roman"/>
                <a:cs typeface="Times New Roman"/>
              </a:rPr>
              <a:t>print</a:t>
            </a:r>
            <a:r>
              <a:rPr sz="800" b="1" spc="40" dirty="0">
                <a:solidFill>
                  <a:srgbClr val="FF0059"/>
                </a:solidFill>
                <a:latin typeface="Times New Roman"/>
                <a:cs typeface="Times New Roman"/>
              </a:rPr>
              <a:t> </a:t>
            </a:r>
            <a:r>
              <a:rPr sz="800" spc="25" dirty="0">
                <a:latin typeface="Times New Roman"/>
                <a:cs typeface="Times New Roman"/>
              </a:rPr>
              <a:t>message</a:t>
            </a:r>
            <a:endParaRPr sz="800">
              <a:latin typeface="Times New Roman"/>
              <a:cs typeface="Times New Roman"/>
            </a:endParaRPr>
          </a:p>
        </p:txBody>
      </p:sp>
      <p:sp>
        <p:nvSpPr>
          <p:cNvPr id="7" name="object 7"/>
          <p:cNvSpPr txBox="1"/>
          <p:nvPr/>
        </p:nvSpPr>
        <p:spPr>
          <a:xfrm>
            <a:off x="2088286" y="1827973"/>
            <a:ext cx="1203960" cy="579755"/>
          </a:xfrm>
          <a:prstGeom prst="rect">
            <a:avLst/>
          </a:prstGeom>
        </p:spPr>
        <p:txBody>
          <a:bodyPr vert="horz" wrap="square" lIns="0" tIns="27305" rIns="0" bIns="0" rtlCol="0">
            <a:spAutoFit/>
          </a:bodyPr>
          <a:lstStyle/>
          <a:p>
            <a:pPr marL="12700" marR="5080">
              <a:lnSpc>
                <a:spcPts val="850"/>
              </a:lnSpc>
              <a:spcBef>
                <a:spcPts val="215"/>
              </a:spcBef>
            </a:pPr>
            <a:r>
              <a:rPr sz="800" i="1" spc="75" dirty="0">
                <a:solidFill>
                  <a:srgbClr val="009600"/>
                </a:solidFill>
                <a:latin typeface="Times New Roman"/>
                <a:cs typeface="Times New Roman"/>
              </a:rPr>
              <a:t>#</a:t>
            </a:r>
            <a:r>
              <a:rPr sz="800" i="1" spc="65" dirty="0">
                <a:solidFill>
                  <a:srgbClr val="009600"/>
                </a:solidFill>
                <a:latin typeface="Times New Roman"/>
                <a:cs typeface="Times New Roman"/>
              </a:rPr>
              <a:t> </a:t>
            </a:r>
            <a:r>
              <a:rPr sz="800" i="1" spc="75" dirty="0">
                <a:solidFill>
                  <a:srgbClr val="009600"/>
                </a:solidFill>
                <a:latin typeface="Times New Roman"/>
                <a:cs typeface="Times New Roman"/>
              </a:rPr>
              <a:t>block</a:t>
            </a:r>
            <a:r>
              <a:rPr sz="800" i="1" spc="50" dirty="0">
                <a:solidFill>
                  <a:srgbClr val="009600"/>
                </a:solidFill>
                <a:latin typeface="Times New Roman"/>
                <a:cs typeface="Times New Roman"/>
              </a:rPr>
              <a:t> </a:t>
            </a:r>
            <a:r>
              <a:rPr sz="800" i="1" spc="125" dirty="0">
                <a:solidFill>
                  <a:srgbClr val="009600"/>
                </a:solidFill>
                <a:latin typeface="Times New Roman"/>
                <a:cs typeface="Times New Roman"/>
              </a:rPr>
              <a:t>until</a:t>
            </a:r>
            <a:r>
              <a:rPr sz="800" i="1" spc="40" dirty="0">
                <a:solidFill>
                  <a:srgbClr val="009600"/>
                </a:solidFill>
                <a:latin typeface="Times New Roman"/>
                <a:cs typeface="Times New Roman"/>
              </a:rPr>
              <a:t> </a:t>
            </a:r>
            <a:r>
              <a:rPr sz="800" i="1" spc="50" dirty="0">
                <a:solidFill>
                  <a:srgbClr val="009600"/>
                </a:solidFill>
                <a:latin typeface="Times New Roman"/>
                <a:cs typeface="Times New Roman"/>
              </a:rPr>
              <a:t>connected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a:t>
            </a:r>
            <a:r>
              <a:rPr sz="800" i="1" spc="60" dirty="0">
                <a:solidFill>
                  <a:srgbClr val="009600"/>
                </a:solidFill>
                <a:latin typeface="Times New Roman"/>
                <a:cs typeface="Times New Roman"/>
              </a:rPr>
              <a:t>send </a:t>
            </a:r>
            <a:r>
              <a:rPr sz="800" i="1" spc="25" dirty="0">
                <a:solidFill>
                  <a:srgbClr val="009600"/>
                </a:solidFill>
                <a:latin typeface="Times New Roman"/>
                <a:cs typeface="Times New Roman"/>
              </a:rPr>
              <a:t>message</a:t>
            </a:r>
            <a:endParaRPr sz="800">
              <a:latin typeface="Times New Roman"/>
              <a:cs typeface="Times New Roman"/>
            </a:endParaRPr>
          </a:p>
          <a:p>
            <a:pPr marL="12700" marR="55244">
              <a:lnSpc>
                <a:spcPts val="850"/>
              </a:lnSpc>
              <a:spcBef>
                <a:spcPts val="5"/>
              </a:spcBef>
            </a:pPr>
            <a:r>
              <a:rPr sz="800" i="1" spc="75" dirty="0">
                <a:solidFill>
                  <a:srgbClr val="009600"/>
                </a:solidFill>
                <a:latin typeface="Times New Roman"/>
                <a:cs typeface="Times New Roman"/>
              </a:rPr>
              <a:t>#</a:t>
            </a:r>
            <a:r>
              <a:rPr sz="800" i="1" spc="70" dirty="0">
                <a:solidFill>
                  <a:srgbClr val="009600"/>
                </a:solidFill>
                <a:latin typeface="Times New Roman"/>
                <a:cs typeface="Times New Roman"/>
              </a:rPr>
              <a:t> </a:t>
            </a:r>
            <a:r>
              <a:rPr sz="800" i="1" spc="75" dirty="0">
                <a:solidFill>
                  <a:srgbClr val="009600"/>
                </a:solidFill>
                <a:latin typeface="Times New Roman"/>
                <a:cs typeface="Times New Roman"/>
              </a:rPr>
              <a:t>block</a:t>
            </a:r>
            <a:r>
              <a:rPr sz="800" i="1" spc="45" dirty="0">
                <a:solidFill>
                  <a:srgbClr val="009600"/>
                </a:solidFill>
                <a:latin typeface="Times New Roman"/>
                <a:cs typeface="Times New Roman"/>
              </a:rPr>
              <a:t> </a:t>
            </a:r>
            <a:r>
              <a:rPr sz="800" i="1" spc="125" dirty="0">
                <a:solidFill>
                  <a:srgbClr val="009600"/>
                </a:solidFill>
                <a:latin typeface="Times New Roman"/>
                <a:cs typeface="Times New Roman"/>
              </a:rPr>
              <a:t>until</a:t>
            </a:r>
            <a:r>
              <a:rPr sz="800" i="1" spc="45" dirty="0">
                <a:solidFill>
                  <a:srgbClr val="009600"/>
                </a:solidFill>
                <a:latin typeface="Times New Roman"/>
                <a:cs typeface="Times New Roman"/>
              </a:rPr>
              <a:t> </a:t>
            </a:r>
            <a:r>
              <a:rPr sz="800" i="1" spc="55" dirty="0">
                <a:solidFill>
                  <a:srgbClr val="009600"/>
                </a:solidFill>
                <a:latin typeface="Times New Roman"/>
                <a:cs typeface="Times New Roman"/>
              </a:rPr>
              <a:t>response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 </a:t>
            </a:r>
            <a:r>
              <a:rPr sz="800" i="1" spc="170" dirty="0">
                <a:solidFill>
                  <a:srgbClr val="009600"/>
                </a:solidFill>
                <a:latin typeface="Times New Roman"/>
                <a:cs typeface="Times New Roman"/>
              </a:rPr>
              <a:t>tell </a:t>
            </a:r>
            <a:r>
              <a:rPr sz="800" i="1" spc="85" dirty="0">
                <a:solidFill>
                  <a:srgbClr val="009600"/>
                </a:solidFill>
                <a:latin typeface="Times New Roman"/>
                <a:cs typeface="Times New Roman"/>
              </a:rPr>
              <a:t>server </a:t>
            </a:r>
            <a:r>
              <a:rPr sz="800" i="1" spc="135" dirty="0">
                <a:solidFill>
                  <a:srgbClr val="009600"/>
                </a:solidFill>
                <a:latin typeface="Times New Roman"/>
                <a:cs typeface="Times New Roman"/>
              </a:rPr>
              <a:t>to </a:t>
            </a:r>
            <a:r>
              <a:rPr sz="800" i="1" spc="95" dirty="0">
                <a:solidFill>
                  <a:srgbClr val="009600"/>
                </a:solidFill>
                <a:latin typeface="Times New Roman"/>
                <a:cs typeface="Times New Roman"/>
              </a:rPr>
              <a:t>stop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110" dirty="0">
                <a:solidFill>
                  <a:srgbClr val="009600"/>
                </a:solidFill>
                <a:latin typeface="Times New Roman"/>
                <a:cs typeface="Times New Roman"/>
              </a:rPr>
              <a:t>print</a:t>
            </a:r>
            <a:r>
              <a:rPr sz="800" i="1" spc="55" dirty="0">
                <a:solidFill>
                  <a:srgbClr val="009600"/>
                </a:solidFill>
                <a:latin typeface="Times New Roman"/>
                <a:cs typeface="Times New Roman"/>
              </a:rPr>
              <a:t> </a:t>
            </a:r>
            <a:r>
              <a:rPr sz="800" i="1" spc="114" dirty="0">
                <a:solidFill>
                  <a:srgbClr val="009600"/>
                </a:solidFill>
                <a:latin typeface="Times New Roman"/>
                <a:cs typeface="Times New Roman"/>
              </a:rPr>
              <a:t>result</a:t>
            </a:r>
            <a:endParaRPr sz="800">
              <a:latin typeface="Times New Roman"/>
              <a:cs typeface="Times New Roman"/>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p:cNvSpPr txBox="1"/>
          <p:nvPr/>
        </p:nvSpPr>
        <p:spPr>
          <a:xfrm>
            <a:off x="66713" y="3331252"/>
            <a:ext cx="12306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Using</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messaging</a:t>
            </a:r>
            <a:r>
              <a:rPr sz="600" spc="-10" dirty="0">
                <a:solidFill>
                  <a:srgbClr val="3333B2"/>
                </a:solidFill>
                <a:latin typeface="Arial"/>
                <a:cs typeface="Arial"/>
                <a:hlinkClick r:id="rId3" action="ppaction://hlinksldjump"/>
              </a:rPr>
              <a:t> </a:t>
            </a:r>
            <a:r>
              <a:rPr sz="600" dirty="0">
                <a:solidFill>
                  <a:srgbClr val="3333B2"/>
                </a:solidFill>
                <a:latin typeface="Arial"/>
                <a:cs typeface="Arial"/>
                <a:hlinkClick r:id="rId3" action="ppaction://hlinksldjump"/>
              </a:rPr>
              <a:t>patterns:</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ZeroMQ</a:t>
            </a:r>
            <a:endParaRPr sz="60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25</a:t>
            </a:r>
            <a:r>
              <a:rPr spc="-40" dirty="0"/>
              <a:t> </a:t>
            </a:r>
            <a:r>
              <a:rPr spc="-5" dirty="0"/>
              <a:t>/</a:t>
            </a:r>
            <a:r>
              <a:rPr spc="-35" dirty="0"/>
              <a:t> </a:t>
            </a:r>
            <a:r>
              <a:rPr spc="-5" dirty="0"/>
              <a:t>49</a:t>
            </a:r>
          </a:p>
        </p:txBody>
      </p:sp>
      <p:sp>
        <p:nvSpPr>
          <p:cNvPr id="2" name="object 2"/>
          <p:cNvSpPr txBox="1"/>
          <p:nvPr/>
        </p:nvSpPr>
        <p:spPr>
          <a:xfrm>
            <a:off x="66713" y="716"/>
            <a:ext cx="1752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65" dirty="0">
                <a:solidFill>
                  <a:srgbClr val="3333B2"/>
                </a:solidFill>
                <a:latin typeface="Arial"/>
                <a:cs typeface="Arial"/>
              </a:rPr>
              <a:t> </a:t>
            </a:r>
            <a:r>
              <a:rPr sz="600" spc="-5" dirty="0">
                <a:solidFill>
                  <a:srgbClr val="3333B2"/>
                </a:solidFill>
                <a:latin typeface="Arial"/>
                <a:cs typeface="Arial"/>
                <a:hlinkClick r:id="rId5" action="ppaction://hlinksldjump"/>
              </a:rPr>
              <a:t>Message-oriented</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endParaRPr sz="600">
              <a:latin typeface="Arial"/>
              <a:cs typeface="Arial"/>
            </a:endParaRPr>
          </a:p>
        </p:txBody>
      </p:sp>
      <p:sp>
        <p:nvSpPr>
          <p:cNvPr id="3" name="object 3"/>
          <p:cNvSpPr txBox="1"/>
          <p:nvPr/>
        </p:nvSpPr>
        <p:spPr>
          <a:xfrm>
            <a:off x="3480558" y="716"/>
            <a:ext cx="10610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Advanced</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transient</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messaging</a:t>
            </a:r>
            <a:endParaRPr sz="600">
              <a:latin typeface="Arial"/>
              <a:cs typeface="Arial"/>
            </a:endParaRPr>
          </a:p>
        </p:txBody>
      </p:sp>
      <p:sp>
        <p:nvSpPr>
          <p:cNvPr id="4" name="object 4"/>
          <p:cNvSpPr txBox="1"/>
          <p:nvPr/>
        </p:nvSpPr>
        <p:spPr>
          <a:xfrm>
            <a:off x="95300" y="88177"/>
            <a:ext cx="1880235" cy="1477645"/>
          </a:xfrm>
          <a:prstGeom prst="rect">
            <a:avLst/>
          </a:prstGeom>
        </p:spPr>
        <p:txBody>
          <a:bodyPr vert="horz" wrap="square" lIns="0" tIns="117475" rIns="0" bIns="0" rtlCol="0">
            <a:spAutoFit/>
          </a:bodyPr>
          <a:lstStyle/>
          <a:p>
            <a:pPr marL="12700">
              <a:lnSpc>
                <a:spcPct val="100000"/>
              </a:lnSpc>
              <a:spcBef>
                <a:spcPts val="925"/>
              </a:spcBef>
            </a:pPr>
            <a:r>
              <a:rPr sz="1400" spc="15" dirty="0">
                <a:solidFill>
                  <a:srgbClr val="3333B2"/>
                </a:solidFill>
                <a:latin typeface="Arial"/>
                <a:cs typeface="Arial"/>
              </a:rPr>
              <a:t>Publish-subscribe</a:t>
            </a:r>
            <a:endParaRPr sz="1400">
              <a:latin typeface="Arial"/>
              <a:cs typeface="Arial"/>
            </a:endParaRPr>
          </a:p>
          <a:p>
            <a:pPr marL="264160">
              <a:lnSpc>
                <a:spcPts val="1390"/>
              </a:lnSpc>
              <a:spcBef>
                <a:spcPts val="665"/>
              </a:spcBef>
            </a:pPr>
            <a:r>
              <a:rPr sz="1200" spc="-5" dirty="0">
                <a:solidFill>
                  <a:srgbClr val="3333B2"/>
                </a:solidFill>
                <a:latin typeface="Arial"/>
                <a:cs typeface="Arial"/>
              </a:rPr>
              <a:t>Server</a:t>
            </a:r>
            <a:endParaRPr sz="1200">
              <a:latin typeface="Arial"/>
              <a:cs typeface="Arial"/>
            </a:endParaRPr>
          </a:p>
          <a:p>
            <a:pPr marL="269240">
              <a:lnSpc>
                <a:spcPts val="910"/>
              </a:lnSpc>
            </a:pPr>
            <a:r>
              <a:rPr sz="600" spc="55" dirty="0">
                <a:latin typeface="Times New Roman"/>
                <a:cs typeface="Times New Roman"/>
              </a:rPr>
              <a:t>1 </a:t>
            </a:r>
            <a:r>
              <a:rPr sz="600" spc="145" dirty="0">
                <a:latin typeface="Times New Roman"/>
                <a:cs typeface="Times New Roman"/>
              </a:rPr>
              <a:t> </a:t>
            </a:r>
            <a:r>
              <a:rPr sz="800" b="1" spc="25" dirty="0">
                <a:solidFill>
                  <a:srgbClr val="FF0059"/>
                </a:solidFill>
                <a:latin typeface="Times New Roman"/>
                <a:cs typeface="Times New Roman"/>
              </a:rPr>
              <a:t>import</a:t>
            </a:r>
            <a:r>
              <a:rPr sz="800" b="1" spc="70" dirty="0">
                <a:solidFill>
                  <a:srgbClr val="FF0059"/>
                </a:solidFill>
                <a:latin typeface="Times New Roman"/>
                <a:cs typeface="Times New Roman"/>
              </a:rPr>
              <a:t> </a:t>
            </a:r>
            <a:r>
              <a:rPr sz="800" spc="20" dirty="0">
                <a:latin typeface="Times New Roman"/>
                <a:cs typeface="Times New Roman"/>
              </a:rPr>
              <a:t>zmq,</a:t>
            </a:r>
            <a:r>
              <a:rPr sz="800" spc="80" dirty="0">
                <a:latin typeface="Times New Roman"/>
                <a:cs typeface="Times New Roman"/>
              </a:rPr>
              <a:t> </a:t>
            </a:r>
            <a:r>
              <a:rPr sz="800" spc="70" dirty="0">
                <a:latin typeface="Times New Roman"/>
                <a:cs typeface="Times New Roman"/>
              </a:rPr>
              <a:t>time</a:t>
            </a:r>
            <a:endParaRPr sz="800">
              <a:latin typeface="Times New Roman"/>
              <a:cs typeface="Times New Roman"/>
            </a:endParaRPr>
          </a:p>
          <a:p>
            <a:pPr marL="269240">
              <a:lnSpc>
                <a:spcPts val="685"/>
              </a:lnSpc>
              <a:spcBef>
                <a:spcPts val="90"/>
              </a:spcBef>
            </a:pPr>
            <a:r>
              <a:rPr sz="600" spc="55" dirty="0">
                <a:latin typeface="Times New Roman"/>
                <a:cs typeface="Times New Roman"/>
              </a:rPr>
              <a:t>2</a:t>
            </a:r>
            <a:endParaRPr sz="600">
              <a:latin typeface="Times New Roman"/>
              <a:cs typeface="Times New Roman"/>
            </a:endParaRPr>
          </a:p>
          <a:p>
            <a:pPr marL="269240">
              <a:lnSpc>
                <a:spcPts val="869"/>
              </a:lnSpc>
            </a:pPr>
            <a:r>
              <a:rPr sz="600" spc="55" dirty="0">
                <a:latin typeface="Times New Roman"/>
                <a:cs typeface="Times New Roman"/>
              </a:rPr>
              <a:t>3 </a:t>
            </a:r>
            <a:r>
              <a:rPr sz="600" spc="160" dirty="0">
                <a:latin typeface="Times New Roman"/>
                <a:cs typeface="Times New Roman"/>
              </a:rPr>
              <a:t> </a:t>
            </a:r>
            <a:r>
              <a:rPr sz="800" spc="75" dirty="0">
                <a:latin typeface="Times New Roman"/>
                <a:cs typeface="Times New Roman"/>
              </a:rPr>
              <a:t>context</a:t>
            </a:r>
            <a:r>
              <a:rPr sz="800" spc="8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45" dirty="0">
                <a:latin typeface="Times New Roman"/>
                <a:cs typeface="Times New Roman"/>
              </a:rPr>
              <a:t>zmq.Context()</a:t>
            </a:r>
            <a:endParaRPr sz="800">
              <a:latin typeface="Times New Roman"/>
              <a:cs typeface="Times New Roman"/>
            </a:endParaRPr>
          </a:p>
          <a:p>
            <a:pPr marL="269240">
              <a:lnSpc>
                <a:spcPts val="850"/>
              </a:lnSpc>
            </a:pPr>
            <a:r>
              <a:rPr sz="600" spc="55" dirty="0">
                <a:latin typeface="Times New Roman"/>
                <a:cs typeface="Times New Roman"/>
              </a:rPr>
              <a:t>4 </a:t>
            </a:r>
            <a:r>
              <a:rPr sz="600" spc="185" dirty="0">
                <a:latin typeface="Times New Roman"/>
                <a:cs typeface="Times New Roman"/>
              </a:rPr>
              <a:t> </a:t>
            </a:r>
            <a:r>
              <a:rPr sz="800" spc="165" dirty="0">
                <a:latin typeface="Times New Roman"/>
                <a:cs typeface="Times New Roman"/>
              </a:rPr>
              <a:t>s</a:t>
            </a:r>
            <a:r>
              <a:rPr sz="800" spc="105" dirty="0">
                <a:latin typeface="Times New Roman"/>
                <a:cs typeface="Times New Roman"/>
              </a:rPr>
              <a:t> </a:t>
            </a:r>
            <a:r>
              <a:rPr sz="800" spc="25" dirty="0">
                <a:latin typeface="Times New Roman"/>
                <a:cs typeface="Times New Roman"/>
              </a:rPr>
              <a:t>=</a:t>
            </a:r>
            <a:r>
              <a:rPr sz="800" spc="80" dirty="0">
                <a:latin typeface="Times New Roman"/>
                <a:cs typeface="Times New Roman"/>
              </a:rPr>
              <a:t> </a:t>
            </a:r>
            <a:r>
              <a:rPr sz="800" spc="40" dirty="0">
                <a:latin typeface="Times New Roman"/>
                <a:cs typeface="Times New Roman"/>
              </a:rPr>
              <a:t>context.socket(zmq.PUB)</a:t>
            </a:r>
            <a:endParaRPr sz="800">
              <a:latin typeface="Times New Roman"/>
              <a:cs typeface="Times New Roman"/>
            </a:endParaRPr>
          </a:p>
          <a:p>
            <a:pPr marL="269240">
              <a:lnSpc>
                <a:spcPts val="850"/>
              </a:lnSpc>
            </a:pPr>
            <a:r>
              <a:rPr sz="600" spc="55" dirty="0">
                <a:latin typeface="Times New Roman"/>
                <a:cs typeface="Times New Roman"/>
              </a:rPr>
              <a:t>5 </a:t>
            </a:r>
            <a:r>
              <a:rPr sz="600" spc="190" dirty="0">
                <a:latin typeface="Times New Roman"/>
                <a:cs typeface="Times New Roman"/>
              </a:rPr>
              <a:t> </a:t>
            </a:r>
            <a:r>
              <a:rPr sz="800" spc="75" dirty="0">
                <a:latin typeface="Times New Roman"/>
                <a:cs typeface="Times New Roman"/>
              </a:rPr>
              <a:t>p</a:t>
            </a:r>
            <a:r>
              <a:rPr sz="800" spc="110" dirty="0">
                <a:latin typeface="Times New Roman"/>
                <a:cs typeface="Times New Roman"/>
              </a:rPr>
              <a:t> </a:t>
            </a:r>
            <a:r>
              <a:rPr sz="800" spc="25" dirty="0">
                <a:latin typeface="Times New Roman"/>
                <a:cs typeface="Times New Roman"/>
              </a:rPr>
              <a:t>=</a:t>
            </a:r>
            <a:r>
              <a:rPr sz="800" spc="110" dirty="0">
                <a:latin typeface="Times New Roman"/>
                <a:cs typeface="Times New Roman"/>
              </a:rPr>
              <a:t> </a:t>
            </a:r>
            <a:r>
              <a:rPr sz="800" spc="100" dirty="0">
                <a:solidFill>
                  <a:srgbClr val="FA0000"/>
                </a:solidFill>
                <a:latin typeface="Times New Roman"/>
                <a:cs typeface="Times New Roman"/>
              </a:rPr>
              <a:t>"tcp://"</a:t>
            </a:r>
            <a:r>
              <a:rPr sz="800" spc="100" dirty="0">
                <a:latin typeface="Times New Roman"/>
                <a:cs typeface="Times New Roman"/>
              </a:rPr>
              <a:t>+</a:t>
            </a:r>
            <a:r>
              <a:rPr sz="800" spc="85" dirty="0">
                <a:latin typeface="Times New Roman"/>
                <a:cs typeface="Times New Roman"/>
              </a:rPr>
              <a:t> </a:t>
            </a:r>
            <a:r>
              <a:rPr sz="800" spc="-95" dirty="0">
                <a:latin typeface="Times New Roman"/>
                <a:cs typeface="Times New Roman"/>
              </a:rPr>
              <a:t>HOST</a:t>
            </a:r>
            <a:r>
              <a:rPr sz="800" spc="85" dirty="0">
                <a:latin typeface="Times New Roman"/>
                <a:cs typeface="Times New Roman"/>
              </a:rPr>
              <a:t> </a:t>
            </a:r>
            <a:r>
              <a:rPr sz="800" spc="55" dirty="0">
                <a:latin typeface="Times New Roman"/>
                <a:cs typeface="Times New Roman"/>
              </a:rPr>
              <a:t>+</a:t>
            </a:r>
            <a:r>
              <a:rPr sz="800" spc="55" dirty="0">
                <a:solidFill>
                  <a:srgbClr val="FA0000"/>
                </a:solidFill>
                <a:latin typeface="Times New Roman"/>
                <a:cs typeface="Times New Roman"/>
              </a:rPr>
              <a:t>":"</a:t>
            </a:r>
            <a:r>
              <a:rPr sz="800" spc="55" dirty="0">
                <a:latin typeface="Times New Roman"/>
                <a:cs typeface="Times New Roman"/>
              </a:rPr>
              <a:t>+</a:t>
            </a:r>
            <a:r>
              <a:rPr sz="800" spc="85" dirty="0">
                <a:latin typeface="Times New Roman"/>
                <a:cs typeface="Times New Roman"/>
              </a:rPr>
              <a:t> </a:t>
            </a:r>
            <a:r>
              <a:rPr sz="800" spc="-85" dirty="0">
                <a:latin typeface="Times New Roman"/>
                <a:cs typeface="Times New Roman"/>
              </a:rPr>
              <a:t>PORT</a:t>
            </a:r>
            <a:endParaRPr sz="800">
              <a:latin typeface="Times New Roman"/>
              <a:cs typeface="Times New Roman"/>
            </a:endParaRPr>
          </a:p>
          <a:p>
            <a:pPr marL="269240">
              <a:lnSpc>
                <a:spcPts val="850"/>
              </a:lnSpc>
            </a:pPr>
            <a:r>
              <a:rPr sz="600" spc="55" dirty="0">
                <a:latin typeface="Times New Roman"/>
                <a:cs typeface="Times New Roman"/>
              </a:rPr>
              <a:t>6 </a:t>
            </a:r>
            <a:r>
              <a:rPr sz="600" spc="145" dirty="0">
                <a:latin typeface="Times New Roman"/>
                <a:cs typeface="Times New Roman"/>
              </a:rPr>
              <a:t> </a:t>
            </a:r>
            <a:r>
              <a:rPr sz="800" spc="85" dirty="0">
                <a:latin typeface="Times New Roman"/>
                <a:cs typeface="Times New Roman"/>
              </a:rPr>
              <a:t>s.bind(p)</a:t>
            </a:r>
            <a:endParaRPr sz="800">
              <a:latin typeface="Times New Roman"/>
              <a:cs typeface="Times New Roman"/>
            </a:endParaRPr>
          </a:p>
          <a:p>
            <a:pPr marL="269240">
              <a:lnSpc>
                <a:spcPts val="850"/>
              </a:lnSpc>
            </a:pPr>
            <a:r>
              <a:rPr sz="600" spc="55" dirty="0">
                <a:latin typeface="Times New Roman"/>
                <a:cs typeface="Times New Roman"/>
              </a:rPr>
              <a:t>7 </a:t>
            </a:r>
            <a:r>
              <a:rPr sz="600" spc="135" dirty="0">
                <a:latin typeface="Times New Roman"/>
                <a:cs typeface="Times New Roman"/>
              </a:rPr>
              <a:t> </a:t>
            </a:r>
            <a:r>
              <a:rPr sz="800" b="1" spc="55" dirty="0">
                <a:solidFill>
                  <a:srgbClr val="FF0059"/>
                </a:solidFill>
                <a:latin typeface="Times New Roman"/>
                <a:cs typeface="Times New Roman"/>
              </a:rPr>
              <a:t>while</a:t>
            </a:r>
            <a:r>
              <a:rPr sz="800" b="1" spc="45" dirty="0">
                <a:solidFill>
                  <a:srgbClr val="FF0059"/>
                </a:solidFill>
                <a:latin typeface="Times New Roman"/>
                <a:cs typeface="Times New Roman"/>
              </a:rPr>
              <a:t> </a:t>
            </a:r>
            <a:r>
              <a:rPr sz="800" spc="70" dirty="0">
                <a:latin typeface="Times New Roman"/>
                <a:cs typeface="Times New Roman"/>
              </a:rPr>
              <a:t>True:</a:t>
            </a:r>
            <a:endParaRPr sz="800">
              <a:latin typeface="Times New Roman"/>
              <a:cs typeface="Times New Roman"/>
            </a:endParaRPr>
          </a:p>
          <a:p>
            <a:pPr marL="269240">
              <a:lnSpc>
                <a:spcPts val="905"/>
              </a:lnSpc>
              <a:tabLst>
                <a:tab pos="483870" algn="l"/>
              </a:tabLst>
            </a:pPr>
            <a:r>
              <a:rPr sz="600" spc="55" dirty="0">
                <a:latin typeface="Times New Roman"/>
                <a:cs typeface="Times New Roman"/>
              </a:rPr>
              <a:t>8	</a:t>
            </a:r>
            <a:r>
              <a:rPr sz="800" spc="80" dirty="0">
                <a:latin typeface="Times New Roman"/>
                <a:cs typeface="Times New Roman"/>
              </a:rPr>
              <a:t>time.sleep(5)</a:t>
            </a:r>
            <a:endParaRPr sz="800">
              <a:latin typeface="Times New Roman"/>
              <a:cs typeface="Times New Roman"/>
            </a:endParaRPr>
          </a:p>
        </p:txBody>
      </p:sp>
      <p:sp>
        <p:nvSpPr>
          <p:cNvPr id="5" name="object 5"/>
          <p:cNvSpPr txBox="1"/>
          <p:nvPr/>
        </p:nvSpPr>
        <p:spPr>
          <a:xfrm>
            <a:off x="2240127" y="985963"/>
            <a:ext cx="1558290" cy="363220"/>
          </a:xfrm>
          <a:prstGeom prst="rect">
            <a:avLst/>
          </a:prstGeom>
        </p:spPr>
        <p:txBody>
          <a:bodyPr vert="horz" wrap="square" lIns="0" tIns="12065" rIns="0" bIns="0" rtlCol="0">
            <a:spAutoFit/>
          </a:bodyPr>
          <a:lstStyle/>
          <a:p>
            <a:pPr marL="12700">
              <a:lnSpc>
                <a:spcPts val="905"/>
              </a:lnSpc>
              <a:spcBef>
                <a:spcPts val="95"/>
              </a:spcBef>
            </a:pPr>
            <a:r>
              <a:rPr sz="800" i="1" spc="75" dirty="0">
                <a:solidFill>
                  <a:srgbClr val="009600"/>
                </a:solidFill>
                <a:latin typeface="Times New Roman"/>
                <a:cs typeface="Times New Roman"/>
              </a:rPr>
              <a:t># </a:t>
            </a:r>
            <a:r>
              <a:rPr sz="800" i="1" spc="85" dirty="0">
                <a:solidFill>
                  <a:srgbClr val="009600"/>
                </a:solidFill>
                <a:latin typeface="Times New Roman"/>
                <a:cs typeface="Times New Roman"/>
              </a:rPr>
              <a:t>create</a:t>
            </a:r>
            <a:r>
              <a:rPr sz="800" i="1" spc="75" dirty="0">
                <a:solidFill>
                  <a:srgbClr val="009600"/>
                </a:solidFill>
                <a:latin typeface="Times New Roman"/>
                <a:cs typeface="Times New Roman"/>
              </a:rPr>
              <a:t> a</a:t>
            </a:r>
            <a:r>
              <a:rPr sz="800" i="1" spc="70" dirty="0">
                <a:solidFill>
                  <a:srgbClr val="009600"/>
                </a:solidFill>
                <a:latin typeface="Times New Roman"/>
                <a:cs typeface="Times New Roman"/>
              </a:rPr>
              <a:t> </a:t>
            </a:r>
            <a:r>
              <a:rPr sz="800" i="1" spc="75" dirty="0">
                <a:solidFill>
                  <a:srgbClr val="009600"/>
                </a:solidFill>
                <a:latin typeface="Times New Roman"/>
                <a:cs typeface="Times New Roman"/>
              </a:rPr>
              <a:t>publisher</a:t>
            </a:r>
            <a:r>
              <a:rPr sz="800" i="1" spc="45" dirty="0">
                <a:solidFill>
                  <a:srgbClr val="009600"/>
                </a:solidFill>
                <a:latin typeface="Times New Roman"/>
                <a:cs typeface="Times New Roman"/>
              </a:rPr>
              <a:t> </a:t>
            </a:r>
            <a:r>
              <a:rPr sz="800" i="1" spc="85" dirty="0">
                <a:solidFill>
                  <a:srgbClr val="009600"/>
                </a:solidFill>
                <a:latin typeface="Times New Roman"/>
                <a:cs typeface="Times New Roman"/>
              </a:rPr>
              <a:t>socket</a:t>
            </a:r>
            <a:endParaRPr sz="800">
              <a:latin typeface="Times New Roman"/>
              <a:cs typeface="Times New Roman"/>
            </a:endParaRPr>
          </a:p>
          <a:p>
            <a:pPr marL="12700" marR="5080">
              <a:lnSpc>
                <a:spcPts val="850"/>
              </a:lnSpc>
              <a:spcBef>
                <a:spcPts val="65"/>
              </a:spcBef>
            </a:pP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a:t>
            </a:r>
            <a:r>
              <a:rPr sz="800" i="1" spc="-10" dirty="0">
                <a:solidFill>
                  <a:srgbClr val="009600"/>
                </a:solidFill>
                <a:latin typeface="Times New Roman"/>
                <a:cs typeface="Times New Roman"/>
              </a:rPr>
              <a:t>how</a:t>
            </a:r>
            <a:r>
              <a:rPr sz="800" i="1" spc="70" dirty="0">
                <a:solidFill>
                  <a:srgbClr val="009600"/>
                </a:solidFill>
                <a:latin typeface="Times New Roman"/>
                <a:cs typeface="Times New Roman"/>
              </a:rPr>
              <a:t> </a:t>
            </a:r>
            <a:r>
              <a:rPr sz="800" i="1" spc="35" dirty="0">
                <a:solidFill>
                  <a:srgbClr val="009600"/>
                </a:solidFill>
                <a:latin typeface="Times New Roman"/>
                <a:cs typeface="Times New Roman"/>
              </a:rPr>
              <a:t>and</a:t>
            </a:r>
            <a:r>
              <a:rPr sz="800" i="1" spc="60" dirty="0">
                <a:solidFill>
                  <a:srgbClr val="009600"/>
                </a:solidFill>
                <a:latin typeface="Times New Roman"/>
                <a:cs typeface="Times New Roman"/>
              </a:rPr>
              <a:t> </a:t>
            </a:r>
            <a:r>
              <a:rPr sz="800" i="1" spc="30" dirty="0">
                <a:solidFill>
                  <a:srgbClr val="009600"/>
                </a:solidFill>
                <a:latin typeface="Times New Roman"/>
                <a:cs typeface="Times New Roman"/>
              </a:rPr>
              <a:t>where</a:t>
            </a:r>
            <a:r>
              <a:rPr sz="800" i="1" spc="70"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65" dirty="0">
                <a:solidFill>
                  <a:srgbClr val="009600"/>
                </a:solidFill>
                <a:latin typeface="Times New Roman"/>
                <a:cs typeface="Times New Roman"/>
              </a:rPr>
              <a:t> </a:t>
            </a:r>
            <a:r>
              <a:rPr sz="800" i="1" spc="20" dirty="0">
                <a:solidFill>
                  <a:srgbClr val="009600"/>
                </a:solidFill>
                <a:latin typeface="Times New Roman"/>
                <a:cs typeface="Times New Roman"/>
              </a:rPr>
              <a:t>communicate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70" dirty="0">
                <a:solidFill>
                  <a:srgbClr val="009600"/>
                </a:solidFill>
                <a:latin typeface="Times New Roman"/>
                <a:cs typeface="Times New Roman"/>
              </a:rPr>
              <a:t>bind</a:t>
            </a:r>
            <a:r>
              <a:rPr sz="800" i="1" spc="60" dirty="0">
                <a:solidFill>
                  <a:srgbClr val="009600"/>
                </a:solidFill>
                <a:latin typeface="Times New Roman"/>
                <a:cs typeface="Times New Roman"/>
              </a:rPr>
              <a:t> </a:t>
            </a:r>
            <a:r>
              <a:rPr sz="800" i="1" spc="85" dirty="0">
                <a:solidFill>
                  <a:srgbClr val="009600"/>
                </a:solidFill>
                <a:latin typeface="Times New Roman"/>
                <a:cs typeface="Times New Roman"/>
              </a:rPr>
              <a:t>socket</a:t>
            </a:r>
            <a:r>
              <a:rPr sz="800" i="1" spc="70"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75" dirty="0">
                <a:solidFill>
                  <a:srgbClr val="009600"/>
                </a:solidFill>
                <a:latin typeface="Times New Roman"/>
                <a:cs typeface="Times New Roman"/>
              </a:rPr>
              <a:t> </a:t>
            </a:r>
            <a:r>
              <a:rPr sz="800" i="1" spc="110" dirty="0">
                <a:solidFill>
                  <a:srgbClr val="009600"/>
                </a:solidFill>
                <a:latin typeface="Times New Roman"/>
                <a:cs typeface="Times New Roman"/>
              </a:rPr>
              <a:t>the</a:t>
            </a:r>
            <a:r>
              <a:rPr sz="800" i="1" spc="60" dirty="0">
                <a:solidFill>
                  <a:srgbClr val="009600"/>
                </a:solidFill>
                <a:latin typeface="Times New Roman"/>
                <a:cs typeface="Times New Roman"/>
              </a:rPr>
              <a:t> address</a:t>
            </a:r>
            <a:endParaRPr sz="800">
              <a:latin typeface="Times New Roman"/>
              <a:cs typeface="Times New Roman"/>
            </a:endParaRPr>
          </a:p>
        </p:txBody>
      </p:sp>
      <p:sp>
        <p:nvSpPr>
          <p:cNvPr id="6" name="object 6"/>
          <p:cNvSpPr txBox="1"/>
          <p:nvPr/>
        </p:nvSpPr>
        <p:spPr>
          <a:xfrm>
            <a:off x="2240127" y="1418677"/>
            <a:ext cx="1153160" cy="147320"/>
          </a:xfrm>
          <a:prstGeom prst="rect">
            <a:avLst/>
          </a:prstGeom>
        </p:spPr>
        <p:txBody>
          <a:bodyPr vert="horz" wrap="square" lIns="0" tIns="12065" rIns="0" bIns="0" rtlCol="0">
            <a:spAutoFit/>
          </a:bodyPr>
          <a:lstStyle/>
          <a:p>
            <a:pPr marL="12700">
              <a:lnSpc>
                <a:spcPct val="100000"/>
              </a:lnSpc>
              <a:spcBef>
                <a:spcPts val="95"/>
              </a:spcBef>
            </a:pP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wait</a:t>
            </a:r>
            <a:r>
              <a:rPr sz="800" i="1" spc="55" dirty="0">
                <a:solidFill>
                  <a:srgbClr val="009600"/>
                </a:solidFill>
                <a:latin typeface="Times New Roman"/>
                <a:cs typeface="Times New Roman"/>
              </a:rPr>
              <a:t> </a:t>
            </a:r>
            <a:r>
              <a:rPr sz="800" i="1" spc="75" dirty="0">
                <a:solidFill>
                  <a:srgbClr val="009600"/>
                </a:solidFill>
                <a:latin typeface="Times New Roman"/>
                <a:cs typeface="Times New Roman"/>
              </a:rPr>
              <a:t>every</a:t>
            </a:r>
            <a:r>
              <a:rPr sz="800" i="1" spc="80" dirty="0">
                <a:solidFill>
                  <a:srgbClr val="009600"/>
                </a:solidFill>
                <a:latin typeface="Times New Roman"/>
                <a:cs typeface="Times New Roman"/>
              </a:rPr>
              <a:t> </a:t>
            </a:r>
            <a:r>
              <a:rPr sz="800" i="1" spc="75" dirty="0">
                <a:solidFill>
                  <a:srgbClr val="009600"/>
                </a:solidFill>
                <a:latin typeface="Times New Roman"/>
                <a:cs typeface="Times New Roman"/>
              </a:rPr>
              <a:t>5 </a:t>
            </a:r>
            <a:r>
              <a:rPr sz="800" i="1" spc="50" dirty="0">
                <a:solidFill>
                  <a:srgbClr val="009600"/>
                </a:solidFill>
                <a:latin typeface="Times New Roman"/>
                <a:cs typeface="Times New Roman"/>
              </a:rPr>
              <a:t>seconds</a:t>
            </a:r>
            <a:endParaRPr sz="800">
              <a:latin typeface="Times New Roman"/>
              <a:cs typeface="Times New Roman"/>
            </a:endParaRPr>
          </a:p>
        </p:txBody>
      </p:sp>
      <p:sp>
        <p:nvSpPr>
          <p:cNvPr id="7" name="object 7"/>
          <p:cNvSpPr txBox="1"/>
          <p:nvPr/>
        </p:nvSpPr>
        <p:spPr>
          <a:xfrm>
            <a:off x="352361" y="1526856"/>
            <a:ext cx="3242310" cy="147320"/>
          </a:xfrm>
          <a:prstGeom prst="rect">
            <a:avLst/>
          </a:prstGeom>
        </p:spPr>
        <p:txBody>
          <a:bodyPr vert="horz" wrap="square" lIns="0" tIns="12065" rIns="0" bIns="0" rtlCol="0">
            <a:spAutoFit/>
          </a:bodyPr>
          <a:lstStyle/>
          <a:p>
            <a:pPr marL="12700">
              <a:lnSpc>
                <a:spcPct val="100000"/>
              </a:lnSpc>
              <a:spcBef>
                <a:spcPts val="95"/>
              </a:spcBef>
              <a:tabLst>
                <a:tab pos="229870" algn="l"/>
              </a:tabLst>
            </a:pPr>
            <a:r>
              <a:rPr sz="600" spc="55" dirty="0">
                <a:latin typeface="Times New Roman"/>
                <a:cs typeface="Times New Roman"/>
              </a:rPr>
              <a:t>9	</a:t>
            </a:r>
            <a:r>
              <a:rPr sz="800" spc="25" dirty="0">
                <a:latin typeface="Times New Roman"/>
                <a:cs typeface="Times New Roman"/>
              </a:rPr>
              <a:t>s.send(</a:t>
            </a:r>
            <a:r>
              <a:rPr sz="800" spc="25" dirty="0">
                <a:solidFill>
                  <a:srgbClr val="FA0000"/>
                </a:solidFill>
                <a:latin typeface="Times New Roman"/>
                <a:cs typeface="Times New Roman"/>
              </a:rPr>
              <a:t>"TIME</a:t>
            </a:r>
            <a:r>
              <a:rPr sz="800" spc="90" dirty="0">
                <a:solidFill>
                  <a:srgbClr val="FA0000"/>
                </a:solidFill>
                <a:latin typeface="Times New Roman"/>
                <a:cs typeface="Times New Roman"/>
              </a:rPr>
              <a:t> </a:t>
            </a:r>
            <a:r>
              <a:rPr sz="800" spc="150" dirty="0">
                <a:solidFill>
                  <a:srgbClr val="FA0000"/>
                </a:solidFill>
                <a:latin typeface="Times New Roman"/>
                <a:cs typeface="Times New Roman"/>
              </a:rPr>
              <a:t>"</a:t>
            </a:r>
            <a:r>
              <a:rPr sz="800" spc="120" dirty="0">
                <a:solidFill>
                  <a:srgbClr val="FA0000"/>
                </a:solidFill>
                <a:latin typeface="Times New Roman"/>
                <a:cs typeface="Times New Roman"/>
              </a:rPr>
              <a:t> </a:t>
            </a:r>
            <a:r>
              <a:rPr sz="800" spc="25" dirty="0">
                <a:latin typeface="Times New Roman"/>
                <a:cs typeface="Times New Roman"/>
              </a:rPr>
              <a:t>+</a:t>
            </a:r>
            <a:r>
              <a:rPr sz="800" spc="95" dirty="0">
                <a:latin typeface="Times New Roman"/>
                <a:cs typeface="Times New Roman"/>
              </a:rPr>
              <a:t> </a:t>
            </a:r>
            <a:r>
              <a:rPr sz="800" spc="80" dirty="0">
                <a:latin typeface="Times New Roman"/>
                <a:cs typeface="Times New Roman"/>
              </a:rPr>
              <a:t>time.asctime())</a:t>
            </a:r>
            <a:r>
              <a:rPr sz="800" spc="100" dirty="0">
                <a:latin typeface="Times New Roman"/>
                <a:cs typeface="Times New Roman"/>
              </a:rPr>
              <a:t> </a:t>
            </a:r>
            <a:r>
              <a:rPr sz="800" i="1" spc="75" dirty="0">
                <a:solidFill>
                  <a:srgbClr val="009600"/>
                </a:solidFill>
                <a:latin typeface="Times New Roman"/>
                <a:cs typeface="Times New Roman"/>
              </a:rPr>
              <a:t>#</a:t>
            </a:r>
            <a:r>
              <a:rPr sz="800" i="1" spc="90" dirty="0">
                <a:solidFill>
                  <a:srgbClr val="009600"/>
                </a:solidFill>
                <a:latin typeface="Times New Roman"/>
                <a:cs typeface="Times New Roman"/>
              </a:rPr>
              <a:t> </a:t>
            </a:r>
            <a:r>
              <a:rPr sz="800" i="1" spc="75" dirty="0">
                <a:solidFill>
                  <a:srgbClr val="009600"/>
                </a:solidFill>
                <a:latin typeface="Times New Roman"/>
                <a:cs typeface="Times New Roman"/>
              </a:rPr>
              <a:t>publish</a:t>
            </a:r>
            <a:r>
              <a:rPr sz="800" i="1" spc="70" dirty="0">
                <a:solidFill>
                  <a:srgbClr val="009600"/>
                </a:solidFill>
                <a:latin typeface="Times New Roman"/>
                <a:cs typeface="Times New Roman"/>
              </a:rPr>
              <a:t> </a:t>
            </a:r>
            <a:r>
              <a:rPr sz="800" i="1" spc="110" dirty="0">
                <a:solidFill>
                  <a:srgbClr val="009600"/>
                </a:solidFill>
                <a:latin typeface="Times New Roman"/>
                <a:cs typeface="Times New Roman"/>
              </a:rPr>
              <a:t>the</a:t>
            </a:r>
            <a:r>
              <a:rPr sz="800" i="1" spc="70" dirty="0">
                <a:solidFill>
                  <a:srgbClr val="009600"/>
                </a:solidFill>
                <a:latin typeface="Times New Roman"/>
                <a:cs typeface="Times New Roman"/>
              </a:rPr>
              <a:t> </a:t>
            </a:r>
            <a:r>
              <a:rPr sz="800" i="1" spc="75" dirty="0">
                <a:solidFill>
                  <a:srgbClr val="009600"/>
                </a:solidFill>
                <a:latin typeface="Times New Roman"/>
                <a:cs typeface="Times New Roman"/>
              </a:rPr>
              <a:t>current</a:t>
            </a:r>
            <a:r>
              <a:rPr sz="800" i="1" spc="70" dirty="0">
                <a:solidFill>
                  <a:srgbClr val="009600"/>
                </a:solidFill>
                <a:latin typeface="Times New Roman"/>
                <a:cs typeface="Times New Roman"/>
              </a:rPr>
              <a:t> </a:t>
            </a:r>
            <a:r>
              <a:rPr sz="800" i="1" spc="85" dirty="0">
                <a:solidFill>
                  <a:srgbClr val="009600"/>
                </a:solidFill>
                <a:latin typeface="Times New Roman"/>
                <a:cs typeface="Times New Roman"/>
              </a:rPr>
              <a:t>time</a:t>
            </a:r>
            <a:endParaRPr sz="800">
              <a:latin typeface="Times New Roman"/>
              <a:cs typeface="Times New Roman"/>
            </a:endParaRPr>
          </a:p>
        </p:txBody>
      </p:sp>
      <p:sp>
        <p:nvSpPr>
          <p:cNvPr id="8" name="object 8"/>
          <p:cNvSpPr txBox="1"/>
          <p:nvPr/>
        </p:nvSpPr>
        <p:spPr>
          <a:xfrm>
            <a:off x="347294" y="1671203"/>
            <a:ext cx="1628139" cy="857885"/>
          </a:xfrm>
          <a:prstGeom prst="rect">
            <a:avLst/>
          </a:prstGeom>
        </p:spPr>
        <p:txBody>
          <a:bodyPr vert="horz" wrap="square" lIns="0" tIns="12065" rIns="0" bIns="0" rtlCol="0">
            <a:spAutoFit/>
          </a:bodyPr>
          <a:lstStyle/>
          <a:p>
            <a:pPr marL="12700">
              <a:lnSpc>
                <a:spcPts val="1390"/>
              </a:lnSpc>
              <a:spcBef>
                <a:spcPts val="95"/>
              </a:spcBef>
            </a:pPr>
            <a:r>
              <a:rPr sz="1200" spc="-5" dirty="0">
                <a:solidFill>
                  <a:srgbClr val="3333B2"/>
                </a:solidFill>
                <a:latin typeface="Arial"/>
                <a:cs typeface="Arial"/>
              </a:rPr>
              <a:t>Client</a:t>
            </a:r>
            <a:endParaRPr sz="1200">
              <a:latin typeface="Arial"/>
              <a:cs typeface="Arial"/>
            </a:endParaRPr>
          </a:p>
          <a:p>
            <a:pPr marL="17145">
              <a:lnSpc>
                <a:spcPts val="910"/>
              </a:lnSpc>
            </a:pPr>
            <a:r>
              <a:rPr sz="600" spc="55" dirty="0">
                <a:latin typeface="Times New Roman"/>
                <a:cs typeface="Times New Roman"/>
              </a:rPr>
              <a:t>1 </a:t>
            </a:r>
            <a:r>
              <a:rPr sz="600" spc="130" dirty="0">
                <a:latin typeface="Times New Roman"/>
                <a:cs typeface="Times New Roman"/>
              </a:rPr>
              <a:t> </a:t>
            </a:r>
            <a:r>
              <a:rPr sz="800" b="1" spc="25" dirty="0">
                <a:solidFill>
                  <a:srgbClr val="FF0059"/>
                </a:solidFill>
                <a:latin typeface="Times New Roman"/>
                <a:cs typeface="Times New Roman"/>
              </a:rPr>
              <a:t>import</a:t>
            </a:r>
            <a:r>
              <a:rPr sz="800" b="1" spc="50" dirty="0">
                <a:solidFill>
                  <a:srgbClr val="FF0059"/>
                </a:solidFill>
                <a:latin typeface="Times New Roman"/>
                <a:cs typeface="Times New Roman"/>
              </a:rPr>
              <a:t> </a:t>
            </a:r>
            <a:r>
              <a:rPr sz="800" spc="-25" dirty="0">
                <a:latin typeface="Times New Roman"/>
                <a:cs typeface="Times New Roman"/>
              </a:rPr>
              <a:t>zmq</a:t>
            </a:r>
            <a:endParaRPr sz="800">
              <a:latin typeface="Times New Roman"/>
              <a:cs typeface="Times New Roman"/>
            </a:endParaRPr>
          </a:p>
          <a:p>
            <a:pPr marL="17145">
              <a:lnSpc>
                <a:spcPts val="685"/>
              </a:lnSpc>
              <a:spcBef>
                <a:spcPts val="90"/>
              </a:spcBef>
            </a:pPr>
            <a:r>
              <a:rPr sz="600" spc="55" dirty="0">
                <a:latin typeface="Times New Roman"/>
                <a:cs typeface="Times New Roman"/>
              </a:rPr>
              <a:t>2</a:t>
            </a:r>
            <a:endParaRPr sz="600">
              <a:latin typeface="Times New Roman"/>
              <a:cs typeface="Times New Roman"/>
            </a:endParaRPr>
          </a:p>
          <a:p>
            <a:pPr marL="17145">
              <a:lnSpc>
                <a:spcPts val="869"/>
              </a:lnSpc>
            </a:pPr>
            <a:r>
              <a:rPr sz="600" spc="55" dirty="0">
                <a:latin typeface="Times New Roman"/>
                <a:cs typeface="Times New Roman"/>
              </a:rPr>
              <a:t>3 </a:t>
            </a:r>
            <a:r>
              <a:rPr sz="600" spc="160" dirty="0">
                <a:latin typeface="Times New Roman"/>
                <a:cs typeface="Times New Roman"/>
              </a:rPr>
              <a:t> </a:t>
            </a:r>
            <a:r>
              <a:rPr sz="800" spc="75" dirty="0">
                <a:latin typeface="Times New Roman"/>
                <a:cs typeface="Times New Roman"/>
              </a:rPr>
              <a:t>context</a:t>
            </a:r>
            <a:r>
              <a:rPr sz="800" spc="8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45" dirty="0">
                <a:latin typeface="Times New Roman"/>
                <a:cs typeface="Times New Roman"/>
              </a:rPr>
              <a:t>zmq.Context()</a:t>
            </a:r>
            <a:endParaRPr sz="800">
              <a:latin typeface="Times New Roman"/>
              <a:cs typeface="Times New Roman"/>
            </a:endParaRPr>
          </a:p>
          <a:p>
            <a:pPr marL="17145">
              <a:lnSpc>
                <a:spcPts val="850"/>
              </a:lnSpc>
            </a:pPr>
            <a:r>
              <a:rPr sz="600" spc="55" dirty="0">
                <a:latin typeface="Times New Roman"/>
                <a:cs typeface="Times New Roman"/>
              </a:rPr>
              <a:t>4 </a:t>
            </a:r>
            <a:r>
              <a:rPr sz="600" spc="185" dirty="0">
                <a:latin typeface="Times New Roman"/>
                <a:cs typeface="Times New Roman"/>
              </a:rPr>
              <a:t> </a:t>
            </a:r>
            <a:r>
              <a:rPr sz="800" spc="165" dirty="0">
                <a:latin typeface="Times New Roman"/>
                <a:cs typeface="Times New Roman"/>
              </a:rPr>
              <a:t>s</a:t>
            </a:r>
            <a:r>
              <a:rPr sz="800" spc="105" dirty="0">
                <a:latin typeface="Times New Roman"/>
                <a:cs typeface="Times New Roman"/>
              </a:rPr>
              <a:t> </a:t>
            </a:r>
            <a:r>
              <a:rPr sz="800" spc="25" dirty="0">
                <a:latin typeface="Times New Roman"/>
                <a:cs typeface="Times New Roman"/>
              </a:rPr>
              <a:t>=</a:t>
            </a:r>
            <a:r>
              <a:rPr sz="800" spc="80" dirty="0">
                <a:latin typeface="Times New Roman"/>
                <a:cs typeface="Times New Roman"/>
              </a:rPr>
              <a:t> </a:t>
            </a:r>
            <a:r>
              <a:rPr sz="800" spc="40" dirty="0">
                <a:latin typeface="Times New Roman"/>
                <a:cs typeface="Times New Roman"/>
              </a:rPr>
              <a:t>context.socket(zmq.SUB)</a:t>
            </a:r>
            <a:endParaRPr sz="800">
              <a:latin typeface="Times New Roman"/>
              <a:cs typeface="Times New Roman"/>
            </a:endParaRPr>
          </a:p>
          <a:p>
            <a:pPr marL="17145">
              <a:lnSpc>
                <a:spcPts val="850"/>
              </a:lnSpc>
            </a:pPr>
            <a:r>
              <a:rPr sz="600" spc="55" dirty="0">
                <a:latin typeface="Times New Roman"/>
                <a:cs typeface="Times New Roman"/>
              </a:rPr>
              <a:t>5 </a:t>
            </a:r>
            <a:r>
              <a:rPr sz="600" spc="190" dirty="0">
                <a:latin typeface="Times New Roman"/>
                <a:cs typeface="Times New Roman"/>
              </a:rPr>
              <a:t> </a:t>
            </a:r>
            <a:r>
              <a:rPr sz="800" spc="75" dirty="0">
                <a:latin typeface="Times New Roman"/>
                <a:cs typeface="Times New Roman"/>
              </a:rPr>
              <a:t>p</a:t>
            </a:r>
            <a:r>
              <a:rPr sz="800" spc="110" dirty="0">
                <a:latin typeface="Times New Roman"/>
                <a:cs typeface="Times New Roman"/>
              </a:rPr>
              <a:t> </a:t>
            </a:r>
            <a:r>
              <a:rPr sz="800" spc="25" dirty="0">
                <a:latin typeface="Times New Roman"/>
                <a:cs typeface="Times New Roman"/>
              </a:rPr>
              <a:t>=</a:t>
            </a:r>
            <a:r>
              <a:rPr sz="800" spc="110" dirty="0">
                <a:latin typeface="Times New Roman"/>
                <a:cs typeface="Times New Roman"/>
              </a:rPr>
              <a:t> </a:t>
            </a:r>
            <a:r>
              <a:rPr sz="800" spc="100" dirty="0">
                <a:solidFill>
                  <a:srgbClr val="FA0000"/>
                </a:solidFill>
                <a:latin typeface="Times New Roman"/>
                <a:cs typeface="Times New Roman"/>
              </a:rPr>
              <a:t>"tcp://"</a:t>
            </a:r>
            <a:r>
              <a:rPr sz="800" spc="100" dirty="0">
                <a:latin typeface="Times New Roman"/>
                <a:cs typeface="Times New Roman"/>
              </a:rPr>
              <a:t>+</a:t>
            </a:r>
            <a:r>
              <a:rPr sz="800" spc="85" dirty="0">
                <a:latin typeface="Times New Roman"/>
                <a:cs typeface="Times New Roman"/>
              </a:rPr>
              <a:t> </a:t>
            </a:r>
            <a:r>
              <a:rPr sz="800" spc="-95" dirty="0">
                <a:latin typeface="Times New Roman"/>
                <a:cs typeface="Times New Roman"/>
              </a:rPr>
              <a:t>HOST</a:t>
            </a:r>
            <a:r>
              <a:rPr sz="800" spc="85" dirty="0">
                <a:latin typeface="Times New Roman"/>
                <a:cs typeface="Times New Roman"/>
              </a:rPr>
              <a:t> </a:t>
            </a:r>
            <a:r>
              <a:rPr sz="800" spc="55" dirty="0">
                <a:latin typeface="Times New Roman"/>
                <a:cs typeface="Times New Roman"/>
              </a:rPr>
              <a:t>+</a:t>
            </a:r>
            <a:r>
              <a:rPr sz="800" spc="55" dirty="0">
                <a:solidFill>
                  <a:srgbClr val="FA0000"/>
                </a:solidFill>
                <a:latin typeface="Times New Roman"/>
                <a:cs typeface="Times New Roman"/>
              </a:rPr>
              <a:t>":"</a:t>
            </a:r>
            <a:r>
              <a:rPr sz="800" spc="55" dirty="0">
                <a:latin typeface="Times New Roman"/>
                <a:cs typeface="Times New Roman"/>
              </a:rPr>
              <a:t>+</a:t>
            </a:r>
            <a:r>
              <a:rPr sz="800" spc="85" dirty="0">
                <a:latin typeface="Times New Roman"/>
                <a:cs typeface="Times New Roman"/>
              </a:rPr>
              <a:t> </a:t>
            </a:r>
            <a:r>
              <a:rPr sz="800" spc="-85" dirty="0">
                <a:latin typeface="Times New Roman"/>
                <a:cs typeface="Times New Roman"/>
              </a:rPr>
              <a:t>PORT</a:t>
            </a:r>
            <a:endParaRPr sz="800">
              <a:latin typeface="Times New Roman"/>
              <a:cs typeface="Times New Roman"/>
            </a:endParaRPr>
          </a:p>
          <a:p>
            <a:pPr marL="17145">
              <a:lnSpc>
                <a:spcPts val="905"/>
              </a:lnSpc>
            </a:pPr>
            <a:r>
              <a:rPr sz="600" spc="55" dirty="0">
                <a:latin typeface="Times New Roman"/>
                <a:cs typeface="Times New Roman"/>
              </a:rPr>
              <a:t>6 </a:t>
            </a:r>
            <a:r>
              <a:rPr sz="600" spc="135" dirty="0">
                <a:latin typeface="Times New Roman"/>
                <a:cs typeface="Times New Roman"/>
              </a:rPr>
              <a:t> </a:t>
            </a:r>
            <a:r>
              <a:rPr sz="800" spc="75" dirty="0">
                <a:latin typeface="Times New Roman"/>
                <a:cs typeface="Times New Roman"/>
              </a:rPr>
              <a:t>s.connect(p)</a:t>
            </a:r>
            <a:endParaRPr sz="800">
              <a:latin typeface="Times New Roman"/>
              <a:cs typeface="Times New Roman"/>
            </a:endParaRPr>
          </a:p>
        </p:txBody>
      </p:sp>
      <p:sp>
        <p:nvSpPr>
          <p:cNvPr id="9" name="object 9"/>
          <p:cNvSpPr txBox="1"/>
          <p:nvPr/>
        </p:nvSpPr>
        <p:spPr>
          <a:xfrm>
            <a:off x="2341346" y="2165793"/>
            <a:ext cx="1558290" cy="363220"/>
          </a:xfrm>
          <a:prstGeom prst="rect">
            <a:avLst/>
          </a:prstGeom>
        </p:spPr>
        <p:txBody>
          <a:bodyPr vert="horz" wrap="square" lIns="0" tIns="12065" rIns="0" bIns="0" rtlCol="0">
            <a:spAutoFit/>
          </a:bodyPr>
          <a:lstStyle/>
          <a:p>
            <a:pPr marL="12700">
              <a:lnSpc>
                <a:spcPts val="905"/>
              </a:lnSpc>
              <a:spcBef>
                <a:spcPts val="95"/>
              </a:spcBef>
            </a:pP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85" dirty="0">
                <a:solidFill>
                  <a:srgbClr val="009600"/>
                </a:solidFill>
                <a:latin typeface="Times New Roman"/>
                <a:cs typeface="Times New Roman"/>
              </a:rPr>
              <a:t>create</a:t>
            </a:r>
            <a:r>
              <a:rPr sz="800" i="1" spc="80" dirty="0">
                <a:solidFill>
                  <a:srgbClr val="009600"/>
                </a:solidFill>
                <a:latin typeface="Times New Roman"/>
                <a:cs typeface="Times New Roman"/>
              </a:rPr>
              <a:t> </a:t>
            </a:r>
            <a:r>
              <a:rPr sz="800" i="1" spc="75" dirty="0">
                <a:solidFill>
                  <a:srgbClr val="009600"/>
                </a:solidFill>
                <a:latin typeface="Times New Roman"/>
                <a:cs typeface="Times New Roman"/>
              </a:rPr>
              <a:t>a </a:t>
            </a:r>
            <a:r>
              <a:rPr sz="800" i="1" spc="70" dirty="0">
                <a:solidFill>
                  <a:srgbClr val="009600"/>
                </a:solidFill>
                <a:latin typeface="Times New Roman"/>
                <a:cs typeface="Times New Roman"/>
              </a:rPr>
              <a:t>subscriber</a:t>
            </a:r>
            <a:r>
              <a:rPr sz="800" i="1" spc="45" dirty="0">
                <a:solidFill>
                  <a:srgbClr val="009600"/>
                </a:solidFill>
                <a:latin typeface="Times New Roman"/>
                <a:cs typeface="Times New Roman"/>
              </a:rPr>
              <a:t> </a:t>
            </a:r>
            <a:r>
              <a:rPr sz="800" i="1" spc="85" dirty="0">
                <a:solidFill>
                  <a:srgbClr val="009600"/>
                </a:solidFill>
                <a:latin typeface="Times New Roman"/>
                <a:cs typeface="Times New Roman"/>
              </a:rPr>
              <a:t>socket</a:t>
            </a:r>
            <a:endParaRPr sz="800">
              <a:latin typeface="Times New Roman"/>
              <a:cs typeface="Times New Roman"/>
            </a:endParaRPr>
          </a:p>
          <a:p>
            <a:pPr marL="12700" marR="5080">
              <a:lnSpc>
                <a:spcPts val="850"/>
              </a:lnSpc>
              <a:spcBef>
                <a:spcPts val="65"/>
              </a:spcBef>
            </a:pP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a:t>
            </a:r>
            <a:r>
              <a:rPr sz="800" i="1" spc="-10" dirty="0">
                <a:solidFill>
                  <a:srgbClr val="009600"/>
                </a:solidFill>
                <a:latin typeface="Times New Roman"/>
                <a:cs typeface="Times New Roman"/>
              </a:rPr>
              <a:t>how</a:t>
            </a:r>
            <a:r>
              <a:rPr sz="800" i="1" spc="70" dirty="0">
                <a:solidFill>
                  <a:srgbClr val="009600"/>
                </a:solidFill>
                <a:latin typeface="Times New Roman"/>
                <a:cs typeface="Times New Roman"/>
              </a:rPr>
              <a:t> </a:t>
            </a:r>
            <a:r>
              <a:rPr sz="800" i="1" spc="35" dirty="0">
                <a:solidFill>
                  <a:srgbClr val="009600"/>
                </a:solidFill>
                <a:latin typeface="Times New Roman"/>
                <a:cs typeface="Times New Roman"/>
              </a:rPr>
              <a:t>and</a:t>
            </a:r>
            <a:r>
              <a:rPr sz="800" i="1" spc="60" dirty="0">
                <a:solidFill>
                  <a:srgbClr val="009600"/>
                </a:solidFill>
                <a:latin typeface="Times New Roman"/>
                <a:cs typeface="Times New Roman"/>
              </a:rPr>
              <a:t> </a:t>
            </a:r>
            <a:r>
              <a:rPr sz="800" i="1" spc="30" dirty="0">
                <a:solidFill>
                  <a:srgbClr val="009600"/>
                </a:solidFill>
                <a:latin typeface="Times New Roman"/>
                <a:cs typeface="Times New Roman"/>
              </a:rPr>
              <a:t>where</a:t>
            </a:r>
            <a:r>
              <a:rPr sz="800" i="1" spc="70"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65" dirty="0">
                <a:solidFill>
                  <a:srgbClr val="009600"/>
                </a:solidFill>
                <a:latin typeface="Times New Roman"/>
                <a:cs typeface="Times New Roman"/>
              </a:rPr>
              <a:t> </a:t>
            </a:r>
            <a:r>
              <a:rPr sz="800" i="1" spc="20" dirty="0">
                <a:solidFill>
                  <a:srgbClr val="009600"/>
                </a:solidFill>
                <a:latin typeface="Times New Roman"/>
                <a:cs typeface="Times New Roman"/>
              </a:rPr>
              <a:t>communicate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60" dirty="0">
                <a:solidFill>
                  <a:srgbClr val="009600"/>
                </a:solidFill>
                <a:latin typeface="Times New Roman"/>
                <a:cs typeface="Times New Roman"/>
              </a:rPr>
              <a:t>connect</a:t>
            </a:r>
            <a:r>
              <a:rPr sz="800" i="1" spc="70"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80" dirty="0">
                <a:solidFill>
                  <a:srgbClr val="009600"/>
                </a:solidFill>
                <a:latin typeface="Times New Roman"/>
                <a:cs typeface="Times New Roman"/>
              </a:rPr>
              <a:t> </a:t>
            </a:r>
            <a:r>
              <a:rPr sz="800" i="1" spc="110" dirty="0">
                <a:solidFill>
                  <a:srgbClr val="009600"/>
                </a:solidFill>
                <a:latin typeface="Times New Roman"/>
                <a:cs typeface="Times New Roman"/>
              </a:rPr>
              <a:t>the</a:t>
            </a:r>
            <a:r>
              <a:rPr sz="800" i="1" spc="65" dirty="0">
                <a:solidFill>
                  <a:srgbClr val="009600"/>
                </a:solidFill>
                <a:latin typeface="Times New Roman"/>
                <a:cs typeface="Times New Roman"/>
              </a:rPr>
              <a:t> </a:t>
            </a:r>
            <a:r>
              <a:rPr sz="800" i="1" spc="85" dirty="0">
                <a:solidFill>
                  <a:srgbClr val="009600"/>
                </a:solidFill>
                <a:latin typeface="Times New Roman"/>
                <a:cs typeface="Times New Roman"/>
              </a:rPr>
              <a:t>server</a:t>
            </a:r>
            <a:endParaRPr sz="800">
              <a:latin typeface="Times New Roman"/>
              <a:cs typeface="Times New Roman"/>
            </a:endParaRPr>
          </a:p>
        </p:txBody>
      </p:sp>
      <p:sp>
        <p:nvSpPr>
          <p:cNvPr id="10" name="object 10"/>
          <p:cNvSpPr txBox="1"/>
          <p:nvPr/>
        </p:nvSpPr>
        <p:spPr>
          <a:xfrm>
            <a:off x="306806" y="2474303"/>
            <a:ext cx="3491229" cy="595630"/>
          </a:xfrm>
          <a:prstGeom prst="rect">
            <a:avLst/>
          </a:prstGeom>
        </p:spPr>
        <p:txBody>
          <a:bodyPr vert="horz" wrap="square" lIns="0" tIns="27940" rIns="0" bIns="0" rtlCol="0">
            <a:spAutoFit/>
          </a:bodyPr>
          <a:lstStyle/>
          <a:p>
            <a:pPr marL="57785">
              <a:lnSpc>
                <a:spcPct val="100000"/>
              </a:lnSpc>
              <a:spcBef>
                <a:spcPts val="220"/>
              </a:spcBef>
            </a:pPr>
            <a:r>
              <a:rPr sz="600" spc="55" dirty="0">
                <a:latin typeface="Times New Roman"/>
                <a:cs typeface="Times New Roman"/>
              </a:rPr>
              <a:t>7 </a:t>
            </a:r>
            <a:r>
              <a:rPr sz="600" spc="210" dirty="0">
                <a:latin typeface="Times New Roman"/>
                <a:cs typeface="Times New Roman"/>
              </a:rPr>
              <a:t> </a:t>
            </a:r>
            <a:r>
              <a:rPr sz="800" spc="15" dirty="0">
                <a:latin typeface="Times New Roman"/>
                <a:cs typeface="Times New Roman"/>
              </a:rPr>
              <a:t>s.setsockopt(zmq.SUBSCRIBE,</a:t>
            </a:r>
            <a:r>
              <a:rPr sz="800" spc="125" dirty="0">
                <a:latin typeface="Times New Roman"/>
                <a:cs typeface="Times New Roman"/>
              </a:rPr>
              <a:t> </a:t>
            </a:r>
            <a:r>
              <a:rPr sz="800" spc="-5" dirty="0">
                <a:solidFill>
                  <a:srgbClr val="FA0000"/>
                </a:solidFill>
                <a:latin typeface="Times New Roman"/>
                <a:cs typeface="Times New Roman"/>
              </a:rPr>
              <a:t>"TIME"</a:t>
            </a:r>
            <a:r>
              <a:rPr sz="800" spc="-5" dirty="0">
                <a:latin typeface="Times New Roman"/>
                <a:cs typeface="Times New Roman"/>
              </a:rPr>
              <a:t>)</a:t>
            </a:r>
            <a:r>
              <a:rPr sz="800" spc="535" dirty="0">
                <a:latin typeface="Times New Roman"/>
                <a:cs typeface="Times New Roman"/>
              </a:rPr>
              <a:t> </a:t>
            </a:r>
            <a:r>
              <a:rPr sz="800" i="1" spc="75" dirty="0">
                <a:solidFill>
                  <a:srgbClr val="009600"/>
                </a:solidFill>
                <a:latin typeface="Times New Roman"/>
                <a:cs typeface="Times New Roman"/>
              </a:rPr>
              <a:t>#</a:t>
            </a:r>
            <a:r>
              <a:rPr sz="800" i="1" spc="90" dirty="0">
                <a:solidFill>
                  <a:srgbClr val="009600"/>
                </a:solidFill>
                <a:latin typeface="Times New Roman"/>
                <a:cs typeface="Times New Roman"/>
              </a:rPr>
              <a:t> </a:t>
            </a:r>
            <a:r>
              <a:rPr sz="800" i="1" spc="70" dirty="0">
                <a:solidFill>
                  <a:srgbClr val="009600"/>
                </a:solidFill>
                <a:latin typeface="Times New Roman"/>
                <a:cs typeface="Times New Roman"/>
              </a:rPr>
              <a:t>subscribe</a:t>
            </a:r>
            <a:r>
              <a:rPr sz="800" i="1" spc="75"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90" dirty="0">
                <a:solidFill>
                  <a:srgbClr val="009600"/>
                </a:solidFill>
                <a:latin typeface="Times New Roman"/>
                <a:cs typeface="Times New Roman"/>
              </a:rPr>
              <a:t> </a:t>
            </a:r>
            <a:r>
              <a:rPr sz="800" i="1" spc="-40" dirty="0">
                <a:solidFill>
                  <a:srgbClr val="009600"/>
                </a:solidFill>
                <a:latin typeface="Times New Roman"/>
                <a:cs typeface="Times New Roman"/>
              </a:rPr>
              <a:t>TIME</a:t>
            </a:r>
            <a:r>
              <a:rPr sz="800" i="1" spc="65" dirty="0">
                <a:solidFill>
                  <a:srgbClr val="009600"/>
                </a:solidFill>
                <a:latin typeface="Times New Roman"/>
                <a:cs typeface="Times New Roman"/>
              </a:rPr>
              <a:t> </a:t>
            </a:r>
            <a:r>
              <a:rPr sz="800" i="1" spc="30" dirty="0">
                <a:solidFill>
                  <a:srgbClr val="009600"/>
                </a:solidFill>
                <a:latin typeface="Times New Roman"/>
                <a:cs typeface="Times New Roman"/>
              </a:rPr>
              <a:t>messages</a:t>
            </a:r>
            <a:endParaRPr sz="800">
              <a:latin typeface="Times New Roman"/>
              <a:cs typeface="Times New Roman"/>
            </a:endParaRPr>
          </a:p>
          <a:p>
            <a:pPr marL="57785">
              <a:lnSpc>
                <a:spcPts val="685"/>
              </a:lnSpc>
              <a:spcBef>
                <a:spcPts val="95"/>
              </a:spcBef>
            </a:pPr>
            <a:r>
              <a:rPr sz="600" spc="55" dirty="0">
                <a:latin typeface="Times New Roman"/>
                <a:cs typeface="Times New Roman"/>
              </a:rPr>
              <a:t>8</a:t>
            </a:r>
            <a:endParaRPr sz="600">
              <a:latin typeface="Times New Roman"/>
              <a:cs typeface="Times New Roman"/>
            </a:endParaRPr>
          </a:p>
          <a:p>
            <a:pPr marL="57785">
              <a:lnSpc>
                <a:spcPts val="869"/>
              </a:lnSpc>
            </a:pPr>
            <a:r>
              <a:rPr sz="600" spc="55" dirty="0">
                <a:latin typeface="Times New Roman"/>
                <a:cs typeface="Times New Roman"/>
              </a:rPr>
              <a:t>9 </a:t>
            </a:r>
            <a:r>
              <a:rPr sz="600" spc="180" dirty="0">
                <a:latin typeface="Times New Roman"/>
                <a:cs typeface="Times New Roman"/>
              </a:rPr>
              <a:t> </a:t>
            </a:r>
            <a:r>
              <a:rPr sz="800" b="1" spc="95" dirty="0">
                <a:solidFill>
                  <a:srgbClr val="FF0059"/>
                </a:solidFill>
                <a:latin typeface="Times New Roman"/>
                <a:cs typeface="Times New Roman"/>
              </a:rPr>
              <a:t>for</a:t>
            </a:r>
            <a:r>
              <a:rPr sz="800" b="1" spc="100" dirty="0">
                <a:solidFill>
                  <a:srgbClr val="FF0059"/>
                </a:solidFill>
                <a:latin typeface="Times New Roman"/>
                <a:cs typeface="Times New Roman"/>
              </a:rPr>
              <a:t> </a:t>
            </a:r>
            <a:r>
              <a:rPr sz="800" spc="254" dirty="0">
                <a:latin typeface="Times New Roman"/>
                <a:cs typeface="Times New Roman"/>
              </a:rPr>
              <a:t>i</a:t>
            </a:r>
            <a:r>
              <a:rPr sz="800" spc="105" dirty="0">
                <a:latin typeface="Times New Roman"/>
                <a:cs typeface="Times New Roman"/>
              </a:rPr>
              <a:t> </a:t>
            </a:r>
            <a:r>
              <a:rPr sz="800" b="1" spc="114" dirty="0">
                <a:solidFill>
                  <a:srgbClr val="FF0059"/>
                </a:solidFill>
                <a:latin typeface="Times New Roman"/>
                <a:cs typeface="Times New Roman"/>
              </a:rPr>
              <a:t>in</a:t>
            </a:r>
            <a:r>
              <a:rPr sz="800" b="1" spc="80" dirty="0">
                <a:solidFill>
                  <a:srgbClr val="FF0059"/>
                </a:solidFill>
                <a:latin typeface="Times New Roman"/>
                <a:cs typeface="Times New Roman"/>
              </a:rPr>
              <a:t> </a:t>
            </a:r>
            <a:r>
              <a:rPr sz="800" b="1" spc="60" dirty="0">
                <a:solidFill>
                  <a:srgbClr val="FF0059"/>
                </a:solidFill>
                <a:latin typeface="Times New Roman"/>
                <a:cs typeface="Times New Roman"/>
              </a:rPr>
              <a:t>range</a:t>
            </a:r>
            <a:r>
              <a:rPr sz="800" spc="60" dirty="0">
                <a:latin typeface="Times New Roman"/>
                <a:cs typeface="Times New Roman"/>
              </a:rPr>
              <a:t>(5): </a:t>
            </a:r>
            <a:r>
              <a:rPr sz="800" spc="235" dirty="0">
                <a:latin typeface="Times New Roman"/>
                <a:cs typeface="Times New Roman"/>
              </a:rPr>
              <a:t> </a:t>
            </a:r>
            <a:r>
              <a:rPr sz="800" i="1" spc="75" dirty="0">
                <a:solidFill>
                  <a:srgbClr val="009600"/>
                </a:solidFill>
                <a:latin typeface="Times New Roman"/>
                <a:cs typeface="Times New Roman"/>
              </a:rPr>
              <a:t>#</a:t>
            </a:r>
            <a:r>
              <a:rPr sz="800" i="1" spc="90" dirty="0">
                <a:solidFill>
                  <a:srgbClr val="009600"/>
                </a:solidFill>
                <a:latin typeface="Times New Roman"/>
                <a:cs typeface="Times New Roman"/>
              </a:rPr>
              <a:t> </a:t>
            </a:r>
            <a:r>
              <a:rPr sz="800" i="1" spc="70" dirty="0">
                <a:solidFill>
                  <a:srgbClr val="009600"/>
                </a:solidFill>
                <a:latin typeface="Times New Roman"/>
                <a:cs typeface="Times New Roman"/>
              </a:rPr>
              <a:t>Five</a:t>
            </a:r>
            <a:r>
              <a:rPr sz="800" i="1" spc="60" dirty="0">
                <a:solidFill>
                  <a:srgbClr val="009600"/>
                </a:solidFill>
                <a:latin typeface="Times New Roman"/>
                <a:cs typeface="Times New Roman"/>
              </a:rPr>
              <a:t> </a:t>
            </a:r>
            <a:r>
              <a:rPr sz="800" i="1" spc="100" dirty="0">
                <a:solidFill>
                  <a:srgbClr val="009600"/>
                </a:solidFill>
                <a:latin typeface="Times New Roman"/>
                <a:cs typeface="Times New Roman"/>
              </a:rPr>
              <a:t>iterations</a:t>
            </a:r>
            <a:endParaRPr sz="800">
              <a:latin typeface="Times New Roman"/>
              <a:cs typeface="Times New Roman"/>
            </a:endParaRPr>
          </a:p>
          <a:p>
            <a:pPr marL="12700">
              <a:lnSpc>
                <a:spcPts val="850"/>
              </a:lnSpc>
              <a:tabLst>
                <a:tab pos="272415" algn="l"/>
                <a:tab pos="1186180" algn="l"/>
              </a:tabLst>
            </a:pPr>
            <a:r>
              <a:rPr sz="600" spc="55" dirty="0">
                <a:latin typeface="Times New Roman"/>
                <a:cs typeface="Times New Roman"/>
              </a:rPr>
              <a:t>10	</a:t>
            </a:r>
            <a:r>
              <a:rPr sz="800" spc="70" dirty="0">
                <a:latin typeface="Times New Roman"/>
                <a:cs typeface="Times New Roman"/>
              </a:rPr>
              <a:t>time</a:t>
            </a:r>
            <a:r>
              <a:rPr sz="800" spc="95" dirty="0">
                <a:latin typeface="Times New Roman"/>
                <a:cs typeface="Times New Roman"/>
              </a:rPr>
              <a:t> </a:t>
            </a:r>
            <a:r>
              <a:rPr sz="800" spc="25" dirty="0">
                <a:latin typeface="Times New Roman"/>
                <a:cs typeface="Times New Roman"/>
              </a:rPr>
              <a:t>=</a:t>
            </a:r>
            <a:r>
              <a:rPr sz="800" spc="125" dirty="0">
                <a:latin typeface="Times New Roman"/>
                <a:cs typeface="Times New Roman"/>
              </a:rPr>
              <a:t> </a:t>
            </a:r>
            <a:r>
              <a:rPr sz="800" spc="105" dirty="0">
                <a:latin typeface="Times New Roman"/>
                <a:cs typeface="Times New Roman"/>
              </a:rPr>
              <a:t>s.recv()	</a:t>
            </a:r>
            <a:r>
              <a:rPr sz="800" i="1" spc="75" dirty="0">
                <a:solidFill>
                  <a:srgbClr val="009600"/>
                </a:solidFill>
                <a:latin typeface="Times New Roman"/>
                <a:cs typeface="Times New Roman"/>
              </a:rPr>
              <a:t>#</a:t>
            </a:r>
            <a:r>
              <a:rPr sz="800" i="1" spc="70" dirty="0">
                <a:solidFill>
                  <a:srgbClr val="009600"/>
                </a:solidFill>
                <a:latin typeface="Times New Roman"/>
                <a:cs typeface="Times New Roman"/>
              </a:rPr>
              <a:t> </a:t>
            </a:r>
            <a:r>
              <a:rPr sz="800" i="1" spc="85" dirty="0">
                <a:solidFill>
                  <a:srgbClr val="009600"/>
                </a:solidFill>
                <a:latin typeface="Times New Roman"/>
                <a:cs typeface="Times New Roman"/>
              </a:rPr>
              <a:t>receive</a:t>
            </a:r>
            <a:r>
              <a:rPr sz="800" i="1" spc="65" dirty="0">
                <a:solidFill>
                  <a:srgbClr val="009600"/>
                </a:solidFill>
                <a:latin typeface="Times New Roman"/>
                <a:cs typeface="Times New Roman"/>
              </a:rPr>
              <a:t> </a:t>
            </a:r>
            <a:r>
              <a:rPr sz="800" i="1" spc="75" dirty="0">
                <a:solidFill>
                  <a:srgbClr val="009600"/>
                </a:solidFill>
                <a:latin typeface="Times New Roman"/>
                <a:cs typeface="Times New Roman"/>
              </a:rPr>
              <a:t>a</a:t>
            </a:r>
            <a:r>
              <a:rPr sz="800" i="1" spc="70" dirty="0">
                <a:solidFill>
                  <a:srgbClr val="009600"/>
                </a:solidFill>
                <a:latin typeface="Times New Roman"/>
                <a:cs typeface="Times New Roman"/>
              </a:rPr>
              <a:t> </a:t>
            </a:r>
            <a:r>
              <a:rPr sz="800" i="1" spc="25" dirty="0">
                <a:solidFill>
                  <a:srgbClr val="009600"/>
                </a:solidFill>
                <a:latin typeface="Times New Roman"/>
                <a:cs typeface="Times New Roman"/>
              </a:rPr>
              <a:t>message</a:t>
            </a:r>
            <a:endParaRPr sz="800">
              <a:latin typeface="Times New Roman"/>
              <a:cs typeface="Times New Roman"/>
            </a:endParaRPr>
          </a:p>
          <a:p>
            <a:pPr marL="12700">
              <a:lnSpc>
                <a:spcPts val="905"/>
              </a:lnSpc>
              <a:tabLst>
                <a:tab pos="272415" algn="l"/>
              </a:tabLst>
            </a:pPr>
            <a:r>
              <a:rPr sz="600" spc="55" dirty="0">
                <a:latin typeface="Times New Roman"/>
                <a:cs typeface="Times New Roman"/>
              </a:rPr>
              <a:t>11	</a:t>
            </a:r>
            <a:r>
              <a:rPr sz="800" b="1" spc="75" dirty="0">
                <a:solidFill>
                  <a:srgbClr val="FF0059"/>
                </a:solidFill>
                <a:latin typeface="Times New Roman"/>
                <a:cs typeface="Times New Roman"/>
              </a:rPr>
              <a:t>print</a:t>
            </a:r>
            <a:r>
              <a:rPr sz="800" b="1" spc="15" dirty="0">
                <a:solidFill>
                  <a:srgbClr val="FF0059"/>
                </a:solidFill>
                <a:latin typeface="Times New Roman"/>
                <a:cs typeface="Times New Roman"/>
              </a:rPr>
              <a:t> </a:t>
            </a:r>
            <a:r>
              <a:rPr sz="800" spc="70" dirty="0">
                <a:latin typeface="Times New Roman"/>
                <a:cs typeface="Times New Roman"/>
              </a:rPr>
              <a:t>time</a:t>
            </a:r>
            <a:endParaRPr sz="800">
              <a:latin typeface="Times New Roman"/>
              <a:cs typeface="Times New Roman"/>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p:nvPr/>
        </p:nvSpPr>
        <p:spPr>
          <a:xfrm>
            <a:off x="66713" y="3331252"/>
            <a:ext cx="12306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Using</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messaging</a:t>
            </a:r>
            <a:r>
              <a:rPr sz="600" spc="-10" dirty="0">
                <a:solidFill>
                  <a:srgbClr val="3333B2"/>
                </a:solidFill>
                <a:latin typeface="Arial"/>
                <a:cs typeface="Arial"/>
                <a:hlinkClick r:id="rId3" action="ppaction://hlinksldjump"/>
              </a:rPr>
              <a:t> </a:t>
            </a:r>
            <a:r>
              <a:rPr sz="600" dirty="0">
                <a:solidFill>
                  <a:srgbClr val="3333B2"/>
                </a:solidFill>
                <a:latin typeface="Arial"/>
                <a:cs typeface="Arial"/>
                <a:hlinkClick r:id="rId3" action="ppaction://hlinksldjump"/>
              </a:rPr>
              <a:t>patterns:</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ZeroMQ</a:t>
            </a:r>
            <a:endParaRPr sz="60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26</a:t>
            </a:r>
            <a:r>
              <a:rPr spc="-40" dirty="0"/>
              <a:t> </a:t>
            </a:r>
            <a:r>
              <a:rPr spc="-5" dirty="0"/>
              <a:t>/</a:t>
            </a:r>
            <a:r>
              <a:rPr spc="-35" dirty="0"/>
              <a:t> </a:t>
            </a:r>
            <a:r>
              <a:rPr spc="-5" dirty="0"/>
              <a:t>49</a:t>
            </a:r>
          </a:p>
        </p:txBody>
      </p:sp>
      <p:sp>
        <p:nvSpPr>
          <p:cNvPr id="2" name="object 2"/>
          <p:cNvSpPr txBox="1"/>
          <p:nvPr/>
        </p:nvSpPr>
        <p:spPr>
          <a:xfrm>
            <a:off x="66713" y="716"/>
            <a:ext cx="1752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65" dirty="0">
                <a:solidFill>
                  <a:srgbClr val="3333B2"/>
                </a:solidFill>
                <a:latin typeface="Arial"/>
                <a:cs typeface="Arial"/>
              </a:rPr>
              <a:t> </a:t>
            </a:r>
            <a:r>
              <a:rPr sz="600" spc="-5" dirty="0">
                <a:solidFill>
                  <a:srgbClr val="3333B2"/>
                </a:solidFill>
                <a:latin typeface="Arial"/>
                <a:cs typeface="Arial"/>
                <a:hlinkClick r:id="rId5" action="ppaction://hlinksldjump"/>
              </a:rPr>
              <a:t>Message-oriented</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endParaRPr sz="600">
              <a:latin typeface="Arial"/>
              <a:cs typeface="Arial"/>
            </a:endParaRPr>
          </a:p>
        </p:txBody>
      </p:sp>
      <p:sp>
        <p:nvSpPr>
          <p:cNvPr id="3" name="object 3"/>
          <p:cNvSpPr txBox="1"/>
          <p:nvPr/>
        </p:nvSpPr>
        <p:spPr>
          <a:xfrm>
            <a:off x="3480558" y="716"/>
            <a:ext cx="10610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Advanced</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transient</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messaging</a:t>
            </a:r>
            <a:endParaRPr sz="600">
              <a:latin typeface="Arial"/>
              <a:cs typeface="Arial"/>
            </a:endParaRPr>
          </a:p>
        </p:txBody>
      </p:sp>
      <p:sp>
        <p:nvSpPr>
          <p:cNvPr id="4" name="object 4"/>
          <p:cNvSpPr txBox="1"/>
          <p:nvPr/>
        </p:nvSpPr>
        <p:spPr>
          <a:xfrm>
            <a:off x="95300" y="188846"/>
            <a:ext cx="67373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Pipeline</a:t>
            </a:r>
            <a:endParaRPr sz="1400">
              <a:latin typeface="Arial"/>
              <a:cs typeface="Arial"/>
            </a:endParaRPr>
          </a:p>
        </p:txBody>
      </p:sp>
      <p:sp>
        <p:nvSpPr>
          <p:cNvPr id="5" name="object 5"/>
          <p:cNvSpPr txBox="1"/>
          <p:nvPr/>
        </p:nvSpPr>
        <p:spPr>
          <a:xfrm>
            <a:off x="306806" y="922309"/>
            <a:ext cx="2073910" cy="1507490"/>
          </a:xfrm>
          <a:prstGeom prst="rect">
            <a:avLst/>
          </a:prstGeom>
        </p:spPr>
        <p:txBody>
          <a:bodyPr vert="horz" wrap="square" lIns="0" tIns="12065" rIns="0" bIns="0" rtlCol="0">
            <a:spAutoFit/>
          </a:bodyPr>
          <a:lstStyle/>
          <a:p>
            <a:pPr marL="52705">
              <a:lnSpc>
                <a:spcPts val="1390"/>
              </a:lnSpc>
              <a:spcBef>
                <a:spcPts val="95"/>
              </a:spcBef>
            </a:pPr>
            <a:r>
              <a:rPr sz="1200" spc="-5" dirty="0">
                <a:solidFill>
                  <a:srgbClr val="3333B2"/>
                </a:solidFill>
                <a:latin typeface="Arial"/>
                <a:cs typeface="Arial"/>
              </a:rPr>
              <a:t>Source</a:t>
            </a:r>
            <a:endParaRPr sz="1200">
              <a:latin typeface="Arial"/>
              <a:cs typeface="Arial"/>
            </a:endParaRPr>
          </a:p>
          <a:p>
            <a:pPr marL="57785">
              <a:lnSpc>
                <a:spcPts val="910"/>
              </a:lnSpc>
            </a:pPr>
            <a:r>
              <a:rPr sz="600" spc="55" dirty="0">
                <a:latin typeface="Times New Roman"/>
                <a:cs typeface="Times New Roman"/>
              </a:rPr>
              <a:t>1 </a:t>
            </a:r>
            <a:r>
              <a:rPr sz="600" spc="165" dirty="0">
                <a:latin typeface="Times New Roman"/>
                <a:cs typeface="Times New Roman"/>
              </a:rPr>
              <a:t> </a:t>
            </a:r>
            <a:r>
              <a:rPr sz="800" b="1" spc="25" dirty="0">
                <a:solidFill>
                  <a:srgbClr val="FF0059"/>
                </a:solidFill>
                <a:latin typeface="Times New Roman"/>
                <a:cs typeface="Times New Roman"/>
              </a:rPr>
              <a:t>import</a:t>
            </a:r>
            <a:r>
              <a:rPr sz="800" b="1" spc="80" dirty="0">
                <a:solidFill>
                  <a:srgbClr val="FF0059"/>
                </a:solidFill>
                <a:latin typeface="Times New Roman"/>
                <a:cs typeface="Times New Roman"/>
              </a:rPr>
              <a:t> </a:t>
            </a:r>
            <a:r>
              <a:rPr sz="800" spc="20" dirty="0">
                <a:latin typeface="Times New Roman"/>
                <a:cs typeface="Times New Roman"/>
              </a:rPr>
              <a:t>zmq,</a:t>
            </a:r>
            <a:r>
              <a:rPr sz="800" spc="105" dirty="0">
                <a:latin typeface="Times New Roman"/>
                <a:cs typeface="Times New Roman"/>
              </a:rPr>
              <a:t> </a:t>
            </a:r>
            <a:r>
              <a:rPr sz="800" spc="90" dirty="0">
                <a:latin typeface="Times New Roman"/>
                <a:cs typeface="Times New Roman"/>
              </a:rPr>
              <a:t>time,</a:t>
            </a:r>
            <a:r>
              <a:rPr sz="800" spc="95" dirty="0">
                <a:latin typeface="Times New Roman"/>
                <a:cs typeface="Times New Roman"/>
              </a:rPr>
              <a:t> </a:t>
            </a:r>
            <a:r>
              <a:rPr sz="800" spc="100" dirty="0">
                <a:latin typeface="Times New Roman"/>
                <a:cs typeface="Times New Roman"/>
              </a:rPr>
              <a:t>pickle,</a:t>
            </a:r>
            <a:r>
              <a:rPr sz="800" spc="110" dirty="0">
                <a:latin typeface="Times New Roman"/>
                <a:cs typeface="Times New Roman"/>
              </a:rPr>
              <a:t> sys,</a:t>
            </a:r>
            <a:r>
              <a:rPr sz="800" spc="90" dirty="0">
                <a:latin typeface="Times New Roman"/>
                <a:cs typeface="Times New Roman"/>
              </a:rPr>
              <a:t> </a:t>
            </a:r>
            <a:r>
              <a:rPr sz="800" spc="10" dirty="0">
                <a:latin typeface="Times New Roman"/>
                <a:cs typeface="Times New Roman"/>
              </a:rPr>
              <a:t>random</a:t>
            </a:r>
            <a:endParaRPr sz="800">
              <a:latin typeface="Times New Roman"/>
              <a:cs typeface="Times New Roman"/>
            </a:endParaRPr>
          </a:p>
          <a:p>
            <a:pPr marL="57785">
              <a:lnSpc>
                <a:spcPts val="685"/>
              </a:lnSpc>
              <a:spcBef>
                <a:spcPts val="90"/>
              </a:spcBef>
            </a:pPr>
            <a:r>
              <a:rPr sz="600" spc="55" dirty="0">
                <a:latin typeface="Times New Roman"/>
                <a:cs typeface="Times New Roman"/>
              </a:rPr>
              <a:t>2</a:t>
            </a:r>
            <a:endParaRPr sz="600">
              <a:latin typeface="Times New Roman"/>
              <a:cs typeface="Times New Roman"/>
            </a:endParaRPr>
          </a:p>
          <a:p>
            <a:pPr marL="57785">
              <a:lnSpc>
                <a:spcPts val="869"/>
              </a:lnSpc>
            </a:pPr>
            <a:r>
              <a:rPr sz="600" spc="55" dirty="0">
                <a:latin typeface="Times New Roman"/>
                <a:cs typeface="Times New Roman"/>
              </a:rPr>
              <a:t>3 </a:t>
            </a:r>
            <a:r>
              <a:rPr sz="600" spc="160" dirty="0">
                <a:latin typeface="Times New Roman"/>
                <a:cs typeface="Times New Roman"/>
              </a:rPr>
              <a:t> </a:t>
            </a:r>
            <a:r>
              <a:rPr sz="800" spc="75" dirty="0">
                <a:latin typeface="Times New Roman"/>
                <a:cs typeface="Times New Roman"/>
              </a:rPr>
              <a:t>context</a:t>
            </a:r>
            <a:r>
              <a:rPr sz="800" spc="8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45" dirty="0">
                <a:latin typeface="Times New Roman"/>
                <a:cs typeface="Times New Roman"/>
              </a:rPr>
              <a:t>zmq.Context()</a:t>
            </a:r>
            <a:endParaRPr sz="800">
              <a:latin typeface="Times New Roman"/>
              <a:cs typeface="Times New Roman"/>
            </a:endParaRPr>
          </a:p>
          <a:p>
            <a:pPr marL="57785">
              <a:lnSpc>
                <a:spcPts val="850"/>
              </a:lnSpc>
            </a:pPr>
            <a:r>
              <a:rPr sz="600" spc="55" dirty="0">
                <a:latin typeface="Times New Roman"/>
                <a:cs typeface="Times New Roman"/>
              </a:rPr>
              <a:t>4 </a:t>
            </a:r>
            <a:r>
              <a:rPr sz="600" spc="155" dirty="0">
                <a:latin typeface="Times New Roman"/>
                <a:cs typeface="Times New Roman"/>
              </a:rPr>
              <a:t> </a:t>
            </a:r>
            <a:r>
              <a:rPr sz="800" spc="-40" dirty="0">
                <a:latin typeface="Times New Roman"/>
                <a:cs typeface="Times New Roman"/>
              </a:rPr>
              <a:t>me</a:t>
            </a:r>
            <a:r>
              <a:rPr sz="800" spc="130" dirty="0">
                <a:latin typeface="Times New Roman"/>
                <a:cs typeface="Times New Roman"/>
              </a:rPr>
              <a:t> </a:t>
            </a:r>
            <a:r>
              <a:rPr sz="800" spc="135" dirty="0">
                <a:latin typeface="Times New Roman"/>
                <a:cs typeface="Times New Roman"/>
              </a:rPr>
              <a:t> </a:t>
            </a:r>
            <a:r>
              <a:rPr sz="800" spc="25" dirty="0">
                <a:latin typeface="Times New Roman"/>
                <a:cs typeface="Times New Roman"/>
              </a:rPr>
              <a:t>=</a:t>
            </a:r>
            <a:r>
              <a:rPr sz="800" spc="80" dirty="0">
                <a:latin typeface="Times New Roman"/>
                <a:cs typeface="Times New Roman"/>
              </a:rPr>
              <a:t> </a:t>
            </a:r>
            <a:r>
              <a:rPr sz="800" b="1" spc="90" dirty="0">
                <a:solidFill>
                  <a:srgbClr val="FF0059"/>
                </a:solidFill>
                <a:latin typeface="Times New Roman"/>
                <a:cs typeface="Times New Roman"/>
              </a:rPr>
              <a:t>str</a:t>
            </a:r>
            <a:r>
              <a:rPr sz="800" spc="90" dirty="0">
                <a:latin typeface="Times New Roman"/>
                <a:cs typeface="Times New Roman"/>
              </a:rPr>
              <a:t>(sys.argv[1])</a:t>
            </a:r>
            <a:endParaRPr sz="800">
              <a:latin typeface="Times New Roman"/>
              <a:cs typeface="Times New Roman"/>
            </a:endParaRPr>
          </a:p>
          <a:p>
            <a:pPr marL="57785">
              <a:lnSpc>
                <a:spcPts val="850"/>
              </a:lnSpc>
              <a:tabLst>
                <a:tab pos="376555" algn="l"/>
              </a:tabLst>
            </a:pPr>
            <a:r>
              <a:rPr sz="600" spc="55" dirty="0">
                <a:latin typeface="Times New Roman"/>
                <a:cs typeface="Times New Roman"/>
              </a:rPr>
              <a:t>5 </a:t>
            </a:r>
            <a:r>
              <a:rPr sz="600" spc="200" dirty="0">
                <a:latin typeface="Times New Roman"/>
                <a:cs typeface="Times New Roman"/>
              </a:rPr>
              <a:t> </a:t>
            </a:r>
            <a:r>
              <a:rPr sz="800" spc="165" dirty="0">
                <a:latin typeface="Times New Roman"/>
                <a:cs typeface="Times New Roman"/>
              </a:rPr>
              <a:t>s	</a:t>
            </a:r>
            <a:r>
              <a:rPr sz="800" spc="25" dirty="0">
                <a:latin typeface="Times New Roman"/>
                <a:cs typeface="Times New Roman"/>
              </a:rPr>
              <a:t>=</a:t>
            </a:r>
            <a:r>
              <a:rPr sz="800" spc="55" dirty="0">
                <a:latin typeface="Times New Roman"/>
                <a:cs typeface="Times New Roman"/>
              </a:rPr>
              <a:t> </a:t>
            </a:r>
            <a:r>
              <a:rPr sz="800" spc="35" dirty="0">
                <a:latin typeface="Times New Roman"/>
                <a:cs typeface="Times New Roman"/>
              </a:rPr>
              <a:t>context.socket(zmq.PUSH)</a:t>
            </a:r>
            <a:endParaRPr sz="800">
              <a:latin typeface="Times New Roman"/>
              <a:cs typeface="Times New Roman"/>
            </a:endParaRPr>
          </a:p>
          <a:p>
            <a:pPr marL="57785">
              <a:lnSpc>
                <a:spcPts val="850"/>
              </a:lnSpc>
            </a:pPr>
            <a:r>
              <a:rPr sz="600" spc="55" dirty="0">
                <a:latin typeface="Times New Roman"/>
                <a:cs typeface="Times New Roman"/>
              </a:rPr>
              <a:t>6 </a:t>
            </a:r>
            <a:r>
              <a:rPr sz="600" spc="170" dirty="0">
                <a:latin typeface="Times New Roman"/>
                <a:cs typeface="Times New Roman"/>
              </a:rPr>
              <a:t> </a:t>
            </a:r>
            <a:r>
              <a:rPr sz="800" spc="125" dirty="0">
                <a:latin typeface="Times New Roman"/>
                <a:cs typeface="Times New Roman"/>
              </a:rPr>
              <a:t>src</a:t>
            </a:r>
            <a:r>
              <a:rPr sz="800" spc="95" dirty="0">
                <a:latin typeface="Times New Roman"/>
                <a:cs typeface="Times New Roman"/>
              </a:rPr>
              <a:t> </a:t>
            </a:r>
            <a:r>
              <a:rPr sz="800" spc="25" dirty="0">
                <a:latin typeface="Times New Roman"/>
                <a:cs typeface="Times New Roman"/>
              </a:rPr>
              <a:t>=</a:t>
            </a:r>
            <a:r>
              <a:rPr sz="800" spc="85" dirty="0">
                <a:latin typeface="Times New Roman"/>
                <a:cs typeface="Times New Roman"/>
              </a:rPr>
              <a:t> </a:t>
            </a:r>
            <a:r>
              <a:rPr sz="800" spc="-50" dirty="0">
                <a:latin typeface="Times New Roman"/>
                <a:cs typeface="Times New Roman"/>
              </a:rPr>
              <a:t>SRC1</a:t>
            </a:r>
            <a:r>
              <a:rPr sz="800" spc="135" dirty="0">
                <a:latin typeface="Times New Roman"/>
                <a:cs typeface="Times New Roman"/>
              </a:rPr>
              <a:t>  </a:t>
            </a:r>
            <a:r>
              <a:rPr sz="800" b="1" spc="204" dirty="0">
                <a:solidFill>
                  <a:srgbClr val="FF0059"/>
                </a:solidFill>
                <a:latin typeface="Times New Roman"/>
                <a:cs typeface="Times New Roman"/>
              </a:rPr>
              <a:t>if</a:t>
            </a:r>
            <a:r>
              <a:rPr sz="800" b="1" spc="90" dirty="0">
                <a:solidFill>
                  <a:srgbClr val="FF0059"/>
                </a:solidFill>
                <a:latin typeface="Times New Roman"/>
                <a:cs typeface="Times New Roman"/>
              </a:rPr>
              <a:t> </a:t>
            </a:r>
            <a:r>
              <a:rPr sz="800" spc="-40" dirty="0">
                <a:latin typeface="Times New Roman"/>
                <a:cs typeface="Times New Roman"/>
              </a:rPr>
              <a:t>me</a:t>
            </a:r>
            <a:r>
              <a:rPr sz="800" spc="85" dirty="0">
                <a:latin typeface="Times New Roman"/>
                <a:cs typeface="Times New Roman"/>
              </a:rPr>
              <a:t> </a:t>
            </a:r>
            <a:r>
              <a:rPr sz="800" spc="-5" dirty="0">
                <a:latin typeface="Times New Roman"/>
                <a:cs typeface="Times New Roman"/>
              </a:rPr>
              <a:t>==</a:t>
            </a:r>
            <a:r>
              <a:rPr sz="800" spc="85" dirty="0">
                <a:latin typeface="Times New Roman"/>
                <a:cs typeface="Times New Roman"/>
              </a:rPr>
              <a:t> </a:t>
            </a:r>
            <a:r>
              <a:rPr sz="800" spc="110" dirty="0">
                <a:solidFill>
                  <a:srgbClr val="FA0000"/>
                </a:solidFill>
                <a:latin typeface="Times New Roman"/>
                <a:cs typeface="Times New Roman"/>
              </a:rPr>
              <a:t>’1’</a:t>
            </a:r>
            <a:r>
              <a:rPr sz="800" spc="100" dirty="0">
                <a:solidFill>
                  <a:srgbClr val="FA0000"/>
                </a:solidFill>
                <a:latin typeface="Times New Roman"/>
                <a:cs typeface="Times New Roman"/>
              </a:rPr>
              <a:t> </a:t>
            </a:r>
            <a:r>
              <a:rPr sz="800" b="1" spc="114" dirty="0">
                <a:solidFill>
                  <a:srgbClr val="FF0059"/>
                </a:solidFill>
                <a:latin typeface="Times New Roman"/>
                <a:cs typeface="Times New Roman"/>
              </a:rPr>
              <a:t>else</a:t>
            </a:r>
            <a:r>
              <a:rPr sz="800" b="1" spc="70" dirty="0">
                <a:solidFill>
                  <a:srgbClr val="FF0059"/>
                </a:solidFill>
                <a:latin typeface="Times New Roman"/>
                <a:cs typeface="Times New Roman"/>
              </a:rPr>
              <a:t> </a:t>
            </a:r>
            <a:r>
              <a:rPr sz="800" spc="-50" dirty="0">
                <a:latin typeface="Times New Roman"/>
                <a:cs typeface="Times New Roman"/>
              </a:rPr>
              <a:t>SRC2</a:t>
            </a:r>
            <a:endParaRPr sz="800">
              <a:latin typeface="Times New Roman"/>
              <a:cs typeface="Times New Roman"/>
            </a:endParaRPr>
          </a:p>
          <a:p>
            <a:pPr marL="57785">
              <a:lnSpc>
                <a:spcPts val="850"/>
              </a:lnSpc>
            </a:pPr>
            <a:r>
              <a:rPr sz="600" spc="55" dirty="0">
                <a:latin typeface="Times New Roman"/>
                <a:cs typeface="Times New Roman"/>
              </a:rPr>
              <a:t>7 </a:t>
            </a:r>
            <a:r>
              <a:rPr sz="600" spc="175" dirty="0">
                <a:latin typeface="Times New Roman"/>
                <a:cs typeface="Times New Roman"/>
              </a:rPr>
              <a:t> </a:t>
            </a:r>
            <a:r>
              <a:rPr sz="800" spc="140" dirty="0">
                <a:latin typeface="Times New Roman"/>
                <a:cs typeface="Times New Roman"/>
              </a:rPr>
              <a:t>prt</a:t>
            </a:r>
            <a:r>
              <a:rPr sz="800" spc="9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70" dirty="0">
                <a:latin typeface="Times New Roman"/>
                <a:cs typeface="Times New Roman"/>
              </a:rPr>
              <a:t>PORT1</a:t>
            </a:r>
            <a:r>
              <a:rPr sz="800" spc="75" dirty="0">
                <a:latin typeface="Times New Roman"/>
                <a:cs typeface="Times New Roman"/>
              </a:rPr>
              <a:t> </a:t>
            </a:r>
            <a:r>
              <a:rPr sz="800" b="1" spc="204" dirty="0">
                <a:solidFill>
                  <a:srgbClr val="FF0059"/>
                </a:solidFill>
                <a:latin typeface="Times New Roman"/>
                <a:cs typeface="Times New Roman"/>
              </a:rPr>
              <a:t>if</a:t>
            </a:r>
            <a:r>
              <a:rPr sz="800" b="1" spc="85" dirty="0">
                <a:solidFill>
                  <a:srgbClr val="FF0059"/>
                </a:solidFill>
                <a:latin typeface="Times New Roman"/>
                <a:cs typeface="Times New Roman"/>
              </a:rPr>
              <a:t> </a:t>
            </a:r>
            <a:r>
              <a:rPr sz="800" spc="-40" dirty="0">
                <a:latin typeface="Times New Roman"/>
                <a:cs typeface="Times New Roman"/>
              </a:rPr>
              <a:t>me</a:t>
            </a:r>
            <a:r>
              <a:rPr sz="800" spc="90" dirty="0">
                <a:latin typeface="Times New Roman"/>
                <a:cs typeface="Times New Roman"/>
              </a:rPr>
              <a:t> </a:t>
            </a:r>
            <a:r>
              <a:rPr sz="800" spc="-5" dirty="0">
                <a:latin typeface="Times New Roman"/>
                <a:cs typeface="Times New Roman"/>
              </a:rPr>
              <a:t>==</a:t>
            </a:r>
            <a:r>
              <a:rPr sz="800" spc="90" dirty="0">
                <a:latin typeface="Times New Roman"/>
                <a:cs typeface="Times New Roman"/>
              </a:rPr>
              <a:t> </a:t>
            </a:r>
            <a:r>
              <a:rPr sz="800" spc="110" dirty="0">
                <a:solidFill>
                  <a:srgbClr val="FA0000"/>
                </a:solidFill>
                <a:latin typeface="Times New Roman"/>
                <a:cs typeface="Times New Roman"/>
              </a:rPr>
              <a:t>’1’</a:t>
            </a:r>
            <a:r>
              <a:rPr sz="800" spc="100" dirty="0">
                <a:solidFill>
                  <a:srgbClr val="FA0000"/>
                </a:solidFill>
                <a:latin typeface="Times New Roman"/>
                <a:cs typeface="Times New Roman"/>
              </a:rPr>
              <a:t> </a:t>
            </a:r>
            <a:r>
              <a:rPr sz="800" b="1" spc="114" dirty="0">
                <a:solidFill>
                  <a:srgbClr val="FF0059"/>
                </a:solidFill>
                <a:latin typeface="Times New Roman"/>
                <a:cs typeface="Times New Roman"/>
              </a:rPr>
              <a:t>else</a:t>
            </a:r>
            <a:r>
              <a:rPr sz="800" b="1" spc="65" dirty="0">
                <a:solidFill>
                  <a:srgbClr val="FF0059"/>
                </a:solidFill>
                <a:latin typeface="Times New Roman"/>
                <a:cs typeface="Times New Roman"/>
              </a:rPr>
              <a:t> </a:t>
            </a:r>
            <a:r>
              <a:rPr sz="800" spc="-70" dirty="0">
                <a:latin typeface="Times New Roman"/>
                <a:cs typeface="Times New Roman"/>
              </a:rPr>
              <a:t>PORT2</a:t>
            </a:r>
            <a:endParaRPr sz="800">
              <a:latin typeface="Times New Roman"/>
              <a:cs typeface="Times New Roman"/>
            </a:endParaRPr>
          </a:p>
          <a:p>
            <a:pPr marL="57785">
              <a:lnSpc>
                <a:spcPts val="850"/>
              </a:lnSpc>
              <a:tabLst>
                <a:tab pos="376555" algn="l"/>
              </a:tabLst>
            </a:pPr>
            <a:r>
              <a:rPr sz="600" spc="55" dirty="0">
                <a:latin typeface="Times New Roman"/>
                <a:cs typeface="Times New Roman"/>
              </a:rPr>
              <a:t>8 </a:t>
            </a:r>
            <a:r>
              <a:rPr sz="600" spc="200" dirty="0">
                <a:latin typeface="Times New Roman"/>
                <a:cs typeface="Times New Roman"/>
              </a:rPr>
              <a:t> </a:t>
            </a:r>
            <a:r>
              <a:rPr sz="800" spc="75" dirty="0">
                <a:latin typeface="Times New Roman"/>
                <a:cs typeface="Times New Roman"/>
              </a:rPr>
              <a:t>p	</a:t>
            </a:r>
            <a:r>
              <a:rPr sz="800" spc="25" dirty="0">
                <a:latin typeface="Times New Roman"/>
                <a:cs typeface="Times New Roman"/>
              </a:rPr>
              <a:t>=</a:t>
            </a:r>
            <a:r>
              <a:rPr sz="800" spc="105" dirty="0">
                <a:latin typeface="Times New Roman"/>
                <a:cs typeface="Times New Roman"/>
              </a:rPr>
              <a:t> </a:t>
            </a:r>
            <a:r>
              <a:rPr sz="800" spc="100" dirty="0">
                <a:solidFill>
                  <a:srgbClr val="FA0000"/>
                </a:solidFill>
                <a:latin typeface="Times New Roman"/>
                <a:cs typeface="Times New Roman"/>
              </a:rPr>
              <a:t>"tcp://"</a:t>
            </a:r>
            <a:r>
              <a:rPr sz="800" spc="100" dirty="0">
                <a:latin typeface="Times New Roman"/>
                <a:cs typeface="Times New Roman"/>
              </a:rPr>
              <a:t>+</a:t>
            </a:r>
            <a:r>
              <a:rPr sz="800" spc="85" dirty="0">
                <a:latin typeface="Times New Roman"/>
                <a:cs typeface="Times New Roman"/>
              </a:rPr>
              <a:t> </a:t>
            </a:r>
            <a:r>
              <a:rPr sz="800" spc="125" dirty="0">
                <a:latin typeface="Times New Roman"/>
                <a:cs typeface="Times New Roman"/>
              </a:rPr>
              <a:t>src</a:t>
            </a:r>
            <a:r>
              <a:rPr sz="800" spc="85" dirty="0">
                <a:latin typeface="Times New Roman"/>
                <a:cs typeface="Times New Roman"/>
              </a:rPr>
              <a:t> </a:t>
            </a:r>
            <a:r>
              <a:rPr sz="800" spc="55" dirty="0">
                <a:latin typeface="Times New Roman"/>
                <a:cs typeface="Times New Roman"/>
              </a:rPr>
              <a:t>+</a:t>
            </a:r>
            <a:r>
              <a:rPr sz="800" spc="55" dirty="0">
                <a:solidFill>
                  <a:srgbClr val="FA0000"/>
                </a:solidFill>
                <a:latin typeface="Times New Roman"/>
                <a:cs typeface="Times New Roman"/>
              </a:rPr>
              <a:t>":"</a:t>
            </a:r>
            <a:r>
              <a:rPr sz="800" spc="55" dirty="0">
                <a:latin typeface="Times New Roman"/>
                <a:cs typeface="Times New Roman"/>
              </a:rPr>
              <a:t>+</a:t>
            </a:r>
            <a:r>
              <a:rPr sz="800" spc="80" dirty="0">
                <a:latin typeface="Times New Roman"/>
                <a:cs typeface="Times New Roman"/>
              </a:rPr>
              <a:t> </a:t>
            </a:r>
            <a:r>
              <a:rPr sz="800" spc="140" dirty="0">
                <a:latin typeface="Times New Roman"/>
                <a:cs typeface="Times New Roman"/>
              </a:rPr>
              <a:t>prt</a:t>
            </a:r>
            <a:endParaRPr sz="800">
              <a:latin typeface="Times New Roman"/>
              <a:cs typeface="Times New Roman"/>
            </a:endParaRPr>
          </a:p>
          <a:p>
            <a:pPr marL="57785">
              <a:lnSpc>
                <a:spcPts val="905"/>
              </a:lnSpc>
            </a:pPr>
            <a:r>
              <a:rPr sz="600" spc="55" dirty="0">
                <a:latin typeface="Times New Roman"/>
                <a:cs typeface="Times New Roman"/>
              </a:rPr>
              <a:t>9 </a:t>
            </a:r>
            <a:r>
              <a:rPr sz="600" spc="145" dirty="0">
                <a:latin typeface="Times New Roman"/>
                <a:cs typeface="Times New Roman"/>
              </a:rPr>
              <a:t> </a:t>
            </a:r>
            <a:r>
              <a:rPr sz="800" spc="85" dirty="0">
                <a:latin typeface="Times New Roman"/>
                <a:cs typeface="Times New Roman"/>
              </a:rPr>
              <a:t>s.bind(p)</a:t>
            </a:r>
            <a:endParaRPr sz="800">
              <a:latin typeface="Times New Roman"/>
              <a:cs typeface="Times New Roman"/>
            </a:endParaRPr>
          </a:p>
          <a:p>
            <a:pPr marL="12700">
              <a:lnSpc>
                <a:spcPts val="685"/>
              </a:lnSpc>
              <a:spcBef>
                <a:spcPts val="95"/>
              </a:spcBef>
            </a:pPr>
            <a:r>
              <a:rPr sz="600" spc="55" dirty="0">
                <a:latin typeface="Times New Roman"/>
                <a:cs typeface="Times New Roman"/>
              </a:rPr>
              <a:t>10</a:t>
            </a:r>
            <a:endParaRPr sz="600">
              <a:latin typeface="Times New Roman"/>
              <a:cs typeface="Times New Roman"/>
            </a:endParaRPr>
          </a:p>
          <a:p>
            <a:pPr marL="12700">
              <a:lnSpc>
                <a:spcPts val="869"/>
              </a:lnSpc>
            </a:pPr>
            <a:r>
              <a:rPr sz="600" spc="55" dirty="0">
                <a:latin typeface="Times New Roman"/>
                <a:cs typeface="Times New Roman"/>
              </a:rPr>
              <a:t>11 </a:t>
            </a:r>
            <a:r>
              <a:rPr sz="600" spc="165" dirty="0">
                <a:latin typeface="Times New Roman"/>
                <a:cs typeface="Times New Roman"/>
              </a:rPr>
              <a:t> </a:t>
            </a:r>
            <a:r>
              <a:rPr sz="800" b="1" spc="95" dirty="0">
                <a:solidFill>
                  <a:srgbClr val="FF0059"/>
                </a:solidFill>
                <a:latin typeface="Times New Roman"/>
                <a:cs typeface="Times New Roman"/>
              </a:rPr>
              <a:t>for</a:t>
            </a:r>
            <a:r>
              <a:rPr sz="800" b="1" spc="85" dirty="0">
                <a:solidFill>
                  <a:srgbClr val="FF0059"/>
                </a:solidFill>
                <a:latin typeface="Times New Roman"/>
                <a:cs typeface="Times New Roman"/>
              </a:rPr>
              <a:t> </a:t>
            </a:r>
            <a:r>
              <a:rPr sz="800" spc="254" dirty="0">
                <a:latin typeface="Times New Roman"/>
                <a:cs typeface="Times New Roman"/>
              </a:rPr>
              <a:t>i</a:t>
            </a:r>
            <a:r>
              <a:rPr sz="800" spc="95" dirty="0">
                <a:latin typeface="Times New Roman"/>
                <a:cs typeface="Times New Roman"/>
              </a:rPr>
              <a:t> </a:t>
            </a:r>
            <a:r>
              <a:rPr sz="800" b="1" spc="114" dirty="0">
                <a:solidFill>
                  <a:srgbClr val="FF0059"/>
                </a:solidFill>
                <a:latin typeface="Times New Roman"/>
                <a:cs typeface="Times New Roman"/>
              </a:rPr>
              <a:t>in</a:t>
            </a:r>
            <a:r>
              <a:rPr sz="800" b="1" spc="70" dirty="0">
                <a:solidFill>
                  <a:srgbClr val="FF0059"/>
                </a:solidFill>
                <a:latin typeface="Times New Roman"/>
                <a:cs typeface="Times New Roman"/>
              </a:rPr>
              <a:t> </a:t>
            </a:r>
            <a:r>
              <a:rPr sz="800" b="1" spc="50" dirty="0">
                <a:solidFill>
                  <a:srgbClr val="FF0059"/>
                </a:solidFill>
                <a:latin typeface="Times New Roman"/>
                <a:cs typeface="Times New Roman"/>
              </a:rPr>
              <a:t>range</a:t>
            </a:r>
            <a:r>
              <a:rPr sz="800" spc="50" dirty="0">
                <a:latin typeface="Times New Roman"/>
                <a:cs typeface="Times New Roman"/>
              </a:rPr>
              <a:t>(100):</a:t>
            </a:r>
            <a:endParaRPr sz="800">
              <a:latin typeface="Times New Roman"/>
              <a:cs typeface="Times New Roman"/>
            </a:endParaRPr>
          </a:p>
          <a:p>
            <a:pPr marL="12700">
              <a:lnSpc>
                <a:spcPts val="905"/>
              </a:lnSpc>
              <a:tabLst>
                <a:tab pos="271780" algn="l"/>
              </a:tabLst>
            </a:pPr>
            <a:r>
              <a:rPr sz="600" spc="55" dirty="0">
                <a:latin typeface="Times New Roman"/>
                <a:cs typeface="Times New Roman"/>
              </a:rPr>
              <a:t>12	</a:t>
            </a:r>
            <a:r>
              <a:rPr sz="800" spc="30" dirty="0">
                <a:latin typeface="Times New Roman"/>
                <a:cs typeface="Times New Roman"/>
              </a:rPr>
              <a:t>workload</a:t>
            </a:r>
            <a:r>
              <a:rPr sz="800" spc="85" dirty="0">
                <a:latin typeface="Times New Roman"/>
                <a:cs typeface="Times New Roman"/>
              </a:rPr>
              <a:t> </a:t>
            </a:r>
            <a:r>
              <a:rPr sz="800" spc="25" dirty="0">
                <a:latin typeface="Times New Roman"/>
                <a:cs typeface="Times New Roman"/>
              </a:rPr>
              <a:t>=</a:t>
            </a:r>
            <a:r>
              <a:rPr sz="800" spc="95" dirty="0">
                <a:latin typeface="Times New Roman"/>
                <a:cs typeface="Times New Roman"/>
              </a:rPr>
              <a:t> </a:t>
            </a:r>
            <a:r>
              <a:rPr sz="800" spc="60" dirty="0">
                <a:latin typeface="Times New Roman"/>
                <a:cs typeface="Times New Roman"/>
              </a:rPr>
              <a:t>random.randint(1,</a:t>
            </a:r>
            <a:r>
              <a:rPr sz="800" spc="85" dirty="0">
                <a:latin typeface="Times New Roman"/>
                <a:cs typeface="Times New Roman"/>
              </a:rPr>
              <a:t> </a:t>
            </a:r>
            <a:r>
              <a:rPr sz="800" spc="60" dirty="0">
                <a:latin typeface="Times New Roman"/>
                <a:cs typeface="Times New Roman"/>
              </a:rPr>
              <a:t>100)</a:t>
            </a:r>
            <a:endParaRPr sz="800">
              <a:latin typeface="Times New Roman"/>
              <a:cs typeface="Times New Roman"/>
            </a:endParaRPr>
          </a:p>
        </p:txBody>
      </p:sp>
      <p:sp>
        <p:nvSpPr>
          <p:cNvPr id="6" name="object 6"/>
          <p:cNvSpPr txBox="1"/>
          <p:nvPr/>
        </p:nvSpPr>
        <p:spPr>
          <a:xfrm>
            <a:off x="2391956" y="1525078"/>
            <a:ext cx="1355725" cy="579755"/>
          </a:xfrm>
          <a:prstGeom prst="rect">
            <a:avLst/>
          </a:prstGeom>
        </p:spPr>
        <p:txBody>
          <a:bodyPr vert="horz" wrap="square" lIns="0" tIns="12065" rIns="0" bIns="0" rtlCol="0">
            <a:spAutoFit/>
          </a:bodyPr>
          <a:lstStyle/>
          <a:p>
            <a:pPr marL="12700">
              <a:lnSpc>
                <a:spcPts val="905"/>
              </a:lnSpc>
              <a:spcBef>
                <a:spcPts val="95"/>
              </a:spcBef>
            </a:pPr>
            <a:r>
              <a:rPr sz="800" i="1" spc="75" dirty="0">
                <a:solidFill>
                  <a:srgbClr val="009600"/>
                </a:solidFill>
                <a:latin typeface="Times New Roman"/>
                <a:cs typeface="Times New Roman"/>
              </a:rPr>
              <a:t># </a:t>
            </a:r>
            <a:r>
              <a:rPr sz="800" i="1" spc="85" dirty="0">
                <a:solidFill>
                  <a:srgbClr val="009600"/>
                </a:solidFill>
                <a:latin typeface="Times New Roman"/>
                <a:cs typeface="Times New Roman"/>
              </a:rPr>
              <a:t>create</a:t>
            </a:r>
            <a:r>
              <a:rPr sz="800" i="1" spc="75" dirty="0">
                <a:solidFill>
                  <a:srgbClr val="009600"/>
                </a:solidFill>
                <a:latin typeface="Times New Roman"/>
                <a:cs typeface="Times New Roman"/>
              </a:rPr>
              <a:t> a </a:t>
            </a:r>
            <a:r>
              <a:rPr sz="800" i="1" spc="50" dirty="0">
                <a:solidFill>
                  <a:srgbClr val="009600"/>
                </a:solidFill>
                <a:latin typeface="Times New Roman"/>
                <a:cs typeface="Times New Roman"/>
              </a:rPr>
              <a:t>push</a:t>
            </a:r>
            <a:r>
              <a:rPr sz="800" i="1" spc="55" dirty="0">
                <a:solidFill>
                  <a:srgbClr val="009600"/>
                </a:solidFill>
                <a:latin typeface="Times New Roman"/>
                <a:cs typeface="Times New Roman"/>
              </a:rPr>
              <a:t> </a:t>
            </a:r>
            <a:r>
              <a:rPr sz="800" i="1" spc="85" dirty="0">
                <a:solidFill>
                  <a:srgbClr val="009600"/>
                </a:solidFill>
                <a:latin typeface="Times New Roman"/>
                <a:cs typeface="Times New Roman"/>
              </a:rPr>
              <a:t>socket</a:t>
            </a:r>
            <a:endParaRPr sz="800">
              <a:latin typeface="Times New Roman"/>
              <a:cs typeface="Times New Roman"/>
            </a:endParaRPr>
          </a:p>
          <a:p>
            <a:pPr marL="12700" marR="106680">
              <a:lnSpc>
                <a:spcPts val="850"/>
              </a:lnSpc>
              <a:spcBef>
                <a:spcPts val="65"/>
              </a:spcBef>
            </a:pPr>
            <a:r>
              <a:rPr sz="800" i="1" spc="75" dirty="0">
                <a:solidFill>
                  <a:srgbClr val="009600"/>
                </a:solidFill>
                <a:latin typeface="Times New Roman"/>
                <a:cs typeface="Times New Roman"/>
              </a:rPr>
              <a:t># </a:t>
            </a:r>
            <a:r>
              <a:rPr sz="800" i="1" spc="55" dirty="0">
                <a:solidFill>
                  <a:srgbClr val="009600"/>
                </a:solidFill>
                <a:latin typeface="Times New Roman"/>
                <a:cs typeface="Times New Roman"/>
              </a:rPr>
              <a:t>check </a:t>
            </a:r>
            <a:r>
              <a:rPr sz="800" i="1" spc="105" dirty="0">
                <a:solidFill>
                  <a:srgbClr val="009600"/>
                </a:solidFill>
                <a:latin typeface="Times New Roman"/>
                <a:cs typeface="Times New Roman"/>
              </a:rPr>
              <a:t>task</a:t>
            </a:r>
            <a:r>
              <a:rPr sz="800" i="1" spc="60" dirty="0">
                <a:solidFill>
                  <a:srgbClr val="009600"/>
                </a:solidFill>
                <a:latin typeface="Times New Roman"/>
                <a:cs typeface="Times New Roman"/>
              </a:rPr>
              <a:t> source</a:t>
            </a:r>
            <a:r>
              <a:rPr sz="800" i="1" spc="55" dirty="0">
                <a:solidFill>
                  <a:srgbClr val="009600"/>
                </a:solidFill>
                <a:latin typeface="Times New Roman"/>
                <a:cs typeface="Times New Roman"/>
              </a:rPr>
              <a:t> </a:t>
            </a:r>
            <a:r>
              <a:rPr sz="800" i="1" spc="95" dirty="0">
                <a:solidFill>
                  <a:srgbClr val="009600"/>
                </a:solidFill>
                <a:latin typeface="Times New Roman"/>
                <a:cs typeface="Times New Roman"/>
              </a:rPr>
              <a:t>host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 </a:t>
            </a:r>
            <a:r>
              <a:rPr sz="800" i="1" spc="55" dirty="0">
                <a:solidFill>
                  <a:srgbClr val="009600"/>
                </a:solidFill>
                <a:latin typeface="Times New Roman"/>
                <a:cs typeface="Times New Roman"/>
              </a:rPr>
              <a:t>check </a:t>
            </a:r>
            <a:r>
              <a:rPr sz="800" i="1" spc="105" dirty="0">
                <a:solidFill>
                  <a:srgbClr val="009600"/>
                </a:solidFill>
                <a:latin typeface="Times New Roman"/>
                <a:cs typeface="Times New Roman"/>
              </a:rPr>
              <a:t>task</a:t>
            </a:r>
            <a:r>
              <a:rPr sz="800" i="1" spc="55" dirty="0">
                <a:solidFill>
                  <a:srgbClr val="009600"/>
                </a:solidFill>
                <a:latin typeface="Times New Roman"/>
                <a:cs typeface="Times New Roman"/>
              </a:rPr>
              <a:t> </a:t>
            </a:r>
            <a:r>
              <a:rPr sz="800" i="1" spc="60" dirty="0">
                <a:solidFill>
                  <a:srgbClr val="009600"/>
                </a:solidFill>
                <a:latin typeface="Times New Roman"/>
                <a:cs typeface="Times New Roman"/>
              </a:rPr>
              <a:t>source</a:t>
            </a:r>
            <a:r>
              <a:rPr sz="800" i="1" spc="55" dirty="0">
                <a:solidFill>
                  <a:srgbClr val="009600"/>
                </a:solidFill>
                <a:latin typeface="Times New Roman"/>
                <a:cs typeface="Times New Roman"/>
              </a:rPr>
              <a:t> </a:t>
            </a:r>
            <a:r>
              <a:rPr sz="800" i="1" spc="95" dirty="0">
                <a:solidFill>
                  <a:srgbClr val="009600"/>
                </a:solidFill>
                <a:latin typeface="Times New Roman"/>
                <a:cs typeface="Times New Roman"/>
              </a:rPr>
              <a:t>port</a:t>
            </a:r>
            <a:endParaRPr sz="800">
              <a:latin typeface="Times New Roman"/>
              <a:cs typeface="Times New Roman"/>
            </a:endParaRPr>
          </a:p>
          <a:p>
            <a:pPr marL="12700" marR="5080">
              <a:lnSpc>
                <a:spcPts val="850"/>
              </a:lnSpc>
              <a:spcBef>
                <a:spcPts val="5"/>
              </a:spcBef>
            </a:pP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10" dirty="0">
                <a:solidFill>
                  <a:srgbClr val="009600"/>
                </a:solidFill>
                <a:latin typeface="Times New Roman"/>
                <a:cs typeface="Times New Roman"/>
              </a:rPr>
              <a:t>how</a:t>
            </a:r>
            <a:r>
              <a:rPr sz="800" i="1" spc="65" dirty="0">
                <a:solidFill>
                  <a:srgbClr val="009600"/>
                </a:solidFill>
                <a:latin typeface="Times New Roman"/>
                <a:cs typeface="Times New Roman"/>
              </a:rPr>
              <a:t> </a:t>
            </a:r>
            <a:r>
              <a:rPr sz="800" i="1" spc="35" dirty="0">
                <a:solidFill>
                  <a:srgbClr val="009600"/>
                </a:solidFill>
                <a:latin typeface="Times New Roman"/>
                <a:cs typeface="Times New Roman"/>
              </a:rPr>
              <a:t>and</a:t>
            </a:r>
            <a:r>
              <a:rPr sz="800" i="1" spc="60" dirty="0">
                <a:solidFill>
                  <a:srgbClr val="009600"/>
                </a:solidFill>
                <a:latin typeface="Times New Roman"/>
                <a:cs typeface="Times New Roman"/>
              </a:rPr>
              <a:t> </a:t>
            </a:r>
            <a:r>
              <a:rPr sz="800" i="1" spc="30" dirty="0">
                <a:solidFill>
                  <a:srgbClr val="009600"/>
                </a:solidFill>
                <a:latin typeface="Times New Roman"/>
                <a:cs typeface="Times New Roman"/>
              </a:rPr>
              <a:t>where</a:t>
            </a:r>
            <a:r>
              <a:rPr sz="800" i="1" spc="65"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65" dirty="0">
                <a:solidFill>
                  <a:srgbClr val="009600"/>
                </a:solidFill>
                <a:latin typeface="Times New Roman"/>
                <a:cs typeface="Times New Roman"/>
              </a:rPr>
              <a:t> </a:t>
            </a:r>
            <a:r>
              <a:rPr sz="800" i="1" spc="60" dirty="0">
                <a:solidFill>
                  <a:srgbClr val="009600"/>
                </a:solidFill>
                <a:latin typeface="Times New Roman"/>
                <a:cs typeface="Times New Roman"/>
              </a:rPr>
              <a:t>connect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70" dirty="0">
                <a:solidFill>
                  <a:srgbClr val="009600"/>
                </a:solidFill>
                <a:latin typeface="Times New Roman"/>
                <a:cs typeface="Times New Roman"/>
              </a:rPr>
              <a:t>bind</a:t>
            </a:r>
            <a:r>
              <a:rPr sz="800" i="1" spc="55" dirty="0">
                <a:solidFill>
                  <a:srgbClr val="009600"/>
                </a:solidFill>
                <a:latin typeface="Times New Roman"/>
                <a:cs typeface="Times New Roman"/>
              </a:rPr>
              <a:t> </a:t>
            </a:r>
            <a:r>
              <a:rPr sz="800" i="1" spc="85" dirty="0">
                <a:solidFill>
                  <a:srgbClr val="009600"/>
                </a:solidFill>
                <a:latin typeface="Times New Roman"/>
                <a:cs typeface="Times New Roman"/>
              </a:rPr>
              <a:t>socket</a:t>
            </a:r>
            <a:r>
              <a:rPr sz="800" i="1" spc="70"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65" dirty="0">
                <a:solidFill>
                  <a:srgbClr val="009600"/>
                </a:solidFill>
                <a:latin typeface="Times New Roman"/>
                <a:cs typeface="Times New Roman"/>
              </a:rPr>
              <a:t> </a:t>
            </a:r>
            <a:r>
              <a:rPr sz="800" i="1" spc="60" dirty="0">
                <a:solidFill>
                  <a:srgbClr val="009600"/>
                </a:solidFill>
                <a:latin typeface="Times New Roman"/>
                <a:cs typeface="Times New Roman"/>
              </a:rPr>
              <a:t>address</a:t>
            </a:r>
            <a:endParaRPr sz="800">
              <a:latin typeface="Times New Roman"/>
              <a:cs typeface="Times New Roman"/>
            </a:endParaRPr>
          </a:p>
        </p:txBody>
      </p:sp>
      <p:sp>
        <p:nvSpPr>
          <p:cNvPr id="7" name="object 7"/>
          <p:cNvSpPr txBox="1"/>
          <p:nvPr/>
        </p:nvSpPr>
        <p:spPr>
          <a:xfrm>
            <a:off x="2391956" y="2174150"/>
            <a:ext cx="1254760" cy="255270"/>
          </a:xfrm>
          <a:prstGeom prst="rect">
            <a:avLst/>
          </a:prstGeom>
        </p:spPr>
        <p:txBody>
          <a:bodyPr vert="horz" wrap="square" lIns="0" tIns="27305" rIns="0" bIns="0" rtlCol="0">
            <a:spAutoFit/>
          </a:bodyPr>
          <a:lstStyle/>
          <a:p>
            <a:pPr marL="12700" marR="5080">
              <a:lnSpc>
                <a:spcPts val="850"/>
              </a:lnSpc>
              <a:spcBef>
                <a:spcPts val="215"/>
              </a:spcBef>
            </a:pPr>
            <a:r>
              <a:rPr sz="800" i="1" spc="75" dirty="0">
                <a:solidFill>
                  <a:srgbClr val="009600"/>
                </a:solidFill>
                <a:latin typeface="Times New Roman"/>
                <a:cs typeface="Times New Roman"/>
              </a:rPr>
              <a:t># </a:t>
            </a:r>
            <a:r>
              <a:rPr sz="800" i="1" spc="60" dirty="0">
                <a:solidFill>
                  <a:srgbClr val="009600"/>
                </a:solidFill>
                <a:latin typeface="Times New Roman"/>
                <a:cs typeface="Times New Roman"/>
              </a:rPr>
              <a:t>generate </a:t>
            </a:r>
            <a:r>
              <a:rPr sz="800" i="1" spc="35" dirty="0">
                <a:solidFill>
                  <a:srgbClr val="009600"/>
                </a:solidFill>
                <a:latin typeface="Times New Roman"/>
                <a:cs typeface="Times New Roman"/>
              </a:rPr>
              <a:t>100 </a:t>
            </a:r>
            <a:r>
              <a:rPr sz="800" i="1" spc="40" dirty="0">
                <a:solidFill>
                  <a:srgbClr val="009600"/>
                </a:solidFill>
                <a:latin typeface="Times New Roman"/>
                <a:cs typeface="Times New Roman"/>
              </a:rPr>
              <a:t>workloads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25" dirty="0">
                <a:solidFill>
                  <a:srgbClr val="009600"/>
                </a:solidFill>
                <a:latin typeface="Times New Roman"/>
                <a:cs typeface="Times New Roman"/>
              </a:rPr>
              <a:t>compute</a:t>
            </a:r>
            <a:r>
              <a:rPr sz="800" i="1" spc="50" dirty="0">
                <a:solidFill>
                  <a:srgbClr val="009600"/>
                </a:solidFill>
                <a:latin typeface="Times New Roman"/>
                <a:cs typeface="Times New Roman"/>
              </a:rPr>
              <a:t> </a:t>
            </a:r>
            <a:r>
              <a:rPr sz="800" i="1" spc="30" dirty="0">
                <a:solidFill>
                  <a:srgbClr val="009600"/>
                </a:solidFill>
                <a:latin typeface="Times New Roman"/>
                <a:cs typeface="Times New Roman"/>
              </a:rPr>
              <a:t>workload</a:t>
            </a:r>
            <a:endParaRPr sz="800">
              <a:latin typeface="Times New Roman"/>
              <a:cs typeface="Times New Roman"/>
            </a:endParaRPr>
          </a:p>
        </p:txBody>
      </p:sp>
      <p:sp>
        <p:nvSpPr>
          <p:cNvPr id="8" name="object 8"/>
          <p:cNvSpPr txBox="1"/>
          <p:nvPr/>
        </p:nvSpPr>
        <p:spPr>
          <a:xfrm>
            <a:off x="306806" y="2390507"/>
            <a:ext cx="3389629" cy="147320"/>
          </a:xfrm>
          <a:prstGeom prst="rect">
            <a:avLst/>
          </a:prstGeom>
        </p:spPr>
        <p:txBody>
          <a:bodyPr vert="horz" wrap="square" lIns="0" tIns="12065" rIns="0" bIns="0" rtlCol="0">
            <a:spAutoFit/>
          </a:bodyPr>
          <a:lstStyle/>
          <a:p>
            <a:pPr marL="12700">
              <a:lnSpc>
                <a:spcPct val="100000"/>
              </a:lnSpc>
              <a:spcBef>
                <a:spcPts val="95"/>
              </a:spcBef>
              <a:tabLst>
                <a:tab pos="275590" algn="l"/>
              </a:tabLst>
            </a:pPr>
            <a:r>
              <a:rPr sz="600" spc="55" dirty="0">
                <a:latin typeface="Times New Roman"/>
                <a:cs typeface="Times New Roman"/>
              </a:rPr>
              <a:t>13	</a:t>
            </a:r>
            <a:r>
              <a:rPr sz="800" spc="50" dirty="0">
                <a:latin typeface="Times New Roman"/>
                <a:cs typeface="Times New Roman"/>
              </a:rPr>
              <a:t>s.send(pickle.dumps((me,workload)))</a:t>
            </a:r>
            <a:r>
              <a:rPr sz="800" spc="114" dirty="0">
                <a:latin typeface="Times New Roman"/>
                <a:cs typeface="Times New Roman"/>
              </a:rPr>
              <a:t> </a:t>
            </a:r>
            <a:r>
              <a:rPr sz="800" i="1" spc="75" dirty="0">
                <a:solidFill>
                  <a:srgbClr val="009600"/>
                </a:solidFill>
                <a:latin typeface="Times New Roman"/>
                <a:cs typeface="Times New Roman"/>
              </a:rPr>
              <a:t>#</a:t>
            </a:r>
            <a:r>
              <a:rPr sz="800" i="1" spc="114" dirty="0">
                <a:solidFill>
                  <a:srgbClr val="009600"/>
                </a:solidFill>
                <a:latin typeface="Times New Roman"/>
                <a:cs typeface="Times New Roman"/>
              </a:rPr>
              <a:t> </a:t>
            </a:r>
            <a:r>
              <a:rPr sz="800" i="1" spc="60" dirty="0">
                <a:solidFill>
                  <a:srgbClr val="009600"/>
                </a:solidFill>
                <a:latin typeface="Times New Roman"/>
                <a:cs typeface="Times New Roman"/>
              </a:rPr>
              <a:t>send</a:t>
            </a:r>
            <a:r>
              <a:rPr sz="800" i="1" spc="80" dirty="0">
                <a:solidFill>
                  <a:srgbClr val="009600"/>
                </a:solidFill>
                <a:latin typeface="Times New Roman"/>
                <a:cs typeface="Times New Roman"/>
              </a:rPr>
              <a:t> </a:t>
            </a:r>
            <a:r>
              <a:rPr sz="800" i="1" spc="30" dirty="0">
                <a:solidFill>
                  <a:srgbClr val="009600"/>
                </a:solidFill>
                <a:latin typeface="Times New Roman"/>
                <a:cs typeface="Times New Roman"/>
              </a:rPr>
              <a:t>workload</a:t>
            </a:r>
            <a:r>
              <a:rPr sz="800" i="1" spc="95"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95" dirty="0">
                <a:solidFill>
                  <a:srgbClr val="009600"/>
                </a:solidFill>
                <a:latin typeface="Times New Roman"/>
                <a:cs typeface="Times New Roman"/>
              </a:rPr>
              <a:t> </a:t>
            </a:r>
            <a:r>
              <a:rPr sz="800" i="1" spc="40" dirty="0">
                <a:solidFill>
                  <a:srgbClr val="009600"/>
                </a:solidFill>
                <a:latin typeface="Times New Roman"/>
                <a:cs typeface="Times New Roman"/>
              </a:rPr>
              <a:t>worker</a:t>
            </a:r>
            <a:endParaRPr sz="800">
              <a:latin typeface="Times New Roman"/>
              <a:cs typeface="Times New Roman"/>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p:nvPr/>
        </p:nvSpPr>
        <p:spPr>
          <a:xfrm>
            <a:off x="66713" y="3331252"/>
            <a:ext cx="12306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Using</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messaging</a:t>
            </a:r>
            <a:r>
              <a:rPr sz="600" spc="-10" dirty="0">
                <a:solidFill>
                  <a:srgbClr val="3333B2"/>
                </a:solidFill>
                <a:latin typeface="Arial"/>
                <a:cs typeface="Arial"/>
                <a:hlinkClick r:id="rId3" action="ppaction://hlinksldjump"/>
              </a:rPr>
              <a:t> </a:t>
            </a:r>
            <a:r>
              <a:rPr sz="600" dirty="0">
                <a:solidFill>
                  <a:srgbClr val="3333B2"/>
                </a:solidFill>
                <a:latin typeface="Arial"/>
                <a:cs typeface="Arial"/>
                <a:hlinkClick r:id="rId3" action="ppaction://hlinksldjump"/>
              </a:rPr>
              <a:t>patterns:</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ZeroMQ</a:t>
            </a:r>
            <a:endParaRPr sz="6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27</a:t>
            </a:r>
            <a:r>
              <a:rPr spc="-40" dirty="0"/>
              <a:t> </a:t>
            </a:r>
            <a:r>
              <a:rPr spc="-5" dirty="0"/>
              <a:t>/</a:t>
            </a:r>
            <a:r>
              <a:rPr spc="-35" dirty="0"/>
              <a:t> </a:t>
            </a:r>
            <a:r>
              <a:rPr spc="-5" dirty="0"/>
              <a:t>49</a:t>
            </a:r>
          </a:p>
        </p:txBody>
      </p:sp>
      <p:sp>
        <p:nvSpPr>
          <p:cNvPr id="2" name="object 2"/>
          <p:cNvSpPr txBox="1"/>
          <p:nvPr/>
        </p:nvSpPr>
        <p:spPr>
          <a:xfrm>
            <a:off x="66713" y="716"/>
            <a:ext cx="1752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65" dirty="0">
                <a:solidFill>
                  <a:srgbClr val="3333B2"/>
                </a:solidFill>
                <a:latin typeface="Arial"/>
                <a:cs typeface="Arial"/>
              </a:rPr>
              <a:t> </a:t>
            </a:r>
            <a:r>
              <a:rPr sz="600" spc="-5" dirty="0">
                <a:solidFill>
                  <a:srgbClr val="3333B2"/>
                </a:solidFill>
                <a:latin typeface="Arial"/>
                <a:cs typeface="Arial"/>
                <a:hlinkClick r:id="rId5" action="ppaction://hlinksldjump"/>
              </a:rPr>
              <a:t>Message-oriented</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endParaRPr sz="600">
              <a:latin typeface="Arial"/>
              <a:cs typeface="Arial"/>
            </a:endParaRPr>
          </a:p>
        </p:txBody>
      </p:sp>
      <p:sp>
        <p:nvSpPr>
          <p:cNvPr id="3" name="object 3"/>
          <p:cNvSpPr txBox="1"/>
          <p:nvPr/>
        </p:nvSpPr>
        <p:spPr>
          <a:xfrm>
            <a:off x="3480558" y="716"/>
            <a:ext cx="10610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Advanced</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transient</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messaging</a:t>
            </a:r>
            <a:endParaRPr sz="600">
              <a:latin typeface="Arial"/>
              <a:cs typeface="Arial"/>
            </a:endParaRPr>
          </a:p>
        </p:txBody>
      </p:sp>
      <p:sp>
        <p:nvSpPr>
          <p:cNvPr id="4" name="object 4"/>
          <p:cNvSpPr txBox="1"/>
          <p:nvPr/>
        </p:nvSpPr>
        <p:spPr>
          <a:xfrm>
            <a:off x="95300" y="188846"/>
            <a:ext cx="67373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Pipeline</a:t>
            </a:r>
            <a:endParaRPr sz="1400">
              <a:latin typeface="Arial"/>
              <a:cs typeface="Arial"/>
            </a:endParaRPr>
          </a:p>
        </p:txBody>
      </p:sp>
      <p:sp>
        <p:nvSpPr>
          <p:cNvPr id="5" name="object 5"/>
          <p:cNvSpPr txBox="1"/>
          <p:nvPr/>
        </p:nvSpPr>
        <p:spPr>
          <a:xfrm>
            <a:off x="281406" y="922309"/>
            <a:ext cx="1821180" cy="1615440"/>
          </a:xfrm>
          <a:prstGeom prst="rect">
            <a:avLst/>
          </a:prstGeom>
        </p:spPr>
        <p:txBody>
          <a:bodyPr vert="horz" wrap="square" lIns="0" tIns="12065" rIns="0" bIns="0" rtlCol="0">
            <a:spAutoFit/>
          </a:bodyPr>
          <a:lstStyle/>
          <a:p>
            <a:pPr marL="71120">
              <a:lnSpc>
                <a:spcPts val="1390"/>
              </a:lnSpc>
              <a:spcBef>
                <a:spcPts val="95"/>
              </a:spcBef>
            </a:pPr>
            <a:r>
              <a:rPr sz="1200" spc="-15" dirty="0">
                <a:solidFill>
                  <a:srgbClr val="3333B2"/>
                </a:solidFill>
                <a:latin typeface="Arial"/>
                <a:cs typeface="Arial"/>
              </a:rPr>
              <a:t>Worker</a:t>
            </a:r>
            <a:endParaRPr sz="1200">
              <a:latin typeface="Arial"/>
              <a:cs typeface="Arial"/>
            </a:endParaRPr>
          </a:p>
          <a:p>
            <a:pPr marL="83185">
              <a:lnSpc>
                <a:spcPts val="910"/>
              </a:lnSpc>
            </a:pPr>
            <a:r>
              <a:rPr sz="600" spc="55" dirty="0">
                <a:latin typeface="Times New Roman"/>
                <a:cs typeface="Times New Roman"/>
              </a:rPr>
              <a:t>1 </a:t>
            </a:r>
            <a:r>
              <a:rPr sz="600" spc="160" dirty="0">
                <a:latin typeface="Times New Roman"/>
                <a:cs typeface="Times New Roman"/>
              </a:rPr>
              <a:t> </a:t>
            </a:r>
            <a:r>
              <a:rPr sz="800" b="1" spc="25" dirty="0">
                <a:solidFill>
                  <a:srgbClr val="FF0059"/>
                </a:solidFill>
                <a:latin typeface="Times New Roman"/>
                <a:cs typeface="Times New Roman"/>
              </a:rPr>
              <a:t>import</a:t>
            </a:r>
            <a:r>
              <a:rPr sz="800" b="1" spc="80" dirty="0">
                <a:solidFill>
                  <a:srgbClr val="FF0059"/>
                </a:solidFill>
                <a:latin typeface="Times New Roman"/>
                <a:cs typeface="Times New Roman"/>
              </a:rPr>
              <a:t> </a:t>
            </a:r>
            <a:r>
              <a:rPr sz="800" spc="20" dirty="0">
                <a:latin typeface="Times New Roman"/>
                <a:cs typeface="Times New Roman"/>
              </a:rPr>
              <a:t>zmq,</a:t>
            </a:r>
            <a:r>
              <a:rPr sz="800" spc="100" dirty="0">
                <a:latin typeface="Times New Roman"/>
                <a:cs typeface="Times New Roman"/>
              </a:rPr>
              <a:t> </a:t>
            </a:r>
            <a:r>
              <a:rPr sz="800" spc="90" dirty="0">
                <a:latin typeface="Times New Roman"/>
                <a:cs typeface="Times New Roman"/>
              </a:rPr>
              <a:t>time, </a:t>
            </a:r>
            <a:r>
              <a:rPr sz="800" spc="100" dirty="0">
                <a:latin typeface="Times New Roman"/>
                <a:cs typeface="Times New Roman"/>
              </a:rPr>
              <a:t>pickle,</a:t>
            </a:r>
            <a:r>
              <a:rPr sz="800" spc="90" dirty="0">
                <a:latin typeface="Times New Roman"/>
                <a:cs typeface="Times New Roman"/>
              </a:rPr>
              <a:t> </a:t>
            </a:r>
            <a:r>
              <a:rPr sz="800" spc="95" dirty="0">
                <a:latin typeface="Times New Roman"/>
                <a:cs typeface="Times New Roman"/>
              </a:rPr>
              <a:t>sys</a:t>
            </a:r>
            <a:endParaRPr sz="800">
              <a:latin typeface="Times New Roman"/>
              <a:cs typeface="Times New Roman"/>
            </a:endParaRPr>
          </a:p>
          <a:p>
            <a:pPr marL="83185">
              <a:lnSpc>
                <a:spcPts val="685"/>
              </a:lnSpc>
              <a:spcBef>
                <a:spcPts val="90"/>
              </a:spcBef>
            </a:pPr>
            <a:r>
              <a:rPr sz="600" spc="55" dirty="0">
                <a:latin typeface="Times New Roman"/>
                <a:cs typeface="Times New Roman"/>
              </a:rPr>
              <a:t>2</a:t>
            </a:r>
            <a:endParaRPr sz="600">
              <a:latin typeface="Times New Roman"/>
              <a:cs typeface="Times New Roman"/>
            </a:endParaRPr>
          </a:p>
          <a:p>
            <a:pPr marL="83185">
              <a:lnSpc>
                <a:spcPts val="869"/>
              </a:lnSpc>
            </a:pPr>
            <a:r>
              <a:rPr sz="600" spc="55" dirty="0">
                <a:latin typeface="Times New Roman"/>
                <a:cs typeface="Times New Roman"/>
              </a:rPr>
              <a:t>3 </a:t>
            </a:r>
            <a:r>
              <a:rPr sz="600" spc="160" dirty="0">
                <a:latin typeface="Times New Roman"/>
                <a:cs typeface="Times New Roman"/>
              </a:rPr>
              <a:t> </a:t>
            </a:r>
            <a:r>
              <a:rPr sz="800" spc="75" dirty="0">
                <a:latin typeface="Times New Roman"/>
                <a:cs typeface="Times New Roman"/>
              </a:rPr>
              <a:t>context</a:t>
            </a:r>
            <a:r>
              <a:rPr sz="800" spc="8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45" dirty="0">
                <a:latin typeface="Times New Roman"/>
                <a:cs typeface="Times New Roman"/>
              </a:rPr>
              <a:t>zmq.Context()</a:t>
            </a:r>
            <a:endParaRPr sz="800">
              <a:latin typeface="Times New Roman"/>
              <a:cs typeface="Times New Roman"/>
            </a:endParaRPr>
          </a:p>
          <a:p>
            <a:pPr marL="83185">
              <a:lnSpc>
                <a:spcPts val="850"/>
              </a:lnSpc>
            </a:pPr>
            <a:r>
              <a:rPr sz="600" spc="55" dirty="0">
                <a:latin typeface="Times New Roman"/>
                <a:cs typeface="Times New Roman"/>
              </a:rPr>
              <a:t>4 </a:t>
            </a:r>
            <a:r>
              <a:rPr sz="600" spc="150" dirty="0">
                <a:latin typeface="Times New Roman"/>
                <a:cs typeface="Times New Roman"/>
              </a:rPr>
              <a:t> </a:t>
            </a:r>
            <a:r>
              <a:rPr sz="800" spc="-40" dirty="0">
                <a:latin typeface="Times New Roman"/>
                <a:cs typeface="Times New Roman"/>
              </a:rPr>
              <a:t>me</a:t>
            </a:r>
            <a:r>
              <a:rPr sz="800" spc="85" dirty="0">
                <a:latin typeface="Times New Roman"/>
                <a:cs typeface="Times New Roman"/>
              </a:rPr>
              <a:t> </a:t>
            </a:r>
            <a:r>
              <a:rPr sz="800" spc="25" dirty="0">
                <a:latin typeface="Times New Roman"/>
                <a:cs typeface="Times New Roman"/>
              </a:rPr>
              <a:t>=</a:t>
            </a:r>
            <a:r>
              <a:rPr sz="800" spc="75" dirty="0">
                <a:latin typeface="Times New Roman"/>
                <a:cs typeface="Times New Roman"/>
              </a:rPr>
              <a:t> </a:t>
            </a:r>
            <a:r>
              <a:rPr sz="800" b="1" spc="90" dirty="0">
                <a:solidFill>
                  <a:srgbClr val="FF0059"/>
                </a:solidFill>
                <a:latin typeface="Times New Roman"/>
                <a:cs typeface="Times New Roman"/>
              </a:rPr>
              <a:t>str</a:t>
            </a:r>
            <a:r>
              <a:rPr sz="800" spc="90" dirty="0">
                <a:latin typeface="Times New Roman"/>
                <a:cs typeface="Times New Roman"/>
              </a:rPr>
              <a:t>(sys.argv[1])</a:t>
            </a:r>
            <a:endParaRPr sz="800">
              <a:latin typeface="Times New Roman"/>
              <a:cs typeface="Times New Roman"/>
            </a:endParaRPr>
          </a:p>
          <a:p>
            <a:pPr marL="83185">
              <a:lnSpc>
                <a:spcPts val="850"/>
              </a:lnSpc>
            </a:pPr>
            <a:r>
              <a:rPr sz="600" spc="55" dirty="0">
                <a:latin typeface="Times New Roman"/>
                <a:cs typeface="Times New Roman"/>
              </a:rPr>
              <a:t>5 </a:t>
            </a:r>
            <a:r>
              <a:rPr sz="600" spc="195" dirty="0">
                <a:latin typeface="Times New Roman"/>
                <a:cs typeface="Times New Roman"/>
              </a:rPr>
              <a:t> </a:t>
            </a:r>
            <a:r>
              <a:rPr sz="800" spc="210" dirty="0">
                <a:latin typeface="Times New Roman"/>
                <a:cs typeface="Times New Roman"/>
              </a:rPr>
              <a:t>r</a:t>
            </a:r>
            <a:r>
              <a:rPr sz="800" spc="515" dirty="0">
                <a:latin typeface="Times New Roman"/>
                <a:cs typeface="Times New Roman"/>
              </a:rPr>
              <a:t> </a:t>
            </a:r>
            <a:r>
              <a:rPr sz="800" spc="25" dirty="0">
                <a:latin typeface="Times New Roman"/>
                <a:cs typeface="Times New Roman"/>
              </a:rPr>
              <a:t>=</a:t>
            </a:r>
            <a:r>
              <a:rPr sz="800" spc="85" dirty="0">
                <a:latin typeface="Times New Roman"/>
                <a:cs typeface="Times New Roman"/>
              </a:rPr>
              <a:t> </a:t>
            </a:r>
            <a:r>
              <a:rPr sz="800" spc="35" dirty="0">
                <a:latin typeface="Times New Roman"/>
                <a:cs typeface="Times New Roman"/>
              </a:rPr>
              <a:t>context.socket(zmq.PULL)</a:t>
            </a:r>
            <a:endParaRPr sz="800">
              <a:latin typeface="Times New Roman"/>
              <a:cs typeface="Times New Roman"/>
            </a:endParaRPr>
          </a:p>
          <a:p>
            <a:pPr marL="83185">
              <a:lnSpc>
                <a:spcPts val="850"/>
              </a:lnSpc>
            </a:pPr>
            <a:r>
              <a:rPr sz="600" spc="55" dirty="0">
                <a:latin typeface="Times New Roman"/>
                <a:cs typeface="Times New Roman"/>
              </a:rPr>
              <a:t>6 </a:t>
            </a:r>
            <a:r>
              <a:rPr sz="600" spc="175" dirty="0">
                <a:latin typeface="Times New Roman"/>
                <a:cs typeface="Times New Roman"/>
              </a:rPr>
              <a:t> </a:t>
            </a:r>
            <a:r>
              <a:rPr sz="800" spc="50" dirty="0">
                <a:latin typeface="Times New Roman"/>
                <a:cs typeface="Times New Roman"/>
              </a:rPr>
              <a:t>p1</a:t>
            </a:r>
            <a:r>
              <a:rPr sz="800" spc="95" dirty="0">
                <a:latin typeface="Times New Roman"/>
                <a:cs typeface="Times New Roman"/>
              </a:rPr>
              <a:t> </a:t>
            </a:r>
            <a:r>
              <a:rPr sz="800" spc="25" dirty="0">
                <a:latin typeface="Times New Roman"/>
                <a:cs typeface="Times New Roman"/>
              </a:rPr>
              <a:t>=</a:t>
            </a:r>
            <a:r>
              <a:rPr sz="800" spc="110" dirty="0">
                <a:latin typeface="Times New Roman"/>
                <a:cs typeface="Times New Roman"/>
              </a:rPr>
              <a:t> </a:t>
            </a:r>
            <a:r>
              <a:rPr sz="800" spc="100" dirty="0">
                <a:solidFill>
                  <a:srgbClr val="FA0000"/>
                </a:solidFill>
                <a:latin typeface="Times New Roman"/>
                <a:cs typeface="Times New Roman"/>
              </a:rPr>
              <a:t>"tcp://"</a:t>
            </a:r>
            <a:r>
              <a:rPr sz="800" spc="100" dirty="0">
                <a:latin typeface="Times New Roman"/>
                <a:cs typeface="Times New Roman"/>
              </a:rPr>
              <a:t>+</a:t>
            </a:r>
            <a:r>
              <a:rPr sz="800" spc="85" dirty="0">
                <a:latin typeface="Times New Roman"/>
                <a:cs typeface="Times New Roman"/>
              </a:rPr>
              <a:t> </a:t>
            </a:r>
            <a:r>
              <a:rPr sz="800" spc="-50" dirty="0">
                <a:latin typeface="Times New Roman"/>
                <a:cs typeface="Times New Roman"/>
              </a:rPr>
              <a:t>SRC1</a:t>
            </a:r>
            <a:r>
              <a:rPr sz="800" spc="85" dirty="0">
                <a:latin typeface="Times New Roman"/>
                <a:cs typeface="Times New Roman"/>
              </a:rPr>
              <a:t> </a:t>
            </a:r>
            <a:r>
              <a:rPr sz="800" spc="55" dirty="0">
                <a:latin typeface="Times New Roman"/>
                <a:cs typeface="Times New Roman"/>
              </a:rPr>
              <a:t>+</a:t>
            </a:r>
            <a:r>
              <a:rPr sz="800" spc="55" dirty="0">
                <a:solidFill>
                  <a:srgbClr val="FA0000"/>
                </a:solidFill>
                <a:latin typeface="Times New Roman"/>
                <a:cs typeface="Times New Roman"/>
              </a:rPr>
              <a:t>":"</a:t>
            </a:r>
            <a:r>
              <a:rPr sz="800" spc="55" dirty="0">
                <a:latin typeface="Times New Roman"/>
                <a:cs typeface="Times New Roman"/>
              </a:rPr>
              <a:t>+</a:t>
            </a:r>
            <a:r>
              <a:rPr sz="800" spc="85" dirty="0">
                <a:latin typeface="Times New Roman"/>
                <a:cs typeface="Times New Roman"/>
              </a:rPr>
              <a:t> </a:t>
            </a:r>
            <a:r>
              <a:rPr sz="800" spc="-70" dirty="0">
                <a:latin typeface="Times New Roman"/>
                <a:cs typeface="Times New Roman"/>
              </a:rPr>
              <a:t>PORT1</a:t>
            </a:r>
            <a:endParaRPr sz="800">
              <a:latin typeface="Times New Roman"/>
              <a:cs typeface="Times New Roman"/>
            </a:endParaRPr>
          </a:p>
          <a:p>
            <a:pPr marL="83185">
              <a:lnSpc>
                <a:spcPts val="850"/>
              </a:lnSpc>
            </a:pPr>
            <a:r>
              <a:rPr sz="600" spc="55" dirty="0">
                <a:latin typeface="Times New Roman"/>
                <a:cs typeface="Times New Roman"/>
              </a:rPr>
              <a:t>7 </a:t>
            </a:r>
            <a:r>
              <a:rPr sz="600" spc="175" dirty="0">
                <a:latin typeface="Times New Roman"/>
                <a:cs typeface="Times New Roman"/>
              </a:rPr>
              <a:t> </a:t>
            </a:r>
            <a:r>
              <a:rPr sz="800" spc="50" dirty="0">
                <a:latin typeface="Times New Roman"/>
                <a:cs typeface="Times New Roman"/>
              </a:rPr>
              <a:t>p2</a:t>
            </a:r>
            <a:r>
              <a:rPr sz="800" spc="95" dirty="0">
                <a:latin typeface="Times New Roman"/>
                <a:cs typeface="Times New Roman"/>
              </a:rPr>
              <a:t> </a:t>
            </a:r>
            <a:r>
              <a:rPr sz="800" spc="25" dirty="0">
                <a:latin typeface="Times New Roman"/>
                <a:cs typeface="Times New Roman"/>
              </a:rPr>
              <a:t>=</a:t>
            </a:r>
            <a:r>
              <a:rPr sz="800" spc="110" dirty="0">
                <a:latin typeface="Times New Roman"/>
                <a:cs typeface="Times New Roman"/>
              </a:rPr>
              <a:t> </a:t>
            </a:r>
            <a:r>
              <a:rPr sz="800" spc="100" dirty="0">
                <a:solidFill>
                  <a:srgbClr val="FA0000"/>
                </a:solidFill>
                <a:latin typeface="Times New Roman"/>
                <a:cs typeface="Times New Roman"/>
              </a:rPr>
              <a:t>"tcp://"</a:t>
            </a:r>
            <a:r>
              <a:rPr sz="800" spc="100" dirty="0">
                <a:latin typeface="Times New Roman"/>
                <a:cs typeface="Times New Roman"/>
              </a:rPr>
              <a:t>+</a:t>
            </a:r>
            <a:r>
              <a:rPr sz="800" spc="85" dirty="0">
                <a:latin typeface="Times New Roman"/>
                <a:cs typeface="Times New Roman"/>
              </a:rPr>
              <a:t> </a:t>
            </a:r>
            <a:r>
              <a:rPr sz="800" spc="-50" dirty="0">
                <a:latin typeface="Times New Roman"/>
                <a:cs typeface="Times New Roman"/>
              </a:rPr>
              <a:t>SRC2</a:t>
            </a:r>
            <a:r>
              <a:rPr sz="800" spc="85" dirty="0">
                <a:latin typeface="Times New Roman"/>
                <a:cs typeface="Times New Roman"/>
              </a:rPr>
              <a:t> </a:t>
            </a:r>
            <a:r>
              <a:rPr sz="800" spc="55" dirty="0">
                <a:latin typeface="Times New Roman"/>
                <a:cs typeface="Times New Roman"/>
              </a:rPr>
              <a:t>+</a:t>
            </a:r>
            <a:r>
              <a:rPr sz="800" spc="55" dirty="0">
                <a:solidFill>
                  <a:srgbClr val="FA0000"/>
                </a:solidFill>
                <a:latin typeface="Times New Roman"/>
                <a:cs typeface="Times New Roman"/>
              </a:rPr>
              <a:t>":"</a:t>
            </a:r>
            <a:r>
              <a:rPr sz="800" spc="55" dirty="0">
                <a:latin typeface="Times New Roman"/>
                <a:cs typeface="Times New Roman"/>
              </a:rPr>
              <a:t>+</a:t>
            </a:r>
            <a:r>
              <a:rPr sz="800" spc="85" dirty="0">
                <a:latin typeface="Times New Roman"/>
                <a:cs typeface="Times New Roman"/>
              </a:rPr>
              <a:t> </a:t>
            </a:r>
            <a:r>
              <a:rPr sz="800" spc="-70" dirty="0">
                <a:latin typeface="Times New Roman"/>
                <a:cs typeface="Times New Roman"/>
              </a:rPr>
              <a:t>PORT2</a:t>
            </a:r>
            <a:endParaRPr sz="800">
              <a:latin typeface="Times New Roman"/>
              <a:cs typeface="Times New Roman"/>
            </a:endParaRPr>
          </a:p>
          <a:p>
            <a:pPr marL="83185">
              <a:lnSpc>
                <a:spcPts val="850"/>
              </a:lnSpc>
            </a:pPr>
            <a:r>
              <a:rPr sz="600" spc="55" dirty="0">
                <a:latin typeface="Times New Roman"/>
                <a:cs typeface="Times New Roman"/>
              </a:rPr>
              <a:t>8 </a:t>
            </a:r>
            <a:r>
              <a:rPr sz="600" spc="140" dirty="0">
                <a:latin typeface="Times New Roman"/>
                <a:cs typeface="Times New Roman"/>
              </a:rPr>
              <a:t> </a:t>
            </a:r>
            <a:r>
              <a:rPr sz="800" spc="70" dirty="0">
                <a:latin typeface="Times New Roman"/>
                <a:cs typeface="Times New Roman"/>
              </a:rPr>
              <a:t>r.connect(p1)</a:t>
            </a:r>
            <a:endParaRPr sz="800">
              <a:latin typeface="Times New Roman"/>
              <a:cs typeface="Times New Roman"/>
            </a:endParaRPr>
          </a:p>
          <a:p>
            <a:pPr marL="83185">
              <a:lnSpc>
                <a:spcPts val="905"/>
              </a:lnSpc>
            </a:pPr>
            <a:r>
              <a:rPr sz="600" spc="55" dirty="0">
                <a:latin typeface="Times New Roman"/>
                <a:cs typeface="Times New Roman"/>
              </a:rPr>
              <a:t>9 </a:t>
            </a:r>
            <a:r>
              <a:rPr sz="600" spc="140" dirty="0">
                <a:latin typeface="Times New Roman"/>
                <a:cs typeface="Times New Roman"/>
              </a:rPr>
              <a:t> </a:t>
            </a:r>
            <a:r>
              <a:rPr sz="800" spc="70" dirty="0">
                <a:latin typeface="Times New Roman"/>
                <a:cs typeface="Times New Roman"/>
              </a:rPr>
              <a:t>r.connect(p2)</a:t>
            </a:r>
            <a:endParaRPr sz="800">
              <a:latin typeface="Times New Roman"/>
              <a:cs typeface="Times New Roman"/>
            </a:endParaRPr>
          </a:p>
          <a:p>
            <a:pPr marL="38100">
              <a:lnSpc>
                <a:spcPts val="685"/>
              </a:lnSpc>
              <a:spcBef>
                <a:spcPts val="95"/>
              </a:spcBef>
            </a:pPr>
            <a:r>
              <a:rPr sz="600" spc="55" dirty="0">
                <a:latin typeface="Times New Roman"/>
                <a:cs typeface="Times New Roman"/>
              </a:rPr>
              <a:t>10</a:t>
            </a:r>
            <a:endParaRPr sz="600">
              <a:latin typeface="Times New Roman"/>
              <a:cs typeface="Times New Roman"/>
            </a:endParaRPr>
          </a:p>
          <a:p>
            <a:pPr marL="38100">
              <a:lnSpc>
                <a:spcPts val="869"/>
              </a:lnSpc>
            </a:pPr>
            <a:r>
              <a:rPr sz="600" spc="55" dirty="0">
                <a:latin typeface="Times New Roman"/>
                <a:cs typeface="Times New Roman"/>
              </a:rPr>
              <a:t>11 </a:t>
            </a:r>
            <a:r>
              <a:rPr sz="600" spc="135" dirty="0">
                <a:latin typeface="Times New Roman"/>
                <a:cs typeface="Times New Roman"/>
              </a:rPr>
              <a:t> </a:t>
            </a:r>
            <a:r>
              <a:rPr sz="800" b="1" spc="55" dirty="0">
                <a:solidFill>
                  <a:srgbClr val="FF0059"/>
                </a:solidFill>
                <a:latin typeface="Times New Roman"/>
                <a:cs typeface="Times New Roman"/>
              </a:rPr>
              <a:t>while</a:t>
            </a:r>
            <a:r>
              <a:rPr sz="800" b="1" spc="45" dirty="0">
                <a:solidFill>
                  <a:srgbClr val="FF0059"/>
                </a:solidFill>
                <a:latin typeface="Times New Roman"/>
                <a:cs typeface="Times New Roman"/>
              </a:rPr>
              <a:t> </a:t>
            </a:r>
            <a:r>
              <a:rPr sz="800" spc="70" dirty="0">
                <a:latin typeface="Times New Roman"/>
                <a:cs typeface="Times New Roman"/>
              </a:rPr>
              <a:t>True:</a:t>
            </a:r>
            <a:endParaRPr sz="800">
              <a:latin typeface="Times New Roman"/>
              <a:cs typeface="Times New Roman"/>
            </a:endParaRPr>
          </a:p>
          <a:p>
            <a:pPr marL="38100">
              <a:lnSpc>
                <a:spcPts val="850"/>
              </a:lnSpc>
              <a:tabLst>
                <a:tab pos="297815" algn="l"/>
              </a:tabLst>
            </a:pPr>
            <a:r>
              <a:rPr sz="600" spc="55" dirty="0">
                <a:latin typeface="Times New Roman"/>
                <a:cs typeface="Times New Roman"/>
              </a:rPr>
              <a:t>12	</a:t>
            </a:r>
            <a:r>
              <a:rPr sz="800" spc="15" dirty="0">
                <a:latin typeface="Times New Roman"/>
                <a:cs typeface="Times New Roman"/>
              </a:rPr>
              <a:t>work</a:t>
            </a:r>
            <a:r>
              <a:rPr sz="800" spc="60" dirty="0">
                <a:latin typeface="Times New Roman"/>
                <a:cs typeface="Times New Roman"/>
              </a:rPr>
              <a:t> </a:t>
            </a:r>
            <a:r>
              <a:rPr sz="800" spc="25" dirty="0">
                <a:latin typeface="Times New Roman"/>
                <a:cs typeface="Times New Roman"/>
              </a:rPr>
              <a:t>=</a:t>
            </a:r>
            <a:r>
              <a:rPr sz="800" spc="65" dirty="0">
                <a:latin typeface="Times New Roman"/>
                <a:cs typeface="Times New Roman"/>
              </a:rPr>
              <a:t> </a:t>
            </a:r>
            <a:r>
              <a:rPr sz="800" spc="95" dirty="0">
                <a:latin typeface="Times New Roman"/>
                <a:cs typeface="Times New Roman"/>
              </a:rPr>
              <a:t>pickle.loads(r.recv())</a:t>
            </a:r>
            <a:endParaRPr sz="800">
              <a:latin typeface="Times New Roman"/>
              <a:cs typeface="Times New Roman"/>
            </a:endParaRPr>
          </a:p>
          <a:p>
            <a:pPr marL="38100">
              <a:lnSpc>
                <a:spcPts val="905"/>
              </a:lnSpc>
              <a:tabLst>
                <a:tab pos="297815" algn="l"/>
              </a:tabLst>
            </a:pPr>
            <a:r>
              <a:rPr sz="600" spc="55" dirty="0">
                <a:latin typeface="Times New Roman"/>
                <a:cs typeface="Times New Roman"/>
              </a:rPr>
              <a:t>13	</a:t>
            </a:r>
            <a:r>
              <a:rPr sz="800" spc="60" dirty="0">
                <a:latin typeface="Times New Roman"/>
                <a:cs typeface="Times New Roman"/>
              </a:rPr>
              <a:t>time.sleep(work[1]</a:t>
            </a:r>
            <a:r>
              <a:rPr sz="1200" spc="89" baseline="-10416" dirty="0">
                <a:latin typeface="Times New Roman"/>
                <a:cs typeface="Times New Roman"/>
              </a:rPr>
              <a:t>*</a:t>
            </a:r>
            <a:r>
              <a:rPr sz="800" spc="60" dirty="0">
                <a:latin typeface="Times New Roman"/>
                <a:cs typeface="Times New Roman"/>
              </a:rPr>
              <a:t>0.01)</a:t>
            </a:r>
            <a:endParaRPr sz="800">
              <a:latin typeface="Times New Roman"/>
              <a:cs typeface="Times New Roman"/>
            </a:endParaRPr>
          </a:p>
        </p:txBody>
      </p:sp>
      <p:sp>
        <p:nvSpPr>
          <p:cNvPr id="6" name="object 6"/>
          <p:cNvSpPr txBox="1"/>
          <p:nvPr/>
        </p:nvSpPr>
        <p:spPr>
          <a:xfrm>
            <a:off x="2189518" y="1525078"/>
            <a:ext cx="1456690" cy="579755"/>
          </a:xfrm>
          <a:prstGeom prst="rect">
            <a:avLst/>
          </a:prstGeom>
        </p:spPr>
        <p:txBody>
          <a:bodyPr vert="horz" wrap="square" lIns="0" tIns="12065" rIns="0" bIns="0" rtlCol="0">
            <a:spAutoFit/>
          </a:bodyPr>
          <a:lstStyle/>
          <a:p>
            <a:pPr marL="12700">
              <a:lnSpc>
                <a:spcPts val="905"/>
              </a:lnSpc>
              <a:spcBef>
                <a:spcPts val="95"/>
              </a:spcBef>
            </a:pPr>
            <a:r>
              <a:rPr sz="800" i="1" spc="75" dirty="0">
                <a:solidFill>
                  <a:srgbClr val="009600"/>
                </a:solidFill>
                <a:latin typeface="Times New Roman"/>
                <a:cs typeface="Times New Roman"/>
              </a:rPr>
              <a:t># </a:t>
            </a:r>
            <a:r>
              <a:rPr sz="800" i="1" spc="85" dirty="0">
                <a:solidFill>
                  <a:srgbClr val="009600"/>
                </a:solidFill>
                <a:latin typeface="Times New Roman"/>
                <a:cs typeface="Times New Roman"/>
              </a:rPr>
              <a:t>create</a:t>
            </a:r>
            <a:r>
              <a:rPr sz="800" i="1" spc="80" dirty="0">
                <a:solidFill>
                  <a:srgbClr val="009600"/>
                </a:solidFill>
                <a:latin typeface="Times New Roman"/>
                <a:cs typeface="Times New Roman"/>
              </a:rPr>
              <a:t> </a:t>
            </a:r>
            <a:r>
              <a:rPr sz="800" i="1" spc="75" dirty="0">
                <a:solidFill>
                  <a:srgbClr val="009600"/>
                </a:solidFill>
                <a:latin typeface="Times New Roman"/>
                <a:cs typeface="Times New Roman"/>
              </a:rPr>
              <a:t>a </a:t>
            </a:r>
            <a:r>
              <a:rPr sz="800" i="1" spc="114" dirty="0">
                <a:solidFill>
                  <a:srgbClr val="009600"/>
                </a:solidFill>
                <a:latin typeface="Times New Roman"/>
                <a:cs typeface="Times New Roman"/>
              </a:rPr>
              <a:t>pull</a:t>
            </a:r>
            <a:r>
              <a:rPr sz="800" i="1" spc="55" dirty="0">
                <a:solidFill>
                  <a:srgbClr val="009600"/>
                </a:solidFill>
                <a:latin typeface="Times New Roman"/>
                <a:cs typeface="Times New Roman"/>
              </a:rPr>
              <a:t> </a:t>
            </a:r>
            <a:r>
              <a:rPr sz="800" i="1" spc="85" dirty="0">
                <a:solidFill>
                  <a:srgbClr val="009600"/>
                </a:solidFill>
                <a:latin typeface="Times New Roman"/>
                <a:cs typeface="Times New Roman"/>
              </a:rPr>
              <a:t>socket</a:t>
            </a:r>
            <a:endParaRPr sz="800">
              <a:latin typeface="Times New Roman"/>
              <a:cs typeface="Times New Roman"/>
            </a:endParaRPr>
          </a:p>
          <a:p>
            <a:pPr marL="12700" marR="5080">
              <a:lnSpc>
                <a:spcPts val="850"/>
              </a:lnSpc>
              <a:spcBef>
                <a:spcPts val="65"/>
              </a:spcBef>
            </a:pPr>
            <a:r>
              <a:rPr sz="800" i="1" spc="75" dirty="0">
                <a:solidFill>
                  <a:srgbClr val="009600"/>
                </a:solidFill>
                <a:latin typeface="Times New Roman"/>
                <a:cs typeface="Times New Roman"/>
              </a:rPr>
              <a:t># </a:t>
            </a:r>
            <a:r>
              <a:rPr sz="800" i="1" spc="60" dirty="0">
                <a:solidFill>
                  <a:srgbClr val="009600"/>
                </a:solidFill>
                <a:latin typeface="Times New Roman"/>
                <a:cs typeface="Times New Roman"/>
              </a:rPr>
              <a:t>address </a:t>
            </a:r>
            <a:r>
              <a:rPr sz="800" i="1" spc="160" dirty="0">
                <a:solidFill>
                  <a:srgbClr val="009600"/>
                </a:solidFill>
                <a:latin typeface="Times New Roman"/>
                <a:cs typeface="Times New Roman"/>
              </a:rPr>
              <a:t>first </a:t>
            </a:r>
            <a:r>
              <a:rPr sz="800" i="1" spc="105" dirty="0">
                <a:solidFill>
                  <a:srgbClr val="009600"/>
                </a:solidFill>
                <a:latin typeface="Times New Roman"/>
                <a:cs typeface="Times New Roman"/>
              </a:rPr>
              <a:t>task </a:t>
            </a:r>
            <a:r>
              <a:rPr sz="800" i="1" spc="60" dirty="0">
                <a:solidFill>
                  <a:srgbClr val="009600"/>
                </a:solidFill>
                <a:latin typeface="Times New Roman"/>
                <a:cs typeface="Times New Roman"/>
              </a:rPr>
              <a:t>source </a:t>
            </a:r>
            <a:r>
              <a:rPr sz="800" i="1" spc="65" dirty="0">
                <a:solidFill>
                  <a:srgbClr val="009600"/>
                </a:solidFill>
                <a:latin typeface="Times New Roman"/>
                <a:cs typeface="Times New Roman"/>
              </a:rPr>
              <a:t> </a:t>
            </a:r>
            <a:r>
              <a:rPr sz="800" i="1" spc="75" dirty="0">
                <a:solidFill>
                  <a:srgbClr val="009600"/>
                </a:solidFill>
                <a:latin typeface="Times New Roman"/>
                <a:cs typeface="Times New Roman"/>
              </a:rPr>
              <a:t># </a:t>
            </a:r>
            <a:r>
              <a:rPr sz="800" i="1" spc="60" dirty="0">
                <a:solidFill>
                  <a:srgbClr val="009600"/>
                </a:solidFill>
                <a:latin typeface="Times New Roman"/>
                <a:cs typeface="Times New Roman"/>
              </a:rPr>
              <a:t>address </a:t>
            </a:r>
            <a:r>
              <a:rPr sz="800" i="1" spc="45" dirty="0">
                <a:solidFill>
                  <a:srgbClr val="009600"/>
                </a:solidFill>
                <a:latin typeface="Times New Roman"/>
                <a:cs typeface="Times New Roman"/>
              </a:rPr>
              <a:t>second </a:t>
            </a:r>
            <a:r>
              <a:rPr sz="800" i="1" spc="105" dirty="0">
                <a:solidFill>
                  <a:srgbClr val="009600"/>
                </a:solidFill>
                <a:latin typeface="Times New Roman"/>
                <a:cs typeface="Times New Roman"/>
              </a:rPr>
              <a:t>task </a:t>
            </a:r>
            <a:r>
              <a:rPr sz="800" i="1" spc="60" dirty="0">
                <a:solidFill>
                  <a:srgbClr val="009600"/>
                </a:solidFill>
                <a:latin typeface="Times New Roman"/>
                <a:cs typeface="Times New Roman"/>
              </a:rPr>
              <a:t>source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 </a:t>
            </a:r>
            <a:r>
              <a:rPr sz="800" i="1" spc="60" dirty="0">
                <a:solidFill>
                  <a:srgbClr val="009600"/>
                </a:solidFill>
                <a:latin typeface="Times New Roman"/>
                <a:cs typeface="Times New Roman"/>
              </a:rPr>
              <a:t>connect</a:t>
            </a:r>
            <a:r>
              <a:rPr sz="800" i="1" spc="70"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75" dirty="0">
                <a:solidFill>
                  <a:srgbClr val="009600"/>
                </a:solidFill>
                <a:latin typeface="Times New Roman"/>
                <a:cs typeface="Times New Roman"/>
              </a:rPr>
              <a:t> </a:t>
            </a:r>
            <a:r>
              <a:rPr sz="800" i="1" spc="105" dirty="0">
                <a:solidFill>
                  <a:srgbClr val="009600"/>
                </a:solidFill>
                <a:latin typeface="Times New Roman"/>
                <a:cs typeface="Times New Roman"/>
              </a:rPr>
              <a:t>task</a:t>
            </a:r>
            <a:r>
              <a:rPr sz="800" i="1" spc="60" dirty="0">
                <a:solidFill>
                  <a:srgbClr val="009600"/>
                </a:solidFill>
                <a:latin typeface="Times New Roman"/>
                <a:cs typeface="Times New Roman"/>
              </a:rPr>
              <a:t> source</a:t>
            </a:r>
            <a:r>
              <a:rPr sz="800" i="1" spc="85" dirty="0">
                <a:solidFill>
                  <a:srgbClr val="009600"/>
                </a:solidFill>
                <a:latin typeface="Times New Roman"/>
                <a:cs typeface="Times New Roman"/>
              </a:rPr>
              <a:t> </a:t>
            </a:r>
            <a:r>
              <a:rPr sz="800" i="1" spc="75" dirty="0">
                <a:solidFill>
                  <a:srgbClr val="009600"/>
                </a:solidFill>
                <a:latin typeface="Times New Roman"/>
                <a:cs typeface="Times New Roman"/>
              </a:rPr>
              <a:t>1</a:t>
            </a:r>
            <a:endParaRPr sz="800">
              <a:latin typeface="Times New Roman"/>
              <a:cs typeface="Times New Roman"/>
            </a:endParaRPr>
          </a:p>
          <a:p>
            <a:pPr marL="12700">
              <a:lnSpc>
                <a:spcPts val="844"/>
              </a:lnSpc>
            </a:pPr>
            <a:r>
              <a:rPr sz="800" i="1" spc="75" dirty="0">
                <a:solidFill>
                  <a:srgbClr val="009600"/>
                </a:solidFill>
                <a:latin typeface="Times New Roman"/>
                <a:cs typeface="Times New Roman"/>
              </a:rPr>
              <a:t># </a:t>
            </a:r>
            <a:r>
              <a:rPr sz="800" i="1" spc="60" dirty="0">
                <a:solidFill>
                  <a:srgbClr val="009600"/>
                </a:solidFill>
                <a:latin typeface="Times New Roman"/>
                <a:cs typeface="Times New Roman"/>
              </a:rPr>
              <a:t>connect</a:t>
            </a:r>
            <a:r>
              <a:rPr sz="800" i="1" spc="65"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70" dirty="0">
                <a:solidFill>
                  <a:srgbClr val="009600"/>
                </a:solidFill>
                <a:latin typeface="Times New Roman"/>
                <a:cs typeface="Times New Roman"/>
              </a:rPr>
              <a:t> </a:t>
            </a:r>
            <a:r>
              <a:rPr sz="800" i="1" spc="105" dirty="0">
                <a:solidFill>
                  <a:srgbClr val="009600"/>
                </a:solidFill>
                <a:latin typeface="Times New Roman"/>
                <a:cs typeface="Times New Roman"/>
              </a:rPr>
              <a:t>task</a:t>
            </a:r>
            <a:r>
              <a:rPr sz="800" i="1" spc="60" dirty="0">
                <a:solidFill>
                  <a:srgbClr val="009600"/>
                </a:solidFill>
                <a:latin typeface="Times New Roman"/>
                <a:cs typeface="Times New Roman"/>
              </a:rPr>
              <a:t> source</a:t>
            </a:r>
            <a:r>
              <a:rPr sz="800" i="1" spc="80" dirty="0">
                <a:solidFill>
                  <a:srgbClr val="009600"/>
                </a:solidFill>
                <a:latin typeface="Times New Roman"/>
                <a:cs typeface="Times New Roman"/>
              </a:rPr>
              <a:t> </a:t>
            </a:r>
            <a:r>
              <a:rPr sz="800" i="1" spc="75" dirty="0">
                <a:solidFill>
                  <a:srgbClr val="009600"/>
                </a:solidFill>
                <a:latin typeface="Times New Roman"/>
                <a:cs typeface="Times New Roman"/>
              </a:rPr>
              <a:t>2</a:t>
            </a:r>
            <a:endParaRPr sz="800">
              <a:latin typeface="Times New Roman"/>
              <a:cs typeface="Times New Roman"/>
            </a:endParaRPr>
          </a:p>
        </p:txBody>
      </p:sp>
      <p:sp>
        <p:nvSpPr>
          <p:cNvPr id="7" name="object 7"/>
          <p:cNvSpPr txBox="1"/>
          <p:nvPr/>
        </p:nvSpPr>
        <p:spPr>
          <a:xfrm>
            <a:off x="2189518" y="2282328"/>
            <a:ext cx="1456690" cy="255270"/>
          </a:xfrm>
          <a:prstGeom prst="rect">
            <a:avLst/>
          </a:prstGeom>
        </p:spPr>
        <p:txBody>
          <a:bodyPr vert="horz" wrap="square" lIns="0" tIns="27305" rIns="0" bIns="0" rtlCol="0">
            <a:spAutoFit/>
          </a:bodyPr>
          <a:lstStyle/>
          <a:p>
            <a:pPr marL="12700" marR="5080">
              <a:lnSpc>
                <a:spcPts val="850"/>
              </a:lnSpc>
              <a:spcBef>
                <a:spcPts val="215"/>
              </a:spcBef>
            </a:pPr>
            <a:r>
              <a:rPr sz="800" i="1" spc="75" dirty="0">
                <a:solidFill>
                  <a:srgbClr val="009600"/>
                </a:solidFill>
                <a:latin typeface="Times New Roman"/>
                <a:cs typeface="Times New Roman"/>
              </a:rPr>
              <a:t># </a:t>
            </a:r>
            <a:r>
              <a:rPr sz="800" i="1" spc="85" dirty="0">
                <a:solidFill>
                  <a:srgbClr val="009600"/>
                </a:solidFill>
                <a:latin typeface="Times New Roman"/>
                <a:cs typeface="Times New Roman"/>
              </a:rPr>
              <a:t>receive</a:t>
            </a:r>
            <a:r>
              <a:rPr sz="800" i="1" spc="60" dirty="0">
                <a:solidFill>
                  <a:srgbClr val="009600"/>
                </a:solidFill>
                <a:latin typeface="Times New Roman"/>
                <a:cs typeface="Times New Roman"/>
              </a:rPr>
              <a:t> </a:t>
            </a:r>
            <a:r>
              <a:rPr sz="800" i="1" spc="25" dirty="0">
                <a:solidFill>
                  <a:srgbClr val="009600"/>
                </a:solidFill>
                <a:latin typeface="Times New Roman"/>
                <a:cs typeface="Times New Roman"/>
              </a:rPr>
              <a:t>work</a:t>
            </a:r>
            <a:r>
              <a:rPr sz="800" i="1" spc="65" dirty="0">
                <a:solidFill>
                  <a:srgbClr val="009600"/>
                </a:solidFill>
                <a:latin typeface="Times New Roman"/>
                <a:cs typeface="Times New Roman"/>
              </a:rPr>
              <a:t> </a:t>
            </a:r>
            <a:r>
              <a:rPr sz="800" i="1" spc="50" dirty="0">
                <a:solidFill>
                  <a:srgbClr val="009600"/>
                </a:solidFill>
                <a:latin typeface="Times New Roman"/>
                <a:cs typeface="Times New Roman"/>
              </a:rPr>
              <a:t>from</a:t>
            </a:r>
            <a:r>
              <a:rPr sz="800" i="1" spc="80" dirty="0">
                <a:solidFill>
                  <a:srgbClr val="009600"/>
                </a:solidFill>
                <a:latin typeface="Times New Roman"/>
                <a:cs typeface="Times New Roman"/>
              </a:rPr>
              <a:t> </a:t>
            </a:r>
            <a:r>
              <a:rPr sz="800" i="1" spc="75" dirty="0">
                <a:solidFill>
                  <a:srgbClr val="009600"/>
                </a:solidFill>
                <a:latin typeface="Times New Roman"/>
                <a:cs typeface="Times New Roman"/>
              </a:rPr>
              <a:t>a</a:t>
            </a:r>
            <a:r>
              <a:rPr sz="800" i="1" spc="85" dirty="0">
                <a:solidFill>
                  <a:srgbClr val="009600"/>
                </a:solidFill>
                <a:latin typeface="Times New Roman"/>
                <a:cs typeface="Times New Roman"/>
              </a:rPr>
              <a:t> </a:t>
            </a:r>
            <a:r>
              <a:rPr sz="800" i="1" spc="60" dirty="0">
                <a:solidFill>
                  <a:srgbClr val="009600"/>
                </a:solidFill>
                <a:latin typeface="Times New Roman"/>
                <a:cs typeface="Times New Roman"/>
              </a:rPr>
              <a:t>source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65" dirty="0">
                <a:solidFill>
                  <a:srgbClr val="009600"/>
                </a:solidFill>
                <a:latin typeface="Times New Roman"/>
                <a:cs typeface="Times New Roman"/>
              </a:rPr>
              <a:t>pretend</a:t>
            </a:r>
            <a:r>
              <a:rPr sz="800" i="1" spc="70"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80" dirty="0">
                <a:solidFill>
                  <a:srgbClr val="009600"/>
                </a:solidFill>
                <a:latin typeface="Times New Roman"/>
                <a:cs typeface="Times New Roman"/>
              </a:rPr>
              <a:t> </a:t>
            </a:r>
            <a:r>
              <a:rPr sz="800" i="1" spc="25" dirty="0">
                <a:solidFill>
                  <a:srgbClr val="009600"/>
                </a:solidFill>
                <a:latin typeface="Times New Roman"/>
                <a:cs typeface="Times New Roman"/>
              </a:rPr>
              <a:t>work</a:t>
            </a:r>
            <a:endParaRPr sz="800">
              <a:latin typeface="Times New Roman"/>
              <a:cs typeface="Times New Roman"/>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752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Message-oriented</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480558" y="716"/>
            <a:ext cx="10610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Advanced</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transient</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messaging</a:t>
            </a:r>
            <a:endParaRPr sz="600">
              <a:latin typeface="Arial"/>
              <a:cs typeface="Arial"/>
            </a:endParaRPr>
          </a:p>
        </p:txBody>
      </p:sp>
      <p:sp>
        <p:nvSpPr>
          <p:cNvPr id="4" name="object 4"/>
          <p:cNvSpPr txBox="1"/>
          <p:nvPr/>
        </p:nvSpPr>
        <p:spPr>
          <a:xfrm>
            <a:off x="95300" y="162640"/>
            <a:ext cx="3037840" cy="474345"/>
          </a:xfrm>
          <a:prstGeom prst="rect">
            <a:avLst/>
          </a:prstGeom>
        </p:spPr>
        <p:txBody>
          <a:bodyPr vert="horz" wrap="square" lIns="0" tIns="43180" rIns="0" bIns="0" rtlCol="0">
            <a:spAutoFit/>
          </a:bodyPr>
          <a:lstStyle/>
          <a:p>
            <a:pPr marL="12700">
              <a:lnSpc>
                <a:spcPct val="100000"/>
              </a:lnSpc>
              <a:spcBef>
                <a:spcPts val="340"/>
              </a:spcBef>
            </a:pPr>
            <a:r>
              <a:rPr sz="1400" spc="15" dirty="0">
                <a:solidFill>
                  <a:srgbClr val="3333B2"/>
                </a:solidFill>
                <a:latin typeface="Arial"/>
                <a:cs typeface="Arial"/>
              </a:rPr>
              <a:t>MPI:</a:t>
            </a:r>
            <a:r>
              <a:rPr sz="1400" spc="5" dirty="0">
                <a:solidFill>
                  <a:srgbClr val="3333B2"/>
                </a:solidFill>
                <a:latin typeface="Arial"/>
                <a:cs typeface="Arial"/>
              </a:rPr>
              <a:t> </a:t>
            </a:r>
            <a:r>
              <a:rPr sz="1400" spc="20" dirty="0">
                <a:solidFill>
                  <a:srgbClr val="3333B2"/>
                </a:solidFill>
                <a:latin typeface="Arial"/>
                <a:cs typeface="Arial"/>
              </a:rPr>
              <a:t>When</a:t>
            </a:r>
            <a:r>
              <a:rPr sz="1400" spc="5" dirty="0">
                <a:solidFill>
                  <a:srgbClr val="3333B2"/>
                </a:solidFill>
                <a:latin typeface="Arial"/>
                <a:cs typeface="Arial"/>
              </a:rPr>
              <a:t> </a:t>
            </a:r>
            <a:r>
              <a:rPr sz="1400" spc="10" dirty="0">
                <a:solidFill>
                  <a:srgbClr val="3333B2"/>
                </a:solidFill>
                <a:latin typeface="Arial"/>
                <a:cs typeface="Arial"/>
              </a:rPr>
              <a:t>lots</a:t>
            </a:r>
            <a:r>
              <a:rPr sz="1400" spc="5" dirty="0">
                <a:solidFill>
                  <a:srgbClr val="3333B2"/>
                </a:solidFill>
                <a:latin typeface="Arial"/>
                <a:cs typeface="Arial"/>
              </a:rPr>
              <a:t> </a:t>
            </a:r>
            <a:r>
              <a:rPr sz="1400" spc="10" dirty="0">
                <a:solidFill>
                  <a:srgbClr val="3333B2"/>
                </a:solidFill>
                <a:latin typeface="Arial"/>
                <a:cs typeface="Arial"/>
              </a:rPr>
              <a:t>of</a:t>
            </a:r>
            <a:r>
              <a:rPr sz="1400" spc="5" dirty="0">
                <a:solidFill>
                  <a:srgbClr val="3333B2"/>
                </a:solidFill>
                <a:latin typeface="Arial"/>
                <a:cs typeface="Arial"/>
              </a:rPr>
              <a:t> flexibility </a:t>
            </a:r>
            <a:r>
              <a:rPr sz="1400" spc="10" dirty="0">
                <a:solidFill>
                  <a:srgbClr val="3333B2"/>
                </a:solidFill>
                <a:latin typeface="Arial"/>
                <a:cs typeface="Arial"/>
              </a:rPr>
              <a:t>is</a:t>
            </a:r>
            <a:r>
              <a:rPr sz="1400" spc="5" dirty="0">
                <a:solidFill>
                  <a:srgbClr val="3333B2"/>
                </a:solidFill>
                <a:latin typeface="Arial"/>
                <a:cs typeface="Arial"/>
              </a:rPr>
              <a:t> </a:t>
            </a:r>
            <a:r>
              <a:rPr sz="1400" spc="15" dirty="0">
                <a:solidFill>
                  <a:srgbClr val="3333B2"/>
                </a:solidFill>
                <a:latin typeface="Arial"/>
                <a:cs typeface="Arial"/>
              </a:rPr>
              <a:t>needed</a:t>
            </a:r>
            <a:endParaRPr sz="1400" dirty="0">
              <a:latin typeface="Arial"/>
              <a:cs typeface="Arial"/>
            </a:endParaRPr>
          </a:p>
          <a:p>
            <a:pPr marL="264160">
              <a:lnSpc>
                <a:spcPct val="100000"/>
              </a:lnSpc>
              <a:spcBef>
                <a:spcPts val="175"/>
              </a:spcBef>
            </a:pPr>
            <a:r>
              <a:rPr sz="1200" spc="-5" dirty="0">
                <a:solidFill>
                  <a:srgbClr val="3333B2"/>
                </a:solidFill>
                <a:latin typeface="Arial"/>
                <a:cs typeface="Arial"/>
              </a:rPr>
              <a:t>Representative</a:t>
            </a:r>
            <a:r>
              <a:rPr sz="1200" spc="-45" dirty="0">
                <a:solidFill>
                  <a:srgbClr val="3333B2"/>
                </a:solidFill>
                <a:latin typeface="Arial"/>
                <a:cs typeface="Arial"/>
              </a:rPr>
              <a:t> </a:t>
            </a:r>
            <a:r>
              <a:rPr sz="1200" spc="-5" dirty="0">
                <a:solidFill>
                  <a:srgbClr val="3333B2"/>
                </a:solidFill>
                <a:latin typeface="Arial"/>
                <a:cs typeface="Arial"/>
              </a:rPr>
              <a:t>operations</a:t>
            </a:r>
            <a:endParaRPr sz="1200" dirty="0">
              <a:latin typeface="Arial"/>
              <a:cs typeface="Arial"/>
            </a:endParaRPr>
          </a:p>
        </p:txBody>
      </p:sp>
      <p:sp>
        <p:nvSpPr>
          <p:cNvPr id="5" name="object 5"/>
          <p:cNvSpPr/>
          <p:nvPr/>
        </p:nvSpPr>
        <p:spPr>
          <a:xfrm>
            <a:off x="691426" y="1079385"/>
            <a:ext cx="38100" cy="0"/>
          </a:xfrm>
          <a:custGeom>
            <a:avLst/>
            <a:gdLst/>
            <a:ahLst/>
            <a:cxnLst/>
            <a:rect l="l" t="t" r="r" b="b"/>
            <a:pathLst>
              <a:path w="38100">
                <a:moveTo>
                  <a:pt x="0" y="0"/>
                </a:moveTo>
                <a:lnTo>
                  <a:pt x="37960" y="0"/>
                </a:lnTo>
              </a:path>
            </a:pathLst>
          </a:custGeom>
          <a:ln w="5054">
            <a:solidFill>
              <a:srgbClr val="000000"/>
            </a:solidFill>
          </a:ln>
        </p:spPr>
        <p:txBody>
          <a:bodyPr wrap="square" lIns="0" tIns="0" rIns="0" bIns="0" rtlCol="0"/>
          <a:lstStyle/>
          <a:p>
            <a:endParaRPr/>
          </a:p>
        </p:txBody>
      </p:sp>
      <p:sp>
        <p:nvSpPr>
          <p:cNvPr id="6" name="object 6"/>
          <p:cNvSpPr/>
          <p:nvPr/>
        </p:nvSpPr>
        <p:spPr>
          <a:xfrm>
            <a:off x="691426" y="1261592"/>
            <a:ext cx="38100" cy="0"/>
          </a:xfrm>
          <a:custGeom>
            <a:avLst/>
            <a:gdLst/>
            <a:ahLst/>
            <a:cxnLst/>
            <a:rect l="l" t="t" r="r" b="b"/>
            <a:pathLst>
              <a:path w="38100">
                <a:moveTo>
                  <a:pt x="0" y="0"/>
                </a:moveTo>
                <a:lnTo>
                  <a:pt x="37960" y="0"/>
                </a:lnTo>
              </a:path>
            </a:pathLst>
          </a:custGeom>
          <a:ln w="5054">
            <a:solidFill>
              <a:srgbClr val="000000"/>
            </a:solidFill>
          </a:ln>
        </p:spPr>
        <p:txBody>
          <a:bodyPr wrap="square" lIns="0" tIns="0" rIns="0" bIns="0" rtlCol="0"/>
          <a:lstStyle/>
          <a:p>
            <a:endParaRPr/>
          </a:p>
        </p:txBody>
      </p:sp>
      <p:sp>
        <p:nvSpPr>
          <p:cNvPr id="7" name="object 7"/>
          <p:cNvSpPr/>
          <p:nvPr/>
        </p:nvSpPr>
        <p:spPr>
          <a:xfrm>
            <a:off x="691426" y="1595615"/>
            <a:ext cx="38100" cy="0"/>
          </a:xfrm>
          <a:custGeom>
            <a:avLst/>
            <a:gdLst/>
            <a:ahLst/>
            <a:cxnLst/>
            <a:rect l="l" t="t" r="r" b="b"/>
            <a:pathLst>
              <a:path w="38100">
                <a:moveTo>
                  <a:pt x="0" y="0"/>
                </a:moveTo>
                <a:lnTo>
                  <a:pt x="37960" y="0"/>
                </a:lnTo>
              </a:path>
            </a:pathLst>
          </a:custGeom>
          <a:ln w="5054">
            <a:solidFill>
              <a:srgbClr val="000000"/>
            </a:solidFill>
          </a:ln>
        </p:spPr>
        <p:txBody>
          <a:bodyPr wrap="square" lIns="0" tIns="0" rIns="0" bIns="0" rtlCol="0"/>
          <a:lstStyle/>
          <a:p>
            <a:endParaRPr/>
          </a:p>
        </p:txBody>
      </p:sp>
      <p:sp>
        <p:nvSpPr>
          <p:cNvPr id="8" name="object 8"/>
          <p:cNvSpPr/>
          <p:nvPr/>
        </p:nvSpPr>
        <p:spPr>
          <a:xfrm>
            <a:off x="691426" y="1929638"/>
            <a:ext cx="38100" cy="0"/>
          </a:xfrm>
          <a:custGeom>
            <a:avLst/>
            <a:gdLst/>
            <a:ahLst/>
            <a:cxnLst/>
            <a:rect l="l" t="t" r="r" b="b"/>
            <a:pathLst>
              <a:path w="38100">
                <a:moveTo>
                  <a:pt x="0" y="0"/>
                </a:moveTo>
                <a:lnTo>
                  <a:pt x="37960" y="0"/>
                </a:lnTo>
              </a:path>
            </a:pathLst>
          </a:custGeom>
          <a:ln w="5054">
            <a:solidFill>
              <a:srgbClr val="000000"/>
            </a:solidFill>
          </a:ln>
        </p:spPr>
        <p:txBody>
          <a:bodyPr wrap="square" lIns="0" tIns="0" rIns="0" bIns="0" rtlCol="0"/>
          <a:lstStyle/>
          <a:p>
            <a:endParaRPr/>
          </a:p>
        </p:txBody>
      </p:sp>
      <p:sp>
        <p:nvSpPr>
          <p:cNvPr id="9" name="object 9"/>
          <p:cNvSpPr/>
          <p:nvPr/>
        </p:nvSpPr>
        <p:spPr>
          <a:xfrm>
            <a:off x="691426" y="2111832"/>
            <a:ext cx="38100" cy="0"/>
          </a:xfrm>
          <a:custGeom>
            <a:avLst/>
            <a:gdLst/>
            <a:ahLst/>
            <a:cxnLst/>
            <a:rect l="l" t="t" r="r" b="b"/>
            <a:pathLst>
              <a:path w="38100">
                <a:moveTo>
                  <a:pt x="0" y="0"/>
                </a:moveTo>
                <a:lnTo>
                  <a:pt x="37960" y="0"/>
                </a:lnTo>
              </a:path>
            </a:pathLst>
          </a:custGeom>
          <a:ln w="5054">
            <a:solidFill>
              <a:srgbClr val="000000"/>
            </a:solidFill>
          </a:ln>
        </p:spPr>
        <p:txBody>
          <a:bodyPr wrap="square" lIns="0" tIns="0" rIns="0" bIns="0" rtlCol="0"/>
          <a:lstStyle/>
          <a:p>
            <a:endParaRPr/>
          </a:p>
        </p:txBody>
      </p:sp>
      <p:sp>
        <p:nvSpPr>
          <p:cNvPr id="10" name="object 10"/>
          <p:cNvSpPr/>
          <p:nvPr/>
        </p:nvSpPr>
        <p:spPr>
          <a:xfrm>
            <a:off x="691426" y="2445867"/>
            <a:ext cx="38100" cy="0"/>
          </a:xfrm>
          <a:custGeom>
            <a:avLst/>
            <a:gdLst/>
            <a:ahLst/>
            <a:cxnLst/>
            <a:rect l="l" t="t" r="r" b="b"/>
            <a:pathLst>
              <a:path w="38100">
                <a:moveTo>
                  <a:pt x="0" y="0"/>
                </a:moveTo>
                <a:lnTo>
                  <a:pt x="37960" y="0"/>
                </a:lnTo>
              </a:path>
            </a:pathLst>
          </a:custGeom>
          <a:ln w="5054">
            <a:solidFill>
              <a:srgbClr val="000000"/>
            </a:solidFill>
          </a:ln>
        </p:spPr>
        <p:txBody>
          <a:bodyPr wrap="square" lIns="0" tIns="0" rIns="0" bIns="0" rtlCol="0"/>
          <a:lstStyle/>
          <a:p>
            <a:endParaRPr/>
          </a:p>
        </p:txBody>
      </p:sp>
      <p:sp>
        <p:nvSpPr>
          <p:cNvPr id="11" name="object 11"/>
          <p:cNvSpPr/>
          <p:nvPr/>
        </p:nvSpPr>
        <p:spPr>
          <a:xfrm>
            <a:off x="691426" y="2779890"/>
            <a:ext cx="38100" cy="0"/>
          </a:xfrm>
          <a:custGeom>
            <a:avLst/>
            <a:gdLst/>
            <a:ahLst/>
            <a:cxnLst/>
            <a:rect l="l" t="t" r="r" b="b"/>
            <a:pathLst>
              <a:path w="38100">
                <a:moveTo>
                  <a:pt x="0" y="0"/>
                </a:moveTo>
                <a:lnTo>
                  <a:pt x="37960" y="0"/>
                </a:lnTo>
              </a:path>
            </a:pathLst>
          </a:custGeom>
          <a:ln w="5054">
            <a:solidFill>
              <a:srgbClr val="000000"/>
            </a:solidFill>
          </a:ln>
        </p:spPr>
        <p:txBody>
          <a:bodyPr wrap="square" lIns="0" tIns="0" rIns="0" bIns="0" rtlCol="0"/>
          <a:lstStyle/>
          <a:p>
            <a:endParaRPr/>
          </a:p>
        </p:txBody>
      </p:sp>
      <p:sp>
        <p:nvSpPr>
          <p:cNvPr id="12" name="object 12"/>
          <p:cNvSpPr/>
          <p:nvPr/>
        </p:nvSpPr>
        <p:spPr>
          <a:xfrm>
            <a:off x="691426" y="2962084"/>
            <a:ext cx="38100" cy="0"/>
          </a:xfrm>
          <a:custGeom>
            <a:avLst/>
            <a:gdLst/>
            <a:ahLst/>
            <a:cxnLst/>
            <a:rect l="l" t="t" r="r" b="b"/>
            <a:pathLst>
              <a:path w="38100">
                <a:moveTo>
                  <a:pt x="0" y="0"/>
                </a:moveTo>
                <a:lnTo>
                  <a:pt x="37960" y="0"/>
                </a:lnTo>
              </a:path>
            </a:pathLst>
          </a:custGeom>
          <a:ln w="5054">
            <a:solidFill>
              <a:srgbClr val="000000"/>
            </a:solidFill>
          </a:ln>
        </p:spPr>
        <p:txBody>
          <a:bodyPr wrap="square" lIns="0" tIns="0" rIns="0" bIns="0" rtlCol="0"/>
          <a:lstStyle/>
          <a:p>
            <a:endParaRPr/>
          </a:p>
        </p:txBody>
      </p:sp>
      <p:graphicFrame>
        <p:nvGraphicFramePr>
          <p:cNvPr id="13" name="object 13"/>
          <p:cNvGraphicFramePr>
            <a:graphicFrameLocks noGrp="1"/>
          </p:cNvGraphicFramePr>
          <p:nvPr/>
        </p:nvGraphicFramePr>
        <p:xfrm>
          <a:off x="413067" y="748157"/>
          <a:ext cx="3776979" cy="2420620"/>
        </p:xfrm>
        <a:graphic>
          <a:graphicData uri="http://schemas.openxmlformats.org/drawingml/2006/table">
            <a:tbl>
              <a:tblPr firstRow="1" bandRow="1">
                <a:tableStyleId>{2D5ABB26-0587-4C30-8999-92F81FD0307C}</a:tableStyleId>
              </a:tblPr>
              <a:tblGrid>
                <a:gridCol w="898525">
                  <a:extLst>
                    <a:ext uri="{9D8B030D-6E8A-4147-A177-3AD203B41FA5}">
                      <a16:colId xmlns:a16="http://schemas.microsoft.com/office/drawing/2014/main" val="20000"/>
                    </a:ext>
                  </a:extLst>
                </a:gridCol>
                <a:gridCol w="2878454">
                  <a:extLst>
                    <a:ext uri="{9D8B030D-6E8A-4147-A177-3AD203B41FA5}">
                      <a16:colId xmlns:a16="http://schemas.microsoft.com/office/drawing/2014/main" val="20001"/>
                    </a:ext>
                  </a:extLst>
                </a:gridCol>
              </a:tblGrid>
              <a:tr h="193675">
                <a:tc>
                  <a:txBody>
                    <a:bodyPr/>
                    <a:lstStyle/>
                    <a:p>
                      <a:pPr marL="78105">
                        <a:lnSpc>
                          <a:spcPct val="100000"/>
                        </a:lnSpc>
                        <a:spcBef>
                          <a:spcPts val="25"/>
                        </a:spcBef>
                      </a:pPr>
                      <a:r>
                        <a:rPr sz="1000" b="1" spc="-5" dirty="0">
                          <a:latin typeface="Arial"/>
                          <a:cs typeface="Arial"/>
                        </a:rPr>
                        <a:t>Operation</a:t>
                      </a:r>
                      <a:endParaRPr sz="1000" dirty="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5"/>
                        </a:spcBef>
                      </a:pPr>
                      <a:r>
                        <a:rPr sz="1000" b="1" spc="-5" dirty="0">
                          <a:latin typeface="Arial"/>
                          <a:cs typeface="Arial"/>
                        </a:rPr>
                        <a:t>Description</a:t>
                      </a:r>
                      <a:endParaRPr sz="1000" dirty="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85420">
                <a:tc>
                  <a:txBody>
                    <a:bodyPr/>
                    <a:lstStyle/>
                    <a:p>
                      <a:pPr marL="71755">
                        <a:lnSpc>
                          <a:spcPct val="100000"/>
                        </a:lnSpc>
                        <a:spcBef>
                          <a:spcPts val="80"/>
                        </a:spcBef>
                      </a:pPr>
                      <a:r>
                        <a:rPr sz="1000" spc="-100" dirty="0">
                          <a:latin typeface="Times New Roman"/>
                          <a:cs typeface="Times New Roman"/>
                        </a:rPr>
                        <a:t>MP</a:t>
                      </a:r>
                      <a:r>
                        <a:rPr sz="1000" dirty="0">
                          <a:latin typeface="Times New Roman"/>
                          <a:cs typeface="Times New Roman"/>
                        </a:rPr>
                        <a:t>I</a:t>
                      </a:r>
                      <a:r>
                        <a:rPr sz="1000" spc="5" dirty="0">
                          <a:latin typeface="Times New Roman"/>
                          <a:cs typeface="Times New Roman"/>
                        </a:rPr>
                        <a:t> </a:t>
                      </a:r>
                      <a:r>
                        <a:rPr sz="1000" spc="-100" dirty="0">
                          <a:latin typeface="Times New Roman"/>
                          <a:cs typeface="Times New Roman"/>
                        </a:rPr>
                        <a:t>bsen</a:t>
                      </a:r>
                      <a:r>
                        <a:rPr sz="1000" dirty="0">
                          <a:latin typeface="Times New Roman"/>
                          <a:cs typeface="Times New Roman"/>
                        </a:rPr>
                        <a:t>d</a:t>
                      </a:r>
                    </a:p>
                  </a:txBody>
                  <a:tcPr marL="0" marR="0" marT="10160" marB="0">
                    <a:lnL w="6350">
                      <a:solidFill>
                        <a:srgbClr val="000000"/>
                      </a:solidFill>
                      <a:prstDash val="solid"/>
                    </a:lnL>
                    <a:lnR w="6350">
                      <a:solidFill>
                        <a:srgbClr val="000000"/>
                      </a:solidFill>
                      <a:prstDash val="solid"/>
                    </a:lnR>
                    <a:lnT w="19050">
                      <a:solidFill>
                        <a:srgbClr val="000000"/>
                      </a:solidFill>
                      <a:prstDash val="solid"/>
                    </a:lnT>
                  </a:tcPr>
                </a:tc>
                <a:tc>
                  <a:txBody>
                    <a:bodyPr/>
                    <a:lstStyle/>
                    <a:p>
                      <a:pPr marL="78105">
                        <a:lnSpc>
                          <a:spcPct val="100000"/>
                        </a:lnSpc>
                        <a:spcBef>
                          <a:spcPts val="80"/>
                        </a:spcBef>
                      </a:pPr>
                      <a:r>
                        <a:rPr sz="1000" spc="-5" dirty="0">
                          <a:latin typeface="Arial"/>
                          <a:cs typeface="Arial"/>
                        </a:rPr>
                        <a:t>Append</a:t>
                      </a:r>
                      <a:r>
                        <a:rPr sz="1000" spc="-10" dirty="0">
                          <a:latin typeface="Arial"/>
                          <a:cs typeface="Arial"/>
                        </a:rPr>
                        <a:t> </a:t>
                      </a:r>
                      <a:r>
                        <a:rPr sz="1000" spc="-5" dirty="0">
                          <a:latin typeface="Arial"/>
                          <a:cs typeface="Arial"/>
                        </a:rPr>
                        <a:t>outgoing message to a local send </a:t>
                      </a:r>
                      <a:r>
                        <a:rPr sz="1000" spc="-10" dirty="0">
                          <a:latin typeface="Arial"/>
                          <a:cs typeface="Arial"/>
                        </a:rPr>
                        <a:t>buffer</a:t>
                      </a:r>
                      <a:endParaRPr sz="1000" dirty="0">
                        <a:latin typeface="Arial"/>
                        <a:cs typeface="Arial"/>
                      </a:endParaRPr>
                    </a:p>
                  </a:txBody>
                  <a:tcPr marL="0" marR="0" marT="10160" marB="0">
                    <a:lnL w="6350">
                      <a:solidFill>
                        <a:srgbClr val="000000"/>
                      </a:solidFill>
                      <a:prstDash val="solid"/>
                    </a:lnL>
                    <a:lnR w="6350">
                      <a:solidFill>
                        <a:srgbClr val="000000"/>
                      </a:solidFill>
                      <a:prstDash val="solid"/>
                    </a:lnR>
                    <a:lnT w="19050">
                      <a:solidFill>
                        <a:srgbClr val="000000"/>
                      </a:solidFill>
                      <a:prstDash val="solid"/>
                    </a:lnT>
                  </a:tcPr>
                </a:tc>
                <a:extLst>
                  <a:ext uri="{0D108BD9-81ED-4DB2-BD59-A6C34878D82A}">
                    <a16:rowId xmlns:a16="http://schemas.microsoft.com/office/drawing/2014/main" val="10001"/>
                  </a:ext>
                </a:extLst>
              </a:tr>
              <a:tr h="334010">
                <a:tc>
                  <a:txBody>
                    <a:bodyPr/>
                    <a:lstStyle/>
                    <a:p>
                      <a:pPr marL="71755">
                        <a:lnSpc>
                          <a:spcPct val="100000"/>
                        </a:lnSpc>
                        <a:spcBef>
                          <a:spcPts val="50"/>
                        </a:spcBef>
                      </a:pPr>
                      <a:r>
                        <a:rPr sz="1000" spc="-100" dirty="0">
                          <a:latin typeface="Times New Roman"/>
                          <a:cs typeface="Times New Roman"/>
                        </a:rPr>
                        <a:t>MP</a:t>
                      </a:r>
                      <a:r>
                        <a:rPr sz="1000" dirty="0">
                          <a:latin typeface="Times New Roman"/>
                          <a:cs typeface="Times New Roman"/>
                        </a:rPr>
                        <a:t>I</a:t>
                      </a:r>
                      <a:r>
                        <a:rPr sz="1000" spc="5" dirty="0">
                          <a:latin typeface="Times New Roman"/>
                          <a:cs typeface="Times New Roman"/>
                        </a:rPr>
                        <a:t> </a:t>
                      </a:r>
                      <a:r>
                        <a:rPr sz="1000" spc="-100" dirty="0">
                          <a:latin typeface="Times New Roman"/>
                          <a:cs typeface="Times New Roman"/>
                        </a:rPr>
                        <a:t>sen</a:t>
                      </a:r>
                      <a:r>
                        <a:rPr sz="1000" dirty="0">
                          <a:latin typeface="Times New Roman"/>
                          <a:cs typeface="Times New Roman"/>
                        </a:rPr>
                        <a:t>d</a:t>
                      </a:r>
                    </a:p>
                  </a:txBody>
                  <a:tcPr marL="0" marR="0" marT="6350" marB="0">
                    <a:lnL w="6350">
                      <a:solidFill>
                        <a:srgbClr val="000000"/>
                      </a:solidFill>
                      <a:prstDash val="solid"/>
                    </a:lnL>
                    <a:lnR w="6350">
                      <a:solidFill>
                        <a:srgbClr val="000000"/>
                      </a:solidFill>
                      <a:prstDash val="solid"/>
                    </a:lnR>
                  </a:tcPr>
                </a:tc>
                <a:tc>
                  <a:txBody>
                    <a:bodyPr/>
                    <a:lstStyle/>
                    <a:p>
                      <a:pPr marL="78105" marR="79375">
                        <a:lnSpc>
                          <a:spcPct val="100000"/>
                        </a:lnSpc>
                        <a:spcBef>
                          <a:spcPts val="50"/>
                        </a:spcBef>
                      </a:pPr>
                      <a:r>
                        <a:rPr sz="1000" spc="-5" dirty="0">
                          <a:latin typeface="Arial"/>
                          <a:cs typeface="Arial"/>
                        </a:rPr>
                        <a:t>Send a</a:t>
                      </a:r>
                      <a:r>
                        <a:rPr sz="1000" dirty="0">
                          <a:latin typeface="Arial"/>
                          <a:cs typeface="Arial"/>
                        </a:rPr>
                        <a:t> </a:t>
                      </a:r>
                      <a:r>
                        <a:rPr sz="1000" spc="-5" dirty="0">
                          <a:latin typeface="Arial"/>
                          <a:cs typeface="Arial"/>
                        </a:rPr>
                        <a:t>message and</a:t>
                      </a:r>
                      <a:r>
                        <a:rPr sz="1000" dirty="0">
                          <a:latin typeface="Arial"/>
                          <a:cs typeface="Arial"/>
                        </a:rPr>
                        <a:t> </a:t>
                      </a:r>
                      <a:r>
                        <a:rPr sz="1000" spc="-10" dirty="0">
                          <a:latin typeface="Arial"/>
                          <a:cs typeface="Arial"/>
                        </a:rPr>
                        <a:t>wait</a:t>
                      </a:r>
                      <a:r>
                        <a:rPr sz="1000" spc="-5" dirty="0">
                          <a:latin typeface="Arial"/>
                          <a:cs typeface="Arial"/>
                        </a:rPr>
                        <a:t> until</a:t>
                      </a:r>
                      <a:r>
                        <a:rPr sz="1000" dirty="0">
                          <a:latin typeface="Arial"/>
                          <a:cs typeface="Arial"/>
                        </a:rPr>
                        <a:t> </a:t>
                      </a:r>
                      <a:r>
                        <a:rPr sz="1000" spc="-5" dirty="0">
                          <a:latin typeface="Arial"/>
                          <a:cs typeface="Arial"/>
                        </a:rPr>
                        <a:t>copied to</a:t>
                      </a:r>
                      <a:r>
                        <a:rPr sz="1000" dirty="0">
                          <a:latin typeface="Arial"/>
                          <a:cs typeface="Arial"/>
                        </a:rPr>
                        <a:t> </a:t>
                      </a:r>
                      <a:r>
                        <a:rPr sz="1000" spc="-5" dirty="0">
                          <a:latin typeface="Arial"/>
                          <a:cs typeface="Arial"/>
                        </a:rPr>
                        <a:t>local or </a:t>
                      </a:r>
                      <a:r>
                        <a:rPr sz="1000" spc="-260" dirty="0">
                          <a:latin typeface="Arial"/>
                          <a:cs typeface="Arial"/>
                        </a:rPr>
                        <a:t> </a:t>
                      </a:r>
                      <a:r>
                        <a:rPr sz="1000" spc="-5" dirty="0">
                          <a:latin typeface="Arial"/>
                          <a:cs typeface="Arial"/>
                        </a:rPr>
                        <a:t>remote</a:t>
                      </a:r>
                      <a:r>
                        <a:rPr sz="1000" spc="-10" dirty="0">
                          <a:latin typeface="Arial"/>
                          <a:cs typeface="Arial"/>
                        </a:rPr>
                        <a:t> buffer</a:t>
                      </a:r>
                      <a:endParaRPr sz="1000" dirty="0">
                        <a:latin typeface="Arial"/>
                        <a:cs typeface="Arial"/>
                      </a:endParaRPr>
                    </a:p>
                  </a:txBody>
                  <a:tcPr marL="0" marR="0" marT="635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334010">
                <a:tc>
                  <a:txBody>
                    <a:bodyPr/>
                    <a:lstStyle/>
                    <a:p>
                      <a:pPr marL="71755">
                        <a:lnSpc>
                          <a:spcPct val="100000"/>
                        </a:lnSpc>
                        <a:spcBef>
                          <a:spcPts val="50"/>
                        </a:spcBef>
                      </a:pPr>
                      <a:r>
                        <a:rPr sz="1000" spc="-100" dirty="0">
                          <a:latin typeface="Times New Roman"/>
                          <a:cs typeface="Times New Roman"/>
                        </a:rPr>
                        <a:t>MP</a:t>
                      </a:r>
                      <a:r>
                        <a:rPr sz="1000" dirty="0">
                          <a:latin typeface="Times New Roman"/>
                          <a:cs typeface="Times New Roman"/>
                        </a:rPr>
                        <a:t>I</a:t>
                      </a:r>
                      <a:r>
                        <a:rPr sz="1000" spc="5" dirty="0">
                          <a:latin typeface="Times New Roman"/>
                          <a:cs typeface="Times New Roman"/>
                        </a:rPr>
                        <a:t> </a:t>
                      </a:r>
                      <a:r>
                        <a:rPr sz="1000" spc="-100" dirty="0">
                          <a:latin typeface="Times New Roman"/>
                          <a:cs typeface="Times New Roman"/>
                        </a:rPr>
                        <a:t>ssen</a:t>
                      </a:r>
                      <a:r>
                        <a:rPr sz="1000" dirty="0">
                          <a:latin typeface="Times New Roman"/>
                          <a:cs typeface="Times New Roman"/>
                        </a:rPr>
                        <a:t>d</a:t>
                      </a:r>
                    </a:p>
                  </a:txBody>
                  <a:tcPr marL="0" marR="0" marT="6350" marB="0">
                    <a:lnL w="6350">
                      <a:solidFill>
                        <a:srgbClr val="000000"/>
                      </a:solidFill>
                      <a:prstDash val="solid"/>
                    </a:lnL>
                    <a:lnR w="6350">
                      <a:solidFill>
                        <a:srgbClr val="000000"/>
                      </a:solidFill>
                      <a:prstDash val="solid"/>
                    </a:lnR>
                  </a:tcPr>
                </a:tc>
                <a:tc>
                  <a:txBody>
                    <a:bodyPr/>
                    <a:lstStyle/>
                    <a:p>
                      <a:pPr marL="78105" marR="327025">
                        <a:lnSpc>
                          <a:spcPct val="100000"/>
                        </a:lnSpc>
                        <a:spcBef>
                          <a:spcPts val="50"/>
                        </a:spcBef>
                      </a:pPr>
                      <a:r>
                        <a:rPr sz="1000" spc="-5" dirty="0">
                          <a:latin typeface="Arial"/>
                          <a:cs typeface="Arial"/>
                        </a:rPr>
                        <a:t>Send a message and </a:t>
                      </a:r>
                      <a:r>
                        <a:rPr sz="1000" spc="-10" dirty="0">
                          <a:latin typeface="Arial"/>
                          <a:cs typeface="Arial"/>
                        </a:rPr>
                        <a:t>wait</a:t>
                      </a:r>
                      <a:r>
                        <a:rPr sz="1000" spc="-5" dirty="0">
                          <a:latin typeface="Arial"/>
                          <a:cs typeface="Arial"/>
                        </a:rPr>
                        <a:t> until transmission </a:t>
                      </a:r>
                      <a:r>
                        <a:rPr sz="1000" spc="-260" dirty="0">
                          <a:latin typeface="Arial"/>
                          <a:cs typeface="Arial"/>
                        </a:rPr>
                        <a:t> </a:t>
                      </a:r>
                      <a:r>
                        <a:rPr sz="1000" dirty="0">
                          <a:latin typeface="Arial"/>
                          <a:cs typeface="Arial"/>
                        </a:rPr>
                        <a:t>starts</a:t>
                      </a:r>
                    </a:p>
                  </a:txBody>
                  <a:tcPr marL="0" marR="0" marT="635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81610">
                <a:tc>
                  <a:txBody>
                    <a:bodyPr/>
                    <a:lstStyle/>
                    <a:p>
                      <a:pPr marL="71755">
                        <a:lnSpc>
                          <a:spcPct val="100000"/>
                        </a:lnSpc>
                        <a:spcBef>
                          <a:spcPts val="50"/>
                        </a:spcBef>
                      </a:pPr>
                      <a:r>
                        <a:rPr sz="1000" spc="-100" dirty="0">
                          <a:latin typeface="Times New Roman"/>
                          <a:cs typeface="Times New Roman"/>
                        </a:rPr>
                        <a:t>MP</a:t>
                      </a:r>
                      <a:r>
                        <a:rPr sz="1000" dirty="0">
                          <a:latin typeface="Times New Roman"/>
                          <a:cs typeface="Times New Roman"/>
                        </a:rPr>
                        <a:t>I</a:t>
                      </a:r>
                      <a:r>
                        <a:rPr sz="1000" spc="5" dirty="0">
                          <a:latin typeface="Times New Roman"/>
                          <a:cs typeface="Times New Roman"/>
                        </a:rPr>
                        <a:t> </a:t>
                      </a:r>
                      <a:r>
                        <a:rPr sz="1000" spc="-100" dirty="0">
                          <a:latin typeface="Times New Roman"/>
                          <a:cs typeface="Times New Roman"/>
                        </a:rPr>
                        <a:t>sendrec</a:t>
                      </a:r>
                      <a:r>
                        <a:rPr sz="1000" dirty="0">
                          <a:latin typeface="Times New Roman"/>
                          <a:cs typeface="Times New Roman"/>
                        </a:rPr>
                        <a:t>v</a:t>
                      </a:r>
                    </a:p>
                  </a:txBody>
                  <a:tcPr marL="0" marR="0" marT="6350" marB="0">
                    <a:lnL w="6350">
                      <a:solidFill>
                        <a:srgbClr val="000000"/>
                      </a:solidFill>
                      <a:prstDash val="solid"/>
                    </a:lnL>
                    <a:lnR w="6350">
                      <a:solidFill>
                        <a:srgbClr val="000000"/>
                      </a:solidFill>
                      <a:prstDash val="solid"/>
                    </a:lnR>
                  </a:tcPr>
                </a:tc>
                <a:tc>
                  <a:txBody>
                    <a:bodyPr/>
                    <a:lstStyle/>
                    <a:p>
                      <a:pPr marL="78105">
                        <a:lnSpc>
                          <a:spcPct val="100000"/>
                        </a:lnSpc>
                        <a:spcBef>
                          <a:spcPts val="50"/>
                        </a:spcBef>
                      </a:pPr>
                      <a:r>
                        <a:rPr sz="1000" spc="-5" dirty="0">
                          <a:latin typeface="Arial"/>
                          <a:cs typeface="Arial"/>
                        </a:rPr>
                        <a:t>Send</a:t>
                      </a:r>
                      <a:r>
                        <a:rPr sz="1000" spc="-10" dirty="0">
                          <a:latin typeface="Arial"/>
                          <a:cs typeface="Arial"/>
                        </a:rPr>
                        <a:t> </a:t>
                      </a:r>
                      <a:r>
                        <a:rPr sz="1000" spc="-5" dirty="0">
                          <a:latin typeface="Arial"/>
                          <a:cs typeface="Arial"/>
                        </a:rPr>
                        <a:t>a message</a:t>
                      </a:r>
                      <a:r>
                        <a:rPr sz="1000" spc="-10" dirty="0">
                          <a:latin typeface="Arial"/>
                          <a:cs typeface="Arial"/>
                        </a:rPr>
                        <a:t> </a:t>
                      </a:r>
                      <a:r>
                        <a:rPr sz="1000" spc="-5" dirty="0">
                          <a:latin typeface="Arial"/>
                          <a:cs typeface="Arial"/>
                        </a:rPr>
                        <a:t>and </a:t>
                      </a:r>
                      <a:r>
                        <a:rPr sz="1000" spc="-10" dirty="0">
                          <a:latin typeface="Arial"/>
                          <a:cs typeface="Arial"/>
                        </a:rPr>
                        <a:t>wait</a:t>
                      </a:r>
                      <a:r>
                        <a:rPr sz="1000" spc="-5" dirty="0">
                          <a:latin typeface="Arial"/>
                          <a:cs typeface="Arial"/>
                        </a:rPr>
                        <a:t> </a:t>
                      </a:r>
                      <a:r>
                        <a:rPr sz="1000" spc="-15" dirty="0">
                          <a:latin typeface="Arial"/>
                          <a:cs typeface="Arial"/>
                        </a:rPr>
                        <a:t>for</a:t>
                      </a:r>
                      <a:r>
                        <a:rPr sz="1000" spc="-10" dirty="0">
                          <a:latin typeface="Arial"/>
                          <a:cs typeface="Arial"/>
                        </a:rPr>
                        <a:t> </a:t>
                      </a:r>
                      <a:r>
                        <a:rPr sz="1000" spc="-5" dirty="0">
                          <a:latin typeface="Arial"/>
                          <a:cs typeface="Arial"/>
                        </a:rPr>
                        <a:t>reply</a:t>
                      </a:r>
                      <a:endParaRPr sz="1000" dirty="0">
                        <a:latin typeface="Arial"/>
                        <a:cs typeface="Arial"/>
                      </a:endParaRPr>
                    </a:p>
                  </a:txBody>
                  <a:tcPr marL="0" marR="0" marT="635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334010">
                <a:tc>
                  <a:txBody>
                    <a:bodyPr/>
                    <a:lstStyle/>
                    <a:p>
                      <a:pPr marL="71755">
                        <a:lnSpc>
                          <a:spcPct val="100000"/>
                        </a:lnSpc>
                        <a:spcBef>
                          <a:spcPts val="50"/>
                        </a:spcBef>
                      </a:pPr>
                      <a:r>
                        <a:rPr sz="1000" spc="-100" dirty="0">
                          <a:latin typeface="Times New Roman"/>
                          <a:cs typeface="Times New Roman"/>
                        </a:rPr>
                        <a:t>MP</a:t>
                      </a:r>
                      <a:r>
                        <a:rPr sz="1000" dirty="0">
                          <a:latin typeface="Times New Roman"/>
                          <a:cs typeface="Times New Roman"/>
                        </a:rPr>
                        <a:t>I</a:t>
                      </a:r>
                      <a:r>
                        <a:rPr sz="1000" spc="5" dirty="0">
                          <a:latin typeface="Times New Roman"/>
                          <a:cs typeface="Times New Roman"/>
                        </a:rPr>
                        <a:t> </a:t>
                      </a:r>
                      <a:r>
                        <a:rPr sz="1000" spc="-100" dirty="0">
                          <a:latin typeface="Times New Roman"/>
                          <a:cs typeface="Times New Roman"/>
                        </a:rPr>
                        <a:t>isen</a:t>
                      </a:r>
                      <a:r>
                        <a:rPr sz="1000" dirty="0">
                          <a:latin typeface="Times New Roman"/>
                          <a:cs typeface="Times New Roman"/>
                        </a:rPr>
                        <a:t>d</a:t>
                      </a:r>
                    </a:p>
                  </a:txBody>
                  <a:tcPr marL="0" marR="0" marT="6350" marB="0">
                    <a:lnL w="6350">
                      <a:solidFill>
                        <a:srgbClr val="000000"/>
                      </a:solidFill>
                      <a:prstDash val="solid"/>
                    </a:lnL>
                    <a:lnR w="6350">
                      <a:solidFill>
                        <a:srgbClr val="000000"/>
                      </a:solidFill>
                      <a:prstDash val="solid"/>
                    </a:lnR>
                  </a:tcPr>
                </a:tc>
                <a:tc>
                  <a:txBody>
                    <a:bodyPr/>
                    <a:lstStyle/>
                    <a:p>
                      <a:pPr marL="78105" marR="461009">
                        <a:lnSpc>
                          <a:spcPct val="100000"/>
                        </a:lnSpc>
                        <a:spcBef>
                          <a:spcPts val="50"/>
                        </a:spcBef>
                      </a:pPr>
                      <a:r>
                        <a:rPr sz="1000" spc="-15" dirty="0">
                          <a:latin typeface="Arial"/>
                          <a:cs typeface="Arial"/>
                        </a:rPr>
                        <a:t>Pass</a:t>
                      </a:r>
                      <a:r>
                        <a:rPr sz="1000" spc="-5" dirty="0">
                          <a:latin typeface="Arial"/>
                          <a:cs typeface="Arial"/>
                        </a:rPr>
                        <a:t> </a:t>
                      </a:r>
                      <a:r>
                        <a:rPr sz="1000" spc="-10" dirty="0">
                          <a:latin typeface="Arial"/>
                          <a:cs typeface="Arial"/>
                        </a:rPr>
                        <a:t>reference</a:t>
                      </a:r>
                      <a:r>
                        <a:rPr sz="1000" spc="-5" dirty="0">
                          <a:latin typeface="Arial"/>
                          <a:cs typeface="Arial"/>
                        </a:rPr>
                        <a:t> to outgoing message, and </a:t>
                      </a:r>
                      <a:r>
                        <a:rPr sz="1000" spc="-260" dirty="0">
                          <a:latin typeface="Arial"/>
                          <a:cs typeface="Arial"/>
                        </a:rPr>
                        <a:t> </a:t>
                      </a:r>
                      <a:r>
                        <a:rPr sz="1000" spc="-5" dirty="0">
                          <a:latin typeface="Arial"/>
                          <a:cs typeface="Arial"/>
                        </a:rPr>
                        <a:t>continue</a:t>
                      </a:r>
                      <a:endParaRPr sz="1000" dirty="0">
                        <a:latin typeface="Arial"/>
                        <a:cs typeface="Arial"/>
                      </a:endParaRPr>
                    </a:p>
                  </a:txBody>
                  <a:tcPr marL="0" marR="0" marT="635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334010">
                <a:tc>
                  <a:txBody>
                    <a:bodyPr/>
                    <a:lstStyle/>
                    <a:p>
                      <a:pPr marL="71755">
                        <a:lnSpc>
                          <a:spcPct val="100000"/>
                        </a:lnSpc>
                        <a:spcBef>
                          <a:spcPts val="50"/>
                        </a:spcBef>
                      </a:pPr>
                      <a:r>
                        <a:rPr sz="1000" spc="-100" dirty="0">
                          <a:latin typeface="Times New Roman"/>
                          <a:cs typeface="Times New Roman"/>
                        </a:rPr>
                        <a:t>MP</a:t>
                      </a:r>
                      <a:r>
                        <a:rPr sz="1000" dirty="0">
                          <a:latin typeface="Times New Roman"/>
                          <a:cs typeface="Times New Roman"/>
                        </a:rPr>
                        <a:t>I</a:t>
                      </a:r>
                      <a:r>
                        <a:rPr sz="1000" spc="5" dirty="0">
                          <a:latin typeface="Times New Roman"/>
                          <a:cs typeface="Times New Roman"/>
                        </a:rPr>
                        <a:t> </a:t>
                      </a:r>
                      <a:r>
                        <a:rPr sz="1000" spc="-100" dirty="0">
                          <a:latin typeface="Times New Roman"/>
                          <a:cs typeface="Times New Roman"/>
                        </a:rPr>
                        <a:t>issen</a:t>
                      </a:r>
                      <a:r>
                        <a:rPr sz="1000" dirty="0">
                          <a:latin typeface="Times New Roman"/>
                          <a:cs typeface="Times New Roman"/>
                        </a:rPr>
                        <a:t>d</a:t>
                      </a:r>
                    </a:p>
                  </a:txBody>
                  <a:tcPr marL="0" marR="0" marT="6350" marB="0">
                    <a:lnL w="6350">
                      <a:solidFill>
                        <a:srgbClr val="000000"/>
                      </a:solidFill>
                      <a:prstDash val="solid"/>
                    </a:lnL>
                    <a:lnR w="6350">
                      <a:solidFill>
                        <a:srgbClr val="000000"/>
                      </a:solidFill>
                      <a:prstDash val="solid"/>
                    </a:lnR>
                  </a:tcPr>
                </a:tc>
                <a:tc>
                  <a:txBody>
                    <a:bodyPr/>
                    <a:lstStyle/>
                    <a:p>
                      <a:pPr marL="78105" marR="202565">
                        <a:lnSpc>
                          <a:spcPct val="100000"/>
                        </a:lnSpc>
                        <a:spcBef>
                          <a:spcPts val="50"/>
                        </a:spcBef>
                      </a:pPr>
                      <a:r>
                        <a:rPr sz="1000" spc="-15" dirty="0">
                          <a:latin typeface="Arial"/>
                          <a:cs typeface="Arial"/>
                        </a:rPr>
                        <a:t>Pass</a:t>
                      </a:r>
                      <a:r>
                        <a:rPr sz="1000" spc="-5" dirty="0">
                          <a:latin typeface="Arial"/>
                          <a:cs typeface="Arial"/>
                        </a:rPr>
                        <a:t> </a:t>
                      </a:r>
                      <a:r>
                        <a:rPr sz="1000" spc="-10" dirty="0">
                          <a:latin typeface="Arial"/>
                          <a:cs typeface="Arial"/>
                        </a:rPr>
                        <a:t>reference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outgoing message,</a:t>
                      </a:r>
                      <a:r>
                        <a:rPr sz="1000" dirty="0">
                          <a:latin typeface="Arial"/>
                          <a:cs typeface="Arial"/>
                        </a:rPr>
                        <a:t> </a:t>
                      </a:r>
                      <a:r>
                        <a:rPr sz="1000" spc="-5" dirty="0">
                          <a:latin typeface="Arial"/>
                          <a:cs typeface="Arial"/>
                        </a:rPr>
                        <a:t>and</a:t>
                      </a:r>
                      <a:r>
                        <a:rPr sz="1000" dirty="0">
                          <a:latin typeface="Arial"/>
                          <a:cs typeface="Arial"/>
                        </a:rPr>
                        <a:t> </a:t>
                      </a:r>
                      <a:r>
                        <a:rPr sz="1000" spc="-10" dirty="0">
                          <a:latin typeface="Arial"/>
                          <a:cs typeface="Arial"/>
                        </a:rPr>
                        <a:t>wait </a:t>
                      </a:r>
                      <a:r>
                        <a:rPr sz="1000" spc="-265" dirty="0">
                          <a:latin typeface="Arial"/>
                          <a:cs typeface="Arial"/>
                        </a:rPr>
                        <a:t> </a:t>
                      </a:r>
                      <a:r>
                        <a:rPr sz="1000" spc="-5" dirty="0">
                          <a:latin typeface="Arial"/>
                          <a:cs typeface="Arial"/>
                        </a:rPr>
                        <a:t>until</a:t>
                      </a:r>
                      <a:r>
                        <a:rPr sz="1000" spc="-10" dirty="0">
                          <a:latin typeface="Arial"/>
                          <a:cs typeface="Arial"/>
                        </a:rPr>
                        <a:t> </a:t>
                      </a:r>
                      <a:r>
                        <a:rPr sz="1000" spc="-5" dirty="0">
                          <a:latin typeface="Arial"/>
                          <a:cs typeface="Arial"/>
                        </a:rPr>
                        <a:t>receipt </a:t>
                      </a:r>
                      <a:r>
                        <a:rPr sz="1000" dirty="0">
                          <a:latin typeface="Arial"/>
                          <a:cs typeface="Arial"/>
                        </a:rPr>
                        <a:t>starts</a:t>
                      </a:r>
                    </a:p>
                  </a:txBody>
                  <a:tcPr marL="0" marR="0" marT="635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181610">
                <a:tc>
                  <a:txBody>
                    <a:bodyPr/>
                    <a:lstStyle/>
                    <a:p>
                      <a:pPr marL="71755">
                        <a:lnSpc>
                          <a:spcPct val="100000"/>
                        </a:lnSpc>
                        <a:spcBef>
                          <a:spcPts val="50"/>
                        </a:spcBef>
                      </a:pPr>
                      <a:r>
                        <a:rPr sz="1000" spc="-100" dirty="0">
                          <a:latin typeface="Times New Roman"/>
                          <a:cs typeface="Times New Roman"/>
                        </a:rPr>
                        <a:t>MP</a:t>
                      </a:r>
                      <a:r>
                        <a:rPr sz="1000" dirty="0">
                          <a:latin typeface="Times New Roman"/>
                          <a:cs typeface="Times New Roman"/>
                        </a:rPr>
                        <a:t>I</a:t>
                      </a:r>
                      <a:r>
                        <a:rPr sz="1000" spc="5" dirty="0">
                          <a:latin typeface="Times New Roman"/>
                          <a:cs typeface="Times New Roman"/>
                        </a:rPr>
                        <a:t> </a:t>
                      </a:r>
                      <a:r>
                        <a:rPr sz="1000" spc="-100" dirty="0">
                          <a:latin typeface="Times New Roman"/>
                          <a:cs typeface="Times New Roman"/>
                        </a:rPr>
                        <a:t>rec</a:t>
                      </a:r>
                      <a:r>
                        <a:rPr sz="1000" dirty="0">
                          <a:latin typeface="Times New Roman"/>
                          <a:cs typeface="Times New Roman"/>
                        </a:rPr>
                        <a:t>v</a:t>
                      </a:r>
                    </a:p>
                  </a:txBody>
                  <a:tcPr marL="0" marR="0" marT="6350" marB="0">
                    <a:lnL w="6350">
                      <a:solidFill>
                        <a:srgbClr val="000000"/>
                      </a:solidFill>
                      <a:prstDash val="solid"/>
                    </a:lnL>
                    <a:lnR w="6350">
                      <a:solidFill>
                        <a:srgbClr val="000000"/>
                      </a:solidFill>
                      <a:prstDash val="solid"/>
                    </a:lnR>
                  </a:tcPr>
                </a:tc>
                <a:tc>
                  <a:txBody>
                    <a:bodyPr/>
                    <a:lstStyle/>
                    <a:p>
                      <a:pPr marL="78105">
                        <a:lnSpc>
                          <a:spcPct val="100000"/>
                        </a:lnSpc>
                        <a:spcBef>
                          <a:spcPts val="50"/>
                        </a:spcBef>
                      </a:pPr>
                      <a:r>
                        <a:rPr sz="1000" spc="-10" dirty="0">
                          <a:latin typeface="Arial"/>
                          <a:cs typeface="Arial"/>
                        </a:rPr>
                        <a:t>Receive</a:t>
                      </a:r>
                      <a:r>
                        <a:rPr sz="1000" spc="-5" dirty="0">
                          <a:latin typeface="Arial"/>
                          <a:cs typeface="Arial"/>
                        </a:rPr>
                        <a:t> a message; </a:t>
                      </a:r>
                      <a:r>
                        <a:rPr sz="1000" spc="-10" dirty="0">
                          <a:latin typeface="Arial"/>
                          <a:cs typeface="Arial"/>
                        </a:rPr>
                        <a:t>block</a:t>
                      </a:r>
                      <a:r>
                        <a:rPr sz="1000" spc="-5" dirty="0">
                          <a:latin typeface="Arial"/>
                          <a:cs typeface="Arial"/>
                        </a:rPr>
                        <a:t> if there is none</a:t>
                      </a:r>
                      <a:endParaRPr sz="1000" dirty="0">
                        <a:latin typeface="Arial"/>
                        <a:cs typeface="Arial"/>
                      </a:endParaRPr>
                    </a:p>
                  </a:txBody>
                  <a:tcPr marL="0" marR="0" marT="635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7"/>
                  </a:ext>
                </a:extLst>
              </a:tr>
              <a:tr h="342265">
                <a:tc>
                  <a:txBody>
                    <a:bodyPr/>
                    <a:lstStyle/>
                    <a:p>
                      <a:pPr marL="71755">
                        <a:lnSpc>
                          <a:spcPct val="100000"/>
                        </a:lnSpc>
                        <a:spcBef>
                          <a:spcPts val="50"/>
                        </a:spcBef>
                      </a:pPr>
                      <a:r>
                        <a:rPr sz="1000" spc="-100" dirty="0">
                          <a:latin typeface="Times New Roman"/>
                          <a:cs typeface="Times New Roman"/>
                        </a:rPr>
                        <a:t>MP</a:t>
                      </a:r>
                      <a:r>
                        <a:rPr sz="1000" dirty="0">
                          <a:latin typeface="Times New Roman"/>
                          <a:cs typeface="Times New Roman"/>
                        </a:rPr>
                        <a:t>I</a:t>
                      </a:r>
                      <a:r>
                        <a:rPr sz="1000" spc="5" dirty="0">
                          <a:latin typeface="Times New Roman"/>
                          <a:cs typeface="Times New Roman"/>
                        </a:rPr>
                        <a:t> </a:t>
                      </a:r>
                      <a:r>
                        <a:rPr sz="1000" spc="-100" dirty="0">
                          <a:latin typeface="Times New Roman"/>
                          <a:cs typeface="Times New Roman"/>
                        </a:rPr>
                        <a:t>irec</a:t>
                      </a:r>
                      <a:r>
                        <a:rPr sz="1000" dirty="0">
                          <a:latin typeface="Times New Roman"/>
                          <a:cs typeface="Times New Roman"/>
                        </a:rPr>
                        <a:t>v</a:t>
                      </a:r>
                    </a:p>
                  </a:txBody>
                  <a:tcPr marL="0" marR="0" marT="635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8105" marR="205104">
                        <a:lnSpc>
                          <a:spcPct val="100000"/>
                        </a:lnSpc>
                        <a:spcBef>
                          <a:spcPts val="50"/>
                        </a:spcBef>
                      </a:pPr>
                      <a:r>
                        <a:rPr sz="1000" spc="-10" dirty="0">
                          <a:latin typeface="Arial"/>
                          <a:cs typeface="Arial"/>
                        </a:rPr>
                        <a:t>Check </a:t>
                      </a:r>
                      <a:r>
                        <a:rPr sz="1000" spc="-5" dirty="0">
                          <a:latin typeface="Arial"/>
                          <a:cs typeface="Arial"/>
                        </a:rPr>
                        <a:t>if there is an incoming message, </a:t>
                      </a:r>
                      <a:r>
                        <a:rPr sz="1000" spc="-10" dirty="0">
                          <a:latin typeface="Arial"/>
                          <a:cs typeface="Arial"/>
                        </a:rPr>
                        <a:t>but</a:t>
                      </a:r>
                      <a:r>
                        <a:rPr sz="1000" spc="-5" dirty="0">
                          <a:latin typeface="Arial"/>
                          <a:cs typeface="Arial"/>
                        </a:rPr>
                        <a:t> do </a:t>
                      </a:r>
                      <a:r>
                        <a:rPr sz="1000" spc="-260" dirty="0">
                          <a:latin typeface="Arial"/>
                          <a:cs typeface="Arial"/>
                        </a:rPr>
                        <a:t> </a:t>
                      </a:r>
                      <a:r>
                        <a:rPr sz="1000" spc="-5" dirty="0">
                          <a:latin typeface="Arial"/>
                          <a:cs typeface="Arial"/>
                        </a:rPr>
                        <a:t>not</a:t>
                      </a:r>
                      <a:r>
                        <a:rPr sz="1000" spc="-10" dirty="0">
                          <a:latin typeface="Arial"/>
                          <a:cs typeface="Arial"/>
                        </a:rPr>
                        <a:t> block</a:t>
                      </a:r>
                      <a:endParaRPr sz="1000" dirty="0">
                        <a:latin typeface="Arial"/>
                        <a:cs typeface="Arial"/>
                      </a:endParaRPr>
                    </a:p>
                  </a:txBody>
                  <a:tcPr marL="0" marR="0" marT="635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8"/>
                  </a:ext>
                </a:extLst>
              </a:tr>
            </a:tbl>
          </a:graphicData>
        </a:graphic>
      </p:graphicFrame>
      <p:sp>
        <p:nvSpPr>
          <p:cNvPr id="14" name="object 14"/>
          <p:cNvSpPr txBox="1"/>
          <p:nvPr/>
        </p:nvSpPr>
        <p:spPr>
          <a:xfrm>
            <a:off x="66713" y="3331252"/>
            <a:ext cx="129857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The</a:t>
            </a:r>
            <a:r>
              <a:rPr sz="600" spc="-15"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Message-Passing</a:t>
            </a:r>
            <a:r>
              <a:rPr sz="600" spc="-1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Interface</a:t>
            </a:r>
            <a:r>
              <a:rPr sz="600" spc="-1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(MPI)</a:t>
            </a:r>
            <a:endParaRPr sz="600">
              <a:latin typeface="Arial"/>
              <a:cs typeface="Arial"/>
            </a:endParaRPr>
          </a:p>
        </p:txBody>
      </p:sp>
      <p:sp>
        <p:nvSpPr>
          <p:cNvPr id="15" name="object 1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28</a:t>
            </a:r>
            <a:r>
              <a:rPr spc="-40" dirty="0"/>
              <a:t> </a:t>
            </a:r>
            <a:r>
              <a:rPr spc="-5" dirty="0"/>
              <a:t>/</a:t>
            </a:r>
            <a:r>
              <a:rPr spc="-35" dirty="0"/>
              <a:t> </a:t>
            </a:r>
            <a:r>
              <a:rPr spc="-5" dirty="0"/>
              <a:t>49</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8566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Message-queuing</a:t>
            </a:r>
            <a:r>
              <a:rPr sz="600" spc="-2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model</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29</a:t>
            </a:r>
            <a:r>
              <a:rPr spc="-40" dirty="0"/>
              <a:t> </a:t>
            </a:r>
            <a:r>
              <a:rPr spc="-5" dirty="0"/>
              <a:t>/</a:t>
            </a:r>
            <a:r>
              <a:rPr spc="-35" dirty="0"/>
              <a:t> </a:t>
            </a:r>
            <a:r>
              <a:rPr spc="-5" dirty="0"/>
              <a:t>49</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971800" algn="l"/>
              </a:tabLst>
            </a:pPr>
            <a:r>
              <a:rPr sz="600" spc="-5" dirty="0">
                <a:solidFill>
                  <a:srgbClr val="3333B2"/>
                </a:solidFill>
                <a:latin typeface="Arial"/>
                <a:cs typeface="Arial"/>
                <a:hlinkClick r:id="rId4" action="ppaction://hlinksldjump"/>
              </a:rPr>
              <a:t>Communication:</a:t>
            </a:r>
            <a:r>
              <a:rPr sz="600" spc="195" dirty="0">
                <a:solidFill>
                  <a:srgbClr val="3333B2"/>
                </a:solidFill>
                <a:latin typeface="Arial"/>
                <a:cs typeface="Arial"/>
              </a:rPr>
              <a:t> </a:t>
            </a:r>
            <a:r>
              <a:rPr sz="600" spc="-5" dirty="0">
                <a:solidFill>
                  <a:srgbClr val="3333B2"/>
                </a:solidFill>
                <a:latin typeface="Arial"/>
                <a:cs typeface="Arial"/>
                <a:hlinkClick r:id="rId5" action="ppaction://hlinksldjump"/>
              </a:rPr>
              <a:t>Message-oriented</a:t>
            </a:r>
            <a:r>
              <a:rPr sz="600" spc="2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r>
              <a:rPr sz="600" spc="-5" dirty="0">
                <a:solidFill>
                  <a:srgbClr val="3333B2"/>
                </a:solidFill>
                <a:latin typeface="Arial"/>
                <a:cs typeface="Arial"/>
              </a:rPr>
              <a:t>	</a:t>
            </a:r>
            <a:r>
              <a:rPr sz="600" spc="-5" dirty="0">
                <a:solidFill>
                  <a:srgbClr val="262685"/>
                </a:solidFill>
                <a:latin typeface="Arial"/>
                <a:cs typeface="Arial"/>
                <a:hlinkClick r:id="rId3" action="ppaction://hlinksldjump"/>
              </a:rPr>
              <a:t>Message-oriented</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persistent</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communication</a:t>
            </a:r>
            <a:endParaRPr sz="600">
              <a:latin typeface="Arial"/>
              <a:cs typeface="Arial"/>
            </a:endParaRPr>
          </a:p>
        </p:txBody>
      </p:sp>
      <p:sp>
        <p:nvSpPr>
          <p:cNvPr id="3" name="object 3"/>
          <p:cNvSpPr txBox="1">
            <a:spLocks noGrp="1"/>
          </p:cNvSpPr>
          <p:nvPr>
            <p:ph type="title"/>
          </p:nvPr>
        </p:nvSpPr>
        <p:spPr>
          <a:xfrm>
            <a:off x="95300" y="188846"/>
            <a:ext cx="2462530" cy="244475"/>
          </a:xfrm>
          <a:prstGeom prst="rect">
            <a:avLst/>
          </a:prstGeom>
        </p:spPr>
        <p:txBody>
          <a:bodyPr vert="horz" wrap="square" lIns="0" tIns="17145" rIns="0" bIns="0" rtlCol="0">
            <a:spAutoFit/>
          </a:bodyPr>
          <a:lstStyle/>
          <a:p>
            <a:pPr marL="12700">
              <a:lnSpc>
                <a:spcPct val="100000"/>
              </a:lnSpc>
              <a:spcBef>
                <a:spcPts val="135"/>
              </a:spcBef>
            </a:pPr>
            <a:r>
              <a:rPr spc="15" dirty="0"/>
              <a:t>Message-oriented</a:t>
            </a:r>
            <a:r>
              <a:rPr spc="-20" dirty="0"/>
              <a:t> </a:t>
            </a:r>
            <a:r>
              <a:rPr spc="10" dirty="0"/>
              <a:t>middleware</a:t>
            </a:r>
          </a:p>
        </p:txBody>
      </p:sp>
      <p:sp>
        <p:nvSpPr>
          <p:cNvPr id="4" name="object 4"/>
          <p:cNvSpPr txBox="1"/>
          <p:nvPr/>
        </p:nvSpPr>
        <p:spPr>
          <a:xfrm>
            <a:off x="343128" y="548904"/>
            <a:ext cx="3362960" cy="927735"/>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Essence</a:t>
            </a:r>
            <a:endParaRPr sz="1200">
              <a:latin typeface="Arial"/>
              <a:cs typeface="Arial"/>
            </a:endParaRPr>
          </a:p>
          <a:p>
            <a:pPr marL="16510" marR="5080" indent="-4445">
              <a:lnSpc>
                <a:spcPts val="1200"/>
              </a:lnSpc>
              <a:spcBef>
                <a:spcPts val="10"/>
              </a:spcBef>
            </a:pPr>
            <a:r>
              <a:rPr sz="1000" spc="-5" dirty="0">
                <a:latin typeface="Arial"/>
                <a:cs typeface="Arial"/>
              </a:rPr>
              <a:t>Asynchronous</a:t>
            </a:r>
            <a:r>
              <a:rPr sz="1000" dirty="0">
                <a:latin typeface="Arial"/>
                <a:cs typeface="Arial"/>
              </a:rPr>
              <a:t> </a:t>
            </a:r>
            <a:r>
              <a:rPr sz="1000" spc="-5" dirty="0">
                <a:latin typeface="Arial"/>
                <a:cs typeface="Arial"/>
              </a:rPr>
              <a:t>persistent</a:t>
            </a:r>
            <a:r>
              <a:rPr sz="1000" spc="5" dirty="0">
                <a:latin typeface="Arial"/>
                <a:cs typeface="Arial"/>
              </a:rPr>
              <a:t> </a:t>
            </a:r>
            <a:r>
              <a:rPr sz="1000" spc="-5" dirty="0">
                <a:latin typeface="Arial"/>
                <a:cs typeface="Arial"/>
              </a:rPr>
              <a:t>communication</a:t>
            </a:r>
            <a:r>
              <a:rPr sz="1000" spc="5" dirty="0">
                <a:latin typeface="Arial"/>
                <a:cs typeface="Arial"/>
              </a:rPr>
              <a:t> </a:t>
            </a:r>
            <a:r>
              <a:rPr sz="1000" spc="-5" dirty="0">
                <a:latin typeface="Arial"/>
                <a:cs typeface="Arial"/>
              </a:rPr>
              <a:t>through</a:t>
            </a:r>
            <a:r>
              <a:rPr sz="1000" spc="5" dirty="0">
                <a:latin typeface="Arial"/>
                <a:cs typeface="Arial"/>
              </a:rPr>
              <a:t> </a:t>
            </a:r>
            <a:r>
              <a:rPr sz="1000" dirty="0">
                <a:latin typeface="Arial"/>
                <a:cs typeface="Arial"/>
              </a:rPr>
              <a:t>support</a:t>
            </a:r>
            <a:r>
              <a:rPr sz="1000" spc="5" dirty="0">
                <a:latin typeface="Arial"/>
                <a:cs typeface="Arial"/>
              </a:rPr>
              <a:t> </a:t>
            </a:r>
            <a:r>
              <a:rPr sz="1000" spc="-5" dirty="0">
                <a:latin typeface="Arial"/>
                <a:cs typeface="Arial"/>
              </a:rPr>
              <a:t>of </a:t>
            </a:r>
            <a:r>
              <a:rPr sz="1000" spc="-265" dirty="0">
                <a:latin typeface="Arial"/>
                <a:cs typeface="Arial"/>
              </a:rPr>
              <a:t> </a:t>
            </a:r>
            <a:r>
              <a:rPr sz="1000" spc="-10" dirty="0">
                <a:latin typeface="Arial"/>
                <a:cs typeface="Arial"/>
              </a:rPr>
              <a:t>middleware-level</a:t>
            </a:r>
            <a:r>
              <a:rPr sz="1000" spc="-5" dirty="0">
                <a:latin typeface="Arial"/>
                <a:cs typeface="Arial"/>
              </a:rPr>
              <a:t> </a:t>
            </a:r>
            <a:r>
              <a:rPr sz="1000" spc="-5" dirty="0">
                <a:solidFill>
                  <a:srgbClr val="0000FA"/>
                </a:solidFill>
                <a:latin typeface="Arial"/>
                <a:cs typeface="Arial"/>
              </a:rPr>
              <a:t>queues</a:t>
            </a:r>
            <a:r>
              <a:rPr sz="1000" spc="-5" dirty="0">
                <a:latin typeface="Arial"/>
                <a:cs typeface="Arial"/>
              </a:rPr>
              <a:t>.</a:t>
            </a:r>
            <a:r>
              <a:rPr sz="1000" spc="65" dirty="0">
                <a:latin typeface="Arial"/>
                <a:cs typeface="Arial"/>
              </a:rPr>
              <a:t> </a:t>
            </a:r>
            <a:r>
              <a:rPr sz="1000" spc="-5" dirty="0">
                <a:latin typeface="Arial"/>
                <a:cs typeface="Arial"/>
              </a:rPr>
              <a:t>Queues</a:t>
            </a:r>
            <a:r>
              <a:rPr sz="1000" dirty="0">
                <a:latin typeface="Arial"/>
                <a:cs typeface="Arial"/>
              </a:rPr>
              <a:t> </a:t>
            </a:r>
            <a:r>
              <a:rPr sz="1000" spc="-5" dirty="0">
                <a:latin typeface="Arial"/>
                <a:cs typeface="Arial"/>
              </a:rPr>
              <a:t>correspond</a:t>
            </a:r>
            <a:r>
              <a:rPr sz="1000" dirty="0">
                <a:latin typeface="Arial"/>
                <a:cs typeface="Arial"/>
              </a:rPr>
              <a:t> </a:t>
            </a:r>
            <a:r>
              <a:rPr sz="1000" spc="-5" dirty="0">
                <a:latin typeface="Arial"/>
                <a:cs typeface="Arial"/>
              </a:rPr>
              <a:t>to </a:t>
            </a:r>
            <a:r>
              <a:rPr sz="1000" spc="-10" dirty="0">
                <a:latin typeface="Arial"/>
                <a:cs typeface="Arial"/>
              </a:rPr>
              <a:t>buffers</a:t>
            </a:r>
            <a:r>
              <a:rPr sz="1000" dirty="0">
                <a:latin typeface="Arial"/>
                <a:cs typeface="Arial"/>
              </a:rPr>
              <a:t> </a:t>
            </a:r>
            <a:r>
              <a:rPr sz="1000" spc="-5" dirty="0">
                <a:latin typeface="Arial"/>
                <a:cs typeface="Arial"/>
              </a:rPr>
              <a:t>at </a:t>
            </a:r>
            <a:r>
              <a:rPr sz="1000" dirty="0">
                <a:latin typeface="Arial"/>
                <a:cs typeface="Arial"/>
              </a:rPr>
              <a:t> </a:t>
            </a:r>
            <a:r>
              <a:rPr sz="1000" spc="-5" dirty="0">
                <a:latin typeface="Arial"/>
                <a:cs typeface="Arial"/>
              </a:rPr>
              <a:t>communication</a:t>
            </a:r>
            <a:r>
              <a:rPr sz="1000" spc="-10" dirty="0">
                <a:latin typeface="Arial"/>
                <a:cs typeface="Arial"/>
              </a:rPr>
              <a:t> </a:t>
            </a:r>
            <a:r>
              <a:rPr sz="1000" spc="-5" dirty="0">
                <a:latin typeface="Arial"/>
                <a:cs typeface="Arial"/>
              </a:rPr>
              <a:t>servers.</a:t>
            </a:r>
            <a:endParaRPr sz="1000">
              <a:latin typeface="Arial"/>
              <a:cs typeface="Arial"/>
            </a:endParaRPr>
          </a:p>
          <a:p>
            <a:pPr marL="16510">
              <a:lnSpc>
                <a:spcPct val="100000"/>
              </a:lnSpc>
              <a:spcBef>
                <a:spcPts val="645"/>
              </a:spcBef>
            </a:pPr>
            <a:r>
              <a:rPr sz="1200" spc="-5" dirty="0">
                <a:solidFill>
                  <a:srgbClr val="3333B2"/>
                </a:solidFill>
                <a:latin typeface="Arial"/>
                <a:cs typeface="Arial"/>
              </a:rPr>
              <a:t>Operations</a:t>
            </a:r>
            <a:endParaRPr sz="1200">
              <a:latin typeface="Arial"/>
              <a:cs typeface="Arial"/>
            </a:endParaRPr>
          </a:p>
        </p:txBody>
      </p:sp>
      <p:graphicFrame>
        <p:nvGraphicFramePr>
          <p:cNvPr id="5" name="object 5"/>
          <p:cNvGraphicFramePr>
            <a:graphicFrameLocks noGrp="1"/>
          </p:cNvGraphicFramePr>
          <p:nvPr/>
        </p:nvGraphicFramePr>
        <p:xfrm>
          <a:off x="485000" y="1587538"/>
          <a:ext cx="3632835" cy="1389380"/>
        </p:xfrm>
        <a:graphic>
          <a:graphicData uri="http://schemas.openxmlformats.org/drawingml/2006/table">
            <a:tbl>
              <a:tblPr firstRow="1" bandRow="1">
                <a:tableStyleId>{2D5ABB26-0587-4C30-8999-92F81FD0307C}</a:tableStyleId>
              </a:tblPr>
              <a:tblGrid>
                <a:gridCol w="754380">
                  <a:extLst>
                    <a:ext uri="{9D8B030D-6E8A-4147-A177-3AD203B41FA5}">
                      <a16:colId xmlns:a16="http://schemas.microsoft.com/office/drawing/2014/main" val="20000"/>
                    </a:ext>
                  </a:extLst>
                </a:gridCol>
                <a:gridCol w="2878455">
                  <a:extLst>
                    <a:ext uri="{9D8B030D-6E8A-4147-A177-3AD203B41FA5}">
                      <a16:colId xmlns:a16="http://schemas.microsoft.com/office/drawing/2014/main" val="20001"/>
                    </a:ext>
                  </a:extLst>
                </a:gridCol>
              </a:tblGrid>
              <a:tr h="193675">
                <a:tc>
                  <a:txBody>
                    <a:bodyPr/>
                    <a:lstStyle/>
                    <a:p>
                      <a:pPr marL="78105">
                        <a:lnSpc>
                          <a:spcPct val="100000"/>
                        </a:lnSpc>
                        <a:spcBef>
                          <a:spcPts val="25"/>
                        </a:spcBef>
                      </a:pPr>
                      <a:r>
                        <a:rPr sz="1000" b="1" spc="-5" dirty="0">
                          <a:latin typeface="Arial"/>
                          <a:cs typeface="Arial"/>
                        </a:rPr>
                        <a:t>Operation</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5"/>
                        </a:spcBef>
                      </a:pPr>
                      <a:r>
                        <a:rPr sz="1000" b="1" spc="-5" dirty="0">
                          <a:latin typeface="Arial"/>
                          <a:cs typeface="Arial"/>
                        </a:rPr>
                        <a:t>Description</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85420">
                <a:tc>
                  <a:txBody>
                    <a:bodyPr/>
                    <a:lstStyle/>
                    <a:p>
                      <a:pPr marL="71755">
                        <a:lnSpc>
                          <a:spcPct val="100000"/>
                        </a:lnSpc>
                        <a:spcBef>
                          <a:spcPts val="75"/>
                        </a:spcBef>
                      </a:pPr>
                      <a:r>
                        <a:rPr sz="1000" spc="105" dirty="0">
                          <a:latin typeface="Times New Roman"/>
                          <a:cs typeface="Times New Roman"/>
                        </a:rPr>
                        <a:t>put</a:t>
                      </a:r>
                      <a:endParaRPr sz="1000">
                        <a:latin typeface="Times New Roman"/>
                        <a:cs typeface="Times New Roman"/>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tcPr>
                </a:tc>
                <a:tc>
                  <a:txBody>
                    <a:bodyPr/>
                    <a:lstStyle/>
                    <a:p>
                      <a:pPr marL="78105">
                        <a:lnSpc>
                          <a:spcPct val="100000"/>
                        </a:lnSpc>
                        <a:spcBef>
                          <a:spcPts val="75"/>
                        </a:spcBef>
                      </a:pPr>
                      <a:r>
                        <a:rPr sz="1000" spc="-5" dirty="0">
                          <a:latin typeface="Arial"/>
                          <a:cs typeface="Arial"/>
                        </a:rPr>
                        <a:t>Append</a:t>
                      </a:r>
                      <a:r>
                        <a:rPr sz="1000" spc="-10" dirty="0">
                          <a:latin typeface="Arial"/>
                          <a:cs typeface="Arial"/>
                        </a:rPr>
                        <a:t> </a:t>
                      </a:r>
                      <a:r>
                        <a:rPr sz="1000" spc="-5" dirty="0">
                          <a:latin typeface="Arial"/>
                          <a:cs typeface="Arial"/>
                        </a:rPr>
                        <a:t>a message to a</a:t>
                      </a:r>
                      <a:r>
                        <a:rPr sz="1000" spc="-10" dirty="0">
                          <a:latin typeface="Arial"/>
                          <a:cs typeface="Arial"/>
                        </a:rPr>
                        <a:t> </a:t>
                      </a:r>
                      <a:r>
                        <a:rPr sz="1000" spc="-5" dirty="0">
                          <a:latin typeface="Arial"/>
                          <a:cs typeface="Arial"/>
                        </a:rPr>
                        <a:t>specified queue</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tcPr>
                </a:tc>
                <a:extLst>
                  <a:ext uri="{0D108BD9-81ED-4DB2-BD59-A6C34878D82A}">
                    <a16:rowId xmlns:a16="http://schemas.microsoft.com/office/drawing/2014/main" val="10001"/>
                  </a:ext>
                </a:extLst>
              </a:tr>
              <a:tr h="334010">
                <a:tc>
                  <a:txBody>
                    <a:bodyPr/>
                    <a:lstStyle/>
                    <a:p>
                      <a:pPr marL="71755">
                        <a:lnSpc>
                          <a:spcPct val="100000"/>
                        </a:lnSpc>
                        <a:spcBef>
                          <a:spcPts val="50"/>
                        </a:spcBef>
                      </a:pPr>
                      <a:r>
                        <a:rPr sz="1000" spc="120" dirty="0">
                          <a:latin typeface="Times New Roman"/>
                          <a:cs typeface="Times New Roman"/>
                        </a:rPr>
                        <a:t>get</a:t>
                      </a:r>
                      <a:endParaRPr sz="1000">
                        <a:latin typeface="Times New Roman"/>
                        <a:cs typeface="Times New Roman"/>
                      </a:endParaRPr>
                    </a:p>
                  </a:txBody>
                  <a:tcPr marL="0" marR="0" marT="6350" marB="0">
                    <a:lnL w="6350">
                      <a:solidFill>
                        <a:srgbClr val="000000"/>
                      </a:solidFill>
                      <a:prstDash val="solid"/>
                    </a:lnL>
                    <a:lnR w="6350">
                      <a:solidFill>
                        <a:srgbClr val="000000"/>
                      </a:solidFill>
                      <a:prstDash val="solid"/>
                    </a:lnR>
                  </a:tcPr>
                </a:tc>
                <a:tc>
                  <a:txBody>
                    <a:bodyPr/>
                    <a:lstStyle/>
                    <a:p>
                      <a:pPr marL="78105" marR="99695">
                        <a:lnSpc>
                          <a:spcPct val="100000"/>
                        </a:lnSpc>
                        <a:spcBef>
                          <a:spcPts val="50"/>
                        </a:spcBef>
                      </a:pPr>
                      <a:r>
                        <a:rPr sz="1000" spc="-10" dirty="0">
                          <a:latin typeface="Arial"/>
                          <a:cs typeface="Arial"/>
                        </a:rPr>
                        <a:t>Block</a:t>
                      </a:r>
                      <a:r>
                        <a:rPr sz="1000" spc="-5" dirty="0">
                          <a:latin typeface="Arial"/>
                          <a:cs typeface="Arial"/>
                        </a:rPr>
                        <a:t> until</a:t>
                      </a:r>
                      <a:r>
                        <a:rPr sz="1000" dirty="0">
                          <a:latin typeface="Arial"/>
                          <a:cs typeface="Arial"/>
                        </a:rPr>
                        <a:t> </a:t>
                      </a:r>
                      <a:r>
                        <a:rPr sz="1000" spc="-5" dirty="0">
                          <a:latin typeface="Arial"/>
                          <a:cs typeface="Arial"/>
                        </a:rPr>
                        <a:t>the specified</a:t>
                      </a:r>
                      <a:r>
                        <a:rPr sz="1000" dirty="0">
                          <a:latin typeface="Arial"/>
                          <a:cs typeface="Arial"/>
                        </a:rPr>
                        <a:t> </a:t>
                      </a:r>
                      <a:r>
                        <a:rPr sz="1000" spc="-5" dirty="0">
                          <a:latin typeface="Arial"/>
                          <a:cs typeface="Arial"/>
                        </a:rPr>
                        <a:t>queue</a:t>
                      </a:r>
                      <a:r>
                        <a:rPr sz="1000" dirty="0">
                          <a:latin typeface="Arial"/>
                          <a:cs typeface="Arial"/>
                        </a:rPr>
                        <a:t> </a:t>
                      </a:r>
                      <a:r>
                        <a:rPr sz="1000" spc="-5" dirty="0">
                          <a:latin typeface="Arial"/>
                          <a:cs typeface="Arial"/>
                        </a:rPr>
                        <a:t>is </a:t>
                      </a:r>
                      <a:r>
                        <a:rPr sz="1000" spc="-15" dirty="0">
                          <a:latin typeface="Arial"/>
                          <a:cs typeface="Arial"/>
                        </a:rPr>
                        <a:t>nonempty,</a:t>
                      </a:r>
                      <a:r>
                        <a:rPr sz="1000" dirty="0">
                          <a:latin typeface="Arial"/>
                          <a:cs typeface="Arial"/>
                        </a:rPr>
                        <a:t> </a:t>
                      </a:r>
                      <a:r>
                        <a:rPr sz="1000" spc="-5" dirty="0">
                          <a:latin typeface="Arial"/>
                          <a:cs typeface="Arial"/>
                        </a:rPr>
                        <a:t>and </a:t>
                      </a:r>
                      <a:r>
                        <a:rPr sz="1000" spc="-260" dirty="0">
                          <a:latin typeface="Arial"/>
                          <a:cs typeface="Arial"/>
                        </a:rPr>
                        <a:t> </a:t>
                      </a:r>
                      <a:r>
                        <a:rPr sz="1000" spc="-10" dirty="0">
                          <a:latin typeface="Arial"/>
                          <a:cs typeface="Arial"/>
                        </a:rPr>
                        <a:t>remove </a:t>
                      </a:r>
                      <a:r>
                        <a:rPr sz="1000" spc="-5" dirty="0">
                          <a:latin typeface="Arial"/>
                          <a:cs typeface="Arial"/>
                        </a:rPr>
                        <a:t>the first message</a:t>
                      </a:r>
                      <a:endParaRPr sz="1000">
                        <a:latin typeface="Arial"/>
                        <a:cs typeface="Arial"/>
                      </a:endParaRPr>
                    </a:p>
                  </a:txBody>
                  <a:tcPr marL="0" marR="0" marT="635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334010">
                <a:tc>
                  <a:txBody>
                    <a:bodyPr/>
                    <a:lstStyle/>
                    <a:p>
                      <a:pPr marL="71755">
                        <a:lnSpc>
                          <a:spcPct val="100000"/>
                        </a:lnSpc>
                        <a:spcBef>
                          <a:spcPts val="50"/>
                        </a:spcBef>
                      </a:pPr>
                      <a:r>
                        <a:rPr sz="1000" spc="130" dirty="0">
                          <a:latin typeface="Times New Roman"/>
                          <a:cs typeface="Times New Roman"/>
                        </a:rPr>
                        <a:t>poll</a:t>
                      </a:r>
                      <a:endParaRPr sz="1000">
                        <a:latin typeface="Times New Roman"/>
                        <a:cs typeface="Times New Roman"/>
                      </a:endParaRPr>
                    </a:p>
                  </a:txBody>
                  <a:tcPr marL="0" marR="0" marT="6350" marB="0">
                    <a:lnL w="6350">
                      <a:solidFill>
                        <a:srgbClr val="000000"/>
                      </a:solidFill>
                      <a:prstDash val="solid"/>
                    </a:lnL>
                    <a:lnR w="6350">
                      <a:solidFill>
                        <a:srgbClr val="000000"/>
                      </a:solidFill>
                      <a:prstDash val="solid"/>
                    </a:lnR>
                  </a:tcPr>
                </a:tc>
                <a:tc>
                  <a:txBody>
                    <a:bodyPr/>
                    <a:lstStyle/>
                    <a:p>
                      <a:pPr marL="78105" marR="339090">
                        <a:lnSpc>
                          <a:spcPct val="100000"/>
                        </a:lnSpc>
                        <a:spcBef>
                          <a:spcPts val="50"/>
                        </a:spcBef>
                      </a:pPr>
                      <a:r>
                        <a:rPr sz="1000" spc="-10" dirty="0">
                          <a:latin typeface="Arial"/>
                          <a:cs typeface="Arial"/>
                        </a:rPr>
                        <a:t>Check </a:t>
                      </a:r>
                      <a:r>
                        <a:rPr sz="1000" spc="-5" dirty="0">
                          <a:latin typeface="Arial"/>
                          <a:cs typeface="Arial"/>
                        </a:rPr>
                        <a:t>a specified queue </a:t>
                      </a:r>
                      <a:r>
                        <a:rPr sz="1000" spc="-15" dirty="0">
                          <a:latin typeface="Arial"/>
                          <a:cs typeface="Arial"/>
                        </a:rPr>
                        <a:t>for</a:t>
                      </a:r>
                      <a:r>
                        <a:rPr sz="1000" spc="-5" dirty="0">
                          <a:latin typeface="Arial"/>
                          <a:cs typeface="Arial"/>
                        </a:rPr>
                        <a:t> messages, and </a:t>
                      </a:r>
                      <a:r>
                        <a:rPr sz="1000" spc="-265" dirty="0">
                          <a:latin typeface="Arial"/>
                          <a:cs typeface="Arial"/>
                        </a:rPr>
                        <a:t> </a:t>
                      </a:r>
                      <a:r>
                        <a:rPr sz="1000" spc="-10" dirty="0">
                          <a:latin typeface="Arial"/>
                          <a:cs typeface="Arial"/>
                        </a:rPr>
                        <a:t>remove </a:t>
                      </a:r>
                      <a:r>
                        <a:rPr sz="1000" spc="-5" dirty="0">
                          <a:latin typeface="Arial"/>
                          <a:cs typeface="Arial"/>
                        </a:rPr>
                        <a:t>the first.</a:t>
                      </a:r>
                      <a:r>
                        <a:rPr sz="1000" spc="55" dirty="0">
                          <a:latin typeface="Arial"/>
                          <a:cs typeface="Arial"/>
                        </a:rPr>
                        <a:t> </a:t>
                      </a:r>
                      <a:r>
                        <a:rPr sz="1000" spc="-15" dirty="0">
                          <a:latin typeface="Arial"/>
                          <a:cs typeface="Arial"/>
                        </a:rPr>
                        <a:t>Never</a:t>
                      </a:r>
                      <a:r>
                        <a:rPr sz="1000" spc="-5" dirty="0">
                          <a:latin typeface="Arial"/>
                          <a:cs typeface="Arial"/>
                        </a:rPr>
                        <a:t> </a:t>
                      </a:r>
                      <a:r>
                        <a:rPr sz="1000" spc="-10" dirty="0">
                          <a:latin typeface="Arial"/>
                          <a:cs typeface="Arial"/>
                        </a:rPr>
                        <a:t>block</a:t>
                      </a:r>
                      <a:endParaRPr sz="1000">
                        <a:latin typeface="Arial"/>
                        <a:cs typeface="Arial"/>
                      </a:endParaRPr>
                    </a:p>
                  </a:txBody>
                  <a:tcPr marL="0" marR="0" marT="635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342265">
                <a:tc>
                  <a:txBody>
                    <a:bodyPr/>
                    <a:lstStyle/>
                    <a:p>
                      <a:pPr marL="71755">
                        <a:lnSpc>
                          <a:spcPct val="100000"/>
                        </a:lnSpc>
                        <a:spcBef>
                          <a:spcPts val="50"/>
                        </a:spcBef>
                      </a:pPr>
                      <a:r>
                        <a:rPr sz="1000" spc="114" dirty="0">
                          <a:latin typeface="Times New Roman"/>
                          <a:cs typeface="Times New Roman"/>
                        </a:rPr>
                        <a:t>notify</a:t>
                      </a:r>
                      <a:endParaRPr sz="1000">
                        <a:latin typeface="Times New Roman"/>
                        <a:cs typeface="Times New Roman"/>
                      </a:endParaRPr>
                    </a:p>
                  </a:txBody>
                  <a:tcPr marL="0" marR="0" marT="635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8105" marR="98425">
                        <a:lnSpc>
                          <a:spcPct val="100000"/>
                        </a:lnSpc>
                        <a:spcBef>
                          <a:spcPts val="50"/>
                        </a:spcBef>
                      </a:pPr>
                      <a:r>
                        <a:rPr sz="1000" spc="-5" dirty="0">
                          <a:latin typeface="Arial"/>
                          <a:cs typeface="Arial"/>
                        </a:rPr>
                        <a:t>Install a handler</a:t>
                      </a:r>
                      <a:r>
                        <a:rPr sz="1000" dirty="0">
                          <a:latin typeface="Arial"/>
                          <a:cs typeface="Arial"/>
                        </a:rPr>
                        <a:t> </a:t>
                      </a:r>
                      <a:r>
                        <a:rPr sz="1000" spc="-5" dirty="0">
                          <a:latin typeface="Arial"/>
                          <a:cs typeface="Arial"/>
                        </a:rPr>
                        <a:t>to be</a:t>
                      </a:r>
                      <a:r>
                        <a:rPr sz="1000" dirty="0">
                          <a:latin typeface="Arial"/>
                          <a:cs typeface="Arial"/>
                        </a:rPr>
                        <a:t> </a:t>
                      </a:r>
                      <a:r>
                        <a:rPr sz="1000" spc="-5" dirty="0">
                          <a:latin typeface="Arial"/>
                          <a:cs typeface="Arial"/>
                        </a:rPr>
                        <a:t>called when</a:t>
                      </a:r>
                      <a:r>
                        <a:rPr sz="1000" dirty="0">
                          <a:latin typeface="Arial"/>
                          <a:cs typeface="Arial"/>
                        </a:rPr>
                        <a:t> </a:t>
                      </a:r>
                      <a:r>
                        <a:rPr sz="1000" spc="-5" dirty="0">
                          <a:latin typeface="Arial"/>
                          <a:cs typeface="Arial"/>
                        </a:rPr>
                        <a:t>a message</a:t>
                      </a:r>
                      <a:r>
                        <a:rPr sz="1000" dirty="0">
                          <a:latin typeface="Arial"/>
                          <a:cs typeface="Arial"/>
                        </a:rPr>
                        <a:t> </a:t>
                      </a:r>
                      <a:r>
                        <a:rPr sz="1000" spc="-5" dirty="0">
                          <a:latin typeface="Arial"/>
                          <a:cs typeface="Arial"/>
                        </a:rPr>
                        <a:t>is </a:t>
                      </a:r>
                      <a:r>
                        <a:rPr sz="1000" spc="-265" dirty="0">
                          <a:latin typeface="Arial"/>
                          <a:cs typeface="Arial"/>
                        </a:rPr>
                        <a:t> </a:t>
                      </a:r>
                      <a:r>
                        <a:rPr sz="1000" spc="-5" dirty="0">
                          <a:latin typeface="Arial"/>
                          <a:cs typeface="Arial"/>
                        </a:rPr>
                        <a:t>put</a:t>
                      </a:r>
                      <a:r>
                        <a:rPr sz="1000" spc="-10" dirty="0">
                          <a:latin typeface="Arial"/>
                          <a:cs typeface="Arial"/>
                        </a:rPr>
                        <a:t> </a:t>
                      </a:r>
                      <a:r>
                        <a:rPr sz="1000" spc="-5" dirty="0">
                          <a:latin typeface="Arial"/>
                          <a:cs typeface="Arial"/>
                        </a:rPr>
                        <a:t>into the specified queue</a:t>
                      </a:r>
                      <a:endParaRPr sz="1000">
                        <a:latin typeface="Arial"/>
                        <a:cs typeface="Arial"/>
                      </a:endParaRPr>
                    </a:p>
                  </a:txBody>
                  <a:tcPr marL="0" marR="0" marT="635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971800" algn="l"/>
              </a:tabLst>
            </a:pPr>
            <a:r>
              <a:rPr sz="600" spc="-5" dirty="0">
                <a:solidFill>
                  <a:srgbClr val="3333B2"/>
                </a:solidFill>
                <a:latin typeface="Arial"/>
                <a:cs typeface="Arial"/>
                <a:hlinkClick r:id="rId3" action="ppaction://hlinksldjump"/>
              </a:rPr>
              <a:t>Communication:</a:t>
            </a:r>
            <a:r>
              <a:rPr sz="600" spc="195" dirty="0">
                <a:solidFill>
                  <a:srgbClr val="3333B2"/>
                </a:solidFill>
                <a:latin typeface="Arial"/>
                <a:cs typeface="Arial"/>
              </a:rPr>
              <a:t> </a:t>
            </a:r>
            <a:r>
              <a:rPr sz="600" spc="-5" dirty="0">
                <a:solidFill>
                  <a:srgbClr val="3333B2"/>
                </a:solidFill>
                <a:latin typeface="Arial"/>
                <a:cs typeface="Arial"/>
                <a:hlinkClick r:id="rId4" action="ppaction://hlinksldjump"/>
              </a:rPr>
              <a:t>Message-oriented</a:t>
            </a:r>
            <a:r>
              <a:rPr sz="600" spc="2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Message-oriented</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persistent</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communication</a:t>
            </a:r>
            <a:endParaRPr sz="600">
              <a:latin typeface="Arial"/>
              <a:cs typeface="Arial"/>
            </a:endParaRPr>
          </a:p>
        </p:txBody>
      </p:sp>
      <p:sp>
        <p:nvSpPr>
          <p:cNvPr id="3" name="object 3"/>
          <p:cNvSpPr txBox="1">
            <a:spLocks noGrp="1"/>
          </p:cNvSpPr>
          <p:nvPr>
            <p:ph type="title"/>
          </p:nvPr>
        </p:nvSpPr>
        <p:spPr>
          <a:xfrm>
            <a:off x="95300" y="188846"/>
            <a:ext cx="1218565" cy="244475"/>
          </a:xfrm>
          <a:prstGeom prst="rect">
            <a:avLst/>
          </a:prstGeom>
        </p:spPr>
        <p:txBody>
          <a:bodyPr vert="horz" wrap="square" lIns="0" tIns="17145" rIns="0" bIns="0" rtlCol="0">
            <a:spAutoFit/>
          </a:bodyPr>
          <a:lstStyle/>
          <a:p>
            <a:pPr marL="12700">
              <a:lnSpc>
                <a:spcPct val="100000"/>
              </a:lnSpc>
              <a:spcBef>
                <a:spcPts val="135"/>
              </a:spcBef>
            </a:pPr>
            <a:r>
              <a:rPr spc="15" dirty="0"/>
              <a:t>General</a:t>
            </a:r>
            <a:r>
              <a:rPr spc="-60" dirty="0"/>
              <a:t> </a:t>
            </a:r>
            <a:r>
              <a:rPr spc="15" dirty="0"/>
              <a:t>model</a:t>
            </a:r>
          </a:p>
        </p:txBody>
      </p:sp>
      <p:sp>
        <p:nvSpPr>
          <p:cNvPr id="4" name="object 4"/>
          <p:cNvSpPr txBox="1"/>
          <p:nvPr/>
        </p:nvSpPr>
        <p:spPr>
          <a:xfrm>
            <a:off x="347294" y="488840"/>
            <a:ext cx="3824604" cy="566420"/>
          </a:xfrm>
          <a:prstGeom prst="rect">
            <a:avLst/>
          </a:prstGeom>
        </p:spPr>
        <p:txBody>
          <a:bodyPr vert="horz" wrap="square" lIns="0" tIns="41910" rIns="0" bIns="0" rtlCol="0">
            <a:spAutoFit/>
          </a:bodyPr>
          <a:lstStyle/>
          <a:p>
            <a:pPr marL="12700">
              <a:lnSpc>
                <a:spcPct val="100000"/>
              </a:lnSpc>
              <a:spcBef>
                <a:spcPts val="330"/>
              </a:spcBef>
            </a:pPr>
            <a:r>
              <a:rPr sz="1200" spc="-5" dirty="0">
                <a:solidFill>
                  <a:srgbClr val="3333B2"/>
                </a:solidFill>
                <a:latin typeface="Arial"/>
                <a:cs typeface="Arial"/>
              </a:rPr>
              <a:t>Queue</a:t>
            </a:r>
            <a:r>
              <a:rPr sz="1200" spc="-40" dirty="0">
                <a:solidFill>
                  <a:srgbClr val="3333B2"/>
                </a:solidFill>
                <a:latin typeface="Arial"/>
                <a:cs typeface="Arial"/>
              </a:rPr>
              <a:t> </a:t>
            </a:r>
            <a:r>
              <a:rPr sz="1200" spc="-5" dirty="0">
                <a:solidFill>
                  <a:srgbClr val="3333B2"/>
                </a:solidFill>
                <a:latin typeface="Arial"/>
                <a:cs typeface="Arial"/>
              </a:rPr>
              <a:t>managers</a:t>
            </a:r>
            <a:endParaRPr sz="1200">
              <a:latin typeface="Arial"/>
              <a:cs typeface="Arial"/>
            </a:endParaRPr>
          </a:p>
          <a:p>
            <a:pPr marL="12700" marR="5080">
              <a:lnSpc>
                <a:spcPct val="100000"/>
              </a:lnSpc>
              <a:spcBef>
                <a:spcPts val="190"/>
              </a:spcBef>
            </a:pPr>
            <a:r>
              <a:rPr sz="1000" spc="-5" dirty="0">
                <a:latin typeface="Arial"/>
                <a:cs typeface="Arial"/>
              </a:rPr>
              <a:t>Queues are</a:t>
            </a:r>
            <a:r>
              <a:rPr sz="1000" dirty="0">
                <a:latin typeface="Arial"/>
                <a:cs typeface="Arial"/>
              </a:rPr>
              <a:t> </a:t>
            </a:r>
            <a:r>
              <a:rPr sz="1000" spc="-5" dirty="0">
                <a:latin typeface="Arial"/>
                <a:cs typeface="Arial"/>
              </a:rPr>
              <a:t>managed</a:t>
            </a:r>
            <a:r>
              <a:rPr sz="1000" dirty="0">
                <a:latin typeface="Arial"/>
                <a:cs typeface="Arial"/>
              </a:rPr>
              <a:t> </a:t>
            </a:r>
            <a:r>
              <a:rPr sz="1000" spc="-15" dirty="0">
                <a:latin typeface="Arial"/>
                <a:cs typeface="Arial"/>
              </a:rPr>
              <a:t>by</a:t>
            </a:r>
            <a:r>
              <a:rPr sz="1000" dirty="0">
                <a:latin typeface="Arial"/>
                <a:cs typeface="Arial"/>
              </a:rPr>
              <a:t> </a:t>
            </a:r>
            <a:r>
              <a:rPr sz="1000" spc="-5" dirty="0">
                <a:solidFill>
                  <a:srgbClr val="FA0000"/>
                </a:solidFill>
                <a:latin typeface="Arial"/>
                <a:cs typeface="Arial"/>
              </a:rPr>
              <a:t>queue</a:t>
            </a:r>
            <a:r>
              <a:rPr sz="1000" dirty="0">
                <a:solidFill>
                  <a:srgbClr val="FA0000"/>
                </a:solidFill>
                <a:latin typeface="Arial"/>
                <a:cs typeface="Arial"/>
              </a:rPr>
              <a:t> </a:t>
            </a:r>
            <a:r>
              <a:rPr sz="1000" spc="-5" dirty="0">
                <a:solidFill>
                  <a:srgbClr val="FA0000"/>
                </a:solidFill>
                <a:latin typeface="Arial"/>
                <a:cs typeface="Arial"/>
              </a:rPr>
              <a:t>managers</a:t>
            </a:r>
            <a:r>
              <a:rPr sz="1000" spc="-5" dirty="0">
                <a:latin typeface="Arial"/>
                <a:cs typeface="Arial"/>
              </a:rPr>
              <a:t>.</a:t>
            </a:r>
            <a:r>
              <a:rPr sz="1000" spc="65" dirty="0">
                <a:latin typeface="Arial"/>
                <a:cs typeface="Arial"/>
              </a:rPr>
              <a:t> </a:t>
            </a:r>
            <a:r>
              <a:rPr sz="1000" spc="-5" dirty="0">
                <a:latin typeface="Arial"/>
                <a:cs typeface="Arial"/>
              </a:rPr>
              <a:t>An application</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put </a:t>
            </a:r>
            <a:r>
              <a:rPr sz="1000" dirty="0">
                <a:latin typeface="Arial"/>
                <a:cs typeface="Arial"/>
              </a:rPr>
              <a:t> </a:t>
            </a:r>
            <a:r>
              <a:rPr sz="1000" spc="-5" dirty="0">
                <a:latin typeface="Arial"/>
                <a:cs typeface="Arial"/>
              </a:rPr>
              <a:t>messages only</a:t>
            </a:r>
            <a:r>
              <a:rPr sz="1000" dirty="0">
                <a:latin typeface="Arial"/>
                <a:cs typeface="Arial"/>
              </a:rPr>
              <a:t> </a:t>
            </a:r>
            <a:r>
              <a:rPr sz="1000" spc="-5" dirty="0">
                <a:latin typeface="Arial"/>
                <a:cs typeface="Arial"/>
              </a:rPr>
              <a:t>into a</a:t>
            </a:r>
            <a:r>
              <a:rPr sz="1000" dirty="0">
                <a:latin typeface="Arial"/>
                <a:cs typeface="Arial"/>
              </a:rPr>
              <a:t> </a:t>
            </a:r>
            <a:r>
              <a:rPr sz="1000" spc="-5" dirty="0">
                <a:solidFill>
                  <a:srgbClr val="0000FA"/>
                </a:solidFill>
                <a:latin typeface="Arial"/>
                <a:cs typeface="Arial"/>
              </a:rPr>
              <a:t>local</a:t>
            </a:r>
            <a:r>
              <a:rPr sz="1000" dirty="0">
                <a:solidFill>
                  <a:srgbClr val="0000FA"/>
                </a:solidFill>
                <a:latin typeface="Arial"/>
                <a:cs typeface="Arial"/>
              </a:rPr>
              <a:t> </a:t>
            </a:r>
            <a:r>
              <a:rPr sz="1000" spc="-5" dirty="0">
                <a:latin typeface="Arial"/>
                <a:cs typeface="Arial"/>
              </a:rPr>
              <a:t>queue.</a:t>
            </a:r>
            <a:r>
              <a:rPr sz="1000" spc="60" dirty="0">
                <a:latin typeface="Arial"/>
                <a:cs typeface="Arial"/>
              </a:rPr>
              <a:t> </a:t>
            </a:r>
            <a:r>
              <a:rPr sz="1000" spc="-5" dirty="0">
                <a:latin typeface="Arial"/>
                <a:cs typeface="Arial"/>
              </a:rPr>
              <a:t>Getting</a:t>
            </a:r>
            <a:r>
              <a:rPr sz="1000" dirty="0">
                <a:latin typeface="Arial"/>
                <a:cs typeface="Arial"/>
              </a:rPr>
              <a:t> </a:t>
            </a:r>
            <a:r>
              <a:rPr sz="1000" spc="-5" dirty="0">
                <a:latin typeface="Arial"/>
                <a:cs typeface="Arial"/>
              </a:rPr>
              <a:t>a message</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possible </a:t>
            </a:r>
            <a:r>
              <a:rPr sz="1000" spc="-15" dirty="0">
                <a:latin typeface="Arial"/>
                <a:cs typeface="Arial"/>
              </a:rPr>
              <a:t>by</a:t>
            </a:r>
            <a:endParaRPr sz="1000">
              <a:latin typeface="Arial"/>
              <a:cs typeface="Arial"/>
            </a:endParaRPr>
          </a:p>
        </p:txBody>
      </p:sp>
      <p:sp>
        <p:nvSpPr>
          <p:cNvPr id="5" name="object 5"/>
          <p:cNvSpPr txBox="1"/>
          <p:nvPr/>
        </p:nvSpPr>
        <p:spPr>
          <a:xfrm>
            <a:off x="347294" y="1029327"/>
            <a:ext cx="3913504"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extracting</a:t>
            </a:r>
            <a:r>
              <a:rPr sz="1000" spc="-5" dirty="0">
                <a:latin typeface="Arial"/>
                <a:cs typeface="Arial"/>
              </a:rPr>
              <a:t> it</a:t>
            </a:r>
            <a:r>
              <a:rPr sz="1000" dirty="0">
                <a:latin typeface="Arial"/>
                <a:cs typeface="Arial"/>
              </a:rPr>
              <a:t> </a:t>
            </a:r>
            <a:r>
              <a:rPr sz="1000" spc="-10" dirty="0">
                <a:latin typeface="Arial"/>
                <a:cs typeface="Arial"/>
              </a:rPr>
              <a:t>from</a:t>
            </a:r>
            <a:r>
              <a:rPr sz="1000" spc="-5" dirty="0">
                <a:latin typeface="Arial"/>
                <a:cs typeface="Arial"/>
              </a:rPr>
              <a:t> </a:t>
            </a:r>
            <a:r>
              <a:rPr sz="1000" spc="-10" dirty="0">
                <a:latin typeface="Arial"/>
                <a:cs typeface="Arial"/>
              </a:rPr>
              <a:t>a</a:t>
            </a:r>
            <a:r>
              <a:rPr sz="1000" spc="-5" dirty="0">
                <a:latin typeface="Arial"/>
                <a:cs typeface="Arial"/>
              </a:rPr>
              <a:t> </a:t>
            </a:r>
            <a:r>
              <a:rPr sz="1000" spc="-5" dirty="0">
                <a:solidFill>
                  <a:srgbClr val="0000FA"/>
                </a:solidFill>
                <a:latin typeface="Arial"/>
                <a:cs typeface="Arial"/>
              </a:rPr>
              <a:t>local</a:t>
            </a:r>
            <a:r>
              <a:rPr sz="1000" dirty="0">
                <a:solidFill>
                  <a:srgbClr val="0000FA"/>
                </a:solidFill>
                <a:latin typeface="Arial"/>
                <a:cs typeface="Arial"/>
              </a:rPr>
              <a:t> </a:t>
            </a:r>
            <a:r>
              <a:rPr sz="1000" spc="-10" dirty="0">
                <a:latin typeface="Arial"/>
                <a:cs typeface="Arial"/>
              </a:rPr>
              <a:t>queue</a:t>
            </a:r>
            <a:r>
              <a:rPr sz="1000" spc="-5" dirty="0">
                <a:latin typeface="Arial"/>
                <a:cs typeface="Arial"/>
              </a:rPr>
              <a:t> only</a:t>
            </a:r>
            <a:r>
              <a:rPr sz="1000" dirty="0">
                <a:latin typeface="Arial"/>
                <a:cs typeface="Arial"/>
              </a:rPr>
              <a:t> </a:t>
            </a:r>
            <a:r>
              <a:rPr sz="1000" i="1" spc="-5" dirty="0">
                <a:latin typeface="メイリオ"/>
                <a:cs typeface="メイリオ"/>
              </a:rPr>
              <a:t>⇒</a:t>
            </a:r>
            <a:r>
              <a:rPr sz="1000" i="1" spc="-65" dirty="0">
                <a:latin typeface="メイリオ"/>
                <a:cs typeface="メイリオ"/>
              </a:rPr>
              <a:t> </a:t>
            </a:r>
            <a:r>
              <a:rPr sz="1000" spc="-10" dirty="0">
                <a:latin typeface="Arial"/>
                <a:cs typeface="Arial"/>
              </a:rPr>
              <a:t>queue</a:t>
            </a:r>
            <a:r>
              <a:rPr sz="1000" dirty="0">
                <a:latin typeface="Arial"/>
                <a:cs typeface="Arial"/>
              </a:rPr>
              <a:t> </a:t>
            </a:r>
            <a:r>
              <a:rPr sz="1000" spc="-10" dirty="0">
                <a:latin typeface="Arial"/>
                <a:cs typeface="Arial"/>
              </a:rPr>
              <a:t>managers</a:t>
            </a:r>
            <a:r>
              <a:rPr sz="1000" spc="-5" dirty="0">
                <a:latin typeface="Arial"/>
                <a:cs typeface="Arial"/>
              </a:rPr>
              <a:t> </a:t>
            </a:r>
            <a:r>
              <a:rPr sz="1000" spc="-10" dirty="0">
                <a:latin typeface="Arial"/>
                <a:cs typeface="Arial"/>
              </a:rPr>
              <a:t>need</a:t>
            </a:r>
            <a:r>
              <a:rPr sz="1000" dirty="0">
                <a:latin typeface="Arial"/>
                <a:cs typeface="Arial"/>
              </a:rPr>
              <a:t> </a:t>
            </a:r>
            <a:r>
              <a:rPr sz="1000" spc="-5" dirty="0">
                <a:latin typeface="Arial"/>
                <a:cs typeface="Arial"/>
              </a:rPr>
              <a:t>to </a:t>
            </a:r>
            <a:r>
              <a:rPr sz="1000" spc="-5" dirty="0">
                <a:solidFill>
                  <a:srgbClr val="0000FA"/>
                </a:solidFill>
                <a:latin typeface="Arial"/>
                <a:cs typeface="Arial"/>
              </a:rPr>
              <a:t>route</a:t>
            </a:r>
            <a:endParaRPr sz="1000">
              <a:latin typeface="Arial"/>
              <a:cs typeface="Arial"/>
            </a:endParaRPr>
          </a:p>
        </p:txBody>
      </p:sp>
      <p:sp>
        <p:nvSpPr>
          <p:cNvPr id="6" name="object 6"/>
          <p:cNvSpPr txBox="1"/>
          <p:nvPr/>
        </p:nvSpPr>
        <p:spPr>
          <a:xfrm>
            <a:off x="347294" y="1107345"/>
            <a:ext cx="635635" cy="521970"/>
          </a:xfrm>
          <a:prstGeom prst="rect">
            <a:avLst/>
          </a:prstGeom>
        </p:spPr>
        <p:txBody>
          <a:bodyPr vert="horz" wrap="square" lIns="0" tIns="85725" rIns="0" bIns="0" rtlCol="0">
            <a:spAutoFit/>
          </a:bodyPr>
          <a:lstStyle/>
          <a:p>
            <a:pPr marL="12700">
              <a:lnSpc>
                <a:spcPct val="100000"/>
              </a:lnSpc>
              <a:spcBef>
                <a:spcPts val="675"/>
              </a:spcBef>
            </a:pPr>
            <a:r>
              <a:rPr sz="1000" spc="-5" dirty="0">
                <a:latin typeface="Arial"/>
                <a:cs typeface="Arial"/>
              </a:rPr>
              <a:t>message</a:t>
            </a:r>
            <a:r>
              <a:rPr sz="1000" spc="-20" dirty="0">
                <a:latin typeface="Arial"/>
                <a:cs typeface="Arial"/>
              </a:rPr>
              <a:t>s</a:t>
            </a:r>
            <a:r>
              <a:rPr sz="1000" spc="-5" dirty="0">
                <a:latin typeface="Arial"/>
                <a:cs typeface="Arial"/>
              </a:rPr>
              <a:t>.</a:t>
            </a:r>
            <a:endParaRPr sz="1000">
              <a:latin typeface="Arial"/>
              <a:cs typeface="Arial"/>
            </a:endParaRPr>
          </a:p>
          <a:p>
            <a:pPr marL="12700">
              <a:lnSpc>
                <a:spcPct val="100000"/>
              </a:lnSpc>
              <a:spcBef>
                <a:spcPts val="695"/>
              </a:spcBef>
            </a:pPr>
            <a:r>
              <a:rPr sz="1200" spc="-5" dirty="0">
                <a:solidFill>
                  <a:srgbClr val="3333B2"/>
                </a:solidFill>
                <a:latin typeface="Arial"/>
                <a:cs typeface="Arial"/>
              </a:rPr>
              <a:t>Routing</a:t>
            </a:r>
            <a:endParaRPr sz="1200">
              <a:latin typeface="Arial"/>
              <a:cs typeface="Arial"/>
            </a:endParaRPr>
          </a:p>
        </p:txBody>
      </p:sp>
      <p:grpSp>
        <p:nvGrpSpPr>
          <p:cNvPr id="7" name="object 7"/>
          <p:cNvGrpSpPr/>
          <p:nvPr/>
        </p:nvGrpSpPr>
        <p:grpSpPr>
          <a:xfrm>
            <a:off x="880788" y="1761822"/>
            <a:ext cx="2853690" cy="955675"/>
            <a:chOff x="880788" y="1761822"/>
            <a:chExt cx="2853690" cy="955675"/>
          </a:xfrm>
        </p:grpSpPr>
        <p:sp>
          <p:nvSpPr>
            <p:cNvPr id="8" name="object 8"/>
            <p:cNvSpPr/>
            <p:nvPr/>
          </p:nvSpPr>
          <p:spPr>
            <a:xfrm>
              <a:off x="2782483" y="1764997"/>
              <a:ext cx="949325" cy="949325"/>
            </a:xfrm>
            <a:custGeom>
              <a:avLst/>
              <a:gdLst/>
              <a:ahLst/>
              <a:cxnLst/>
              <a:rect l="l" t="t" r="r" b="b"/>
              <a:pathLst>
                <a:path w="949325" h="949325">
                  <a:moveTo>
                    <a:pt x="0" y="948752"/>
                  </a:moveTo>
                  <a:lnTo>
                    <a:pt x="948752" y="948752"/>
                  </a:lnTo>
                  <a:lnTo>
                    <a:pt x="948752" y="0"/>
                  </a:lnTo>
                  <a:lnTo>
                    <a:pt x="0" y="0"/>
                  </a:lnTo>
                  <a:lnTo>
                    <a:pt x="0" y="948752"/>
                  </a:lnTo>
                  <a:close/>
                </a:path>
              </a:pathLst>
            </a:custGeom>
            <a:ln w="5976">
              <a:solidFill>
                <a:srgbClr val="231F20"/>
              </a:solidFill>
            </a:ln>
          </p:spPr>
          <p:txBody>
            <a:bodyPr wrap="square" lIns="0" tIns="0" rIns="0" bIns="0" rtlCol="0"/>
            <a:lstStyle/>
            <a:p>
              <a:endParaRPr/>
            </a:p>
          </p:txBody>
        </p:sp>
        <p:sp>
          <p:nvSpPr>
            <p:cNvPr id="9" name="object 9"/>
            <p:cNvSpPr/>
            <p:nvPr/>
          </p:nvSpPr>
          <p:spPr>
            <a:xfrm>
              <a:off x="936350" y="1813692"/>
              <a:ext cx="843915" cy="741045"/>
            </a:xfrm>
            <a:custGeom>
              <a:avLst/>
              <a:gdLst/>
              <a:ahLst/>
              <a:cxnLst/>
              <a:rect l="l" t="t" r="r" b="b"/>
              <a:pathLst>
                <a:path w="843914" h="741044">
                  <a:moveTo>
                    <a:pt x="0" y="740604"/>
                  </a:moveTo>
                  <a:lnTo>
                    <a:pt x="843387" y="740604"/>
                  </a:lnTo>
                  <a:lnTo>
                    <a:pt x="843387" y="0"/>
                  </a:lnTo>
                  <a:lnTo>
                    <a:pt x="0" y="0"/>
                  </a:lnTo>
                  <a:lnTo>
                    <a:pt x="0" y="740604"/>
                  </a:lnTo>
                  <a:close/>
                </a:path>
              </a:pathLst>
            </a:custGeom>
            <a:ln w="5270">
              <a:solidFill>
                <a:srgbClr val="231F20"/>
              </a:solidFill>
            </a:ln>
          </p:spPr>
          <p:txBody>
            <a:bodyPr wrap="square" lIns="0" tIns="0" rIns="0" bIns="0" rtlCol="0"/>
            <a:lstStyle/>
            <a:p>
              <a:endParaRPr/>
            </a:p>
          </p:txBody>
        </p:sp>
        <p:sp>
          <p:nvSpPr>
            <p:cNvPr id="10" name="object 10"/>
            <p:cNvSpPr/>
            <p:nvPr/>
          </p:nvSpPr>
          <p:spPr>
            <a:xfrm>
              <a:off x="883645" y="2543373"/>
              <a:ext cx="949325" cy="166370"/>
            </a:xfrm>
            <a:custGeom>
              <a:avLst/>
              <a:gdLst/>
              <a:ahLst/>
              <a:cxnLst/>
              <a:rect l="l" t="t" r="r" b="b"/>
              <a:pathLst>
                <a:path w="949325" h="166369">
                  <a:moveTo>
                    <a:pt x="948747" y="0"/>
                  </a:moveTo>
                  <a:lnTo>
                    <a:pt x="0" y="0"/>
                  </a:lnTo>
                  <a:lnTo>
                    <a:pt x="0" y="166362"/>
                  </a:lnTo>
                  <a:lnTo>
                    <a:pt x="948747" y="166362"/>
                  </a:lnTo>
                  <a:lnTo>
                    <a:pt x="948747" y="0"/>
                  </a:lnTo>
                  <a:close/>
                </a:path>
              </a:pathLst>
            </a:custGeom>
            <a:solidFill>
              <a:srgbClr val="FFFFFF"/>
            </a:solidFill>
          </p:spPr>
          <p:txBody>
            <a:bodyPr wrap="square" lIns="0" tIns="0" rIns="0" bIns="0" rtlCol="0"/>
            <a:lstStyle/>
            <a:p>
              <a:endParaRPr/>
            </a:p>
          </p:txBody>
        </p:sp>
        <p:sp>
          <p:nvSpPr>
            <p:cNvPr id="11" name="object 11"/>
            <p:cNvSpPr/>
            <p:nvPr/>
          </p:nvSpPr>
          <p:spPr>
            <a:xfrm>
              <a:off x="883645" y="2543373"/>
              <a:ext cx="949325" cy="166370"/>
            </a:xfrm>
            <a:custGeom>
              <a:avLst/>
              <a:gdLst/>
              <a:ahLst/>
              <a:cxnLst/>
              <a:rect l="l" t="t" r="r" b="b"/>
              <a:pathLst>
                <a:path w="949325" h="166369">
                  <a:moveTo>
                    <a:pt x="0" y="166362"/>
                  </a:moveTo>
                  <a:lnTo>
                    <a:pt x="948747" y="166362"/>
                  </a:lnTo>
                  <a:lnTo>
                    <a:pt x="948747" y="0"/>
                  </a:lnTo>
                  <a:lnTo>
                    <a:pt x="0" y="0"/>
                  </a:lnTo>
                  <a:lnTo>
                    <a:pt x="0" y="166362"/>
                  </a:lnTo>
                  <a:close/>
                </a:path>
              </a:pathLst>
            </a:custGeom>
            <a:ln w="5270">
              <a:solidFill>
                <a:srgbClr val="231F20"/>
              </a:solidFill>
            </a:ln>
          </p:spPr>
          <p:txBody>
            <a:bodyPr wrap="square" lIns="0" tIns="0" rIns="0" bIns="0" rtlCol="0"/>
            <a:lstStyle/>
            <a:p>
              <a:endParaRPr/>
            </a:p>
          </p:txBody>
        </p:sp>
      </p:grpSp>
      <p:sp>
        <p:nvSpPr>
          <p:cNvPr id="12" name="object 12"/>
          <p:cNvSpPr txBox="1"/>
          <p:nvPr/>
        </p:nvSpPr>
        <p:spPr>
          <a:xfrm>
            <a:off x="888916" y="2568679"/>
            <a:ext cx="938530" cy="127000"/>
          </a:xfrm>
          <a:prstGeom prst="rect">
            <a:avLst/>
          </a:prstGeom>
        </p:spPr>
        <p:txBody>
          <a:bodyPr vert="horz" wrap="square" lIns="0" tIns="13970" rIns="0" bIns="0" rtlCol="0">
            <a:spAutoFit/>
          </a:bodyPr>
          <a:lstStyle/>
          <a:p>
            <a:pPr marL="20955">
              <a:lnSpc>
                <a:spcPct val="100000"/>
              </a:lnSpc>
              <a:spcBef>
                <a:spcPts val="110"/>
              </a:spcBef>
            </a:pPr>
            <a:r>
              <a:rPr sz="650" spc="5" dirty="0">
                <a:solidFill>
                  <a:srgbClr val="231F20"/>
                </a:solidFill>
                <a:latin typeface="Arial"/>
                <a:cs typeface="Arial"/>
              </a:rPr>
              <a:t>Local</a:t>
            </a:r>
            <a:r>
              <a:rPr sz="650" spc="-30" dirty="0">
                <a:solidFill>
                  <a:srgbClr val="231F20"/>
                </a:solidFill>
                <a:latin typeface="Arial"/>
                <a:cs typeface="Arial"/>
              </a:rPr>
              <a:t> </a:t>
            </a:r>
            <a:r>
              <a:rPr sz="650" spc="20" dirty="0">
                <a:solidFill>
                  <a:srgbClr val="231F20"/>
                </a:solidFill>
                <a:latin typeface="Arial"/>
                <a:cs typeface="Arial"/>
              </a:rPr>
              <a:t>OS</a:t>
            </a:r>
            <a:endParaRPr sz="650">
              <a:latin typeface="Arial"/>
              <a:cs typeface="Arial"/>
            </a:endParaRPr>
          </a:p>
        </p:txBody>
      </p:sp>
      <p:grpSp>
        <p:nvGrpSpPr>
          <p:cNvPr id="13" name="object 13"/>
          <p:cNvGrpSpPr/>
          <p:nvPr/>
        </p:nvGrpSpPr>
        <p:grpSpPr>
          <a:xfrm>
            <a:off x="878248" y="1755585"/>
            <a:ext cx="2858770" cy="963930"/>
            <a:chOff x="878248" y="1755585"/>
            <a:chExt cx="2858770" cy="963930"/>
          </a:xfrm>
        </p:grpSpPr>
        <p:sp>
          <p:nvSpPr>
            <p:cNvPr id="14" name="object 14"/>
            <p:cNvSpPr/>
            <p:nvPr/>
          </p:nvSpPr>
          <p:spPr>
            <a:xfrm>
              <a:off x="2835188" y="1817707"/>
              <a:ext cx="843915" cy="741045"/>
            </a:xfrm>
            <a:custGeom>
              <a:avLst/>
              <a:gdLst/>
              <a:ahLst/>
              <a:cxnLst/>
              <a:rect l="l" t="t" r="r" b="b"/>
              <a:pathLst>
                <a:path w="843914" h="741044">
                  <a:moveTo>
                    <a:pt x="0" y="740600"/>
                  </a:moveTo>
                  <a:lnTo>
                    <a:pt x="843383" y="740600"/>
                  </a:lnTo>
                  <a:lnTo>
                    <a:pt x="843383" y="0"/>
                  </a:lnTo>
                  <a:lnTo>
                    <a:pt x="0" y="0"/>
                  </a:lnTo>
                  <a:lnTo>
                    <a:pt x="0" y="740600"/>
                  </a:lnTo>
                  <a:close/>
                </a:path>
              </a:pathLst>
            </a:custGeom>
            <a:ln w="5270">
              <a:solidFill>
                <a:srgbClr val="231F20"/>
              </a:solidFill>
            </a:ln>
          </p:spPr>
          <p:txBody>
            <a:bodyPr wrap="square" lIns="0" tIns="0" rIns="0" bIns="0" rtlCol="0"/>
            <a:lstStyle/>
            <a:p>
              <a:endParaRPr/>
            </a:p>
          </p:txBody>
        </p:sp>
        <p:sp>
          <p:nvSpPr>
            <p:cNvPr id="15" name="object 15"/>
            <p:cNvSpPr/>
            <p:nvPr/>
          </p:nvSpPr>
          <p:spPr>
            <a:xfrm>
              <a:off x="2782483" y="2547382"/>
              <a:ext cx="949325" cy="166370"/>
            </a:xfrm>
            <a:custGeom>
              <a:avLst/>
              <a:gdLst/>
              <a:ahLst/>
              <a:cxnLst/>
              <a:rect l="l" t="t" r="r" b="b"/>
              <a:pathLst>
                <a:path w="949325" h="166369">
                  <a:moveTo>
                    <a:pt x="948752" y="0"/>
                  </a:moveTo>
                  <a:lnTo>
                    <a:pt x="0" y="0"/>
                  </a:lnTo>
                  <a:lnTo>
                    <a:pt x="0" y="166366"/>
                  </a:lnTo>
                  <a:lnTo>
                    <a:pt x="948752" y="166366"/>
                  </a:lnTo>
                  <a:lnTo>
                    <a:pt x="948752" y="0"/>
                  </a:lnTo>
                  <a:close/>
                </a:path>
              </a:pathLst>
            </a:custGeom>
            <a:solidFill>
              <a:srgbClr val="FFFFFF"/>
            </a:solidFill>
          </p:spPr>
          <p:txBody>
            <a:bodyPr wrap="square" lIns="0" tIns="0" rIns="0" bIns="0" rtlCol="0"/>
            <a:lstStyle/>
            <a:p>
              <a:endParaRPr/>
            </a:p>
          </p:txBody>
        </p:sp>
        <p:sp>
          <p:nvSpPr>
            <p:cNvPr id="16" name="object 16"/>
            <p:cNvSpPr/>
            <p:nvPr/>
          </p:nvSpPr>
          <p:spPr>
            <a:xfrm>
              <a:off x="2782483" y="2547382"/>
              <a:ext cx="949325" cy="166370"/>
            </a:xfrm>
            <a:custGeom>
              <a:avLst/>
              <a:gdLst/>
              <a:ahLst/>
              <a:cxnLst/>
              <a:rect l="l" t="t" r="r" b="b"/>
              <a:pathLst>
                <a:path w="949325" h="166369">
                  <a:moveTo>
                    <a:pt x="0" y="166366"/>
                  </a:moveTo>
                  <a:lnTo>
                    <a:pt x="948752" y="166366"/>
                  </a:lnTo>
                  <a:lnTo>
                    <a:pt x="948752" y="0"/>
                  </a:lnTo>
                  <a:lnTo>
                    <a:pt x="0" y="0"/>
                  </a:lnTo>
                  <a:lnTo>
                    <a:pt x="0" y="166366"/>
                  </a:lnTo>
                  <a:close/>
                </a:path>
              </a:pathLst>
            </a:custGeom>
            <a:ln w="5270">
              <a:solidFill>
                <a:srgbClr val="231F20"/>
              </a:solidFill>
            </a:ln>
          </p:spPr>
          <p:txBody>
            <a:bodyPr wrap="square" lIns="0" tIns="0" rIns="0" bIns="0" rtlCol="0"/>
            <a:lstStyle/>
            <a:p>
              <a:endParaRPr/>
            </a:p>
          </p:txBody>
        </p:sp>
        <p:sp>
          <p:nvSpPr>
            <p:cNvPr id="17" name="object 17"/>
            <p:cNvSpPr/>
            <p:nvPr/>
          </p:nvSpPr>
          <p:spPr>
            <a:xfrm>
              <a:off x="883645" y="1760982"/>
              <a:ext cx="2847975" cy="953135"/>
            </a:xfrm>
            <a:custGeom>
              <a:avLst/>
              <a:gdLst/>
              <a:ahLst/>
              <a:cxnLst/>
              <a:rect l="l" t="t" r="r" b="b"/>
              <a:pathLst>
                <a:path w="2847975" h="953135">
                  <a:moveTo>
                    <a:pt x="1898837" y="952766"/>
                  </a:moveTo>
                  <a:lnTo>
                    <a:pt x="2847590" y="952766"/>
                  </a:lnTo>
                  <a:lnTo>
                    <a:pt x="2847590" y="4014"/>
                  </a:lnTo>
                  <a:lnTo>
                    <a:pt x="1898837" y="4014"/>
                  </a:lnTo>
                  <a:lnTo>
                    <a:pt x="1898837" y="952766"/>
                  </a:lnTo>
                  <a:close/>
                </a:path>
                <a:path w="2847975" h="953135">
                  <a:moveTo>
                    <a:pt x="0" y="948752"/>
                  </a:moveTo>
                  <a:lnTo>
                    <a:pt x="948747" y="948752"/>
                  </a:lnTo>
                  <a:lnTo>
                    <a:pt x="948747" y="0"/>
                  </a:lnTo>
                  <a:lnTo>
                    <a:pt x="0" y="0"/>
                  </a:lnTo>
                  <a:lnTo>
                    <a:pt x="0" y="948752"/>
                  </a:lnTo>
                  <a:close/>
                </a:path>
              </a:pathLst>
            </a:custGeom>
            <a:ln w="10541">
              <a:solidFill>
                <a:srgbClr val="231F20"/>
              </a:solidFill>
            </a:ln>
          </p:spPr>
          <p:txBody>
            <a:bodyPr wrap="square" lIns="0" tIns="0" rIns="0" bIns="0" rtlCol="0"/>
            <a:lstStyle/>
            <a:p>
              <a:endParaRPr/>
            </a:p>
          </p:txBody>
        </p:sp>
      </p:grpSp>
      <p:sp>
        <p:nvSpPr>
          <p:cNvPr id="18" name="object 18"/>
          <p:cNvSpPr txBox="1"/>
          <p:nvPr/>
        </p:nvSpPr>
        <p:spPr>
          <a:xfrm>
            <a:off x="938985" y="1807337"/>
            <a:ext cx="838200" cy="220979"/>
          </a:xfrm>
          <a:prstGeom prst="rect">
            <a:avLst/>
          </a:prstGeom>
        </p:spPr>
        <p:txBody>
          <a:bodyPr vert="horz" wrap="square" lIns="0" tIns="21590" rIns="0" bIns="0" rtlCol="0">
            <a:spAutoFit/>
          </a:bodyPr>
          <a:lstStyle/>
          <a:p>
            <a:pPr marL="24130" marR="280670">
              <a:lnSpc>
                <a:spcPts val="740"/>
              </a:lnSpc>
              <a:spcBef>
                <a:spcPts val="170"/>
              </a:spcBef>
            </a:pPr>
            <a:r>
              <a:rPr sz="650" spc="5" dirty="0">
                <a:solidFill>
                  <a:srgbClr val="231F20"/>
                </a:solidFill>
                <a:latin typeface="Arial"/>
                <a:cs typeface="Arial"/>
              </a:rPr>
              <a:t>Source queue  manager</a:t>
            </a:r>
            <a:endParaRPr sz="650">
              <a:latin typeface="Arial"/>
              <a:cs typeface="Arial"/>
            </a:endParaRPr>
          </a:p>
        </p:txBody>
      </p:sp>
      <p:pic>
        <p:nvPicPr>
          <p:cNvPr id="19" name="object 19"/>
          <p:cNvPicPr/>
          <p:nvPr/>
        </p:nvPicPr>
        <p:blipFill>
          <a:blip r:embed="rId6" cstate="print"/>
          <a:stretch>
            <a:fillRect/>
          </a:stretch>
        </p:blipFill>
        <p:spPr>
          <a:xfrm>
            <a:off x="1278213" y="2173891"/>
            <a:ext cx="474771" cy="393325"/>
          </a:xfrm>
          <a:prstGeom prst="rect">
            <a:avLst/>
          </a:prstGeom>
        </p:spPr>
      </p:pic>
      <p:sp>
        <p:nvSpPr>
          <p:cNvPr id="20" name="object 20"/>
          <p:cNvSpPr txBox="1"/>
          <p:nvPr/>
        </p:nvSpPr>
        <p:spPr>
          <a:xfrm>
            <a:off x="3417813" y="2802898"/>
            <a:ext cx="325755"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Contact  address</a:t>
            </a:r>
            <a:endParaRPr sz="650">
              <a:latin typeface="Arial"/>
              <a:cs typeface="Arial"/>
            </a:endParaRPr>
          </a:p>
        </p:txBody>
      </p:sp>
      <p:sp>
        <p:nvSpPr>
          <p:cNvPr id="21" name="object 21"/>
          <p:cNvSpPr txBox="1"/>
          <p:nvPr/>
        </p:nvSpPr>
        <p:spPr>
          <a:xfrm>
            <a:off x="2848612" y="1810970"/>
            <a:ext cx="705485"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Destination queue  manager</a:t>
            </a:r>
            <a:endParaRPr sz="650">
              <a:latin typeface="Arial"/>
              <a:cs typeface="Arial"/>
            </a:endParaRPr>
          </a:p>
        </p:txBody>
      </p:sp>
      <p:sp>
        <p:nvSpPr>
          <p:cNvPr id="22" name="object 22"/>
          <p:cNvSpPr txBox="1"/>
          <p:nvPr/>
        </p:nvSpPr>
        <p:spPr>
          <a:xfrm>
            <a:off x="2052881" y="2535635"/>
            <a:ext cx="607060" cy="221615"/>
          </a:xfrm>
          <a:prstGeom prst="rect">
            <a:avLst/>
          </a:prstGeom>
        </p:spPr>
        <p:txBody>
          <a:bodyPr vert="horz" wrap="square" lIns="0" tIns="20320" rIns="0" bIns="0" rtlCol="0">
            <a:spAutoFit/>
          </a:bodyPr>
          <a:lstStyle/>
          <a:p>
            <a:pPr marL="12700" marR="5080">
              <a:lnSpc>
                <a:spcPts val="750"/>
              </a:lnSpc>
              <a:spcBef>
                <a:spcPts val="160"/>
              </a:spcBef>
            </a:pPr>
            <a:r>
              <a:rPr sz="650" spc="5" dirty="0">
                <a:solidFill>
                  <a:srgbClr val="231F20"/>
                </a:solidFill>
                <a:latin typeface="Arial"/>
                <a:cs typeface="Arial"/>
              </a:rPr>
              <a:t>Address lookup  database</a:t>
            </a:r>
            <a:endParaRPr sz="650">
              <a:latin typeface="Arial"/>
              <a:cs typeface="Arial"/>
            </a:endParaRPr>
          </a:p>
        </p:txBody>
      </p:sp>
      <p:sp>
        <p:nvSpPr>
          <p:cNvPr id="23" name="object 23"/>
          <p:cNvSpPr txBox="1"/>
          <p:nvPr/>
        </p:nvSpPr>
        <p:spPr>
          <a:xfrm>
            <a:off x="1911476" y="1707952"/>
            <a:ext cx="32575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Look up</a:t>
            </a:r>
            <a:endParaRPr sz="650">
              <a:latin typeface="Arial"/>
              <a:cs typeface="Arial"/>
            </a:endParaRPr>
          </a:p>
        </p:txBody>
      </p:sp>
      <p:sp>
        <p:nvSpPr>
          <p:cNvPr id="24" name="object 24"/>
          <p:cNvSpPr txBox="1"/>
          <p:nvPr/>
        </p:nvSpPr>
        <p:spPr>
          <a:xfrm>
            <a:off x="1911476" y="1802064"/>
            <a:ext cx="824865" cy="657225"/>
          </a:xfrm>
          <a:prstGeom prst="rect">
            <a:avLst/>
          </a:prstGeom>
        </p:spPr>
        <p:txBody>
          <a:bodyPr vert="horz" wrap="square" lIns="0" tIns="21590" rIns="0" bIns="0" rtlCol="0">
            <a:spAutoFit/>
          </a:bodyPr>
          <a:lstStyle/>
          <a:p>
            <a:pPr marL="12700" marR="208915">
              <a:lnSpc>
                <a:spcPts val="740"/>
              </a:lnSpc>
              <a:spcBef>
                <a:spcPts val="170"/>
              </a:spcBef>
            </a:pPr>
            <a:r>
              <a:rPr sz="650" spc="5" dirty="0">
                <a:solidFill>
                  <a:srgbClr val="231F20"/>
                </a:solidFill>
                <a:latin typeface="Arial"/>
                <a:cs typeface="Arial"/>
              </a:rPr>
              <a:t>contact address  of destination </a:t>
            </a:r>
            <a:r>
              <a:rPr sz="650" spc="10" dirty="0">
                <a:solidFill>
                  <a:srgbClr val="231F20"/>
                </a:solidFill>
                <a:latin typeface="Arial"/>
                <a:cs typeface="Arial"/>
              </a:rPr>
              <a:t> </a:t>
            </a:r>
            <a:r>
              <a:rPr sz="650" spc="5" dirty="0">
                <a:solidFill>
                  <a:srgbClr val="231F20"/>
                </a:solidFill>
                <a:latin typeface="Arial"/>
                <a:cs typeface="Arial"/>
              </a:rPr>
              <a:t>queue</a:t>
            </a:r>
            <a:r>
              <a:rPr sz="650" dirty="0">
                <a:solidFill>
                  <a:srgbClr val="231F20"/>
                </a:solidFill>
                <a:latin typeface="Arial"/>
                <a:cs typeface="Arial"/>
              </a:rPr>
              <a:t> </a:t>
            </a:r>
            <a:r>
              <a:rPr sz="650" spc="5" dirty="0">
                <a:solidFill>
                  <a:srgbClr val="231F20"/>
                </a:solidFill>
                <a:latin typeface="Arial"/>
                <a:cs typeface="Arial"/>
              </a:rPr>
              <a:t>manager</a:t>
            </a:r>
            <a:endParaRPr sz="650">
              <a:latin typeface="Arial"/>
              <a:cs typeface="Arial"/>
            </a:endParaRPr>
          </a:p>
          <a:p>
            <a:pPr marL="221615" marR="5080" indent="323215" algn="r">
              <a:lnSpc>
                <a:spcPts val="740"/>
              </a:lnSpc>
              <a:spcBef>
                <a:spcPts val="475"/>
              </a:spcBef>
            </a:pPr>
            <a:r>
              <a:rPr sz="650" spc="5" dirty="0">
                <a:solidFill>
                  <a:srgbClr val="231F20"/>
                </a:solidFill>
                <a:latin typeface="Arial"/>
                <a:cs typeface="Arial"/>
              </a:rPr>
              <a:t>Logical  queue-level </a:t>
            </a:r>
            <a:r>
              <a:rPr sz="650" spc="10" dirty="0">
                <a:solidFill>
                  <a:srgbClr val="231F20"/>
                </a:solidFill>
                <a:latin typeface="Arial"/>
                <a:cs typeface="Arial"/>
              </a:rPr>
              <a:t> </a:t>
            </a:r>
            <a:r>
              <a:rPr sz="650" spc="5" dirty="0">
                <a:solidFill>
                  <a:srgbClr val="231F20"/>
                </a:solidFill>
                <a:latin typeface="Arial"/>
                <a:cs typeface="Arial"/>
              </a:rPr>
              <a:t>address</a:t>
            </a:r>
            <a:r>
              <a:rPr sz="650" dirty="0">
                <a:solidFill>
                  <a:srgbClr val="231F20"/>
                </a:solidFill>
                <a:latin typeface="Arial"/>
                <a:cs typeface="Arial"/>
              </a:rPr>
              <a:t> </a:t>
            </a:r>
            <a:r>
              <a:rPr sz="650" spc="5" dirty="0">
                <a:solidFill>
                  <a:srgbClr val="231F20"/>
                </a:solidFill>
                <a:latin typeface="Arial"/>
                <a:cs typeface="Arial"/>
              </a:rPr>
              <a:t>(name)</a:t>
            </a:r>
            <a:endParaRPr sz="650">
              <a:latin typeface="Arial"/>
              <a:cs typeface="Arial"/>
            </a:endParaRPr>
          </a:p>
        </p:txBody>
      </p:sp>
      <p:sp>
        <p:nvSpPr>
          <p:cNvPr id="25" name="object 25"/>
          <p:cNvSpPr txBox="1"/>
          <p:nvPr/>
        </p:nvSpPr>
        <p:spPr>
          <a:xfrm>
            <a:off x="2787754" y="2583659"/>
            <a:ext cx="938530" cy="127000"/>
          </a:xfrm>
          <a:prstGeom prst="rect">
            <a:avLst/>
          </a:prstGeom>
        </p:spPr>
        <p:txBody>
          <a:bodyPr vert="horz" wrap="square" lIns="0" tIns="13970" rIns="0" bIns="0" rtlCol="0">
            <a:spAutoFit/>
          </a:bodyPr>
          <a:lstStyle/>
          <a:p>
            <a:pPr marL="27305">
              <a:lnSpc>
                <a:spcPct val="100000"/>
              </a:lnSpc>
              <a:spcBef>
                <a:spcPts val="110"/>
              </a:spcBef>
            </a:pPr>
            <a:r>
              <a:rPr sz="650" spc="5" dirty="0">
                <a:solidFill>
                  <a:srgbClr val="231F20"/>
                </a:solidFill>
                <a:latin typeface="Arial"/>
                <a:cs typeface="Arial"/>
              </a:rPr>
              <a:t>Local</a:t>
            </a:r>
            <a:r>
              <a:rPr sz="650" spc="-30" dirty="0">
                <a:solidFill>
                  <a:srgbClr val="231F20"/>
                </a:solidFill>
                <a:latin typeface="Arial"/>
                <a:cs typeface="Arial"/>
              </a:rPr>
              <a:t> </a:t>
            </a:r>
            <a:r>
              <a:rPr sz="650" spc="20" dirty="0">
                <a:solidFill>
                  <a:srgbClr val="231F20"/>
                </a:solidFill>
                <a:latin typeface="Arial"/>
                <a:cs typeface="Arial"/>
              </a:rPr>
              <a:t>OS</a:t>
            </a:r>
            <a:endParaRPr sz="650">
              <a:latin typeface="Arial"/>
              <a:cs typeface="Arial"/>
            </a:endParaRPr>
          </a:p>
        </p:txBody>
      </p:sp>
      <p:sp>
        <p:nvSpPr>
          <p:cNvPr id="26" name="object 26"/>
          <p:cNvSpPr txBox="1"/>
          <p:nvPr/>
        </p:nvSpPr>
        <p:spPr>
          <a:xfrm>
            <a:off x="1769041" y="2924211"/>
            <a:ext cx="3346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Network</a:t>
            </a:r>
            <a:endParaRPr sz="650">
              <a:latin typeface="Arial"/>
              <a:cs typeface="Arial"/>
            </a:endParaRPr>
          </a:p>
        </p:txBody>
      </p:sp>
      <p:grpSp>
        <p:nvGrpSpPr>
          <p:cNvPr id="27" name="object 27"/>
          <p:cNvGrpSpPr/>
          <p:nvPr/>
        </p:nvGrpSpPr>
        <p:grpSpPr>
          <a:xfrm>
            <a:off x="1155138" y="1929313"/>
            <a:ext cx="2384425" cy="1002030"/>
            <a:chOff x="1155138" y="1929313"/>
            <a:chExt cx="2384425" cy="1002030"/>
          </a:xfrm>
        </p:grpSpPr>
        <p:sp>
          <p:nvSpPr>
            <p:cNvPr id="28" name="object 28"/>
            <p:cNvSpPr/>
            <p:nvPr/>
          </p:nvSpPr>
          <p:spPr>
            <a:xfrm>
              <a:off x="2739665" y="2238613"/>
              <a:ext cx="796925" cy="565150"/>
            </a:xfrm>
            <a:custGeom>
              <a:avLst/>
              <a:gdLst/>
              <a:ahLst/>
              <a:cxnLst/>
              <a:rect l="l" t="t" r="r" b="b"/>
              <a:pathLst>
                <a:path w="796925" h="565150">
                  <a:moveTo>
                    <a:pt x="481871" y="201535"/>
                  </a:moveTo>
                  <a:lnTo>
                    <a:pt x="481871" y="53034"/>
                  </a:lnTo>
                  <a:lnTo>
                    <a:pt x="609153" y="53034"/>
                  </a:lnTo>
                  <a:lnTo>
                    <a:pt x="609153" y="201535"/>
                  </a:lnTo>
                </a:path>
                <a:path w="796925" h="565150">
                  <a:moveTo>
                    <a:pt x="503079" y="84855"/>
                  </a:moveTo>
                  <a:lnTo>
                    <a:pt x="587934" y="84855"/>
                  </a:lnTo>
                </a:path>
                <a:path w="796925" h="565150">
                  <a:moveTo>
                    <a:pt x="503079" y="116676"/>
                  </a:moveTo>
                  <a:lnTo>
                    <a:pt x="587934" y="116676"/>
                  </a:lnTo>
                </a:path>
                <a:path w="796925" h="565150">
                  <a:moveTo>
                    <a:pt x="503079" y="148493"/>
                  </a:moveTo>
                  <a:lnTo>
                    <a:pt x="587934" y="148493"/>
                  </a:lnTo>
                </a:path>
                <a:path w="796925" h="565150">
                  <a:moveTo>
                    <a:pt x="0" y="145997"/>
                  </a:moveTo>
                  <a:lnTo>
                    <a:pt x="524298" y="0"/>
                  </a:lnTo>
                </a:path>
                <a:path w="796925" h="565150">
                  <a:moveTo>
                    <a:pt x="796646" y="564553"/>
                  </a:moveTo>
                  <a:lnTo>
                    <a:pt x="562857" y="262496"/>
                  </a:lnTo>
                </a:path>
              </a:pathLst>
            </a:custGeom>
            <a:ln w="5267">
              <a:solidFill>
                <a:srgbClr val="231F20"/>
              </a:solidFill>
            </a:ln>
          </p:spPr>
          <p:txBody>
            <a:bodyPr wrap="square" lIns="0" tIns="0" rIns="0" bIns="0" rtlCol="0"/>
            <a:lstStyle/>
            <a:p>
              <a:endParaRPr/>
            </a:p>
          </p:txBody>
        </p:sp>
        <p:pic>
          <p:nvPicPr>
            <p:cNvPr id="29" name="object 29"/>
            <p:cNvPicPr/>
            <p:nvPr/>
          </p:nvPicPr>
          <p:blipFill>
            <a:blip r:embed="rId7" cstate="print"/>
            <a:stretch>
              <a:fillRect/>
            </a:stretch>
          </p:blipFill>
          <p:spPr>
            <a:xfrm>
              <a:off x="3253297" y="2111319"/>
              <a:ext cx="63751" cy="180329"/>
            </a:xfrm>
            <a:prstGeom prst="rect">
              <a:avLst/>
            </a:prstGeom>
          </p:spPr>
        </p:pic>
        <p:sp>
          <p:nvSpPr>
            <p:cNvPr id="30" name="object 30"/>
            <p:cNvSpPr/>
            <p:nvPr/>
          </p:nvSpPr>
          <p:spPr>
            <a:xfrm>
              <a:off x="1155138" y="2922872"/>
              <a:ext cx="306070" cy="0"/>
            </a:xfrm>
            <a:custGeom>
              <a:avLst/>
              <a:gdLst/>
              <a:ahLst/>
              <a:cxnLst/>
              <a:rect l="l" t="t" r="r" b="b"/>
              <a:pathLst>
                <a:path w="306069">
                  <a:moveTo>
                    <a:pt x="0" y="0"/>
                  </a:moveTo>
                  <a:lnTo>
                    <a:pt x="305713" y="0"/>
                  </a:lnTo>
                </a:path>
              </a:pathLst>
            </a:custGeom>
            <a:ln w="15809">
              <a:solidFill>
                <a:srgbClr val="231F20"/>
              </a:solidFill>
            </a:ln>
          </p:spPr>
          <p:txBody>
            <a:bodyPr wrap="square" lIns="0" tIns="0" rIns="0" bIns="0" rtlCol="0"/>
            <a:lstStyle/>
            <a:p>
              <a:endParaRPr/>
            </a:p>
          </p:txBody>
        </p:sp>
        <p:sp>
          <p:nvSpPr>
            <p:cNvPr id="31" name="object 31"/>
            <p:cNvSpPr/>
            <p:nvPr/>
          </p:nvSpPr>
          <p:spPr>
            <a:xfrm>
              <a:off x="3133739" y="2922869"/>
              <a:ext cx="320040" cy="0"/>
            </a:xfrm>
            <a:custGeom>
              <a:avLst/>
              <a:gdLst/>
              <a:ahLst/>
              <a:cxnLst/>
              <a:rect l="l" t="t" r="r" b="b"/>
              <a:pathLst>
                <a:path w="320039">
                  <a:moveTo>
                    <a:pt x="0" y="0"/>
                  </a:moveTo>
                  <a:lnTo>
                    <a:pt x="319488" y="0"/>
                  </a:lnTo>
                </a:path>
              </a:pathLst>
            </a:custGeom>
            <a:ln w="15809">
              <a:solidFill>
                <a:srgbClr val="231F20"/>
              </a:solidFill>
            </a:ln>
          </p:spPr>
          <p:txBody>
            <a:bodyPr wrap="square" lIns="0" tIns="0" rIns="0" bIns="0" rtlCol="0"/>
            <a:lstStyle/>
            <a:p>
              <a:endParaRPr/>
            </a:p>
          </p:txBody>
        </p:sp>
        <p:sp>
          <p:nvSpPr>
            <p:cNvPr id="32" name="object 32"/>
            <p:cNvSpPr/>
            <p:nvPr/>
          </p:nvSpPr>
          <p:spPr>
            <a:xfrm>
              <a:off x="1471387" y="2922873"/>
              <a:ext cx="1653539" cy="0"/>
            </a:xfrm>
            <a:custGeom>
              <a:avLst/>
              <a:gdLst/>
              <a:ahLst/>
              <a:cxnLst/>
              <a:rect l="l" t="t" r="r" b="b"/>
              <a:pathLst>
                <a:path w="1653539">
                  <a:moveTo>
                    <a:pt x="0" y="0"/>
                  </a:moveTo>
                  <a:lnTo>
                    <a:pt x="1652977" y="0"/>
                  </a:lnTo>
                </a:path>
              </a:pathLst>
            </a:custGeom>
            <a:ln w="17118">
              <a:solidFill>
                <a:srgbClr val="231F20"/>
              </a:solidFill>
              <a:prstDash val="lgDash"/>
            </a:ln>
          </p:spPr>
          <p:txBody>
            <a:bodyPr wrap="square" lIns="0" tIns="0" rIns="0" bIns="0" rtlCol="0"/>
            <a:lstStyle/>
            <a:p>
              <a:endParaRPr/>
            </a:p>
          </p:txBody>
        </p:sp>
        <p:sp>
          <p:nvSpPr>
            <p:cNvPr id="33" name="object 33"/>
            <p:cNvSpPr/>
            <p:nvPr/>
          </p:nvSpPr>
          <p:spPr>
            <a:xfrm>
              <a:off x="1281633" y="2710718"/>
              <a:ext cx="0" cy="212725"/>
            </a:xfrm>
            <a:custGeom>
              <a:avLst/>
              <a:gdLst/>
              <a:ahLst/>
              <a:cxnLst/>
              <a:rect l="l" t="t" r="r" b="b"/>
              <a:pathLst>
                <a:path h="212725">
                  <a:moveTo>
                    <a:pt x="0" y="0"/>
                  </a:moveTo>
                  <a:lnTo>
                    <a:pt x="0" y="212146"/>
                  </a:lnTo>
                </a:path>
              </a:pathLst>
            </a:custGeom>
            <a:ln w="15812">
              <a:solidFill>
                <a:srgbClr val="231F20"/>
              </a:solidFill>
            </a:ln>
          </p:spPr>
          <p:txBody>
            <a:bodyPr wrap="square" lIns="0" tIns="0" rIns="0" bIns="0" rtlCol="0"/>
            <a:lstStyle/>
            <a:p>
              <a:endParaRPr/>
            </a:p>
          </p:txBody>
        </p:sp>
        <p:sp>
          <p:nvSpPr>
            <p:cNvPr id="34" name="object 34"/>
            <p:cNvSpPr/>
            <p:nvPr/>
          </p:nvSpPr>
          <p:spPr>
            <a:xfrm>
              <a:off x="3347797" y="2712033"/>
              <a:ext cx="0" cy="212725"/>
            </a:xfrm>
            <a:custGeom>
              <a:avLst/>
              <a:gdLst/>
              <a:ahLst/>
              <a:cxnLst/>
              <a:rect l="l" t="t" r="r" b="b"/>
              <a:pathLst>
                <a:path h="212725">
                  <a:moveTo>
                    <a:pt x="0" y="0"/>
                  </a:moveTo>
                  <a:lnTo>
                    <a:pt x="0" y="212153"/>
                  </a:lnTo>
                </a:path>
              </a:pathLst>
            </a:custGeom>
            <a:ln w="15809">
              <a:solidFill>
                <a:srgbClr val="231F20"/>
              </a:solidFill>
            </a:ln>
          </p:spPr>
          <p:txBody>
            <a:bodyPr wrap="square" lIns="0" tIns="0" rIns="0" bIns="0" rtlCol="0"/>
            <a:lstStyle/>
            <a:p>
              <a:endParaRPr/>
            </a:p>
          </p:txBody>
        </p:sp>
        <p:sp>
          <p:nvSpPr>
            <p:cNvPr id="35" name="object 35"/>
            <p:cNvSpPr/>
            <p:nvPr/>
          </p:nvSpPr>
          <p:spPr>
            <a:xfrm>
              <a:off x="1340807" y="2559666"/>
              <a:ext cx="1944370" cy="297815"/>
            </a:xfrm>
            <a:custGeom>
              <a:avLst/>
              <a:gdLst/>
              <a:ahLst/>
              <a:cxnLst/>
              <a:rect l="l" t="t" r="r" b="b"/>
              <a:pathLst>
                <a:path w="1944370" h="297814">
                  <a:moveTo>
                    <a:pt x="0" y="4916"/>
                  </a:moveTo>
                  <a:lnTo>
                    <a:pt x="4067" y="173452"/>
                  </a:lnTo>
                  <a:lnTo>
                    <a:pt x="15637" y="224338"/>
                  </a:lnTo>
                  <a:lnTo>
                    <a:pt x="45769" y="263453"/>
                  </a:lnTo>
                  <a:lnTo>
                    <a:pt x="87600" y="288562"/>
                  </a:lnTo>
                  <a:lnTo>
                    <a:pt x="134265" y="297429"/>
                  </a:lnTo>
                  <a:lnTo>
                    <a:pt x="163699" y="297429"/>
                  </a:lnTo>
                  <a:lnTo>
                    <a:pt x="197007" y="297429"/>
                  </a:lnTo>
                  <a:lnTo>
                    <a:pt x="1787536" y="297429"/>
                  </a:lnTo>
                  <a:lnTo>
                    <a:pt x="1839717" y="291706"/>
                  </a:lnTo>
                  <a:lnTo>
                    <a:pt x="1882949" y="275303"/>
                  </a:lnTo>
                  <a:lnTo>
                    <a:pt x="1915710" y="249363"/>
                  </a:lnTo>
                  <a:lnTo>
                    <a:pt x="1936481" y="215031"/>
                  </a:lnTo>
                  <a:lnTo>
                    <a:pt x="1943743" y="173452"/>
                  </a:lnTo>
                  <a:lnTo>
                    <a:pt x="1943743" y="0"/>
                  </a:lnTo>
                </a:path>
              </a:pathLst>
            </a:custGeom>
            <a:ln w="5267">
              <a:solidFill>
                <a:srgbClr val="231F20"/>
              </a:solidFill>
            </a:ln>
          </p:spPr>
          <p:txBody>
            <a:bodyPr wrap="square" lIns="0" tIns="0" rIns="0" bIns="0" rtlCol="0"/>
            <a:lstStyle/>
            <a:p>
              <a:endParaRPr/>
            </a:p>
          </p:txBody>
        </p:sp>
        <p:pic>
          <p:nvPicPr>
            <p:cNvPr id="36" name="object 36"/>
            <p:cNvPicPr/>
            <p:nvPr/>
          </p:nvPicPr>
          <p:blipFill>
            <a:blip r:embed="rId8" cstate="print"/>
            <a:stretch>
              <a:fillRect/>
            </a:stretch>
          </p:blipFill>
          <p:spPr>
            <a:xfrm>
              <a:off x="3252685" y="2522286"/>
              <a:ext cx="63741" cy="74375"/>
            </a:xfrm>
            <a:prstGeom prst="rect">
              <a:avLst/>
            </a:prstGeom>
          </p:spPr>
        </p:pic>
        <p:sp>
          <p:nvSpPr>
            <p:cNvPr id="37" name="object 37"/>
            <p:cNvSpPr/>
            <p:nvPr/>
          </p:nvSpPr>
          <p:spPr>
            <a:xfrm>
              <a:off x="1453280" y="1937512"/>
              <a:ext cx="575945" cy="657860"/>
            </a:xfrm>
            <a:custGeom>
              <a:avLst/>
              <a:gdLst/>
              <a:ahLst/>
              <a:cxnLst/>
              <a:rect l="l" t="t" r="r" b="b"/>
              <a:pathLst>
                <a:path w="575944" h="657860">
                  <a:moveTo>
                    <a:pt x="575690" y="657531"/>
                  </a:moveTo>
                  <a:lnTo>
                    <a:pt x="297070" y="475509"/>
                  </a:lnTo>
                </a:path>
                <a:path w="575944" h="657860">
                  <a:moveTo>
                    <a:pt x="478555" y="0"/>
                  </a:moveTo>
                  <a:lnTo>
                    <a:pt x="214870" y="104127"/>
                  </a:lnTo>
                  <a:lnTo>
                    <a:pt x="71357" y="260786"/>
                  </a:lnTo>
                  <a:lnTo>
                    <a:pt x="11804" y="403519"/>
                  </a:lnTo>
                  <a:lnTo>
                    <a:pt x="0" y="465865"/>
                  </a:lnTo>
                </a:path>
              </a:pathLst>
            </a:custGeom>
            <a:ln w="5267">
              <a:solidFill>
                <a:srgbClr val="231F20"/>
              </a:solidFill>
            </a:ln>
          </p:spPr>
          <p:txBody>
            <a:bodyPr wrap="square" lIns="0" tIns="0" rIns="0" bIns="0" rtlCol="0"/>
            <a:lstStyle/>
            <a:p>
              <a:endParaRPr/>
            </a:p>
          </p:txBody>
        </p:sp>
        <p:sp>
          <p:nvSpPr>
            <p:cNvPr id="38" name="object 38"/>
            <p:cNvSpPr/>
            <p:nvPr/>
          </p:nvSpPr>
          <p:spPr>
            <a:xfrm>
              <a:off x="3263964" y="2471969"/>
              <a:ext cx="42545" cy="42545"/>
            </a:xfrm>
            <a:custGeom>
              <a:avLst/>
              <a:gdLst/>
              <a:ahLst/>
              <a:cxnLst/>
              <a:rect l="l" t="t" r="r" b="b"/>
              <a:pathLst>
                <a:path w="42545" h="42544">
                  <a:moveTo>
                    <a:pt x="21208" y="0"/>
                  </a:moveTo>
                  <a:lnTo>
                    <a:pt x="12962" y="1672"/>
                  </a:lnTo>
                  <a:lnTo>
                    <a:pt x="6220" y="6228"/>
                  </a:lnTo>
                  <a:lnTo>
                    <a:pt x="1669" y="12974"/>
                  </a:lnTo>
                  <a:lnTo>
                    <a:pt x="0" y="21217"/>
                  </a:lnTo>
                  <a:lnTo>
                    <a:pt x="1671" y="29460"/>
                  </a:lnTo>
                  <a:lnTo>
                    <a:pt x="6224" y="36205"/>
                  </a:lnTo>
                  <a:lnTo>
                    <a:pt x="12967" y="40759"/>
                  </a:lnTo>
                  <a:lnTo>
                    <a:pt x="21208" y="42431"/>
                  </a:lnTo>
                  <a:lnTo>
                    <a:pt x="29455" y="40759"/>
                  </a:lnTo>
                  <a:lnTo>
                    <a:pt x="36201" y="36205"/>
                  </a:lnTo>
                  <a:lnTo>
                    <a:pt x="40755" y="29460"/>
                  </a:lnTo>
                  <a:lnTo>
                    <a:pt x="42427" y="21217"/>
                  </a:lnTo>
                  <a:lnTo>
                    <a:pt x="40755" y="12974"/>
                  </a:lnTo>
                  <a:lnTo>
                    <a:pt x="36201" y="6228"/>
                  </a:lnTo>
                  <a:lnTo>
                    <a:pt x="29455" y="1672"/>
                  </a:lnTo>
                  <a:lnTo>
                    <a:pt x="21208" y="0"/>
                  </a:lnTo>
                  <a:close/>
                </a:path>
              </a:pathLst>
            </a:custGeom>
            <a:solidFill>
              <a:srgbClr val="FFFFFF"/>
            </a:solidFill>
          </p:spPr>
          <p:txBody>
            <a:bodyPr wrap="square" lIns="0" tIns="0" rIns="0" bIns="0" rtlCol="0"/>
            <a:lstStyle/>
            <a:p>
              <a:endParaRPr/>
            </a:p>
          </p:txBody>
        </p:sp>
        <p:sp>
          <p:nvSpPr>
            <p:cNvPr id="39" name="object 39"/>
            <p:cNvSpPr/>
            <p:nvPr/>
          </p:nvSpPr>
          <p:spPr>
            <a:xfrm>
              <a:off x="3263964" y="2471969"/>
              <a:ext cx="42545" cy="42545"/>
            </a:xfrm>
            <a:custGeom>
              <a:avLst/>
              <a:gdLst/>
              <a:ahLst/>
              <a:cxnLst/>
              <a:rect l="l" t="t" r="r" b="b"/>
              <a:pathLst>
                <a:path w="42545" h="42544">
                  <a:moveTo>
                    <a:pt x="21208" y="0"/>
                  </a:moveTo>
                  <a:lnTo>
                    <a:pt x="29455" y="1672"/>
                  </a:lnTo>
                  <a:lnTo>
                    <a:pt x="36201" y="6228"/>
                  </a:lnTo>
                  <a:lnTo>
                    <a:pt x="40755" y="12974"/>
                  </a:lnTo>
                  <a:lnTo>
                    <a:pt x="42427" y="21217"/>
                  </a:lnTo>
                  <a:lnTo>
                    <a:pt x="40755" y="29460"/>
                  </a:lnTo>
                  <a:lnTo>
                    <a:pt x="36201" y="36205"/>
                  </a:lnTo>
                  <a:lnTo>
                    <a:pt x="29455" y="40759"/>
                  </a:lnTo>
                  <a:lnTo>
                    <a:pt x="21208" y="42431"/>
                  </a:lnTo>
                  <a:lnTo>
                    <a:pt x="12967" y="40759"/>
                  </a:lnTo>
                  <a:lnTo>
                    <a:pt x="6224" y="36205"/>
                  </a:lnTo>
                  <a:lnTo>
                    <a:pt x="1671" y="29460"/>
                  </a:lnTo>
                  <a:lnTo>
                    <a:pt x="0" y="21217"/>
                  </a:lnTo>
                  <a:lnTo>
                    <a:pt x="1669" y="12974"/>
                  </a:lnTo>
                  <a:lnTo>
                    <a:pt x="6220" y="6228"/>
                  </a:lnTo>
                  <a:lnTo>
                    <a:pt x="12962" y="1672"/>
                  </a:lnTo>
                  <a:lnTo>
                    <a:pt x="21208" y="0"/>
                  </a:lnTo>
                  <a:close/>
                </a:path>
              </a:pathLst>
            </a:custGeom>
            <a:ln w="5267">
              <a:solidFill>
                <a:srgbClr val="231F20"/>
              </a:solidFill>
            </a:ln>
          </p:spPr>
          <p:txBody>
            <a:bodyPr wrap="square" lIns="0" tIns="0" rIns="0" bIns="0" rtlCol="0"/>
            <a:lstStyle/>
            <a:p>
              <a:endParaRPr/>
            </a:p>
          </p:txBody>
        </p:sp>
        <p:sp>
          <p:nvSpPr>
            <p:cNvPr id="40" name="object 40"/>
            <p:cNvSpPr/>
            <p:nvPr/>
          </p:nvSpPr>
          <p:spPr>
            <a:xfrm>
              <a:off x="3285173" y="2429537"/>
              <a:ext cx="0" cy="42545"/>
            </a:xfrm>
            <a:custGeom>
              <a:avLst/>
              <a:gdLst/>
              <a:ahLst/>
              <a:cxnLst/>
              <a:rect l="l" t="t" r="r" b="b"/>
              <a:pathLst>
                <a:path h="42544">
                  <a:moveTo>
                    <a:pt x="0" y="42431"/>
                  </a:moveTo>
                  <a:lnTo>
                    <a:pt x="0" y="0"/>
                  </a:lnTo>
                </a:path>
              </a:pathLst>
            </a:custGeom>
            <a:ln w="5267">
              <a:solidFill>
                <a:srgbClr val="231F20"/>
              </a:solidFill>
            </a:ln>
          </p:spPr>
          <p:txBody>
            <a:bodyPr wrap="square" lIns="0" tIns="0" rIns="0" bIns="0" rtlCol="0"/>
            <a:lstStyle/>
            <a:p>
              <a:endParaRPr/>
            </a:p>
          </p:txBody>
        </p:sp>
      </p:grpSp>
      <p:sp>
        <p:nvSpPr>
          <p:cNvPr id="41" name="object 41"/>
          <p:cNvSpPr txBox="1"/>
          <p:nvPr/>
        </p:nvSpPr>
        <p:spPr>
          <a:xfrm>
            <a:off x="66713" y="3327684"/>
            <a:ext cx="17462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9" action="ppaction://hlinksldjump"/>
              </a:rPr>
              <a:t>General</a:t>
            </a:r>
            <a:r>
              <a:rPr sz="600"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architecture</a:t>
            </a:r>
            <a:r>
              <a:rPr sz="600" spc="5"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of</a:t>
            </a:r>
            <a:r>
              <a:rPr sz="600" spc="5"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a</a:t>
            </a:r>
            <a:r>
              <a:rPr sz="600" spc="5"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message-queuing</a:t>
            </a:r>
            <a:r>
              <a:rPr sz="600" spc="5"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system</a:t>
            </a:r>
            <a:endParaRPr sz="600">
              <a:latin typeface="Arial"/>
              <a:cs typeface="Arial"/>
            </a:endParaRPr>
          </a:p>
        </p:txBody>
      </p:sp>
      <p:sp>
        <p:nvSpPr>
          <p:cNvPr id="42" name="object 42"/>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60642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Message bro</a:t>
            </a:r>
            <a:r>
              <a:rPr sz="600" spc="-20" dirty="0">
                <a:solidFill>
                  <a:srgbClr val="3333B2"/>
                </a:solidFill>
                <a:latin typeface="Arial"/>
                <a:cs typeface="Arial"/>
                <a:hlinkClick r:id="rId3" action="ppaction://hlinksldjump"/>
              </a:rPr>
              <a:t>k</a:t>
            </a:r>
            <a:r>
              <a:rPr sz="600" spc="-5" dirty="0">
                <a:solidFill>
                  <a:srgbClr val="3333B2"/>
                </a:solidFill>
                <a:latin typeface="Arial"/>
                <a:cs typeface="Arial"/>
                <a:hlinkClick r:id="rId3" action="ppaction://hlinksldjump"/>
              </a:rPr>
              <a:t>ers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31</a:t>
            </a:r>
            <a:r>
              <a:rPr spc="-40" dirty="0"/>
              <a:t> </a:t>
            </a:r>
            <a:r>
              <a:rPr spc="-5" dirty="0"/>
              <a:t>/</a:t>
            </a:r>
            <a:r>
              <a:rPr spc="-35" dirty="0"/>
              <a:t> </a:t>
            </a:r>
            <a:r>
              <a:rPr spc="-5" dirty="0"/>
              <a:t>49</a:t>
            </a:r>
          </a:p>
        </p:txBody>
      </p:sp>
      <p:sp>
        <p:nvSpPr>
          <p:cNvPr id="2" name="object 2"/>
          <p:cNvSpPr txBox="1"/>
          <p:nvPr/>
        </p:nvSpPr>
        <p:spPr>
          <a:xfrm>
            <a:off x="66713" y="716"/>
            <a:ext cx="1752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65" dirty="0">
                <a:solidFill>
                  <a:srgbClr val="3333B2"/>
                </a:solidFill>
                <a:latin typeface="Arial"/>
                <a:cs typeface="Arial"/>
              </a:rPr>
              <a:t> </a:t>
            </a:r>
            <a:r>
              <a:rPr sz="600" spc="-5" dirty="0">
                <a:solidFill>
                  <a:srgbClr val="3333B2"/>
                </a:solidFill>
                <a:latin typeface="Arial"/>
                <a:cs typeface="Arial"/>
                <a:hlinkClick r:id="rId5" action="ppaction://hlinksldjump"/>
              </a:rPr>
              <a:t>Message-oriented</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endParaRPr sz="600">
              <a:latin typeface="Arial"/>
              <a:cs typeface="Arial"/>
            </a:endParaRPr>
          </a:p>
        </p:txBody>
      </p:sp>
      <p:sp>
        <p:nvSpPr>
          <p:cNvPr id="3" name="object 3"/>
          <p:cNvSpPr txBox="1"/>
          <p:nvPr/>
        </p:nvSpPr>
        <p:spPr>
          <a:xfrm>
            <a:off x="3026203" y="716"/>
            <a:ext cx="15151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Message-oriented</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persistent</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communication</a:t>
            </a:r>
            <a:endParaRPr sz="600">
              <a:latin typeface="Arial"/>
              <a:cs typeface="Arial"/>
            </a:endParaRPr>
          </a:p>
        </p:txBody>
      </p:sp>
      <p:sp>
        <p:nvSpPr>
          <p:cNvPr id="4" name="object 4"/>
          <p:cNvSpPr txBox="1"/>
          <p:nvPr/>
        </p:nvSpPr>
        <p:spPr>
          <a:xfrm>
            <a:off x="95300" y="188846"/>
            <a:ext cx="132842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Message</a:t>
            </a:r>
            <a:r>
              <a:rPr sz="1400" spc="-45" dirty="0">
                <a:solidFill>
                  <a:srgbClr val="3333B2"/>
                </a:solidFill>
                <a:latin typeface="Arial"/>
                <a:cs typeface="Arial"/>
              </a:rPr>
              <a:t> </a:t>
            </a:r>
            <a:r>
              <a:rPr sz="1400" spc="10" dirty="0">
                <a:solidFill>
                  <a:srgbClr val="3333B2"/>
                </a:solidFill>
                <a:latin typeface="Arial"/>
                <a:cs typeface="Arial"/>
              </a:rPr>
              <a:t>broker</a:t>
            </a:r>
            <a:endParaRPr sz="1400" dirty="0">
              <a:latin typeface="Arial"/>
              <a:cs typeface="Arial"/>
            </a:endParaRPr>
          </a:p>
        </p:txBody>
      </p:sp>
      <p:sp>
        <p:nvSpPr>
          <p:cNvPr id="5" name="object 5"/>
          <p:cNvSpPr txBox="1"/>
          <p:nvPr/>
        </p:nvSpPr>
        <p:spPr>
          <a:xfrm>
            <a:off x="321894" y="888235"/>
            <a:ext cx="3964304" cy="1635760"/>
          </a:xfrm>
          <a:prstGeom prst="rect">
            <a:avLst/>
          </a:prstGeom>
        </p:spPr>
        <p:txBody>
          <a:bodyPr vert="horz" wrap="square" lIns="0" tIns="12065" rIns="0" bIns="0" rtlCol="0">
            <a:spAutoFit/>
          </a:bodyPr>
          <a:lstStyle/>
          <a:p>
            <a:pPr marL="38100">
              <a:lnSpc>
                <a:spcPts val="1410"/>
              </a:lnSpc>
              <a:spcBef>
                <a:spcPts val="95"/>
              </a:spcBef>
            </a:pPr>
            <a:r>
              <a:rPr sz="1200" spc="-5" dirty="0">
                <a:solidFill>
                  <a:srgbClr val="3333B2"/>
                </a:solidFill>
                <a:latin typeface="Arial"/>
                <a:cs typeface="Arial"/>
              </a:rPr>
              <a:t>Observation</a:t>
            </a:r>
            <a:endParaRPr sz="1200" dirty="0">
              <a:latin typeface="Arial"/>
              <a:cs typeface="Arial"/>
            </a:endParaRPr>
          </a:p>
          <a:p>
            <a:pPr marL="38100" marR="30480">
              <a:lnSpc>
                <a:spcPts val="1200"/>
              </a:lnSpc>
              <a:spcBef>
                <a:spcPts val="10"/>
              </a:spcBef>
            </a:pPr>
            <a:r>
              <a:rPr sz="1000" spc="-15" dirty="0">
                <a:latin typeface="Arial"/>
                <a:cs typeface="Arial"/>
              </a:rPr>
              <a:t>Message</a:t>
            </a:r>
            <a:r>
              <a:rPr sz="1000" spc="-5" dirty="0">
                <a:latin typeface="Arial"/>
                <a:cs typeface="Arial"/>
              </a:rPr>
              <a:t> </a:t>
            </a:r>
            <a:r>
              <a:rPr sz="1000" spc="-10" dirty="0">
                <a:latin typeface="Arial"/>
                <a:cs typeface="Arial"/>
              </a:rPr>
              <a:t>queuing</a:t>
            </a:r>
            <a:r>
              <a:rPr sz="1000" dirty="0">
                <a:latin typeface="Arial"/>
                <a:cs typeface="Arial"/>
              </a:rPr>
              <a:t> </a:t>
            </a:r>
            <a:r>
              <a:rPr sz="1000" spc="-10" dirty="0">
                <a:latin typeface="Arial"/>
                <a:cs typeface="Arial"/>
              </a:rPr>
              <a:t>systems</a:t>
            </a:r>
            <a:r>
              <a:rPr sz="1000" dirty="0">
                <a:latin typeface="Arial"/>
                <a:cs typeface="Arial"/>
              </a:rPr>
              <a:t> </a:t>
            </a:r>
            <a:r>
              <a:rPr sz="1000" spc="-15" dirty="0">
                <a:latin typeface="Arial"/>
                <a:cs typeface="Arial"/>
              </a:rPr>
              <a:t>assume</a:t>
            </a:r>
            <a:r>
              <a:rPr sz="1000" spc="-5" dirty="0">
                <a:latin typeface="Arial"/>
                <a:cs typeface="Arial"/>
              </a:rPr>
              <a:t> </a:t>
            </a:r>
            <a:r>
              <a:rPr sz="1000" spc="-10" dirty="0">
                <a:latin typeface="Arial"/>
                <a:cs typeface="Arial"/>
              </a:rPr>
              <a:t>a</a:t>
            </a:r>
            <a:r>
              <a:rPr sz="1000" dirty="0">
                <a:latin typeface="Arial"/>
                <a:cs typeface="Arial"/>
              </a:rPr>
              <a:t> </a:t>
            </a:r>
            <a:r>
              <a:rPr sz="1000" spc="-15" dirty="0">
                <a:solidFill>
                  <a:srgbClr val="0000FA"/>
                </a:solidFill>
                <a:latin typeface="Arial"/>
                <a:cs typeface="Arial"/>
              </a:rPr>
              <a:t>common</a:t>
            </a:r>
            <a:r>
              <a:rPr sz="1000" dirty="0">
                <a:solidFill>
                  <a:srgbClr val="0000FA"/>
                </a:solidFill>
                <a:latin typeface="Arial"/>
                <a:cs typeface="Arial"/>
              </a:rPr>
              <a:t> </a:t>
            </a:r>
            <a:r>
              <a:rPr sz="1000" spc="-10" dirty="0">
                <a:solidFill>
                  <a:srgbClr val="0000FA"/>
                </a:solidFill>
                <a:latin typeface="Arial"/>
                <a:cs typeface="Arial"/>
              </a:rPr>
              <a:t>messaging</a:t>
            </a:r>
            <a:r>
              <a:rPr sz="1000" dirty="0">
                <a:solidFill>
                  <a:srgbClr val="0000FA"/>
                </a:solidFill>
                <a:latin typeface="Arial"/>
                <a:cs typeface="Arial"/>
              </a:rPr>
              <a:t> </a:t>
            </a:r>
            <a:r>
              <a:rPr sz="1000" spc="-10" dirty="0">
                <a:solidFill>
                  <a:srgbClr val="0000FA"/>
                </a:solidFill>
                <a:latin typeface="Arial"/>
                <a:cs typeface="Arial"/>
              </a:rPr>
              <a:t>protocol</a:t>
            </a:r>
            <a:r>
              <a:rPr sz="1000" spc="-10" dirty="0">
                <a:latin typeface="Arial"/>
                <a:cs typeface="Arial"/>
              </a:rPr>
              <a:t>:</a:t>
            </a:r>
            <a:r>
              <a:rPr sz="1000" spc="65" dirty="0">
                <a:latin typeface="Arial"/>
                <a:cs typeface="Arial"/>
              </a:rPr>
              <a:t> </a:t>
            </a:r>
            <a:r>
              <a:rPr sz="1000" spc="-10" dirty="0">
                <a:latin typeface="Arial"/>
                <a:cs typeface="Arial"/>
              </a:rPr>
              <a:t>all </a:t>
            </a:r>
            <a:r>
              <a:rPr sz="1000" spc="-260" dirty="0">
                <a:latin typeface="Arial"/>
                <a:cs typeface="Arial"/>
              </a:rPr>
              <a:t> </a:t>
            </a:r>
            <a:r>
              <a:rPr sz="1000" spc="-5" dirty="0">
                <a:latin typeface="Arial"/>
                <a:cs typeface="Arial"/>
              </a:rPr>
              <a:t>applications agree on</a:t>
            </a:r>
            <a:r>
              <a:rPr sz="1000" dirty="0">
                <a:latin typeface="Arial"/>
                <a:cs typeface="Arial"/>
              </a:rPr>
              <a:t> </a:t>
            </a:r>
            <a:r>
              <a:rPr sz="1000" spc="-5" dirty="0">
                <a:latin typeface="Arial"/>
                <a:cs typeface="Arial"/>
              </a:rPr>
              <a:t>message format</a:t>
            </a:r>
            <a:r>
              <a:rPr sz="1000" dirty="0">
                <a:latin typeface="Arial"/>
                <a:cs typeface="Arial"/>
              </a:rPr>
              <a:t> </a:t>
            </a:r>
            <a:r>
              <a:rPr sz="1000" spc="-5" dirty="0">
                <a:latin typeface="Arial"/>
                <a:cs typeface="Arial"/>
              </a:rPr>
              <a:t>(i.e., structure</a:t>
            </a:r>
            <a:r>
              <a:rPr sz="1000" dirty="0">
                <a:latin typeface="Arial"/>
                <a:cs typeface="Arial"/>
              </a:rPr>
              <a:t> </a:t>
            </a:r>
            <a:r>
              <a:rPr sz="1000" spc="-5" dirty="0">
                <a:latin typeface="Arial"/>
                <a:cs typeface="Arial"/>
              </a:rPr>
              <a:t>and data </a:t>
            </a:r>
            <a:r>
              <a:rPr sz="1000" dirty="0">
                <a:latin typeface="Arial"/>
                <a:cs typeface="Arial"/>
              </a:rPr>
              <a:t> </a:t>
            </a:r>
            <a:r>
              <a:rPr sz="1000" spc="-5" dirty="0">
                <a:latin typeface="Arial"/>
                <a:cs typeface="Arial"/>
              </a:rPr>
              <a:t>representation)</a:t>
            </a:r>
            <a:endParaRPr sz="1000" dirty="0">
              <a:latin typeface="Arial"/>
              <a:cs typeface="Arial"/>
            </a:endParaRPr>
          </a:p>
          <a:p>
            <a:pPr marL="38100">
              <a:lnSpc>
                <a:spcPct val="100000"/>
              </a:lnSpc>
              <a:spcBef>
                <a:spcPts val="645"/>
              </a:spcBef>
            </a:pPr>
            <a:r>
              <a:rPr sz="1200" spc="-15" dirty="0">
                <a:solidFill>
                  <a:srgbClr val="3333B2"/>
                </a:solidFill>
                <a:latin typeface="Arial"/>
                <a:cs typeface="Arial"/>
              </a:rPr>
              <a:t>Broker</a:t>
            </a:r>
            <a:r>
              <a:rPr sz="1200" spc="-10" dirty="0">
                <a:solidFill>
                  <a:srgbClr val="3333B2"/>
                </a:solidFill>
                <a:latin typeface="Arial"/>
                <a:cs typeface="Arial"/>
              </a:rPr>
              <a:t> handles</a:t>
            </a:r>
            <a:r>
              <a:rPr sz="1200" spc="-5" dirty="0">
                <a:solidFill>
                  <a:srgbClr val="3333B2"/>
                </a:solidFill>
                <a:latin typeface="Arial"/>
                <a:cs typeface="Arial"/>
              </a:rPr>
              <a:t> </a:t>
            </a:r>
            <a:r>
              <a:rPr sz="1200" spc="-10" dirty="0">
                <a:solidFill>
                  <a:srgbClr val="3333B2"/>
                </a:solidFill>
                <a:latin typeface="Arial"/>
                <a:cs typeface="Arial"/>
              </a:rPr>
              <a:t>application heterogeneity</a:t>
            </a:r>
            <a:r>
              <a:rPr sz="1200" spc="-5" dirty="0">
                <a:solidFill>
                  <a:srgbClr val="3333B2"/>
                </a:solidFill>
                <a:latin typeface="Arial"/>
                <a:cs typeface="Arial"/>
              </a:rPr>
              <a:t> </a:t>
            </a:r>
            <a:r>
              <a:rPr sz="1200" spc="-10" dirty="0">
                <a:solidFill>
                  <a:srgbClr val="3333B2"/>
                </a:solidFill>
                <a:latin typeface="Arial"/>
                <a:cs typeface="Arial"/>
              </a:rPr>
              <a:t>in an</a:t>
            </a:r>
            <a:r>
              <a:rPr sz="1200" spc="-5" dirty="0">
                <a:solidFill>
                  <a:srgbClr val="3333B2"/>
                </a:solidFill>
                <a:latin typeface="Arial"/>
                <a:cs typeface="Arial"/>
              </a:rPr>
              <a:t> </a:t>
            </a:r>
            <a:r>
              <a:rPr sz="1200" spc="-20" dirty="0">
                <a:solidFill>
                  <a:srgbClr val="3333B2"/>
                </a:solidFill>
                <a:latin typeface="Arial"/>
                <a:cs typeface="Arial"/>
              </a:rPr>
              <a:t>MQ</a:t>
            </a:r>
            <a:r>
              <a:rPr sz="1200" spc="-5" dirty="0">
                <a:solidFill>
                  <a:srgbClr val="3333B2"/>
                </a:solidFill>
                <a:latin typeface="Arial"/>
                <a:cs typeface="Arial"/>
              </a:rPr>
              <a:t> </a:t>
            </a:r>
            <a:r>
              <a:rPr sz="1200" spc="-10" dirty="0">
                <a:solidFill>
                  <a:srgbClr val="3333B2"/>
                </a:solidFill>
                <a:latin typeface="Arial"/>
                <a:cs typeface="Arial"/>
              </a:rPr>
              <a:t>system</a:t>
            </a:r>
            <a:endParaRPr sz="1200" dirty="0">
              <a:latin typeface="Arial"/>
              <a:cs typeface="Arial"/>
            </a:endParaRPr>
          </a:p>
          <a:p>
            <a:pPr marL="314960" indent="-168275">
              <a:lnSpc>
                <a:spcPts val="1200"/>
              </a:lnSpc>
              <a:spcBef>
                <a:spcPts val="790"/>
              </a:spcBef>
              <a:buClr>
                <a:srgbClr val="3333B2"/>
              </a:buClr>
              <a:buChar char="►"/>
              <a:tabLst>
                <a:tab pos="315595" algn="l"/>
              </a:tabLst>
            </a:pPr>
            <a:r>
              <a:rPr sz="1000" spc="-20" dirty="0">
                <a:latin typeface="Arial"/>
                <a:cs typeface="Arial"/>
              </a:rPr>
              <a:t>Transforms</a:t>
            </a:r>
            <a:r>
              <a:rPr sz="1000" spc="-5" dirty="0">
                <a:latin typeface="Arial"/>
                <a:cs typeface="Arial"/>
              </a:rPr>
              <a:t> incoming</a:t>
            </a:r>
            <a:r>
              <a:rPr sz="1000" dirty="0">
                <a:latin typeface="Arial"/>
                <a:cs typeface="Arial"/>
              </a:rPr>
              <a:t> </a:t>
            </a:r>
            <a:r>
              <a:rPr sz="1000" spc="-5" dirty="0">
                <a:latin typeface="Arial"/>
                <a:cs typeface="Arial"/>
              </a:rPr>
              <a:t>messages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target format</a:t>
            </a:r>
            <a:endParaRPr sz="1000" dirty="0">
              <a:latin typeface="Arial"/>
              <a:cs typeface="Arial"/>
            </a:endParaRPr>
          </a:p>
          <a:p>
            <a:pPr marL="314960" indent="-168275">
              <a:lnSpc>
                <a:spcPts val="1195"/>
              </a:lnSpc>
              <a:buClr>
                <a:srgbClr val="3333B2"/>
              </a:buClr>
              <a:buChar char="►"/>
              <a:tabLst>
                <a:tab pos="315595" algn="l"/>
              </a:tabLst>
            </a:pPr>
            <a:r>
              <a:rPr sz="1000" spc="-20" dirty="0">
                <a:latin typeface="Arial"/>
                <a:cs typeface="Arial"/>
              </a:rPr>
              <a:t>Very</a:t>
            </a:r>
            <a:r>
              <a:rPr sz="1000" spc="-5" dirty="0">
                <a:latin typeface="Arial"/>
                <a:cs typeface="Arial"/>
              </a:rPr>
              <a:t> often</a:t>
            </a:r>
            <a:r>
              <a:rPr sz="1000" dirty="0">
                <a:latin typeface="Arial"/>
                <a:cs typeface="Arial"/>
              </a:rPr>
              <a:t> </a:t>
            </a:r>
            <a:r>
              <a:rPr sz="1000" spc="-5" dirty="0">
                <a:latin typeface="Arial"/>
                <a:cs typeface="Arial"/>
              </a:rPr>
              <a:t>acts</a:t>
            </a:r>
            <a:r>
              <a:rPr sz="1000" dirty="0">
                <a:latin typeface="Arial"/>
                <a:cs typeface="Arial"/>
              </a:rPr>
              <a:t> </a:t>
            </a:r>
            <a:r>
              <a:rPr sz="1000" spc="-5" dirty="0">
                <a:latin typeface="Arial"/>
                <a:cs typeface="Arial"/>
              </a:rPr>
              <a:t>as an</a:t>
            </a:r>
            <a:r>
              <a:rPr sz="1000" dirty="0">
                <a:latin typeface="Arial"/>
                <a:cs typeface="Arial"/>
              </a:rPr>
              <a:t> </a:t>
            </a:r>
            <a:r>
              <a:rPr sz="1000" spc="-5" dirty="0">
                <a:solidFill>
                  <a:srgbClr val="0000FA"/>
                </a:solidFill>
                <a:latin typeface="Arial"/>
                <a:cs typeface="Arial"/>
              </a:rPr>
              <a:t>application</a:t>
            </a:r>
            <a:r>
              <a:rPr sz="1000" dirty="0">
                <a:solidFill>
                  <a:srgbClr val="0000FA"/>
                </a:solidFill>
                <a:latin typeface="Arial"/>
                <a:cs typeface="Arial"/>
              </a:rPr>
              <a:t> </a:t>
            </a:r>
            <a:r>
              <a:rPr sz="1000" spc="-15" dirty="0">
                <a:solidFill>
                  <a:srgbClr val="0000FA"/>
                </a:solidFill>
                <a:latin typeface="Arial"/>
                <a:cs typeface="Arial"/>
              </a:rPr>
              <a:t>gateway</a:t>
            </a:r>
            <a:endParaRPr sz="1000" dirty="0">
              <a:latin typeface="Arial"/>
              <a:cs typeface="Arial"/>
            </a:endParaRPr>
          </a:p>
          <a:p>
            <a:pPr marL="314960" marR="772795" indent="-168275">
              <a:lnSpc>
                <a:spcPts val="1200"/>
              </a:lnSpc>
              <a:spcBef>
                <a:spcPts val="35"/>
              </a:spcBef>
              <a:buClr>
                <a:srgbClr val="3333B2"/>
              </a:buClr>
              <a:buChar char="►"/>
              <a:tabLst>
                <a:tab pos="315595" algn="l"/>
              </a:tabLst>
            </a:pPr>
            <a:r>
              <a:rPr sz="1000" spc="-15" dirty="0">
                <a:latin typeface="Arial"/>
                <a:cs typeface="Arial"/>
              </a:rPr>
              <a:t>May</a:t>
            </a:r>
            <a:r>
              <a:rPr sz="1000" dirty="0">
                <a:latin typeface="Arial"/>
                <a:cs typeface="Arial"/>
              </a:rPr>
              <a:t> </a:t>
            </a:r>
            <a:r>
              <a:rPr sz="1000" spc="-5" dirty="0">
                <a:latin typeface="Arial"/>
                <a:cs typeface="Arial"/>
              </a:rPr>
              <a:t>provide</a:t>
            </a:r>
            <a:r>
              <a:rPr sz="1000" dirty="0">
                <a:latin typeface="Arial"/>
                <a:cs typeface="Arial"/>
              </a:rPr>
              <a:t> </a:t>
            </a:r>
            <a:r>
              <a:rPr sz="1000" spc="-5" dirty="0">
                <a:solidFill>
                  <a:srgbClr val="0000FA"/>
                </a:solidFill>
                <a:latin typeface="Arial"/>
                <a:cs typeface="Arial"/>
              </a:rPr>
              <a:t>subject-based</a:t>
            </a:r>
            <a:r>
              <a:rPr sz="1000" dirty="0">
                <a:solidFill>
                  <a:srgbClr val="0000FA"/>
                </a:solidFill>
                <a:latin typeface="Arial"/>
                <a:cs typeface="Arial"/>
              </a:rPr>
              <a:t> </a:t>
            </a:r>
            <a:r>
              <a:rPr sz="1000" spc="-5" dirty="0">
                <a:latin typeface="Arial"/>
                <a:cs typeface="Arial"/>
              </a:rPr>
              <a:t>routing</a:t>
            </a:r>
            <a:r>
              <a:rPr sz="1000" dirty="0">
                <a:latin typeface="Arial"/>
                <a:cs typeface="Arial"/>
              </a:rPr>
              <a:t> </a:t>
            </a:r>
            <a:r>
              <a:rPr sz="1000" spc="-5" dirty="0">
                <a:latin typeface="Arial"/>
                <a:cs typeface="Arial"/>
              </a:rPr>
              <a:t>capabilities</a:t>
            </a:r>
            <a:r>
              <a:rPr sz="1000" dirty="0">
                <a:latin typeface="Arial"/>
                <a:cs typeface="Arial"/>
              </a:rPr>
              <a:t> </a:t>
            </a:r>
            <a:r>
              <a:rPr sz="1000" spc="-5" dirty="0">
                <a:latin typeface="Arial"/>
                <a:cs typeface="Arial"/>
              </a:rPr>
              <a:t>(i.e., </a:t>
            </a:r>
            <a:r>
              <a:rPr sz="1000" spc="-265" dirty="0">
                <a:latin typeface="Arial"/>
                <a:cs typeface="Arial"/>
              </a:rPr>
              <a:t> </a:t>
            </a:r>
            <a:r>
              <a:rPr sz="1000" spc="-5" dirty="0">
                <a:solidFill>
                  <a:srgbClr val="0000FA"/>
                </a:solidFill>
                <a:latin typeface="Arial"/>
                <a:cs typeface="Arial"/>
              </a:rPr>
              <a:t>publish-subscribe</a:t>
            </a:r>
            <a:r>
              <a:rPr sz="1000" spc="-10" dirty="0">
                <a:solidFill>
                  <a:srgbClr val="0000FA"/>
                </a:solidFill>
                <a:latin typeface="Arial"/>
                <a:cs typeface="Arial"/>
              </a:rPr>
              <a:t> </a:t>
            </a:r>
            <a:r>
              <a:rPr sz="1000" spc="-5" dirty="0">
                <a:latin typeface="Arial"/>
                <a:cs typeface="Arial"/>
              </a:rPr>
              <a:t>capabilities)</a:t>
            </a:r>
            <a:endParaRPr sz="1000" dirty="0">
              <a:latin typeface="Arial"/>
              <a:cs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971800" algn="l"/>
              </a:tabLst>
            </a:pPr>
            <a:r>
              <a:rPr sz="600" spc="-5" dirty="0">
                <a:solidFill>
                  <a:srgbClr val="3333B2"/>
                </a:solidFill>
                <a:latin typeface="Arial"/>
                <a:cs typeface="Arial"/>
                <a:hlinkClick r:id="rId3" action="ppaction://hlinksldjump"/>
              </a:rPr>
              <a:t>Communication:</a:t>
            </a:r>
            <a:r>
              <a:rPr sz="600" spc="195" dirty="0">
                <a:solidFill>
                  <a:srgbClr val="3333B2"/>
                </a:solidFill>
                <a:latin typeface="Arial"/>
                <a:cs typeface="Arial"/>
              </a:rPr>
              <a:t> </a:t>
            </a:r>
            <a:r>
              <a:rPr sz="600" spc="-5" dirty="0">
                <a:solidFill>
                  <a:srgbClr val="3333B2"/>
                </a:solidFill>
                <a:latin typeface="Arial"/>
                <a:cs typeface="Arial"/>
                <a:hlinkClick r:id="rId4" action="ppaction://hlinksldjump"/>
              </a:rPr>
              <a:t>Message-oriented</a:t>
            </a:r>
            <a:r>
              <a:rPr sz="600" spc="2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Message-oriented</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persistent</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communication</a:t>
            </a:r>
            <a:endParaRPr sz="600">
              <a:latin typeface="Arial"/>
              <a:cs typeface="Arial"/>
            </a:endParaRPr>
          </a:p>
        </p:txBody>
      </p:sp>
      <p:sp>
        <p:nvSpPr>
          <p:cNvPr id="3" name="object 3"/>
          <p:cNvSpPr txBox="1">
            <a:spLocks noGrp="1"/>
          </p:cNvSpPr>
          <p:nvPr>
            <p:ph type="title"/>
          </p:nvPr>
        </p:nvSpPr>
        <p:spPr>
          <a:xfrm>
            <a:off x="95300" y="188846"/>
            <a:ext cx="3054985" cy="244475"/>
          </a:xfrm>
          <a:prstGeom prst="rect">
            <a:avLst/>
          </a:prstGeom>
        </p:spPr>
        <p:txBody>
          <a:bodyPr vert="horz" wrap="square" lIns="0" tIns="17145" rIns="0" bIns="0" rtlCol="0">
            <a:spAutoFit/>
          </a:bodyPr>
          <a:lstStyle/>
          <a:p>
            <a:pPr marL="12700">
              <a:lnSpc>
                <a:spcPct val="100000"/>
              </a:lnSpc>
              <a:spcBef>
                <a:spcPts val="135"/>
              </a:spcBef>
            </a:pPr>
            <a:r>
              <a:rPr spc="15" dirty="0"/>
              <a:t>Message</a:t>
            </a:r>
            <a:r>
              <a:rPr spc="-5" dirty="0"/>
              <a:t> </a:t>
            </a:r>
            <a:r>
              <a:rPr spc="15" dirty="0"/>
              <a:t>broker:</a:t>
            </a:r>
            <a:r>
              <a:rPr spc="90" dirty="0"/>
              <a:t> </a:t>
            </a:r>
            <a:r>
              <a:rPr spc="10" dirty="0"/>
              <a:t>general</a:t>
            </a:r>
            <a:r>
              <a:rPr dirty="0"/>
              <a:t> </a:t>
            </a:r>
            <a:r>
              <a:rPr spc="15" dirty="0"/>
              <a:t>architecture</a:t>
            </a:r>
          </a:p>
        </p:txBody>
      </p:sp>
      <p:grpSp>
        <p:nvGrpSpPr>
          <p:cNvPr id="4" name="object 4"/>
          <p:cNvGrpSpPr/>
          <p:nvPr/>
        </p:nvGrpSpPr>
        <p:grpSpPr>
          <a:xfrm>
            <a:off x="656767" y="1354305"/>
            <a:ext cx="807085" cy="902335"/>
            <a:chOff x="656767" y="1354305"/>
            <a:chExt cx="807085" cy="902335"/>
          </a:xfrm>
        </p:grpSpPr>
        <p:sp>
          <p:nvSpPr>
            <p:cNvPr id="5" name="object 5"/>
            <p:cNvSpPr/>
            <p:nvPr/>
          </p:nvSpPr>
          <p:spPr>
            <a:xfrm>
              <a:off x="712333" y="1832669"/>
              <a:ext cx="685800" cy="265430"/>
            </a:xfrm>
            <a:custGeom>
              <a:avLst/>
              <a:gdLst/>
              <a:ahLst/>
              <a:cxnLst/>
              <a:rect l="l" t="t" r="r" b="b"/>
              <a:pathLst>
                <a:path w="685800" h="265430">
                  <a:moveTo>
                    <a:pt x="0" y="265093"/>
                  </a:moveTo>
                  <a:lnTo>
                    <a:pt x="685210" y="265093"/>
                  </a:lnTo>
                  <a:lnTo>
                    <a:pt x="685210" y="0"/>
                  </a:lnTo>
                  <a:lnTo>
                    <a:pt x="0" y="0"/>
                  </a:lnTo>
                  <a:lnTo>
                    <a:pt x="0" y="265093"/>
                  </a:lnTo>
                  <a:close/>
                </a:path>
              </a:pathLst>
            </a:custGeom>
            <a:ln w="5270">
              <a:solidFill>
                <a:srgbClr val="231F20"/>
              </a:solidFill>
            </a:ln>
          </p:spPr>
          <p:txBody>
            <a:bodyPr wrap="square" lIns="0" tIns="0" rIns="0" bIns="0" rtlCol="0"/>
            <a:lstStyle/>
            <a:p>
              <a:endParaRPr/>
            </a:p>
          </p:txBody>
        </p:sp>
        <p:sp>
          <p:nvSpPr>
            <p:cNvPr id="6" name="object 6"/>
            <p:cNvSpPr/>
            <p:nvPr/>
          </p:nvSpPr>
          <p:spPr>
            <a:xfrm>
              <a:off x="712333" y="1357162"/>
              <a:ext cx="685800" cy="475615"/>
            </a:xfrm>
            <a:custGeom>
              <a:avLst/>
              <a:gdLst/>
              <a:ahLst/>
              <a:cxnLst/>
              <a:rect l="l" t="t" r="r" b="b"/>
              <a:pathLst>
                <a:path w="685800" h="475614">
                  <a:moveTo>
                    <a:pt x="0" y="475506"/>
                  </a:moveTo>
                  <a:lnTo>
                    <a:pt x="685210" y="475506"/>
                  </a:lnTo>
                  <a:lnTo>
                    <a:pt x="685210" y="0"/>
                  </a:lnTo>
                  <a:lnTo>
                    <a:pt x="0" y="0"/>
                  </a:lnTo>
                  <a:lnTo>
                    <a:pt x="0" y="475506"/>
                  </a:lnTo>
                  <a:close/>
                </a:path>
              </a:pathLst>
            </a:custGeom>
            <a:ln w="5270">
              <a:solidFill>
                <a:srgbClr val="231F20"/>
              </a:solidFill>
            </a:ln>
          </p:spPr>
          <p:txBody>
            <a:bodyPr wrap="square" lIns="0" tIns="0" rIns="0" bIns="0" rtlCol="0"/>
            <a:lstStyle/>
            <a:p>
              <a:endParaRPr/>
            </a:p>
          </p:txBody>
        </p:sp>
        <p:sp>
          <p:nvSpPr>
            <p:cNvPr id="7" name="object 7"/>
            <p:cNvSpPr/>
            <p:nvPr/>
          </p:nvSpPr>
          <p:spPr>
            <a:xfrm>
              <a:off x="659624" y="2097762"/>
              <a:ext cx="801370" cy="155575"/>
            </a:xfrm>
            <a:custGeom>
              <a:avLst/>
              <a:gdLst/>
              <a:ahLst/>
              <a:cxnLst/>
              <a:rect l="l" t="t" r="r" b="b"/>
              <a:pathLst>
                <a:path w="801369" h="155575">
                  <a:moveTo>
                    <a:pt x="0" y="155442"/>
                  </a:moveTo>
                  <a:lnTo>
                    <a:pt x="801169" y="155442"/>
                  </a:lnTo>
                  <a:lnTo>
                    <a:pt x="801169" y="0"/>
                  </a:lnTo>
                  <a:lnTo>
                    <a:pt x="0" y="0"/>
                  </a:lnTo>
                  <a:lnTo>
                    <a:pt x="0" y="155442"/>
                  </a:lnTo>
                  <a:close/>
                </a:path>
              </a:pathLst>
            </a:custGeom>
            <a:ln w="5270">
              <a:solidFill>
                <a:srgbClr val="231F20"/>
              </a:solidFill>
            </a:ln>
          </p:spPr>
          <p:txBody>
            <a:bodyPr wrap="square" lIns="0" tIns="0" rIns="0" bIns="0" rtlCol="0"/>
            <a:lstStyle/>
            <a:p>
              <a:endParaRPr/>
            </a:p>
          </p:txBody>
        </p:sp>
        <p:sp>
          <p:nvSpPr>
            <p:cNvPr id="8" name="object 8"/>
            <p:cNvSpPr/>
            <p:nvPr/>
          </p:nvSpPr>
          <p:spPr>
            <a:xfrm>
              <a:off x="844104" y="1779956"/>
              <a:ext cx="422275" cy="106045"/>
            </a:xfrm>
            <a:custGeom>
              <a:avLst/>
              <a:gdLst/>
              <a:ahLst/>
              <a:cxnLst/>
              <a:rect l="l" t="t" r="r" b="b"/>
              <a:pathLst>
                <a:path w="422275" h="106044">
                  <a:moveTo>
                    <a:pt x="421668" y="0"/>
                  </a:moveTo>
                  <a:lnTo>
                    <a:pt x="0" y="0"/>
                  </a:lnTo>
                  <a:lnTo>
                    <a:pt x="0" y="105418"/>
                  </a:lnTo>
                  <a:lnTo>
                    <a:pt x="421668" y="105418"/>
                  </a:lnTo>
                  <a:lnTo>
                    <a:pt x="421668" y="0"/>
                  </a:lnTo>
                  <a:close/>
                </a:path>
              </a:pathLst>
            </a:custGeom>
            <a:solidFill>
              <a:srgbClr val="FFFFFF"/>
            </a:solidFill>
          </p:spPr>
          <p:txBody>
            <a:bodyPr wrap="square" lIns="0" tIns="0" rIns="0" bIns="0" rtlCol="0"/>
            <a:lstStyle/>
            <a:p>
              <a:endParaRPr/>
            </a:p>
          </p:txBody>
        </p:sp>
        <p:sp>
          <p:nvSpPr>
            <p:cNvPr id="9" name="object 9"/>
            <p:cNvSpPr/>
            <p:nvPr/>
          </p:nvSpPr>
          <p:spPr>
            <a:xfrm>
              <a:off x="844104" y="1779956"/>
              <a:ext cx="422275" cy="106045"/>
            </a:xfrm>
            <a:custGeom>
              <a:avLst/>
              <a:gdLst/>
              <a:ahLst/>
              <a:cxnLst/>
              <a:rect l="l" t="t" r="r" b="b"/>
              <a:pathLst>
                <a:path w="422275" h="106044">
                  <a:moveTo>
                    <a:pt x="0" y="105418"/>
                  </a:moveTo>
                  <a:lnTo>
                    <a:pt x="421668" y="105418"/>
                  </a:lnTo>
                  <a:lnTo>
                    <a:pt x="421668" y="0"/>
                  </a:lnTo>
                  <a:lnTo>
                    <a:pt x="0" y="0"/>
                  </a:lnTo>
                  <a:lnTo>
                    <a:pt x="0" y="105418"/>
                  </a:lnTo>
                  <a:close/>
                </a:path>
              </a:pathLst>
            </a:custGeom>
            <a:ln w="5270">
              <a:solidFill>
                <a:srgbClr val="231F20"/>
              </a:solidFill>
            </a:ln>
          </p:spPr>
          <p:txBody>
            <a:bodyPr wrap="square" lIns="0" tIns="0" rIns="0" bIns="0" rtlCol="0"/>
            <a:lstStyle/>
            <a:p>
              <a:endParaRPr/>
            </a:p>
          </p:txBody>
        </p:sp>
      </p:grpSp>
      <p:sp>
        <p:nvSpPr>
          <p:cNvPr id="10" name="object 10"/>
          <p:cNvSpPr txBox="1"/>
          <p:nvPr/>
        </p:nvSpPr>
        <p:spPr>
          <a:xfrm>
            <a:off x="664895" y="2112151"/>
            <a:ext cx="791210" cy="127000"/>
          </a:xfrm>
          <a:prstGeom prst="rect">
            <a:avLst/>
          </a:prstGeom>
        </p:spPr>
        <p:txBody>
          <a:bodyPr vert="horz" wrap="square" lIns="0" tIns="13970" rIns="0" bIns="0" rtlCol="0">
            <a:spAutoFit/>
          </a:bodyPr>
          <a:lstStyle/>
          <a:p>
            <a:pPr marL="20955">
              <a:lnSpc>
                <a:spcPct val="100000"/>
              </a:lnSpc>
              <a:spcBef>
                <a:spcPts val="110"/>
              </a:spcBef>
            </a:pPr>
            <a:r>
              <a:rPr sz="650" spc="5" dirty="0">
                <a:solidFill>
                  <a:srgbClr val="231F20"/>
                </a:solidFill>
                <a:latin typeface="Arial"/>
                <a:cs typeface="Arial"/>
              </a:rPr>
              <a:t>Local</a:t>
            </a:r>
            <a:r>
              <a:rPr sz="650" spc="-30" dirty="0">
                <a:solidFill>
                  <a:srgbClr val="231F20"/>
                </a:solidFill>
                <a:latin typeface="Arial"/>
                <a:cs typeface="Arial"/>
              </a:rPr>
              <a:t> </a:t>
            </a:r>
            <a:r>
              <a:rPr sz="650" spc="20" dirty="0">
                <a:solidFill>
                  <a:srgbClr val="231F20"/>
                </a:solidFill>
                <a:latin typeface="Arial"/>
                <a:cs typeface="Arial"/>
              </a:rPr>
              <a:t>OS</a:t>
            </a:r>
            <a:endParaRPr sz="650">
              <a:latin typeface="Arial"/>
              <a:cs typeface="Arial"/>
            </a:endParaRPr>
          </a:p>
        </p:txBody>
      </p:sp>
      <p:sp>
        <p:nvSpPr>
          <p:cNvPr id="11" name="object 11"/>
          <p:cNvSpPr txBox="1"/>
          <p:nvPr/>
        </p:nvSpPr>
        <p:spPr>
          <a:xfrm>
            <a:off x="714969" y="1369010"/>
            <a:ext cx="680085" cy="127000"/>
          </a:xfrm>
          <a:prstGeom prst="rect">
            <a:avLst/>
          </a:prstGeom>
        </p:spPr>
        <p:txBody>
          <a:bodyPr vert="horz" wrap="square" lIns="0" tIns="13970" rIns="0" bIns="0" rtlCol="0">
            <a:spAutoFit/>
          </a:bodyPr>
          <a:lstStyle/>
          <a:p>
            <a:pPr marL="33020">
              <a:lnSpc>
                <a:spcPct val="100000"/>
              </a:lnSpc>
              <a:spcBef>
                <a:spcPts val="110"/>
              </a:spcBef>
            </a:pPr>
            <a:r>
              <a:rPr sz="650" spc="5" dirty="0">
                <a:solidFill>
                  <a:srgbClr val="231F20"/>
                </a:solidFill>
                <a:latin typeface="Arial"/>
                <a:cs typeface="Arial"/>
              </a:rPr>
              <a:t>Application</a:t>
            </a:r>
            <a:endParaRPr sz="650">
              <a:latin typeface="Arial"/>
              <a:cs typeface="Arial"/>
            </a:endParaRPr>
          </a:p>
        </p:txBody>
      </p:sp>
      <p:sp>
        <p:nvSpPr>
          <p:cNvPr id="12" name="object 12"/>
          <p:cNvSpPr txBox="1"/>
          <p:nvPr/>
        </p:nvSpPr>
        <p:spPr>
          <a:xfrm>
            <a:off x="846739" y="1765870"/>
            <a:ext cx="416559" cy="127000"/>
          </a:xfrm>
          <a:prstGeom prst="rect">
            <a:avLst/>
          </a:prstGeom>
        </p:spPr>
        <p:txBody>
          <a:bodyPr vert="horz" wrap="square" lIns="0" tIns="13970" rIns="0" bIns="0" rtlCol="0">
            <a:spAutoFit/>
          </a:bodyPr>
          <a:lstStyle/>
          <a:p>
            <a:pPr marL="41910">
              <a:lnSpc>
                <a:spcPct val="100000"/>
              </a:lnSpc>
              <a:spcBef>
                <a:spcPts val="110"/>
              </a:spcBef>
            </a:pPr>
            <a:r>
              <a:rPr sz="650" spc="5" dirty="0">
                <a:solidFill>
                  <a:srgbClr val="231F20"/>
                </a:solidFill>
                <a:latin typeface="Arial"/>
                <a:cs typeface="Arial"/>
              </a:rPr>
              <a:t>Interface</a:t>
            </a:r>
            <a:endParaRPr sz="650">
              <a:latin typeface="Arial"/>
              <a:cs typeface="Arial"/>
            </a:endParaRPr>
          </a:p>
        </p:txBody>
      </p:sp>
      <p:grpSp>
        <p:nvGrpSpPr>
          <p:cNvPr id="13" name="object 13"/>
          <p:cNvGrpSpPr/>
          <p:nvPr/>
        </p:nvGrpSpPr>
        <p:grpSpPr>
          <a:xfrm>
            <a:off x="654227" y="1299056"/>
            <a:ext cx="2306955" cy="960119"/>
            <a:chOff x="654227" y="1299056"/>
            <a:chExt cx="2306955" cy="960119"/>
          </a:xfrm>
        </p:grpSpPr>
        <p:sp>
          <p:nvSpPr>
            <p:cNvPr id="14" name="object 14"/>
            <p:cNvSpPr/>
            <p:nvPr/>
          </p:nvSpPr>
          <p:spPr>
            <a:xfrm>
              <a:off x="659624" y="1304453"/>
              <a:ext cx="801370" cy="949325"/>
            </a:xfrm>
            <a:custGeom>
              <a:avLst/>
              <a:gdLst/>
              <a:ahLst/>
              <a:cxnLst/>
              <a:rect l="l" t="t" r="r" b="b"/>
              <a:pathLst>
                <a:path w="801369" h="949325">
                  <a:moveTo>
                    <a:pt x="0" y="948752"/>
                  </a:moveTo>
                  <a:lnTo>
                    <a:pt x="801169" y="948752"/>
                  </a:lnTo>
                  <a:lnTo>
                    <a:pt x="801169" y="0"/>
                  </a:lnTo>
                  <a:lnTo>
                    <a:pt x="0" y="0"/>
                  </a:lnTo>
                  <a:lnTo>
                    <a:pt x="0" y="948752"/>
                  </a:lnTo>
                  <a:close/>
                </a:path>
              </a:pathLst>
            </a:custGeom>
            <a:ln w="10541">
              <a:solidFill>
                <a:srgbClr val="231F20"/>
              </a:solidFill>
            </a:ln>
          </p:spPr>
          <p:txBody>
            <a:bodyPr wrap="square" lIns="0" tIns="0" rIns="0" bIns="0" rtlCol="0"/>
            <a:lstStyle/>
            <a:p>
              <a:endParaRPr/>
            </a:p>
          </p:txBody>
        </p:sp>
        <p:sp>
          <p:nvSpPr>
            <p:cNvPr id="15" name="object 15"/>
            <p:cNvSpPr/>
            <p:nvPr/>
          </p:nvSpPr>
          <p:spPr>
            <a:xfrm>
              <a:off x="1197253" y="1835021"/>
              <a:ext cx="1697355" cy="265430"/>
            </a:xfrm>
            <a:custGeom>
              <a:avLst/>
              <a:gdLst/>
              <a:ahLst/>
              <a:cxnLst/>
              <a:rect l="l" t="t" r="r" b="b"/>
              <a:pathLst>
                <a:path w="1697355" h="265430">
                  <a:moveTo>
                    <a:pt x="21081" y="186266"/>
                  </a:moveTo>
                  <a:lnTo>
                    <a:pt x="84332" y="186266"/>
                  </a:lnTo>
                </a:path>
                <a:path w="1697355" h="265430">
                  <a:moveTo>
                    <a:pt x="21081" y="165188"/>
                  </a:moveTo>
                  <a:lnTo>
                    <a:pt x="84332" y="165188"/>
                  </a:lnTo>
                </a:path>
                <a:path w="1697355" h="265430">
                  <a:moveTo>
                    <a:pt x="21081" y="144102"/>
                  </a:moveTo>
                  <a:lnTo>
                    <a:pt x="84332" y="144102"/>
                  </a:lnTo>
                </a:path>
                <a:path w="1697355" h="265430">
                  <a:moveTo>
                    <a:pt x="0" y="101926"/>
                  </a:moveTo>
                  <a:lnTo>
                    <a:pt x="0" y="228426"/>
                  </a:lnTo>
                  <a:lnTo>
                    <a:pt x="105414" y="228426"/>
                  </a:lnTo>
                  <a:lnTo>
                    <a:pt x="105414" y="101926"/>
                  </a:lnTo>
                </a:path>
                <a:path w="1697355" h="265430">
                  <a:moveTo>
                    <a:pt x="21081" y="207348"/>
                  </a:moveTo>
                  <a:lnTo>
                    <a:pt x="84332" y="207348"/>
                  </a:lnTo>
                </a:path>
                <a:path w="1697355" h="265430">
                  <a:moveTo>
                    <a:pt x="516541" y="265101"/>
                  </a:moveTo>
                  <a:lnTo>
                    <a:pt x="1697207" y="265101"/>
                  </a:lnTo>
                  <a:lnTo>
                    <a:pt x="1697207" y="0"/>
                  </a:lnTo>
                  <a:lnTo>
                    <a:pt x="516541" y="0"/>
                  </a:lnTo>
                  <a:lnTo>
                    <a:pt x="516541" y="265101"/>
                  </a:lnTo>
                  <a:close/>
                </a:path>
              </a:pathLst>
            </a:custGeom>
            <a:ln w="5270">
              <a:solidFill>
                <a:srgbClr val="231F20"/>
              </a:solidFill>
            </a:ln>
          </p:spPr>
          <p:txBody>
            <a:bodyPr wrap="square" lIns="0" tIns="0" rIns="0" bIns="0" rtlCol="0"/>
            <a:lstStyle/>
            <a:p>
              <a:endParaRPr/>
            </a:p>
          </p:txBody>
        </p:sp>
        <p:sp>
          <p:nvSpPr>
            <p:cNvPr id="16" name="object 16"/>
            <p:cNvSpPr/>
            <p:nvPr/>
          </p:nvSpPr>
          <p:spPr>
            <a:xfrm>
              <a:off x="1713794" y="1359517"/>
              <a:ext cx="1181100" cy="475615"/>
            </a:xfrm>
            <a:custGeom>
              <a:avLst/>
              <a:gdLst/>
              <a:ahLst/>
              <a:cxnLst/>
              <a:rect l="l" t="t" r="r" b="b"/>
              <a:pathLst>
                <a:path w="1181100" h="475614">
                  <a:moveTo>
                    <a:pt x="0" y="475502"/>
                  </a:moveTo>
                  <a:lnTo>
                    <a:pt x="1180665" y="475502"/>
                  </a:lnTo>
                  <a:lnTo>
                    <a:pt x="1180665" y="0"/>
                  </a:lnTo>
                  <a:lnTo>
                    <a:pt x="0" y="0"/>
                  </a:lnTo>
                  <a:lnTo>
                    <a:pt x="0" y="475502"/>
                  </a:lnTo>
                  <a:close/>
                </a:path>
              </a:pathLst>
            </a:custGeom>
            <a:ln w="5270">
              <a:solidFill>
                <a:srgbClr val="231F20"/>
              </a:solidFill>
            </a:ln>
          </p:spPr>
          <p:txBody>
            <a:bodyPr wrap="square" lIns="0" tIns="0" rIns="0" bIns="0" rtlCol="0"/>
            <a:lstStyle/>
            <a:p>
              <a:endParaRPr/>
            </a:p>
          </p:txBody>
        </p:sp>
        <p:sp>
          <p:nvSpPr>
            <p:cNvPr id="17" name="object 17"/>
            <p:cNvSpPr/>
            <p:nvPr/>
          </p:nvSpPr>
          <p:spPr>
            <a:xfrm>
              <a:off x="1650544" y="2100123"/>
              <a:ext cx="1307465" cy="155575"/>
            </a:xfrm>
            <a:custGeom>
              <a:avLst/>
              <a:gdLst/>
              <a:ahLst/>
              <a:cxnLst/>
              <a:rect l="l" t="t" r="r" b="b"/>
              <a:pathLst>
                <a:path w="1307464" h="155575">
                  <a:moveTo>
                    <a:pt x="0" y="155438"/>
                  </a:moveTo>
                  <a:lnTo>
                    <a:pt x="1307168" y="155438"/>
                  </a:lnTo>
                  <a:lnTo>
                    <a:pt x="1307168" y="0"/>
                  </a:lnTo>
                  <a:lnTo>
                    <a:pt x="0" y="0"/>
                  </a:lnTo>
                  <a:lnTo>
                    <a:pt x="0" y="155438"/>
                  </a:lnTo>
                  <a:close/>
                </a:path>
              </a:pathLst>
            </a:custGeom>
            <a:ln w="5270">
              <a:solidFill>
                <a:srgbClr val="231F20"/>
              </a:solidFill>
            </a:ln>
          </p:spPr>
          <p:txBody>
            <a:bodyPr wrap="square" lIns="0" tIns="0" rIns="0" bIns="0" rtlCol="0"/>
            <a:lstStyle/>
            <a:p>
              <a:endParaRPr/>
            </a:p>
          </p:txBody>
        </p:sp>
      </p:grpSp>
      <p:sp>
        <p:nvSpPr>
          <p:cNvPr id="18" name="object 18"/>
          <p:cNvSpPr txBox="1"/>
          <p:nvPr/>
        </p:nvSpPr>
        <p:spPr>
          <a:xfrm>
            <a:off x="1655815" y="2111002"/>
            <a:ext cx="1296670" cy="127000"/>
          </a:xfrm>
          <a:prstGeom prst="rect">
            <a:avLst/>
          </a:prstGeom>
        </p:spPr>
        <p:txBody>
          <a:bodyPr vert="horz" wrap="square" lIns="0" tIns="13970" rIns="0" bIns="0" rtlCol="0">
            <a:spAutoFit/>
          </a:bodyPr>
          <a:lstStyle/>
          <a:p>
            <a:pPr marL="674370">
              <a:lnSpc>
                <a:spcPct val="100000"/>
              </a:lnSpc>
              <a:spcBef>
                <a:spcPts val="110"/>
              </a:spcBef>
            </a:pPr>
            <a:r>
              <a:rPr sz="650" spc="5" dirty="0">
                <a:solidFill>
                  <a:srgbClr val="231F20"/>
                </a:solidFill>
                <a:latin typeface="Arial"/>
                <a:cs typeface="Arial"/>
              </a:rPr>
              <a:t>Local</a:t>
            </a:r>
            <a:r>
              <a:rPr sz="650" spc="-30" dirty="0">
                <a:solidFill>
                  <a:srgbClr val="231F20"/>
                </a:solidFill>
                <a:latin typeface="Arial"/>
                <a:cs typeface="Arial"/>
              </a:rPr>
              <a:t> </a:t>
            </a:r>
            <a:r>
              <a:rPr sz="650" spc="20" dirty="0">
                <a:solidFill>
                  <a:srgbClr val="231F20"/>
                </a:solidFill>
                <a:latin typeface="Arial"/>
                <a:cs typeface="Arial"/>
              </a:rPr>
              <a:t>OS</a:t>
            </a:r>
            <a:endParaRPr sz="650">
              <a:latin typeface="Arial"/>
              <a:cs typeface="Arial"/>
            </a:endParaRPr>
          </a:p>
        </p:txBody>
      </p:sp>
      <p:grpSp>
        <p:nvGrpSpPr>
          <p:cNvPr id="19" name="object 19"/>
          <p:cNvGrpSpPr/>
          <p:nvPr/>
        </p:nvGrpSpPr>
        <p:grpSpPr>
          <a:xfrm>
            <a:off x="1645147" y="1301420"/>
            <a:ext cx="2306955" cy="963930"/>
            <a:chOff x="1645147" y="1301420"/>
            <a:chExt cx="2306955" cy="963930"/>
          </a:xfrm>
        </p:grpSpPr>
        <p:sp>
          <p:nvSpPr>
            <p:cNvPr id="20" name="object 20"/>
            <p:cNvSpPr/>
            <p:nvPr/>
          </p:nvSpPr>
          <p:spPr>
            <a:xfrm>
              <a:off x="1650544" y="1306818"/>
              <a:ext cx="1307465" cy="949325"/>
            </a:xfrm>
            <a:custGeom>
              <a:avLst/>
              <a:gdLst/>
              <a:ahLst/>
              <a:cxnLst/>
              <a:rect l="l" t="t" r="r" b="b"/>
              <a:pathLst>
                <a:path w="1307464" h="949325">
                  <a:moveTo>
                    <a:pt x="0" y="948743"/>
                  </a:moveTo>
                  <a:lnTo>
                    <a:pt x="1307168" y="948743"/>
                  </a:lnTo>
                  <a:lnTo>
                    <a:pt x="1307168" y="0"/>
                  </a:lnTo>
                  <a:lnTo>
                    <a:pt x="0" y="0"/>
                  </a:lnTo>
                  <a:lnTo>
                    <a:pt x="0" y="948743"/>
                  </a:lnTo>
                  <a:close/>
                </a:path>
              </a:pathLst>
            </a:custGeom>
            <a:ln w="10541">
              <a:solidFill>
                <a:srgbClr val="231F20"/>
              </a:solidFill>
            </a:ln>
          </p:spPr>
          <p:txBody>
            <a:bodyPr wrap="square" lIns="0" tIns="0" rIns="0" bIns="0" rtlCol="0"/>
            <a:lstStyle/>
            <a:p>
              <a:endParaRPr/>
            </a:p>
          </p:txBody>
        </p:sp>
        <p:sp>
          <p:nvSpPr>
            <p:cNvPr id="21" name="object 21"/>
            <p:cNvSpPr/>
            <p:nvPr/>
          </p:nvSpPr>
          <p:spPr>
            <a:xfrm>
              <a:off x="1765793" y="1841361"/>
              <a:ext cx="2119630" cy="265430"/>
            </a:xfrm>
            <a:custGeom>
              <a:avLst/>
              <a:gdLst/>
              <a:ahLst/>
              <a:cxnLst/>
              <a:rect l="l" t="t" r="r" b="b"/>
              <a:pathLst>
                <a:path w="2119629" h="265430">
                  <a:moveTo>
                    <a:pt x="970931" y="179929"/>
                  </a:moveTo>
                  <a:lnTo>
                    <a:pt x="1034177" y="179929"/>
                  </a:lnTo>
                </a:path>
                <a:path w="2119629" h="265430">
                  <a:moveTo>
                    <a:pt x="970931" y="158847"/>
                  </a:moveTo>
                  <a:lnTo>
                    <a:pt x="1034177" y="158847"/>
                  </a:lnTo>
                </a:path>
                <a:path w="2119629" h="265430">
                  <a:moveTo>
                    <a:pt x="970931" y="137765"/>
                  </a:moveTo>
                  <a:lnTo>
                    <a:pt x="1034177" y="137765"/>
                  </a:lnTo>
                </a:path>
                <a:path w="2119629" h="265430">
                  <a:moveTo>
                    <a:pt x="949849" y="95598"/>
                  </a:moveTo>
                  <a:lnTo>
                    <a:pt x="949849" y="222097"/>
                  </a:lnTo>
                  <a:lnTo>
                    <a:pt x="1055259" y="222097"/>
                  </a:lnTo>
                  <a:lnTo>
                    <a:pt x="1055259" y="95598"/>
                  </a:lnTo>
                </a:path>
                <a:path w="2119629" h="265430">
                  <a:moveTo>
                    <a:pt x="970931" y="201011"/>
                  </a:moveTo>
                  <a:lnTo>
                    <a:pt x="1034177" y="201011"/>
                  </a:lnTo>
                </a:path>
                <a:path w="2119629" h="265430">
                  <a:moveTo>
                    <a:pt x="84327" y="137753"/>
                  </a:moveTo>
                  <a:lnTo>
                    <a:pt x="21081" y="137753"/>
                  </a:lnTo>
                </a:path>
                <a:path w="2119629" h="265430">
                  <a:moveTo>
                    <a:pt x="84327" y="158835"/>
                  </a:moveTo>
                  <a:lnTo>
                    <a:pt x="21081" y="158835"/>
                  </a:lnTo>
                </a:path>
                <a:path w="2119629" h="265430">
                  <a:moveTo>
                    <a:pt x="84327" y="179922"/>
                  </a:moveTo>
                  <a:lnTo>
                    <a:pt x="21081" y="179922"/>
                  </a:lnTo>
                </a:path>
                <a:path w="2119629" h="265430">
                  <a:moveTo>
                    <a:pt x="105409" y="222097"/>
                  </a:moveTo>
                  <a:lnTo>
                    <a:pt x="105409" y="95598"/>
                  </a:lnTo>
                  <a:lnTo>
                    <a:pt x="0" y="95598"/>
                  </a:lnTo>
                  <a:lnTo>
                    <a:pt x="0" y="222097"/>
                  </a:lnTo>
                </a:path>
                <a:path w="2119629" h="265430">
                  <a:moveTo>
                    <a:pt x="84327" y="116676"/>
                  </a:moveTo>
                  <a:lnTo>
                    <a:pt x="21081" y="116676"/>
                  </a:lnTo>
                </a:path>
                <a:path w="2119629" h="265430">
                  <a:moveTo>
                    <a:pt x="791007" y="179929"/>
                  </a:moveTo>
                  <a:lnTo>
                    <a:pt x="854263" y="179929"/>
                  </a:lnTo>
                </a:path>
                <a:path w="2119629" h="265430">
                  <a:moveTo>
                    <a:pt x="791007" y="158847"/>
                  </a:moveTo>
                  <a:lnTo>
                    <a:pt x="854263" y="158847"/>
                  </a:lnTo>
                </a:path>
                <a:path w="2119629" h="265430">
                  <a:moveTo>
                    <a:pt x="791007" y="137765"/>
                  </a:moveTo>
                  <a:lnTo>
                    <a:pt x="854263" y="137765"/>
                  </a:lnTo>
                </a:path>
                <a:path w="2119629" h="265430">
                  <a:moveTo>
                    <a:pt x="769925" y="95598"/>
                  </a:moveTo>
                  <a:lnTo>
                    <a:pt x="769925" y="222097"/>
                  </a:lnTo>
                  <a:lnTo>
                    <a:pt x="875345" y="222097"/>
                  </a:lnTo>
                  <a:lnTo>
                    <a:pt x="875345" y="95598"/>
                  </a:lnTo>
                </a:path>
                <a:path w="2119629" h="265430">
                  <a:moveTo>
                    <a:pt x="791007" y="201011"/>
                  </a:moveTo>
                  <a:lnTo>
                    <a:pt x="854263" y="201011"/>
                  </a:lnTo>
                </a:path>
                <a:path w="2119629" h="265430">
                  <a:moveTo>
                    <a:pt x="264252" y="137753"/>
                  </a:moveTo>
                  <a:lnTo>
                    <a:pt x="200995" y="137753"/>
                  </a:lnTo>
                </a:path>
                <a:path w="2119629" h="265430">
                  <a:moveTo>
                    <a:pt x="264252" y="158835"/>
                  </a:moveTo>
                  <a:lnTo>
                    <a:pt x="200995" y="158835"/>
                  </a:lnTo>
                </a:path>
                <a:path w="2119629" h="265430">
                  <a:moveTo>
                    <a:pt x="264252" y="179922"/>
                  </a:moveTo>
                  <a:lnTo>
                    <a:pt x="200995" y="179922"/>
                  </a:lnTo>
                </a:path>
                <a:path w="2119629" h="265430">
                  <a:moveTo>
                    <a:pt x="285334" y="222097"/>
                  </a:moveTo>
                  <a:lnTo>
                    <a:pt x="285334" y="95598"/>
                  </a:lnTo>
                  <a:lnTo>
                    <a:pt x="179913" y="95598"/>
                  </a:lnTo>
                  <a:lnTo>
                    <a:pt x="179913" y="222097"/>
                  </a:lnTo>
                </a:path>
                <a:path w="2119629" h="265430">
                  <a:moveTo>
                    <a:pt x="264252" y="116676"/>
                  </a:moveTo>
                  <a:lnTo>
                    <a:pt x="200995" y="116676"/>
                  </a:lnTo>
                </a:path>
                <a:path w="2119629" h="265430">
                  <a:moveTo>
                    <a:pt x="1434377" y="265093"/>
                  </a:moveTo>
                  <a:lnTo>
                    <a:pt x="2119587" y="265093"/>
                  </a:lnTo>
                  <a:lnTo>
                    <a:pt x="2119587" y="0"/>
                  </a:lnTo>
                  <a:lnTo>
                    <a:pt x="1434377" y="0"/>
                  </a:lnTo>
                  <a:lnTo>
                    <a:pt x="1434377" y="265093"/>
                  </a:lnTo>
                  <a:close/>
                </a:path>
              </a:pathLst>
            </a:custGeom>
            <a:ln w="5270">
              <a:solidFill>
                <a:srgbClr val="231F20"/>
              </a:solidFill>
            </a:ln>
          </p:spPr>
          <p:txBody>
            <a:bodyPr wrap="square" lIns="0" tIns="0" rIns="0" bIns="0" rtlCol="0"/>
            <a:lstStyle/>
            <a:p>
              <a:endParaRPr/>
            </a:p>
          </p:txBody>
        </p:sp>
        <p:sp>
          <p:nvSpPr>
            <p:cNvPr id="22" name="object 22"/>
            <p:cNvSpPr/>
            <p:nvPr/>
          </p:nvSpPr>
          <p:spPr>
            <a:xfrm>
              <a:off x="3200170" y="1365855"/>
              <a:ext cx="685800" cy="475615"/>
            </a:xfrm>
            <a:custGeom>
              <a:avLst/>
              <a:gdLst/>
              <a:ahLst/>
              <a:cxnLst/>
              <a:rect l="l" t="t" r="r" b="b"/>
              <a:pathLst>
                <a:path w="685800" h="475614">
                  <a:moveTo>
                    <a:pt x="0" y="475506"/>
                  </a:moveTo>
                  <a:lnTo>
                    <a:pt x="685210" y="475506"/>
                  </a:lnTo>
                  <a:lnTo>
                    <a:pt x="685210" y="0"/>
                  </a:lnTo>
                  <a:lnTo>
                    <a:pt x="0" y="0"/>
                  </a:lnTo>
                  <a:lnTo>
                    <a:pt x="0" y="475506"/>
                  </a:lnTo>
                  <a:close/>
                </a:path>
              </a:pathLst>
            </a:custGeom>
            <a:ln w="5270">
              <a:solidFill>
                <a:srgbClr val="231F20"/>
              </a:solidFill>
            </a:ln>
          </p:spPr>
          <p:txBody>
            <a:bodyPr wrap="square" lIns="0" tIns="0" rIns="0" bIns="0" rtlCol="0"/>
            <a:lstStyle/>
            <a:p>
              <a:endParaRPr/>
            </a:p>
          </p:txBody>
        </p:sp>
        <p:sp>
          <p:nvSpPr>
            <p:cNvPr id="23" name="object 23"/>
            <p:cNvSpPr/>
            <p:nvPr/>
          </p:nvSpPr>
          <p:spPr>
            <a:xfrm>
              <a:off x="3147465" y="2106455"/>
              <a:ext cx="801370" cy="155575"/>
            </a:xfrm>
            <a:custGeom>
              <a:avLst/>
              <a:gdLst/>
              <a:ahLst/>
              <a:cxnLst/>
              <a:rect l="l" t="t" r="r" b="b"/>
              <a:pathLst>
                <a:path w="801370" h="155575">
                  <a:moveTo>
                    <a:pt x="0" y="155442"/>
                  </a:moveTo>
                  <a:lnTo>
                    <a:pt x="801165" y="155442"/>
                  </a:lnTo>
                  <a:lnTo>
                    <a:pt x="801165" y="0"/>
                  </a:lnTo>
                  <a:lnTo>
                    <a:pt x="0" y="0"/>
                  </a:lnTo>
                  <a:lnTo>
                    <a:pt x="0" y="155442"/>
                  </a:lnTo>
                  <a:close/>
                </a:path>
              </a:pathLst>
            </a:custGeom>
            <a:ln w="5270">
              <a:solidFill>
                <a:srgbClr val="231F20"/>
              </a:solidFill>
            </a:ln>
          </p:spPr>
          <p:txBody>
            <a:bodyPr wrap="square" lIns="0" tIns="0" rIns="0" bIns="0" rtlCol="0"/>
            <a:lstStyle/>
            <a:p>
              <a:endParaRPr/>
            </a:p>
          </p:txBody>
        </p:sp>
        <p:sp>
          <p:nvSpPr>
            <p:cNvPr id="24" name="object 24"/>
            <p:cNvSpPr/>
            <p:nvPr/>
          </p:nvSpPr>
          <p:spPr>
            <a:xfrm>
              <a:off x="3331933" y="1788648"/>
              <a:ext cx="422275" cy="106045"/>
            </a:xfrm>
            <a:custGeom>
              <a:avLst/>
              <a:gdLst/>
              <a:ahLst/>
              <a:cxnLst/>
              <a:rect l="l" t="t" r="r" b="b"/>
              <a:pathLst>
                <a:path w="422275" h="106044">
                  <a:moveTo>
                    <a:pt x="421668" y="0"/>
                  </a:moveTo>
                  <a:lnTo>
                    <a:pt x="0" y="0"/>
                  </a:lnTo>
                  <a:lnTo>
                    <a:pt x="0" y="105418"/>
                  </a:lnTo>
                  <a:lnTo>
                    <a:pt x="421668" y="105418"/>
                  </a:lnTo>
                  <a:lnTo>
                    <a:pt x="421668" y="0"/>
                  </a:lnTo>
                  <a:close/>
                </a:path>
              </a:pathLst>
            </a:custGeom>
            <a:solidFill>
              <a:srgbClr val="FFFFFF"/>
            </a:solidFill>
          </p:spPr>
          <p:txBody>
            <a:bodyPr wrap="square" lIns="0" tIns="0" rIns="0" bIns="0" rtlCol="0"/>
            <a:lstStyle/>
            <a:p>
              <a:endParaRPr/>
            </a:p>
          </p:txBody>
        </p:sp>
        <p:sp>
          <p:nvSpPr>
            <p:cNvPr id="25" name="object 25"/>
            <p:cNvSpPr/>
            <p:nvPr/>
          </p:nvSpPr>
          <p:spPr>
            <a:xfrm>
              <a:off x="3331933" y="1788648"/>
              <a:ext cx="422275" cy="106045"/>
            </a:xfrm>
            <a:custGeom>
              <a:avLst/>
              <a:gdLst/>
              <a:ahLst/>
              <a:cxnLst/>
              <a:rect l="l" t="t" r="r" b="b"/>
              <a:pathLst>
                <a:path w="422275" h="106044">
                  <a:moveTo>
                    <a:pt x="0" y="105418"/>
                  </a:moveTo>
                  <a:lnTo>
                    <a:pt x="421668" y="105418"/>
                  </a:lnTo>
                  <a:lnTo>
                    <a:pt x="421668" y="0"/>
                  </a:lnTo>
                  <a:lnTo>
                    <a:pt x="0" y="0"/>
                  </a:lnTo>
                  <a:lnTo>
                    <a:pt x="0" y="105418"/>
                  </a:lnTo>
                  <a:close/>
                </a:path>
              </a:pathLst>
            </a:custGeom>
            <a:ln w="5270">
              <a:solidFill>
                <a:srgbClr val="231F20"/>
              </a:solidFill>
            </a:ln>
          </p:spPr>
          <p:txBody>
            <a:bodyPr wrap="square" lIns="0" tIns="0" rIns="0" bIns="0" rtlCol="0"/>
            <a:lstStyle/>
            <a:p>
              <a:endParaRPr/>
            </a:p>
          </p:txBody>
        </p:sp>
      </p:grpSp>
      <p:sp>
        <p:nvSpPr>
          <p:cNvPr id="26" name="object 26"/>
          <p:cNvSpPr txBox="1"/>
          <p:nvPr/>
        </p:nvSpPr>
        <p:spPr>
          <a:xfrm>
            <a:off x="3152736" y="2121690"/>
            <a:ext cx="791210" cy="127000"/>
          </a:xfrm>
          <a:prstGeom prst="rect">
            <a:avLst/>
          </a:prstGeom>
        </p:spPr>
        <p:txBody>
          <a:bodyPr vert="horz" wrap="square" lIns="0" tIns="13970" rIns="0" bIns="0" rtlCol="0">
            <a:spAutoFit/>
          </a:bodyPr>
          <a:lstStyle/>
          <a:p>
            <a:pPr marL="388620">
              <a:lnSpc>
                <a:spcPct val="100000"/>
              </a:lnSpc>
              <a:spcBef>
                <a:spcPts val="110"/>
              </a:spcBef>
            </a:pPr>
            <a:r>
              <a:rPr sz="650" spc="5" dirty="0">
                <a:solidFill>
                  <a:srgbClr val="231F20"/>
                </a:solidFill>
                <a:latin typeface="Arial"/>
                <a:cs typeface="Arial"/>
              </a:rPr>
              <a:t>Local</a:t>
            </a:r>
            <a:r>
              <a:rPr sz="650" spc="-30" dirty="0">
                <a:solidFill>
                  <a:srgbClr val="231F20"/>
                </a:solidFill>
                <a:latin typeface="Arial"/>
                <a:cs typeface="Arial"/>
              </a:rPr>
              <a:t> </a:t>
            </a:r>
            <a:r>
              <a:rPr sz="650" spc="20" dirty="0">
                <a:solidFill>
                  <a:srgbClr val="231F20"/>
                </a:solidFill>
                <a:latin typeface="Arial"/>
                <a:cs typeface="Arial"/>
              </a:rPr>
              <a:t>OS</a:t>
            </a:r>
            <a:endParaRPr sz="650">
              <a:latin typeface="Arial"/>
              <a:cs typeface="Arial"/>
            </a:endParaRPr>
          </a:p>
        </p:txBody>
      </p:sp>
      <p:sp>
        <p:nvSpPr>
          <p:cNvPr id="27" name="object 27"/>
          <p:cNvSpPr txBox="1"/>
          <p:nvPr/>
        </p:nvSpPr>
        <p:spPr>
          <a:xfrm>
            <a:off x="3202805" y="1377701"/>
            <a:ext cx="680085" cy="127000"/>
          </a:xfrm>
          <a:prstGeom prst="rect">
            <a:avLst/>
          </a:prstGeom>
        </p:spPr>
        <p:txBody>
          <a:bodyPr vert="horz" wrap="square" lIns="0" tIns="13970" rIns="0" bIns="0" rtlCol="0">
            <a:spAutoFit/>
          </a:bodyPr>
          <a:lstStyle/>
          <a:p>
            <a:pPr marL="33020">
              <a:lnSpc>
                <a:spcPct val="100000"/>
              </a:lnSpc>
              <a:spcBef>
                <a:spcPts val="110"/>
              </a:spcBef>
            </a:pPr>
            <a:r>
              <a:rPr sz="650" spc="5" dirty="0">
                <a:solidFill>
                  <a:srgbClr val="231F20"/>
                </a:solidFill>
                <a:latin typeface="Arial"/>
                <a:cs typeface="Arial"/>
              </a:rPr>
              <a:t>Application</a:t>
            </a:r>
            <a:endParaRPr sz="650">
              <a:latin typeface="Arial"/>
              <a:cs typeface="Arial"/>
            </a:endParaRPr>
          </a:p>
        </p:txBody>
      </p:sp>
      <p:sp>
        <p:nvSpPr>
          <p:cNvPr id="28" name="object 28"/>
          <p:cNvSpPr txBox="1"/>
          <p:nvPr/>
        </p:nvSpPr>
        <p:spPr>
          <a:xfrm>
            <a:off x="3334568" y="1774562"/>
            <a:ext cx="416559" cy="127000"/>
          </a:xfrm>
          <a:prstGeom prst="rect">
            <a:avLst/>
          </a:prstGeom>
        </p:spPr>
        <p:txBody>
          <a:bodyPr vert="horz" wrap="square" lIns="0" tIns="13970" rIns="0" bIns="0" rtlCol="0">
            <a:spAutoFit/>
          </a:bodyPr>
          <a:lstStyle/>
          <a:p>
            <a:pPr marL="41910">
              <a:lnSpc>
                <a:spcPct val="100000"/>
              </a:lnSpc>
              <a:spcBef>
                <a:spcPts val="110"/>
              </a:spcBef>
            </a:pPr>
            <a:r>
              <a:rPr sz="650" spc="5" dirty="0">
                <a:solidFill>
                  <a:srgbClr val="231F20"/>
                </a:solidFill>
                <a:latin typeface="Arial"/>
                <a:cs typeface="Arial"/>
              </a:rPr>
              <a:t>Interface</a:t>
            </a:r>
            <a:endParaRPr sz="650">
              <a:latin typeface="Arial"/>
              <a:cs typeface="Arial"/>
            </a:endParaRPr>
          </a:p>
        </p:txBody>
      </p:sp>
      <p:grpSp>
        <p:nvGrpSpPr>
          <p:cNvPr id="29" name="object 29"/>
          <p:cNvGrpSpPr/>
          <p:nvPr/>
        </p:nvGrpSpPr>
        <p:grpSpPr>
          <a:xfrm>
            <a:off x="1789467" y="1307748"/>
            <a:ext cx="2164715" cy="960119"/>
            <a:chOff x="1789467" y="1307748"/>
            <a:chExt cx="2164715" cy="960119"/>
          </a:xfrm>
        </p:grpSpPr>
        <p:sp>
          <p:nvSpPr>
            <p:cNvPr id="30" name="object 30"/>
            <p:cNvSpPr/>
            <p:nvPr/>
          </p:nvSpPr>
          <p:spPr>
            <a:xfrm>
              <a:off x="1792325" y="1430954"/>
              <a:ext cx="1017905" cy="287020"/>
            </a:xfrm>
            <a:custGeom>
              <a:avLst/>
              <a:gdLst/>
              <a:ahLst/>
              <a:cxnLst/>
              <a:rect l="l" t="t" r="r" b="b"/>
              <a:pathLst>
                <a:path w="1017905" h="287019">
                  <a:moveTo>
                    <a:pt x="0" y="286402"/>
                  </a:moveTo>
                  <a:lnTo>
                    <a:pt x="1017799" y="286402"/>
                  </a:lnTo>
                  <a:lnTo>
                    <a:pt x="1017799" y="0"/>
                  </a:lnTo>
                  <a:lnTo>
                    <a:pt x="0" y="0"/>
                  </a:lnTo>
                  <a:lnTo>
                    <a:pt x="0" y="286402"/>
                  </a:lnTo>
                  <a:close/>
                </a:path>
              </a:pathLst>
            </a:custGeom>
            <a:ln w="5270">
              <a:solidFill>
                <a:srgbClr val="231F20"/>
              </a:solidFill>
            </a:ln>
          </p:spPr>
          <p:txBody>
            <a:bodyPr wrap="square" lIns="0" tIns="0" rIns="0" bIns="0" rtlCol="0"/>
            <a:lstStyle/>
            <a:p>
              <a:endParaRPr/>
            </a:p>
          </p:txBody>
        </p:sp>
        <p:sp>
          <p:nvSpPr>
            <p:cNvPr id="31" name="object 31"/>
            <p:cNvSpPr/>
            <p:nvPr/>
          </p:nvSpPr>
          <p:spPr>
            <a:xfrm>
              <a:off x="1873606" y="1461972"/>
              <a:ext cx="74930" cy="149860"/>
            </a:xfrm>
            <a:custGeom>
              <a:avLst/>
              <a:gdLst/>
              <a:ahLst/>
              <a:cxnLst/>
              <a:rect l="l" t="t" r="r" b="b"/>
              <a:pathLst>
                <a:path w="74930" h="149859">
                  <a:moveTo>
                    <a:pt x="74701" y="0"/>
                  </a:moveTo>
                  <a:lnTo>
                    <a:pt x="0" y="0"/>
                  </a:lnTo>
                  <a:lnTo>
                    <a:pt x="0" y="149394"/>
                  </a:lnTo>
                  <a:lnTo>
                    <a:pt x="74701" y="149394"/>
                  </a:lnTo>
                  <a:lnTo>
                    <a:pt x="74701" y="0"/>
                  </a:lnTo>
                  <a:close/>
                </a:path>
              </a:pathLst>
            </a:custGeom>
            <a:solidFill>
              <a:srgbClr val="E6E7E8"/>
            </a:solidFill>
          </p:spPr>
          <p:txBody>
            <a:bodyPr wrap="square" lIns="0" tIns="0" rIns="0" bIns="0" rtlCol="0"/>
            <a:lstStyle/>
            <a:p>
              <a:endParaRPr/>
            </a:p>
          </p:txBody>
        </p:sp>
        <p:sp>
          <p:nvSpPr>
            <p:cNvPr id="32" name="object 32"/>
            <p:cNvSpPr/>
            <p:nvPr/>
          </p:nvSpPr>
          <p:spPr>
            <a:xfrm>
              <a:off x="1873606" y="1461972"/>
              <a:ext cx="74930" cy="149860"/>
            </a:xfrm>
            <a:custGeom>
              <a:avLst/>
              <a:gdLst/>
              <a:ahLst/>
              <a:cxnLst/>
              <a:rect l="l" t="t" r="r" b="b"/>
              <a:pathLst>
                <a:path w="74930" h="149859">
                  <a:moveTo>
                    <a:pt x="0" y="149394"/>
                  </a:moveTo>
                  <a:lnTo>
                    <a:pt x="74701" y="149394"/>
                  </a:lnTo>
                  <a:lnTo>
                    <a:pt x="74701" y="0"/>
                  </a:lnTo>
                  <a:lnTo>
                    <a:pt x="0" y="0"/>
                  </a:lnTo>
                  <a:lnTo>
                    <a:pt x="0" y="149394"/>
                  </a:lnTo>
                  <a:close/>
                </a:path>
              </a:pathLst>
            </a:custGeom>
            <a:ln w="5270">
              <a:solidFill>
                <a:srgbClr val="231F20"/>
              </a:solidFill>
            </a:ln>
          </p:spPr>
          <p:txBody>
            <a:bodyPr wrap="square" lIns="0" tIns="0" rIns="0" bIns="0" rtlCol="0"/>
            <a:lstStyle/>
            <a:p>
              <a:endParaRPr/>
            </a:p>
          </p:txBody>
        </p:sp>
        <p:sp>
          <p:nvSpPr>
            <p:cNvPr id="33" name="object 33"/>
            <p:cNvSpPr/>
            <p:nvPr/>
          </p:nvSpPr>
          <p:spPr>
            <a:xfrm>
              <a:off x="1989368" y="1461972"/>
              <a:ext cx="74930" cy="149860"/>
            </a:xfrm>
            <a:custGeom>
              <a:avLst/>
              <a:gdLst/>
              <a:ahLst/>
              <a:cxnLst/>
              <a:rect l="l" t="t" r="r" b="b"/>
              <a:pathLst>
                <a:path w="74930" h="149859">
                  <a:moveTo>
                    <a:pt x="74697" y="0"/>
                  </a:moveTo>
                  <a:lnTo>
                    <a:pt x="0" y="0"/>
                  </a:lnTo>
                  <a:lnTo>
                    <a:pt x="0" y="149394"/>
                  </a:lnTo>
                  <a:lnTo>
                    <a:pt x="74697" y="149394"/>
                  </a:lnTo>
                  <a:lnTo>
                    <a:pt x="74697" y="0"/>
                  </a:lnTo>
                  <a:close/>
                </a:path>
              </a:pathLst>
            </a:custGeom>
            <a:solidFill>
              <a:srgbClr val="E6E7E8"/>
            </a:solidFill>
          </p:spPr>
          <p:txBody>
            <a:bodyPr wrap="square" lIns="0" tIns="0" rIns="0" bIns="0" rtlCol="0"/>
            <a:lstStyle/>
            <a:p>
              <a:endParaRPr/>
            </a:p>
          </p:txBody>
        </p:sp>
        <p:sp>
          <p:nvSpPr>
            <p:cNvPr id="34" name="object 34"/>
            <p:cNvSpPr/>
            <p:nvPr/>
          </p:nvSpPr>
          <p:spPr>
            <a:xfrm>
              <a:off x="1989368" y="1461972"/>
              <a:ext cx="74930" cy="149860"/>
            </a:xfrm>
            <a:custGeom>
              <a:avLst/>
              <a:gdLst/>
              <a:ahLst/>
              <a:cxnLst/>
              <a:rect l="l" t="t" r="r" b="b"/>
              <a:pathLst>
                <a:path w="74930" h="149859">
                  <a:moveTo>
                    <a:pt x="0" y="149394"/>
                  </a:moveTo>
                  <a:lnTo>
                    <a:pt x="74697" y="149394"/>
                  </a:lnTo>
                  <a:lnTo>
                    <a:pt x="74697" y="0"/>
                  </a:lnTo>
                  <a:lnTo>
                    <a:pt x="0" y="0"/>
                  </a:lnTo>
                  <a:lnTo>
                    <a:pt x="0" y="149394"/>
                  </a:lnTo>
                  <a:close/>
                </a:path>
              </a:pathLst>
            </a:custGeom>
            <a:ln w="5270">
              <a:solidFill>
                <a:srgbClr val="231F20"/>
              </a:solidFill>
            </a:ln>
          </p:spPr>
          <p:txBody>
            <a:bodyPr wrap="square" lIns="0" tIns="0" rIns="0" bIns="0" rtlCol="0"/>
            <a:lstStyle/>
            <a:p>
              <a:endParaRPr/>
            </a:p>
          </p:txBody>
        </p:sp>
        <p:sp>
          <p:nvSpPr>
            <p:cNvPr id="35" name="object 35"/>
            <p:cNvSpPr/>
            <p:nvPr/>
          </p:nvSpPr>
          <p:spPr>
            <a:xfrm>
              <a:off x="2247106" y="1461972"/>
              <a:ext cx="74930" cy="149860"/>
            </a:xfrm>
            <a:custGeom>
              <a:avLst/>
              <a:gdLst/>
              <a:ahLst/>
              <a:cxnLst/>
              <a:rect l="l" t="t" r="r" b="b"/>
              <a:pathLst>
                <a:path w="74930" h="149859">
                  <a:moveTo>
                    <a:pt x="74701" y="0"/>
                  </a:moveTo>
                  <a:lnTo>
                    <a:pt x="0" y="0"/>
                  </a:lnTo>
                  <a:lnTo>
                    <a:pt x="0" y="149394"/>
                  </a:lnTo>
                  <a:lnTo>
                    <a:pt x="74701" y="149394"/>
                  </a:lnTo>
                  <a:lnTo>
                    <a:pt x="74701" y="0"/>
                  </a:lnTo>
                  <a:close/>
                </a:path>
              </a:pathLst>
            </a:custGeom>
            <a:solidFill>
              <a:srgbClr val="E6E7E8"/>
            </a:solidFill>
          </p:spPr>
          <p:txBody>
            <a:bodyPr wrap="square" lIns="0" tIns="0" rIns="0" bIns="0" rtlCol="0"/>
            <a:lstStyle/>
            <a:p>
              <a:endParaRPr/>
            </a:p>
          </p:txBody>
        </p:sp>
        <p:sp>
          <p:nvSpPr>
            <p:cNvPr id="36" name="object 36"/>
            <p:cNvSpPr/>
            <p:nvPr/>
          </p:nvSpPr>
          <p:spPr>
            <a:xfrm>
              <a:off x="2247106" y="1461972"/>
              <a:ext cx="74930" cy="149860"/>
            </a:xfrm>
            <a:custGeom>
              <a:avLst/>
              <a:gdLst/>
              <a:ahLst/>
              <a:cxnLst/>
              <a:rect l="l" t="t" r="r" b="b"/>
              <a:pathLst>
                <a:path w="74930" h="149859">
                  <a:moveTo>
                    <a:pt x="0" y="149394"/>
                  </a:moveTo>
                  <a:lnTo>
                    <a:pt x="74701" y="149394"/>
                  </a:lnTo>
                  <a:lnTo>
                    <a:pt x="74701" y="0"/>
                  </a:lnTo>
                  <a:lnTo>
                    <a:pt x="0" y="0"/>
                  </a:lnTo>
                  <a:lnTo>
                    <a:pt x="0" y="149394"/>
                  </a:lnTo>
                  <a:close/>
                </a:path>
              </a:pathLst>
            </a:custGeom>
            <a:ln w="5270">
              <a:solidFill>
                <a:srgbClr val="231F20"/>
              </a:solidFill>
            </a:ln>
          </p:spPr>
          <p:txBody>
            <a:bodyPr wrap="square" lIns="0" tIns="0" rIns="0" bIns="0" rtlCol="0"/>
            <a:lstStyle/>
            <a:p>
              <a:endParaRPr/>
            </a:p>
          </p:txBody>
        </p:sp>
        <p:sp>
          <p:nvSpPr>
            <p:cNvPr id="37" name="object 37"/>
            <p:cNvSpPr/>
            <p:nvPr/>
          </p:nvSpPr>
          <p:spPr>
            <a:xfrm>
              <a:off x="2107522" y="1528804"/>
              <a:ext cx="15240" cy="15240"/>
            </a:xfrm>
            <a:custGeom>
              <a:avLst/>
              <a:gdLst/>
              <a:ahLst/>
              <a:cxnLst/>
              <a:rect l="l" t="t" r="r" b="b"/>
              <a:pathLst>
                <a:path w="15239" h="15240">
                  <a:moveTo>
                    <a:pt x="11595" y="0"/>
                  </a:moveTo>
                  <a:lnTo>
                    <a:pt x="7473" y="0"/>
                  </a:lnTo>
                  <a:lnTo>
                    <a:pt x="3352" y="0"/>
                  </a:lnTo>
                  <a:lnTo>
                    <a:pt x="0" y="3343"/>
                  </a:lnTo>
                  <a:lnTo>
                    <a:pt x="0" y="11595"/>
                  </a:lnTo>
                  <a:lnTo>
                    <a:pt x="3352" y="14938"/>
                  </a:lnTo>
                  <a:lnTo>
                    <a:pt x="11595" y="14938"/>
                  </a:lnTo>
                  <a:lnTo>
                    <a:pt x="14936" y="11595"/>
                  </a:lnTo>
                  <a:lnTo>
                    <a:pt x="14936" y="3343"/>
                  </a:lnTo>
                  <a:lnTo>
                    <a:pt x="11595" y="0"/>
                  </a:lnTo>
                  <a:close/>
                </a:path>
              </a:pathLst>
            </a:custGeom>
            <a:solidFill>
              <a:srgbClr val="231F20"/>
            </a:solidFill>
          </p:spPr>
          <p:txBody>
            <a:bodyPr wrap="square" lIns="0" tIns="0" rIns="0" bIns="0" rtlCol="0"/>
            <a:lstStyle/>
            <a:p>
              <a:endParaRPr/>
            </a:p>
          </p:txBody>
        </p:sp>
        <p:sp>
          <p:nvSpPr>
            <p:cNvPr id="38" name="object 38"/>
            <p:cNvSpPr/>
            <p:nvPr/>
          </p:nvSpPr>
          <p:spPr>
            <a:xfrm>
              <a:off x="2107522" y="1528804"/>
              <a:ext cx="15240" cy="15240"/>
            </a:xfrm>
            <a:custGeom>
              <a:avLst/>
              <a:gdLst/>
              <a:ahLst/>
              <a:cxnLst/>
              <a:rect l="l" t="t" r="r" b="b"/>
              <a:pathLst>
                <a:path w="15239" h="15240">
                  <a:moveTo>
                    <a:pt x="7473" y="0"/>
                  </a:moveTo>
                  <a:lnTo>
                    <a:pt x="11595" y="0"/>
                  </a:lnTo>
                  <a:lnTo>
                    <a:pt x="14936" y="3343"/>
                  </a:lnTo>
                  <a:lnTo>
                    <a:pt x="14936" y="7473"/>
                  </a:lnTo>
                  <a:lnTo>
                    <a:pt x="14936" y="11595"/>
                  </a:lnTo>
                  <a:lnTo>
                    <a:pt x="11595" y="14938"/>
                  </a:lnTo>
                  <a:lnTo>
                    <a:pt x="7473" y="14938"/>
                  </a:lnTo>
                  <a:lnTo>
                    <a:pt x="3352" y="14938"/>
                  </a:lnTo>
                  <a:lnTo>
                    <a:pt x="0" y="11595"/>
                  </a:lnTo>
                  <a:lnTo>
                    <a:pt x="0" y="7473"/>
                  </a:lnTo>
                  <a:lnTo>
                    <a:pt x="0" y="3343"/>
                  </a:lnTo>
                  <a:lnTo>
                    <a:pt x="3352" y="0"/>
                  </a:lnTo>
                  <a:lnTo>
                    <a:pt x="7473" y="0"/>
                  </a:lnTo>
                  <a:close/>
                </a:path>
              </a:pathLst>
            </a:custGeom>
            <a:ln w="5270">
              <a:solidFill>
                <a:srgbClr val="231F20"/>
              </a:solidFill>
            </a:ln>
          </p:spPr>
          <p:txBody>
            <a:bodyPr wrap="square" lIns="0" tIns="0" rIns="0" bIns="0" rtlCol="0"/>
            <a:lstStyle/>
            <a:p>
              <a:endParaRPr/>
            </a:p>
          </p:txBody>
        </p:sp>
        <p:sp>
          <p:nvSpPr>
            <p:cNvPr id="39" name="object 39"/>
            <p:cNvSpPr/>
            <p:nvPr/>
          </p:nvSpPr>
          <p:spPr>
            <a:xfrm>
              <a:off x="2146123" y="1528804"/>
              <a:ext cx="15240" cy="15240"/>
            </a:xfrm>
            <a:custGeom>
              <a:avLst/>
              <a:gdLst/>
              <a:ahLst/>
              <a:cxnLst/>
              <a:rect l="l" t="t" r="r" b="b"/>
              <a:pathLst>
                <a:path w="15239" h="15240">
                  <a:moveTo>
                    <a:pt x="11584" y="0"/>
                  </a:moveTo>
                  <a:lnTo>
                    <a:pt x="7463" y="0"/>
                  </a:lnTo>
                  <a:lnTo>
                    <a:pt x="3341" y="0"/>
                  </a:lnTo>
                  <a:lnTo>
                    <a:pt x="0" y="3343"/>
                  </a:lnTo>
                  <a:lnTo>
                    <a:pt x="0" y="11595"/>
                  </a:lnTo>
                  <a:lnTo>
                    <a:pt x="3341" y="14938"/>
                  </a:lnTo>
                  <a:lnTo>
                    <a:pt x="11584" y="14938"/>
                  </a:lnTo>
                  <a:lnTo>
                    <a:pt x="14936" y="11595"/>
                  </a:lnTo>
                  <a:lnTo>
                    <a:pt x="14936" y="3343"/>
                  </a:lnTo>
                  <a:lnTo>
                    <a:pt x="11584" y="0"/>
                  </a:lnTo>
                  <a:close/>
                </a:path>
              </a:pathLst>
            </a:custGeom>
            <a:solidFill>
              <a:srgbClr val="231F20"/>
            </a:solidFill>
          </p:spPr>
          <p:txBody>
            <a:bodyPr wrap="square" lIns="0" tIns="0" rIns="0" bIns="0" rtlCol="0"/>
            <a:lstStyle/>
            <a:p>
              <a:endParaRPr/>
            </a:p>
          </p:txBody>
        </p:sp>
        <p:sp>
          <p:nvSpPr>
            <p:cNvPr id="40" name="object 40"/>
            <p:cNvSpPr/>
            <p:nvPr/>
          </p:nvSpPr>
          <p:spPr>
            <a:xfrm>
              <a:off x="2146123" y="1528804"/>
              <a:ext cx="15240" cy="15240"/>
            </a:xfrm>
            <a:custGeom>
              <a:avLst/>
              <a:gdLst/>
              <a:ahLst/>
              <a:cxnLst/>
              <a:rect l="l" t="t" r="r" b="b"/>
              <a:pathLst>
                <a:path w="15239" h="15240">
                  <a:moveTo>
                    <a:pt x="7463" y="0"/>
                  </a:moveTo>
                  <a:lnTo>
                    <a:pt x="11584" y="0"/>
                  </a:lnTo>
                  <a:lnTo>
                    <a:pt x="14936" y="3343"/>
                  </a:lnTo>
                  <a:lnTo>
                    <a:pt x="14936" y="7473"/>
                  </a:lnTo>
                  <a:lnTo>
                    <a:pt x="14936" y="11595"/>
                  </a:lnTo>
                  <a:lnTo>
                    <a:pt x="11584" y="14938"/>
                  </a:lnTo>
                  <a:lnTo>
                    <a:pt x="7463" y="14938"/>
                  </a:lnTo>
                  <a:lnTo>
                    <a:pt x="3341" y="14938"/>
                  </a:lnTo>
                  <a:lnTo>
                    <a:pt x="0" y="11595"/>
                  </a:lnTo>
                  <a:lnTo>
                    <a:pt x="0" y="7473"/>
                  </a:lnTo>
                  <a:lnTo>
                    <a:pt x="0" y="3343"/>
                  </a:lnTo>
                  <a:lnTo>
                    <a:pt x="3341" y="0"/>
                  </a:lnTo>
                  <a:lnTo>
                    <a:pt x="7463" y="0"/>
                  </a:lnTo>
                  <a:close/>
                </a:path>
              </a:pathLst>
            </a:custGeom>
            <a:ln w="5270">
              <a:solidFill>
                <a:srgbClr val="231F20"/>
              </a:solidFill>
            </a:ln>
          </p:spPr>
          <p:txBody>
            <a:bodyPr wrap="square" lIns="0" tIns="0" rIns="0" bIns="0" rtlCol="0"/>
            <a:lstStyle/>
            <a:p>
              <a:endParaRPr/>
            </a:p>
          </p:txBody>
        </p:sp>
        <p:sp>
          <p:nvSpPr>
            <p:cNvPr id="41" name="object 41"/>
            <p:cNvSpPr/>
            <p:nvPr/>
          </p:nvSpPr>
          <p:spPr>
            <a:xfrm>
              <a:off x="2184713" y="1528804"/>
              <a:ext cx="15240" cy="15240"/>
            </a:xfrm>
            <a:custGeom>
              <a:avLst/>
              <a:gdLst/>
              <a:ahLst/>
              <a:cxnLst/>
              <a:rect l="l" t="t" r="r" b="b"/>
              <a:pathLst>
                <a:path w="15239" h="15240">
                  <a:moveTo>
                    <a:pt x="11595" y="0"/>
                  </a:moveTo>
                  <a:lnTo>
                    <a:pt x="7473" y="0"/>
                  </a:lnTo>
                  <a:lnTo>
                    <a:pt x="3352" y="0"/>
                  </a:lnTo>
                  <a:lnTo>
                    <a:pt x="0" y="3343"/>
                  </a:lnTo>
                  <a:lnTo>
                    <a:pt x="0" y="11595"/>
                  </a:lnTo>
                  <a:lnTo>
                    <a:pt x="3352" y="14938"/>
                  </a:lnTo>
                  <a:lnTo>
                    <a:pt x="11595" y="14938"/>
                  </a:lnTo>
                  <a:lnTo>
                    <a:pt x="14936" y="11595"/>
                  </a:lnTo>
                  <a:lnTo>
                    <a:pt x="14936" y="3343"/>
                  </a:lnTo>
                  <a:lnTo>
                    <a:pt x="11595" y="0"/>
                  </a:lnTo>
                  <a:close/>
                </a:path>
              </a:pathLst>
            </a:custGeom>
            <a:solidFill>
              <a:srgbClr val="231F20"/>
            </a:solidFill>
          </p:spPr>
          <p:txBody>
            <a:bodyPr wrap="square" lIns="0" tIns="0" rIns="0" bIns="0" rtlCol="0"/>
            <a:lstStyle/>
            <a:p>
              <a:endParaRPr/>
            </a:p>
          </p:txBody>
        </p:sp>
        <p:sp>
          <p:nvSpPr>
            <p:cNvPr id="42" name="object 42"/>
            <p:cNvSpPr/>
            <p:nvPr/>
          </p:nvSpPr>
          <p:spPr>
            <a:xfrm>
              <a:off x="2184713" y="1528804"/>
              <a:ext cx="15240" cy="15240"/>
            </a:xfrm>
            <a:custGeom>
              <a:avLst/>
              <a:gdLst/>
              <a:ahLst/>
              <a:cxnLst/>
              <a:rect l="l" t="t" r="r" b="b"/>
              <a:pathLst>
                <a:path w="15239" h="15240">
                  <a:moveTo>
                    <a:pt x="7473" y="0"/>
                  </a:moveTo>
                  <a:lnTo>
                    <a:pt x="11595" y="0"/>
                  </a:lnTo>
                  <a:lnTo>
                    <a:pt x="14936" y="3343"/>
                  </a:lnTo>
                  <a:lnTo>
                    <a:pt x="14936" y="7473"/>
                  </a:lnTo>
                  <a:lnTo>
                    <a:pt x="14936" y="11595"/>
                  </a:lnTo>
                  <a:lnTo>
                    <a:pt x="11595" y="14938"/>
                  </a:lnTo>
                  <a:lnTo>
                    <a:pt x="7473" y="14938"/>
                  </a:lnTo>
                  <a:lnTo>
                    <a:pt x="3352" y="14938"/>
                  </a:lnTo>
                  <a:lnTo>
                    <a:pt x="0" y="11595"/>
                  </a:lnTo>
                  <a:lnTo>
                    <a:pt x="0" y="7473"/>
                  </a:lnTo>
                  <a:lnTo>
                    <a:pt x="0" y="3343"/>
                  </a:lnTo>
                  <a:lnTo>
                    <a:pt x="3352" y="0"/>
                  </a:lnTo>
                  <a:lnTo>
                    <a:pt x="7473" y="0"/>
                  </a:lnTo>
                  <a:close/>
                </a:path>
              </a:pathLst>
            </a:custGeom>
            <a:ln w="5270">
              <a:solidFill>
                <a:srgbClr val="231F20"/>
              </a:solidFill>
            </a:ln>
          </p:spPr>
          <p:txBody>
            <a:bodyPr wrap="square" lIns="0" tIns="0" rIns="0" bIns="0" rtlCol="0"/>
            <a:lstStyle/>
            <a:p>
              <a:endParaRPr/>
            </a:p>
          </p:txBody>
        </p:sp>
        <p:sp>
          <p:nvSpPr>
            <p:cNvPr id="43" name="object 43"/>
            <p:cNvSpPr/>
            <p:nvPr/>
          </p:nvSpPr>
          <p:spPr>
            <a:xfrm>
              <a:off x="3147465" y="1313145"/>
              <a:ext cx="801370" cy="949325"/>
            </a:xfrm>
            <a:custGeom>
              <a:avLst/>
              <a:gdLst/>
              <a:ahLst/>
              <a:cxnLst/>
              <a:rect l="l" t="t" r="r" b="b"/>
              <a:pathLst>
                <a:path w="801370" h="949325">
                  <a:moveTo>
                    <a:pt x="0" y="948752"/>
                  </a:moveTo>
                  <a:lnTo>
                    <a:pt x="801165" y="948752"/>
                  </a:lnTo>
                  <a:lnTo>
                    <a:pt x="801165" y="0"/>
                  </a:lnTo>
                  <a:lnTo>
                    <a:pt x="0" y="0"/>
                  </a:lnTo>
                  <a:lnTo>
                    <a:pt x="0" y="948752"/>
                  </a:lnTo>
                  <a:close/>
                </a:path>
              </a:pathLst>
            </a:custGeom>
            <a:ln w="10541">
              <a:solidFill>
                <a:srgbClr val="231F20"/>
              </a:solidFill>
            </a:ln>
          </p:spPr>
          <p:txBody>
            <a:bodyPr wrap="square" lIns="0" tIns="0" rIns="0" bIns="0" rtlCol="0"/>
            <a:lstStyle/>
            <a:p>
              <a:endParaRPr/>
            </a:p>
          </p:txBody>
        </p:sp>
        <p:sp>
          <p:nvSpPr>
            <p:cNvPr id="44" name="object 44"/>
            <p:cNvSpPr/>
            <p:nvPr/>
          </p:nvSpPr>
          <p:spPr>
            <a:xfrm>
              <a:off x="3284498" y="1945652"/>
              <a:ext cx="106045" cy="127000"/>
            </a:xfrm>
            <a:custGeom>
              <a:avLst/>
              <a:gdLst/>
              <a:ahLst/>
              <a:cxnLst/>
              <a:rect l="l" t="t" r="r" b="b"/>
              <a:pathLst>
                <a:path w="106045" h="127000">
                  <a:moveTo>
                    <a:pt x="21081" y="42163"/>
                  </a:moveTo>
                  <a:lnTo>
                    <a:pt x="84338" y="42163"/>
                  </a:lnTo>
                </a:path>
                <a:path w="106045" h="127000">
                  <a:moveTo>
                    <a:pt x="21081" y="63250"/>
                  </a:moveTo>
                  <a:lnTo>
                    <a:pt x="84338" y="63250"/>
                  </a:lnTo>
                </a:path>
                <a:path w="106045" h="127000">
                  <a:moveTo>
                    <a:pt x="21081" y="84327"/>
                  </a:moveTo>
                  <a:lnTo>
                    <a:pt x="84338" y="84327"/>
                  </a:lnTo>
                </a:path>
                <a:path w="106045" h="127000">
                  <a:moveTo>
                    <a:pt x="0" y="126499"/>
                  </a:moveTo>
                  <a:lnTo>
                    <a:pt x="0" y="0"/>
                  </a:lnTo>
                  <a:lnTo>
                    <a:pt x="105420" y="0"/>
                  </a:lnTo>
                  <a:lnTo>
                    <a:pt x="105420" y="126499"/>
                  </a:lnTo>
                </a:path>
                <a:path w="106045" h="127000">
                  <a:moveTo>
                    <a:pt x="21081" y="21086"/>
                  </a:moveTo>
                  <a:lnTo>
                    <a:pt x="84338" y="21086"/>
                  </a:lnTo>
                </a:path>
              </a:pathLst>
            </a:custGeom>
            <a:ln w="5270">
              <a:solidFill>
                <a:srgbClr val="231F20"/>
              </a:solidFill>
            </a:ln>
          </p:spPr>
          <p:txBody>
            <a:bodyPr wrap="square" lIns="0" tIns="0" rIns="0" bIns="0" rtlCol="0"/>
            <a:lstStyle/>
            <a:p>
              <a:endParaRPr/>
            </a:p>
          </p:txBody>
        </p:sp>
      </p:grpSp>
      <p:sp>
        <p:nvSpPr>
          <p:cNvPr id="45" name="object 45"/>
          <p:cNvSpPr txBox="1"/>
          <p:nvPr/>
        </p:nvSpPr>
        <p:spPr>
          <a:xfrm>
            <a:off x="1846644" y="1596057"/>
            <a:ext cx="87185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Broker</a:t>
            </a:r>
            <a:r>
              <a:rPr sz="650" spc="-15" dirty="0">
                <a:solidFill>
                  <a:srgbClr val="231F20"/>
                </a:solidFill>
                <a:latin typeface="Arial"/>
                <a:cs typeface="Arial"/>
              </a:rPr>
              <a:t> </a:t>
            </a:r>
            <a:r>
              <a:rPr sz="650" spc="5" dirty="0">
                <a:solidFill>
                  <a:srgbClr val="231F20"/>
                </a:solidFill>
                <a:latin typeface="Arial"/>
                <a:cs typeface="Arial"/>
              </a:rPr>
              <a:t>plugins  </a:t>
            </a:r>
            <a:r>
              <a:rPr sz="650" spc="114" dirty="0">
                <a:solidFill>
                  <a:srgbClr val="231F20"/>
                </a:solidFill>
                <a:latin typeface="Arial"/>
                <a:cs typeface="Arial"/>
              </a:rPr>
              <a:t> </a:t>
            </a:r>
            <a:r>
              <a:rPr sz="650" spc="5" dirty="0">
                <a:solidFill>
                  <a:srgbClr val="231F20"/>
                </a:solidFill>
                <a:latin typeface="Arial"/>
                <a:cs typeface="Arial"/>
              </a:rPr>
              <a:t>Rules</a:t>
            </a:r>
            <a:endParaRPr sz="650">
              <a:latin typeface="Arial"/>
              <a:cs typeface="Arial"/>
            </a:endParaRPr>
          </a:p>
        </p:txBody>
      </p:sp>
      <p:grpSp>
        <p:nvGrpSpPr>
          <p:cNvPr id="46" name="object 46"/>
          <p:cNvGrpSpPr/>
          <p:nvPr/>
        </p:nvGrpSpPr>
        <p:grpSpPr>
          <a:xfrm>
            <a:off x="996961" y="1470491"/>
            <a:ext cx="2604135" cy="980440"/>
            <a:chOff x="996961" y="1470491"/>
            <a:chExt cx="2604135" cy="980440"/>
          </a:xfrm>
        </p:grpSpPr>
        <p:sp>
          <p:nvSpPr>
            <p:cNvPr id="47" name="object 47"/>
            <p:cNvSpPr/>
            <p:nvPr/>
          </p:nvSpPr>
          <p:spPr>
            <a:xfrm>
              <a:off x="996961" y="2253205"/>
              <a:ext cx="189865" cy="189865"/>
            </a:xfrm>
            <a:custGeom>
              <a:avLst/>
              <a:gdLst/>
              <a:ahLst/>
              <a:cxnLst/>
              <a:rect l="l" t="t" r="r" b="b"/>
              <a:pathLst>
                <a:path w="189865" h="189864">
                  <a:moveTo>
                    <a:pt x="63250" y="0"/>
                  </a:moveTo>
                  <a:lnTo>
                    <a:pt x="63250" y="189750"/>
                  </a:lnTo>
                </a:path>
                <a:path w="189865" h="189864">
                  <a:moveTo>
                    <a:pt x="0" y="189750"/>
                  </a:moveTo>
                  <a:lnTo>
                    <a:pt x="189750" y="189750"/>
                  </a:lnTo>
                </a:path>
              </a:pathLst>
            </a:custGeom>
            <a:ln w="15812">
              <a:solidFill>
                <a:srgbClr val="231F20"/>
              </a:solidFill>
            </a:ln>
          </p:spPr>
          <p:txBody>
            <a:bodyPr wrap="square" lIns="0" tIns="0" rIns="0" bIns="0" rtlCol="0"/>
            <a:lstStyle/>
            <a:p>
              <a:endParaRPr/>
            </a:p>
          </p:txBody>
        </p:sp>
        <p:pic>
          <p:nvPicPr>
            <p:cNvPr id="48" name="object 48"/>
            <p:cNvPicPr/>
            <p:nvPr/>
          </p:nvPicPr>
          <p:blipFill>
            <a:blip r:embed="rId6" cstate="print"/>
            <a:stretch>
              <a:fillRect/>
            </a:stretch>
          </p:blipFill>
          <p:spPr>
            <a:xfrm>
              <a:off x="2491245" y="1470491"/>
              <a:ext cx="216101" cy="130753"/>
            </a:xfrm>
            <a:prstGeom prst="rect">
              <a:avLst/>
            </a:prstGeom>
          </p:spPr>
        </p:pic>
        <p:sp>
          <p:nvSpPr>
            <p:cNvPr id="49" name="object 49"/>
            <p:cNvSpPr/>
            <p:nvPr/>
          </p:nvSpPr>
          <p:spPr>
            <a:xfrm>
              <a:off x="2177630" y="2253205"/>
              <a:ext cx="253365" cy="189865"/>
            </a:xfrm>
            <a:custGeom>
              <a:avLst/>
              <a:gdLst/>
              <a:ahLst/>
              <a:cxnLst/>
              <a:rect l="l" t="t" r="r" b="b"/>
              <a:pathLst>
                <a:path w="253364" h="189864">
                  <a:moveTo>
                    <a:pt x="126502" y="0"/>
                  </a:moveTo>
                  <a:lnTo>
                    <a:pt x="126502" y="189750"/>
                  </a:lnTo>
                </a:path>
                <a:path w="253364" h="189864">
                  <a:moveTo>
                    <a:pt x="0" y="189750"/>
                  </a:moveTo>
                  <a:lnTo>
                    <a:pt x="252994" y="189750"/>
                  </a:lnTo>
                </a:path>
              </a:pathLst>
            </a:custGeom>
            <a:ln w="15812">
              <a:solidFill>
                <a:srgbClr val="231F20"/>
              </a:solidFill>
            </a:ln>
          </p:spPr>
          <p:txBody>
            <a:bodyPr wrap="square" lIns="0" tIns="0" rIns="0" bIns="0" rtlCol="0"/>
            <a:lstStyle/>
            <a:p>
              <a:endParaRPr/>
            </a:p>
          </p:txBody>
        </p:sp>
        <p:sp>
          <p:nvSpPr>
            <p:cNvPr id="50" name="object 50"/>
            <p:cNvSpPr/>
            <p:nvPr/>
          </p:nvSpPr>
          <p:spPr>
            <a:xfrm>
              <a:off x="1186712" y="2442956"/>
              <a:ext cx="991235" cy="0"/>
            </a:xfrm>
            <a:custGeom>
              <a:avLst/>
              <a:gdLst/>
              <a:ahLst/>
              <a:cxnLst/>
              <a:rect l="l" t="t" r="r" b="b"/>
              <a:pathLst>
                <a:path w="991235">
                  <a:moveTo>
                    <a:pt x="0" y="0"/>
                  </a:moveTo>
                  <a:lnTo>
                    <a:pt x="990918" y="0"/>
                  </a:lnTo>
                </a:path>
              </a:pathLst>
            </a:custGeom>
            <a:ln w="15812">
              <a:solidFill>
                <a:srgbClr val="231F20"/>
              </a:solidFill>
              <a:prstDash val="lgDash"/>
            </a:ln>
          </p:spPr>
          <p:txBody>
            <a:bodyPr wrap="square" lIns="0" tIns="0" rIns="0" bIns="0" rtlCol="0"/>
            <a:lstStyle/>
            <a:p>
              <a:endParaRPr/>
            </a:p>
          </p:txBody>
        </p:sp>
        <p:sp>
          <p:nvSpPr>
            <p:cNvPr id="51" name="object 51"/>
            <p:cNvSpPr/>
            <p:nvPr/>
          </p:nvSpPr>
          <p:spPr>
            <a:xfrm>
              <a:off x="3411001" y="2262927"/>
              <a:ext cx="189865" cy="180340"/>
            </a:xfrm>
            <a:custGeom>
              <a:avLst/>
              <a:gdLst/>
              <a:ahLst/>
              <a:cxnLst/>
              <a:rect l="l" t="t" r="r" b="b"/>
              <a:pathLst>
                <a:path w="189864" h="180339">
                  <a:moveTo>
                    <a:pt x="137043" y="0"/>
                  </a:moveTo>
                  <a:lnTo>
                    <a:pt x="137043" y="180028"/>
                  </a:lnTo>
                </a:path>
                <a:path w="189864" h="180339">
                  <a:moveTo>
                    <a:pt x="0" y="180028"/>
                  </a:moveTo>
                  <a:lnTo>
                    <a:pt x="189748" y="180028"/>
                  </a:lnTo>
                </a:path>
              </a:pathLst>
            </a:custGeom>
            <a:ln w="15812">
              <a:solidFill>
                <a:srgbClr val="231F20"/>
              </a:solidFill>
            </a:ln>
          </p:spPr>
          <p:txBody>
            <a:bodyPr wrap="square" lIns="0" tIns="0" rIns="0" bIns="0" rtlCol="0"/>
            <a:lstStyle/>
            <a:p>
              <a:endParaRPr/>
            </a:p>
          </p:txBody>
        </p:sp>
        <p:sp>
          <p:nvSpPr>
            <p:cNvPr id="52" name="object 52"/>
            <p:cNvSpPr/>
            <p:nvPr/>
          </p:nvSpPr>
          <p:spPr>
            <a:xfrm>
              <a:off x="2430624" y="2442948"/>
              <a:ext cx="991235" cy="0"/>
            </a:xfrm>
            <a:custGeom>
              <a:avLst/>
              <a:gdLst/>
              <a:ahLst/>
              <a:cxnLst/>
              <a:rect l="l" t="t" r="r" b="b"/>
              <a:pathLst>
                <a:path w="991235">
                  <a:moveTo>
                    <a:pt x="0" y="0"/>
                  </a:moveTo>
                  <a:lnTo>
                    <a:pt x="990917" y="0"/>
                  </a:lnTo>
                </a:path>
              </a:pathLst>
            </a:custGeom>
            <a:ln w="15812">
              <a:solidFill>
                <a:srgbClr val="231F20"/>
              </a:solidFill>
              <a:prstDash val="lgDash"/>
            </a:ln>
          </p:spPr>
          <p:txBody>
            <a:bodyPr wrap="square" lIns="0" tIns="0" rIns="0" bIns="0" rtlCol="0"/>
            <a:lstStyle/>
            <a:p>
              <a:endParaRPr/>
            </a:p>
          </p:txBody>
        </p:sp>
        <p:sp>
          <p:nvSpPr>
            <p:cNvPr id="53" name="object 53"/>
            <p:cNvSpPr/>
            <p:nvPr/>
          </p:nvSpPr>
          <p:spPr>
            <a:xfrm>
              <a:off x="1249958" y="2063447"/>
              <a:ext cx="569595" cy="316865"/>
            </a:xfrm>
            <a:custGeom>
              <a:avLst/>
              <a:gdLst/>
              <a:ahLst/>
              <a:cxnLst/>
              <a:rect l="l" t="t" r="r" b="b"/>
              <a:pathLst>
                <a:path w="569594" h="316864">
                  <a:moveTo>
                    <a:pt x="84335" y="316258"/>
                  </a:moveTo>
                  <a:lnTo>
                    <a:pt x="35578" y="314940"/>
                  </a:lnTo>
                  <a:lnTo>
                    <a:pt x="10541" y="305716"/>
                  </a:lnTo>
                  <a:lnTo>
                    <a:pt x="1317" y="280679"/>
                  </a:lnTo>
                  <a:lnTo>
                    <a:pt x="0" y="231922"/>
                  </a:lnTo>
                  <a:lnTo>
                    <a:pt x="0" y="0"/>
                  </a:lnTo>
                </a:path>
                <a:path w="569594" h="316864">
                  <a:moveTo>
                    <a:pt x="484918" y="316262"/>
                  </a:moveTo>
                  <a:lnTo>
                    <a:pt x="533670" y="314944"/>
                  </a:lnTo>
                  <a:lnTo>
                    <a:pt x="558705" y="305721"/>
                  </a:lnTo>
                  <a:lnTo>
                    <a:pt x="567929" y="280686"/>
                  </a:lnTo>
                  <a:lnTo>
                    <a:pt x="569246" y="231934"/>
                  </a:lnTo>
                  <a:lnTo>
                    <a:pt x="569246" y="37386"/>
                  </a:lnTo>
                </a:path>
              </a:pathLst>
            </a:custGeom>
            <a:ln w="5270">
              <a:solidFill>
                <a:srgbClr val="231F20"/>
              </a:solidFill>
            </a:ln>
          </p:spPr>
          <p:txBody>
            <a:bodyPr wrap="square" lIns="0" tIns="0" rIns="0" bIns="0" rtlCol="0"/>
            <a:lstStyle/>
            <a:p>
              <a:endParaRPr/>
            </a:p>
          </p:txBody>
        </p:sp>
        <p:pic>
          <p:nvPicPr>
            <p:cNvPr id="54" name="object 54"/>
            <p:cNvPicPr/>
            <p:nvPr/>
          </p:nvPicPr>
          <p:blipFill>
            <a:blip r:embed="rId7" cstate="print"/>
            <a:stretch>
              <a:fillRect/>
            </a:stretch>
          </p:blipFill>
          <p:spPr>
            <a:xfrm>
              <a:off x="1787339" y="2063459"/>
              <a:ext cx="63751" cy="74372"/>
            </a:xfrm>
            <a:prstGeom prst="rect">
              <a:avLst/>
            </a:prstGeom>
          </p:spPr>
        </p:pic>
        <p:sp>
          <p:nvSpPr>
            <p:cNvPr id="55" name="object 55"/>
            <p:cNvSpPr/>
            <p:nvPr/>
          </p:nvSpPr>
          <p:spPr>
            <a:xfrm>
              <a:off x="1334293" y="2063459"/>
              <a:ext cx="2003425" cy="316865"/>
            </a:xfrm>
            <a:custGeom>
              <a:avLst/>
              <a:gdLst/>
              <a:ahLst/>
              <a:cxnLst/>
              <a:rect l="l" t="t" r="r" b="b"/>
              <a:pathLst>
                <a:path w="2003425" h="316864">
                  <a:moveTo>
                    <a:pt x="0" y="316246"/>
                  </a:moveTo>
                  <a:lnTo>
                    <a:pt x="400583" y="316250"/>
                  </a:lnTo>
                </a:path>
                <a:path w="2003425" h="316864">
                  <a:moveTo>
                    <a:pt x="1518003" y="316250"/>
                  </a:moveTo>
                  <a:lnTo>
                    <a:pt x="1469244" y="314933"/>
                  </a:lnTo>
                  <a:lnTo>
                    <a:pt x="1444206" y="305709"/>
                  </a:lnTo>
                  <a:lnTo>
                    <a:pt x="1434982" y="280675"/>
                  </a:lnTo>
                  <a:lnTo>
                    <a:pt x="1433664" y="231923"/>
                  </a:lnTo>
                  <a:lnTo>
                    <a:pt x="1433664" y="0"/>
                  </a:lnTo>
                </a:path>
                <a:path w="2003425" h="316864">
                  <a:moveTo>
                    <a:pt x="1918582" y="316259"/>
                  </a:moveTo>
                  <a:lnTo>
                    <a:pt x="1967334" y="314941"/>
                  </a:lnTo>
                  <a:lnTo>
                    <a:pt x="1992369" y="305717"/>
                  </a:lnTo>
                  <a:lnTo>
                    <a:pt x="2001592" y="280679"/>
                  </a:lnTo>
                  <a:lnTo>
                    <a:pt x="2002910" y="231923"/>
                  </a:lnTo>
                  <a:lnTo>
                    <a:pt x="2002910" y="37379"/>
                  </a:lnTo>
                </a:path>
              </a:pathLst>
            </a:custGeom>
            <a:ln w="5270">
              <a:solidFill>
                <a:srgbClr val="231F20"/>
              </a:solidFill>
            </a:ln>
          </p:spPr>
          <p:txBody>
            <a:bodyPr wrap="square" lIns="0" tIns="0" rIns="0" bIns="0" rtlCol="0"/>
            <a:lstStyle/>
            <a:p>
              <a:endParaRPr/>
            </a:p>
          </p:txBody>
        </p:sp>
        <p:pic>
          <p:nvPicPr>
            <p:cNvPr id="56" name="object 56"/>
            <p:cNvPicPr/>
            <p:nvPr/>
          </p:nvPicPr>
          <p:blipFill>
            <a:blip r:embed="rId8" cstate="print"/>
            <a:stretch>
              <a:fillRect/>
            </a:stretch>
          </p:blipFill>
          <p:spPr>
            <a:xfrm>
              <a:off x="3305338" y="2063459"/>
              <a:ext cx="63751" cy="74380"/>
            </a:xfrm>
            <a:prstGeom prst="rect">
              <a:avLst/>
            </a:prstGeom>
          </p:spPr>
        </p:pic>
        <p:sp>
          <p:nvSpPr>
            <p:cNvPr id="57" name="object 57"/>
            <p:cNvSpPr/>
            <p:nvPr/>
          </p:nvSpPr>
          <p:spPr>
            <a:xfrm>
              <a:off x="2852296" y="2379710"/>
              <a:ext cx="400685" cy="635"/>
            </a:xfrm>
            <a:custGeom>
              <a:avLst/>
              <a:gdLst/>
              <a:ahLst/>
              <a:cxnLst/>
              <a:rect l="l" t="t" r="r" b="b"/>
              <a:pathLst>
                <a:path w="400685" h="635">
                  <a:moveTo>
                    <a:pt x="0" y="0"/>
                  </a:moveTo>
                  <a:lnTo>
                    <a:pt x="400579" y="8"/>
                  </a:lnTo>
                </a:path>
              </a:pathLst>
            </a:custGeom>
            <a:ln w="5270">
              <a:solidFill>
                <a:srgbClr val="231F20"/>
              </a:solidFill>
            </a:ln>
          </p:spPr>
          <p:txBody>
            <a:bodyPr wrap="square" lIns="0" tIns="0" rIns="0" bIns="0" rtlCol="0"/>
            <a:lstStyle/>
            <a:p>
              <a:endParaRPr/>
            </a:p>
          </p:txBody>
        </p:sp>
        <p:pic>
          <p:nvPicPr>
            <p:cNvPr id="58" name="object 58"/>
            <p:cNvPicPr/>
            <p:nvPr/>
          </p:nvPicPr>
          <p:blipFill>
            <a:blip r:embed="rId9" cstate="print"/>
            <a:stretch>
              <a:fillRect/>
            </a:stretch>
          </p:blipFill>
          <p:spPr>
            <a:xfrm>
              <a:off x="1815863" y="1717356"/>
              <a:ext cx="95069" cy="222239"/>
            </a:xfrm>
            <a:prstGeom prst="rect">
              <a:avLst/>
            </a:prstGeom>
          </p:spPr>
        </p:pic>
        <p:pic>
          <p:nvPicPr>
            <p:cNvPr id="59" name="object 59"/>
            <p:cNvPicPr/>
            <p:nvPr/>
          </p:nvPicPr>
          <p:blipFill>
            <a:blip r:embed="rId10" cstate="print"/>
            <a:stretch>
              <a:fillRect/>
            </a:stretch>
          </p:blipFill>
          <p:spPr>
            <a:xfrm>
              <a:off x="2680720" y="1714720"/>
              <a:ext cx="87406" cy="201152"/>
            </a:xfrm>
            <a:prstGeom prst="rect">
              <a:avLst/>
            </a:prstGeom>
          </p:spPr>
        </p:pic>
      </p:grpSp>
      <p:sp>
        <p:nvSpPr>
          <p:cNvPr id="60" name="object 60"/>
          <p:cNvSpPr txBox="1"/>
          <p:nvPr/>
        </p:nvSpPr>
        <p:spPr>
          <a:xfrm>
            <a:off x="2098047" y="1854514"/>
            <a:ext cx="344170" cy="220979"/>
          </a:xfrm>
          <a:prstGeom prst="rect">
            <a:avLst/>
          </a:prstGeom>
        </p:spPr>
        <p:txBody>
          <a:bodyPr vert="horz" wrap="square" lIns="0" tIns="21590" rIns="0" bIns="0" rtlCol="0">
            <a:spAutoFit/>
          </a:bodyPr>
          <a:lstStyle/>
          <a:p>
            <a:pPr marL="80645" marR="5080" indent="-68580">
              <a:lnSpc>
                <a:spcPts val="740"/>
              </a:lnSpc>
              <a:spcBef>
                <a:spcPts val="170"/>
              </a:spcBef>
            </a:pPr>
            <a:r>
              <a:rPr sz="650" spc="5" dirty="0">
                <a:solidFill>
                  <a:srgbClr val="231F20"/>
                </a:solidFill>
                <a:latin typeface="Arial"/>
                <a:cs typeface="Arial"/>
              </a:rPr>
              <a:t>Queuing  layer</a:t>
            </a:r>
            <a:endParaRPr sz="650">
              <a:latin typeface="Arial"/>
              <a:cs typeface="Arial"/>
            </a:endParaRPr>
          </a:p>
        </p:txBody>
      </p:sp>
      <p:sp>
        <p:nvSpPr>
          <p:cNvPr id="64" name="object 64"/>
          <p:cNvSpPr txBox="1"/>
          <p:nvPr/>
        </p:nvSpPr>
        <p:spPr>
          <a:xfrm>
            <a:off x="66713" y="3331252"/>
            <a:ext cx="60642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1" action="ppaction://hlinksldjump"/>
              </a:rPr>
              <a:t>Message bro</a:t>
            </a:r>
            <a:r>
              <a:rPr sz="600" spc="-20" dirty="0">
                <a:solidFill>
                  <a:srgbClr val="3333B2"/>
                </a:solidFill>
                <a:latin typeface="Arial"/>
                <a:cs typeface="Arial"/>
                <a:hlinkClick r:id="rId11" action="ppaction://hlinksldjump"/>
              </a:rPr>
              <a:t>k</a:t>
            </a:r>
            <a:r>
              <a:rPr sz="600" spc="-5" dirty="0">
                <a:solidFill>
                  <a:srgbClr val="3333B2"/>
                </a:solidFill>
                <a:latin typeface="Arial"/>
                <a:cs typeface="Arial"/>
                <a:hlinkClick r:id="rId11" action="ppaction://hlinksldjump"/>
              </a:rPr>
              <a:t>ers</a:t>
            </a:r>
            <a:endParaRPr sz="600">
              <a:latin typeface="Arial"/>
              <a:cs typeface="Arial"/>
            </a:endParaRPr>
          </a:p>
        </p:txBody>
      </p:sp>
      <p:sp>
        <p:nvSpPr>
          <p:cNvPr id="65" name="object 6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32</a:t>
            </a:r>
            <a:r>
              <a:rPr spc="-40" dirty="0"/>
              <a:t> </a:t>
            </a:r>
            <a:r>
              <a:rPr spc="-5" dirty="0"/>
              <a:t>/</a:t>
            </a:r>
            <a:r>
              <a:rPr spc="-35" dirty="0"/>
              <a:t> </a:t>
            </a:r>
            <a:r>
              <a:rPr spc="-5" dirty="0"/>
              <a:t>49</a:t>
            </a:r>
          </a:p>
        </p:txBody>
      </p:sp>
      <p:sp>
        <p:nvSpPr>
          <p:cNvPr id="61" name="object 61"/>
          <p:cNvSpPr txBox="1"/>
          <p:nvPr/>
        </p:nvSpPr>
        <p:spPr>
          <a:xfrm>
            <a:off x="685207" y="1163403"/>
            <a:ext cx="2927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Source</a:t>
            </a:r>
            <a:endParaRPr sz="650">
              <a:latin typeface="Arial"/>
              <a:cs typeface="Arial"/>
            </a:endParaRPr>
          </a:p>
        </p:txBody>
      </p:sp>
      <p:sp>
        <p:nvSpPr>
          <p:cNvPr id="62" name="object 62"/>
          <p:cNvSpPr txBox="1"/>
          <p:nvPr/>
        </p:nvSpPr>
        <p:spPr>
          <a:xfrm>
            <a:off x="3149345" y="1164334"/>
            <a:ext cx="4476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Destination</a:t>
            </a:r>
            <a:endParaRPr sz="650">
              <a:latin typeface="Arial"/>
              <a:cs typeface="Arial"/>
            </a:endParaRPr>
          </a:p>
        </p:txBody>
      </p:sp>
      <p:sp>
        <p:nvSpPr>
          <p:cNvPr id="63" name="object 63"/>
          <p:cNvSpPr txBox="1"/>
          <p:nvPr/>
        </p:nvSpPr>
        <p:spPr>
          <a:xfrm>
            <a:off x="1664529" y="1168636"/>
            <a:ext cx="63055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Message</a:t>
            </a:r>
            <a:r>
              <a:rPr sz="650" spc="-45" dirty="0">
                <a:solidFill>
                  <a:srgbClr val="231F20"/>
                </a:solidFill>
                <a:latin typeface="Arial"/>
                <a:cs typeface="Arial"/>
              </a:rPr>
              <a:t> </a:t>
            </a:r>
            <a:r>
              <a:rPr sz="650" spc="5" dirty="0">
                <a:solidFill>
                  <a:srgbClr val="231F20"/>
                </a:solidFill>
                <a:latin typeface="Arial"/>
                <a:cs typeface="Arial"/>
              </a:rPr>
              <a:t>broker</a:t>
            </a:r>
            <a:endParaRPr sz="650">
              <a:latin typeface="Arial"/>
              <a:cs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340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O</a:t>
            </a:r>
            <a:r>
              <a:rPr sz="600" spc="-20" dirty="0">
                <a:solidFill>
                  <a:srgbClr val="3333B2"/>
                </a:solidFill>
                <a:latin typeface="Arial"/>
                <a:cs typeface="Arial"/>
                <a:hlinkClick r:id="rId3" action="ppaction://hlinksldjump"/>
              </a:rPr>
              <a:t>v</a:t>
            </a:r>
            <a:r>
              <a:rPr sz="600" spc="-5" dirty="0">
                <a:solidFill>
                  <a:srgbClr val="3333B2"/>
                </a:solidFill>
                <a:latin typeface="Arial"/>
                <a:cs typeface="Arial"/>
                <a:hlinkClick r:id="rId3" action="ppaction://hlinksldjump"/>
              </a:rPr>
              <a:t>e</a:t>
            </a:r>
            <a:r>
              <a:rPr sz="600" spc="10" dirty="0">
                <a:solidFill>
                  <a:srgbClr val="3333B2"/>
                </a:solidFill>
                <a:latin typeface="Arial"/>
                <a:cs typeface="Arial"/>
                <a:hlinkClick r:id="rId3" action="ppaction://hlinksldjump"/>
              </a:rPr>
              <a:t>r</a:t>
            </a:r>
            <a:r>
              <a:rPr sz="600" spc="-5" dirty="0">
                <a:solidFill>
                  <a:srgbClr val="3333B2"/>
                </a:solidFill>
                <a:latin typeface="Arial"/>
                <a:cs typeface="Arial"/>
                <a:hlinkClick r:id="rId3" action="ppaction://hlinksldjump"/>
              </a:rPr>
              <a:t>vi</a:t>
            </a:r>
            <a:r>
              <a:rPr sz="600" spc="-20" dirty="0">
                <a:solidFill>
                  <a:srgbClr val="3333B2"/>
                </a:solidFill>
                <a:latin typeface="Arial"/>
                <a:cs typeface="Arial"/>
                <a:hlinkClick r:id="rId3" action="ppaction://hlinksldjump"/>
              </a:rPr>
              <a:t>e</a:t>
            </a:r>
            <a:r>
              <a:rPr sz="600" spc="-5" dirty="0">
                <a:solidFill>
                  <a:srgbClr val="3333B2"/>
                </a:solidFill>
                <a:latin typeface="Arial"/>
                <a:cs typeface="Arial"/>
                <a:hlinkClick r:id="rId3" action="ppaction://hlinksldjump"/>
              </a:rPr>
              <a:t>w</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33</a:t>
            </a:r>
            <a:r>
              <a:rPr spc="-40" dirty="0"/>
              <a:t> </a:t>
            </a:r>
            <a:r>
              <a:rPr spc="-5" dirty="0"/>
              <a:t>/</a:t>
            </a:r>
            <a:r>
              <a:rPr spc="-35" dirty="0"/>
              <a:t> </a:t>
            </a:r>
            <a:r>
              <a:rPr spc="-5" dirty="0"/>
              <a:t>49</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626995" algn="l"/>
              </a:tabLst>
            </a:pPr>
            <a:r>
              <a:rPr sz="600" spc="-5" dirty="0">
                <a:solidFill>
                  <a:srgbClr val="3333B2"/>
                </a:solidFill>
                <a:latin typeface="Arial"/>
                <a:cs typeface="Arial"/>
                <a:hlinkClick r:id="rId4" action="ppaction://hlinksldjump"/>
              </a:rPr>
              <a:t>Communication:</a:t>
            </a:r>
            <a:r>
              <a:rPr sz="600" spc="195" dirty="0">
                <a:solidFill>
                  <a:srgbClr val="3333B2"/>
                </a:solidFill>
                <a:latin typeface="Arial"/>
                <a:cs typeface="Arial"/>
              </a:rPr>
              <a:t> </a:t>
            </a:r>
            <a:r>
              <a:rPr sz="600" spc="-5" dirty="0">
                <a:solidFill>
                  <a:srgbClr val="3333B2"/>
                </a:solidFill>
                <a:latin typeface="Arial"/>
                <a:cs typeface="Arial"/>
                <a:hlinkClick r:id="rId5" action="ppaction://hlinksldjump"/>
              </a:rPr>
              <a:t>Message-oriented</a:t>
            </a:r>
            <a:r>
              <a:rPr sz="600" spc="2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r>
              <a:rPr sz="600" spc="-5" dirty="0">
                <a:solidFill>
                  <a:srgbClr val="3333B2"/>
                </a:solidFill>
                <a:latin typeface="Arial"/>
                <a:cs typeface="Arial"/>
              </a:rPr>
              <a:t>	</a:t>
            </a:r>
            <a:r>
              <a:rPr sz="600" spc="-5" dirty="0">
                <a:solidFill>
                  <a:srgbClr val="262685"/>
                </a:solidFill>
                <a:latin typeface="Arial"/>
                <a:cs typeface="Arial"/>
                <a:hlinkClick r:id="rId3" action="ppaction://hlinksldjump"/>
              </a:rPr>
              <a:t>Example:</a:t>
            </a:r>
            <a:r>
              <a:rPr sz="600" spc="45" dirty="0">
                <a:solidFill>
                  <a:srgbClr val="262685"/>
                </a:solidFill>
                <a:latin typeface="Arial"/>
                <a:cs typeface="Arial"/>
                <a:hlinkClick r:id="rId3" action="ppaction://hlinksldjump"/>
              </a:rPr>
              <a:t> </a:t>
            </a:r>
            <a:r>
              <a:rPr sz="600" spc="-10" dirty="0">
                <a:solidFill>
                  <a:srgbClr val="262685"/>
                </a:solidFill>
                <a:latin typeface="Arial"/>
                <a:cs typeface="Arial"/>
                <a:hlinkClick r:id="rId3" action="ppaction://hlinksldjump"/>
              </a:rPr>
              <a:t>IBM’s</a:t>
            </a:r>
            <a:r>
              <a:rPr sz="60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WebSphere</a:t>
            </a:r>
            <a:r>
              <a:rPr sz="600" spc="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message-queuing</a:t>
            </a:r>
            <a:r>
              <a:rPr sz="60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system</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IBM’s</a:t>
            </a:r>
            <a:r>
              <a:rPr spc="-40" dirty="0"/>
              <a:t> </a:t>
            </a:r>
            <a:r>
              <a:rPr spc="15" dirty="0"/>
              <a:t>WebSphere</a:t>
            </a:r>
            <a:r>
              <a:rPr spc="-35" dirty="0"/>
              <a:t> </a:t>
            </a:r>
            <a:r>
              <a:rPr spc="25" dirty="0"/>
              <a:t>MQ</a:t>
            </a:r>
          </a:p>
        </p:txBody>
      </p:sp>
      <p:sp>
        <p:nvSpPr>
          <p:cNvPr id="4" name="object 4"/>
          <p:cNvSpPr txBox="1"/>
          <p:nvPr/>
        </p:nvSpPr>
        <p:spPr>
          <a:xfrm>
            <a:off x="334594" y="429321"/>
            <a:ext cx="3938270" cy="2868930"/>
          </a:xfrm>
          <a:prstGeom prst="rect">
            <a:avLst/>
          </a:prstGeom>
        </p:spPr>
        <p:txBody>
          <a:bodyPr vert="horz" wrap="square" lIns="0" tIns="12065" rIns="0" bIns="0" rtlCol="0">
            <a:spAutoFit/>
          </a:bodyPr>
          <a:lstStyle/>
          <a:p>
            <a:pPr marL="25400">
              <a:lnSpc>
                <a:spcPct val="100000"/>
              </a:lnSpc>
              <a:spcBef>
                <a:spcPts val="95"/>
              </a:spcBef>
            </a:pPr>
            <a:r>
              <a:rPr sz="1200" spc="-5" dirty="0">
                <a:solidFill>
                  <a:srgbClr val="3333B2"/>
                </a:solidFill>
                <a:latin typeface="Arial"/>
                <a:cs typeface="Arial"/>
              </a:rPr>
              <a:t>Basic</a:t>
            </a:r>
            <a:r>
              <a:rPr sz="1200" spc="-35" dirty="0">
                <a:solidFill>
                  <a:srgbClr val="3333B2"/>
                </a:solidFill>
                <a:latin typeface="Arial"/>
                <a:cs typeface="Arial"/>
              </a:rPr>
              <a:t> </a:t>
            </a:r>
            <a:r>
              <a:rPr sz="1200" spc="-5" dirty="0">
                <a:solidFill>
                  <a:srgbClr val="3333B2"/>
                </a:solidFill>
                <a:latin typeface="Arial"/>
                <a:cs typeface="Arial"/>
              </a:rPr>
              <a:t>concepts</a:t>
            </a:r>
            <a:endParaRPr sz="1200" dirty="0">
              <a:latin typeface="Arial"/>
              <a:cs typeface="Arial"/>
            </a:endParaRPr>
          </a:p>
          <a:p>
            <a:pPr marL="302260" marR="177800" indent="-168275">
              <a:lnSpc>
                <a:spcPct val="100000"/>
              </a:lnSpc>
              <a:spcBef>
                <a:spcPts val="770"/>
              </a:spcBef>
              <a:buClr>
                <a:srgbClr val="3333B2"/>
              </a:buClr>
              <a:buChar char="►"/>
              <a:tabLst>
                <a:tab pos="302895" algn="l"/>
              </a:tabLst>
            </a:pPr>
            <a:r>
              <a:rPr sz="1000" spc="-5" dirty="0">
                <a:solidFill>
                  <a:srgbClr val="0000FA"/>
                </a:solidFill>
                <a:latin typeface="Arial"/>
                <a:cs typeface="Arial"/>
              </a:rPr>
              <a:t>Application-specific</a:t>
            </a:r>
            <a:r>
              <a:rPr sz="1000" dirty="0">
                <a:solidFill>
                  <a:srgbClr val="0000FA"/>
                </a:solidFill>
                <a:latin typeface="Arial"/>
                <a:cs typeface="Arial"/>
              </a:rPr>
              <a:t> </a:t>
            </a:r>
            <a:r>
              <a:rPr sz="1000" spc="-5" dirty="0">
                <a:solidFill>
                  <a:srgbClr val="0000FA"/>
                </a:solidFill>
                <a:latin typeface="Arial"/>
                <a:cs typeface="Arial"/>
              </a:rPr>
              <a:t>messages</a:t>
            </a:r>
            <a:r>
              <a:rPr sz="1000" dirty="0">
                <a:solidFill>
                  <a:srgbClr val="0000FA"/>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put</a:t>
            </a:r>
            <a:r>
              <a:rPr sz="1000" spc="5" dirty="0">
                <a:latin typeface="Arial"/>
                <a:cs typeface="Arial"/>
              </a:rPr>
              <a:t> </a:t>
            </a:r>
            <a:r>
              <a:rPr sz="1000" spc="-10" dirty="0">
                <a:latin typeface="Arial"/>
                <a:cs typeface="Arial"/>
              </a:rPr>
              <a:t>into,</a:t>
            </a:r>
            <a:r>
              <a:rPr sz="1000" dirty="0">
                <a:latin typeface="Arial"/>
                <a:cs typeface="Arial"/>
              </a:rPr>
              <a:t> </a:t>
            </a:r>
            <a:r>
              <a:rPr sz="1000" spc="-5" dirty="0">
                <a:latin typeface="Arial"/>
                <a:cs typeface="Arial"/>
              </a:rPr>
              <a:t>and</a:t>
            </a:r>
            <a:r>
              <a:rPr sz="1000" dirty="0">
                <a:latin typeface="Arial"/>
                <a:cs typeface="Arial"/>
              </a:rPr>
              <a:t> </a:t>
            </a:r>
            <a:r>
              <a:rPr sz="1000" spc="-10" dirty="0">
                <a:latin typeface="Arial"/>
                <a:cs typeface="Arial"/>
              </a:rPr>
              <a:t>removed</a:t>
            </a:r>
            <a:r>
              <a:rPr sz="1000" spc="5" dirty="0">
                <a:latin typeface="Arial"/>
                <a:cs typeface="Arial"/>
              </a:rPr>
              <a:t> </a:t>
            </a:r>
            <a:r>
              <a:rPr sz="1000" spc="-5" dirty="0">
                <a:latin typeface="Arial"/>
                <a:cs typeface="Arial"/>
              </a:rPr>
              <a:t>from </a:t>
            </a:r>
            <a:r>
              <a:rPr sz="1000" spc="-265" dirty="0">
                <a:latin typeface="Arial"/>
                <a:cs typeface="Arial"/>
              </a:rPr>
              <a:t> </a:t>
            </a:r>
            <a:r>
              <a:rPr sz="1000" spc="-5" dirty="0">
                <a:solidFill>
                  <a:srgbClr val="0000FA"/>
                </a:solidFill>
                <a:latin typeface="Arial"/>
                <a:cs typeface="Arial"/>
              </a:rPr>
              <a:t>queues</a:t>
            </a:r>
            <a:endParaRPr sz="1000" dirty="0">
              <a:latin typeface="Arial"/>
              <a:cs typeface="Arial"/>
            </a:endParaRPr>
          </a:p>
          <a:p>
            <a:pPr marL="302260" indent="-168275">
              <a:lnSpc>
                <a:spcPts val="1190"/>
              </a:lnSpc>
              <a:buClr>
                <a:srgbClr val="3333B2"/>
              </a:buClr>
              <a:buChar char="►"/>
              <a:tabLst>
                <a:tab pos="302895" algn="l"/>
              </a:tabLst>
            </a:pPr>
            <a:r>
              <a:rPr sz="1000" spc="-5" dirty="0">
                <a:latin typeface="Arial"/>
                <a:cs typeface="Arial"/>
              </a:rPr>
              <a:t>Queues reside under</a:t>
            </a:r>
            <a:r>
              <a:rPr sz="1000" dirty="0">
                <a:latin typeface="Arial"/>
                <a:cs typeface="Arial"/>
              </a:rPr>
              <a:t> </a:t>
            </a:r>
            <a:r>
              <a:rPr sz="1000" spc="-5" dirty="0">
                <a:latin typeface="Arial"/>
                <a:cs typeface="Arial"/>
              </a:rPr>
              <a:t>the regime</a:t>
            </a:r>
            <a:r>
              <a:rPr sz="1000" dirty="0">
                <a:latin typeface="Arial"/>
                <a:cs typeface="Arial"/>
              </a:rPr>
              <a:t> </a:t>
            </a:r>
            <a:r>
              <a:rPr sz="1000" spc="-5" dirty="0">
                <a:latin typeface="Arial"/>
                <a:cs typeface="Arial"/>
              </a:rPr>
              <a:t>of a</a:t>
            </a:r>
            <a:r>
              <a:rPr sz="1000" dirty="0">
                <a:latin typeface="Arial"/>
                <a:cs typeface="Arial"/>
              </a:rPr>
              <a:t> </a:t>
            </a:r>
            <a:r>
              <a:rPr sz="1000" spc="-5" dirty="0">
                <a:solidFill>
                  <a:srgbClr val="0000FA"/>
                </a:solidFill>
                <a:latin typeface="Arial"/>
                <a:cs typeface="Arial"/>
              </a:rPr>
              <a:t>queue manager</a:t>
            </a:r>
            <a:endParaRPr sz="1000" dirty="0">
              <a:latin typeface="Arial"/>
              <a:cs typeface="Arial"/>
            </a:endParaRPr>
          </a:p>
          <a:p>
            <a:pPr marL="302260" marR="17780" indent="-168275">
              <a:lnSpc>
                <a:spcPts val="1200"/>
              </a:lnSpc>
              <a:spcBef>
                <a:spcPts val="40"/>
              </a:spcBef>
              <a:buClr>
                <a:srgbClr val="3333B2"/>
              </a:buClr>
              <a:buChar char="►"/>
              <a:tabLst>
                <a:tab pos="302895" algn="l"/>
              </a:tabLst>
            </a:pPr>
            <a:r>
              <a:rPr sz="1000" spc="-5" dirty="0">
                <a:latin typeface="Arial"/>
                <a:cs typeface="Arial"/>
              </a:rPr>
              <a:t>Processes can put messages only in local </a:t>
            </a:r>
            <a:r>
              <a:rPr sz="1000" spc="-10" dirty="0">
                <a:latin typeface="Arial"/>
                <a:cs typeface="Arial"/>
              </a:rPr>
              <a:t>queues,</a:t>
            </a:r>
            <a:r>
              <a:rPr sz="1000" spc="-5" dirty="0">
                <a:latin typeface="Arial"/>
                <a:cs typeface="Arial"/>
              </a:rPr>
              <a:t> or through an </a:t>
            </a:r>
            <a:r>
              <a:rPr sz="1000" spc="-265" dirty="0">
                <a:latin typeface="Arial"/>
                <a:cs typeface="Arial"/>
              </a:rPr>
              <a:t> </a:t>
            </a:r>
            <a:r>
              <a:rPr sz="1000" spc="-5" dirty="0">
                <a:latin typeface="Arial"/>
                <a:cs typeface="Arial"/>
              </a:rPr>
              <a:t>RPC</a:t>
            </a:r>
            <a:r>
              <a:rPr sz="1000" spc="-10" dirty="0">
                <a:latin typeface="Arial"/>
                <a:cs typeface="Arial"/>
              </a:rPr>
              <a:t> </a:t>
            </a:r>
            <a:r>
              <a:rPr sz="1000" spc="-5" dirty="0">
                <a:latin typeface="Arial"/>
                <a:cs typeface="Arial"/>
              </a:rPr>
              <a:t>mechanism</a:t>
            </a:r>
            <a:endParaRPr sz="1000" dirty="0">
              <a:latin typeface="Arial"/>
              <a:cs typeface="Arial"/>
            </a:endParaRPr>
          </a:p>
          <a:p>
            <a:pPr marL="25400">
              <a:lnSpc>
                <a:spcPct val="100000"/>
              </a:lnSpc>
              <a:spcBef>
                <a:spcPts val="960"/>
              </a:spcBef>
            </a:pPr>
            <a:r>
              <a:rPr sz="1200" spc="-5" dirty="0">
                <a:solidFill>
                  <a:srgbClr val="3333B2"/>
                </a:solidFill>
                <a:latin typeface="Arial"/>
                <a:cs typeface="Arial"/>
              </a:rPr>
              <a:t>Message</a:t>
            </a:r>
            <a:r>
              <a:rPr sz="1200" spc="-40" dirty="0">
                <a:solidFill>
                  <a:srgbClr val="3333B2"/>
                </a:solidFill>
                <a:latin typeface="Arial"/>
                <a:cs typeface="Arial"/>
              </a:rPr>
              <a:t> </a:t>
            </a:r>
            <a:r>
              <a:rPr sz="1200" spc="-10" dirty="0">
                <a:solidFill>
                  <a:srgbClr val="3333B2"/>
                </a:solidFill>
                <a:latin typeface="Arial"/>
                <a:cs typeface="Arial"/>
              </a:rPr>
              <a:t>transfer</a:t>
            </a:r>
            <a:endParaRPr sz="1200" dirty="0">
              <a:latin typeface="Arial"/>
              <a:cs typeface="Arial"/>
            </a:endParaRPr>
          </a:p>
          <a:p>
            <a:pPr marL="302260" indent="-168275">
              <a:lnSpc>
                <a:spcPts val="1200"/>
              </a:lnSpc>
              <a:spcBef>
                <a:spcPts val="790"/>
              </a:spcBef>
              <a:buClr>
                <a:srgbClr val="3333B2"/>
              </a:buClr>
              <a:buChar char="►"/>
              <a:tabLst>
                <a:tab pos="302895" algn="l"/>
              </a:tabLst>
            </a:pPr>
            <a:r>
              <a:rPr sz="1000" spc="-5" dirty="0">
                <a:latin typeface="Arial"/>
                <a:cs typeface="Arial"/>
              </a:rPr>
              <a:t>Messages are </a:t>
            </a:r>
            <a:r>
              <a:rPr sz="1000" spc="-10" dirty="0">
                <a:latin typeface="Arial"/>
                <a:cs typeface="Arial"/>
              </a:rPr>
              <a:t>transferred</a:t>
            </a:r>
            <a:r>
              <a:rPr sz="1000" dirty="0">
                <a:latin typeface="Arial"/>
                <a:cs typeface="Arial"/>
              </a:rPr>
              <a:t> </a:t>
            </a:r>
            <a:r>
              <a:rPr sz="1000" spc="-5" dirty="0">
                <a:latin typeface="Arial"/>
                <a:cs typeface="Arial"/>
              </a:rPr>
              <a:t>between queues</a:t>
            </a:r>
            <a:endParaRPr sz="1000" dirty="0">
              <a:latin typeface="Arial"/>
              <a:cs typeface="Arial"/>
            </a:endParaRPr>
          </a:p>
          <a:p>
            <a:pPr marL="302260" marR="418465" indent="-168275">
              <a:lnSpc>
                <a:spcPts val="1200"/>
              </a:lnSpc>
              <a:spcBef>
                <a:spcPts val="40"/>
              </a:spcBef>
              <a:buClr>
                <a:srgbClr val="3333B2"/>
              </a:buClr>
              <a:buChar char="►"/>
              <a:tabLst>
                <a:tab pos="302895" algn="l"/>
              </a:tabLst>
            </a:pPr>
            <a:r>
              <a:rPr sz="1000" spc="-5" dirty="0">
                <a:latin typeface="Arial"/>
                <a:cs typeface="Arial"/>
              </a:rPr>
              <a:t>Message</a:t>
            </a:r>
            <a:r>
              <a:rPr sz="1000" spc="-10" dirty="0">
                <a:latin typeface="Arial"/>
                <a:cs typeface="Arial"/>
              </a:rPr>
              <a:t> transfer</a:t>
            </a:r>
            <a:r>
              <a:rPr sz="1000" spc="-5" dirty="0">
                <a:latin typeface="Arial"/>
                <a:cs typeface="Arial"/>
              </a:rPr>
              <a:t> between queues at different processes, </a:t>
            </a:r>
            <a:r>
              <a:rPr sz="1000" spc="-260" dirty="0">
                <a:latin typeface="Arial"/>
                <a:cs typeface="Arial"/>
              </a:rPr>
              <a:t> </a:t>
            </a:r>
            <a:r>
              <a:rPr sz="1000" spc="-5" dirty="0">
                <a:latin typeface="Arial"/>
                <a:cs typeface="Arial"/>
              </a:rPr>
              <a:t>requires</a:t>
            </a:r>
            <a:r>
              <a:rPr sz="1000" spc="-10" dirty="0">
                <a:latin typeface="Arial"/>
                <a:cs typeface="Arial"/>
              </a:rPr>
              <a:t> </a:t>
            </a:r>
            <a:r>
              <a:rPr sz="1000" spc="-5" dirty="0">
                <a:latin typeface="Arial"/>
                <a:cs typeface="Arial"/>
              </a:rPr>
              <a:t>a </a:t>
            </a:r>
            <a:r>
              <a:rPr sz="1000" spc="-5" dirty="0">
                <a:solidFill>
                  <a:srgbClr val="0000FA"/>
                </a:solidFill>
                <a:latin typeface="Arial"/>
                <a:cs typeface="Arial"/>
              </a:rPr>
              <a:t>channel</a:t>
            </a:r>
            <a:endParaRPr sz="1000" dirty="0">
              <a:latin typeface="Arial"/>
              <a:cs typeface="Arial"/>
            </a:endParaRPr>
          </a:p>
          <a:p>
            <a:pPr marL="302260" indent="-168275">
              <a:lnSpc>
                <a:spcPts val="1150"/>
              </a:lnSpc>
              <a:buClr>
                <a:srgbClr val="3333B2"/>
              </a:buClr>
              <a:buChar char="►"/>
              <a:tabLst>
                <a:tab pos="302895" algn="l"/>
              </a:tabLst>
            </a:pPr>
            <a:r>
              <a:rPr sz="1000" spc="-5" dirty="0">
                <a:latin typeface="Arial"/>
                <a:cs typeface="Arial"/>
              </a:rPr>
              <a:t>At each</a:t>
            </a:r>
            <a:r>
              <a:rPr sz="1000" dirty="0">
                <a:latin typeface="Arial"/>
                <a:cs typeface="Arial"/>
              </a:rPr>
              <a:t> </a:t>
            </a:r>
            <a:r>
              <a:rPr sz="1000" spc="-5" dirty="0">
                <a:latin typeface="Arial"/>
                <a:cs typeface="Arial"/>
              </a:rPr>
              <a:t>end point</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channel is</a:t>
            </a:r>
            <a:r>
              <a:rPr sz="1000" dirty="0">
                <a:latin typeface="Arial"/>
                <a:cs typeface="Arial"/>
              </a:rPr>
              <a:t> </a:t>
            </a:r>
            <a:r>
              <a:rPr sz="1000" spc="-5" dirty="0">
                <a:latin typeface="Arial"/>
                <a:cs typeface="Arial"/>
              </a:rPr>
              <a:t>a</a:t>
            </a:r>
            <a:r>
              <a:rPr sz="1000" dirty="0">
                <a:latin typeface="Arial"/>
                <a:cs typeface="Arial"/>
              </a:rPr>
              <a:t> </a:t>
            </a:r>
            <a:r>
              <a:rPr sz="1000" spc="-5" dirty="0">
                <a:solidFill>
                  <a:srgbClr val="0000FA"/>
                </a:solidFill>
                <a:latin typeface="Arial"/>
                <a:cs typeface="Arial"/>
              </a:rPr>
              <a:t>message channel</a:t>
            </a:r>
            <a:r>
              <a:rPr sz="1000" dirty="0">
                <a:solidFill>
                  <a:srgbClr val="0000FA"/>
                </a:solidFill>
                <a:latin typeface="Arial"/>
                <a:cs typeface="Arial"/>
              </a:rPr>
              <a:t> </a:t>
            </a:r>
            <a:r>
              <a:rPr sz="1000" spc="-5" dirty="0">
                <a:solidFill>
                  <a:srgbClr val="0000FA"/>
                </a:solidFill>
                <a:latin typeface="Arial"/>
                <a:cs typeface="Arial"/>
              </a:rPr>
              <a:t>agent</a:t>
            </a:r>
            <a:endParaRPr sz="1000" dirty="0">
              <a:latin typeface="Arial"/>
              <a:cs typeface="Arial"/>
            </a:endParaRPr>
          </a:p>
          <a:p>
            <a:pPr marL="302260" indent="-168275">
              <a:lnSpc>
                <a:spcPts val="1200"/>
              </a:lnSpc>
              <a:buClr>
                <a:srgbClr val="3333B2"/>
              </a:buClr>
              <a:buChar char="►"/>
              <a:tabLst>
                <a:tab pos="302895" algn="l"/>
              </a:tabLst>
            </a:pPr>
            <a:r>
              <a:rPr sz="1000" spc="-5" dirty="0">
                <a:latin typeface="Arial"/>
                <a:cs typeface="Arial"/>
              </a:rPr>
              <a:t>Message</a:t>
            </a:r>
            <a:r>
              <a:rPr sz="1000" spc="-10" dirty="0">
                <a:latin typeface="Arial"/>
                <a:cs typeface="Arial"/>
              </a:rPr>
              <a:t> </a:t>
            </a:r>
            <a:r>
              <a:rPr sz="1000" spc="-5" dirty="0">
                <a:latin typeface="Arial"/>
                <a:cs typeface="Arial"/>
              </a:rPr>
              <a:t>channel agents are responsible</a:t>
            </a:r>
            <a:r>
              <a:rPr sz="1000" spc="-10" dirty="0">
                <a:latin typeface="Arial"/>
                <a:cs typeface="Arial"/>
              </a:rPr>
              <a:t> </a:t>
            </a:r>
            <a:r>
              <a:rPr sz="1000" spc="-5" dirty="0">
                <a:latin typeface="Arial"/>
                <a:cs typeface="Arial"/>
              </a:rPr>
              <a:t>for:</a:t>
            </a:r>
            <a:endParaRPr sz="1000" dirty="0">
              <a:latin typeface="Arial"/>
              <a:cs typeface="Arial"/>
            </a:endParaRPr>
          </a:p>
          <a:p>
            <a:pPr marL="579120" marR="793115" lvl="1" indent="-168275">
              <a:lnSpc>
                <a:spcPct val="100000"/>
              </a:lnSpc>
              <a:spcBef>
                <a:spcPts val="195"/>
              </a:spcBef>
              <a:buClr>
                <a:srgbClr val="3333B2"/>
              </a:buClr>
              <a:buChar char="►"/>
              <a:tabLst>
                <a:tab pos="579755" algn="l"/>
              </a:tabLst>
            </a:pPr>
            <a:r>
              <a:rPr sz="1000" spc="-5" dirty="0">
                <a:latin typeface="Arial"/>
                <a:cs typeface="Arial"/>
              </a:rPr>
              <a:t>Setting up channels using </a:t>
            </a:r>
            <a:r>
              <a:rPr sz="1000" spc="-10" dirty="0">
                <a:latin typeface="Arial"/>
                <a:cs typeface="Arial"/>
              </a:rPr>
              <a:t>lower-level</a:t>
            </a:r>
            <a:r>
              <a:rPr sz="1000" spc="-5" dirty="0">
                <a:latin typeface="Arial"/>
                <a:cs typeface="Arial"/>
              </a:rPr>
              <a:t> network </a:t>
            </a:r>
            <a:r>
              <a:rPr sz="1000" spc="-265" dirty="0">
                <a:latin typeface="Arial"/>
                <a:cs typeface="Arial"/>
              </a:rPr>
              <a:t> </a:t>
            </a:r>
            <a:r>
              <a:rPr sz="1000" spc="-5" dirty="0">
                <a:latin typeface="Arial"/>
                <a:cs typeface="Arial"/>
              </a:rPr>
              <a:t>communication</a:t>
            </a:r>
            <a:r>
              <a:rPr sz="1000" spc="-10" dirty="0">
                <a:latin typeface="Arial"/>
                <a:cs typeface="Arial"/>
              </a:rPr>
              <a:t> </a:t>
            </a:r>
            <a:r>
              <a:rPr sz="1000" spc="-5" dirty="0">
                <a:latin typeface="Arial"/>
                <a:cs typeface="Arial"/>
              </a:rPr>
              <a:t>facilities (e.g.,</a:t>
            </a:r>
            <a:r>
              <a:rPr sz="1000" spc="-10" dirty="0">
                <a:latin typeface="Arial"/>
                <a:cs typeface="Arial"/>
              </a:rPr>
              <a:t> </a:t>
            </a:r>
            <a:r>
              <a:rPr sz="1000" spc="-5" dirty="0">
                <a:latin typeface="Arial"/>
                <a:cs typeface="Arial"/>
              </a:rPr>
              <a:t>TCP/IP)</a:t>
            </a:r>
            <a:endParaRPr sz="1000" dirty="0">
              <a:latin typeface="Arial"/>
              <a:cs typeface="Arial"/>
            </a:endParaRPr>
          </a:p>
          <a:p>
            <a:pPr marL="579120" lvl="1" indent="-168275">
              <a:lnSpc>
                <a:spcPts val="1190"/>
              </a:lnSpc>
              <a:buClr>
                <a:srgbClr val="3333B2"/>
              </a:buClr>
              <a:buChar char="►"/>
              <a:tabLst>
                <a:tab pos="579755" algn="l"/>
              </a:tabLst>
            </a:pPr>
            <a:r>
              <a:rPr sz="1000" spc="-5" dirty="0">
                <a:latin typeface="Arial"/>
                <a:cs typeface="Arial"/>
              </a:rPr>
              <a:t>(Un)wrapping messages from/in</a:t>
            </a:r>
            <a:r>
              <a:rPr sz="1000" dirty="0">
                <a:latin typeface="Arial"/>
                <a:cs typeface="Arial"/>
              </a:rPr>
              <a:t> </a:t>
            </a:r>
            <a:r>
              <a:rPr sz="1000" spc="-5" dirty="0">
                <a:latin typeface="Arial"/>
                <a:cs typeface="Arial"/>
              </a:rPr>
              <a:t>transport-level </a:t>
            </a:r>
            <a:r>
              <a:rPr sz="1000" spc="-10" dirty="0">
                <a:latin typeface="Arial"/>
                <a:cs typeface="Arial"/>
              </a:rPr>
              <a:t>packets</a:t>
            </a:r>
            <a:endParaRPr sz="1000" dirty="0">
              <a:latin typeface="Arial"/>
              <a:cs typeface="Arial"/>
            </a:endParaRPr>
          </a:p>
          <a:p>
            <a:pPr marL="579120" lvl="1" indent="-168275">
              <a:lnSpc>
                <a:spcPts val="1200"/>
              </a:lnSpc>
              <a:buClr>
                <a:srgbClr val="3333B2"/>
              </a:buClr>
              <a:buChar char="►"/>
              <a:tabLst>
                <a:tab pos="579755" algn="l"/>
              </a:tabLst>
            </a:pPr>
            <a:r>
              <a:rPr sz="1000" spc="-5" dirty="0">
                <a:latin typeface="Arial"/>
                <a:cs typeface="Arial"/>
              </a:rPr>
              <a:t>Sending/receiving</a:t>
            </a:r>
            <a:r>
              <a:rPr sz="1000" spc="-20" dirty="0">
                <a:latin typeface="Arial"/>
                <a:cs typeface="Arial"/>
              </a:rPr>
              <a:t> </a:t>
            </a:r>
            <a:r>
              <a:rPr sz="1000" spc="-10" dirty="0">
                <a:latin typeface="Arial"/>
                <a:cs typeface="Arial"/>
              </a:rPr>
              <a:t>packets</a:t>
            </a:r>
            <a:endParaRPr sz="1000" dirty="0">
              <a:latin typeface="Arial"/>
              <a:cs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752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Message-oriented</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2681699" y="716"/>
            <a:ext cx="185991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spc="40"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IBM’s</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WebSphere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message-queuing</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a:t>
            </a:r>
            <a:endParaRPr sz="600">
              <a:latin typeface="Arial"/>
              <a:cs typeface="Arial"/>
            </a:endParaRPr>
          </a:p>
        </p:txBody>
      </p:sp>
      <p:sp>
        <p:nvSpPr>
          <p:cNvPr id="4" name="object 4"/>
          <p:cNvSpPr txBox="1"/>
          <p:nvPr/>
        </p:nvSpPr>
        <p:spPr>
          <a:xfrm>
            <a:off x="95300" y="188846"/>
            <a:ext cx="1823085" cy="372745"/>
          </a:xfrm>
          <a:prstGeom prst="rect">
            <a:avLst/>
          </a:prstGeom>
        </p:spPr>
        <p:txBody>
          <a:bodyPr vert="horz" wrap="square" lIns="0" tIns="17145" rIns="0" bIns="0" rtlCol="0">
            <a:spAutoFit/>
          </a:bodyPr>
          <a:lstStyle/>
          <a:p>
            <a:pPr algn="ctr">
              <a:lnSpc>
                <a:spcPts val="1470"/>
              </a:lnSpc>
              <a:spcBef>
                <a:spcPts val="135"/>
              </a:spcBef>
            </a:pPr>
            <a:r>
              <a:rPr sz="1400" dirty="0">
                <a:solidFill>
                  <a:srgbClr val="3333B2"/>
                </a:solidFill>
                <a:latin typeface="Arial"/>
                <a:cs typeface="Arial"/>
              </a:rPr>
              <a:t>IBM’s</a:t>
            </a:r>
            <a:r>
              <a:rPr sz="1400" spc="-30" dirty="0">
                <a:solidFill>
                  <a:srgbClr val="3333B2"/>
                </a:solidFill>
                <a:latin typeface="Arial"/>
                <a:cs typeface="Arial"/>
              </a:rPr>
              <a:t> </a:t>
            </a:r>
            <a:r>
              <a:rPr sz="1400" spc="15" dirty="0">
                <a:solidFill>
                  <a:srgbClr val="3333B2"/>
                </a:solidFill>
                <a:latin typeface="Arial"/>
                <a:cs typeface="Arial"/>
              </a:rPr>
              <a:t>WebSphere</a:t>
            </a:r>
            <a:r>
              <a:rPr sz="1400" spc="-25" dirty="0">
                <a:solidFill>
                  <a:srgbClr val="3333B2"/>
                </a:solidFill>
                <a:latin typeface="Arial"/>
                <a:cs typeface="Arial"/>
              </a:rPr>
              <a:t> </a:t>
            </a:r>
            <a:r>
              <a:rPr sz="1400" spc="25" dirty="0">
                <a:solidFill>
                  <a:srgbClr val="3333B2"/>
                </a:solidFill>
                <a:latin typeface="Arial"/>
                <a:cs typeface="Arial"/>
              </a:rPr>
              <a:t>MQ</a:t>
            </a:r>
            <a:endParaRPr sz="1400">
              <a:latin typeface="Arial"/>
              <a:cs typeface="Arial"/>
            </a:endParaRPr>
          </a:p>
          <a:p>
            <a:pPr marL="51435" algn="ctr">
              <a:lnSpc>
                <a:spcPts val="1230"/>
              </a:lnSpc>
            </a:pPr>
            <a:r>
              <a:rPr sz="1200" spc="-5" dirty="0">
                <a:solidFill>
                  <a:srgbClr val="3333B2"/>
                </a:solidFill>
                <a:latin typeface="Arial"/>
                <a:cs typeface="Arial"/>
              </a:rPr>
              <a:t>Schematic</a:t>
            </a:r>
            <a:r>
              <a:rPr sz="1200" spc="-30" dirty="0">
                <a:solidFill>
                  <a:srgbClr val="3333B2"/>
                </a:solidFill>
                <a:latin typeface="Arial"/>
                <a:cs typeface="Arial"/>
              </a:rPr>
              <a:t> </a:t>
            </a:r>
            <a:r>
              <a:rPr sz="1200" spc="-10" dirty="0">
                <a:solidFill>
                  <a:srgbClr val="3333B2"/>
                </a:solidFill>
                <a:latin typeface="Arial"/>
                <a:cs typeface="Arial"/>
              </a:rPr>
              <a:t>overview</a:t>
            </a:r>
            <a:endParaRPr sz="1200">
              <a:latin typeface="Arial"/>
              <a:cs typeface="Arial"/>
            </a:endParaRPr>
          </a:p>
        </p:txBody>
      </p:sp>
      <p:grpSp>
        <p:nvGrpSpPr>
          <p:cNvPr id="5" name="object 5"/>
          <p:cNvGrpSpPr/>
          <p:nvPr/>
        </p:nvGrpSpPr>
        <p:grpSpPr>
          <a:xfrm>
            <a:off x="367760" y="1055268"/>
            <a:ext cx="1819275" cy="975994"/>
            <a:chOff x="367760" y="1055268"/>
            <a:chExt cx="1819275" cy="975994"/>
          </a:xfrm>
        </p:grpSpPr>
        <p:sp>
          <p:nvSpPr>
            <p:cNvPr id="6" name="object 6"/>
            <p:cNvSpPr/>
            <p:nvPr/>
          </p:nvSpPr>
          <p:spPr>
            <a:xfrm>
              <a:off x="1171782" y="1058126"/>
              <a:ext cx="1012190" cy="970280"/>
            </a:xfrm>
            <a:custGeom>
              <a:avLst/>
              <a:gdLst/>
              <a:ahLst/>
              <a:cxnLst/>
              <a:rect l="l" t="t" r="r" b="b"/>
              <a:pathLst>
                <a:path w="1012189" h="970280">
                  <a:moveTo>
                    <a:pt x="0" y="969834"/>
                  </a:moveTo>
                  <a:lnTo>
                    <a:pt x="1012002" y="969834"/>
                  </a:lnTo>
                  <a:lnTo>
                    <a:pt x="1012002" y="0"/>
                  </a:lnTo>
                  <a:lnTo>
                    <a:pt x="0" y="0"/>
                  </a:lnTo>
                  <a:lnTo>
                    <a:pt x="0" y="969834"/>
                  </a:lnTo>
                  <a:close/>
                </a:path>
              </a:pathLst>
            </a:custGeom>
            <a:ln w="5270">
              <a:solidFill>
                <a:srgbClr val="231F20"/>
              </a:solidFill>
            </a:ln>
          </p:spPr>
          <p:txBody>
            <a:bodyPr wrap="square" lIns="0" tIns="0" rIns="0" bIns="0" rtlCol="0"/>
            <a:lstStyle/>
            <a:p>
              <a:endParaRPr/>
            </a:p>
          </p:txBody>
        </p:sp>
        <p:sp>
          <p:nvSpPr>
            <p:cNvPr id="7" name="object 7"/>
            <p:cNvSpPr/>
            <p:nvPr/>
          </p:nvSpPr>
          <p:spPr>
            <a:xfrm>
              <a:off x="1213951" y="1100298"/>
              <a:ext cx="927735" cy="758825"/>
            </a:xfrm>
            <a:custGeom>
              <a:avLst/>
              <a:gdLst/>
              <a:ahLst/>
              <a:cxnLst/>
              <a:rect l="l" t="t" r="r" b="b"/>
              <a:pathLst>
                <a:path w="927735" h="758825">
                  <a:moveTo>
                    <a:pt x="927668" y="0"/>
                  </a:moveTo>
                  <a:lnTo>
                    <a:pt x="927668" y="758787"/>
                  </a:lnTo>
                  <a:lnTo>
                    <a:pt x="0" y="758787"/>
                  </a:lnTo>
                  <a:lnTo>
                    <a:pt x="0" y="0"/>
                  </a:lnTo>
                  <a:lnTo>
                    <a:pt x="927668" y="0"/>
                  </a:lnTo>
                  <a:close/>
                </a:path>
              </a:pathLst>
            </a:custGeom>
            <a:ln w="4406">
              <a:solidFill>
                <a:srgbClr val="231F20"/>
              </a:solidFill>
            </a:ln>
          </p:spPr>
          <p:txBody>
            <a:bodyPr wrap="square" lIns="0" tIns="0" rIns="0" bIns="0" rtlCol="0"/>
            <a:lstStyle/>
            <a:p>
              <a:endParaRPr/>
            </a:p>
          </p:txBody>
        </p:sp>
        <p:sp>
          <p:nvSpPr>
            <p:cNvPr id="8" name="object 8"/>
            <p:cNvSpPr/>
            <p:nvPr/>
          </p:nvSpPr>
          <p:spPr>
            <a:xfrm>
              <a:off x="1656815" y="1648466"/>
              <a:ext cx="425450" cy="210820"/>
            </a:xfrm>
            <a:custGeom>
              <a:avLst/>
              <a:gdLst/>
              <a:ahLst/>
              <a:cxnLst/>
              <a:rect l="l" t="t" r="r" b="b"/>
              <a:pathLst>
                <a:path w="425450" h="210819">
                  <a:moveTo>
                    <a:pt x="0" y="210620"/>
                  </a:moveTo>
                  <a:lnTo>
                    <a:pt x="0" y="0"/>
                  </a:lnTo>
                  <a:lnTo>
                    <a:pt x="197671" y="0"/>
                  </a:lnTo>
                  <a:lnTo>
                    <a:pt x="197671" y="210620"/>
                  </a:lnTo>
                  <a:lnTo>
                    <a:pt x="0" y="210620"/>
                  </a:lnTo>
                  <a:close/>
                </a:path>
                <a:path w="425450" h="210819">
                  <a:moveTo>
                    <a:pt x="227325" y="210620"/>
                  </a:moveTo>
                  <a:lnTo>
                    <a:pt x="227325" y="0"/>
                  </a:lnTo>
                  <a:lnTo>
                    <a:pt x="425006" y="0"/>
                  </a:lnTo>
                  <a:lnTo>
                    <a:pt x="425006" y="210620"/>
                  </a:lnTo>
                  <a:lnTo>
                    <a:pt x="227325" y="210620"/>
                  </a:lnTo>
                  <a:close/>
                </a:path>
              </a:pathLst>
            </a:custGeom>
            <a:ln w="5551">
              <a:solidFill>
                <a:srgbClr val="231F20"/>
              </a:solidFill>
            </a:ln>
          </p:spPr>
          <p:txBody>
            <a:bodyPr wrap="square" lIns="0" tIns="0" rIns="0" bIns="0" rtlCol="0"/>
            <a:lstStyle/>
            <a:p>
              <a:endParaRPr/>
            </a:p>
          </p:txBody>
        </p:sp>
        <p:sp>
          <p:nvSpPr>
            <p:cNvPr id="9" name="object 9"/>
            <p:cNvSpPr/>
            <p:nvPr/>
          </p:nvSpPr>
          <p:spPr>
            <a:xfrm>
              <a:off x="1469012" y="1384584"/>
              <a:ext cx="553720" cy="264160"/>
            </a:xfrm>
            <a:custGeom>
              <a:avLst/>
              <a:gdLst/>
              <a:ahLst/>
              <a:cxnLst/>
              <a:rect l="l" t="t" r="r" b="b"/>
              <a:pathLst>
                <a:path w="553719" h="264160">
                  <a:moveTo>
                    <a:pt x="474429" y="66277"/>
                  </a:moveTo>
                  <a:lnTo>
                    <a:pt x="474429" y="204173"/>
                  </a:lnTo>
                  <a:lnTo>
                    <a:pt x="553507" y="204173"/>
                  </a:lnTo>
                  <a:lnTo>
                    <a:pt x="553507" y="66277"/>
                  </a:lnTo>
                </a:path>
                <a:path w="553719" h="264160">
                  <a:moveTo>
                    <a:pt x="484306" y="172361"/>
                  </a:moveTo>
                  <a:lnTo>
                    <a:pt x="543620" y="172361"/>
                  </a:lnTo>
                </a:path>
                <a:path w="553719" h="264160">
                  <a:moveTo>
                    <a:pt x="484306" y="140532"/>
                  </a:moveTo>
                  <a:lnTo>
                    <a:pt x="543620" y="140532"/>
                  </a:lnTo>
                </a:path>
                <a:path w="553719" h="264160">
                  <a:moveTo>
                    <a:pt x="484306" y="108704"/>
                  </a:moveTo>
                  <a:lnTo>
                    <a:pt x="543620" y="108704"/>
                  </a:lnTo>
                </a:path>
                <a:path w="553719" h="264160">
                  <a:moveTo>
                    <a:pt x="247102" y="66277"/>
                  </a:moveTo>
                  <a:lnTo>
                    <a:pt x="247102" y="204173"/>
                  </a:lnTo>
                  <a:lnTo>
                    <a:pt x="326170" y="204173"/>
                  </a:lnTo>
                  <a:lnTo>
                    <a:pt x="326170" y="66277"/>
                  </a:lnTo>
                </a:path>
                <a:path w="553719" h="264160">
                  <a:moveTo>
                    <a:pt x="256979" y="172361"/>
                  </a:moveTo>
                  <a:lnTo>
                    <a:pt x="316293" y="172361"/>
                  </a:lnTo>
                </a:path>
                <a:path w="553719" h="264160">
                  <a:moveTo>
                    <a:pt x="256979" y="140532"/>
                  </a:moveTo>
                  <a:lnTo>
                    <a:pt x="316293" y="140532"/>
                  </a:lnTo>
                </a:path>
                <a:path w="553719" h="264160">
                  <a:moveTo>
                    <a:pt x="256979" y="108704"/>
                  </a:moveTo>
                  <a:lnTo>
                    <a:pt x="316293" y="108704"/>
                  </a:lnTo>
                </a:path>
                <a:path w="553719" h="264160">
                  <a:moveTo>
                    <a:pt x="0" y="263553"/>
                  </a:moveTo>
                  <a:lnTo>
                    <a:pt x="2905" y="221229"/>
                  </a:lnTo>
                  <a:lnTo>
                    <a:pt x="12111" y="179259"/>
                  </a:lnTo>
                  <a:lnTo>
                    <a:pt x="26806" y="138888"/>
                  </a:lnTo>
                  <a:lnTo>
                    <a:pt x="46178" y="101362"/>
                  </a:lnTo>
                  <a:lnTo>
                    <a:pt x="69415" y="67926"/>
                  </a:lnTo>
                  <a:lnTo>
                    <a:pt x="95703" y="39827"/>
                  </a:lnTo>
                  <a:lnTo>
                    <a:pt x="154184" y="4618"/>
                  </a:lnTo>
                  <a:lnTo>
                    <a:pt x="184752" y="0"/>
                  </a:lnTo>
                  <a:lnTo>
                    <a:pt x="215123" y="5700"/>
                  </a:lnTo>
                  <a:lnTo>
                    <a:pt x="244483" y="22964"/>
                  </a:lnTo>
                  <a:lnTo>
                    <a:pt x="272021" y="53037"/>
                  </a:lnTo>
                </a:path>
              </a:pathLst>
            </a:custGeom>
            <a:ln w="5270">
              <a:solidFill>
                <a:srgbClr val="231F20"/>
              </a:solidFill>
            </a:ln>
          </p:spPr>
          <p:txBody>
            <a:bodyPr wrap="square" lIns="0" tIns="0" rIns="0" bIns="0" rtlCol="0"/>
            <a:lstStyle/>
            <a:p>
              <a:endParaRPr/>
            </a:p>
          </p:txBody>
        </p:sp>
        <p:pic>
          <p:nvPicPr>
            <p:cNvPr id="10" name="object 10"/>
            <p:cNvPicPr/>
            <p:nvPr/>
          </p:nvPicPr>
          <p:blipFill>
            <a:blip r:embed="rId6" cstate="print"/>
            <a:stretch>
              <a:fillRect/>
            </a:stretch>
          </p:blipFill>
          <p:spPr>
            <a:xfrm>
              <a:off x="1693588" y="1388986"/>
              <a:ext cx="69170" cy="79057"/>
            </a:xfrm>
            <a:prstGeom prst="rect">
              <a:avLst/>
            </a:prstGeom>
          </p:spPr>
        </p:pic>
        <p:sp>
          <p:nvSpPr>
            <p:cNvPr id="11" name="object 11"/>
            <p:cNvSpPr/>
            <p:nvPr/>
          </p:nvSpPr>
          <p:spPr>
            <a:xfrm>
              <a:off x="1409713" y="1311465"/>
              <a:ext cx="563245" cy="337185"/>
            </a:xfrm>
            <a:custGeom>
              <a:avLst/>
              <a:gdLst/>
              <a:ahLst/>
              <a:cxnLst/>
              <a:rect l="l" t="t" r="r" b="b"/>
              <a:pathLst>
                <a:path w="563244" h="337185">
                  <a:moveTo>
                    <a:pt x="0" y="336671"/>
                  </a:moveTo>
                  <a:lnTo>
                    <a:pt x="2248" y="284786"/>
                  </a:lnTo>
                  <a:lnTo>
                    <a:pt x="10351" y="237432"/>
                  </a:lnTo>
                  <a:lnTo>
                    <a:pt x="23774" y="194554"/>
                  </a:lnTo>
                  <a:lnTo>
                    <a:pt x="41980" y="156098"/>
                  </a:lnTo>
                  <a:lnTo>
                    <a:pt x="64432" y="122009"/>
                  </a:lnTo>
                  <a:lnTo>
                    <a:pt x="90593" y="92234"/>
                  </a:lnTo>
                  <a:lnTo>
                    <a:pt x="119927" y="66717"/>
                  </a:lnTo>
                  <a:lnTo>
                    <a:pt x="151897" y="45404"/>
                  </a:lnTo>
                  <a:lnTo>
                    <a:pt x="185967" y="28242"/>
                  </a:lnTo>
                  <a:lnTo>
                    <a:pt x="258259" y="6148"/>
                  </a:lnTo>
                  <a:lnTo>
                    <a:pt x="332509" y="0"/>
                  </a:lnTo>
                  <a:lnTo>
                    <a:pt x="369027" y="2769"/>
                  </a:lnTo>
                  <a:lnTo>
                    <a:pt x="438167" y="19723"/>
                  </a:lnTo>
                  <a:lnTo>
                    <a:pt x="498534" y="51535"/>
                  </a:lnTo>
                  <a:lnTo>
                    <a:pt x="545834" y="97768"/>
                  </a:lnTo>
                  <a:lnTo>
                    <a:pt x="563243" y="126156"/>
                  </a:lnTo>
                </a:path>
              </a:pathLst>
            </a:custGeom>
            <a:ln w="5270">
              <a:solidFill>
                <a:srgbClr val="231F20"/>
              </a:solidFill>
            </a:ln>
          </p:spPr>
          <p:txBody>
            <a:bodyPr wrap="square" lIns="0" tIns="0" rIns="0" bIns="0" rtlCol="0"/>
            <a:lstStyle/>
            <a:p>
              <a:endParaRPr/>
            </a:p>
          </p:txBody>
        </p:sp>
        <p:sp>
          <p:nvSpPr>
            <p:cNvPr id="12" name="object 12"/>
            <p:cNvSpPr/>
            <p:nvPr/>
          </p:nvSpPr>
          <p:spPr>
            <a:xfrm>
              <a:off x="1927894" y="1390282"/>
              <a:ext cx="62230" cy="81280"/>
            </a:xfrm>
            <a:custGeom>
              <a:avLst/>
              <a:gdLst/>
              <a:ahLst/>
              <a:cxnLst/>
              <a:rect l="l" t="t" r="r" b="b"/>
              <a:pathLst>
                <a:path w="62230" h="81280">
                  <a:moveTo>
                    <a:pt x="57016" y="0"/>
                  </a:moveTo>
                  <a:lnTo>
                    <a:pt x="45436" y="12471"/>
                  </a:lnTo>
                  <a:lnTo>
                    <a:pt x="32073" y="21378"/>
                  </a:lnTo>
                  <a:lnTo>
                    <a:pt x="16928" y="26721"/>
                  </a:lnTo>
                  <a:lnTo>
                    <a:pt x="0" y="28502"/>
                  </a:lnTo>
                  <a:lnTo>
                    <a:pt x="61770" y="80775"/>
                  </a:lnTo>
                  <a:lnTo>
                    <a:pt x="57016" y="0"/>
                  </a:lnTo>
                  <a:close/>
                </a:path>
              </a:pathLst>
            </a:custGeom>
            <a:solidFill>
              <a:srgbClr val="231F20"/>
            </a:solidFill>
          </p:spPr>
          <p:txBody>
            <a:bodyPr wrap="square" lIns="0" tIns="0" rIns="0" bIns="0" rtlCol="0"/>
            <a:lstStyle/>
            <a:p>
              <a:endParaRPr/>
            </a:p>
          </p:txBody>
        </p:sp>
        <p:sp>
          <p:nvSpPr>
            <p:cNvPr id="13" name="object 13"/>
            <p:cNvSpPr/>
            <p:nvPr/>
          </p:nvSpPr>
          <p:spPr>
            <a:xfrm>
              <a:off x="1260854" y="1648138"/>
              <a:ext cx="375285" cy="211454"/>
            </a:xfrm>
            <a:custGeom>
              <a:avLst/>
              <a:gdLst/>
              <a:ahLst/>
              <a:cxnLst/>
              <a:rect l="l" t="t" r="r" b="b"/>
              <a:pathLst>
                <a:path w="375285" h="211455">
                  <a:moveTo>
                    <a:pt x="374769" y="0"/>
                  </a:moveTo>
                  <a:lnTo>
                    <a:pt x="0" y="0"/>
                  </a:lnTo>
                  <a:lnTo>
                    <a:pt x="0" y="211157"/>
                  </a:lnTo>
                  <a:lnTo>
                    <a:pt x="374769" y="211157"/>
                  </a:lnTo>
                  <a:lnTo>
                    <a:pt x="374769" y="0"/>
                  </a:lnTo>
                  <a:close/>
                </a:path>
              </a:pathLst>
            </a:custGeom>
            <a:solidFill>
              <a:srgbClr val="FFFFFF"/>
            </a:solidFill>
          </p:spPr>
          <p:txBody>
            <a:bodyPr wrap="square" lIns="0" tIns="0" rIns="0" bIns="0" rtlCol="0"/>
            <a:lstStyle/>
            <a:p>
              <a:endParaRPr/>
            </a:p>
          </p:txBody>
        </p:sp>
        <p:sp>
          <p:nvSpPr>
            <p:cNvPr id="14" name="object 14"/>
            <p:cNvSpPr/>
            <p:nvPr/>
          </p:nvSpPr>
          <p:spPr>
            <a:xfrm>
              <a:off x="1260854" y="1648140"/>
              <a:ext cx="375285" cy="211454"/>
            </a:xfrm>
            <a:custGeom>
              <a:avLst/>
              <a:gdLst/>
              <a:ahLst/>
              <a:cxnLst/>
              <a:rect l="l" t="t" r="r" b="b"/>
              <a:pathLst>
                <a:path w="375285" h="211455">
                  <a:moveTo>
                    <a:pt x="374767" y="0"/>
                  </a:moveTo>
                  <a:lnTo>
                    <a:pt x="374767" y="211156"/>
                  </a:lnTo>
                  <a:lnTo>
                    <a:pt x="0" y="211156"/>
                  </a:lnTo>
                  <a:lnTo>
                    <a:pt x="0" y="0"/>
                  </a:lnTo>
                  <a:lnTo>
                    <a:pt x="374767" y="0"/>
                  </a:lnTo>
                  <a:close/>
                </a:path>
              </a:pathLst>
            </a:custGeom>
            <a:ln w="5759">
              <a:solidFill>
                <a:srgbClr val="231F20"/>
              </a:solidFill>
            </a:ln>
          </p:spPr>
          <p:txBody>
            <a:bodyPr wrap="square" lIns="0" tIns="0" rIns="0" bIns="0" rtlCol="0"/>
            <a:lstStyle/>
            <a:p>
              <a:endParaRPr/>
            </a:p>
          </p:txBody>
        </p:sp>
        <p:sp>
          <p:nvSpPr>
            <p:cNvPr id="15" name="object 15"/>
            <p:cNvSpPr/>
            <p:nvPr/>
          </p:nvSpPr>
          <p:spPr>
            <a:xfrm>
              <a:off x="1755643" y="1122035"/>
              <a:ext cx="336550" cy="520065"/>
            </a:xfrm>
            <a:custGeom>
              <a:avLst/>
              <a:gdLst/>
              <a:ahLst/>
              <a:cxnLst/>
              <a:rect l="l" t="t" r="r" b="b"/>
              <a:pathLst>
                <a:path w="336550" h="520064">
                  <a:moveTo>
                    <a:pt x="0" y="466722"/>
                  </a:moveTo>
                  <a:lnTo>
                    <a:pt x="0" y="519761"/>
                  </a:lnTo>
                </a:path>
                <a:path w="336550" h="520064">
                  <a:moveTo>
                    <a:pt x="227337" y="466722"/>
                  </a:moveTo>
                  <a:lnTo>
                    <a:pt x="227337" y="519761"/>
                  </a:lnTo>
                </a:path>
                <a:path w="336550" h="520064">
                  <a:moveTo>
                    <a:pt x="98842" y="190939"/>
                  </a:moveTo>
                  <a:lnTo>
                    <a:pt x="336052" y="190939"/>
                  </a:lnTo>
                  <a:lnTo>
                    <a:pt x="336052" y="3"/>
                  </a:lnTo>
                  <a:lnTo>
                    <a:pt x="98842" y="3"/>
                  </a:lnTo>
                  <a:lnTo>
                    <a:pt x="98842" y="190939"/>
                  </a:lnTo>
                  <a:close/>
                </a:path>
                <a:path w="336550" h="520064">
                  <a:moveTo>
                    <a:pt x="98842" y="63636"/>
                  </a:moveTo>
                  <a:lnTo>
                    <a:pt x="336057" y="63636"/>
                  </a:lnTo>
                </a:path>
                <a:path w="336550" h="520064">
                  <a:moveTo>
                    <a:pt x="98842" y="127282"/>
                  </a:moveTo>
                  <a:lnTo>
                    <a:pt x="336057" y="127282"/>
                  </a:lnTo>
                </a:path>
                <a:path w="336550" h="520064">
                  <a:moveTo>
                    <a:pt x="217450" y="0"/>
                  </a:moveTo>
                  <a:lnTo>
                    <a:pt x="217450" y="190939"/>
                  </a:lnTo>
                </a:path>
              </a:pathLst>
            </a:custGeom>
            <a:ln w="5270">
              <a:solidFill>
                <a:srgbClr val="231F20"/>
              </a:solidFill>
            </a:ln>
          </p:spPr>
          <p:txBody>
            <a:bodyPr wrap="square" lIns="0" tIns="0" rIns="0" bIns="0" rtlCol="0"/>
            <a:lstStyle/>
            <a:p>
              <a:endParaRPr/>
            </a:p>
          </p:txBody>
        </p:sp>
        <p:sp>
          <p:nvSpPr>
            <p:cNvPr id="16" name="object 16"/>
            <p:cNvSpPr/>
            <p:nvPr/>
          </p:nvSpPr>
          <p:spPr>
            <a:xfrm>
              <a:off x="370617" y="1058127"/>
              <a:ext cx="716915" cy="970280"/>
            </a:xfrm>
            <a:custGeom>
              <a:avLst/>
              <a:gdLst/>
              <a:ahLst/>
              <a:cxnLst/>
              <a:rect l="l" t="t" r="r" b="b"/>
              <a:pathLst>
                <a:path w="716915" h="970280">
                  <a:moveTo>
                    <a:pt x="0" y="0"/>
                  </a:moveTo>
                  <a:lnTo>
                    <a:pt x="716831" y="0"/>
                  </a:lnTo>
                  <a:lnTo>
                    <a:pt x="716831" y="969832"/>
                  </a:lnTo>
                  <a:lnTo>
                    <a:pt x="0" y="969832"/>
                  </a:lnTo>
                  <a:lnTo>
                    <a:pt x="0" y="0"/>
                  </a:lnTo>
                  <a:close/>
                </a:path>
              </a:pathLst>
            </a:custGeom>
            <a:ln w="5116">
              <a:solidFill>
                <a:srgbClr val="231F20"/>
              </a:solidFill>
            </a:ln>
          </p:spPr>
          <p:txBody>
            <a:bodyPr wrap="square" lIns="0" tIns="0" rIns="0" bIns="0" rtlCol="0"/>
            <a:lstStyle/>
            <a:p>
              <a:endParaRPr/>
            </a:p>
          </p:txBody>
        </p:sp>
        <p:sp>
          <p:nvSpPr>
            <p:cNvPr id="17" name="object 17"/>
            <p:cNvSpPr/>
            <p:nvPr/>
          </p:nvSpPr>
          <p:spPr>
            <a:xfrm>
              <a:off x="412785" y="1100818"/>
              <a:ext cx="633095" cy="758825"/>
            </a:xfrm>
            <a:custGeom>
              <a:avLst/>
              <a:gdLst/>
              <a:ahLst/>
              <a:cxnLst/>
              <a:rect l="l" t="t" r="r" b="b"/>
              <a:pathLst>
                <a:path w="633094" h="758825">
                  <a:moveTo>
                    <a:pt x="632498" y="0"/>
                  </a:moveTo>
                  <a:lnTo>
                    <a:pt x="632498" y="758793"/>
                  </a:lnTo>
                  <a:lnTo>
                    <a:pt x="0" y="758793"/>
                  </a:lnTo>
                  <a:lnTo>
                    <a:pt x="0" y="0"/>
                  </a:lnTo>
                  <a:lnTo>
                    <a:pt x="632498" y="0"/>
                  </a:lnTo>
                  <a:close/>
                </a:path>
              </a:pathLst>
            </a:custGeom>
            <a:ln w="5560">
              <a:solidFill>
                <a:srgbClr val="231F20"/>
              </a:solidFill>
            </a:ln>
          </p:spPr>
          <p:txBody>
            <a:bodyPr wrap="square" lIns="0" tIns="0" rIns="0" bIns="0" rtlCol="0"/>
            <a:lstStyle/>
            <a:p>
              <a:endParaRPr/>
            </a:p>
          </p:txBody>
        </p:sp>
        <p:sp>
          <p:nvSpPr>
            <p:cNvPr id="18" name="object 18"/>
            <p:cNvSpPr/>
            <p:nvPr/>
          </p:nvSpPr>
          <p:spPr>
            <a:xfrm>
              <a:off x="539286" y="1648465"/>
              <a:ext cx="375285" cy="211454"/>
            </a:xfrm>
            <a:custGeom>
              <a:avLst/>
              <a:gdLst/>
              <a:ahLst/>
              <a:cxnLst/>
              <a:rect l="l" t="t" r="r" b="b"/>
              <a:pathLst>
                <a:path w="375284" h="211455">
                  <a:moveTo>
                    <a:pt x="374757" y="0"/>
                  </a:moveTo>
                  <a:lnTo>
                    <a:pt x="374757" y="211148"/>
                  </a:lnTo>
                  <a:lnTo>
                    <a:pt x="0" y="211148"/>
                  </a:lnTo>
                  <a:lnTo>
                    <a:pt x="0" y="0"/>
                  </a:lnTo>
                  <a:lnTo>
                    <a:pt x="374757" y="0"/>
                  </a:lnTo>
                  <a:close/>
                </a:path>
              </a:pathLst>
            </a:custGeom>
            <a:ln w="5759">
              <a:solidFill>
                <a:srgbClr val="231F20"/>
              </a:solidFill>
            </a:ln>
          </p:spPr>
          <p:txBody>
            <a:bodyPr wrap="square" lIns="0" tIns="0" rIns="0" bIns="0" rtlCol="0"/>
            <a:lstStyle/>
            <a:p>
              <a:endParaRPr/>
            </a:p>
          </p:txBody>
        </p:sp>
        <p:sp>
          <p:nvSpPr>
            <p:cNvPr id="19" name="object 19"/>
            <p:cNvSpPr/>
            <p:nvPr/>
          </p:nvSpPr>
          <p:spPr>
            <a:xfrm>
              <a:off x="633339" y="1491887"/>
              <a:ext cx="66040" cy="125095"/>
            </a:xfrm>
            <a:custGeom>
              <a:avLst/>
              <a:gdLst/>
              <a:ahLst/>
              <a:cxnLst/>
              <a:rect l="l" t="t" r="r" b="b"/>
              <a:pathLst>
                <a:path w="66040" h="125094">
                  <a:moveTo>
                    <a:pt x="0" y="0"/>
                  </a:moveTo>
                  <a:lnTo>
                    <a:pt x="65502" y="124754"/>
                  </a:lnTo>
                </a:path>
              </a:pathLst>
            </a:custGeom>
            <a:ln w="5270">
              <a:solidFill>
                <a:srgbClr val="231F20"/>
              </a:solidFill>
            </a:ln>
          </p:spPr>
          <p:txBody>
            <a:bodyPr wrap="square" lIns="0" tIns="0" rIns="0" bIns="0" rtlCol="0"/>
            <a:lstStyle/>
            <a:p>
              <a:endParaRPr/>
            </a:p>
          </p:txBody>
        </p:sp>
      </p:grpSp>
      <p:sp>
        <p:nvSpPr>
          <p:cNvPr id="20" name="object 20"/>
          <p:cNvSpPr txBox="1"/>
          <p:nvPr/>
        </p:nvSpPr>
        <p:spPr>
          <a:xfrm>
            <a:off x="1655168" y="1678415"/>
            <a:ext cx="4394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MCA</a:t>
            </a:r>
            <a:r>
              <a:rPr sz="650" spc="70" dirty="0">
                <a:solidFill>
                  <a:srgbClr val="231F20"/>
                </a:solidFill>
                <a:latin typeface="Arial"/>
                <a:cs typeface="Arial"/>
              </a:rPr>
              <a:t> </a:t>
            </a:r>
            <a:r>
              <a:rPr sz="650" spc="5" dirty="0">
                <a:solidFill>
                  <a:srgbClr val="231F20"/>
                </a:solidFill>
                <a:latin typeface="Arial"/>
                <a:cs typeface="Arial"/>
              </a:rPr>
              <a:t>MCA</a:t>
            </a:r>
            <a:endParaRPr sz="650">
              <a:latin typeface="Arial"/>
              <a:cs typeface="Arial"/>
            </a:endParaRPr>
          </a:p>
        </p:txBody>
      </p:sp>
      <p:sp>
        <p:nvSpPr>
          <p:cNvPr id="21" name="object 21"/>
          <p:cNvSpPr txBox="1"/>
          <p:nvPr/>
        </p:nvSpPr>
        <p:spPr>
          <a:xfrm>
            <a:off x="481049" y="1378090"/>
            <a:ext cx="525145" cy="127000"/>
          </a:xfrm>
          <a:prstGeom prst="rect">
            <a:avLst/>
          </a:prstGeom>
        </p:spPr>
        <p:txBody>
          <a:bodyPr vert="horz" wrap="square" lIns="0" tIns="13970" rIns="0" bIns="0" rtlCol="0">
            <a:spAutoFit/>
          </a:bodyPr>
          <a:lstStyle/>
          <a:p>
            <a:pPr marL="12700">
              <a:lnSpc>
                <a:spcPct val="100000"/>
              </a:lnSpc>
              <a:spcBef>
                <a:spcPts val="110"/>
              </a:spcBef>
            </a:pPr>
            <a:r>
              <a:rPr sz="650" spc="30" dirty="0">
                <a:solidFill>
                  <a:srgbClr val="231F20"/>
                </a:solidFill>
                <a:latin typeface="Arial"/>
                <a:cs typeface="Arial"/>
              </a:rPr>
              <a:t>MQ</a:t>
            </a:r>
            <a:r>
              <a:rPr sz="650" spc="-15" dirty="0">
                <a:solidFill>
                  <a:srgbClr val="231F20"/>
                </a:solidFill>
                <a:latin typeface="Arial"/>
                <a:cs typeface="Arial"/>
              </a:rPr>
              <a:t> </a:t>
            </a:r>
            <a:r>
              <a:rPr sz="650" spc="5" dirty="0">
                <a:solidFill>
                  <a:srgbClr val="231F20"/>
                </a:solidFill>
                <a:latin typeface="Arial"/>
                <a:cs typeface="Arial"/>
              </a:rPr>
              <a:t>Interface</a:t>
            </a:r>
            <a:endParaRPr sz="650">
              <a:latin typeface="Arial"/>
              <a:cs typeface="Arial"/>
            </a:endParaRPr>
          </a:p>
        </p:txBody>
      </p:sp>
      <p:sp>
        <p:nvSpPr>
          <p:cNvPr id="22" name="object 22"/>
          <p:cNvSpPr txBox="1"/>
          <p:nvPr/>
        </p:nvSpPr>
        <p:spPr>
          <a:xfrm>
            <a:off x="635594" y="1693595"/>
            <a:ext cx="199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Stub</a:t>
            </a:r>
            <a:endParaRPr sz="650">
              <a:latin typeface="Arial"/>
              <a:cs typeface="Arial"/>
            </a:endParaRPr>
          </a:p>
        </p:txBody>
      </p:sp>
      <p:sp>
        <p:nvSpPr>
          <p:cNvPr id="23" name="object 23"/>
          <p:cNvSpPr txBox="1"/>
          <p:nvPr/>
        </p:nvSpPr>
        <p:spPr>
          <a:xfrm>
            <a:off x="1239792" y="1102187"/>
            <a:ext cx="358775"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Queue </a:t>
            </a:r>
            <a:r>
              <a:rPr sz="650" spc="10" dirty="0">
                <a:solidFill>
                  <a:srgbClr val="231F20"/>
                </a:solidFill>
                <a:latin typeface="Arial"/>
                <a:cs typeface="Arial"/>
              </a:rPr>
              <a:t> </a:t>
            </a:r>
            <a:r>
              <a:rPr sz="650" spc="5" dirty="0">
                <a:solidFill>
                  <a:srgbClr val="231F20"/>
                </a:solidFill>
                <a:latin typeface="Arial"/>
                <a:cs typeface="Arial"/>
              </a:rPr>
              <a:t>manager</a:t>
            </a:r>
            <a:endParaRPr sz="650">
              <a:latin typeface="Arial"/>
              <a:cs typeface="Arial"/>
            </a:endParaRPr>
          </a:p>
        </p:txBody>
      </p:sp>
      <p:grpSp>
        <p:nvGrpSpPr>
          <p:cNvPr id="24" name="object 24"/>
          <p:cNvGrpSpPr/>
          <p:nvPr/>
        </p:nvGrpSpPr>
        <p:grpSpPr>
          <a:xfrm>
            <a:off x="365220" y="1052728"/>
            <a:ext cx="1824355" cy="981075"/>
            <a:chOff x="365220" y="1052728"/>
            <a:chExt cx="1824355" cy="981075"/>
          </a:xfrm>
        </p:grpSpPr>
        <p:sp>
          <p:nvSpPr>
            <p:cNvPr id="25" name="object 25"/>
            <p:cNvSpPr/>
            <p:nvPr/>
          </p:nvSpPr>
          <p:spPr>
            <a:xfrm>
              <a:off x="1171782" y="1859295"/>
              <a:ext cx="1012190" cy="168910"/>
            </a:xfrm>
            <a:custGeom>
              <a:avLst/>
              <a:gdLst/>
              <a:ahLst/>
              <a:cxnLst/>
              <a:rect l="l" t="t" r="r" b="b"/>
              <a:pathLst>
                <a:path w="1012189" h="168910">
                  <a:moveTo>
                    <a:pt x="0" y="168664"/>
                  </a:moveTo>
                  <a:lnTo>
                    <a:pt x="1012002" y="168664"/>
                  </a:lnTo>
                  <a:lnTo>
                    <a:pt x="1012002" y="0"/>
                  </a:lnTo>
                  <a:lnTo>
                    <a:pt x="0" y="0"/>
                  </a:lnTo>
                  <a:lnTo>
                    <a:pt x="0" y="168664"/>
                  </a:lnTo>
                  <a:close/>
                </a:path>
              </a:pathLst>
            </a:custGeom>
            <a:ln w="5270">
              <a:solidFill>
                <a:srgbClr val="231F20"/>
              </a:solidFill>
            </a:ln>
          </p:spPr>
          <p:txBody>
            <a:bodyPr wrap="square" lIns="0" tIns="0" rIns="0" bIns="0" rtlCol="0"/>
            <a:lstStyle/>
            <a:p>
              <a:endParaRPr/>
            </a:p>
          </p:txBody>
        </p:sp>
        <p:sp>
          <p:nvSpPr>
            <p:cNvPr id="26" name="object 26"/>
            <p:cNvSpPr/>
            <p:nvPr/>
          </p:nvSpPr>
          <p:spPr>
            <a:xfrm>
              <a:off x="1171784" y="1058128"/>
              <a:ext cx="1012190" cy="970280"/>
            </a:xfrm>
            <a:custGeom>
              <a:avLst/>
              <a:gdLst/>
              <a:ahLst/>
              <a:cxnLst/>
              <a:rect l="l" t="t" r="r" b="b"/>
              <a:pathLst>
                <a:path w="1012189" h="970280">
                  <a:moveTo>
                    <a:pt x="0" y="0"/>
                  </a:moveTo>
                  <a:lnTo>
                    <a:pt x="1012017" y="0"/>
                  </a:lnTo>
                  <a:lnTo>
                    <a:pt x="1012017" y="969831"/>
                  </a:lnTo>
                  <a:lnTo>
                    <a:pt x="0" y="969831"/>
                  </a:lnTo>
                  <a:lnTo>
                    <a:pt x="0" y="0"/>
                  </a:lnTo>
                  <a:close/>
                </a:path>
              </a:pathLst>
            </a:custGeom>
            <a:ln w="10415">
              <a:solidFill>
                <a:srgbClr val="231F20"/>
              </a:solidFill>
            </a:ln>
          </p:spPr>
          <p:txBody>
            <a:bodyPr wrap="square" lIns="0" tIns="0" rIns="0" bIns="0" rtlCol="0"/>
            <a:lstStyle/>
            <a:p>
              <a:endParaRPr/>
            </a:p>
          </p:txBody>
        </p:sp>
        <p:sp>
          <p:nvSpPr>
            <p:cNvPr id="27" name="object 27"/>
            <p:cNvSpPr/>
            <p:nvPr/>
          </p:nvSpPr>
          <p:spPr>
            <a:xfrm>
              <a:off x="1427923" y="1838209"/>
              <a:ext cx="42545" cy="42545"/>
            </a:xfrm>
            <a:custGeom>
              <a:avLst/>
              <a:gdLst/>
              <a:ahLst/>
              <a:cxnLst/>
              <a:rect l="l" t="t" r="r" b="b"/>
              <a:pathLst>
                <a:path w="42544" h="42544">
                  <a:moveTo>
                    <a:pt x="21081" y="0"/>
                  </a:moveTo>
                  <a:lnTo>
                    <a:pt x="12874" y="1657"/>
                  </a:lnTo>
                  <a:lnTo>
                    <a:pt x="6173" y="6176"/>
                  </a:lnTo>
                  <a:lnTo>
                    <a:pt x="1656" y="12878"/>
                  </a:lnTo>
                  <a:lnTo>
                    <a:pt x="0" y="21086"/>
                  </a:lnTo>
                  <a:lnTo>
                    <a:pt x="1656" y="29291"/>
                  </a:lnTo>
                  <a:lnTo>
                    <a:pt x="6173" y="35994"/>
                  </a:lnTo>
                  <a:lnTo>
                    <a:pt x="12874" y="40514"/>
                  </a:lnTo>
                  <a:lnTo>
                    <a:pt x="21081" y="42172"/>
                  </a:lnTo>
                  <a:lnTo>
                    <a:pt x="29289" y="40514"/>
                  </a:lnTo>
                  <a:lnTo>
                    <a:pt x="35990" y="35994"/>
                  </a:lnTo>
                  <a:lnTo>
                    <a:pt x="40507" y="29291"/>
                  </a:lnTo>
                  <a:lnTo>
                    <a:pt x="42163" y="21086"/>
                  </a:lnTo>
                  <a:lnTo>
                    <a:pt x="40507" y="12878"/>
                  </a:lnTo>
                  <a:lnTo>
                    <a:pt x="35990" y="6176"/>
                  </a:lnTo>
                  <a:lnTo>
                    <a:pt x="29289" y="1657"/>
                  </a:lnTo>
                  <a:lnTo>
                    <a:pt x="21081" y="0"/>
                  </a:lnTo>
                  <a:close/>
                </a:path>
              </a:pathLst>
            </a:custGeom>
            <a:solidFill>
              <a:srgbClr val="FFFFFF"/>
            </a:solidFill>
          </p:spPr>
          <p:txBody>
            <a:bodyPr wrap="square" lIns="0" tIns="0" rIns="0" bIns="0" rtlCol="0"/>
            <a:lstStyle/>
            <a:p>
              <a:endParaRPr/>
            </a:p>
          </p:txBody>
        </p:sp>
        <p:sp>
          <p:nvSpPr>
            <p:cNvPr id="28" name="object 28"/>
            <p:cNvSpPr/>
            <p:nvPr/>
          </p:nvSpPr>
          <p:spPr>
            <a:xfrm>
              <a:off x="1427923" y="1838209"/>
              <a:ext cx="42545" cy="42545"/>
            </a:xfrm>
            <a:custGeom>
              <a:avLst/>
              <a:gdLst/>
              <a:ahLst/>
              <a:cxnLst/>
              <a:rect l="l" t="t" r="r" b="b"/>
              <a:pathLst>
                <a:path w="42544" h="42544">
                  <a:moveTo>
                    <a:pt x="21081" y="0"/>
                  </a:moveTo>
                  <a:lnTo>
                    <a:pt x="29289" y="1657"/>
                  </a:lnTo>
                  <a:lnTo>
                    <a:pt x="35990" y="6176"/>
                  </a:lnTo>
                  <a:lnTo>
                    <a:pt x="40507" y="12878"/>
                  </a:lnTo>
                  <a:lnTo>
                    <a:pt x="42163" y="21086"/>
                  </a:lnTo>
                  <a:lnTo>
                    <a:pt x="40507" y="29291"/>
                  </a:lnTo>
                  <a:lnTo>
                    <a:pt x="35990" y="35994"/>
                  </a:lnTo>
                  <a:lnTo>
                    <a:pt x="29289" y="40514"/>
                  </a:lnTo>
                  <a:lnTo>
                    <a:pt x="21081" y="42172"/>
                  </a:lnTo>
                  <a:lnTo>
                    <a:pt x="12874" y="40514"/>
                  </a:lnTo>
                  <a:lnTo>
                    <a:pt x="6173" y="35994"/>
                  </a:lnTo>
                  <a:lnTo>
                    <a:pt x="1656" y="29291"/>
                  </a:lnTo>
                  <a:lnTo>
                    <a:pt x="0" y="21086"/>
                  </a:lnTo>
                  <a:lnTo>
                    <a:pt x="1656" y="12878"/>
                  </a:lnTo>
                  <a:lnTo>
                    <a:pt x="6173" y="6176"/>
                  </a:lnTo>
                  <a:lnTo>
                    <a:pt x="12874" y="1657"/>
                  </a:lnTo>
                  <a:lnTo>
                    <a:pt x="21081" y="0"/>
                  </a:lnTo>
                  <a:close/>
                </a:path>
              </a:pathLst>
            </a:custGeom>
            <a:ln w="5270">
              <a:solidFill>
                <a:srgbClr val="231F20"/>
              </a:solidFill>
            </a:ln>
          </p:spPr>
          <p:txBody>
            <a:bodyPr wrap="square" lIns="0" tIns="0" rIns="0" bIns="0" rtlCol="0"/>
            <a:lstStyle/>
            <a:p>
              <a:endParaRPr/>
            </a:p>
          </p:txBody>
        </p:sp>
        <p:sp>
          <p:nvSpPr>
            <p:cNvPr id="29" name="object 29"/>
            <p:cNvSpPr/>
            <p:nvPr/>
          </p:nvSpPr>
          <p:spPr>
            <a:xfrm>
              <a:off x="370617" y="1859613"/>
              <a:ext cx="716915" cy="168910"/>
            </a:xfrm>
            <a:custGeom>
              <a:avLst/>
              <a:gdLst/>
              <a:ahLst/>
              <a:cxnLst/>
              <a:rect l="l" t="t" r="r" b="b"/>
              <a:pathLst>
                <a:path w="716915" h="168910">
                  <a:moveTo>
                    <a:pt x="716833" y="0"/>
                  </a:moveTo>
                  <a:lnTo>
                    <a:pt x="0" y="0"/>
                  </a:lnTo>
                  <a:lnTo>
                    <a:pt x="0" y="168347"/>
                  </a:lnTo>
                  <a:lnTo>
                    <a:pt x="716833" y="168347"/>
                  </a:lnTo>
                  <a:lnTo>
                    <a:pt x="716833" y="0"/>
                  </a:lnTo>
                  <a:close/>
                </a:path>
              </a:pathLst>
            </a:custGeom>
            <a:solidFill>
              <a:srgbClr val="FFFFFF"/>
            </a:solidFill>
          </p:spPr>
          <p:txBody>
            <a:bodyPr wrap="square" lIns="0" tIns="0" rIns="0" bIns="0" rtlCol="0"/>
            <a:lstStyle/>
            <a:p>
              <a:endParaRPr/>
            </a:p>
          </p:txBody>
        </p:sp>
        <p:sp>
          <p:nvSpPr>
            <p:cNvPr id="30" name="object 30"/>
            <p:cNvSpPr/>
            <p:nvPr/>
          </p:nvSpPr>
          <p:spPr>
            <a:xfrm>
              <a:off x="370617" y="1859613"/>
              <a:ext cx="716915" cy="168910"/>
            </a:xfrm>
            <a:custGeom>
              <a:avLst/>
              <a:gdLst/>
              <a:ahLst/>
              <a:cxnLst/>
              <a:rect l="l" t="t" r="r" b="b"/>
              <a:pathLst>
                <a:path w="716915" h="168910">
                  <a:moveTo>
                    <a:pt x="0" y="168347"/>
                  </a:moveTo>
                  <a:lnTo>
                    <a:pt x="716833" y="168347"/>
                  </a:lnTo>
                  <a:lnTo>
                    <a:pt x="716833" y="0"/>
                  </a:lnTo>
                  <a:lnTo>
                    <a:pt x="0" y="0"/>
                  </a:lnTo>
                  <a:lnTo>
                    <a:pt x="0" y="168347"/>
                  </a:lnTo>
                  <a:close/>
                </a:path>
              </a:pathLst>
            </a:custGeom>
            <a:ln w="5270">
              <a:solidFill>
                <a:srgbClr val="231F20"/>
              </a:solidFill>
            </a:ln>
          </p:spPr>
          <p:txBody>
            <a:bodyPr wrap="square" lIns="0" tIns="0" rIns="0" bIns="0" rtlCol="0"/>
            <a:lstStyle/>
            <a:p>
              <a:endParaRPr/>
            </a:p>
          </p:txBody>
        </p:sp>
        <p:sp>
          <p:nvSpPr>
            <p:cNvPr id="31" name="object 31"/>
            <p:cNvSpPr/>
            <p:nvPr/>
          </p:nvSpPr>
          <p:spPr>
            <a:xfrm>
              <a:off x="370617" y="1058126"/>
              <a:ext cx="716915" cy="970280"/>
            </a:xfrm>
            <a:custGeom>
              <a:avLst/>
              <a:gdLst/>
              <a:ahLst/>
              <a:cxnLst/>
              <a:rect l="l" t="t" r="r" b="b"/>
              <a:pathLst>
                <a:path w="716915" h="970280">
                  <a:moveTo>
                    <a:pt x="0" y="969834"/>
                  </a:moveTo>
                  <a:lnTo>
                    <a:pt x="716833" y="969834"/>
                  </a:lnTo>
                  <a:lnTo>
                    <a:pt x="716833" y="0"/>
                  </a:lnTo>
                  <a:lnTo>
                    <a:pt x="0" y="0"/>
                  </a:lnTo>
                  <a:lnTo>
                    <a:pt x="0" y="969834"/>
                  </a:lnTo>
                  <a:close/>
                </a:path>
              </a:pathLst>
            </a:custGeom>
            <a:ln w="10541">
              <a:solidFill>
                <a:srgbClr val="231F20"/>
              </a:solidFill>
            </a:ln>
          </p:spPr>
          <p:txBody>
            <a:bodyPr wrap="square" lIns="0" tIns="0" rIns="0" bIns="0" rtlCol="0"/>
            <a:lstStyle/>
            <a:p>
              <a:endParaRPr/>
            </a:p>
          </p:txBody>
        </p:sp>
        <p:sp>
          <p:nvSpPr>
            <p:cNvPr id="32" name="object 32"/>
            <p:cNvSpPr/>
            <p:nvPr/>
          </p:nvSpPr>
          <p:spPr>
            <a:xfrm>
              <a:off x="705582" y="1838530"/>
              <a:ext cx="42545" cy="42545"/>
            </a:xfrm>
            <a:custGeom>
              <a:avLst/>
              <a:gdLst/>
              <a:ahLst/>
              <a:cxnLst/>
              <a:rect l="l" t="t" r="r" b="b"/>
              <a:pathLst>
                <a:path w="42545" h="42544">
                  <a:moveTo>
                    <a:pt x="21081" y="0"/>
                  </a:moveTo>
                  <a:lnTo>
                    <a:pt x="12875" y="1656"/>
                  </a:lnTo>
                  <a:lnTo>
                    <a:pt x="6174" y="6174"/>
                  </a:lnTo>
                  <a:lnTo>
                    <a:pt x="1656" y="12875"/>
                  </a:lnTo>
                  <a:lnTo>
                    <a:pt x="0" y="21081"/>
                  </a:lnTo>
                  <a:lnTo>
                    <a:pt x="1656" y="29289"/>
                  </a:lnTo>
                  <a:lnTo>
                    <a:pt x="6174" y="35991"/>
                  </a:lnTo>
                  <a:lnTo>
                    <a:pt x="12875" y="40511"/>
                  </a:lnTo>
                  <a:lnTo>
                    <a:pt x="21081" y="42168"/>
                  </a:lnTo>
                  <a:lnTo>
                    <a:pt x="29288" y="40511"/>
                  </a:lnTo>
                  <a:lnTo>
                    <a:pt x="35989" y="35991"/>
                  </a:lnTo>
                  <a:lnTo>
                    <a:pt x="40507" y="29289"/>
                  </a:lnTo>
                  <a:lnTo>
                    <a:pt x="42163" y="21081"/>
                  </a:lnTo>
                  <a:lnTo>
                    <a:pt x="40507" y="12875"/>
                  </a:lnTo>
                  <a:lnTo>
                    <a:pt x="35989" y="6174"/>
                  </a:lnTo>
                  <a:lnTo>
                    <a:pt x="29288" y="1656"/>
                  </a:lnTo>
                  <a:lnTo>
                    <a:pt x="21081" y="0"/>
                  </a:lnTo>
                  <a:close/>
                </a:path>
              </a:pathLst>
            </a:custGeom>
            <a:solidFill>
              <a:srgbClr val="FFFFFF"/>
            </a:solidFill>
          </p:spPr>
          <p:txBody>
            <a:bodyPr wrap="square" lIns="0" tIns="0" rIns="0" bIns="0" rtlCol="0"/>
            <a:lstStyle/>
            <a:p>
              <a:endParaRPr/>
            </a:p>
          </p:txBody>
        </p:sp>
        <p:sp>
          <p:nvSpPr>
            <p:cNvPr id="33" name="object 33"/>
            <p:cNvSpPr/>
            <p:nvPr/>
          </p:nvSpPr>
          <p:spPr>
            <a:xfrm>
              <a:off x="705582" y="1838530"/>
              <a:ext cx="42545" cy="42545"/>
            </a:xfrm>
            <a:custGeom>
              <a:avLst/>
              <a:gdLst/>
              <a:ahLst/>
              <a:cxnLst/>
              <a:rect l="l" t="t" r="r" b="b"/>
              <a:pathLst>
                <a:path w="42545" h="42544">
                  <a:moveTo>
                    <a:pt x="21081" y="0"/>
                  </a:moveTo>
                  <a:lnTo>
                    <a:pt x="29288" y="1656"/>
                  </a:lnTo>
                  <a:lnTo>
                    <a:pt x="35989" y="6174"/>
                  </a:lnTo>
                  <a:lnTo>
                    <a:pt x="40507" y="12875"/>
                  </a:lnTo>
                  <a:lnTo>
                    <a:pt x="42163" y="21081"/>
                  </a:lnTo>
                  <a:lnTo>
                    <a:pt x="40507" y="29289"/>
                  </a:lnTo>
                  <a:lnTo>
                    <a:pt x="35989" y="35991"/>
                  </a:lnTo>
                  <a:lnTo>
                    <a:pt x="29288" y="40511"/>
                  </a:lnTo>
                  <a:lnTo>
                    <a:pt x="21081" y="42168"/>
                  </a:lnTo>
                  <a:lnTo>
                    <a:pt x="12875" y="40511"/>
                  </a:lnTo>
                  <a:lnTo>
                    <a:pt x="6174" y="35991"/>
                  </a:lnTo>
                  <a:lnTo>
                    <a:pt x="1656" y="29289"/>
                  </a:lnTo>
                  <a:lnTo>
                    <a:pt x="0" y="21081"/>
                  </a:lnTo>
                  <a:lnTo>
                    <a:pt x="1656" y="12875"/>
                  </a:lnTo>
                  <a:lnTo>
                    <a:pt x="6174" y="6174"/>
                  </a:lnTo>
                  <a:lnTo>
                    <a:pt x="12875" y="1656"/>
                  </a:lnTo>
                  <a:lnTo>
                    <a:pt x="21081" y="0"/>
                  </a:lnTo>
                  <a:close/>
                </a:path>
              </a:pathLst>
            </a:custGeom>
            <a:ln w="5270">
              <a:solidFill>
                <a:srgbClr val="231F20"/>
              </a:solidFill>
            </a:ln>
          </p:spPr>
          <p:txBody>
            <a:bodyPr wrap="square" lIns="0" tIns="0" rIns="0" bIns="0" rtlCol="0"/>
            <a:lstStyle/>
            <a:p>
              <a:endParaRPr/>
            </a:p>
          </p:txBody>
        </p:sp>
        <p:sp>
          <p:nvSpPr>
            <p:cNvPr id="34" name="object 34"/>
            <p:cNvSpPr/>
            <p:nvPr/>
          </p:nvSpPr>
          <p:spPr>
            <a:xfrm>
              <a:off x="652873" y="1616840"/>
              <a:ext cx="147955" cy="63500"/>
            </a:xfrm>
            <a:custGeom>
              <a:avLst/>
              <a:gdLst/>
              <a:ahLst/>
              <a:cxnLst/>
              <a:rect l="l" t="t" r="r" b="b"/>
              <a:pathLst>
                <a:path w="147954" h="63500">
                  <a:moveTo>
                    <a:pt x="147582" y="0"/>
                  </a:moveTo>
                  <a:lnTo>
                    <a:pt x="0" y="0"/>
                  </a:lnTo>
                  <a:lnTo>
                    <a:pt x="0" y="63250"/>
                  </a:lnTo>
                  <a:lnTo>
                    <a:pt x="147582" y="63250"/>
                  </a:lnTo>
                  <a:lnTo>
                    <a:pt x="147582" y="0"/>
                  </a:lnTo>
                  <a:close/>
                </a:path>
              </a:pathLst>
            </a:custGeom>
            <a:solidFill>
              <a:srgbClr val="FFFFFF"/>
            </a:solidFill>
          </p:spPr>
          <p:txBody>
            <a:bodyPr wrap="square" lIns="0" tIns="0" rIns="0" bIns="0" rtlCol="0"/>
            <a:lstStyle/>
            <a:p>
              <a:endParaRPr/>
            </a:p>
          </p:txBody>
        </p:sp>
        <p:sp>
          <p:nvSpPr>
            <p:cNvPr id="35" name="object 35"/>
            <p:cNvSpPr/>
            <p:nvPr/>
          </p:nvSpPr>
          <p:spPr>
            <a:xfrm>
              <a:off x="652873" y="1616840"/>
              <a:ext cx="147955" cy="63500"/>
            </a:xfrm>
            <a:custGeom>
              <a:avLst/>
              <a:gdLst/>
              <a:ahLst/>
              <a:cxnLst/>
              <a:rect l="l" t="t" r="r" b="b"/>
              <a:pathLst>
                <a:path w="147954" h="63500">
                  <a:moveTo>
                    <a:pt x="0" y="63250"/>
                  </a:moveTo>
                  <a:lnTo>
                    <a:pt x="147582" y="63250"/>
                  </a:lnTo>
                  <a:lnTo>
                    <a:pt x="147582" y="0"/>
                  </a:lnTo>
                  <a:lnTo>
                    <a:pt x="0" y="0"/>
                  </a:lnTo>
                  <a:lnTo>
                    <a:pt x="0" y="63250"/>
                  </a:lnTo>
                  <a:close/>
                </a:path>
              </a:pathLst>
            </a:custGeom>
            <a:ln w="5270">
              <a:solidFill>
                <a:srgbClr val="231F20"/>
              </a:solidFill>
            </a:ln>
          </p:spPr>
          <p:txBody>
            <a:bodyPr wrap="square" lIns="0" tIns="0" rIns="0" bIns="0" rtlCol="0"/>
            <a:lstStyle/>
            <a:p>
              <a:endParaRPr/>
            </a:p>
          </p:txBody>
        </p:sp>
      </p:grpSp>
      <p:sp>
        <p:nvSpPr>
          <p:cNvPr id="36" name="object 36"/>
          <p:cNvSpPr txBox="1"/>
          <p:nvPr/>
        </p:nvSpPr>
        <p:spPr>
          <a:xfrm>
            <a:off x="1308823" y="1639817"/>
            <a:ext cx="274320" cy="220979"/>
          </a:xfrm>
          <a:prstGeom prst="rect">
            <a:avLst/>
          </a:prstGeom>
        </p:spPr>
        <p:txBody>
          <a:bodyPr vert="horz" wrap="square" lIns="0" tIns="21590" rIns="0" bIns="0" rtlCol="0">
            <a:spAutoFit/>
          </a:bodyPr>
          <a:lstStyle/>
          <a:p>
            <a:pPr marL="57150" marR="5080" indent="-45085">
              <a:lnSpc>
                <a:spcPts val="740"/>
              </a:lnSpc>
              <a:spcBef>
                <a:spcPts val="170"/>
              </a:spcBef>
            </a:pPr>
            <a:r>
              <a:rPr sz="650" spc="5" dirty="0">
                <a:solidFill>
                  <a:srgbClr val="231F20"/>
                </a:solidFill>
                <a:latin typeface="Arial"/>
                <a:cs typeface="Arial"/>
              </a:rPr>
              <a:t>Server  stub</a:t>
            </a:r>
            <a:endParaRPr sz="650">
              <a:latin typeface="Arial"/>
              <a:cs typeface="Arial"/>
            </a:endParaRPr>
          </a:p>
        </p:txBody>
      </p:sp>
      <p:grpSp>
        <p:nvGrpSpPr>
          <p:cNvPr id="37" name="object 37"/>
          <p:cNvGrpSpPr/>
          <p:nvPr/>
        </p:nvGrpSpPr>
        <p:grpSpPr>
          <a:xfrm>
            <a:off x="452092" y="960061"/>
            <a:ext cx="3782695" cy="1501140"/>
            <a:chOff x="452092" y="960061"/>
            <a:chExt cx="3782695" cy="1501140"/>
          </a:xfrm>
        </p:grpSpPr>
        <p:sp>
          <p:nvSpPr>
            <p:cNvPr id="38" name="object 38"/>
            <p:cNvSpPr/>
            <p:nvPr/>
          </p:nvSpPr>
          <p:spPr>
            <a:xfrm>
              <a:off x="644366" y="2217714"/>
              <a:ext cx="889000" cy="0"/>
            </a:xfrm>
            <a:custGeom>
              <a:avLst/>
              <a:gdLst/>
              <a:ahLst/>
              <a:cxnLst/>
              <a:rect l="l" t="t" r="r" b="b"/>
              <a:pathLst>
                <a:path w="889000">
                  <a:moveTo>
                    <a:pt x="0" y="0"/>
                  </a:moveTo>
                  <a:lnTo>
                    <a:pt x="888577" y="0"/>
                  </a:lnTo>
                </a:path>
              </a:pathLst>
            </a:custGeom>
            <a:ln w="10541">
              <a:solidFill>
                <a:srgbClr val="231F20"/>
              </a:solidFill>
            </a:ln>
          </p:spPr>
          <p:txBody>
            <a:bodyPr wrap="square" lIns="0" tIns="0" rIns="0" bIns="0" rtlCol="0"/>
            <a:lstStyle/>
            <a:p>
              <a:endParaRPr/>
            </a:p>
          </p:txBody>
        </p:sp>
        <p:sp>
          <p:nvSpPr>
            <p:cNvPr id="39" name="object 39"/>
            <p:cNvSpPr/>
            <p:nvPr/>
          </p:nvSpPr>
          <p:spPr>
            <a:xfrm>
              <a:off x="685563" y="2026910"/>
              <a:ext cx="803910" cy="191135"/>
            </a:xfrm>
            <a:custGeom>
              <a:avLst/>
              <a:gdLst/>
              <a:ahLst/>
              <a:cxnLst/>
              <a:rect l="l" t="t" r="r" b="b"/>
              <a:pathLst>
                <a:path w="803910" h="191135">
                  <a:moveTo>
                    <a:pt x="0" y="0"/>
                  </a:moveTo>
                  <a:lnTo>
                    <a:pt x="0" y="190804"/>
                  </a:lnTo>
                </a:path>
                <a:path w="803910" h="191135">
                  <a:moveTo>
                    <a:pt x="803504" y="1058"/>
                  </a:moveTo>
                  <a:lnTo>
                    <a:pt x="803504" y="190804"/>
                  </a:lnTo>
                </a:path>
              </a:pathLst>
            </a:custGeom>
            <a:ln w="9960">
              <a:solidFill>
                <a:srgbClr val="231F20"/>
              </a:solidFill>
            </a:ln>
          </p:spPr>
          <p:txBody>
            <a:bodyPr wrap="square" lIns="0" tIns="0" rIns="0" bIns="0" rtlCol="0"/>
            <a:lstStyle/>
            <a:p>
              <a:endParaRPr/>
            </a:p>
          </p:txBody>
        </p:sp>
        <p:sp>
          <p:nvSpPr>
            <p:cNvPr id="40" name="object 40"/>
            <p:cNvSpPr/>
            <p:nvPr/>
          </p:nvSpPr>
          <p:spPr>
            <a:xfrm>
              <a:off x="1694392" y="2165144"/>
              <a:ext cx="1270000" cy="293370"/>
            </a:xfrm>
            <a:custGeom>
              <a:avLst/>
              <a:gdLst/>
              <a:ahLst/>
              <a:cxnLst/>
              <a:rect l="l" t="t" r="r" b="b"/>
              <a:pathLst>
                <a:path w="1270000" h="293369">
                  <a:moveTo>
                    <a:pt x="718314" y="252025"/>
                  </a:moveTo>
                  <a:lnTo>
                    <a:pt x="760519" y="259114"/>
                  </a:lnTo>
                  <a:lnTo>
                    <a:pt x="781606" y="266617"/>
                  </a:lnTo>
                  <a:lnTo>
                    <a:pt x="796890" y="271906"/>
                  </a:lnTo>
                  <a:lnTo>
                    <a:pt x="821688" y="272351"/>
                  </a:lnTo>
                  <a:lnTo>
                    <a:pt x="871316" y="265324"/>
                  </a:lnTo>
                  <a:lnTo>
                    <a:pt x="901400" y="269727"/>
                  </a:lnTo>
                  <a:lnTo>
                    <a:pt x="930765" y="267173"/>
                  </a:lnTo>
                  <a:lnTo>
                    <a:pt x="954884" y="258847"/>
                  </a:lnTo>
                  <a:lnTo>
                    <a:pt x="969232" y="245935"/>
                  </a:lnTo>
                  <a:lnTo>
                    <a:pt x="1007930" y="246977"/>
                  </a:lnTo>
                  <a:lnTo>
                    <a:pt x="1040078" y="244793"/>
                  </a:lnTo>
                  <a:lnTo>
                    <a:pt x="1061284" y="238329"/>
                  </a:lnTo>
                  <a:lnTo>
                    <a:pt x="1067157" y="226532"/>
                  </a:lnTo>
                  <a:lnTo>
                    <a:pt x="1128054" y="232090"/>
                  </a:lnTo>
                  <a:lnTo>
                    <a:pt x="1178918" y="221173"/>
                  </a:lnTo>
                  <a:lnTo>
                    <a:pt x="1214050" y="199143"/>
                  </a:lnTo>
                  <a:lnTo>
                    <a:pt x="1227750" y="171365"/>
                  </a:lnTo>
                  <a:lnTo>
                    <a:pt x="1257881" y="150345"/>
                  </a:lnTo>
                  <a:lnTo>
                    <a:pt x="1269530" y="122612"/>
                  </a:lnTo>
                  <a:lnTo>
                    <a:pt x="1263921" y="93052"/>
                  </a:lnTo>
                  <a:lnTo>
                    <a:pt x="1242279" y="66548"/>
                  </a:lnTo>
                  <a:lnTo>
                    <a:pt x="1205829" y="47986"/>
                  </a:lnTo>
                  <a:lnTo>
                    <a:pt x="1155797" y="42250"/>
                  </a:lnTo>
                  <a:lnTo>
                    <a:pt x="1114593" y="24953"/>
                  </a:lnTo>
                  <a:lnTo>
                    <a:pt x="1060623" y="18197"/>
                  </a:lnTo>
                  <a:lnTo>
                    <a:pt x="1002141" y="20024"/>
                  </a:lnTo>
                  <a:lnTo>
                    <a:pt x="947397" y="28480"/>
                  </a:lnTo>
                  <a:lnTo>
                    <a:pt x="904643" y="41608"/>
                  </a:lnTo>
                  <a:lnTo>
                    <a:pt x="882131" y="57453"/>
                  </a:lnTo>
                  <a:lnTo>
                    <a:pt x="857190" y="34438"/>
                  </a:lnTo>
                  <a:lnTo>
                    <a:pt x="815233" y="16012"/>
                  </a:lnTo>
                  <a:lnTo>
                    <a:pt x="769750" y="8842"/>
                  </a:lnTo>
                  <a:lnTo>
                    <a:pt x="734231" y="19591"/>
                  </a:lnTo>
                  <a:lnTo>
                    <a:pt x="693649" y="9488"/>
                  </a:lnTo>
                  <a:lnTo>
                    <a:pt x="649361" y="10519"/>
                  </a:lnTo>
                  <a:lnTo>
                    <a:pt x="610134" y="21217"/>
                  </a:lnTo>
                  <a:lnTo>
                    <a:pt x="584738" y="40114"/>
                  </a:lnTo>
                  <a:lnTo>
                    <a:pt x="558184" y="21156"/>
                  </a:lnTo>
                  <a:lnTo>
                    <a:pt x="518891" y="7307"/>
                  </a:lnTo>
                  <a:lnTo>
                    <a:pt x="470998" y="0"/>
                  </a:lnTo>
                  <a:lnTo>
                    <a:pt x="418645" y="666"/>
                  </a:lnTo>
                  <a:lnTo>
                    <a:pt x="365970" y="10739"/>
                  </a:lnTo>
                  <a:lnTo>
                    <a:pt x="317113" y="31651"/>
                  </a:lnTo>
                  <a:lnTo>
                    <a:pt x="289083" y="29485"/>
                  </a:lnTo>
                  <a:lnTo>
                    <a:pt x="267565" y="31458"/>
                  </a:lnTo>
                  <a:lnTo>
                    <a:pt x="252015" y="36990"/>
                  </a:lnTo>
                  <a:lnTo>
                    <a:pt x="241892" y="45503"/>
                  </a:lnTo>
                  <a:lnTo>
                    <a:pt x="198617" y="34607"/>
                  </a:lnTo>
                  <a:lnTo>
                    <a:pt x="147632" y="35052"/>
                  </a:lnTo>
                  <a:lnTo>
                    <a:pt x="98707" y="46666"/>
                  </a:lnTo>
                  <a:lnTo>
                    <a:pt x="61612" y="69277"/>
                  </a:lnTo>
                  <a:lnTo>
                    <a:pt x="46114" y="102712"/>
                  </a:lnTo>
                  <a:lnTo>
                    <a:pt x="26406" y="108353"/>
                  </a:lnTo>
                  <a:lnTo>
                    <a:pt x="12534" y="120511"/>
                  </a:lnTo>
                  <a:lnTo>
                    <a:pt x="7255" y="135507"/>
                  </a:lnTo>
                  <a:lnTo>
                    <a:pt x="13321" y="149662"/>
                  </a:lnTo>
                  <a:lnTo>
                    <a:pt x="0" y="178333"/>
                  </a:lnTo>
                  <a:lnTo>
                    <a:pt x="6629" y="206376"/>
                  </a:lnTo>
                  <a:lnTo>
                    <a:pt x="31059" y="229960"/>
                  </a:lnTo>
                  <a:lnTo>
                    <a:pt x="71135" y="245259"/>
                  </a:lnTo>
                  <a:lnTo>
                    <a:pt x="124708" y="248442"/>
                  </a:lnTo>
                  <a:lnTo>
                    <a:pt x="145565" y="261043"/>
                  </a:lnTo>
                  <a:lnTo>
                    <a:pt x="169315" y="266937"/>
                  </a:lnTo>
                  <a:lnTo>
                    <a:pt x="195234" y="266147"/>
                  </a:lnTo>
                  <a:lnTo>
                    <a:pt x="222602" y="258695"/>
                  </a:lnTo>
                  <a:lnTo>
                    <a:pt x="262027" y="277473"/>
                  </a:lnTo>
                  <a:lnTo>
                    <a:pt x="305619" y="287557"/>
                  </a:lnTo>
                  <a:lnTo>
                    <a:pt x="350715" y="289305"/>
                  </a:lnTo>
                  <a:lnTo>
                    <a:pt x="394653" y="283072"/>
                  </a:lnTo>
                  <a:lnTo>
                    <a:pt x="434771" y="269215"/>
                  </a:lnTo>
                  <a:lnTo>
                    <a:pt x="479921" y="285774"/>
                  </a:lnTo>
                  <a:lnTo>
                    <a:pt x="534110" y="292750"/>
                  </a:lnTo>
                  <a:lnTo>
                    <a:pt x="591192" y="291502"/>
                  </a:lnTo>
                  <a:lnTo>
                    <a:pt x="645018" y="283391"/>
                  </a:lnTo>
                  <a:lnTo>
                    <a:pt x="689441" y="269779"/>
                  </a:lnTo>
                  <a:lnTo>
                    <a:pt x="718314" y="252025"/>
                  </a:lnTo>
                  <a:close/>
                </a:path>
              </a:pathLst>
            </a:custGeom>
            <a:ln w="5270">
              <a:solidFill>
                <a:srgbClr val="231F20"/>
              </a:solidFill>
            </a:ln>
          </p:spPr>
          <p:txBody>
            <a:bodyPr wrap="square" lIns="0" tIns="0" rIns="0" bIns="0" rtlCol="0"/>
            <a:lstStyle/>
            <a:p>
              <a:endParaRPr/>
            </a:p>
          </p:txBody>
        </p:sp>
        <p:sp>
          <p:nvSpPr>
            <p:cNvPr id="41" name="object 41"/>
            <p:cNvSpPr/>
            <p:nvPr/>
          </p:nvSpPr>
          <p:spPr>
            <a:xfrm>
              <a:off x="1867527" y="2027958"/>
              <a:ext cx="0" cy="170815"/>
            </a:xfrm>
            <a:custGeom>
              <a:avLst/>
              <a:gdLst/>
              <a:ahLst/>
              <a:cxnLst/>
              <a:rect l="l" t="t" r="r" b="b"/>
              <a:pathLst>
                <a:path h="170814">
                  <a:moveTo>
                    <a:pt x="0" y="0"/>
                  </a:moveTo>
                  <a:lnTo>
                    <a:pt x="0" y="170636"/>
                  </a:lnTo>
                </a:path>
              </a:pathLst>
            </a:custGeom>
            <a:ln w="10434">
              <a:solidFill>
                <a:srgbClr val="231F20"/>
              </a:solidFill>
            </a:ln>
          </p:spPr>
          <p:txBody>
            <a:bodyPr wrap="square" lIns="0" tIns="0" rIns="0" bIns="0" rtlCol="0"/>
            <a:lstStyle/>
            <a:p>
              <a:endParaRPr/>
            </a:p>
          </p:txBody>
        </p:sp>
        <p:sp>
          <p:nvSpPr>
            <p:cNvPr id="42" name="object 42"/>
            <p:cNvSpPr/>
            <p:nvPr/>
          </p:nvSpPr>
          <p:spPr>
            <a:xfrm>
              <a:off x="2731957" y="2027960"/>
              <a:ext cx="0" cy="155575"/>
            </a:xfrm>
            <a:custGeom>
              <a:avLst/>
              <a:gdLst/>
              <a:ahLst/>
              <a:cxnLst/>
              <a:rect l="l" t="t" r="r" b="b"/>
              <a:pathLst>
                <a:path h="155575">
                  <a:moveTo>
                    <a:pt x="0" y="0"/>
                  </a:moveTo>
                  <a:lnTo>
                    <a:pt x="0" y="155184"/>
                  </a:lnTo>
                </a:path>
              </a:pathLst>
            </a:custGeom>
            <a:ln w="10434">
              <a:solidFill>
                <a:srgbClr val="231F20"/>
              </a:solidFill>
            </a:ln>
          </p:spPr>
          <p:txBody>
            <a:bodyPr wrap="square" lIns="0" tIns="0" rIns="0" bIns="0" rtlCol="0"/>
            <a:lstStyle/>
            <a:p>
              <a:endParaRPr/>
            </a:p>
          </p:txBody>
        </p:sp>
        <p:sp>
          <p:nvSpPr>
            <p:cNvPr id="43" name="object 43"/>
            <p:cNvSpPr/>
            <p:nvPr/>
          </p:nvSpPr>
          <p:spPr>
            <a:xfrm>
              <a:off x="454949" y="1919948"/>
              <a:ext cx="272415" cy="403225"/>
            </a:xfrm>
            <a:custGeom>
              <a:avLst/>
              <a:gdLst/>
              <a:ahLst/>
              <a:cxnLst/>
              <a:rect l="l" t="t" r="r" b="b"/>
              <a:pathLst>
                <a:path w="272415" h="403225">
                  <a:moveTo>
                    <a:pt x="0" y="403180"/>
                  </a:moveTo>
                  <a:lnTo>
                    <a:pt x="272118" y="0"/>
                  </a:lnTo>
                </a:path>
              </a:pathLst>
            </a:custGeom>
            <a:ln w="5125">
              <a:solidFill>
                <a:srgbClr val="231F20"/>
              </a:solidFill>
            </a:ln>
          </p:spPr>
          <p:txBody>
            <a:bodyPr wrap="square" lIns="0" tIns="0" rIns="0" bIns="0" rtlCol="0"/>
            <a:lstStyle/>
            <a:p>
              <a:endParaRPr/>
            </a:p>
          </p:txBody>
        </p:sp>
        <p:sp>
          <p:nvSpPr>
            <p:cNvPr id="44" name="object 44"/>
            <p:cNvSpPr/>
            <p:nvPr/>
          </p:nvSpPr>
          <p:spPr>
            <a:xfrm>
              <a:off x="490501" y="962918"/>
              <a:ext cx="1847850" cy="558165"/>
            </a:xfrm>
            <a:custGeom>
              <a:avLst/>
              <a:gdLst/>
              <a:ahLst/>
              <a:cxnLst/>
              <a:rect l="l" t="t" r="r" b="b"/>
              <a:pathLst>
                <a:path w="1847850" h="558165">
                  <a:moveTo>
                    <a:pt x="1235490" y="21219"/>
                  </a:moveTo>
                  <a:lnTo>
                    <a:pt x="1360749" y="188620"/>
                  </a:lnTo>
                </a:path>
                <a:path w="1847850" h="558165">
                  <a:moveTo>
                    <a:pt x="0" y="21219"/>
                  </a:moveTo>
                  <a:lnTo>
                    <a:pt x="43123" y="138550"/>
                  </a:lnTo>
                </a:path>
                <a:path w="1847850" h="558165">
                  <a:moveTo>
                    <a:pt x="1759346" y="0"/>
                  </a:moveTo>
                  <a:lnTo>
                    <a:pt x="1847787" y="270596"/>
                  </a:lnTo>
                  <a:lnTo>
                    <a:pt x="1756829" y="441870"/>
                  </a:lnTo>
                  <a:lnTo>
                    <a:pt x="1610962" y="531598"/>
                  </a:lnTo>
                  <a:lnTo>
                    <a:pt x="1534675" y="557557"/>
                  </a:lnTo>
                </a:path>
              </a:pathLst>
            </a:custGeom>
            <a:ln w="5270">
              <a:solidFill>
                <a:srgbClr val="231F20"/>
              </a:solidFill>
            </a:ln>
          </p:spPr>
          <p:txBody>
            <a:bodyPr wrap="square" lIns="0" tIns="0" rIns="0" bIns="0" rtlCol="0"/>
            <a:lstStyle/>
            <a:p>
              <a:endParaRPr/>
            </a:p>
          </p:txBody>
        </p:sp>
        <p:sp>
          <p:nvSpPr>
            <p:cNvPr id="45" name="object 45"/>
            <p:cNvSpPr/>
            <p:nvPr/>
          </p:nvSpPr>
          <p:spPr>
            <a:xfrm>
              <a:off x="726664" y="1880698"/>
              <a:ext cx="721360" cy="295275"/>
            </a:xfrm>
            <a:custGeom>
              <a:avLst/>
              <a:gdLst/>
              <a:ahLst/>
              <a:cxnLst/>
              <a:rect l="l" t="t" r="r" b="b"/>
              <a:pathLst>
                <a:path w="721360" h="295275">
                  <a:moveTo>
                    <a:pt x="0" y="0"/>
                  </a:moveTo>
                  <a:lnTo>
                    <a:pt x="2367" y="231593"/>
                  </a:lnTo>
                  <a:lnTo>
                    <a:pt x="12250" y="268159"/>
                  </a:lnTo>
                  <a:lnTo>
                    <a:pt x="33992" y="286937"/>
                  </a:lnTo>
                  <a:lnTo>
                    <a:pt x="55734" y="293855"/>
                  </a:lnTo>
                  <a:lnTo>
                    <a:pt x="65617" y="294843"/>
                  </a:lnTo>
                </a:path>
                <a:path w="721360" h="295275">
                  <a:moveTo>
                    <a:pt x="721192" y="37375"/>
                  </a:moveTo>
                  <a:lnTo>
                    <a:pt x="719199" y="231593"/>
                  </a:lnTo>
                  <a:lnTo>
                    <a:pt x="709317" y="268159"/>
                  </a:lnTo>
                  <a:lnTo>
                    <a:pt x="687577" y="286937"/>
                  </a:lnTo>
                  <a:lnTo>
                    <a:pt x="665836" y="293855"/>
                  </a:lnTo>
                  <a:lnTo>
                    <a:pt x="655954" y="294843"/>
                  </a:lnTo>
                </a:path>
              </a:pathLst>
            </a:custGeom>
            <a:ln w="5270">
              <a:solidFill>
                <a:srgbClr val="231F20"/>
              </a:solidFill>
            </a:ln>
          </p:spPr>
          <p:txBody>
            <a:bodyPr wrap="square" lIns="0" tIns="0" rIns="0" bIns="0" rtlCol="0"/>
            <a:lstStyle/>
            <a:p>
              <a:endParaRPr/>
            </a:p>
          </p:txBody>
        </p:sp>
        <p:pic>
          <p:nvPicPr>
            <p:cNvPr id="46" name="object 46"/>
            <p:cNvPicPr/>
            <p:nvPr/>
          </p:nvPicPr>
          <p:blipFill>
            <a:blip r:embed="rId7" cstate="print"/>
            <a:stretch>
              <a:fillRect/>
            </a:stretch>
          </p:blipFill>
          <p:spPr>
            <a:xfrm>
              <a:off x="1415601" y="1880698"/>
              <a:ext cx="63751" cy="74697"/>
            </a:xfrm>
            <a:prstGeom prst="rect">
              <a:avLst/>
            </a:prstGeom>
          </p:spPr>
        </p:pic>
        <p:sp>
          <p:nvSpPr>
            <p:cNvPr id="47" name="object 47"/>
            <p:cNvSpPr/>
            <p:nvPr/>
          </p:nvSpPr>
          <p:spPr>
            <a:xfrm>
              <a:off x="792282" y="1859085"/>
              <a:ext cx="1033144" cy="316865"/>
            </a:xfrm>
            <a:custGeom>
              <a:avLst/>
              <a:gdLst/>
              <a:ahLst/>
              <a:cxnLst/>
              <a:rect l="l" t="t" r="r" b="b"/>
              <a:pathLst>
                <a:path w="1033144" h="316864">
                  <a:moveTo>
                    <a:pt x="0" y="316456"/>
                  </a:moveTo>
                  <a:lnTo>
                    <a:pt x="590337" y="316456"/>
                  </a:lnTo>
                </a:path>
                <a:path w="1033144" h="316864">
                  <a:moveTo>
                    <a:pt x="963360" y="0"/>
                  </a:moveTo>
                  <a:lnTo>
                    <a:pt x="982637" y="43527"/>
                  </a:lnTo>
                  <a:lnTo>
                    <a:pt x="1001430" y="84364"/>
                  </a:lnTo>
                  <a:lnTo>
                    <a:pt x="1017557" y="126324"/>
                  </a:lnTo>
                  <a:lnTo>
                    <a:pt x="1028834" y="173223"/>
                  </a:lnTo>
                  <a:lnTo>
                    <a:pt x="1033079" y="228875"/>
                  </a:lnTo>
                  <a:lnTo>
                    <a:pt x="1033079" y="306805"/>
                  </a:lnTo>
                </a:path>
              </a:pathLst>
            </a:custGeom>
            <a:ln w="5270">
              <a:solidFill>
                <a:srgbClr val="231F20"/>
              </a:solidFill>
            </a:ln>
          </p:spPr>
          <p:txBody>
            <a:bodyPr wrap="square" lIns="0" tIns="0" rIns="0" bIns="0" rtlCol="0"/>
            <a:lstStyle/>
            <a:p>
              <a:endParaRPr/>
            </a:p>
          </p:txBody>
        </p:sp>
        <p:pic>
          <p:nvPicPr>
            <p:cNvPr id="48" name="object 48"/>
            <p:cNvPicPr/>
            <p:nvPr/>
          </p:nvPicPr>
          <p:blipFill>
            <a:blip r:embed="rId8" cstate="print"/>
            <a:stretch>
              <a:fillRect/>
            </a:stretch>
          </p:blipFill>
          <p:spPr>
            <a:xfrm>
              <a:off x="1793496" y="2128893"/>
              <a:ext cx="63751" cy="74380"/>
            </a:xfrm>
            <a:prstGeom prst="rect">
              <a:avLst/>
            </a:prstGeom>
          </p:spPr>
        </p:pic>
        <p:sp>
          <p:nvSpPr>
            <p:cNvPr id="49" name="object 49"/>
            <p:cNvSpPr/>
            <p:nvPr/>
          </p:nvSpPr>
          <p:spPr>
            <a:xfrm>
              <a:off x="1909700" y="1859295"/>
              <a:ext cx="73660" cy="307340"/>
            </a:xfrm>
            <a:custGeom>
              <a:avLst/>
              <a:gdLst/>
              <a:ahLst/>
              <a:cxnLst/>
              <a:rect l="l" t="t" r="r" b="b"/>
              <a:pathLst>
                <a:path w="73660" h="307339">
                  <a:moveTo>
                    <a:pt x="73281" y="0"/>
                  </a:moveTo>
                  <a:lnTo>
                    <a:pt x="52415" y="42444"/>
                  </a:lnTo>
                  <a:lnTo>
                    <a:pt x="32586" y="83144"/>
                  </a:lnTo>
                  <a:lnTo>
                    <a:pt x="15861" y="125510"/>
                  </a:lnTo>
                  <a:lnTo>
                    <a:pt x="4310" y="172949"/>
                  </a:lnTo>
                  <a:lnTo>
                    <a:pt x="0" y="228871"/>
                  </a:lnTo>
                  <a:lnTo>
                    <a:pt x="0" y="306804"/>
                  </a:lnTo>
                </a:path>
              </a:pathLst>
            </a:custGeom>
            <a:ln w="5270">
              <a:solidFill>
                <a:srgbClr val="231F20"/>
              </a:solidFill>
            </a:ln>
          </p:spPr>
          <p:txBody>
            <a:bodyPr wrap="square" lIns="0" tIns="0" rIns="0" bIns="0" rtlCol="0"/>
            <a:lstStyle/>
            <a:p>
              <a:endParaRPr/>
            </a:p>
          </p:txBody>
        </p:sp>
        <p:pic>
          <p:nvPicPr>
            <p:cNvPr id="50" name="object 50"/>
            <p:cNvPicPr/>
            <p:nvPr/>
          </p:nvPicPr>
          <p:blipFill>
            <a:blip r:embed="rId9" cstate="print"/>
            <a:stretch>
              <a:fillRect/>
            </a:stretch>
          </p:blipFill>
          <p:spPr>
            <a:xfrm>
              <a:off x="1877824" y="2129100"/>
              <a:ext cx="63751" cy="74375"/>
            </a:xfrm>
            <a:prstGeom prst="rect">
              <a:avLst/>
            </a:prstGeom>
          </p:spPr>
        </p:pic>
        <p:sp>
          <p:nvSpPr>
            <p:cNvPr id="51" name="object 51"/>
            <p:cNvSpPr/>
            <p:nvPr/>
          </p:nvSpPr>
          <p:spPr>
            <a:xfrm>
              <a:off x="3069277" y="2218772"/>
              <a:ext cx="887730" cy="0"/>
            </a:xfrm>
            <a:custGeom>
              <a:avLst/>
              <a:gdLst/>
              <a:ahLst/>
              <a:cxnLst/>
              <a:rect l="l" t="t" r="r" b="b"/>
              <a:pathLst>
                <a:path w="887729">
                  <a:moveTo>
                    <a:pt x="0" y="0"/>
                  </a:moveTo>
                  <a:lnTo>
                    <a:pt x="887193" y="0"/>
                  </a:lnTo>
                </a:path>
              </a:pathLst>
            </a:custGeom>
            <a:ln w="10541">
              <a:solidFill>
                <a:srgbClr val="231F20"/>
              </a:solidFill>
            </a:ln>
          </p:spPr>
          <p:txBody>
            <a:bodyPr wrap="square" lIns="0" tIns="0" rIns="0" bIns="0" rtlCol="0"/>
            <a:lstStyle/>
            <a:p>
              <a:endParaRPr/>
            </a:p>
          </p:txBody>
        </p:sp>
        <p:sp>
          <p:nvSpPr>
            <p:cNvPr id="52" name="object 52"/>
            <p:cNvSpPr/>
            <p:nvPr/>
          </p:nvSpPr>
          <p:spPr>
            <a:xfrm>
              <a:off x="3110424" y="2027958"/>
              <a:ext cx="802640" cy="191135"/>
            </a:xfrm>
            <a:custGeom>
              <a:avLst/>
              <a:gdLst/>
              <a:ahLst/>
              <a:cxnLst/>
              <a:rect l="l" t="t" r="r" b="b"/>
              <a:pathLst>
                <a:path w="802639" h="191135">
                  <a:moveTo>
                    <a:pt x="0" y="0"/>
                  </a:moveTo>
                  <a:lnTo>
                    <a:pt x="0" y="190808"/>
                  </a:lnTo>
                </a:path>
                <a:path w="802639" h="191135">
                  <a:moveTo>
                    <a:pt x="802241" y="1054"/>
                  </a:moveTo>
                  <a:lnTo>
                    <a:pt x="802241" y="190808"/>
                  </a:lnTo>
                </a:path>
              </a:pathLst>
            </a:custGeom>
            <a:ln w="9855">
              <a:solidFill>
                <a:srgbClr val="231F20"/>
              </a:solidFill>
            </a:ln>
          </p:spPr>
          <p:txBody>
            <a:bodyPr wrap="square" lIns="0" tIns="0" rIns="0" bIns="0" rtlCol="0"/>
            <a:lstStyle/>
            <a:p>
              <a:endParaRPr/>
            </a:p>
          </p:txBody>
        </p:sp>
        <p:sp>
          <p:nvSpPr>
            <p:cNvPr id="53" name="object 53"/>
            <p:cNvSpPr/>
            <p:nvPr/>
          </p:nvSpPr>
          <p:spPr>
            <a:xfrm>
              <a:off x="3512016" y="1058127"/>
              <a:ext cx="716915" cy="970280"/>
            </a:xfrm>
            <a:custGeom>
              <a:avLst/>
              <a:gdLst/>
              <a:ahLst/>
              <a:cxnLst/>
              <a:rect l="l" t="t" r="r" b="b"/>
              <a:pathLst>
                <a:path w="716914" h="970280">
                  <a:moveTo>
                    <a:pt x="716827" y="0"/>
                  </a:moveTo>
                  <a:lnTo>
                    <a:pt x="0" y="0"/>
                  </a:lnTo>
                  <a:lnTo>
                    <a:pt x="0" y="969832"/>
                  </a:lnTo>
                  <a:lnTo>
                    <a:pt x="716827" y="969832"/>
                  </a:lnTo>
                  <a:lnTo>
                    <a:pt x="716827" y="0"/>
                  </a:lnTo>
                  <a:close/>
                </a:path>
              </a:pathLst>
            </a:custGeom>
            <a:ln w="5116">
              <a:solidFill>
                <a:srgbClr val="231F20"/>
              </a:solidFill>
            </a:ln>
          </p:spPr>
          <p:txBody>
            <a:bodyPr wrap="square" lIns="0" tIns="0" rIns="0" bIns="0" rtlCol="0"/>
            <a:lstStyle/>
            <a:p>
              <a:endParaRPr/>
            </a:p>
          </p:txBody>
        </p:sp>
        <p:sp>
          <p:nvSpPr>
            <p:cNvPr id="54" name="object 54"/>
            <p:cNvSpPr/>
            <p:nvPr/>
          </p:nvSpPr>
          <p:spPr>
            <a:xfrm>
              <a:off x="3554201" y="1100818"/>
              <a:ext cx="633095" cy="758825"/>
            </a:xfrm>
            <a:custGeom>
              <a:avLst/>
              <a:gdLst/>
              <a:ahLst/>
              <a:cxnLst/>
              <a:rect l="l" t="t" r="r" b="b"/>
              <a:pathLst>
                <a:path w="633095" h="758825">
                  <a:moveTo>
                    <a:pt x="0" y="0"/>
                  </a:moveTo>
                  <a:lnTo>
                    <a:pt x="0" y="758793"/>
                  </a:lnTo>
                  <a:lnTo>
                    <a:pt x="632490" y="758793"/>
                  </a:lnTo>
                  <a:lnTo>
                    <a:pt x="632490" y="0"/>
                  </a:lnTo>
                  <a:lnTo>
                    <a:pt x="0" y="0"/>
                  </a:lnTo>
                  <a:close/>
                </a:path>
              </a:pathLst>
            </a:custGeom>
            <a:ln w="5560">
              <a:solidFill>
                <a:srgbClr val="231F20"/>
              </a:solidFill>
            </a:ln>
          </p:spPr>
          <p:txBody>
            <a:bodyPr wrap="square" lIns="0" tIns="0" rIns="0" bIns="0" rtlCol="0"/>
            <a:lstStyle/>
            <a:p>
              <a:endParaRPr/>
            </a:p>
          </p:txBody>
        </p:sp>
        <p:sp>
          <p:nvSpPr>
            <p:cNvPr id="55" name="object 55"/>
            <p:cNvSpPr/>
            <p:nvPr/>
          </p:nvSpPr>
          <p:spPr>
            <a:xfrm>
              <a:off x="3685441" y="1648465"/>
              <a:ext cx="375285" cy="211454"/>
            </a:xfrm>
            <a:custGeom>
              <a:avLst/>
              <a:gdLst/>
              <a:ahLst/>
              <a:cxnLst/>
              <a:rect l="l" t="t" r="r" b="b"/>
              <a:pathLst>
                <a:path w="375285" h="211455">
                  <a:moveTo>
                    <a:pt x="0" y="0"/>
                  </a:moveTo>
                  <a:lnTo>
                    <a:pt x="0" y="211148"/>
                  </a:lnTo>
                  <a:lnTo>
                    <a:pt x="374762" y="211148"/>
                  </a:lnTo>
                  <a:lnTo>
                    <a:pt x="374762" y="0"/>
                  </a:lnTo>
                  <a:lnTo>
                    <a:pt x="0" y="0"/>
                  </a:lnTo>
                  <a:close/>
                </a:path>
              </a:pathLst>
            </a:custGeom>
            <a:ln w="5759">
              <a:solidFill>
                <a:srgbClr val="231F20"/>
              </a:solidFill>
            </a:ln>
          </p:spPr>
          <p:txBody>
            <a:bodyPr wrap="square" lIns="0" tIns="0" rIns="0" bIns="0" rtlCol="0"/>
            <a:lstStyle/>
            <a:p>
              <a:endParaRPr/>
            </a:p>
          </p:txBody>
        </p:sp>
        <p:sp>
          <p:nvSpPr>
            <p:cNvPr id="56" name="object 56"/>
            <p:cNvSpPr/>
            <p:nvPr/>
          </p:nvSpPr>
          <p:spPr>
            <a:xfrm>
              <a:off x="3900642" y="1491887"/>
              <a:ext cx="66040" cy="125095"/>
            </a:xfrm>
            <a:custGeom>
              <a:avLst/>
              <a:gdLst/>
              <a:ahLst/>
              <a:cxnLst/>
              <a:rect l="l" t="t" r="r" b="b"/>
              <a:pathLst>
                <a:path w="66039" h="125094">
                  <a:moveTo>
                    <a:pt x="65501" y="0"/>
                  </a:moveTo>
                  <a:lnTo>
                    <a:pt x="0" y="124754"/>
                  </a:lnTo>
                </a:path>
              </a:pathLst>
            </a:custGeom>
            <a:ln w="5270">
              <a:solidFill>
                <a:srgbClr val="231F20"/>
              </a:solidFill>
            </a:ln>
          </p:spPr>
          <p:txBody>
            <a:bodyPr wrap="square" lIns="0" tIns="0" rIns="0" bIns="0" rtlCol="0"/>
            <a:lstStyle/>
            <a:p>
              <a:endParaRPr/>
            </a:p>
          </p:txBody>
        </p:sp>
        <p:sp>
          <p:nvSpPr>
            <p:cNvPr id="57" name="object 57"/>
            <p:cNvSpPr/>
            <p:nvPr/>
          </p:nvSpPr>
          <p:spPr>
            <a:xfrm>
              <a:off x="3512037" y="1859613"/>
              <a:ext cx="716915" cy="168910"/>
            </a:xfrm>
            <a:custGeom>
              <a:avLst/>
              <a:gdLst/>
              <a:ahLst/>
              <a:cxnLst/>
              <a:rect l="l" t="t" r="r" b="b"/>
              <a:pathLst>
                <a:path w="716914" h="168910">
                  <a:moveTo>
                    <a:pt x="716833" y="0"/>
                  </a:moveTo>
                  <a:lnTo>
                    <a:pt x="0" y="0"/>
                  </a:lnTo>
                  <a:lnTo>
                    <a:pt x="0" y="168347"/>
                  </a:lnTo>
                  <a:lnTo>
                    <a:pt x="716833" y="168347"/>
                  </a:lnTo>
                  <a:lnTo>
                    <a:pt x="716833" y="0"/>
                  </a:lnTo>
                  <a:close/>
                </a:path>
              </a:pathLst>
            </a:custGeom>
            <a:solidFill>
              <a:srgbClr val="FFFFFF"/>
            </a:solidFill>
          </p:spPr>
          <p:txBody>
            <a:bodyPr wrap="square" lIns="0" tIns="0" rIns="0" bIns="0" rtlCol="0"/>
            <a:lstStyle/>
            <a:p>
              <a:endParaRPr/>
            </a:p>
          </p:txBody>
        </p:sp>
        <p:sp>
          <p:nvSpPr>
            <p:cNvPr id="58" name="object 58"/>
            <p:cNvSpPr/>
            <p:nvPr/>
          </p:nvSpPr>
          <p:spPr>
            <a:xfrm>
              <a:off x="3512037" y="1859613"/>
              <a:ext cx="716915" cy="168910"/>
            </a:xfrm>
            <a:custGeom>
              <a:avLst/>
              <a:gdLst/>
              <a:ahLst/>
              <a:cxnLst/>
              <a:rect l="l" t="t" r="r" b="b"/>
              <a:pathLst>
                <a:path w="716914" h="168910">
                  <a:moveTo>
                    <a:pt x="0" y="168347"/>
                  </a:moveTo>
                  <a:lnTo>
                    <a:pt x="716833" y="168347"/>
                  </a:lnTo>
                  <a:lnTo>
                    <a:pt x="716833" y="0"/>
                  </a:lnTo>
                  <a:lnTo>
                    <a:pt x="0" y="0"/>
                  </a:lnTo>
                  <a:lnTo>
                    <a:pt x="0" y="168347"/>
                  </a:lnTo>
                  <a:close/>
                </a:path>
              </a:pathLst>
            </a:custGeom>
            <a:ln w="5270">
              <a:solidFill>
                <a:srgbClr val="231F20"/>
              </a:solidFill>
            </a:ln>
          </p:spPr>
          <p:txBody>
            <a:bodyPr wrap="square" lIns="0" tIns="0" rIns="0" bIns="0" rtlCol="0"/>
            <a:lstStyle/>
            <a:p>
              <a:endParaRPr/>
            </a:p>
          </p:txBody>
        </p:sp>
        <p:sp>
          <p:nvSpPr>
            <p:cNvPr id="59" name="object 59"/>
            <p:cNvSpPr/>
            <p:nvPr/>
          </p:nvSpPr>
          <p:spPr>
            <a:xfrm>
              <a:off x="3512037" y="1058126"/>
              <a:ext cx="716915" cy="970280"/>
            </a:xfrm>
            <a:custGeom>
              <a:avLst/>
              <a:gdLst/>
              <a:ahLst/>
              <a:cxnLst/>
              <a:rect l="l" t="t" r="r" b="b"/>
              <a:pathLst>
                <a:path w="716914" h="970280">
                  <a:moveTo>
                    <a:pt x="0" y="969834"/>
                  </a:moveTo>
                  <a:lnTo>
                    <a:pt x="716833" y="969834"/>
                  </a:lnTo>
                  <a:lnTo>
                    <a:pt x="716833" y="0"/>
                  </a:lnTo>
                  <a:lnTo>
                    <a:pt x="0" y="0"/>
                  </a:lnTo>
                  <a:lnTo>
                    <a:pt x="0" y="969834"/>
                  </a:lnTo>
                  <a:close/>
                </a:path>
              </a:pathLst>
            </a:custGeom>
            <a:ln w="10541">
              <a:solidFill>
                <a:srgbClr val="231F20"/>
              </a:solidFill>
            </a:ln>
          </p:spPr>
          <p:txBody>
            <a:bodyPr wrap="square" lIns="0" tIns="0" rIns="0" bIns="0" rtlCol="0"/>
            <a:lstStyle/>
            <a:p>
              <a:endParaRPr/>
            </a:p>
          </p:txBody>
        </p:sp>
        <p:sp>
          <p:nvSpPr>
            <p:cNvPr id="60" name="object 60"/>
            <p:cNvSpPr/>
            <p:nvPr/>
          </p:nvSpPr>
          <p:spPr>
            <a:xfrm>
              <a:off x="3851742" y="1838530"/>
              <a:ext cx="42545" cy="42545"/>
            </a:xfrm>
            <a:custGeom>
              <a:avLst/>
              <a:gdLst/>
              <a:ahLst/>
              <a:cxnLst/>
              <a:rect l="l" t="t" r="r" b="b"/>
              <a:pathLst>
                <a:path w="42545" h="42544">
                  <a:moveTo>
                    <a:pt x="21081" y="0"/>
                  </a:moveTo>
                  <a:lnTo>
                    <a:pt x="12874" y="1656"/>
                  </a:lnTo>
                  <a:lnTo>
                    <a:pt x="6173" y="6174"/>
                  </a:lnTo>
                  <a:lnTo>
                    <a:pt x="1656" y="12875"/>
                  </a:lnTo>
                  <a:lnTo>
                    <a:pt x="0" y="21081"/>
                  </a:lnTo>
                  <a:lnTo>
                    <a:pt x="1656" y="29289"/>
                  </a:lnTo>
                  <a:lnTo>
                    <a:pt x="6173" y="35991"/>
                  </a:lnTo>
                  <a:lnTo>
                    <a:pt x="12874" y="40511"/>
                  </a:lnTo>
                  <a:lnTo>
                    <a:pt x="21081" y="42168"/>
                  </a:lnTo>
                  <a:lnTo>
                    <a:pt x="29285" y="40511"/>
                  </a:lnTo>
                  <a:lnTo>
                    <a:pt x="35986" y="35991"/>
                  </a:lnTo>
                  <a:lnTo>
                    <a:pt x="40506" y="29289"/>
                  </a:lnTo>
                  <a:lnTo>
                    <a:pt x="42163" y="21081"/>
                  </a:lnTo>
                  <a:lnTo>
                    <a:pt x="40506" y="12875"/>
                  </a:lnTo>
                  <a:lnTo>
                    <a:pt x="35986" y="6174"/>
                  </a:lnTo>
                  <a:lnTo>
                    <a:pt x="29285" y="1656"/>
                  </a:lnTo>
                  <a:lnTo>
                    <a:pt x="21081" y="0"/>
                  </a:lnTo>
                  <a:close/>
                </a:path>
              </a:pathLst>
            </a:custGeom>
            <a:solidFill>
              <a:srgbClr val="FFFFFF"/>
            </a:solidFill>
          </p:spPr>
          <p:txBody>
            <a:bodyPr wrap="square" lIns="0" tIns="0" rIns="0" bIns="0" rtlCol="0"/>
            <a:lstStyle/>
            <a:p>
              <a:endParaRPr/>
            </a:p>
          </p:txBody>
        </p:sp>
        <p:sp>
          <p:nvSpPr>
            <p:cNvPr id="61" name="object 61"/>
            <p:cNvSpPr/>
            <p:nvPr/>
          </p:nvSpPr>
          <p:spPr>
            <a:xfrm>
              <a:off x="3851742" y="1838530"/>
              <a:ext cx="42545" cy="42545"/>
            </a:xfrm>
            <a:custGeom>
              <a:avLst/>
              <a:gdLst/>
              <a:ahLst/>
              <a:cxnLst/>
              <a:rect l="l" t="t" r="r" b="b"/>
              <a:pathLst>
                <a:path w="42545" h="42544">
                  <a:moveTo>
                    <a:pt x="21081" y="0"/>
                  </a:moveTo>
                  <a:lnTo>
                    <a:pt x="12874" y="1656"/>
                  </a:lnTo>
                  <a:lnTo>
                    <a:pt x="6173" y="6174"/>
                  </a:lnTo>
                  <a:lnTo>
                    <a:pt x="1656" y="12875"/>
                  </a:lnTo>
                  <a:lnTo>
                    <a:pt x="0" y="21081"/>
                  </a:lnTo>
                  <a:lnTo>
                    <a:pt x="1656" y="29289"/>
                  </a:lnTo>
                  <a:lnTo>
                    <a:pt x="6173" y="35991"/>
                  </a:lnTo>
                  <a:lnTo>
                    <a:pt x="12874" y="40511"/>
                  </a:lnTo>
                  <a:lnTo>
                    <a:pt x="21081" y="42168"/>
                  </a:lnTo>
                  <a:lnTo>
                    <a:pt x="29285" y="40511"/>
                  </a:lnTo>
                  <a:lnTo>
                    <a:pt x="35986" y="35991"/>
                  </a:lnTo>
                  <a:lnTo>
                    <a:pt x="40506" y="29289"/>
                  </a:lnTo>
                  <a:lnTo>
                    <a:pt x="42163" y="21081"/>
                  </a:lnTo>
                  <a:lnTo>
                    <a:pt x="40506" y="12875"/>
                  </a:lnTo>
                  <a:lnTo>
                    <a:pt x="35986" y="6174"/>
                  </a:lnTo>
                  <a:lnTo>
                    <a:pt x="29285" y="1656"/>
                  </a:lnTo>
                  <a:lnTo>
                    <a:pt x="21081" y="0"/>
                  </a:lnTo>
                  <a:close/>
                </a:path>
              </a:pathLst>
            </a:custGeom>
            <a:ln w="5270">
              <a:solidFill>
                <a:srgbClr val="231F20"/>
              </a:solidFill>
            </a:ln>
          </p:spPr>
          <p:txBody>
            <a:bodyPr wrap="square" lIns="0" tIns="0" rIns="0" bIns="0" rtlCol="0"/>
            <a:lstStyle/>
            <a:p>
              <a:endParaRPr/>
            </a:p>
          </p:txBody>
        </p:sp>
        <p:sp>
          <p:nvSpPr>
            <p:cNvPr id="62" name="object 62"/>
            <p:cNvSpPr/>
            <p:nvPr/>
          </p:nvSpPr>
          <p:spPr>
            <a:xfrm>
              <a:off x="3799027" y="1616840"/>
              <a:ext cx="147955" cy="63500"/>
            </a:xfrm>
            <a:custGeom>
              <a:avLst/>
              <a:gdLst/>
              <a:ahLst/>
              <a:cxnLst/>
              <a:rect l="l" t="t" r="r" b="b"/>
              <a:pathLst>
                <a:path w="147954" h="63500">
                  <a:moveTo>
                    <a:pt x="147582" y="0"/>
                  </a:moveTo>
                  <a:lnTo>
                    <a:pt x="0" y="0"/>
                  </a:lnTo>
                  <a:lnTo>
                    <a:pt x="0" y="63250"/>
                  </a:lnTo>
                  <a:lnTo>
                    <a:pt x="147582" y="63250"/>
                  </a:lnTo>
                  <a:lnTo>
                    <a:pt x="147582" y="0"/>
                  </a:lnTo>
                  <a:close/>
                </a:path>
              </a:pathLst>
            </a:custGeom>
            <a:solidFill>
              <a:srgbClr val="FFFFFF"/>
            </a:solidFill>
          </p:spPr>
          <p:txBody>
            <a:bodyPr wrap="square" lIns="0" tIns="0" rIns="0" bIns="0" rtlCol="0"/>
            <a:lstStyle/>
            <a:p>
              <a:endParaRPr/>
            </a:p>
          </p:txBody>
        </p:sp>
        <p:sp>
          <p:nvSpPr>
            <p:cNvPr id="63" name="object 63"/>
            <p:cNvSpPr/>
            <p:nvPr/>
          </p:nvSpPr>
          <p:spPr>
            <a:xfrm>
              <a:off x="2415699" y="1058126"/>
              <a:ext cx="1530985" cy="970280"/>
            </a:xfrm>
            <a:custGeom>
              <a:avLst/>
              <a:gdLst/>
              <a:ahLst/>
              <a:cxnLst/>
              <a:rect l="l" t="t" r="r" b="b"/>
              <a:pathLst>
                <a:path w="1530985" h="970280">
                  <a:moveTo>
                    <a:pt x="1383327" y="621964"/>
                  </a:moveTo>
                  <a:lnTo>
                    <a:pt x="1530909" y="621964"/>
                  </a:lnTo>
                  <a:lnTo>
                    <a:pt x="1530909" y="558714"/>
                  </a:lnTo>
                  <a:lnTo>
                    <a:pt x="1383327" y="558714"/>
                  </a:lnTo>
                  <a:lnTo>
                    <a:pt x="1383327" y="621964"/>
                  </a:lnTo>
                  <a:close/>
                </a:path>
                <a:path w="1530985" h="970280">
                  <a:moveTo>
                    <a:pt x="0" y="969834"/>
                  </a:moveTo>
                  <a:lnTo>
                    <a:pt x="1012002" y="969834"/>
                  </a:lnTo>
                  <a:lnTo>
                    <a:pt x="1012002" y="0"/>
                  </a:lnTo>
                  <a:lnTo>
                    <a:pt x="0" y="0"/>
                  </a:lnTo>
                  <a:lnTo>
                    <a:pt x="0" y="969834"/>
                  </a:lnTo>
                  <a:close/>
                </a:path>
              </a:pathLst>
            </a:custGeom>
            <a:ln w="5270">
              <a:solidFill>
                <a:srgbClr val="231F20"/>
              </a:solidFill>
            </a:ln>
          </p:spPr>
          <p:txBody>
            <a:bodyPr wrap="square" lIns="0" tIns="0" rIns="0" bIns="0" rtlCol="0"/>
            <a:lstStyle/>
            <a:p>
              <a:endParaRPr/>
            </a:p>
          </p:txBody>
        </p:sp>
        <p:sp>
          <p:nvSpPr>
            <p:cNvPr id="64" name="object 64"/>
            <p:cNvSpPr/>
            <p:nvPr/>
          </p:nvSpPr>
          <p:spPr>
            <a:xfrm>
              <a:off x="2457874" y="1100298"/>
              <a:ext cx="927735" cy="758825"/>
            </a:xfrm>
            <a:custGeom>
              <a:avLst/>
              <a:gdLst/>
              <a:ahLst/>
              <a:cxnLst/>
              <a:rect l="l" t="t" r="r" b="b"/>
              <a:pathLst>
                <a:path w="927735" h="758825">
                  <a:moveTo>
                    <a:pt x="0" y="0"/>
                  </a:moveTo>
                  <a:lnTo>
                    <a:pt x="0" y="758787"/>
                  </a:lnTo>
                  <a:lnTo>
                    <a:pt x="927664" y="758787"/>
                  </a:lnTo>
                  <a:lnTo>
                    <a:pt x="927664" y="0"/>
                  </a:lnTo>
                  <a:lnTo>
                    <a:pt x="0" y="0"/>
                  </a:lnTo>
                  <a:close/>
                </a:path>
              </a:pathLst>
            </a:custGeom>
            <a:ln w="4406">
              <a:solidFill>
                <a:srgbClr val="231F20"/>
              </a:solidFill>
            </a:ln>
          </p:spPr>
          <p:txBody>
            <a:bodyPr wrap="square" lIns="0" tIns="0" rIns="0" bIns="0" rtlCol="0"/>
            <a:lstStyle/>
            <a:p>
              <a:endParaRPr/>
            </a:p>
          </p:txBody>
        </p:sp>
        <p:sp>
          <p:nvSpPr>
            <p:cNvPr id="65" name="object 65"/>
            <p:cNvSpPr/>
            <p:nvPr/>
          </p:nvSpPr>
          <p:spPr>
            <a:xfrm>
              <a:off x="2517664" y="1648466"/>
              <a:ext cx="425450" cy="210820"/>
            </a:xfrm>
            <a:custGeom>
              <a:avLst/>
              <a:gdLst/>
              <a:ahLst/>
              <a:cxnLst/>
              <a:rect l="l" t="t" r="r" b="b"/>
              <a:pathLst>
                <a:path w="425450" h="210819">
                  <a:moveTo>
                    <a:pt x="425006" y="210620"/>
                  </a:moveTo>
                  <a:lnTo>
                    <a:pt x="425006" y="0"/>
                  </a:lnTo>
                  <a:lnTo>
                    <a:pt x="227325" y="0"/>
                  </a:lnTo>
                  <a:lnTo>
                    <a:pt x="227325" y="210620"/>
                  </a:lnTo>
                  <a:lnTo>
                    <a:pt x="425006" y="210620"/>
                  </a:lnTo>
                  <a:close/>
                </a:path>
                <a:path w="425450" h="210819">
                  <a:moveTo>
                    <a:pt x="197691" y="210620"/>
                  </a:moveTo>
                  <a:lnTo>
                    <a:pt x="197691" y="0"/>
                  </a:lnTo>
                  <a:lnTo>
                    <a:pt x="0" y="0"/>
                  </a:lnTo>
                  <a:lnTo>
                    <a:pt x="0" y="210620"/>
                  </a:lnTo>
                  <a:lnTo>
                    <a:pt x="197691" y="210620"/>
                  </a:lnTo>
                  <a:close/>
                </a:path>
              </a:pathLst>
            </a:custGeom>
            <a:ln w="5551">
              <a:solidFill>
                <a:srgbClr val="231F20"/>
              </a:solidFill>
            </a:ln>
          </p:spPr>
          <p:txBody>
            <a:bodyPr wrap="square" lIns="0" tIns="0" rIns="0" bIns="0" rtlCol="0"/>
            <a:lstStyle/>
            <a:p>
              <a:endParaRPr/>
            </a:p>
          </p:txBody>
        </p:sp>
        <p:sp>
          <p:nvSpPr>
            <p:cNvPr id="66" name="object 66"/>
            <p:cNvSpPr/>
            <p:nvPr/>
          </p:nvSpPr>
          <p:spPr>
            <a:xfrm>
              <a:off x="2800457" y="1457534"/>
              <a:ext cx="79375" cy="138430"/>
            </a:xfrm>
            <a:custGeom>
              <a:avLst/>
              <a:gdLst/>
              <a:ahLst/>
              <a:cxnLst/>
              <a:rect l="l" t="t" r="r" b="b"/>
              <a:pathLst>
                <a:path w="79375" h="138430">
                  <a:moveTo>
                    <a:pt x="79078" y="0"/>
                  </a:moveTo>
                  <a:lnTo>
                    <a:pt x="79078" y="137891"/>
                  </a:lnTo>
                  <a:lnTo>
                    <a:pt x="0" y="137891"/>
                  </a:lnTo>
                  <a:lnTo>
                    <a:pt x="0" y="0"/>
                  </a:lnTo>
                </a:path>
                <a:path w="79375" h="138430">
                  <a:moveTo>
                    <a:pt x="69191" y="106069"/>
                  </a:moveTo>
                  <a:lnTo>
                    <a:pt x="9887" y="106069"/>
                  </a:lnTo>
                </a:path>
                <a:path w="79375" h="138430">
                  <a:moveTo>
                    <a:pt x="69191" y="74249"/>
                  </a:moveTo>
                  <a:lnTo>
                    <a:pt x="9887" y="74249"/>
                  </a:lnTo>
                </a:path>
                <a:path w="79375" h="138430">
                  <a:moveTo>
                    <a:pt x="69191" y="42416"/>
                  </a:moveTo>
                  <a:lnTo>
                    <a:pt x="9887" y="42416"/>
                  </a:lnTo>
                </a:path>
              </a:pathLst>
            </a:custGeom>
            <a:ln w="5270">
              <a:solidFill>
                <a:srgbClr val="231F20"/>
              </a:solidFill>
            </a:ln>
          </p:spPr>
          <p:txBody>
            <a:bodyPr wrap="square" lIns="0" tIns="0" rIns="0" bIns="0" rtlCol="0"/>
            <a:lstStyle/>
            <a:p>
              <a:endParaRPr/>
            </a:p>
          </p:txBody>
        </p:sp>
        <p:sp>
          <p:nvSpPr>
            <p:cNvPr id="67" name="object 67"/>
            <p:cNvSpPr/>
            <p:nvPr/>
          </p:nvSpPr>
          <p:spPr>
            <a:xfrm>
              <a:off x="2647627" y="1385191"/>
              <a:ext cx="180340" cy="263525"/>
            </a:xfrm>
            <a:custGeom>
              <a:avLst/>
              <a:gdLst/>
              <a:ahLst/>
              <a:cxnLst/>
              <a:rect l="l" t="t" r="r" b="b"/>
              <a:pathLst>
                <a:path w="180339" h="263525">
                  <a:moveTo>
                    <a:pt x="0" y="263267"/>
                  </a:moveTo>
                  <a:lnTo>
                    <a:pt x="2315" y="217093"/>
                  </a:lnTo>
                  <a:lnTo>
                    <a:pt x="9535" y="171475"/>
                  </a:lnTo>
                  <a:lnTo>
                    <a:pt x="20962" y="128030"/>
                  </a:lnTo>
                  <a:lnTo>
                    <a:pt x="35899" y="88375"/>
                  </a:lnTo>
                  <a:lnTo>
                    <a:pt x="53646" y="54127"/>
                  </a:lnTo>
                  <a:lnTo>
                    <a:pt x="94782" y="8322"/>
                  </a:lnTo>
                  <a:lnTo>
                    <a:pt x="116775" y="0"/>
                  </a:lnTo>
                  <a:lnTo>
                    <a:pt x="138786" y="3553"/>
                  </a:lnTo>
                  <a:lnTo>
                    <a:pt x="160118" y="20599"/>
                  </a:lnTo>
                  <a:lnTo>
                    <a:pt x="180072" y="52756"/>
                  </a:lnTo>
                </a:path>
              </a:pathLst>
            </a:custGeom>
            <a:ln w="4049">
              <a:solidFill>
                <a:srgbClr val="231F20"/>
              </a:solidFill>
            </a:ln>
          </p:spPr>
          <p:txBody>
            <a:bodyPr wrap="square" lIns="0" tIns="0" rIns="0" bIns="0" rtlCol="0"/>
            <a:lstStyle/>
            <a:p>
              <a:endParaRPr/>
            </a:p>
          </p:txBody>
        </p:sp>
        <p:sp>
          <p:nvSpPr>
            <p:cNvPr id="68" name="object 68"/>
            <p:cNvSpPr/>
            <p:nvPr/>
          </p:nvSpPr>
          <p:spPr>
            <a:xfrm>
              <a:off x="2783064" y="1390872"/>
              <a:ext cx="60960" cy="81280"/>
            </a:xfrm>
            <a:custGeom>
              <a:avLst/>
              <a:gdLst/>
              <a:ahLst/>
              <a:cxnLst/>
              <a:rect l="l" t="t" r="r" b="b"/>
              <a:pathLst>
                <a:path w="60960" h="81280">
                  <a:moveTo>
                    <a:pt x="57638" y="0"/>
                  </a:moveTo>
                  <a:lnTo>
                    <a:pt x="45783" y="12216"/>
                  </a:lnTo>
                  <a:lnTo>
                    <a:pt x="32226" y="20830"/>
                  </a:lnTo>
                  <a:lnTo>
                    <a:pt x="16966" y="25841"/>
                  </a:lnTo>
                  <a:lnTo>
                    <a:pt x="0" y="27248"/>
                  </a:lnTo>
                  <a:lnTo>
                    <a:pt x="60610" y="80860"/>
                  </a:lnTo>
                  <a:lnTo>
                    <a:pt x="57638" y="0"/>
                  </a:lnTo>
                  <a:close/>
                </a:path>
              </a:pathLst>
            </a:custGeom>
            <a:solidFill>
              <a:srgbClr val="231F20"/>
            </a:solidFill>
          </p:spPr>
          <p:txBody>
            <a:bodyPr wrap="square" lIns="0" tIns="0" rIns="0" bIns="0" rtlCol="0"/>
            <a:lstStyle/>
            <a:p>
              <a:endParaRPr/>
            </a:p>
          </p:txBody>
        </p:sp>
        <p:sp>
          <p:nvSpPr>
            <p:cNvPr id="69" name="object 69"/>
            <p:cNvSpPr/>
            <p:nvPr/>
          </p:nvSpPr>
          <p:spPr>
            <a:xfrm>
              <a:off x="2576865" y="1293421"/>
              <a:ext cx="565785" cy="354965"/>
            </a:xfrm>
            <a:custGeom>
              <a:avLst/>
              <a:gdLst/>
              <a:ahLst/>
              <a:cxnLst/>
              <a:rect l="l" t="t" r="r" b="b"/>
              <a:pathLst>
                <a:path w="565785" h="354964">
                  <a:moveTo>
                    <a:pt x="0" y="354755"/>
                  </a:moveTo>
                  <a:lnTo>
                    <a:pt x="2021" y="302434"/>
                  </a:lnTo>
                  <a:lnTo>
                    <a:pt x="9421" y="254469"/>
                  </a:lnTo>
                  <a:lnTo>
                    <a:pt x="21729" y="210809"/>
                  </a:lnTo>
                  <a:lnTo>
                    <a:pt x="38478" y="171404"/>
                  </a:lnTo>
                  <a:lnTo>
                    <a:pt x="59200" y="136204"/>
                  </a:lnTo>
                  <a:lnTo>
                    <a:pt x="83426" y="105159"/>
                  </a:lnTo>
                  <a:lnTo>
                    <a:pt x="110687" y="78220"/>
                  </a:lnTo>
                  <a:lnTo>
                    <a:pt x="172441" y="36458"/>
                  </a:lnTo>
                  <a:lnTo>
                    <a:pt x="240717" y="10517"/>
                  </a:lnTo>
                  <a:lnTo>
                    <a:pt x="311765" y="0"/>
                  </a:lnTo>
                  <a:lnTo>
                    <a:pt x="347157" y="399"/>
                  </a:lnTo>
                  <a:lnTo>
                    <a:pt x="415338" y="12267"/>
                  </a:lnTo>
                  <a:lnTo>
                    <a:pt x="476923" y="38558"/>
                  </a:lnTo>
                  <a:lnTo>
                    <a:pt x="528164" y="78875"/>
                  </a:lnTo>
                  <a:lnTo>
                    <a:pt x="548735" y="104167"/>
                  </a:lnTo>
                  <a:lnTo>
                    <a:pt x="565315" y="132816"/>
                  </a:lnTo>
                </a:path>
              </a:pathLst>
            </a:custGeom>
            <a:ln w="5195">
              <a:solidFill>
                <a:srgbClr val="231F20"/>
              </a:solidFill>
            </a:ln>
          </p:spPr>
          <p:txBody>
            <a:bodyPr wrap="square" lIns="0" tIns="0" rIns="0" bIns="0" rtlCol="0"/>
            <a:lstStyle/>
            <a:p>
              <a:endParaRPr/>
            </a:p>
          </p:txBody>
        </p:sp>
        <p:sp>
          <p:nvSpPr>
            <p:cNvPr id="70" name="object 70"/>
            <p:cNvSpPr/>
            <p:nvPr/>
          </p:nvSpPr>
          <p:spPr>
            <a:xfrm>
              <a:off x="3097491" y="1379119"/>
              <a:ext cx="60960" cy="81280"/>
            </a:xfrm>
            <a:custGeom>
              <a:avLst/>
              <a:gdLst/>
              <a:ahLst/>
              <a:cxnLst/>
              <a:rect l="l" t="t" r="r" b="b"/>
              <a:pathLst>
                <a:path w="60960" h="81280">
                  <a:moveTo>
                    <a:pt x="57564" y="0"/>
                  </a:moveTo>
                  <a:lnTo>
                    <a:pt x="45743" y="12249"/>
                  </a:lnTo>
                  <a:lnTo>
                    <a:pt x="32209" y="20901"/>
                  </a:lnTo>
                  <a:lnTo>
                    <a:pt x="16961" y="25954"/>
                  </a:lnTo>
                  <a:lnTo>
                    <a:pt x="0" y="27406"/>
                  </a:lnTo>
                  <a:lnTo>
                    <a:pt x="60747" y="80860"/>
                  </a:lnTo>
                  <a:lnTo>
                    <a:pt x="57564" y="0"/>
                  </a:lnTo>
                  <a:close/>
                </a:path>
              </a:pathLst>
            </a:custGeom>
            <a:solidFill>
              <a:srgbClr val="231F20"/>
            </a:solidFill>
          </p:spPr>
          <p:txBody>
            <a:bodyPr wrap="square" lIns="0" tIns="0" rIns="0" bIns="0" rtlCol="0"/>
            <a:lstStyle/>
            <a:p>
              <a:endParaRPr/>
            </a:p>
          </p:txBody>
        </p:sp>
        <p:sp>
          <p:nvSpPr>
            <p:cNvPr id="71" name="object 71"/>
            <p:cNvSpPr/>
            <p:nvPr/>
          </p:nvSpPr>
          <p:spPr>
            <a:xfrm>
              <a:off x="2963863" y="1648138"/>
              <a:ext cx="375285" cy="211454"/>
            </a:xfrm>
            <a:custGeom>
              <a:avLst/>
              <a:gdLst/>
              <a:ahLst/>
              <a:cxnLst/>
              <a:rect l="l" t="t" r="r" b="b"/>
              <a:pathLst>
                <a:path w="375285" h="211455">
                  <a:moveTo>
                    <a:pt x="374765" y="0"/>
                  </a:moveTo>
                  <a:lnTo>
                    <a:pt x="0" y="0"/>
                  </a:lnTo>
                  <a:lnTo>
                    <a:pt x="0" y="211157"/>
                  </a:lnTo>
                  <a:lnTo>
                    <a:pt x="374765" y="211157"/>
                  </a:lnTo>
                  <a:lnTo>
                    <a:pt x="374765" y="0"/>
                  </a:lnTo>
                  <a:close/>
                </a:path>
              </a:pathLst>
            </a:custGeom>
            <a:solidFill>
              <a:srgbClr val="FFFFFF"/>
            </a:solidFill>
          </p:spPr>
          <p:txBody>
            <a:bodyPr wrap="square" lIns="0" tIns="0" rIns="0" bIns="0" rtlCol="0"/>
            <a:lstStyle/>
            <a:p>
              <a:endParaRPr/>
            </a:p>
          </p:txBody>
        </p:sp>
        <p:sp>
          <p:nvSpPr>
            <p:cNvPr id="72" name="object 72"/>
            <p:cNvSpPr/>
            <p:nvPr/>
          </p:nvSpPr>
          <p:spPr>
            <a:xfrm>
              <a:off x="2963870" y="1648140"/>
              <a:ext cx="375285" cy="211454"/>
            </a:xfrm>
            <a:custGeom>
              <a:avLst/>
              <a:gdLst/>
              <a:ahLst/>
              <a:cxnLst/>
              <a:rect l="l" t="t" r="r" b="b"/>
              <a:pathLst>
                <a:path w="375285" h="211455">
                  <a:moveTo>
                    <a:pt x="0" y="0"/>
                  </a:moveTo>
                  <a:lnTo>
                    <a:pt x="0" y="211156"/>
                  </a:lnTo>
                  <a:lnTo>
                    <a:pt x="374762" y="211156"/>
                  </a:lnTo>
                  <a:lnTo>
                    <a:pt x="374762" y="0"/>
                  </a:lnTo>
                  <a:lnTo>
                    <a:pt x="0" y="0"/>
                  </a:lnTo>
                  <a:close/>
                </a:path>
              </a:pathLst>
            </a:custGeom>
            <a:ln w="5759">
              <a:solidFill>
                <a:srgbClr val="231F20"/>
              </a:solidFill>
            </a:ln>
          </p:spPr>
          <p:txBody>
            <a:bodyPr wrap="square" lIns="0" tIns="0" rIns="0" bIns="0" rtlCol="0"/>
            <a:lstStyle/>
            <a:p>
              <a:endParaRPr/>
            </a:p>
          </p:txBody>
        </p:sp>
        <p:sp>
          <p:nvSpPr>
            <p:cNvPr id="73" name="object 73"/>
            <p:cNvSpPr/>
            <p:nvPr/>
          </p:nvSpPr>
          <p:spPr>
            <a:xfrm>
              <a:off x="2839996" y="1457534"/>
              <a:ext cx="351155" cy="191135"/>
            </a:xfrm>
            <a:custGeom>
              <a:avLst/>
              <a:gdLst/>
              <a:ahLst/>
              <a:cxnLst/>
              <a:rect l="l" t="t" r="r" b="b"/>
              <a:pathLst>
                <a:path w="351155" h="191135">
                  <a:moveTo>
                    <a:pt x="340136" y="98332"/>
                  </a:moveTo>
                  <a:lnTo>
                    <a:pt x="280822" y="98332"/>
                  </a:lnTo>
                </a:path>
                <a:path w="351155" h="191135">
                  <a:moveTo>
                    <a:pt x="340136" y="66508"/>
                  </a:moveTo>
                  <a:lnTo>
                    <a:pt x="280822" y="66508"/>
                  </a:lnTo>
                </a:path>
                <a:path w="351155" h="191135">
                  <a:moveTo>
                    <a:pt x="340136" y="34679"/>
                  </a:moveTo>
                  <a:lnTo>
                    <a:pt x="280822" y="34679"/>
                  </a:lnTo>
                </a:path>
                <a:path w="351155" h="191135">
                  <a:moveTo>
                    <a:pt x="350783" y="0"/>
                  </a:moveTo>
                  <a:lnTo>
                    <a:pt x="350783" y="137891"/>
                  </a:lnTo>
                  <a:lnTo>
                    <a:pt x="271715" y="137891"/>
                  </a:lnTo>
                  <a:lnTo>
                    <a:pt x="271715" y="0"/>
                  </a:lnTo>
                </a:path>
                <a:path w="351155" h="191135">
                  <a:moveTo>
                    <a:pt x="311254" y="137891"/>
                  </a:moveTo>
                  <a:lnTo>
                    <a:pt x="311254" y="190924"/>
                  </a:lnTo>
                </a:path>
                <a:path w="351155" h="191135">
                  <a:moveTo>
                    <a:pt x="0" y="137891"/>
                  </a:moveTo>
                  <a:lnTo>
                    <a:pt x="0" y="190924"/>
                  </a:lnTo>
                </a:path>
              </a:pathLst>
            </a:custGeom>
            <a:ln w="5270">
              <a:solidFill>
                <a:srgbClr val="231F20"/>
              </a:solidFill>
            </a:ln>
          </p:spPr>
          <p:txBody>
            <a:bodyPr wrap="square" lIns="0" tIns="0" rIns="0" bIns="0" rtlCol="0"/>
            <a:lstStyle/>
            <a:p>
              <a:endParaRPr/>
            </a:p>
          </p:txBody>
        </p:sp>
        <p:sp>
          <p:nvSpPr>
            <p:cNvPr id="74" name="object 74"/>
            <p:cNvSpPr/>
            <p:nvPr/>
          </p:nvSpPr>
          <p:spPr>
            <a:xfrm>
              <a:off x="2507786" y="1122038"/>
              <a:ext cx="237490" cy="191135"/>
            </a:xfrm>
            <a:custGeom>
              <a:avLst/>
              <a:gdLst/>
              <a:ahLst/>
              <a:cxnLst/>
              <a:rect l="l" t="t" r="r" b="b"/>
              <a:pathLst>
                <a:path w="237489" h="191134">
                  <a:moveTo>
                    <a:pt x="237209" y="0"/>
                  </a:moveTo>
                  <a:lnTo>
                    <a:pt x="0" y="0"/>
                  </a:lnTo>
                  <a:lnTo>
                    <a:pt x="0" y="190936"/>
                  </a:lnTo>
                  <a:lnTo>
                    <a:pt x="237209" y="190936"/>
                  </a:lnTo>
                  <a:lnTo>
                    <a:pt x="237209" y="0"/>
                  </a:lnTo>
                  <a:close/>
                </a:path>
              </a:pathLst>
            </a:custGeom>
            <a:solidFill>
              <a:srgbClr val="FFFFFF"/>
            </a:solidFill>
          </p:spPr>
          <p:txBody>
            <a:bodyPr wrap="square" lIns="0" tIns="0" rIns="0" bIns="0" rtlCol="0"/>
            <a:lstStyle/>
            <a:p>
              <a:endParaRPr/>
            </a:p>
          </p:txBody>
        </p:sp>
        <p:sp>
          <p:nvSpPr>
            <p:cNvPr id="75" name="object 75"/>
            <p:cNvSpPr/>
            <p:nvPr/>
          </p:nvSpPr>
          <p:spPr>
            <a:xfrm>
              <a:off x="2507786" y="1122035"/>
              <a:ext cx="237490" cy="191135"/>
            </a:xfrm>
            <a:custGeom>
              <a:avLst/>
              <a:gdLst/>
              <a:ahLst/>
              <a:cxnLst/>
              <a:rect l="l" t="t" r="r" b="b"/>
              <a:pathLst>
                <a:path w="237489" h="191134">
                  <a:moveTo>
                    <a:pt x="0" y="190939"/>
                  </a:moveTo>
                  <a:lnTo>
                    <a:pt x="237209" y="190939"/>
                  </a:lnTo>
                  <a:lnTo>
                    <a:pt x="237209" y="3"/>
                  </a:lnTo>
                  <a:lnTo>
                    <a:pt x="0" y="3"/>
                  </a:lnTo>
                  <a:lnTo>
                    <a:pt x="0" y="190939"/>
                  </a:lnTo>
                  <a:close/>
                </a:path>
                <a:path w="237489" h="191134">
                  <a:moveTo>
                    <a:pt x="237204" y="63636"/>
                  </a:moveTo>
                  <a:lnTo>
                    <a:pt x="0" y="63636"/>
                  </a:lnTo>
                </a:path>
                <a:path w="237489" h="191134">
                  <a:moveTo>
                    <a:pt x="237204" y="127282"/>
                  </a:moveTo>
                  <a:lnTo>
                    <a:pt x="0" y="127282"/>
                  </a:lnTo>
                </a:path>
                <a:path w="237489" h="191134">
                  <a:moveTo>
                    <a:pt x="118607" y="0"/>
                  </a:moveTo>
                  <a:lnTo>
                    <a:pt x="118607" y="190939"/>
                  </a:lnTo>
                </a:path>
              </a:pathLst>
            </a:custGeom>
            <a:ln w="5270">
              <a:solidFill>
                <a:srgbClr val="231F20"/>
              </a:solidFill>
            </a:ln>
          </p:spPr>
          <p:txBody>
            <a:bodyPr wrap="square" lIns="0" tIns="0" rIns="0" bIns="0" rtlCol="0"/>
            <a:lstStyle/>
            <a:p>
              <a:endParaRPr/>
            </a:p>
          </p:txBody>
        </p:sp>
        <p:sp>
          <p:nvSpPr>
            <p:cNvPr id="76" name="object 76"/>
            <p:cNvSpPr/>
            <p:nvPr/>
          </p:nvSpPr>
          <p:spPr>
            <a:xfrm>
              <a:off x="2415699" y="1859295"/>
              <a:ext cx="1012190" cy="168910"/>
            </a:xfrm>
            <a:custGeom>
              <a:avLst/>
              <a:gdLst/>
              <a:ahLst/>
              <a:cxnLst/>
              <a:rect l="l" t="t" r="r" b="b"/>
              <a:pathLst>
                <a:path w="1012189" h="168910">
                  <a:moveTo>
                    <a:pt x="0" y="168664"/>
                  </a:moveTo>
                  <a:lnTo>
                    <a:pt x="1012002" y="168664"/>
                  </a:lnTo>
                  <a:lnTo>
                    <a:pt x="1012002" y="0"/>
                  </a:lnTo>
                  <a:lnTo>
                    <a:pt x="0" y="0"/>
                  </a:lnTo>
                  <a:lnTo>
                    <a:pt x="0" y="168664"/>
                  </a:lnTo>
                  <a:close/>
                </a:path>
              </a:pathLst>
            </a:custGeom>
            <a:ln w="5270">
              <a:solidFill>
                <a:srgbClr val="231F20"/>
              </a:solidFill>
            </a:ln>
          </p:spPr>
          <p:txBody>
            <a:bodyPr wrap="square" lIns="0" tIns="0" rIns="0" bIns="0" rtlCol="0"/>
            <a:lstStyle/>
            <a:p>
              <a:endParaRPr/>
            </a:p>
          </p:txBody>
        </p:sp>
        <p:sp>
          <p:nvSpPr>
            <p:cNvPr id="77" name="object 77"/>
            <p:cNvSpPr/>
            <p:nvPr/>
          </p:nvSpPr>
          <p:spPr>
            <a:xfrm>
              <a:off x="2415712" y="1058128"/>
              <a:ext cx="1012190" cy="970280"/>
            </a:xfrm>
            <a:custGeom>
              <a:avLst/>
              <a:gdLst/>
              <a:ahLst/>
              <a:cxnLst/>
              <a:rect l="l" t="t" r="r" b="b"/>
              <a:pathLst>
                <a:path w="1012189" h="970280">
                  <a:moveTo>
                    <a:pt x="1012013" y="0"/>
                  </a:moveTo>
                  <a:lnTo>
                    <a:pt x="0" y="0"/>
                  </a:lnTo>
                  <a:lnTo>
                    <a:pt x="0" y="969831"/>
                  </a:lnTo>
                  <a:lnTo>
                    <a:pt x="1012013" y="969831"/>
                  </a:lnTo>
                  <a:lnTo>
                    <a:pt x="1012013" y="0"/>
                  </a:lnTo>
                  <a:close/>
                </a:path>
              </a:pathLst>
            </a:custGeom>
            <a:ln w="10415">
              <a:solidFill>
                <a:srgbClr val="231F20"/>
              </a:solidFill>
            </a:ln>
          </p:spPr>
          <p:txBody>
            <a:bodyPr wrap="square" lIns="0" tIns="0" rIns="0" bIns="0" rtlCol="0"/>
            <a:lstStyle/>
            <a:p>
              <a:endParaRPr/>
            </a:p>
          </p:txBody>
        </p:sp>
        <p:sp>
          <p:nvSpPr>
            <p:cNvPr id="78" name="object 78"/>
            <p:cNvSpPr/>
            <p:nvPr/>
          </p:nvSpPr>
          <p:spPr>
            <a:xfrm>
              <a:off x="3129399" y="1838209"/>
              <a:ext cx="42545" cy="42545"/>
            </a:xfrm>
            <a:custGeom>
              <a:avLst/>
              <a:gdLst/>
              <a:ahLst/>
              <a:cxnLst/>
              <a:rect l="l" t="t" r="r" b="b"/>
              <a:pathLst>
                <a:path w="42544" h="42544">
                  <a:moveTo>
                    <a:pt x="21081" y="0"/>
                  </a:moveTo>
                  <a:lnTo>
                    <a:pt x="12874" y="1657"/>
                  </a:lnTo>
                  <a:lnTo>
                    <a:pt x="6173" y="6176"/>
                  </a:lnTo>
                  <a:lnTo>
                    <a:pt x="1656" y="12878"/>
                  </a:lnTo>
                  <a:lnTo>
                    <a:pt x="0" y="21086"/>
                  </a:lnTo>
                  <a:lnTo>
                    <a:pt x="1656" y="29291"/>
                  </a:lnTo>
                  <a:lnTo>
                    <a:pt x="6173" y="35994"/>
                  </a:lnTo>
                  <a:lnTo>
                    <a:pt x="12874" y="40514"/>
                  </a:lnTo>
                  <a:lnTo>
                    <a:pt x="21081" y="42172"/>
                  </a:lnTo>
                  <a:lnTo>
                    <a:pt x="29285" y="40514"/>
                  </a:lnTo>
                  <a:lnTo>
                    <a:pt x="35986" y="35994"/>
                  </a:lnTo>
                  <a:lnTo>
                    <a:pt x="40506" y="29291"/>
                  </a:lnTo>
                  <a:lnTo>
                    <a:pt x="42163" y="21086"/>
                  </a:lnTo>
                  <a:lnTo>
                    <a:pt x="40506" y="12878"/>
                  </a:lnTo>
                  <a:lnTo>
                    <a:pt x="35986" y="6176"/>
                  </a:lnTo>
                  <a:lnTo>
                    <a:pt x="29285" y="1657"/>
                  </a:lnTo>
                  <a:lnTo>
                    <a:pt x="21081" y="0"/>
                  </a:lnTo>
                  <a:close/>
                </a:path>
              </a:pathLst>
            </a:custGeom>
            <a:solidFill>
              <a:srgbClr val="FFFFFF"/>
            </a:solidFill>
          </p:spPr>
          <p:txBody>
            <a:bodyPr wrap="square" lIns="0" tIns="0" rIns="0" bIns="0" rtlCol="0"/>
            <a:lstStyle/>
            <a:p>
              <a:endParaRPr/>
            </a:p>
          </p:txBody>
        </p:sp>
        <p:sp>
          <p:nvSpPr>
            <p:cNvPr id="79" name="object 79"/>
            <p:cNvSpPr/>
            <p:nvPr/>
          </p:nvSpPr>
          <p:spPr>
            <a:xfrm>
              <a:off x="3129399" y="1838209"/>
              <a:ext cx="42545" cy="42545"/>
            </a:xfrm>
            <a:custGeom>
              <a:avLst/>
              <a:gdLst/>
              <a:ahLst/>
              <a:cxnLst/>
              <a:rect l="l" t="t" r="r" b="b"/>
              <a:pathLst>
                <a:path w="42544" h="42544">
                  <a:moveTo>
                    <a:pt x="21081" y="0"/>
                  </a:moveTo>
                  <a:lnTo>
                    <a:pt x="12874" y="1657"/>
                  </a:lnTo>
                  <a:lnTo>
                    <a:pt x="6173" y="6176"/>
                  </a:lnTo>
                  <a:lnTo>
                    <a:pt x="1656" y="12878"/>
                  </a:lnTo>
                  <a:lnTo>
                    <a:pt x="0" y="21086"/>
                  </a:lnTo>
                  <a:lnTo>
                    <a:pt x="1656" y="29291"/>
                  </a:lnTo>
                  <a:lnTo>
                    <a:pt x="6173" y="35994"/>
                  </a:lnTo>
                  <a:lnTo>
                    <a:pt x="12874" y="40514"/>
                  </a:lnTo>
                  <a:lnTo>
                    <a:pt x="21081" y="42172"/>
                  </a:lnTo>
                  <a:lnTo>
                    <a:pt x="29285" y="40514"/>
                  </a:lnTo>
                  <a:lnTo>
                    <a:pt x="35986" y="35994"/>
                  </a:lnTo>
                  <a:lnTo>
                    <a:pt x="40506" y="29291"/>
                  </a:lnTo>
                  <a:lnTo>
                    <a:pt x="42163" y="21086"/>
                  </a:lnTo>
                  <a:lnTo>
                    <a:pt x="40506" y="12878"/>
                  </a:lnTo>
                  <a:lnTo>
                    <a:pt x="35986" y="6176"/>
                  </a:lnTo>
                  <a:lnTo>
                    <a:pt x="29285" y="1657"/>
                  </a:lnTo>
                  <a:lnTo>
                    <a:pt x="21081" y="0"/>
                  </a:lnTo>
                  <a:close/>
                </a:path>
              </a:pathLst>
            </a:custGeom>
            <a:ln w="5270">
              <a:solidFill>
                <a:srgbClr val="231F20"/>
              </a:solidFill>
            </a:ln>
          </p:spPr>
          <p:txBody>
            <a:bodyPr wrap="square" lIns="0" tIns="0" rIns="0" bIns="0" rtlCol="0"/>
            <a:lstStyle/>
            <a:p>
              <a:endParaRPr/>
            </a:p>
          </p:txBody>
        </p:sp>
        <p:sp>
          <p:nvSpPr>
            <p:cNvPr id="80" name="object 80"/>
            <p:cNvSpPr/>
            <p:nvPr/>
          </p:nvSpPr>
          <p:spPr>
            <a:xfrm>
              <a:off x="2595423" y="1838209"/>
              <a:ext cx="42545" cy="42545"/>
            </a:xfrm>
            <a:custGeom>
              <a:avLst/>
              <a:gdLst/>
              <a:ahLst/>
              <a:cxnLst/>
              <a:rect l="l" t="t" r="r" b="b"/>
              <a:pathLst>
                <a:path w="42544" h="42544">
                  <a:moveTo>
                    <a:pt x="21081" y="0"/>
                  </a:moveTo>
                  <a:lnTo>
                    <a:pt x="12874" y="1657"/>
                  </a:lnTo>
                  <a:lnTo>
                    <a:pt x="6173" y="6176"/>
                  </a:lnTo>
                  <a:lnTo>
                    <a:pt x="1656" y="12878"/>
                  </a:lnTo>
                  <a:lnTo>
                    <a:pt x="0" y="21086"/>
                  </a:lnTo>
                  <a:lnTo>
                    <a:pt x="1656" y="29291"/>
                  </a:lnTo>
                  <a:lnTo>
                    <a:pt x="6173" y="35994"/>
                  </a:lnTo>
                  <a:lnTo>
                    <a:pt x="12874" y="40514"/>
                  </a:lnTo>
                  <a:lnTo>
                    <a:pt x="21081" y="42172"/>
                  </a:lnTo>
                  <a:lnTo>
                    <a:pt x="29289" y="40514"/>
                  </a:lnTo>
                  <a:lnTo>
                    <a:pt x="35990" y="35994"/>
                  </a:lnTo>
                  <a:lnTo>
                    <a:pt x="40507" y="29291"/>
                  </a:lnTo>
                  <a:lnTo>
                    <a:pt x="42163" y="21086"/>
                  </a:lnTo>
                  <a:lnTo>
                    <a:pt x="40507" y="12878"/>
                  </a:lnTo>
                  <a:lnTo>
                    <a:pt x="35990" y="6176"/>
                  </a:lnTo>
                  <a:lnTo>
                    <a:pt x="29289" y="1657"/>
                  </a:lnTo>
                  <a:lnTo>
                    <a:pt x="21081" y="0"/>
                  </a:lnTo>
                  <a:close/>
                </a:path>
              </a:pathLst>
            </a:custGeom>
            <a:solidFill>
              <a:srgbClr val="FFFFFF"/>
            </a:solidFill>
          </p:spPr>
          <p:txBody>
            <a:bodyPr wrap="square" lIns="0" tIns="0" rIns="0" bIns="0" rtlCol="0"/>
            <a:lstStyle/>
            <a:p>
              <a:endParaRPr/>
            </a:p>
          </p:txBody>
        </p:sp>
        <p:sp>
          <p:nvSpPr>
            <p:cNvPr id="81" name="object 81"/>
            <p:cNvSpPr/>
            <p:nvPr/>
          </p:nvSpPr>
          <p:spPr>
            <a:xfrm>
              <a:off x="2595423" y="1838209"/>
              <a:ext cx="42545" cy="42545"/>
            </a:xfrm>
            <a:custGeom>
              <a:avLst/>
              <a:gdLst/>
              <a:ahLst/>
              <a:cxnLst/>
              <a:rect l="l" t="t" r="r" b="b"/>
              <a:pathLst>
                <a:path w="42544" h="42544">
                  <a:moveTo>
                    <a:pt x="21081" y="0"/>
                  </a:moveTo>
                  <a:lnTo>
                    <a:pt x="12874" y="1657"/>
                  </a:lnTo>
                  <a:lnTo>
                    <a:pt x="6173" y="6176"/>
                  </a:lnTo>
                  <a:lnTo>
                    <a:pt x="1656" y="12878"/>
                  </a:lnTo>
                  <a:lnTo>
                    <a:pt x="0" y="21086"/>
                  </a:lnTo>
                  <a:lnTo>
                    <a:pt x="1656" y="29291"/>
                  </a:lnTo>
                  <a:lnTo>
                    <a:pt x="6173" y="35994"/>
                  </a:lnTo>
                  <a:lnTo>
                    <a:pt x="12874" y="40514"/>
                  </a:lnTo>
                  <a:lnTo>
                    <a:pt x="21081" y="42172"/>
                  </a:lnTo>
                  <a:lnTo>
                    <a:pt x="29289" y="40514"/>
                  </a:lnTo>
                  <a:lnTo>
                    <a:pt x="35990" y="35994"/>
                  </a:lnTo>
                  <a:lnTo>
                    <a:pt x="40507" y="29291"/>
                  </a:lnTo>
                  <a:lnTo>
                    <a:pt x="42163" y="21086"/>
                  </a:lnTo>
                  <a:lnTo>
                    <a:pt x="40507" y="12878"/>
                  </a:lnTo>
                  <a:lnTo>
                    <a:pt x="35990" y="6176"/>
                  </a:lnTo>
                  <a:lnTo>
                    <a:pt x="29289" y="1657"/>
                  </a:lnTo>
                  <a:lnTo>
                    <a:pt x="21081" y="0"/>
                  </a:lnTo>
                  <a:close/>
                </a:path>
              </a:pathLst>
            </a:custGeom>
            <a:ln w="5270">
              <a:solidFill>
                <a:srgbClr val="231F20"/>
              </a:solidFill>
            </a:ln>
          </p:spPr>
          <p:txBody>
            <a:bodyPr wrap="square" lIns="0" tIns="0" rIns="0" bIns="0" rtlCol="0"/>
            <a:lstStyle/>
            <a:p>
              <a:endParaRPr/>
            </a:p>
          </p:txBody>
        </p:sp>
      </p:grpSp>
      <p:sp>
        <p:nvSpPr>
          <p:cNvPr id="82" name="object 82"/>
          <p:cNvSpPr txBox="1"/>
          <p:nvPr/>
        </p:nvSpPr>
        <p:spPr>
          <a:xfrm>
            <a:off x="2025231" y="858155"/>
            <a:ext cx="48069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Send queue</a:t>
            </a:r>
            <a:endParaRPr sz="650">
              <a:latin typeface="Arial"/>
              <a:cs typeface="Arial"/>
            </a:endParaRPr>
          </a:p>
        </p:txBody>
      </p:sp>
      <p:sp>
        <p:nvSpPr>
          <p:cNvPr id="83" name="object 83"/>
          <p:cNvSpPr txBox="1"/>
          <p:nvPr/>
        </p:nvSpPr>
        <p:spPr>
          <a:xfrm>
            <a:off x="1367979" y="857229"/>
            <a:ext cx="5226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Routing table</a:t>
            </a:r>
            <a:endParaRPr sz="650">
              <a:latin typeface="Arial"/>
              <a:cs typeface="Arial"/>
            </a:endParaRPr>
          </a:p>
        </p:txBody>
      </p:sp>
      <p:sp>
        <p:nvSpPr>
          <p:cNvPr id="84" name="object 84"/>
          <p:cNvSpPr txBox="1"/>
          <p:nvPr/>
        </p:nvSpPr>
        <p:spPr>
          <a:xfrm>
            <a:off x="1986521" y="2246111"/>
            <a:ext cx="7283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Enterprise network</a:t>
            </a:r>
            <a:endParaRPr sz="650">
              <a:latin typeface="Arial"/>
              <a:cs typeface="Arial"/>
            </a:endParaRPr>
          </a:p>
        </p:txBody>
      </p:sp>
      <p:sp>
        <p:nvSpPr>
          <p:cNvPr id="85" name="object 85"/>
          <p:cNvSpPr txBox="1"/>
          <p:nvPr/>
        </p:nvSpPr>
        <p:spPr>
          <a:xfrm>
            <a:off x="352771" y="2336426"/>
            <a:ext cx="1316990" cy="220979"/>
          </a:xfrm>
          <a:prstGeom prst="rect">
            <a:avLst/>
          </a:prstGeom>
        </p:spPr>
        <p:txBody>
          <a:bodyPr vert="horz" wrap="square" lIns="0" tIns="21590" rIns="0" bIns="0" rtlCol="0">
            <a:spAutoFit/>
          </a:bodyPr>
          <a:lstStyle/>
          <a:p>
            <a:pPr marL="12700" marR="5080" indent="2540">
              <a:lnSpc>
                <a:spcPts val="740"/>
              </a:lnSpc>
              <a:spcBef>
                <a:spcPts val="170"/>
              </a:spcBef>
              <a:tabLst>
                <a:tab pos="647700" algn="l"/>
              </a:tabLst>
            </a:pPr>
            <a:r>
              <a:rPr sz="650" spc="60" dirty="0">
                <a:solidFill>
                  <a:srgbClr val="231F20"/>
                </a:solidFill>
                <a:latin typeface="Arial"/>
                <a:cs typeface="Arial"/>
              </a:rPr>
              <a:t>R</a:t>
            </a:r>
            <a:r>
              <a:rPr sz="650" spc="45" dirty="0">
                <a:solidFill>
                  <a:srgbClr val="231F20"/>
                </a:solidFill>
                <a:latin typeface="Arial"/>
                <a:cs typeface="Arial"/>
              </a:rPr>
              <a:t>P</a:t>
            </a:r>
            <a:r>
              <a:rPr sz="650" spc="10" dirty="0">
                <a:solidFill>
                  <a:srgbClr val="231F20"/>
                </a:solidFill>
                <a:latin typeface="Arial"/>
                <a:cs typeface="Arial"/>
              </a:rPr>
              <a:t>C</a:t>
            </a:r>
            <a:r>
              <a:rPr sz="650" dirty="0">
                <a:solidFill>
                  <a:srgbClr val="231F20"/>
                </a:solidFill>
                <a:latin typeface="Arial"/>
                <a:cs typeface="Arial"/>
              </a:rPr>
              <a:t>	</a:t>
            </a:r>
            <a:r>
              <a:rPr sz="650" spc="5" dirty="0">
                <a:solidFill>
                  <a:srgbClr val="231F20"/>
                </a:solidFill>
                <a:latin typeface="Arial"/>
                <a:cs typeface="Arial"/>
              </a:rPr>
              <a:t>Message</a:t>
            </a:r>
            <a:r>
              <a:rPr sz="650" dirty="0">
                <a:solidFill>
                  <a:srgbClr val="231F20"/>
                </a:solidFill>
                <a:latin typeface="Arial"/>
                <a:cs typeface="Arial"/>
              </a:rPr>
              <a:t> </a:t>
            </a:r>
            <a:r>
              <a:rPr sz="650" spc="5" dirty="0">
                <a:solidFill>
                  <a:srgbClr val="231F20"/>
                </a:solidFill>
                <a:latin typeface="Arial"/>
                <a:cs typeface="Arial"/>
              </a:rPr>
              <a:t>passing  (synchronous)</a:t>
            </a:r>
            <a:r>
              <a:rPr sz="650" spc="30" dirty="0">
                <a:solidFill>
                  <a:srgbClr val="231F20"/>
                </a:solidFill>
                <a:latin typeface="Arial"/>
                <a:cs typeface="Arial"/>
              </a:rPr>
              <a:t> </a:t>
            </a:r>
            <a:r>
              <a:rPr sz="650" spc="5" dirty="0">
                <a:solidFill>
                  <a:srgbClr val="231F20"/>
                </a:solidFill>
                <a:latin typeface="Arial"/>
                <a:cs typeface="Arial"/>
              </a:rPr>
              <a:t>(asynchronous)</a:t>
            </a:r>
            <a:endParaRPr sz="650">
              <a:latin typeface="Arial"/>
              <a:cs typeface="Arial"/>
            </a:endParaRPr>
          </a:p>
        </p:txBody>
      </p:sp>
      <p:sp>
        <p:nvSpPr>
          <p:cNvPr id="86" name="object 86"/>
          <p:cNvSpPr txBox="1"/>
          <p:nvPr/>
        </p:nvSpPr>
        <p:spPr>
          <a:xfrm>
            <a:off x="2961278" y="2192094"/>
            <a:ext cx="989330" cy="365125"/>
          </a:xfrm>
          <a:prstGeom prst="rect">
            <a:avLst/>
          </a:prstGeom>
        </p:spPr>
        <p:txBody>
          <a:bodyPr vert="horz" wrap="square" lIns="0" tIns="12065" rIns="0" bIns="0" rtlCol="0">
            <a:spAutoFit/>
          </a:bodyPr>
          <a:lstStyle/>
          <a:p>
            <a:pPr marL="12700" marR="5080" indent="443230">
              <a:lnSpc>
                <a:spcPct val="123900"/>
              </a:lnSpc>
              <a:spcBef>
                <a:spcPts val="95"/>
              </a:spcBef>
            </a:pPr>
            <a:r>
              <a:rPr sz="650" spc="5" dirty="0">
                <a:solidFill>
                  <a:srgbClr val="231F20"/>
                </a:solidFill>
                <a:latin typeface="Arial"/>
                <a:cs typeface="Arial"/>
              </a:rPr>
              <a:t>Local network  </a:t>
            </a:r>
            <a:r>
              <a:rPr sz="650" spc="-30" dirty="0">
                <a:solidFill>
                  <a:srgbClr val="231F20"/>
                </a:solidFill>
                <a:latin typeface="Arial"/>
                <a:cs typeface="Arial"/>
              </a:rPr>
              <a:t>To</a:t>
            </a:r>
            <a:r>
              <a:rPr sz="650" spc="-5" dirty="0">
                <a:solidFill>
                  <a:srgbClr val="231F20"/>
                </a:solidFill>
                <a:latin typeface="Arial"/>
                <a:cs typeface="Arial"/>
              </a:rPr>
              <a:t> </a:t>
            </a:r>
            <a:r>
              <a:rPr sz="650" spc="5" dirty="0">
                <a:solidFill>
                  <a:srgbClr val="231F20"/>
                </a:solidFill>
                <a:latin typeface="Arial"/>
                <a:cs typeface="Arial"/>
              </a:rPr>
              <a:t>other</a:t>
            </a:r>
            <a:r>
              <a:rPr sz="650" spc="-5" dirty="0">
                <a:solidFill>
                  <a:srgbClr val="231F20"/>
                </a:solidFill>
                <a:latin typeface="Arial"/>
                <a:cs typeface="Arial"/>
              </a:rPr>
              <a:t> </a:t>
            </a:r>
            <a:r>
              <a:rPr sz="650" spc="5" dirty="0">
                <a:solidFill>
                  <a:srgbClr val="231F20"/>
                </a:solidFill>
                <a:latin typeface="Arial"/>
                <a:cs typeface="Arial"/>
              </a:rPr>
              <a:t>remote</a:t>
            </a:r>
            <a:endParaRPr sz="650">
              <a:latin typeface="Arial"/>
              <a:cs typeface="Arial"/>
            </a:endParaRPr>
          </a:p>
          <a:p>
            <a:pPr marL="12700">
              <a:lnSpc>
                <a:spcPts val="740"/>
              </a:lnSpc>
            </a:pPr>
            <a:r>
              <a:rPr sz="650" spc="5" dirty="0">
                <a:solidFill>
                  <a:srgbClr val="231F20"/>
                </a:solidFill>
                <a:latin typeface="Arial"/>
                <a:cs typeface="Arial"/>
              </a:rPr>
              <a:t>queue</a:t>
            </a:r>
            <a:r>
              <a:rPr sz="650" spc="-30" dirty="0">
                <a:solidFill>
                  <a:srgbClr val="231F20"/>
                </a:solidFill>
                <a:latin typeface="Arial"/>
                <a:cs typeface="Arial"/>
              </a:rPr>
              <a:t> </a:t>
            </a:r>
            <a:r>
              <a:rPr sz="650" spc="5" dirty="0">
                <a:solidFill>
                  <a:srgbClr val="231F20"/>
                </a:solidFill>
                <a:latin typeface="Arial"/>
                <a:cs typeface="Arial"/>
              </a:rPr>
              <a:t>managers</a:t>
            </a:r>
            <a:endParaRPr sz="650">
              <a:latin typeface="Arial"/>
              <a:cs typeface="Arial"/>
            </a:endParaRPr>
          </a:p>
        </p:txBody>
      </p:sp>
      <p:sp>
        <p:nvSpPr>
          <p:cNvPr id="87" name="object 87"/>
          <p:cNvSpPr txBox="1"/>
          <p:nvPr/>
        </p:nvSpPr>
        <p:spPr>
          <a:xfrm>
            <a:off x="2905996" y="765787"/>
            <a:ext cx="594995"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Client</a:t>
            </a:r>
            <a:r>
              <a:rPr sz="650" dirty="0">
                <a:solidFill>
                  <a:srgbClr val="231F20"/>
                </a:solidFill>
                <a:latin typeface="Arial"/>
                <a:cs typeface="Arial"/>
              </a:rPr>
              <a:t>'s </a:t>
            </a:r>
            <a:r>
              <a:rPr sz="650" spc="5" dirty="0">
                <a:solidFill>
                  <a:srgbClr val="231F20"/>
                </a:solidFill>
                <a:latin typeface="Arial"/>
                <a:cs typeface="Arial"/>
              </a:rPr>
              <a:t>receive  queue</a:t>
            </a:r>
            <a:endParaRPr sz="650">
              <a:latin typeface="Arial"/>
              <a:cs typeface="Arial"/>
            </a:endParaRPr>
          </a:p>
        </p:txBody>
      </p:sp>
      <p:sp>
        <p:nvSpPr>
          <p:cNvPr id="88" name="object 88"/>
          <p:cNvSpPr txBox="1"/>
          <p:nvPr/>
        </p:nvSpPr>
        <p:spPr>
          <a:xfrm>
            <a:off x="381332" y="857234"/>
            <a:ext cx="5556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Sending client</a:t>
            </a:r>
            <a:endParaRPr sz="650">
              <a:latin typeface="Arial"/>
              <a:cs typeface="Arial"/>
            </a:endParaRPr>
          </a:p>
        </p:txBody>
      </p:sp>
      <p:sp>
        <p:nvSpPr>
          <p:cNvPr id="89" name="object 89"/>
          <p:cNvSpPr txBox="1"/>
          <p:nvPr/>
        </p:nvSpPr>
        <p:spPr>
          <a:xfrm>
            <a:off x="3638753" y="857234"/>
            <a:ext cx="6159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Receiving client</a:t>
            </a:r>
            <a:endParaRPr sz="650">
              <a:latin typeface="Arial"/>
              <a:cs typeface="Arial"/>
            </a:endParaRPr>
          </a:p>
        </p:txBody>
      </p:sp>
      <p:sp>
        <p:nvSpPr>
          <p:cNvPr id="90" name="object 90"/>
          <p:cNvSpPr txBox="1"/>
          <p:nvPr/>
        </p:nvSpPr>
        <p:spPr>
          <a:xfrm>
            <a:off x="3636686" y="1368962"/>
            <a:ext cx="525145" cy="127000"/>
          </a:xfrm>
          <a:prstGeom prst="rect">
            <a:avLst/>
          </a:prstGeom>
        </p:spPr>
        <p:txBody>
          <a:bodyPr vert="horz" wrap="square" lIns="0" tIns="13970" rIns="0" bIns="0" rtlCol="0">
            <a:spAutoFit/>
          </a:bodyPr>
          <a:lstStyle/>
          <a:p>
            <a:pPr marL="12700">
              <a:lnSpc>
                <a:spcPct val="100000"/>
              </a:lnSpc>
              <a:spcBef>
                <a:spcPts val="110"/>
              </a:spcBef>
            </a:pPr>
            <a:r>
              <a:rPr sz="650" spc="30" dirty="0">
                <a:solidFill>
                  <a:srgbClr val="231F20"/>
                </a:solidFill>
                <a:latin typeface="Arial"/>
                <a:cs typeface="Arial"/>
              </a:rPr>
              <a:t>MQ</a:t>
            </a:r>
            <a:r>
              <a:rPr sz="650" spc="-15" dirty="0">
                <a:solidFill>
                  <a:srgbClr val="231F20"/>
                </a:solidFill>
                <a:latin typeface="Arial"/>
                <a:cs typeface="Arial"/>
              </a:rPr>
              <a:t> </a:t>
            </a:r>
            <a:r>
              <a:rPr sz="650" spc="5" dirty="0">
                <a:solidFill>
                  <a:srgbClr val="231F20"/>
                </a:solidFill>
                <a:latin typeface="Arial"/>
                <a:cs typeface="Arial"/>
              </a:rPr>
              <a:t>Interface</a:t>
            </a:r>
            <a:endParaRPr sz="650">
              <a:latin typeface="Arial"/>
              <a:cs typeface="Arial"/>
            </a:endParaRPr>
          </a:p>
        </p:txBody>
      </p:sp>
      <p:sp>
        <p:nvSpPr>
          <p:cNvPr id="91" name="object 91"/>
          <p:cNvSpPr txBox="1"/>
          <p:nvPr/>
        </p:nvSpPr>
        <p:spPr>
          <a:xfrm>
            <a:off x="3773160" y="1687201"/>
            <a:ext cx="199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Stub</a:t>
            </a:r>
            <a:endParaRPr sz="650">
              <a:latin typeface="Arial"/>
              <a:cs typeface="Arial"/>
            </a:endParaRPr>
          </a:p>
        </p:txBody>
      </p:sp>
      <p:sp>
        <p:nvSpPr>
          <p:cNvPr id="92" name="object 92"/>
          <p:cNvSpPr txBox="1"/>
          <p:nvPr/>
        </p:nvSpPr>
        <p:spPr>
          <a:xfrm>
            <a:off x="3017733" y="1102196"/>
            <a:ext cx="358775" cy="220979"/>
          </a:xfrm>
          <a:prstGeom prst="rect">
            <a:avLst/>
          </a:prstGeom>
        </p:spPr>
        <p:txBody>
          <a:bodyPr vert="horz" wrap="square" lIns="0" tIns="21590" rIns="0" bIns="0" rtlCol="0">
            <a:spAutoFit/>
          </a:bodyPr>
          <a:lstStyle/>
          <a:p>
            <a:pPr marL="12700" marR="5080" indent="79375">
              <a:lnSpc>
                <a:spcPts val="740"/>
              </a:lnSpc>
              <a:spcBef>
                <a:spcPts val="170"/>
              </a:spcBef>
            </a:pPr>
            <a:r>
              <a:rPr sz="650" spc="5" dirty="0">
                <a:solidFill>
                  <a:srgbClr val="231F20"/>
                </a:solidFill>
                <a:latin typeface="Arial"/>
                <a:cs typeface="Arial"/>
              </a:rPr>
              <a:t>Queue  manager</a:t>
            </a:r>
            <a:endParaRPr sz="650">
              <a:latin typeface="Arial"/>
              <a:cs typeface="Arial"/>
            </a:endParaRPr>
          </a:p>
        </p:txBody>
      </p:sp>
      <p:sp>
        <p:nvSpPr>
          <p:cNvPr id="93" name="object 93"/>
          <p:cNvSpPr txBox="1"/>
          <p:nvPr/>
        </p:nvSpPr>
        <p:spPr>
          <a:xfrm>
            <a:off x="2484759" y="1639828"/>
            <a:ext cx="826769" cy="127000"/>
          </a:xfrm>
          <a:prstGeom prst="rect">
            <a:avLst/>
          </a:prstGeom>
        </p:spPr>
        <p:txBody>
          <a:bodyPr vert="horz" wrap="square" lIns="0" tIns="13970" rIns="0" bIns="0" rtlCol="0">
            <a:spAutoFit/>
          </a:bodyPr>
          <a:lstStyle/>
          <a:p>
            <a:pPr marL="38100">
              <a:lnSpc>
                <a:spcPct val="100000"/>
              </a:lnSpc>
              <a:spcBef>
                <a:spcPts val="110"/>
              </a:spcBef>
            </a:pPr>
            <a:r>
              <a:rPr sz="975" spc="15" baseline="-29914" dirty="0">
                <a:solidFill>
                  <a:srgbClr val="231F20"/>
                </a:solidFill>
                <a:latin typeface="Arial"/>
                <a:cs typeface="Arial"/>
              </a:rPr>
              <a:t>MCA</a:t>
            </a:r>
            <a:r>
              <a:rPr sz="975" spc="202" baseline="-29914" dirty="0">
                <a:solidFill>
                  <a:srgbClr val="231F20"/>
                </a:solidFill>
                <a:latin typeface="Arial"/>
                <a:cs typeface="Arial"/>
              </a:rPr>
              <a:t> </a:t>
            </a:r>
            <a:r>
              <a:rPr sz="975" spc="15" baseline="-29914" dirty="0">
                <a:solidFill>
                  <a:srgbClr val="231F20"/>
                </a:solidFill>
                <a:latin typeface="Arial"/>
                <a:cs typeface="Arial"/>
              </a:rPr>
              <a:t>MCA  </a:t>
            </a:r>
            <a:r>
              <a:rPr sz="975" spc="52" baseline="-29914"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p:txBody>
      </p:sp>
      <p:sp>
        <p:nvSpPr>
          <p:cNvPr id="94" name="object 94"/>
          <p:cNvSpPr txBox="1"/>
          <p:nvPr/>
        </p:nvSpPr>
        <p:spPr>
          <a:xfrm>
            <a:off x="3056306" y="1734035"/>
            <a:ext cx="1847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stub</a:t>
            </a:r>
            <a:endParaRPr sz="650">
              <a:latin typeface="Arial"/>
              <a:cs typeface="Arial"/>
            </a:endParaRPr>
          </a:p>
        </p:txBody>
      </p:sp>
      <p:grpSp>
        <p:nvGrpSpPr>
          <p:cNvPr id="95" name="object 95"/>
          <p:cNvGrpSpPr/>
          <p:nvPr/>
        </p:nvGrpSpPr>
        <p:grpSpPr>
          <a:xfrm>
            <a:off x="1506536" y="907905"/>
            <a:ext cx="2571750" cy="1439545"/>
            <a:chOff x="1506536" y="907905"/>
            <a:chExt cx="2571750" cy="1439545"/>
          </a:xfrm>
        </p:grpSpPr>
        <p:sp>
          <p:nvSpPr>
            <p:cNvPr id="96" name="object 96"/>
            <p:cNvSpPr/>
            <p:nvPr/>
          </p:nvSpPr>
          <p:spPr>
            <a:xfrm>
              <a:off x="1734561" y="1838000"/>
              <a:ext cx="42545" cy="42545"/>
            </a:xfrm>
            <a:custGeom>
              <a:avLst/>
              <a:gdLst/>
              <a:ahLst/>
              <a:cxnLst/>
              <a:rect l="l" t="t" r="r" b="b"/>
              <a:pathLst>
                <a:path w="42544" h="42544">
                  <a:moveTo>
                    <a:pt x="21081" y="0"/>
                  </a:moveTo>
                  <a:lnTo>
                    <a:pt x="12878" y="1657"/>
                  </a:lnTo>
                  <a:lnTo>
                    <a:pt x="6177" y="6177"/>
                  </a:lnTo>
                  <a:lnTo>
                    <a:pt x="1657" y="12880"/>
                  </a:lnTo>
                  <a:lnTo>
                    <a:pt x="0" y="21085"/>
                  </a:lnTo>
                  <a:lnTo>
                    <a:pt x="1657" y="29291"/>
                  </a:lnTo>
                  <a:lnTo>
                    <a:pt x="6177" y="35992"/>
                  </a:lnTo>
                  <a:lnTo>
                    <a:pt x="12878" y="40510"/>
                  </a:lnTo>
                  <a:lnTo>
                    <a:pt x="21081" y="42167"/>
                  </a:lnTo>
                  <a:lnTo>
                    <a:pt x="29291" y="40510"/>
                  </a:lnTo>
                  <a:lnTo>
                    <a:pt x="35996" y="35992"/>
                  </a:lnTo>
                  <a:lnTo>
                    <a:pt x="40516" y="29291"/>
                  </a:lnTo>
                  <a:lnTo>
                    <a:pt x="42174" y="21085"/>
                  </a:lnTo>
                  <a:lnTo>
                    <a:pt x="40516" y="12880"/>
                  </a:lnTo>
                  <a:lnTo>
                    <a:pt x="35996" y="6177"/>
                  </a:lnTo>
                  <a:lnTo>
                    <a:pt x="29291" y="1657"/>
                  </a:lnTo>
                  <a:lnTo>
                    <a:pt x="21081" y="0"/>
                  </a:lnTo>
                  <a:close/>
                </a:path>
              </a:pathLst>
            </a:custGeom>
            <a:solidFill>
              <a:srgbClr val="FFFFFF"/>
            </a:solidFill>
          </p:spPr>
          <p:txBody>
            <a:bodyPr wrap="square" lIns="0" tIns="0" rIns="0" bIns="0" rtlCol="0"/>
            <a:lstStyle/>
            <a:p>
              <a:endParaRPr/>
            </a:p>
          </p:txBody>
        </p:sp>
        <p:sp>
          <p:nvSpPr>
            <p:cNvPr id="97" name="object 97"/>
            <p:cNvSpPr/>
            <p:nvPr/>
          </p:nvSpPr>
          <p:spPr>
            <a:xfrm>
              <a:off x="1734561" y="1838000"/>
              <a:ext cx="42545" cy="42545"/>
            </a:xfrm>
            <a:custGeom>
              <a:avLst/>
              <a:gdLst/>
              <a:ahLst/>
              <a:cxnLst/>
              <a:rect l="l" t="t" r="r" b="b"/>
              <a:pathLst>
                <a:path w="42544" h="42544">
                  <a:moveTo>
                    <a:pt x="21081" y="0"/>
                  </a:moveTo>
                  <a:lnTo>
                    <a:pt x="29291" y="1657"/>
                  </a:lnTo>
                  <a:lnTo>
                    <a:pt x="35996" y="6177"/>
                  </a:lnTo>
                  <a:lnTo>
                    <a:pt x="40516" y="12880"/>
                  </a:lnTo>
                  <a:lnTo>
                    <a:pt x="42174" y="21085"/>
                  </a:lnTo>
                  <a:lnTo>
                    <a:pt x="40516" y="29291"/>
                  </a:lnTo>
                  <a:lnTo>
                    <a:pt x="35996" y="35992"/>
                  </a:lnTo>
                  <a:lnTo>
                    <a:pt x="29291" y="40510"/>
                  </a:lnTo>
                  <a:lnTo>
                    <a:pt x="21081" y="42167"/>
                  </a:lnTo>
                  <a:lnTo>
                    <a:pt x="12878" y="40510"/>
                  </a:lnTo>
                  <a:lnTo>
                    <a:pt x="6177" y="35992"/>
                  </a:lnTo>
                  <a:lnTo>
                    <a:pt x="1657" y="29291"/>
                  </a:lnTo>
                  <a:lnTo>
                    <a:pt x="0" y="21085"/>
                  </a:lnTo>
                  <a:lnTo>
                    <a:pt x="1657" y="12880"/>
                  </a:lnTo>
                  <a:lnTo>
                    <a:pt x="6177" y="6177"/>
                  </a:lnTo>
                  <a:lnTo>
                    <a:pt x="12878" y="1657"/>
                  </a:lnTo>
                  <a:lnTo>
                    <a:pt x="21081" y="0"/>
                  </a:lnTo>
                  <a:close/>
                </a:path>
              </a:pathLst>
            </a:custGeom>
            <a:ln w="5270">
              <a:solidFill>
                <a:srgbClr val="231F20"/>
              </a:solidFill>
            </a:ln>
          </p:spPr>
          <p:txBody>
            <a:bodyPr wrap="square" lIns="0" tIns="0" rIns="0" bIns="0" rtlCol="0"/>
            <a:lstStyle/>
            <a:p>
              <a:endParaRPr/>
            </a:p>
          </p:txBody>
        </p:sp>
        <p:sp>
          <p:nvSpPr>
            <p:cNvPr id="98" name="object 98"/>
            <p:cNvSpPr/>
            <p:nvPr/>
          </p:nvSpPr>
          <p:spPr>
            <a:xfrm>
              <a:off x="1961899" y="1838209"/>
              <a:ext cx="42545" cy="42545"/>
            </a:xfrm>
            <a:custGeom>
              <a:avLst/>
              <a:gdLst/>
              <a:ahLst/>
              <a:cxnLst/>
              <a:rect l="l" t="t" r="r" b="b"/>
              <a:pathLst>
                <a:path w="42544" h="42544">
                  <a:moveTo>
                    <a:pt x="21081" y="0"/>
                  </a:moveTo>
                  <a:lnTo>
                    <a:pt x="12874" y="1657"/>
                  </a:lnTo>
                  <a:lnTo>
                    <a:pt x="6173" y="6176"/>
                  </a:lnTo>
                  <a:lnTo>
                    <a:pt x="1656" y="12878"/>
                  </a:lnTo>
                  <a:lnTo>
                    <a:pt x="0" y="21086"/>
                  </a:lnTo>
                  <a:lnTo>
                    <a:pt x="1656" y="29291"/>
                  </a:lnTo>
                  <a:lnTo>
                    <a:pt x="6173" y="35994"/>
                  </a:lnTo>
                  <a:lnTo>
                    <a:pt x="12874" y="40514"/>
                  </a:lnTo>
                  <a:lnTo>
                    <a:pt x="21081" y="42172"/>
                  </a:lnTo>
                  <a:lnTo>
                    <a:pt x="29285" y="40514"/>
                  </a:lnTo>
                  <a:lnTo>
                    <a:pt x="35986" y="35994"/>
                  </a:lnTo>
                  <a:lnTo>
                    <a:pt x="40506" y="29291"/>
                  </a:lnTo>
                  <a:lnTo>
                    <a:pt x="42163" y="21086"/>
                  </a:lnTo>
                  <a:lnTo>
                    <a:pt x="40506" y="12878"/>
                  </a:lnTo>
                  <a:lnTo>
                    <a:pt x="35986" y="6176"/>
                  </a:lnTo>
                  <a:lnTo>
                    <a:pt x="29285" y="1657"/>
                  </a:lnTo>
                  <a:lnTo>
                    <a:pt x="21081" y="0"/>
                  </a:lnTo>
                  <a:close/>
                </a:path>
              </a:pathLst>
            </a:custGeom>
            <a:solidFill>
              <a:srgbClr val="FFFFFF"/>
            </a:solidFill>
          </p:spPr>
          <p:txBody>
            <a:bodyPr wrap="square" lIns="0" tIns="0" rIns="0" bIns="0" rtlCol="0"/>
            <a:lstStyle/>
            <a:p>
              <a:endParaRPr/>
            </a:p>
          </p:txBody>
        </p:sp>
        <p:sp>
          <p:nvSpPr>
            <p:cNvPr id="99" name="object 99"/>
            <p:cNvSpPr/>
            <p:nvPr/>
          </p:nvSpPr>
          <p:spPr>
            <a:xfrm>
              <a:off x="1961899" y="1838209"/>
              <a:ext cx="42545" cy="42545"/>
            </a:xfrm>
            <a:custGeom>
              <a:avLst/>
              <a:gdLst/>
              <a:ahLst/>
              <a:cxnLst/>
              <a:rect l="l" t="t" r="r" b="b"/>
              <a:pathLst>
                <a:path w="42544" h="42544">
                  <a:moveTo>
                    <a:pt x="21081" y="0"/>
                  </a:moveTo>
                  <a:lnTo>
                    <a:pt x="29285" y="1657"/>
                  </a:lnTo>
                  <a:lnTo>
                    <a:pt x="35986" y="6176"/>
                  </a:lnTo>
                  <a:lnTo>
                    <a:pt x="40506" y="12878"/>
                  </a:lnTo>
                  <a:lnTo>
                    <a:pt x="42163" y="21086"/>
                  </a:lnTo>
                  <a:lnTo>
                    <a:pt x="40506" y="29291"/>
                  </a:lnTo>
                  <a:lnTo>
                    <a:pt x="35986" y="35994"/>
                  </a:lnTo>
                  <a:lnTo>
                    <a:pt x="29285" y="40514"/>
                  </a:lnTo>
                  <a:lnTo>
                    <a:pt x="21081" y="42172"/>
                  </a:lnTo>
                  <a:lnTo>
                    <a:pt x="12874" y="40514"/>
                  </a:lnTo>
                  <a:lnTo>
                    <a:pt x="6173" y="35994"/>
                  </a:lnTo>
                  <a:lnTo>
                    <a:pt x="1656" y="29291"/>
                  </a:lnTo>
                  <a:lnTo>
                    <a:pt x="0" y="21086"/>
                  </a:lnTo>
                  <a:lnTo>
                    <a:pt x="1656" y="12878"/>
                  </a:lnTo>
                  <a:lnTo>
                    <a:pt x="6173" y="6176"/>
                  </a:lnTo>
                  <a:lnTo>
                    <a:pt x="12874" y="1657"/>
                  </a:lnTo>
                  <a:lnTo>
                    <a:pt x="21081" y="0"/>
                  </a:lnTo>
                  <a:close/>
                </a:path>
              </a:pathLst>
            </a:custGeom>
            <a:ln w="5270">
              <a:solidFill>
                <a:srgbClr val="231F20"/>
              </a:solidFill>
            </a:ln>
          </p:spPr>
          <p:txBody>
            <a:bodyPr wrap="square" lIns="0" tIns="0" rIns="0" bIns="0" rtlCol="0"/>
            <a:lstStyle/>
            <a:p>
              <a:endParaRPr/>
            </a:p>
          </p:txBody>
        </p:sp>
        <p:sp>
          <p:nvSpPr>
            <p:cNvPr id="100" name="object 100"/>
            <p:cNvSpPr/>
            <p:nvPr/>
          </p:nvSpPr>
          <p:spPr>
            <a:xfrm>
              <a:off x="3195786" y="910540"/>
              <a:ext cx="280035" cy="605790"/>
            </a:xfrm>
            <a:custGeom>
              <a:avLst/>
              <a:gdLst/>
              <a:ahLst/>
              <a:cxnLst/>
              <a:rect l="l" t="t" r="r" b="b"/>
              <a:pathLst>
                <a:path w="280035" h="605790">
                  <a:moveTo>
                    <a:pt x="93762" y="0"/>
                  </a:moveTo>
                  <a:lnTo>
                    <a:pt x="279706" y="201317"/>
                  </a:lnTo>
                  <a:lnTo>
                    <a:pt x="225187" y="397536"/>
                  </a:lnTo>
                  <a:lnTo>
                    <a:pt x="81515" y="546317"/>
                  </a:lnTo>
                  <a:lnTo>
                    <a:pt x="0" y="605320"/>
                  </a:lnTo>
                </a:path>
              </a:pathLst>
            </a:custGeom>
            <a:ln w="5270">
              <a:solidFill>
                <a:srgbClr val="231F20"/>
              </a:solidFill>
            </a:ln>
          </p:spPr>
          <p:txBody>
            <a:bodyPr wrap="square" lIns="0" tIns="0" rIns="0" bIns="0" rtlCol="0"/>
            <a:lstStyle/>
            <a:p>
              <a:endParaRPr/>
            </a:p>
          </p:txBody>
        </p:sp>
        <p:sp>
          <p:nvSpPr>
            <p:cNvPr id="101" name="object 101"/>
            <p:cNvSpPr/>
            <p:nvPr/>
          </p:nvSpPr>
          <p:spPr>
            <a:xfrm>
              <a:off x="2774114" y="1859085"/>
              <a:ext cx="69850" cy="288290"/>
            </a:xfrm>
            <a:custGeom>
              <a:avLst/>
              <a:gdLst/>
              <a:ahLst/>
              <a:cxnLst/>
              <a:rect l="l" t="t" r="r" b="b"/>
              <a:pathLst>
                <a:path w="69850" h="288289">
                  <a:moveTo>
                    <a:pt x="69718" y="0"/>
                  </a:moveTo>
                  <a:lnTo>
                    <a:pt x="49223" y="40112"/>
                  </a:lnTo>
                  <a:lnTo>
                    <a:pt x="30277" y="78606"/>
                  </a:lnTo>
                  <a:lnTo>
                    <a:pt x="14607" y="118683"/>
                  </a:lnTo>
                  <a:lnTo>
                    <a:pt x="3939" y="163544"/>
                  </a:lnTo>
                  <a:lnTo>
                    <a:pt x="0" y="216391"/>
                  </a:lnTo>
                  <a:lnTo>
                    <a:pt x="0" y="287930"/>
                  </a:lnTo>
                </a:path>
              </a:pathLst>
            </a:custGeom>
            <a:ln w="5270">
              <a:solidFill>
                <a:srgbClr val="231F20"/>
              </a:solidFill>
            </a:ln>
          </p:spPr>
          <p:txBody>
            <a:bodyPr wrap="square" lIns="0" tIns="0" rIns="0" bIns="0" rtlCol="0"/>
            <a:lstStyle/>
            <a:p>
              <a:endParaRPr/>
            </a:p>
          </p:txBody>
        </p:sp>
        <p:pic>
          <p:nvPicPr>
            <p:cNvPr id="102" name="object 102"/>
            <p:cNvPicPr/>
            <p:nvPr/>
          </p:nvPicPr>
          <p:blipFill>
            <a:blip r:embed="rId10" cstate="print"/>
            <a:stretch>
              <a:fillRect/>
            </a:stretch>
          </p:blipFill>
          <p:spPr>
            <a:xfrm>
              <a:off x="2742239" y="2110014"/>
              <a:ext cx="63751" cy="74384"/>
            </a:xfrm>
            <a:prstGeom prst="rect">
              <a:avLst/>
            </a:prstGeom>
          </p:spPr>
        </p:pic>
        <p:sp>
          <p:nvSpPr>
            <p:cNvPr id="103" name="object 103"/>
            <p:cNvSpPr/>
            <p:nvPr/>
          </p:nvSpPr>
          <p:spPr>
            <a:xfrm>
              <a:off x="2646916" y="1912329"/>
              <a:ext cx="43180" cy="272415"/>
            </a:xfrm>
            <a:custGeom>
              <a:avLst/>
              <a:gdLst/>
              <a:ahLst/>
              <a:cxnLst/>
              <a:rect l="l" t="t" r="r" b="b"/>
              <a:pathLst>
                <a:path w="43180" h="272414">
                  <a:moveTo>
                    <a:pt x="0" y="0"/>
                  </a:moveTo>
                  <a:lnTo>
                    <a:pt x="21249" y="41481"/>
                  </a:lnTo>
                  <a:lnTo>
                    <a:pt x="34368" y="71736"/>
                  </a:lnTo>
                  <a:lnTo>
                    <a:pt x="41021" y="106962"/>
                  </a:lnTo>
                  <a:lnTo>
                    <a:pt x="42870" y="163357"/>
                  </a:lnTo>
                  <a:lnTo>
                    <a:pt x="42870" y="272275"/>
                  </a:lnTo>
                </a:path>
              </a:pathLst>
            </a:custGeom>
            <a:ln w="5270">
              <a:solidFill>
                <a:srgbClr val="231F20"/>
              </a:solidFill>
            </a:ln>
          </p:spPr>
          <p:txBody>
            <a:bodyPr wrap="square" lIns="0" tIns="0" rIns="0" bIns="0" rtlCol="0"/>
            <a:lstStyle/>
            <a:p>
              <a:endParaRPr/>
            </a:p>
          </p:txBody>
        </p:sp>
        <p:sp>
          <p:nvSpPr>
            <p:cNvPr id="104" name="object 104"/>
            <p:cNvSpPr/>
            <p:nvPr/>
          </p:nvSpPr>
          <p:spPr>
            <a:xfrm>
              <a:off x="2630399" y="1878801"/>
              <a:ext cx="61594" cy="81280"/>
            </a:xfrm>
            <a:custGeom>
              <a:avLst/>
              <a:gdLst/>
              <a:ahLst/>
              <a:cxnLst/>
              <a:rect l="l" t="t" r="r" b="b"/>
              <a:pathLst>
                <a:path w="61594" h="81280">
                  <a:moveTo>
                    <a:pt x="0" y="0"/>
                  </a:moveTo>
                  <a:lnTo>
                    <a:pt x="4279" y="80807"/>
                  </a:lnTo>
                  <a:lnTo>
                    <a:pt x="15936" y="68404"/>
                  </a:lnTo>
                  <a:lnTo>
                    <a:pt x="29354" y="59571"/>
                  </a:lnTo>
                  <a:lnTo>
                    <a:pt x="44530" y="54311"/>
                  </a:lnTo>
                  <a:lnTo>
                    <a:pt x="61464" y="52625"/>
                  </a:lnTo>
                  <a:lnTo>
                    <a:pt x="0" y="0"/>
                  </a:lnTo>
                  <a:close/>
                </a:path>
              </a:pathLst>
            </a:custGeom>
            <a:solidFill>
              <a:srgbClr val="231F20"/>
            </a:solidFill>
          </p:spPr>
          <p:txBody>
            <a:bodyPr wrap="square" lIns="0" tIns="0" rIns="0" bIns="0" rtlCol="0"/>
            <a:lstStyle/>
            <a:p>
              <a:endParaRPr/>
            </a:p>
          </p:txBody>
        </p:sp>
        <p:sp>
          <p:nvSpPr>
            <p:cNvPr id="105" name="object 105"/>
            <p:cNvSpPr/>
            <p:nvPr/>
          </p:nvSpPr>
          <p:spPr>
            <a:xfrm>
              <a:off x="2822751" y="1838000"/>
              <a:ext cx="42545" cy="42545"/>
            </a:xfrm>
            <a:custGeom>
              <a:avLst/>
              <a:gdLst/>
              <a:ahLst/>
              <a:cxnLst/>
              <a:rect l="l" t="t" r="r" b="b"/>
              <a:pathLst>
                <a:path w="42544" h="42544">
                  <a:moveTo>
                    <a:pt x="21081" y="0"/>
                  </a:moveTo>
                  <a:lnTo>
                    <a:pt x="12878" y="1657"/>
                  </a:lnTo>
                  <a:lnTo>
                    <a:pt x="6177" y="6177"/>
                  </a:lnTo>
                  <a:lnTo>
                    <a:pt x="1657" y="12880"/>
                  </a:lnTo>
                  <a:lnTo>
                    <a:pt x="0" y="21085"/>
                  </a:lnTo>
                  <a:lnTo>
                    <a:pt x="1657" y="29291"/>
                  </a:lnTo>
                  <a:lnTo>
                    <a:pt x="6177" y="35992"/>
                  </a:lnTo>
                  <a:lnTo>
                    <a:pt x="12878" y="40510"/>
                  </a:lnTo>
                  <a:lnTo>
                    <a:pt x="21081" y="42167"/>
                  </a:lnTo>
                  <a:lnTo>
                    <a:pt x="29289" y="40510"/>
                  </a:lnTo>
                  <a:lnTo>
                    <a:pt x="35990" y="35992"/>
                  </a:lnTo>
                  <a:lnTo>
                    <a:pt x="40507" y="29291"/>
                  </a:lnTo>
                  <a:lnTo>
                    <a:pt x="42163" y="21085"/>
                  </a:lnTo>
                  <a:lnTo>
                    <a:pt x="40507" y="12880"/>
                  </a:lnTo>
                  <a:lnTo>
                    <a:pt x="35990" y="6177"/>
                  </a:lnTo>
                  <a:lnTo>
                    <a:pt x="29289" y="1657"/>
                  </a:lnTo>
                  <a:lnTo>
                    <a:pt x="21081" y="0"/>
                  </a:lnTo>
                  <a:close/>
                </a:path>
              </a:pathLst>
            </a:custGeom>
            <a:solidFill>
              <a:srgbClr val="FFFFFF"/>
            </a:solidFill>
          </p:spPr>
          <p:txBody>
            <a:bodyPr wrap="square" lIns="0" tIns="0" rIns="0" bIns="0" rtlCol="0"/>
            <a:lstStyle/>
            <a:p>
              <a:endParaRPr/>
            </a:p>
          </p:txBody>
        </p:sp>
        <p:sp>
          <p:nvSpPr>
            <p:cNvPr id="106" name="object 106"/>
            <p:cNvSpPr/>
            <p:nvPr/>
          </p:nvSpPr>
          <p:spPr>
            <a:xfrm>
              <a:off x="2822751" y="1838000"/>
              <a:ext cx="42545" cy="42545"/>
            </a:xfrm>
            <a:custGeom>
              <a:avLst/>
              <a:gdLst/>
              <a:ahLst/>
              <a:cxnLst/>
              <a:rect l="l" t="t" r="r" b="b"/>
              <a:pathLst>
                <a:path w="42544" h="42544">
                  <a:moveTo>
                    <a:pt x="21081" y="0"/>
                  </a:moveTo>
                  <a:lnTo>
                    <a:pt x="12878" y="1657"/>
                  </a:lnTo>
                  <a:lnTo>
                    <a:pt x="6177" y="6177"/>
                  </a:lnTo>
                  <a:lnTo>
                    <a:pt x="1657" y="12880"/>
                  </a:lnTo>
                  <a:lnTo>
                    <a:pt x="0" y="21085"/>
                  </a:lnTo>
                  <a:lnTo>
                    <a:pt x="1657" y="29291"/>
                  </a:lnTo>
                  <a:lnTo>
                    <a:pt x="6177" y="35992"/>
                  </a:lnTo>
                  <a:lnTo>
                    <a:pt x="12878" y="40510"/>
                  </a:lnTo>
                  <a:lnTo>
                    <a:pt x="21081" y="42167"/>
                  </a:lnTo>
                  <a:lnTo>
                    <a:pt x="29289" y="40510"/>
                  </a:lnTo>
                  <a:lnTo>
                    <a:pt x="35990" y="35992"/>
                  </a:lnTo>
                  <a:lnTo>
                    <a:pt x="40507" y="29291"/>
                  </a:lnTo>
                  <a:lnTo>
                    <a:pt x="42163" y="21085"/>
                  </a:lnTo>
                  <a:lnTo>
                    <a:pt x="40507" y="12880"/>
                  </a:lnTo>
                  <a:lnTo>
                    <a:pt x="35990" y="6177"/>
                  </a:lnTo>
                  <a:lnTo>
                    <a:pt x="29289" y="1657"/>
                  </a:lnTo>
                  <a:lnTo>
                    <a:pt x="21081" y="0"/>
                  </a:lnTo>
                  <a:close/>
                </a:path>
              </a:pathLst>
            </a:custGeom>
            <a:ln w="5270">
              <a:solidFill>
                <a:srgbClr val="231F20"/>
              </a:solidFill>
            </a:ln>
          </p:spPr>
          <p:txBody>
            <a:bodyPr wrap="square" lIns="0" tIns="0" rIns="0" bIns="0" rtlCol="0"/>
            <a:lstStyle/>
            <a:p>
              <a:endParaRPr/>
            </a:p>
          </p:txBody>
        </p:sp>
        <p:sp>
          <p:nvSpPr>
            <p:cNvPr id="107" name="object 107"/>
            <p:cNvSpPr/>
            <p:nvPr/>
          </p:nvSpPr>
          <p:spPr>
            <a:xfrm>
              <a:off x="4009214" y="961084"/>
              <a:ext cx="66675" cy="139065"/>
            </a:xfrm>
            <a:custGeom>
              <a:avLst/>
              <a:gdLst/>
              <a:ahLst/>
              <a:cxnLst/>
              <a:rect l="l" t="t" r="r" b="b"/>
              <a:pathLst>
                <a:path w="66675" h="139065">
                  <a:moveTo>
                    <a:pt x="66186" y="0"/>
                  </a:moveTo>
                  <a:lnTo>
                    <a:pt x="0" y="138550"/>
                  </a:lnTo>
                </a:path>
              </a:pathLst>
            </a:custGeom>
            <a:ln w="5270">
              <a:solidFill>
                <a:srgbClr val="231F20"/>
              </a:solidFill>
            </a:ln>
          </p:spPr>
          <p:txBody>
            <a:bodyPr wrap="square" lIns="0" tIns="0" rIns="0" bIns="0" rtlCol="0"/>
            <a:lstStyle/>
            <a:p>
              <a:endParaRPr/>
            </a:p>
          </p:txBody>
        </p:sp>
        <p:sp>
          <p:nvSpPr>
            <p:cNvPr id="108" name="object 108"/>
            <p:cNvSpPr/>
            <p:nvPr/>
          </p:nvSpPr>
          <p:spPr>
            <a:xfrm>
              <a:off x="3150186" y="1880254"/>
              <a:ext cx="721360" cy="295275"/>
            </a:xfrm>
            <a:custGeom>
              <a:avLst/>
              <a:gdLst/>
              <a:ahLst/>
              <a:cxnLst/>
              <a:rect l="l" t="t" r="r" b="b"/>
              <a:pathLst>
                <a:path w="721360" h="295275">
                  <a:moveTo>
                    <a:pt x="0" y="0"/>
                  </a:moveTo>
                  <a:lnTo>
                    <a:pt x="2371" y="231596"/>
                  </a:lnTo>
                  <a:lnTo>
                    <a:pt x="12255" y="268162"/>
                  </a:lnTo>
                  <a:lnTo>
                    <a:pt x="33999" y="286940"/>
                  </a:lnTo>
                  <a:lnTo>
                    <a:pt x="55744" y="293858"/>
                  </a:lnTo>
                  <a:lnTo>
                    <a:pt x="65628" y="294846"/>
                  </a:lnTo>
                </a:path>
                <a:path w="721360" h="295275">
                  <a:moveTo>
                    <a:pt x="721194" y="37378"/>
                  </a:moveTo>
                  <a:lnTo>
                    <a:pt x="719212" y="231596"/>
                  </a:lnTo>
                  <a:lnTo>
                    <a:pt x="709328" y="268162"/>
                  </a:lnTo>
                  <a:lnTo>
                    <a:pt x="687584" y="286940"/>
                  </a:lnTo>
                  <a:lnTo>
                    <a:pt x="665839" y="293858"/>
                  </a:lnTo>
                  <a:lnTo>
                    <a:pt x="655955" y="294846"/>
                  </a:lnTo>
                </a:path>
              </a:pathLst>
            </a:custGeom>
            <a:ln w="5270">
              <a:solidFill>
                <a:srgbClr val="231F20"/>
              </a:solidFill>
            </a:ln>
          </p:spPr>
          <p:txBody>
            <a:bodyPr wrap="square" lIns="0" tIns="0" rIns="0" bIns="0" rtlCol="0"/>
            <a:lstStyle/>
            <a:p>
              <a:endParaRPr/>
            </a:p>
          </p:txBody>
        </p:sp>
        <p:pic>
          <p:nvPicPr>
            <p:cNvPr id="109" name="object 109"/>
            <p:cNvPicPr/>
            <p:nvPr/>
          </p:nvPicPr>
          <p:blipFill>
            <a:blip r:embed="rId11" cstate="print"/>
            <a:stretch>
              <a:fillRect/>
            </a:stretch>
          </p:blipFill>
          <p:spPr>
            <a:xfrm>
              <a:off x="3839124" y="1880254"/>
              <a:ext cx="63751" cy="74705"/>
            </a:xfrm>
            <a:prstGeom prst="rect">
              <a:avLst/>
            </a:prstGeom>
          </p:spPr>
        </p:pic>
        <p:sp>
          <p:nvSpPr>
            <p:cNvPr id="110" name="object 110"/>
            <p:cNvSpPr/>
            <p:nvPr/>
          </p:nvSpPr>
          <p:spPr>
            <a:xfrm>
              <a:off x="3215814" y="2175101"/>
              <a:ext cx="590550" cy="0"/>
            </a:xfrm>
            <a:custGeom>
              <a:avLst/>
              <a:gdLst/>
              <a:ahLst/>
              <a:cxnLst/>
              <a:rect l="l" t="t" r="r" b="b"/>
              <a:pathLst>
                <a:path w="590550">
                  <a:moveTo>
                    <a:pt x="0" y="0"/>
                  </a:moveTo>
                  <a:lnTo>
                    <a:pt x="590327" y="0"/>
                  </a:lnTo>
                </a:path>
              </a:pathLst>
            </a:custGeom>
            <a:ln w="5270">
              <a:solidFill>
                <a:srgbClr val="231F20"/>
              </a:solidFill>
            </a:ln>
          </p:spPr>
          <p:txBody>
            <a:bodyPr wrap="square" lIns="0" tIns="0" rIns="0" bIns="0" rtlCol="0"/>
            <a:lstStyle/>
            <a:p>
              <a:endParaRPr/>
            </a:p>
          </p:txBody>
        </p:sp>
        <p:sp>
          <p:nvSpPr>
            <p:cNvPr id="111" name="object 111"/>
            <p:cNvSpPr/>
            <p:nvPr/>
          </p:nvSpPr>
          <p:spPr>
            <a:xfrm>
              <a:off x="2802586" y="1941704"/>
              <a:ext cx="290830" cy="402590"/>
            </a:xfrm>
            <a:custGeom>
              <a:avLst/>
              <a:gdLst/>
              <a:ahLst/>
              <a:cxnLst/>
              <a:rect l="l" t="t" r="r" b="b"/>
              <a:pathLst>
                <a:path w="290830" h="402589">
                  <a:moveTo>
                    <a:pt x="290562" y="402510"/>
                  </a:moveTo>
                  <a:lnTo>
                    <a:pt x="0" y="0"/>
                  </a:lnTo>
                </a:path>
              </a:pathLst>
            </a:custGeom>
            <a:ln w="5270">
              <a:solidFill>
                <a:srgbClr val="231F20"/>
              </a:solidFill>
            </a:ln>
          </p:spPr>
          <p:txBody>
            <a:bodyPr wrap="square" lIns="0" tIns="0" rIns="0" bIns="0" rtlCol="0"/>
            <a:lstStyle/>
            <a:p>
              <a:endParaRPr/>
            </a:p>
          </p:txBody>
        </p:sp>
        <p:sp>
          <p:nvSpPr>
            <p:cNvPr id="112" name="object 112"/>
            <p:cNvSpPr/>
            <p:nvPr/>
          </p:nvSpPr>
          <p:spPr>
            <a:xfrm>
              <a:off x="1509108" y="1969643"/>
              <a:ext cx="295275" cy="374650"/>
            </a:xfrm>
            <a:custGeom>
              <a:avLst/>
              <a:gdLst/>
              <a:ahLst/>
              <a:cxnLst/>
              <a:rect l="l" t="t" r="r" b="b"/>
              <a:pathLst>
                <a:path w="295275" h="374650">
                  <a:moveTo>
                    <a:pt x="0" y="374571"/>
                  </a:moveTo>
                  <a:lnTo>
                    <a:pt x="295272" y="0"/>
                  </a:lnTo>
                </a:path>
              </a:pathLst>
            </a:custGeom>
            <a:ln w="5140">
              <a:solidFill>
                <a:srgbClr val="231F20"/>
              </a:solidFill>
            </a:ln>
          </p:spPr>
          <p:txBody>
            <a:bodyPr wrap="square" lIns="0" tIns="0" rIns="0" bIns="0" rtlCol="0"/>
            <a:lstStyle/>
            <a:p>
              <a:endParaRPr/>
            </a:p>
          </p:txBody>
        </p:sp>
      </p:grpSp>
      <p:sp>
        <p:nvSpPr>
          <p:cNvPr id="113" name="object 113"/>
          <p:cNvSpPr txBox="1"/>
          <p:nvPr/>
        </p:nvSpPr>
        <p:spPr>
          <a:xfrm>
            <a:off x="431304" y="2605816"/>
            <a:ext cx="3124835" cy="633095"/>
          </a:xfrm>
          <a:prstGeom prst="rect">
            <a:avLst/>
          </a:prstGeom>
        </p:spPr>
        <p:txBody>
          <a:bodyPr vert="horz" wrap="square" lIns="0" tIns="12065" rIns="0" bIns="0" rtlCol="0">
            <a:spAutoFit/>
          </a:bodyPr>
          <a:lstStyle/>
          <a:p>
            <a:pPr marL="205740" indent="-168275">
              <a:lnSpc>
                <a:spcPts val="1200"/>
              </a:lnSpc>
              <a:spcBef>
                <a:spcPts val="95"/>
              </a:spcBef>
              <a:buClr>
                <a:srgbClr val="3333B2"/>
              </a:buClr>
              <a:buChar char="►"/>
              <a:tabLst>
                <a:tab pos="206375" algn="l"/>
              </a:tabLst>
            </a:pPr>
            <a:r>
              <a:rPr sz="1000" spc="-5" dirty="0">
                <a:latin typeface="Arial"/>
                <a:cs typeface="Arial"/>
              </a:rPr>
              <a:t>Channels are</a:t>
            </a:r>
            <a:r>
              <a:rPr sz="1000" dirty="0">
                <a:latin typeface="Arial"/>
                <a:cs typeface="Arial"/>
              </a:rPr>
              <a:t> </a:t>
            </a:r>
            <a:r>
              <a:rPr sz="1000" spc="-5" dirty="0">
                <a:latin typeface="Arial"/>
                <a:cs typeface="Arial"/>
              </a:rPr>
              <a:t>inherently unidirectional</a:t>
            </a:r>
            <a:endParaRPr sz="1000">
              <a:latin typeface="Arial"/>
              <a:cs typeface="Arial"/>
            </a:endParaRPr>
          </a:p>
          <a:p>
            <a:pPr marL="205740" indent="-168275">
              <a:lnSpc>
                <a:spcPts val="1195"/>
              </a:lnSpc>
              <a:buClr>
                <a:srgbClr val="3333B2"/>
              </a:buClr>
              <a:buChar char="►"/>
              <a:tabLst>
                <a:tab pos="206375" algn="l"/>
              </a:tabLst>
            </a:pPr>
            <a:r>
              <a:rPr sz="1000" spc="-5" dirty="0">
                <a:latin typeface="Arial"/>
                <a:cs typeface="Arial"/>
              </a:rPr>
              <a:t>Automatically</a:t>
            </a:r>
            <a:r>
              <a:rPr sz="1000" spc="-15" dirty="0">
                <a:latin typeface="Arial"/>
                <a:cs typeface="Arial"/>
              </a:rPr>
              <a:t> </a:t>
            </a:r>
            <a:r>
              <a:rPr sz="1000" spc="5" dirty="0">
                <a:latin typeface="Arial"/>
                <a:cs typeface="Arial"/>
              </a:rPr>
              <a:t>start</a:t>
            </a:r>
            <a:r>
              <a:rPr sz="1000" spc="-10" dirty="0">
                <a:latin typeface="Arial"/>
                <a:cs typeface="Arial"/>
              </a:rPr>
              <a:t> </a:t>
            </a:r>
            <a:r>
              <a:rPr sz="1000" spc="-5" dirty="0">
                <a:latin typeface="Arial"/>
                <a:cs typeface="Arial"/>
              </a:rPr>
              <a:t>MCAs</a:t>
            </a:r>
            <a:r>
              <a:rPr sz="1000" spc="-15" dirty="0">
                <a:latin typeface="Arial"/>
                <a:cs typeface="Arial"/>
              </a:rPr>
              <a:t> </a:t>
            </a:r>
            <a:r>
              <a:rPr sz="1000" spc="-5" dirty="0">
                <a:latin typeface="Arial"/>
                <a:cs typeface="Arial"/>
              </a:rPr>
              <a:t>when</a:t>
            </a:r>
            <a:r>
              <a:rPr sz="1000" spc="-10" dirty="0">
                <a:latin typeface="Arial"/>
                <a:cs typeface="Arial"/>
              </a:rPr>
              <a:t> </a:t>
            </a:r>
            <a:r>
              <a:rPr sz="1000" spc="-5" dirty="0">
                <a:latin typeface="Arial"/>
                <a:cs typeface="Arial"/>
              </a:rPr>
              <a:t>messages</a:t>
            </a:r>
            <a:r>
              <a:rPr sz="1000" spc="-15" dirty="0">
                <a:latin typeface="Arial"/>
                <a:cs typeface="Arial"/>
              </a:rPr>
              <a:t> </a:t>
            </a:r>
            <a:r>
              <a:rPr sz="1000" spc="-5" dirty="0">
                <a:latin typeface="Arial"/>
                <a:cs typeface="Arial"/>
              </a:rPr>
              <a:t>arrive</a:t>
            </a:r>
            <a:endParaRPr sz="1000">
              <a:latin typeface="Arial"/>
              <a:cs typeface="Arial"/>
            </a:endParaRPr>
          </a:p>
          <a:p>
            <a:pPr marL="205740" indent="-168275">
              <a:lnSpc>
                <a:spcPts val="1195"/>
              </a:lnSpc>
              <a:buClr>
                <a:srgbClr val="3333B2"/>
              </a:buClr>
              <a:buChar char="►"/>
              <a:tabLst>
                <a:tab pos="206375" algn="l"/>
              </a:tabLst>
            </a:pPr>
            <a:r>
              <a:rPr sz="1000" spc="-10" dirty="0">
                <a:latin typeface="Arial"/>
                <a:cs typeface="Arial"/>
              </a:rPr>
              <a:t>Any</a:t>
            </a:r>
            <a:r>
              <a:rPr sz="1000" spc="-5" dirty="0">
                <a:latin typeface="Arial"/>
                <a:cs typeface="Arial"/>
              </a:rPr>
              <a:t> network of queue</a:t>
            </a:r>
            <a:r>
              <a:rPr sz="1000" dirty="0">
                <a:latin typeface="Arial"/>
                <a:cs typeface="Arial"/>
              </a:rPr>
              <a:t> </a:t>
            </a:r>
            <a:r>
              <a:rPr sz="1000" spc="-5" dirty="0">
                <a:latin typeface="Arial"/>
                <a:cs typeface="Arial"/>
              </a:rPr>
              <a:t>managers can be</a:t>
            </a:r>
            <a:r>
              <a:rPr sz="1000" dirty="0">
                <a:latin typeface="Arial"/>
                <a:cs typeface="Arial"/>
              </a:rPr>
              <a:t> </a:t>
            </a:r>
            <a:r>
              <a:rPr sz="1000" spc="-5" dirty="0">
                <a:latin typeface="Arial"/>
                <a:cs typeface="Arial"/>
              </a:rPr>
              <a:t>created</a:t>
            </a:r>
            <a:endParaRPr sz="1000">
              <a:latin typeface="Arial"/>
              <a:cs typeface="Arial"/>
            </a:endParaRPr>
          </a:p>
          <a:p>
            <a:pPr marL="205740" indent="-168275">
              <a:lnSpc>
                <a:spcPts val="1200"/>
              </a:lnSpc>
              <a:buClr>
                <a:srgbClr val="3333B2"/>
              </a:buClr>
              <a:buChar char="►"/>
              <a:tabLst>
                <a:tab pos="206375" algn="l"/>
              </a:tabLst>
            </a:pPr>
            <a:r>
              <a:rPr sz="1000" spc="-5" dirty="0">
                <a:latin typeface="Arial"/>
                <a:cs typeface="Arial"/>
              </a:rPr>
              <a:t>Routes are</a:t>
            </a:r>
            <a:r>
              <a:rPr sz="1000" dirty="0">
                <a:latin typeface="Arial"/>
                <a:cs typeface="Arial"/>
              </a:rPr>
              <a:t> </a:t>
            </a:r>
            <a:r>
              <a:rPr sz="1000" spc="-5" dirty="0">
                <a:latin typeface="Arial"/>
                <a:cs typeface="Arial"/>
              </a:rPr>
              <a:t>set up</a:t>
            </a:r>
            <a:r>
              <a:rPr sz="1000" dirty="0">
                <a:latin typeface="Arial"/>
                <a:cs typeface="Arial"/>
              </a:rPr>
              <a:t> </a:t>
            </a:r>
            <a:r>
              <a:rPr sz="1000" spc="-5" dirty="0">
                <a:latin typeface="Arial"/>
                <a:cs typeface="Arial"/>
              </a:rPr>
              <a:t>manually (system</a:t>
            </a:r>
            <a:r>
              <a:rPr sz="1000" dirty="0">
                <a:latin typeface="Arial"/>
                <a:cs typeface="Arial"/>
              </a:rPr>
              <a:t> </a:t>
            </a:r>
            <a:r>
              <a:rPr sz="1000" spc="-5" dirty="0">
                <a:latin typeface="Arial"/>
                <a:cs typeface="Arial"/>
              </a:rPr>
              <a:t>administration)</a:t>
            </a:r>
            <a:endParaRPr sz="1000">
              <a:latin typeface="Arial"/>
              <a:cs typeface="Arial"/>
            </a:endParaRPr>
          </a:p>
        </p:txBody>
      </p:sp>
      <p:sp>
        <p:nvSpPr>
          <p:cNvPr id="114" name="object 114"/>
          <p:cNvSpPr txBox="1"/>
          <p:nvPr/>
        </p:nvSpPr>
        <p:spPr>
          <a:xfrm>
            <a:off x="66713" y="3331252"/>
            <a:ext cx="340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O</a:t>
            </a:r>
            <a:r>
              <a:rPr sz="600" spc="-20" dirty="0">
                <a:solidFill>
                  <a:srgbClr val="3333B2"/>
                </a:solidFill>
                <a:latin typeface="Arial"/>
                <a:cs typeface="Arial"/>
                <a:hlinkClick r:id="rId5" action="ppaction://hlinksldjump"/>
              </a:rPr>
              <a:t>v</a:t>
            </a:r>
            <a:r>
              <a:rPr sz="600" spc="-5" dirty="0">
                <a:solidFill>
                  <a:srgbClr val="3333B2"/>
                </a:solidFill>
                <a:latin typeface="Arial"/>
                <a:cs typeface="Arial"/>
                <a:hlinkClick r:id="rId5" action="ppaction://hlinksldjump"/>
              </a:rPr>
              <a:t>e</a:t>
            </a:r>
            <a:r>
              <a:rPr sz="600" spc="10" dirty="0">
                <a:solidFill>
                  <a:srgbClr val="3333B2"/>
                </a:solidFill>
                <a:latin typeface="Arial"/>
                <a:cs typeface="Arial"/>
                <a:hlinkClick r:id="rId5" action="ppaction://hlinksldjump"/>
              </a:rPr>
              <a:t>r</a:t>
            </a:r>
            <a:r>
              <a:rPr sz="600" spc="-5" dirty="0">
                <a:solidFill>
                  <a:srgbClr val="3333B2"/>
                </a:solidFill>
                <a:latin typeface="Arial"/>
                <a:cs typeface="Arial"/>
                <a:hlinkClick r:id="rId5" action="ppaction://hlinksldjump"/>
              </a:rPr>
              <a:t>vi</a:t>
            </a:r>
            <a:r>
              <a:rPr sz="600" spc="-20" dirty="0">
                <a:solidFill>
                  <a:srgbClr val="3333B2"/>
                </a:solidFill>
                <a:latin typeface="Arial"/>
                <a:cs typeface="Arial"/>
                <a:hlinkClick r:id="rId5" action="ppaction://hlinksldjump"/>
              </a:rPr>
              <a:t>e</a:t>
            </a:r>
            <a:r>
              <a:rPr sz="600" spc="-5" dirty="0">
                <a:solidFill>
                  <a:srgbClr val="3333B2"/>
                </a:solidFill>
                <a:latin typeface="Arial"/>
                <a:cs typeface="Arial"/>
                <a:hlinkClick r:id="rId5" action="ppaction://hlinksldjump"/>
              </a:rPr>
              <a:t>w</a:t>
            </a:r>
            <a:endParaRPr sz="600">
              <a:latin typeface="Arial"/>
              <a:cs typeface="Arial"/>
            </a:endParaRPr>
          </a:p>
        </p:txBody>
      </p:sp>
      <p:sp>
        <p:nvSpPr>
          <p:cNvPr id="115" name="object 11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34</a:t>
            </a:r>
            <a:r>
              <a:rPr spc="-40" dirty="0"/>
              <a:t> </a:t>
            </a:r>
            <a:r>
              <a:rPr spc="-5" dirty="0"/>
              <a:t>/</a:t>
            </a:r>
            <a:r>
              <a:rPr spc="-35" dirty="0"/>
              <a:t> </a:t>
            </a:r>
            <a:r>
              <a:rPr spc="-5" dirty="0"/>
              <a:t>49</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752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Message-oriented</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2681699" y="716"/>
            <a:ext cx="185991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spc="40"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IBM’s</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WebSphere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message-queuing</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a:t>
            </a:r>
            <a:endParaRPr sz="600">
              <a:latin typeface="Arial"/>
              <a:cs typeface="Arial"/>
            </a:endParaRPr>
          </a:p>
        </p:txBody>
      </p:sp>
      <p:sp>
        <p:nvSpPr>
          <p:cNvPr id="4" name="object 4"/>
          <p:cNvSpPr txBox="1"/>
          <p:nvPr/>
        </p:nvSpPr>
        <p:spPr>
          <a:xfrm>
            <a:off x="95300" y="188846"/>
            <a:ext cx="4150360" cy="72136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Message</a:t>
            </a:r>
            <a:r>
              <a:rPr sz="1400" spc="-10" dirty="0">
                <a:solidFill>
                  <a:srgbClr val="3333B2"/>
                </a:solidFill>
                <a:latin typeface="Arial"/>
                <a:cs typeface="Arial"/>
              </a:rPr>
              <a:t> </a:t>
            </a:r>
            <a:r>
              <a:rPr sz="1400" spc="15" dirty="0">
                <a:solidFill>
                  <a:srgbClr val="3333B2"/>
                </a:solidFill>
                <a:latin typeface="Arial"/>
                <a:cs typeface="Arial"/>
              </a:rPr>
              <a:t>channel</a:t>
            </a:r>
            <a:r>
              <a:rPr sz="1400" spc="-5" dirty="0">
                <a:solidFill>
                  <a:srgbClr val="3333B2"/>
                </a:solidFill>
                <a:latin typeface="Arial"/>
                <a:cs typeface="Arial"/>
              </a:rPr>
              <a:t> </a:t>
            </a:r>
            <a:r>
              <a:rPr sz="1400" spc="15" dirty="0">
                <a:solidFill>
                  <a:srgbClr val="3333B2"/>
                </a:solidFill>
                <a:latin typeface="Arial"/>
                <a:cs typeface="Arial"/>
              </a:rPr>
              <a:t>agents</a:t>
            </a:r>
            <a:endParaRPr sz="1400">
              <a:latin typeface="Arial"/>
              <a:cs typeface="Arial"/>
            </a:endParaRPr>
          </a:p>
          <a:p>
            <a:pPr>
              <a:lnSpc>
                <a:spcPct val="100000"/>
              </a:lnSpc>
              <a:spcBef>
                <a:spcPts val="20"/>
              </a:spcBef>
            </a:pPr>
            <a:endParaRPr sz="2000">
              <a:latin typeface="Arial"/>
              <a:cs typeface="Arial"/>
            </a:endParaRPr>
          </a:p>
          <a:p>
            <a:pPr marL="264160">
              <a:lnSpc>
                <a:spcPct val="100000"/>
              </a:lnSpc>
              <a:spcBef>
                <a:spcPts val="5"/>
              </a:spcBef>
            </a:pPr>
            <a:r>
              <a:rPr sz="1200" spc="-5" dirty="0">
                <a:solidFill>
                  <a:srgbClr val="3333B2"/>
                </a:solidFill>
                <a:latin typeface="Arial"/>
                <a:cs typeface="Arial"/>
              </a:rPr>
              <a:t>Some attributes</a:t>
            </a:r>
            <a:r>
              <a:rPr sz="1200" dirty="0">
                <a:solidFill>
                  <a:srgbClr val="3333B2"/>
                </a:solidFill>
                <a:latin typeface="Arial"/>
                <a:cs typeface="Arial"/>
              </a:rPr>
              <a:t> </a:t>
            </a:r>
            <a:r>
              <a:rPr sz="1200" spc="-5" dirty="0">
                <a:solidFill>
                  <a:srgbClr val="3333B2"/>
                </a:solidFill>
                <a:latin typeface="Arial"/>
                <a:cs typeface="Arial"/>
              </a:rPr>
              <a:t>associated with</a:t>
            </a:r>
            <a:r>
              <a:rPr sz="1200" dirty="0">
                <a:solidFill>
                  <a:srgbClr val="3333B2"/>
                </a:solidFill>
                <a:latin typeface="Arial"/>
                <a:cs typeface="Arial"/>
              </a:rPr>
              <a:t> </a:t>
            </a:r>
            <a:r>
              <a:rPr sz="1200" spc="-5" dirty="0">
                <a:solidFill>
                  <a:srgbClr val="3333B2"/>
                </a:solidFill>
                <a:latin typeface="Arial"/>
                <a:cs typeface="Arial"/>
              </a:rPr>
              <a:t>message channel</a:t>
            </a:r>
            <a:r>
              <a:rPr sz="1200" dirty="0">
                <a:solidFill>
                  <a:srgbClr val="3333B2"/>
                </a:solidFill>
                <a:latin typeface="Arial"/>
                <a:cs typeface="Arial"/>
              </a:rPr>
              <a:t> </a:t>
            </a:r>
            <a:r>
              <a:rPr sz="1200" spc="-5" dirty="0">
                <a:solidFill>
                  <a:srgbClr val="3333B2"/>
                </a:solidFill>
                <a:latin typeface="Arial"/>
                <a:cs typeface="Arial"/>
              </a:rPr>
              <a:t>agents</a:t>
            </a:r>
            <a:endParaRPr sz="1200">
              <a:latin typeface="Arial"/>
              <a:cs typeface="Arial"/>
            </a:endParaRPr>
          </a:p>
        </p:txBody>
      </p:sp>
      <p:graphicFrame>
        <p:nvGraphicFramePr>
          <p:cNvPr id="5" name="object 5"/>
          <p:cNvGraphicFramePr>
            <a:graphicFrameLocks noGrp="1"/>
          </p:cNvGraphicFramePr>
          <p:nvPr/>
        </p:nvGraphicFramePr>
        <p:xfrm>
          <a:off x="360006" y="1175156"/>
          <a:ext cx="4002404" cy="1570990"/>
        </p:xfrm>
        <a:graphic>
          <a:graphicData uri="http://schemas.openxmlformats.org/drawingml/2006/table">
            <a:tbl>
              <a:tblPr firstRow="1" bandRow="1">
                <a:tableStyleId>{2D5ABB26-0587-4C30-8999-92F81FD0307C}</a:tableStyleId>
              </a:tblPr>
              <a:tblGrid>
                <a:gridCol w="1123950">
                  <a:extLst>
                    <a:ext uri="{9D8B030D-6E8A-4147-A177-3AD203B41FA5}">
                      <a16:colId xmlns:a16="http://schemas.microsoft.com/office/drawing/2014/main" val="20000"/>
                    </a:ext>
                  </a:extLst>
                </a:gridCol>
                <a:gridCol w="2878454">
                  <a:extLst>
                    <a:ext uri="{9D8B030D-6E8A-4147-A177-3AD203B41FA5}">
                      <a16:colId xmlns:a16="http://schemas.microsoft.com/office/drawing/2014/main" val="20001"/>
                    </a:ext>
                  </a:extLst>
                </a:gridCol>
              </a:tblGrid>
              <a:tr h="193675">
                <a:tc>
                  <a:txBody>
                    <a:bodyPr/>
                    <a:lstStyle/>
                    <a:p>
                      <a:pPr marL="78105">
                        <a:lnSpc>
                          <a:spcPct val="100000"/>
                        </a:lnSpc>
                        <a:spcBef>
                          <a:spcPts val="25"/>
                        </a:spcBef>
                      </a:pPr>
                      <a:r>
                        <a:rPr sz="1000" b="1" spc="-5" dirty="0">
                          <a:latin typeface="Arial"/>
                          <a:cs typeface="Arial"/>
                        </a:rPr>
                        <a:t>Attribute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5"/>
                        </a:spcBef>
                      </a:pPr>
                      <a:r>
                        <a:rPr sz="1000" b="1" spc="-5" dirty="0">
                          <a:latin typeface="Arial"/>
                          <a:cs typeface="Arial"/>
                        </a:rPr>
                        <a:t>Description</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85420">
                <a:tc>
                  <a:txBody>
                    <a:bodyPr/>
                    <a:lstStyle/>
                    <a:p>
                      <a:pPr marL="78105">
                        <a:lnSpc>
                          <a:spcPct val="100000"/>
                        </a:lnSpc>
                        <a:spcBef>
                          <a:spcPts val="75"/>
                        </a:spcBef>
                      </a:pPr>
                      <a:r>
                        <a:rPr sz="1000" spc="-15" dirty="0">
                          <a:latin typeface="Arial"/>
                          <a:cs typeface="Arial"/>
                        </a:rPr>
                        <a:t>Transport</a:t>
                      </a:r>
                      <a:r>
                        <a:rPr sz="1000" spc="-35" dirty="0">
                          <a:latin typeface="Arial"/>
                          <a:cs typeface="Arial"/>
                        </a:rPr>
                        <a:t> </a:t>
                      </a:r>
                      <a:r>
                        <a:rPr sz="1000" spc="-5" dirty="0">
                          <a:latin typeface="Arial"/>
                          <a:cs typeface="Arial"/>
                        </a:rPr>
                        <a:t>type</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tcPr>
                </a:tc>
                <a:tc>
                  <a:txBody>
                    <a:bodyPr/>
                    <a:lstStyle/>
                    <a:p>
                      <a:pPr marL="78105">
                        <a:lnSpc>
                          <a:spcPct val="100000"/>
                        </a:lnSpc>
                        <a:spcBef>
                          <a:spcPts val="75"/>
                        </a:spcBef>
                      </a:pPr>
                      <a:r>
                        <a:rPr sz="1000" dirty="0">
                          <a:latin typeface="Arial"/>
                          <a:cs typeface="Arial"/>
                        </a:rPr>
                        <a:t>Determines</a:t>
                      </a:r>
                      <a:r>
                        <a:rPr sz="1000" spc="-10" dirty="0">
                          <a:latin typeface="Arial"/>
                          <a:cs typeface="Arial"/>
                        </a:rPr>
                        <a:t> </a:t>
                      </a:r>
                      <a:r>
                        <a:rPr sz="1000" spc="-5" dirty="0">
                          <a:latin typeface="Arial"/>
                          <a:cs typeface="Arial"/>
                        </a:rPr>
                        <a:t>the</a:t>
                      </a:r>
                      <a:r>
                        <a:rPr sz="1000" spc="-10" dirty="0">
                          <a:latin typeface="Arial"/>
                          <a:cs typeface="Arial"/>
                        </a:rPr>
                        <a:t> </a:t>
                      </a:r>
                      <a:r>
                        <a:rPr sz="1000" dirty="0">
                          <a:latin typeface="Arial"/>
                          <a:cs typeface="Arial"/>
                        </a:rPr>
                        <a:t>transport</a:t>
                      </a:r>
                      <a:r>
                        <a:rPr sz="1000" spc="-10" dirty="0">
                          <a:latin typeface="Arial"/>
                          <a:cs typeface="Arial"/>
                        </a:rPr>
                        <a:t> </a:t>
                      </a:r>
                      <a:r>
                        <a:rPr sz="1000" spc="-5" dirty="0">
                          <a:latin typeface="Arial"/>
                          <a:cs typeface="Arial"/>
                        </a:rPr>
                        <a:t>protocol</a:t>
                      </a:r>
                      <a:r>
                        <a:rPr sz="1000" spc="-10" dirty="0">
                          <a:latin typeface="Arial"/>
                          <a:cs typeface="Arial"/>
                        </a:rPr>
                        <a:t> </a:t>
                      </a:r>
                      <a:r>
                        <a:rPr sz="1000" spc="-5" dirty="0">
                          <a:latin typeface="Arial"/>
                          <a:cs typeface="Arial"/>
                        </a:rPr>
                        <a:t>to</a:t>
                      </a:r>
                      <a:r>
                        <a:rPr sz="1000" spc="-10" dirty="0">
                          <a:latin typeface="Arial"/>
                          <a:cs typeface="Arial"/>
                        </a:rPr>
                        <a:t> </a:t>
                      </a:r>
                      <a:r>
                        <a:rPr sz="1000" spc="-5" dirty="0">
                          <a:latin typeface="Arial"/>
                          <a:cs typeface="Arial"/>
                        </a:rPr>
                        <a:t>be</a:t>
                      </a:r>
                      <a:r>
                        <a:rPr sz="1000" spc="-10" dirty="0">
                          <a:latin typeface="Arial"/>
                          <a:cs typeface="Arial"/>
                        </a:rPr>
                        <a:t> </a:t>
                      </a:r>
                      <a:r>
                        <a:rPr sz="1000" spc="-5" dirty="0">
                          <a:latin typeface="Arial"/>
                          <a:cs typeface="Arial"/>
                        </a:rPr>
                        <a:t>used</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tcPr>
                </a:tc>
                <a:extLst>
                  <a:ext uri="{0D108BD9-81ED-4DB2-BD59-A6C34878D82A}">
                    <a16:rowId xmlns:a16="http://schemas.microsoft.com/office/drawing/2014/main" val="10001"/>
                  </a:ext>
                </a:extLst>
              </a:tr>
              <a:tr h="334010">
                <a:tc>
                  <a:txBody>
                    <a:bodyPr/>
                    <a:lstStyle/>
                    <a:p>
                      <a:pPr marL="78105">
                        <a:lnSpc>
                          <a:spcPct val="100000"/>
                        </a:lnSpc>
                        <a:spcBef>
                          <a:spcPts val="50"/>
                        </a:spcBef>
                      </a:pPr>
                      <a:r>
                        <a:rPr sz="1000" spc="-5" dirty="0">
                          <a:latin typeface="Arial"/>
                          <a:cs typeface="Arial"/>
                        </a:rPr>
                        <a:t>FIFO</a:t>
                      </a:r>
                      <a:r>
                        <a:rPr sz="1000" spc="-35" dirty="0">
                          <a:latin typeface="Arial"/>
                          <a:cs typeface="Arial"/>
                        </a:rPr>
                        <a:t> </a:t>
                      </a:r>
                      <a:r>
                        <a:rPr sz="1000" spc="-5" dirty="0">
                          <a:latin typeface="Arial"/>
                          <a:cs typeface="Arial"/>
                        </a:rPr>
                        <a:t>delivery</a:t>
                      </a:r>
                      <a:endParaRPr sz="1000">
                        <a:latin typeface="Arial"/>
                        <a:cs typeface="Arial"/>
                      </a:endParaRPr>
                    </a:p>
                  </a:txBody>
                  <a:tcPr marL="0" marR="0" marT="6350" marB="0">
                    <a:lnL w="6350">
                      <a:solidFill>
                        <a:srgbClr val="000000"/>
                      </a:solidFill>
                      <a:prstDash val="solid"/>
                    </a:lnL>
                    <a:lnR w="6350">
                      <a:solidFill>
                        <a:srgbClr val="000000"/>
                      </a:solidFill>
                      <a:prstDash val="solid"/>
                    </a:lnR>
                  </a:tcPr>
                </a:tc>
                <a:tc>
                  <a:txBody>
                    <a:bodyPr/>
                    <a:lstStyle/>
                    <a:p>
                      <a:pPr marL="78105" marR="213995">
                        <a:lnSpc>
                          <a:spcPct val="100000"/>
                        </a:lnSpc>
                        <a:spcBef>
                          <a:spcPts val="50"/>
                        </a:spcBef>
                      </a:pPr>
                      <a:r>
                        <a:rPr sz="1000" spc="-5" dirty="0">
                          <a:latin typeface="Arial"/>
                          <a:cs typeface="Arial"/>
                        </a:rPr>
                        <a:t>Indicates that messages are to be delivered in </a:t>
                      </a:r>
                      <a:r>
                        <a:rPr sz="1000" spc="-265"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order </a:t>
                      </a:r>
                      <a:r>
                        <a:rPr sz="1000" spc="-10" dirty="0">
                          <a:latin typeface="Arial"/>
                          <a:cs typeface="Arial"/>
                        </a:rPr>
                        <a:t>they</a:t>
                      </a:r>
                      <a:r>
                        <a:rPr sz="1000" spc="-5" dirty="0">
                          <a:latin typeface="Arial"/>
                          <a:cs typeface="Arial"/>
                        </a:rPr>
                        <a:t> are sent</a:t>
                      </a:r>
                      <a:endParaRPr sz="1000">
                        <a:latin typeface="Arial"/>
                        <a:cs typeface="Arial"/>
                      </a:endParaRPr>
                    </a:p>
                  </a:txBody>
                  <a:tcPr marL="0" marR="0" marT="635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81610">
                <a:tc>
                  <a:txBody>
                    <a:bodyPr/>
                    <a:lstStyle/>
                    <a:p>
                      <a:pPr marL="78105">
                        <a:lnSpc>
                          <a:spcPct val="100000"/>
                        </a:lnSpc>
                        <a:spcBef>
                          <a:spcPts val="50"/>
                        </a:spcBef>
                      </a:pPr>
                      <a:r>
                        <a:rPr sz="1000" spc="-5" dirty="0">
                          <a:latin typeface="Arial"/>
                          <a:cs typeface="Arial"/>
                        </a:rPr>
                        <a:t>Message</a:t>
                      </a:r>
                      <a:r>
                        <a:rPr sz="1000" spc="-35" dirty="0">
                          <a:latin typeface="Arial"/>
                          <a:cs typeface="Arial"/>
                        </a:rPr>
                        <a:t> </a:t>
                      </a:r>
                      <a:r>
                        <a:rPr sz="1000" spc="-5" dirty="0">
                          <a:latin typeface="Arial"/>
                          <a:cs typeface="Arial"/>
                        </a:rPr>
                        <a:t>length</a:t>
                      </a:r>
                      <a:endParaRPr sz="1000">
                        <a:latin typeface="Arial"/>
                        <a:cs typeface="Arial"/>
                      </a:endParaRPr>
                    </a:p>
                  </a:txBody>
                  <a:tcPr marL="0" marR="0" marT="6350" marB="0">
                    <a:lnL w="6350">
                      <a:solidFill>
                        <a:srgbClr val="000000"/>
                      </a:solidFill>
                      <a:prstDash val="solid"/>
                    </a:lnL>
                    <a:lnR w="6350">
                      <a:solidFill>
                        <a:srgbClr val="000000"/>
                      </a:solidFill>
                      <a:prstDash val="solid"/>
                    </a:lnR>
                  </a:tcPr>
                </a:tc>
                <a:tc>
                  <a:txBody>
                    <a:bodyPr/>
                    <a:lstStyle/>
                    <a:p>
                      <a:pPr marL="78105">
                        <a:lnSpc>
                          <a:spcPct val="100000"/>
                        </a:lnSpc>
                        <a:spcBef>
                          <a:spcPts val="50"/>
                        </a:spcBef>
                      </a:pPr>
                      <a:r>
                        <a:rPr sz="1000" spc="-5" dirty="0">
                          <a:latin typeface="Arial"/>
                          <a:cs typeface="Arial"/>
                        </a:rPr>
                        <a:t>Maximum</a:t>
                      </a:r>
                      <a:r>
                        <a:rPr sz="1000" spc="-10" dirty="0">
                          <a:latin typeface="Arial"/>
                          <a:cs typeface="Arial"/>
                        </a:rPr>
                        <a:t> </a:t>
                      </a:r>
                      <a:r>
                        <a:rPr sz="1000" spc="-5" dirty="0">
                          <a:latin typeface="Arial"/>
                          <a:cs typeface="Arial"/>
                        </a:rPr>
                        <a:t>length</a:t>
                      </a:r>
                      <a:r>
                        <a:rPr sz="1000" spc="-10" dirty="0">
                          <a:latin typeface="Arial"/>
                          <a:cs typeface="Arial"/>
                        </a:rPr>
                        <a:t> </a:t>
                      </a:r>
                      <a:r>
                        <a:rPr sz="1000" spc="-5" dirty="0">
                          <a:latin typeface="Arial"/>
                          <a:cs typeface="Arial"/>
                        </a:rPr>
                        <a:t>of</a:t>
                      </a:r>
                      <a:r>
                        <a:rPr sz="1000" spc="-10"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single message</a:t>
                      </a:r>
                      <a:endParaRPr sz="1000">
                        <a:latin typeface="Arial"/>
                        <a:cs typeface="Arial"/>
                      </a:endParaRPr>
                    </a:p>
                  </a:txBody>
                  <a:tcPr marL="0" marR="0" marT="635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334010">
                <a:tc>
                  <a:txBody>
                    <a:bodyPr/>
                    <a:lstStyle/>
                    <a:p>
                      <a:pPr marL="78105">
                        <a:lnSpc>
                          <a:spcPct val="100000"/>
                        </a:lnSpc>
                        <a:spcBef>
                          <a:spcPts val="50"/>
                        </a:spcBef>
                      </a:pPr>
                      <a:r>
                        <a:rPr sz="1000" spc="-5" dirty="0">
                          <a:latin typeface="Arial"/>
                          <a:cs typeface="Arial"/>
                        </a:rPr>
                        <a:t>Setup</a:t>
                      </a:r>
                      <a:r>
                        <a:rPr sz="1000" spc="-25" dirty="0">
                          <a:latin typeface="Arial"/>
                          <a:cs typeface="Arial"/>
                        </a:rPr>
                        <a:t> </a:t>
                      </a:r>
                      <a:r>
                        <a:rPr sz="1000" dirty="0">
                          <a:latin typeface="Arial"/>
                          <a:cs typeface="Arial"/>
                        </a:rPr>
                        <a:t>retry</a:t>
                      </a:r>
                      <a:r>
                        <a:rPr sz="1000" spc="-20" dirty="0">
                          <a:latin typeface="Arial"/>
                          <a:cs typeface="Arial"/>
                        </a:rPr>
                        <a:t> </a:t>
                      </a:r>
                      <a:r>
                        <a:rPr sz="1000" spc="-5" dirty="0">
                          <a:latin typeface="Arial"/>
                          <a:cs typeface="Arial"/>
                        </a:rPr>
                        <a:t>count</a:t>
                      </a:r>
                      <a:endParaRPr sz="1000">
                        <a:latin typeface="Arial"/>
                        <a:cs typeface="Arial"/>
                      </a:endParaRPr>
                    </a:p>
                  </a:txBody>
                  <a:tcPr marL="0" marR="0" marT="6350" marB="0">
                    <a:lnL w="6350">
                      <a:solidFill>
                        <a:srgbClr val="000000"/>
                      </a:solidFill>
                      <a:prstDash val="solid"/>
                    </a:lnL>
                    <a:lnR w="6350">
                      <a:solidFill>
                        <a:srgbClr val="000000"/>
                      </a:solidFill>
                      <a:prstDash val="solid"/>
                    </a:lnR>
                  </a:tcPr>
                </a:tc>
                <a:tc>
                  <a:txBody>
                    <a:bodyPr/>
                    <a:lstStyle/>
                    <a:p>
                      <a:pPr marL="78105" marR="101600">
                        <a:lnSpc>
                          <a:spcPct val="100000"/>
                        </a:lnSpc>
                        <a:spcBef>
                          <a:spcPts val="50"/>
                        </a:spcBef>
                      </a:pPr>
                      <a:r>
                        <a:rPr sz="1000" spc="-5" dirty="0">
                          <a:latin typeface="Arial"/>
                          <a:cs typeface="Arial"/>
                        </a:rPr>
                        <a:t>Specifies maximum number of retries to </a:t>
                      </a:r>
                      <a:r>
                        <a:rPr sz="1000" spc="5" dirty="0">
                          <a:latin typeface="Arial"/>
                          <a:cs typeface="Arial"/>
                        </a:rPr>
                        <a:t>start </a:t>
                      </a:r>
                      <a:r>
                        <a:rPr sz="1000" spc="-5" dirty="0">
                          <a:latin typeface="Arial"/>
                          <a:cs typeface="Arial"/>
                        </a:rPr>
                        <a:t>up </a:t>
                      </a:r>
                      <a:r>
                        <a:rPr sz="1000" spc="-265"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remote MCA</a:t>
                      </a:r>
                      <a:endParaRPr sz="1000">
                        <a:latin typeface="Arial"/>
                        <a:cs typeface="Arial"/>
                      </a:endParaRPr>
                    </a:p>
                  </a:txBody>
                  <a:tcPr marL="0" marR="0" marT="635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342265">
                <a:tc>
                  <a:txBody>
                    <a:bodyPr/>
                    <a:lstStyle/>
                    <a:p>
                      <a:pPr marL="78105">
                        <a:lnSpc>
                          <a:spcPct val="100000"/>
                        </a:lnSpc>
                        <a:spcBef>
                          <a:spcPts val="50"/>
                        </a:spcBef>
                      </a:pPr>
                      <a:r>
                        <a:rPr sz="1000" spc="-5" dirty="0">
                          <a:latin typeface="Arial"/>
                          <a:cs typeface="Arial"/>
                        </a:rPr>
                        <a:t>Delivery</a:t>
                      </a:r>
                      <a:r>
                        <a:rPr sz="1000" spc="-25" dirty="0">
                          <a:latin typeface="Arial"/>
                          <a:cs typeface="Arial"/>
                        </a:rPr>
                        <a:t> </a:t>
                      </a:r>
                      <a:r>
                        <a:rPr sz="1000" spc="-5" dirty="0">
                          <a:latin typeface="Arial"/>
                          <a:cs typeface="Arial"/>
                        </a:rPr>
                        <a:t>retries</a:t>
                      </a:r>
                      <a:endParaRPr sz="1000">
                        <a:latin typeface="Arial"/>
                        <a:cs typeface="Arial"/>
                      </a:endParaRPr>
                    </a:p>
                  </a:txBody>
                  <a:tcPr marL="0" marR="0" marT="635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8105" marR="339090">
                        <a:lnSpc>
                          <a:spcPct val="100000"/>
                        </a:lnSpc>
                        <a:spcBef>
                          <a:spcPts val="50"/>
                        </a:spcBef>
                      </a:pPr>
                      <a:r>
                        <a:rPr sz="1000" spc="-5" dirty="0">
                          <a:latin typeface="Arial"/>
                          <a:cs typeface="Arial"/>
                        </a:rPr>
                        <a:t>Maximum</a:t>
                      </a:r>
                      <a:r>
                        <a:rPr sz="1000" spc="-10" dirty="0">
                          <a:latin typeface="Arial"/>
                          <a:cs typeface="Arial"/>
                        </a:rPr>
                        <a:t> </a:t>
                      </a:r>
                      <a:r>
                        <a:rPr sz="1000" spc="-5" dirty="0">
                          <a:latin typeface="Arial"/>
                          <a:cs typeface="Arial"/>
                        </a:rPr>
                        <a:t>times</a:t>
                      </a:r>
                      <a:r>
                        <a:rPr sz="1000" spc="-10" dirty="0">
                          <a:latin typeface="Arial"/>
                          <a:cs typeface="Arial"/>
                        </a:rPr>
                        <a:t> </a:t>
                      </a:r>
                      <a:r>
                        <a:rPr sz="1000" spc="-5" dirty="0">
                          <a:latin typeface="Arial"/>
                          <a:cs typeface="Arial"/>
                        </a:rPr>
                        <a:t>MCA</a:t>
                      </a:r>
                      <a:r>
                        <a:rPr sz="1000" spc="-10" dirty="0">
                          <a:latin typeface="Arial"/>
                          <a:cs typeface="Arial"/>
                        </a:rPr>
                        <a:t> </a:t>
                      </a:r>
                      <a:r>
                        <a:rPr sz="1000" spc="-5" dirty="0">
                          <a:latin typeface="Arial"/>
                          <a:cs typeface="Arial"/>
                        </a:rPr>
                        <a:t>will</a:t>
                      </a:r>
                      <a:r>
                        <a:rPr sz="1000" spc="-10" dirty="0">
                          <a:latin typeface="Arial"/>
                          <a:cs typeface="Arial"/>
                        </a:rPr>
                        <a:t> </a:t>
                      </a:r>
                      <a:r>
                        <a:rPr sz="1000" spc="5" dirty="0">
                          <a:latin typeface="Arial"/>
                          <a:cs typeface="Arial"/>
                        </a:rPr>
                        <a:t>try</a:t>
                      </a:r>
                      <a:r>
                        <a:rPr sz="1000" spc="-10" dirty="0">
                          <a:latin typeface="Arial"/>
                          <a:cs typeface="Arial"/>
                        </a:rPr>
                        <a:t> </a:t>
                      </a:r>
                      <a:r>
                        <a:rPr sz="1000" spc="-5" dirty="0">
                          <a:latin typeface="Arial"/>
                          <a:cs typeface="Arial"/>
                        </a:rPr>
                        <a:t>to</a:t>
                      </a:r>
                      <a:r>
                        <a:rPr sz="1000" spc="-10" dirty="0">
                          <a:latin typeface="Arial"/>
                          <a:cs typeface="Arial"/>
                        </a:rPr>
                        <a:t> </a:t>
                      </a:r>
                      <a:r>
                        <a:rPr sz="1000" spc="-5" dirty="0">
                          <a:latin typeface="Arial"/>
                          <a:cs typeface="Arial"/>
                        </a:rPr>
                        <a:t>put</a:t>
                      </a:r>
                      <a:r>
                        <a:rPr sz="1000" spc="-10" dirty="0">
                          <a:latin typeface="Arial"/>
                          <a:cs typeface="Arial"/>
                        </a:rPr>
                        <a:t> </a:t>
                      </a:r>
                      <a:r>
                        <a:rPr sz="1000" spc="-5" dirty="0">
                          <a:latin typeface="Arial"/>
                          <a:cs typeface="Arial"/>
                        </a:rPr>
                        <a:t>received </a:t>
                      </a:r>
                      <a:r>
                        <a:rPr sz="1000" spc="-260" dirty="0">
                          <a:latin typeface="Arial"/>
                          <a:cs typeface="Arial"/>
                        </a:rPr>
                        <a:t> </a:t>
                      </a:r>
                      <a:r>
                        <a:rPr sz="1000" spc="-5" dirty="0">
                          <a:latin typeface="Arial"/>
                          <a:cs typeface="Arial"/>
                        </a:rPr>
                        <a:t>message</a:t>
                      </a:r>
                      <a:r>
                        <a:rPr sz="1000" spc="-10" dirty="0">
                          <a:latin typeface="Arial"/>
                          <a:cs typeface="Arial"/>
                        </a:rPr>
                        <a:t> </a:t>
                      </a:r>
                      <a:r>
                        <a:rPr sz="1000" spc="-5" dirty="0">
                          <a:latin typeface="Arial"/>
                          <a:cs typeface="Arial"/>
                        </a:rPr>
                        <a:t>into queue</a:t>
                      </a:r>
                      <a:endParaRPr sz="1000">
                        <a:latin typeface="Arial"/>
                        <a:cs typeface="Arial"/>
                      </a:endParaRPr>
                    </a:p>
                  </a:txBody>
                  <a:tcPr marL="0" marR="0" marT="635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6" name="object 6"/>
          <p:cNvSpPr txBox="1"/>
          <p:nvPr/>
        </p:nvSpPr>
        <p:spPr>
          <a:xfrm>
            <a:off x="66713" y="3327684"/>
            <a:ext cx="3460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6" action="ppaction://hlinksldjump"/>
              </a:rPr>
              <a:t>Channels</a:t>
            </a:r>
            <a:endParaRPr sz="600">
              <a:latin typeface="Arial"/>
              <a:cs typeface="Arial"/>
            </a:endParaRPr>
          </a:p>
        </p:txBody>
      </p:sp>
      <p:sp>
        <p:nvSpPr>
          <p:cNvPr id="7" name="object 7"/>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626995" algn="l"/>
              </a:tabLst>
            </a:pPr>
            <a:r>
              <a:rPr sz="600" spc="-5" dirty="0">
                <a:solidFill>
                  <a:srgbClr val="3333B2"/>
                </a:solidFill>
                <a:latin typeface="Arial"/>
                <a:cs typeface="Arial"/>
                <a:hlinkClick r:id="rId3" action="ppaction://hlinksldjump"/>
              </a:rPr>
              <a:t>Communication:</a:t>
            </a:r>
            <a:r>
              <a:rPr sz="600" spc="195" dirty="0">
                <a:solidFill>
                  <a:srgbClr val="3333B2"/>
                </a:solidFill>
                <a:latin typeface="Arial"/>
                <a:cs typeface="Arial"/>
              </a:rPr>
              <a:t> </a:t>
            </a:r>
            <a:r>
              <a:rPr sz="600" spc="-5" dirty="0">
                <a:solidFill>
                  <a:srgbClr val="3333B2"/>
                </a:solidFill>
                <a:latin typeface="Arial"/>
                <a:cs typeface="Arial"/>
                <a:hlinkClick r:id="rId4" action="ppaction://hlinksldjump"/>
              </a:rPr>
              <a:t>Message-oriented</a:t>
            </a:r>
            <a:r>
              <a:rPr sz="600" spc="2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Example:</a:t>
            </a:r>
            <a:r>
              <a:rPr sz="600" spc="45"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IBM’s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WebSphere</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message-queuing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IBM’s</a:t>
            </a:r>
            <a:r>
              <a:rPr spc="-35" dirty="0"/>
              <a:t> </a:t>
            </a:r>
            <a:r>
              <a:rPr spc="15" dirty="0"/>
              <a:t>WebSphere</a:t>
            </a:r>
            <a:r>
              <a:rPr spc="-30" dirty="0"/>
              <a:t> </a:t>
            </a:r>
            <a:r>
              <a:rPr spc="25" dirty="0"/>
              <a:t>MQ</a:t>
            </a:r>
          </a:p>
        </p:txBody>
      </p:sp>
      <p:sp>
        <p:nvSpPr>
          <p:cNvPr id="4" name="object 4"/>
          <p:cNvSpPr txBox="1"/>
          <p:nvPr/>
        </p:nvSpPr>
        <p:spPr>
          <a:xfrm>
            <a:off x="347294" y="404451"/>
            <a:ext cx="3837304" cy="566420"/>
          </a:xfrm>
          <a:prstGeom prst="rect">
            <a:avLst/>
          </a:prstGeom>
        </p:spPr>
        <p:txBody>
          <a:bodyPr vert="horz" wrap="square" lIns="0" tIns="41910" rIns="0" bIns="0" rtlCol="0">
            <a:spAutoFit/>
          </a:bodyPr>
          <a:lstStyle/>
          <a:p>
            <a:pPr marL="12700">
              <a:lnSpc>
                <a:spcPct val="100000"/>
              </a:lnSpc>
              <a:spcBef>
                <a:spcPts val="330"/>
              </a:spcBef>
            </a:pPr>
            <a:r>
              <a:rPr sz="1200" spc="-5" dirty="0">
                <a:solidFill>
                  <a:srgbClr val="3333B2"/>
                </a:solidFill>
                <a:latin typeface="Arial"/>
                <a:cs typeface="Arial"/>
              </a:rPr>
              <a:t>Routing</a:t>
            </a:r>
            <a:endParaRPr sz="1200">
              <a:latin typeface="Arial"/>
              <a:cs typeface="Arial"/>
            </a:endParaRPr>
          </a:p>
          <a:p>
            <a:pPr marL="12700" marR="5080">
              <a:lnSpc>
                <a:spcPct val="100000"/>
              </a:lnSpc>
              <a:spcBef>
                <a:spcPts val="190"/>
              </a:spcBef>
            </a:pPr>
            <a:r>
              <a:rPr sz="1000" spc="-5" dirty="0">
                <a:latin typeface="Arial"/>
                <a:cs typeface="Arial"/>
              </a:rPr>
              <a:t>By</a:t>
            </a:r>
            <a:r>
              <a:rPr sz="1000" dirty="0">
                <a:latin typeface="Arial"/>
                <a:cs typeface="Arial"/>
              </a:rPr>
              <a:t> </a:t>
            </a:r>
            <a:r>
              <a:rPr sz="1000" spc="-5" dirty="0">
                <a:latin typeface="Arial"/>
                <a:cs typeface="Arial"/>
              </a:rPr>
              <a:t>using</a:t>
            </a:r>
            <a:r>
              <a:rPr sz="1000" spc="5" dirty="0">
                <a:latin typeface="Arial"/>
                <a:cs typeface="Arial"/>
              </a:rPr>
              <a:t> </a:t>
            </a:r>
            <a:r>
              <a:rPr sz="1000" spc="-5" dirty="0">
                <a:solidFill>
                  <a:srgbClr val="0000FA"/>
                </a:solidFill>
                <a:latin typeface="Arial"/>
                <a:cs typeface="Arial"/>
              </a:rPr>
              <a:t>logical</a:t>
            </a:r>
            <a:r>
              <a:rPr sz="1000" dirty="0">
                <a:solidFill>
                  <a:srgbClr val="0000FA"/>
                </a:solidFill>
                <a:latin typeface="Arial"/>
                <a:cs typeface="Arial"/>
              </a:rPr>
              <a:t> </a:t>
            </a:r>
            <a:r>
              <a:rPr sz="1000" spc="-5" dirty="0">
                <a:solidFill>
                  <a:srgbClr val="0000FA"/>
                </a:solidFill>
                <a:latin typeface="Arial"/>
                <a:cs typeface="Arial"/>
              </a:rPr>
              <a:t>names</a:t>
            </a:r>
            <a:r>
              <a:rPr sz="1000" spc="-5" dirty="0">
                <a:latin typeface="Arial"/>
                <a:cs typeface="Arial"/>
              </a:rPr>
              <a:t>,</a:t>
            </a:r>
            <a:r>
              <a:rPr sz="1000" spc="5"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combination</a:t>
            </a:r>
            <a:r>
              <a:rPr sz="1000" dirty="0">
                <a:latin typeface="Arial"/>
                <a:cs typeface="Arial"/>
              </a:rPr>
              <a:t> </a:t>
            </a:r>
            <a:r>
              <a:rPr sz="1000" spc="-5" dirty="0">
                <a:latin typeface="Arial"/>
                <a:cs typeface="Arial"/>
              </a:rPr>
              <a:t>with</a:t>
            </a:r>
            <a:r>
              <a:rPr sz="1000" spc="5" dirty="0">
                <a:latin typeface="Arial"/>
                <a:cs typeface="Arial"/>
              </a:rPr>
              <a:t> </a:t>
            </a:r>
            <a:r>
              <a:rPr sz="1000" spc="-5" dirty="0">
                <a:latin typeface="Arial"/>
                <a:cs typeface="Arial"/>
              </a:rPr>
              <a:t>name</a:t>
            </a:r>
            <a:r>
              <a:rPr sz="1000" dirty="0">
                <a:latin typeface="Arial"/>
                <a:cs typeface="Arial"/>
              </a:rPr>
              <a:t> </a:t>
            </a:r>
            <a:r>
              <a:rPr sz="1000" spc="-5" dirty="0">
                <a:latin typeface="Arial"/>
                <a:cs typeface="Arial"/>
              </a:rPr>
              <a:t>resolution</a:t>
            </a:r>
            <a:r>
              <a:rPr sz="1000" spc="5"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local </a:t>
            </a:r>
            <a:r>
              <a:rPr sz="1000" spc="-265" dirty="0">
                <a:latin typeface="Arial"/>
                <a:cs typeface="Arial"/>
              </a:rPr>
              <a:t> </a:t>
            </a:r>
            <a:r>
              <a:rPr sz="1000" spc="-5" dirty="0">
                <a:latin typeface="Arial"/>
                <a:cs typeface="Arial"/>
              </a:rPr>
              <a:t>queues, it is possible to put a message in a </a:t>
            </a:r>
            <a:r>
              <a:rPr sz="1000" spc="-5" dirty="0">
                <a:solidFill>
                  <a:srgbClr val="0000FA"/>
                </a:solidFill>
                <a:latin typeface="Arial"/>
                <a:cs typeface="Arial"/>
              </a:rPr>
              <a:t>remote queue</a:t>
            </a:r>
            <a:endParaRPr sz="1000">
              <a:latin typeface="Arial"/>
              <a:cs typeface="Arial"/>
            </a:endParaRPr>
          </a:p>
        </p:txBody>
      </p:sp>
      <p:grpSp>
        <p:nvGrpSpPr>
          <p:cNvPr id="5" name="object 5"/>
          <p:cNvGrpSpPr/>
          <p:nvPr/>
        </p:nvGrpSpPr>
        <p:grpSpPr>
          <a:xfrm>
            <a:off x="538156" y="1289978"/>
            <a:ext cx="3526790" cy="1845310"/>
            <a:chOff x="538156" y="1289978"/>
            <a:chExt cx="3526790" cy="1845310"/>
          </a:xfrm>
        </p:grpSpPr>
        <p:sp>
          <p:nvSpPr>
            <p:cNvPr id="6" name="object 6"/>
            <p:cNvSpPr/>
            <p:nvPr/>
          </p:nvSpPr>
          <p:spPr>
            <a:xfrm>
              <a:off x="541013" y="2325927"/>
              <a:ext cx="927735" cy="806450"/>
            </a:xfrm>
            <a:custGeom>
              <a:avLst/>
              <a:gdLst/>
              <a:ahLst/>
              <a:cxnLst/>
              <a:rect l="l" t="t" r="r" b="b"/>
              <a:pathLst>
                <a:path w="927735" h="806450">
                  <a:moveTo>
                    <a:pt x="0" y="0"/>
                  </a:moveTo>
                  <a:lnTo>
                    <a:pt x="927660" y="0"/>
                  </a:lnTo>
                  <a:lnTo>
                    <a:pt x="927660" y="806165"/>
                  </a:lnTo>
                  <a:lnTo>
                    <a:pt x="0" y="806165"/>
                  </a:lnTo>
                  <a:lnTo>
                    <a:pt x="0" y="0"/>
                  </a:lnTo>
                  <a:close/>
                </a:path>
              </a:pathLst>
            </a:custGeom>
            <a:ln w="5270">
              <a:solidFill>
                <a:srgbClr val="231F20"/>
              </a:solidFill>
            </a:ln>
          </p:spPr>
          <p:txBody>
            <a:bodyPr wrap="square" lIns="0" tIns="0" rIns="0" bIns="0" rtlCol="0"/>
            <a:lstStyle/>
            <a:p>
              <a:endParaRPr/>
            </a:p>
          </p:txBody>
        </p:sp>
        <p:sp>
          <p:nvSpPr>
            <p:cNvPr id="7" name="object 7"/>
            <p:cNvSpPr/>
            <p:nvPr/>
          </p:nvSpPr>
          <p:spPr>
            <a:xfrm>
              <a:off x="1540734" y="2321608"/>
              <a:ext cx="1407160" cy="677545"/>
            </a:xfrm>
            <a:custGeom>
              <a:avLst/>
              <a:gdLst/>
              <a:ahLst/>
              <a:cxnLst/>
              <a:rect l="l" t="t" r="r" b="b"/>
              <a:pathLst>
                <a:path w="1407160" h="677544">
                  <a:moveTo>
                    <a:pt x="599181" y="66808"/>
                  </a:moveTo>
                  <a:lnTo>
                    <a:pt x="541555" y="57367"/>
                  </a:lnTo>
                  <a:lnTo>
                    <a:pt x="497542" y="55747"/>
                  </a:lnTo>
                  <a:lnTo>
                    <a:pt x="466431" y="64151"/>
                  </a:lnTo>
                  <a:lnTo>
                    <a:pt x="447508" y="84781"/>
                  </a:lnTo>
                  <a:lnTo>
                    <a:pt x="440065" y="119840"/>
                  </a:lnTo>
                  <a:lnTo>
                    <a:pt x="405316" y="112519"/>
                  </a:lnTo>
                  <a:lnTo>
                    <a:pt x="370005" y="122113"/>
                  </a:lnTo>
                  <a:lnTo>
                    <a:pt x="340555" y="143829"/>
                  </a:lnTo>
                  <a:lnTo>
                    <a:pt x="323386" y="172872"/>
                  </a:lnTo>
                  <a:lnTo>
                    <a:pt x="279014" y="179229"/>
                  </a:lnTo>
                  <a:lnTo>
                    <a:pt x="240597" y="202625"/>
                  </a:lnTo>
                  <a:lnTo>
                    <a:pt x="214403" y="235013"/>
                  </a:lnTo>
                  <a:lnTo>
                    <a:pt x="206698" y="268342"/>
                  </a:lnTo>
                  <a:lnTo>
                    <a:pt x="167904" y="259962"/>
                  </a:lnTo>
                  <a:lnTo>
                    <a:pt x="104282" y="292818"/>
                  </a:lnTo>
                  <a:lnTo>
                    <a:pt x="80454" y="325822"/>
                  </a:lnTo>
                  <a:lnTo>
                    <a:pt x="62617" y="364390"/>
                  </a:lnTo>
                  <a:lnTo>
                    <a:pt x="51271" y="404405"/>
                  </a:lnTo>
                  <a:lnTo>
                    <a:pt x="46917" y="441752"/>
                  </a:lnTo>
                  <a:lnTo>
                    <a:pt x="16542" y="473771"/>
                  </a:lnTo>
                  <a:lnTo>
                    <a:pt x="1145" y="509766"/>
                  </a:lnTo>
                  <a:lnTo>
                    <a:pt x="0" y="546260"/>
                  </a:lnTo>
                  <a:lnTo>
                    <a:pt x="12381" y="579774"/>
                  </a:lnTo>
                  <a:lnTo>
                    <a:pt x="37565" y="606832"/>
                  </a:lnTo>
                  <a:lnTo>
                    <a:pt x="74824" y="623954"/>
                  </a:lnTo>
                  <a:lnTo>
                    <a:pt x="123434" y="627663"/>
                  </a:lnTo>
                  <a:lnTo>
                    <a:pt x="156301" y="656943"/>
                  </a:lnTo>
                  <a:lnTo>
                    <a:pt x="198545" y="672859"/>
                  </a:lnTo>
                  <a:lnTo>
                    <a:pt x="246257" y="677256"/>
                  </a:lnTo>
                  <a:lnTo>
                    <a:pt x="295529" y="671979"/>
                  </a:lnTo>
                  <a:lnTo>
                    <a:pt x="342452" y="658872"/>
                  </a:lnTo>
                  <a:lnTo>
                    <a:pt x="383117" y="639778"/>
                  </a:lnTo>
                  <a:lnTo>
                    <a:pt x="413616" y="616544"/>
                  </a:lnTo>
                  <a:lnTo>
                    <a:pt x="430040" y="591012"/>
                  </a:lnTo>
                  <a:lnTo>
                    <a:pt x="449452" y="621351"/>
                  </a:lnTo>
                  <a:lnTo>
                    <a:pt x="481744" y="635317"/>
                  </a:lnTo>
                  <a:lnTo>
                    <a:pt x="520011" y="633737"/>
                  </a:lnTo>
                  <a:lnTo>
                    <a:pt x="557348" y="617439"/>
                  </a:lnTo>
                  <a:lnTo>
                    <a:pt x="586848" y="587249"/>
                  </a:lnTo>
                  <a:lnTo>
                    <a:pt x="622482" y="606203"/>
                  </a:lnTo>
                  <a:lnTo>
                    <a:pt x="662021" y="609789"/>
                  </a:lnTo>
                  <a:lnTo>
                    <a:pt x="700447" y="599587"/>
                  </a:lnTo>
                  <a:lnTo>
                    <a:pt x="732743" y="577176"/>
                  </a:lnTo>
                  <a:lnTo>
                    <a:pt x="753891" y="544136"/>
                  </a:lnTo>
                  <a:lnTo>
                    <a:pt x="774631" y="574896"/>
                  </a:lnTo>
                  <a:lnTo>
                    <a:pt x="804029" y="600040"/>
                  </a:lnTo>
                  <a:lnTo>
                    <a:pt x="840133" y="618299"/>
                  </a:lnTo>
                  <a:lnTo>
                    <a:pt x="880992" y="628405"/>
                  </a:lnTo>
                  <a:lnTo>
                    <a:pt x="924655" y="629089"/>
                  </a:lnTo>
                  <a:lnTo>
                    <a:pt x="969170" y="619081"/>
                  </a:lnTo>
                  <a:lnTo>
                    <a:pt x="1012585" y="597115"/>
                  </a:lnTo>
                  <a:lnTo>
                    <a:pt x="1052950" y="561919"/>
                  </a:lnTo>
                  <a:lnTo>
                    <a:pt x="1084275" y="566466"/>
                  </a:lnTo>
                  <a:lnTo>
                    <a:pt x="1108325" y="562322"/>
                  </a:lnTo>
                  <a:lnTo>
                    <a:pt x="1125706" y="550704"/>
                  </a:lnTo>
                  <a:lnTo>
                    <a:pt x="1137025" y="532826"/>
                  </a:lnTo>
                  <a:lnTo>
                    <a:pt x="1170208" y="551616"/>
                  </a:lnTo>
                  <a:lnTo>
                    <a:pt x="1209378" y="558200"/>
                  </a:lnTo>
                  <a:lnTo>
                    <a:pt x="1250556" y="552710"/>
                  </a:lnTo>
                  <a:lnTo>
                    <a:pt x="1289766" y="535279"/>
                  </a:lnTo>
                  <a:lnTo>
                    <a:pt x="1323027" y="506039"/>
                  </a:lnTo>
                  <a:lnTo>
                    <a:pt x="1346363" y="465121"/>
                  </a:lnTo>
                  <a:lnTo>
                    <a:pt x="1355793" y="412659"/>
                  </a:lnTo>
                  <a:lnTo>
                    <a:pt x="1377815" y="400810"/>
                  </a:lnTo>
                  <a:lnTo>
                    <a:pt x="1393315" y="375271"/>
                  </a:lnTo>
                  <a:lnTo>
                    <a:pt x="1399212" y="343773"/>
                  </a:lnTo>
                  <a:lnTo>
                    <a:pt x="1392423" y="314048"/>
                  </a:lnTo>
                  <a:lnTo>
                    <a:pt x="1405440" y="271250"/>
                  </a:lnTo>
                  <a:lnTo>
                    <a:pt x="1406729" y="227953"/>
                  </a:lnTo>
                  <a:lnTo>
                    <a:pt x="1397168" y="187088"/>
                  </a:lnTo>
                  <a:lnTo>
                    <a:pt x="1377633" y="151587"/>
                  </a:lnTo>
                  <a:lnTo>
                    <a:pt x="1349002" y="124381"/>
                  </a:lnTo>
                  <a:lnTo>
                    <a:pt x="1312150" y="108401"/>
                  </a:lnTo>
                  <a:lnTo>
                    <a:pt x="1267955" y="106580"/>
                  </a:lnTo>
                  <a:lnTo>
                    <a:pt x="1244650" y="80106"/>
                  </a:lnTo>
                  <a:lnTo>
                    <a:pt x="1218109" y="67725"/>
                  </a:lnTo>
                  <a:lnTo>
                    <a:pt x="1189145" y="69385"/>
                  </a:lnTo>
                  <a:lnTo>
                    <a:pt x="1158571" y="85034"/>
                  </a:lnTo>
                  <a:lnTo>
                    <a:pt x="1122257" y="50875"/>
                  </a:lnTo>
                  <a:lnTo>
                    <a:pt x="1082367" y="29487"/>
                  </a:lnTo>
                  <a:lnTo>
                    <a:pt x="1040622" y="20433"/>
                  </a:lnTo>
                  <a:lnTo>
                    <a:pt x="998744" y="23281"/>
                  </a:lnTo>
                  <a:lnTo>
                    <a:pt x="958454" y="37594"/>
                  </a:lnTo>
                  <a:lnTo>
                    <a:pt x="921472" y="62940"/>
                  </a:lnTo>
                  <a:lnTo>
                    <a:pt x="884616" y="33465"/>
                  </a:lnTo>
                  <a:lnTo>
                    <a:pt x="840728" y="13450"/>
                  </a:lnTo>
                  <a:lnTo>
                    <a:pt x="792833" y="2445"/>
                  </a:lnTo>
                  <a:lnTo>
                    <a:pt x="743958" y="0"/>
                  </a:lnTo>
                  <a:lnTo>
                    <a:pt x="697129" y="5663"/>
                  </a:lnTo>
                  <a:lnTo>
                    <a:pt x="655372" y="18986"/>
                  </a:lnTo>
                  <a:lnTo>
                    <a:pt x="621714" y="39518"/>
                  </a:lnTo>
                  <a:lnTo>
                    <a:pt x="599181" y="66808"/>
                  </a:lnTo>
                  <a:close/>
                </a:path>
              </a:pathLst>
            </a:custGeom>
            <a:ln w="5270">
              <a:solidFill>
                <a:srgbClr val="231F20"/>
              </a:solidFill>
            </a:ln>
          </p:spPr>
          <p:txBody>
            <a:bodyPr wrap="square" lIns="0" tIns="0" rIns="0" bIns="0" rtlCol="0"/>
            <a:lstStyle/>
            <a:p>
              <a:endParaRPr/>
            </a:p>
          </p:txBody>
        </p:sp>
        <p:pic>
          <p:nvPicPr>
            <p:cNvPr id="8" name="object 8"/>
            <p:cNvPicPr/>
            <p:nvPr/>
          </p:nvPicPr>
          <p:blipFill>
            <a:blip r:embed="rId6" cstate="print"/>
            <a:stretch>
              <a:fillRect/>
            </a:stretch>
          </p:blipFill>
          <p:spPr>
            <a:xfrm>
              <a:off x="1466177" y="2990386"/>
              <a:ext cx="283891" cy="121937"/>
            </a:xfrm>
            <a:prstGeom prst="rect">
              <a:avLst/>
            </a:prstGeom>
          </p:spPr>
        </p:pic>
        <p:sp>
          <p:nvSpPr>
            <p:cNvPr id="9" name="object 9"/>
            <p:cNvSpPr/>
            <p:nvPr/>
          </p:nvSpPr>
          <p:spPr>
            <a:xfrm>
              <a:off x="3134268" y="2325927"/>
              <a:ext cx="927735" cy="806450"/>
            </a:xfrm>
            <a:custGeom>
              <a:avLst/>
              <a:gdLst/>
              <a:ahLst/>
              <a:cxnLst/>
              <a:rect l="l" t="t" r="r" b="b"/>
              <a:pathLst>
                <a:path w="927735" h="806450">
                  <a:moveTo>
                    <a:pt x="0" y="0"/>
                  </a:moveTo>
                  <a:lnTo>
                    <a:pt x="927671" y="0"/>
                  </a:lnTo>
                  <a:lnTo>
                    <a:pt x="927671" y="806165"/>
                  </a:lnTo>
                  <a:lnTo>
                    <a:pt x="0" y="806165"/>
                  </a:lnTo>
                  <a:lnTo>
                    <a:pt x="0" y="0"/>
                  </a:lnTo>
                  <a:close/>
                </a:path>
              </a:pathLst>
            </a:custGeom>
            <a:ln w="5270">
              <a:solidFill>
                <a:srgbClr val="231F20"/>
              </a:solidFill>
            </a:ln>
          </p:spPr>
          <p:txBody>
            <a:bodyPr wrap="square" lIns="0" tIns="0" rIns="0" bIns="0" rtlCol="0"/>
            <a:lstStyle/>
            <a:p>
              <a:endParaRPr/>
            </a:p>
          </p:txBody>
        </p:sp>
        <p:pic>
          <p:nvPicPr>
            <p:cNvPr id="10" name="object 10"/>
            <p:cNvPicPr/>
            <p:nvPr/>
          </p:nvPicPr>
          <p:blipFill>
            <a:blip r:embed="rId7" cstate="print"/>
            <a:stretch>
              <a:fillRect/>
            </a:stretch>
          </p:blipFill>
          <p:spPr>
            <a:xfrm>
              <a:off x="2932831" y="2597262"/>
              <a:ext cx="203881" cy="63625"/>
            </a:xfrm>
            <a:prstGeom prst="rect">
              <a:avLst/>
            </a:prstGeom>
          </p:spPr>
        </p:pic>
        <p:sp>
          <p:nvSpPr>
            <p:cNvPr id="11" name="object 11"/>
            <p:cNvSpPr/>
            <p:nvPr/>
          </p:nvSpPr>
          <p:spPr>
            <a:xfrm>
              <a:off x="1747434" y="2367190"/>
              <a:ext cx="1188085" cy="626110"/>
            </a:xfrm>
            <a:custGeom>
              <a:avLst/>
              <a:gdLst/>
              <a:ahLst/>
              <a:cxnLst/>
              <a:rect l="l" t="t" r="r" b="b"/>
              <a:pathLst>
                <a:path w="1188085" h="626110">
                  <a:moveTo>
                    <a:pt x="901634" y="0"/>
                  </a:moveTo>
                  <a:lnTo>
                    <a:pt x="968757" y="133755"/>
                  </a:lnTo>
                  <a:lnTo>
                    <a:pt x="1064721" y="210823"/>
                  </a:lnTo>
                  <a:lnTo>
                    <a:pt x="1150741" y="246124"/>
                  </a:lnTo>
                  <a:lnTo>
                    <a:pt x="1188033" y="254575"/>
                  </a:lnTo>
                </a:path>
                <a:path w="1188085" h="626110">
                  <a:moveTo>
                    <a:pt x="1081949" y="490936"/>
                  </a:moveTo>
                  <a:lnTo>
                    <a:pt x="662302" y="376500"/>
                  </a:lnTo>
                  <a:lnTo>
                    <a:pt x="318226" y="437927"/>
                  </a:lnTo>
                  <a:lnTo>
                    <a:pt x="85523" y="559581"/>
                  </a:lnTo>
                  <a:lnTo>
                    <a:pt x="0" y="625829"/>
                  </a:lnTo>
                </a:path>
                <a:path w="1188085" h="626110">
                  <a:moveTo>
                    <a:pt x="400368" y="8991"/>
                  </a:moveTo>
                  <a:lnTo>
                    <a:pt x="471365" y="51586"/>
                  </a:lnTo>
                  <a:lnTo>
                    <a:pt x="530388" y="73713"/>
                  </a:lnTo>
                  <a:lnTo>
                    <a:pt x="578656" y="79441"/>
                  </a:lnTo>
                  <a:lnTo>
                    <a:pt x="617385" y="72842"/>
                  </a:lnTo>
                  <a:lnTo>
                    <a:pt x="647792" y="57984"/>
                  </a:lnTo>
                  <a:lnTo>
                    <a:pt x="671096" y="38938"/>
                  </a:lnTo>
                  <a:lnTo>
                    <a:pt x="688513" y="19775"/>
                  </a:lnTo>
                  <a:lnTo>
                    <a:pt x="701261" y="4564"/>
                  </a:lnTo>
                </a:path>
              </a:pathLst>
            </a:custGeom>
            <a:ln w="5270">
              <a:solidFill>
                <a:srgbClr val="231F20"/>
              </a:solidFill>
              <a:prstDash val="sysDash"/>
            </a:ln>
          </p:spPr>
          <p:txBody>
            <a:bodyPr wrap="square" lIns="0" tIns="0" rIns="0" bIns="0" rtlCol="0"/>
            <a:lstStyle/>
            <a:p>
              <a:endParaRPr/>
            </a:p>
          </p:txBody>
        </p:sp>
        <p:sp>
          <p:nvSpPr>
            <p:cNvPr id="12" name="object 12"/>
            <p:cNvSpPr/>
            <p:nvPr/>
          </p:nvSpPr>
          <p:spPr>
            <a:xfrm>
              <a:off x="2829390" y="2858126"/>
              <a:ext cx="347345" cy="127635"/>
            </a:xfrm>
            <a:custGeom>
              <a:avLst/>
              <a:gdLst/>
              <a:ahLst/>
              <a:cxnLst/>
              <a:rect l="l" t="t" r="r" b="b"/>
              <a:pathLst>
                <a:path w="347344" h="127635">
                  <a:moveTo>
                    <a:pt x="347315" y="127525"/>
                  </a:moveTo>
                  <a:lnTo>
                    <a:pt x="195089" y="89326"/>
                  </a:lnTo>
                  <a:lnTo>
                    <a:pt x="86583" y="47520"/>
                  </a:lnTo>
                  <a:lnTo>
                    <a:pt x="21615" y="13834"/>
                  </a:lnTo>
                  <a:lnTo>
                    <a:pt x="0" y="0"/>
                  </a:lnTo>
                </a:path>
              </a:pathLst>
            </a:custGeom>
            <a:ln w="5270">
              <a:solidFill>
                <a:srgbClr val="231F20"/>
              </a:solidFill>
            </a:ln>
          </p:spPr>
          <p:txBody>
            <a:bodyPr wrap="square" lIns="0" tIns="0" rIns="0" bIns="0" rtlCol="0"/>
            <a:lstStyle/>
            <a:p>
              <a:endParaRPr/>
            </a:p>
          </p:txBody>
        </p:sp>
        <p:sp>
          <p:nvSpPr>
            <p:cNvPr id="13" name="object 13"/>
            <p:cNvSpPr/>
            <p:nvPr/>
          </p:nvSpPr>
          <p:spPr>
            <a:xfrm>
              <a:off x="1589719" y="2649722"/>
              <a:ext cx="1336040" cy="140335"/>
            </a:xfrm>
            <a:custGeom>
              <a:avLst/>
              <a:gdLst/>
              <a:ahLst/>
              <a:cxnLst/>
              <a:rect l="l" t="t" r="r" b="b"/>
              <a:pathLst>
                <a:path w="1336039" h="140335">
                  <a:moveTo>
                    <a:pt x="0" y="89471"/>
                  </a:moveTo>
                  <a:lnTo>
                    <a:pt x="35207" y="109946"/>
                  </a:lnTo>
                  <a:lnTo>
                    <a:pt x="105007" y="134296"/>
                  </a:lnTo>
                  <a:lnTo>
                    <a:pt x="175011" y="139931"/>
                  </a:lnTo>
                  <a:lnTo>
                    <a:pt x="210473" y="137014"/>
                  </a:lnTo>
                  <a:lnTo>
                    <a:pt x="283083" y="122274"/>
                  </a:lnTo>
                  <a:lnTo>
                    <a:pt x="320538" y="111478"/>
                  </a:lnTo>
                  <a:lnTo>
                    <a:pt x="358965" y="99081"/>
                  </a:lnTo>
                  <a:lnTo>
                    <a:pt x="398516" y="85598"/>
                  </a:lnTo>
                  <a:lnTo>
                    <a:pt x="439345" y="71541"/>
                  </a:lnTo>
                  <a:lnTo>
                    <a:pt x="481605" y="57423"/>
                  </a:lnTo>
                  <a:lnTo>
                    <a:pt x="525450" y="43758"/>
                  </a:lnTo>
                  <a:lnTo>
                    <a:pt x="571033" y="31058"/>
                  </a:lnTo>
                  <a:lnTo>
                    <a:pt x="618507" y="19837"/>
                  </a:lnTo>
                  <a:lnTo>
                    <a:pt x="668026" y="10607"/>
                  </a:lnTo>
                  <a:lnTo>
                    <a:pt x="719743" y="3883"/>
                  </a:lnTo>
                  <a:lnTo>
                    <a:pt x="773812" y="176"/>
                  </a:lnTo>
                  <a:lnTo>
                    <a:pt x="830386" y="0"/>
                  </a:lnTo>
                  <a:lnTo>
                    <a:pt x="889618" y="3868"/>
                  </a:lnTo>
                  <a:lnTo>
                    <a:pt x="1138320" y="31175"/>
                  </a:lnTo>
                  <a:lnTo>
                    <a:pt x="1271776" y="49895"/>
                  </a:lnTo>
                  <a:lnTo>
                    <a:pt x="1325677" y="60661"/>
                  </a:lnTo>
                  <a:lnTo>
                    <a:pt x="1335713" y="64109"/>
                  </a:lnTo>
                </a:path>
              </a:pathLst>
            </a:custGeom>
            <a:ln w="5270">
              <a:solidFill>
                <a:srgbClr val="231F20"/>
              </a:solidFill>
              <a:prstDash val="sysDash"/>
            </a:ln>
          </p:spPr>
          <p:txBody>
            <a:bodyPr wrap="square" lIns="0" tIns="0" rIns="0" bIns="0" rtlCol="0"/>
            <a:lstStyle/>
            <a:p>
              <a:endParaRPr/>
            </a:p>
          </p:txBody>
        </p:sp>
        <p:sp>
          <p:nvSpPr>
            <p:cNvPr id="14" name="object 14"/>
            <p:cNvSpPr/>
            <p:nvPr/>
          </p:nvSpPr>
          <p:spPr>
            <a:xfrm>
              <a:off x="1405432" y="2463171"/>
              <a:ext cx="290195" cy="122555"/>
            </a:xfrm>
            <a:custGeom>
              <a:avLst/>
              <a:gdLst/>
              <a:ahLst/>
              <a:cxnLst/>
              <a:rect l="l" t="t" r="r" b="b"/>
              <a:pathLst>
                <a:path w="290194" h="122555">
                  <a:moveTo>
                    <a:pt x="0" y="0"/>
                  </a:moveTo>
                  <a:lnTo>
                    <a:pt x="125803" y="23623"/>
                  </a:lnTo>
                  <a:lnTo>
                    <a:pt x="216404" y="65256"/>
                  </a:lnTo>
                  <a:lnTo>
                    <a:pt x="271203" y="104901"/>
                  </a:lnTo>
                  <a:lnTo>
                    <a:pt x="289603" y="122560"/>
                  </a:lnTo>
                </a:path>
              </a:pathLst>
            </a:custGeom>
            <a:ln w="5270">
              <a:solidFill>
                <a:srgbClr val="231F20"/>
              </a:solidFill>
            </a:ln>
          </p:spPr>
          <p:txBody>
            <a:bodyPr wrap="square" lIns="0" tIns="0" rIns="0" bIns="0" rtlCol="0"/>
            <a:lstStyle/>
            <a:p>
              <a:endParaRPr/>
            </a:p>
          </p:txBody>
        </p:sp>
        <p:pic>
          <p:nvPicPr>
            <p:cNvPr id="15" name="object 15"/>
            <p:cNvPicPr/>
            <p:nvPr/>
          </p:nvPicPr>
          <p:blipFill>
            <a:blip r:embed="rId8" cstate="print"/>
            <a:stretch>
              <a:fillRect/>
            </a:stretch>
          </p:blipFill>
          <p:spPr>
            <a:xfrm>
              <a:off x="1776631" y="2433133"/>
              <a:ext cx="215681" cy="191894"/>
            </a:xfrm>
            <a:prstGeom prst="rect">
              <a:avLst/>
            </a:prstGeom>
          </p:spPr>
        </p:pic>
        <p:sp>
          <p:nvSpPr>
            <p:cNvPr id="16" name="object 16"/>
            <p:cNvSpPr/>
            <p:nvPr/>
          </p:nvSpPr>
          <p:spPr>
            <a:xfrm>
              <a:off x="1695033" y="2388418"/>
              <a:ext cx="330200" cy="331470"/>
            </a:xfrm>
            <a:custGeom>
              <a:avLst/>
              <a:gdLst/>
              <a:ahLst/>
              <a:cxnLst/>
              <a:rect l="l" t="t" r="r" b="b"/>
              <a:pathLst>
                <a:path w="330200" h="331469">
                  <a:moveTo>
                    <a:pt x="0" y="197316"/>
                  </a:moveTo>
                  <a:lnTo>
                    <a:pt x="235365" y="331060"/>
                  </a:lnTo>
                  <a:lnTo>
                    <a:pt x="323898" y="244946"/>
                  </a:lnTo>
                  <a:lnTo>
                    <a:pt x="329880" y="85688"/>
                  </a:lnTo>
                  <a:lnTo>
                    <a:pt x="317589" y="0"/>
                  </a:lnTo>
                </a:path>
              </a:pathLst>
            </a:custGeom>
            <a:ln w="5270">
              <a:solidFill>
                <a:srgbClr val="231F20"/>
              </a:solidFill>
              <a:prstDash val="sysDash"/>
            </a:ln>
          </p:spPr>
          <p:txBody>
            <a:bodyPr wrap="square" lIns="0" tIns="0" rIns="0" bIns="0" rtlCol="0"/>
            <a:lstStyle/>
            <a:p>
              <a:endParaRPr/>
            </a:p>
          </p:txBody>
        </p:sp>
        <p:sp>
          <p:nvSpPr>
            <p:cNvPr id="17" name="object 17"/>
            <p:cNvSpPr/>
            <p:nvPr/>
          </p:nvSpPr>
          <p:spPr>
            <a:xfrm>
              <a:off x="1510851" y="2363726"/>
              <a:ext cx="268605" cy="163195"/>
            </a:xfrm>
            <a:custGeom>
              <a:avLst/>
              <a:gdLst/>
              <a:ahLst/>
              <a:cxnLst/>
              <a:rect l="l" t="t" r="r" b="b"/>
              <a:pathLst>
                <a:path w="268605" h="163194">
                  <a:moveTo>
                    <a:pt x="268416" y="162578"/>
                  </a:moveTo>
                  <a:lnTo>
                    <a:pt x="222476" y="97304"/>
                  </a:lnTo>
                  <a:lnTo>
                    <a:pt x="180470" y="51610"/>
                  </a:lnTo>
                  <a:lnTo>
                    <a:pt x="142200" y="22296"/>
                  </a:lnTo>
                  <a:lnTo>
                    <a:pt x="107470" y="6159"/>
                  </a:lnTo>
                  <a:lnTo>
                    <a:pt x="76082" y="0"/>
                  </a:lnTo>
                  <a:lnTo>
                    <a:pt x="47839" y="615"/>
                  </a:lnTo>
                  <a:lnTo>
                    <a:pt x="22544" y="4804"/>
                  </a:lnTo>
                  <a:lnTo>
                    <a:pt x="0" y="9365"/>
                  </a:lnTo>
                </a:path>
              </a:pathLst>
            </a:custGeom>
            <a:ln w="5270">
              <a:solidFill>
                <a:srgbClr val="231F20"/>
              </a:solidFill>
            </a:ln>
          </p:spPr>
          <p:txBody>
            <a:bodyPr wrap="square" lIns="0" tIns="0" rIns="0" bIns="0" rtlCol="0"/>
            <a:lstStyle/>
            <a:p>
              <a:endParaRPr/>
            </a:p>
          </p:txBody>
        </p:sp>
        <p:sp>
          <p:nvSpPr>
            <p:cNvPr id="18" name="object 18"/>
            <p:cNvSpPr/>
            <p:nvPr/>
          </p:nvSpPr>
          <p:spPr>
            <a:xfrm>
              <a:off x="1474015" y="2335357"/>
              <a:ext cx="78740" cy="62865"/>
            </a:xfrm>
            <a:custGeom>
              <a:avLst/>
              <a:gdLst/>
              <a:ahLst/>
              <a:cxnLst/>
              <a:rect l="l" t="t" r="r" b="b"/>
              <a:pathLst>
                <a:path w="78740" h="62864">
                  <a:moveTo>
                    <a:pt x="67841" y="0"/>
                  </a:moveTo>
                  <a:lnTo>
                    <a:pt x="0" y="44124"/>
                  </a:lnTo>
                  <a:lnTo>
                    <a:pt x="78730" y="62824"/>
                  </a:lnTo>
                  <a:lnTo>
                    <a:pt x="70117" y="48148"/>
                  </a:lnTo>
                  <a:lnTo>
                    <a:pt x="65431" y="32787"/>
                  </a:lnTo>
                  <a:lnTo>
                    <a:pt x="64673" y="16738"/>
                  </a:lnTo>
                  <a:lnTo>
                    <a:pt x="67841" y="0"/>
                  </a:lnTo>
                  <a:close/>
                </a:path>
              </a:pathLst>
            </a:custGeom>
            <a:solidFill>
              <a:srgbClr val="231F20"/>
            </a:solidFill>
          </p:spPr>
          <p:txBody>
            <a:bodyPr wrap="square" lIns="0" tIns="0" rIns="0" bIns="0" rtlCol="0"/>
            <a:lstStyle/>
            <a:p>
              <a:endParaRPr/>
            </a:p>
          </p:txBody>
        </p:sp>
        <p:sp>
          <p:nvSpPr>
            <p:cNvPr id="19" name="object 19"/>
            <p:cNvSpPr/>
            <p:nvPr/>
          </p:nvSpPr>
          <p:spPr>
            <a:xfrm>
              <a:off x="1236761" y="1292836"/>
              <a:ext cx="927735" cy="806450"/>
            </a:xfrm>
            <a:custGeom>
              <a:avLst/>
              <a:gdLst/>
              <a:ahLst/>
              <a:cxnLst/>
              <a:rect l="l" t="t" r="r" b="b"/>
              <a:pathLst>
                <a:path w="927735" h="806450">
                  <a:moveTo>
                    <a:pt x="0" y="0"/>
                  </a:moveTo>
                  <a:lnTo>
                    <a:pt x="927650" y="0"/>
                  </a:lnTo>
                  <a:lnTo>
                    <a:pt x="927650" y="806175"/>
                  </a:lnTo>
                  <a:lnTo>
                    <a:pt x="0" y="806175"/>
                  </a:lnTo>
                  <a:lnTo>
                    <a:pt x="0" y="0"/>
                  </a:lnTo>
                  <a:close/>
                </a:path>
              </a:pathLst>
            </a:custGeom>
            <a:ln w="5270">
              <a:solidFill>
                <a:srgbClr val="231F20"/>
              </a:solidFill>
            </a:ln>
          </p:spPr>
          <p:txBody>
            <a:bodyPr wrap="square" lIns="0" tIns="0" rIns="0" bIns="0" rtlCol="0"/>
            <a:lstStyle/>
            <a:p>
              <a:endParaRPr/>
            </a:p>
          </p:txBody>
        </p:sp>
        <p:sp>
          <p:nvSpPr>
            <p:cNvPr id="20" name="object 20"/>
            <p:cNvSpPr/>
            <p:nvPr/>
          </p:nvSpPr>
          <p:spPr>
            <a:xfrm>
              <a:off x="2501766" y="1419349"/>
              <a:ext cx="927735" cy="806450"/>
            </a:xfrm>
            <a:custGeom>
              <a:avLst/>
              <a:gdLst/>
              <a:ahLst/>
              <a:cxnLst/>
              <a:rect l="l" t="t" r="r" b="b"/>
              <a:pathLst>
                <a:path w="927735" h="806450">
                  <a:moveTo>
                    <a:pt x="0" y="0"/>
                  </a:moveTo>
                  <a:lnTo>
                    <a:pt x="927671" y="0"/>
                  </a:lnTo>
                  <a:lnTo>
                    <a:pt x="927671" y="806154"/>
                  </a:lnTo>
                  <a:lnTo>
                    <a:pt x="0" y="806154"/>
                  </a:lnTo>
                  <a:lnTo>
                    <a:pt x="0" y="0"/>
                  </a:lnTo>
                  <a:close/>
                </a:path>
              </a:pathLst>
            </a:custGeom>
            <a:ln w="5270">
              <a:solidFill>
                <a:srgbClr val="231F20"/>
              </a:solidFill>
            </a:ln>
          </p:spPr>
          <p:txBody>
            <a:bodyPr wrap="square" lIns="0" tIns="0" rIns="0" bIns="0" rtlCol="0"/>
            <a:lstStyle/>
            <a:p>
              <a:endParaRPr/>
            </a:p>
          </p:txBody>
        </p:sp>
      </p:grpSp>
      <p:graphicFrame>
        <p:nvGraphicFramePr>
          <p:cNvPr id="21" name="object 21"/>
          <p:cNvGraphicFramePr>
            <a:graphicFrameLocks noGrp="1"/>
          </p:cNvGraphicFramePr>
          <p:nvPr/>
        </p:nvGraphicFramePr>
        <p:xfrm>
          <a:off x="604533" y="2448994"/>
          <a:ext cx="379730" cy="252095"/>
        </p:xfrm>
        <a:graphic>
          <a:graphicData uri="http://schemas.openxmlformats.org/drawingml/2006/table">
            <a:tbl>
              <a:tblPr firstRow="1" bandRow="1">
                <a:tableStyleId>{2D5ABB26-0587-4C30-8999-92F81FD0307C}</a:tableStyleId>
              </a:tblPr>
              <a:tblGrid>
                <a:gridCol w="189865">
                  <a:extLst>
                    <a:ext uri="{9D8B030D-6E8A-4147-A177-3AD203B41FA5}">
                      <a16:colId xmlns:a16="http://schemas.microsoft.com/office/drawing/2014/main" val="20000"/>
                    </a:ext>
                  </a:extLst>
                </a:gridCol>
                <a:gridCol w="189865">
                  <a:extLst>
                    <a:ext uri="{9D8B030D-6E8A-4147-A177-3AD203B41FA5}">
                      <a16:colId xmlns:a16="http://schemas.microsoft.com/office/drawing/2014/main" val="20001"/>
                    </a:ext>
                  </a:extLst>
                </a:gridCol>
              </a:tblGrid>
              <a:tr h="83185">
                <a:tc>
                  <a:txBody>
                    <a:bodyPr/>
                    <a:lstStyle/>
                    <a:p>
                      <a:pPr marL="20320">
                        <a:lnSpc>
                          <a:spcPts val="530"/>
                        </a:lnSpc>
                        <a:spcBef>
                          <a:spcPts val="25"/>
                        </a:spcBef>
                      </a:pPr>
                      <a:r>
                        <a:rPr sz="500" spc="30" dirty="0">
                          <a:solidFill>
                            <a:srgbClr val="231F20"/>
                          </a:solidFill>
                          <a:latin typeface="Arial"/>
                          <a:cs typeface="Arial"/>
                        </a:rPr>
                        <a:t>Q</a:t>
                      </a:r>
                      <a:r>
                        <a:rPr sz="500" spc="35" dirty="0">
                          <a:solidFill>
                            <a:srgbClr val="231F20"/>
                          </a:solidFill>
                          <a:latin typeface="Arial"/>
                          <a:cs typeface="Arial"/>
                        </a:rPr>
                        <a:t>M</a:t>
                      </a:r>
                      <a:r>
                        <a:rPr sz="500" dirty="0">
                          <a:solidFill>
                            <a:srgbClr val="231F20"/>
                          </a:solidFill>
                          <a:latin typeface="Arial"/>
                          <a:cs typeface="Arial"/>
                        </a:rPr>
                        <a:t>A</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6034" algn="ctr">
                        <a:lnSpc>
                          <a:spcPts val="530"/>
                        </a:lnSpc>
                        <a:spcBef>
                          <a:spcPts val="25"/>
                        </a:spcBef>
                      </a:pPr>
                      <a:r>
                        <a:rPr sz="500" spc="10" dirty="0">
                          <a:solidFill>
                            <a:srgbClr val="231F20"/>
                          </a:solidFill>
                          <a:latin typeface="Arial"/>
                          <a:cs typeface="Arial"/>
                        </a:rPr>
                        <a:t>SQ1</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85725">
                <a:tc>
                  <a:txBody>
                    <a:bodyPr/>
                    <a:lstStyle/>
                    <a:p>
                      <a:pPr marL="20320">
                        <a:lnSpc>
                          <a:spcPts val="555"/>
                        </a:lnSpc>
                        <a:spcBef>
                          <a:spcPts val="20"/>
                        </a:spcBef>
                      </a:pPr>
                      <a:r>
                        <a:rPr sz="500" spc="30" dirty="0">
                          <a:solidFill>
                            <a:srgbClr val="231F20"/>
                          </a:solidFill>
                          <a:latin typeface="Arial"/>
                          <a:cs typeface="Arial"/>
                        </a:rPr>
                        <a:t>Q</a:t>
                      </a:r>
                      <a:r>
                        <a:rPr sz="500" spc="35" dirty="0">
                          <a:solidFill>
                            <a:srgbClr val="231F20"/>
                          </a:solidFill>
                          <a:latin typeface="Arial"/>
                          <a:cs typeface="Arial"/>
                        </a:rPr>
                        <a:t>M</a:t>
                      </a:r>
                      <a:r>
                        <a:rPr sz="500" dirty="0">
                          <a:solidFill>
                            <a:srgbClr val="231F20"/>
                          </a:solidFill>
                          <a:latin typeface="Arial"/>
                          <a:cs typeface="Arial"/>
                        </a:rPr>
                        <a:t>C</a:t>
                      </a:r>
                      <a:endParaRPr sz="500">
                        <a:latin typeface="Arial"/>
                        <a:cs typeface="Arial"/>
                      </a:endParaRPr>
                    </a:p>
                  </a:txBody>
                  <a:tcPr marL="0" marR="0" marT="254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0320" algn="ctr">
                        <a:lnSpc>
                          <a:spcPts val="555"/>
                        </a:lnSpc>
                        <a:spcBef>
                          <a:spcPts val="20"/>
                        </a:spcBef>
                      </a:pPr>
                      <a:r>
                        <a:rPr sz="500" spc="10" dirty="0">
                          <a:solidFill>
                            <a:srgbClr val="231F20"/>
                          </a:solidFill>
                          <a:latin typeface="Arial"/>
                          <a:cs typeface="Arial"/>
                        </a:rPr>
                        <a:t>SQ2</a:t>
                      </a:r>
                      <a:endParaRPr sz="500">
                        <a:latin typeface="Arial"/>
                        <a:cs typeface="Arial"/>
                      </a:endParaRPr>
                    </a:p>
                  </a:txBody>
                  <a:tcPr marL="0" marR="0" marT="254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83185">
                <a:tc>
                  <a:txBody>
                    <a:bodyPr/>
                    <a:lstStyle/>
                    <a:p>
                      <a:pPr marL="20320">
                        <a:lnSpc>
                          <a:spcPts val="550"/>
                        </a:lnSpc>
                        <a:spcBef>
                          <a:spcPts val="10"/>
                        </a:spcBef>
                      </a:pPr>
                      <a:r>
                        <a:rPr sz="500" spc="30" dirty="0">
                          <a:solidFill>
                            <a:srgbClr val="231F20"/>
                          </a:solidFill>
                          <a:latin typeface="Arial"/>
                          <a:cs typeface="Arial"/>
                        </a:rPr>
                        <a:t>Q</a:t>
                      </a:r>
                      <a:r>
                        <a:rPr sz="500" spc="35" dirty="0">
                          <a:solidFill>
                            <a:srgbClr val="231F20"/>
                          </a:solidFill>
                          <a:latin typeface="Arial"/>
                          <a:cs typeface="Arial"/>
                        </a:rPr>
                        <a:t>M</a:t>
                      </a:r>
                      <a:r>
                        <a:rPr sz="500" dirty="0">
                          <a:solidFill>
                            <a:srgbClr val="231F20"/>
                          </a:solidFill>
                          <a:latin typeface="Arial"/>
                          <a:cs typeface="Arial"/>
                        </a:rPr>
                        <a:t>B</a:t>
                      </a:r>
                      <a:endParaRPr sz="500">
                        <a:latin typeface="Arial"/>
                        <a:cs typeface="Arial"/>
                      </a:endParaRPr>
                    </a:p>
                  </a:txBody>
                  <a:tcPr marL="0" marR="0" marT="127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0320" algn="ctr">
                        <a:lnSpc>
                          <a:spcPts val="550"/>
                        </a:lnSpc>
                        <a:spcBef>
                          <a:spcPts val="10"/>
                        </a:spcBef>
                      </a:pPr>
                      <a:r>
                        <a:rPr sz="500" spc="10" dirty="0">
                          <a:solidFill>
                            <a:srgbClr val="231F20"/>
                          </a:solidFill>
                          <a:latin typeface="Arial"/>
                          <a:cs typeface="Arial"/>
                        </a:rPr>
                        <a:t>SQ1</a:t>
                      </a:r>
                      <a:endParaRPr sz="500">
                        <a:latin typeface="Arial"/>
                        <a:cs typeface="Arial"/>
                      </a:endParaRPr>
                    </a:p>
                  </a:txBody>
                  <a:tcPr marL="0" marR="0" marT="127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bl>
          </a:graphicData>
        </a:graphic>
      </p:graphicFrame>
      <p:graphicFrame>
        <p:nvGraphicFramePr>
          <p:cNvPr id="22" name="object 22"/>
          <p:cNvGraphicFramePr>
            <a:graphicFrameLocks noGrp="1"/>
          </p:cNvGraphicFramePr>
          <p:nvPr/>
        </p:nvGraphicFramePr>
        <p:xfrm>
          <a:off x="1740126" y="1437785"/>
          <a:ext cx="379730" cy="252095"/>
        </p:xfrm>
        <a:graphic>
          <a:graphicData uri="http://schemas.openxmlformats.org/drawingml/2006/table">
            <a:tbl>
              <a:tblPr firstRow="1" bandRow="1">
                <a:tableStyleId>{2D5ABB26-0587-4C30-8999-92F81FD0307C}</a:tableStyleId>
              </a:tblPr>
              <a:tblGrid>
                <a:gridCol w="189865">
                  <a:extLst>
                    <a:ext uri="{9D8B030D-6E8A-4147-A177-3AD203B41FA5}">
                      <a16:colId xmlns:a16="http://schemas.microsoft.com/office/drawing/2014/main" val="20000"/>
                    </a:ext>
                  </a:extLst>
                </a:gridCol>
                <a:gridCol w="189865">
                  <a:extLst>
                    <a:ext uri="{9D8B030D-6E8A-4147-A177-3AD203B41FA5}">
                      <a16:colId xmlns:a16="http://schemas.microsoft.com/office/drawing/2014/main" val="20001"/>
                    </a:ext>
                  </a:extLst>
                </a:gridCol>
              </a:tblGrid>
              <a:tr h="83185">
                <a:tc>
                  <a:txBody>
                    <a:bodyPr/>
                    <a:lstStyle/>
                    <a:p>
                      <a:pPr marR="8255" algn="r">
                        <a:lnSpc>
                          <a:spcPts val="530"/>
                        </a:lnSpc>
                        <a:spcBef>
                          <a:spcPts val="25"/>
                        </a:spcBef>
                      </a:pPr>
                      <a:r>
                        <a:rPr sz="500" spc="20" dirty="0">
                          <a:solidFill>
                            <a:srgbClr val="231F20"/>
                          </a:solidFill>
                          <a:latin typeface="Arial"/>
                          <a:cs typeface="Arial"/>
                        </a:rPr>
                        <a:t>QMB</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6034" algn="ctr">
                        <a:lnSpc>
                          <a:spcPts val="530"/>
                        </a:lnSpc>
                        <a:spcBef>
                          <a:spcPts val="25"/>
                        </a:spcBef>
                      </a:pPr>
                      <a:r>
                        <a:rPr sz="500" spc="10" dirty="0">
                          <a:solidFill>
                            <a:srgbClr val="231F20"/>
                          </a:solidFill>
                          <a:latin typeface="Arial"/>
                          <a:cs typeface="Arial"/>
                        </a:rPr>
                        <a:t>SQ1</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85725">
                <a:tc>
                  <a:txBody>
                    <a:bodyPr/>
                    <a:lstStyle/>
                    <a:p>
                      <a:pPr marR="5080" algn="r">
                        <a:lnSpc>
                          <a:spcPts val="560"/>
                        </a:lnSpc>
                        <a:spcBef>
                          <a:spcPts val="15"/>
                        </a:spcBef>
                      </a:pPr>
                      <a:r>
                        <a:rPr sz="500" spc="20" dirty="0">
                          <a:solidFill>
                            <a:srgbClr val="231F20"/>
                          </a:solidFill>
                          <a:latin typeface="Arial"/>
                          <a:cs typeface="Arial"/>
                        </a:rPr>
                        <a:t>QMC</a:t>
                      </a:r>
                      <a:endParaRPr sz="500">
                        <a:latin typeface="Arial"/>
                        <a:cs typeface="Arial"/>
                      </a:endParaRPr>
                    </a:p>
                  </a:txBody>
                  <a:tcPr marL="0" marR="0" marT="190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6034" algn="ctr">
                        <a:lnSpc>
                          <a:spcPts val="560"/>
                        </a:lnSpc>
                        <a:spcBef>
                          <a:spcPts val="15"/>
                        </a:spcBef>
                      </a:pPr>
                      <a:r>
                        <a:rPr sz="500" spc="10" dirty="0">
                          <a:solidFill>
                            <a:srgbClr val="231F20"/>
                          </a:solidFill>
                          <a:latin typeface="Arial"/>
                          <a:cs typeface="Arial"/>
                        </a:rPr>
                        <a:t>SQ1</a:t>
                      </a:r>
                      <a:endParaRPr sz="500">
                        <a:latin typeface="Arial"/>
                        <a:cs typeface="Arial"/>
                      </a:endParaRPr>
                    </a:p>
                  </a:txBody>
                  <a:tcPr marL="0" marR="0" marT="190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83185">
                <a:tc>
                  <a:txBody>
                    <a:bodyPr/>
                    <a:lstStyle/>
                    <a:p>
                      <a:pPr marR="5080" algn="r">
                        <a:lnSpc>
                          <a:spcPts val="555"/>
                        </a:lnSpc>
                      </a:pPr>
                      <a:r>
                        <a:rPr sz="500" spc="20" dirty="0">
                          <a:solidFill>
                            <a:srgbClr val="231F20"/>
                          </a:solidFill>
                          <a:latin typeface="Arial"/>
                          <a:cs typeface="Arial"/>
                        </a:rPr>
                        <a:t>QMD</a:t>
                      </a:r>
                      <a:endParaRPr sz="50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6034" algn="ctr">
                        <a:lnSpc>
                          <a:spcPts val="555"/>
                        </a:lnSpc>
                      </a:pPr>
                      <a:r>
                        <a:rPr sz="500" spc="10" dirty="0">
                          <a:solidFill>
                            <a:srgbClr val="231F20"/>
                          </a:solidFill>
                          <a:latin typeface="Arial"/>
                          <a:cs typeface="Arial"/>
                        </a:rPr>
                        <a:t>SQ2</a:t>
                      </a:r>
                      <a:endParaRPr sz="50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bl>
          </a:graphicData>
        </a:graphic>
      </p:graphicFrame>
      <p:graphicFrame>
        <p:nvGraphicFramePr>
          <p:cNvPr id="23" name="object 23"/>
          <p:cNvGraphicFramePr>
            <a:graphicFrameLocks noGrp="1"/>
          </p:cNvGraphicFramePr>
          <p:nvPr/>
        </p:nvGraphicFramePr>
        <p:xfrm>
          <a:off x="3005130" y="1564288"/>
          <a:ext cx="379730" cy="252095"/>
        </p:xfrm>
        <a:graphic>
          <a:graphicData uri="http://schemas.openxmlformats.org/drawingml/2006/table">
            <a:tbl>
              <a:tblPr firstRow="1" bandRow="1">
                <a:tableStyleId>{2D5ABB26-0587-4C30-8999-92F81FD0307C}</a:tableStyleId>
              </a:tblPr>
              <a:tblGrid>
                <a:gridCol w="189865">
                  <a:extLst>
                    <a:ext uri="{9D8B030D-6E8A-4147-A177-3AD203B41FA5}">
                      <a16:colId xmlns:a16="http://schemas.microsoft.com/office/drawing/2014/main" val="20000"/>
                    </a:ext>
                  </a:extLst>
                </a:gridCol>
                <a:gridCol w="189865">
                  <a:extLst>
                    <a:ext uri="{9D8B030D-6E8A-4147-A177-3AD203B41FA5}">
                      <a16:colId xmlns:a16="http://schemas.microsoft.com/office/drawing/2014/main" val="20001"/>
                    </a:ext>
                  </a:extLst>
                </a:gridCol>
              </a:tblGrid>
              <a:tr h="83185">
                <a:tc>
                  <a:txBody>
                    <a:bodyPr/>
                    <a:lstStyle/>
                    <a:p>
                      <a:pPr marR="8255" algn="r">
                        <a:lnSpc>
                          <a:spcPts val="530"/>
                        </a:lnSpc>
                        <a:spcBef>
                          <a:spcPts val="30"/>
                        </a:spcBef>
                      </a:pPr>
                      <a:r>
                        <a:rPr sz="500" spc="20" dirty="0">
                          <a:solidFill>
                            <a:srgbClr val="231F20"/>
                          </a:solidFill>
                          <a:latin typeface="Arial"/>
                          <a:cs typeface="Arial"/>
                        </a:rPr>
                        <a:t>QMA</a:t>
                      </a:r>
                      <a:endParaRPr sz="500">
                        <a:latin typeface="Arial"/>
                        <a:cs typeface="Arial"/>
                      </a:endParaRPr>
                    </a:p>
                  </a:txBody>
                  <a:tcPr marL="0" marR="0" marT="381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6034" algn="ctr">
                        <a:lnSpc>
                          <a:spcPts val="530"/>
                        </a:lnSpc>
                        <a:spcBef>
                          <a:spcPts val="30"/>
                        </a:spcBef>
                      </a:pPr>
                      <a:r>
                        <a:rPr sz="500" spc="10" dirty="0">
                          <a:solidFill>
                            <a:srgbClr val="231F20"/>
                          </a:solidFill>
                          <a:latin typeface="Arial"/>
                          <a:cs typeface="Arial"/>
                        </a:rPr>
                        <a:t>SQ1</a:t>
                      </a:r>
                      <a:endParaRPr sz="500">
                        <a:latin typeface="Arial"/>
                        <a:cs typeface="Arial"/>
                      </a:endParaRPr>
                    </a:p>
                  </a:txBody>
                  <a:tcPr marL="0" marR="0" marT="381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85725">
                <a:tc>
                  <a:txBody>
                    <a:bodyPr/>
                    <a:lstStyle/>
                    <a:p>
                      <a:pPr marR="4445" algn="r">
                        <a:lnSpc>
                          <a:spcPts val="560"/>
                        </a:lnSpc>
                        <a:spcBef>
                          <a:spcPts val="15"/>
                        </a:spcBef>
                      </a:pPr>
                      <a:r>
                        <a:rPr sz="500" spc="20" dirty="0">
                          <a:solidFill>
                            <a:srgbClr val="231F20"/>
                          </a:solidFill>
                          <a:latin typeface="Arial"/>
                          <a:cs typeface="Arial"/>
                        </a:rPr>
                        <a:t>QMC</a:t>
                      </a:r>
                      <a:endParaRPr sz="500">
                        <a:latin typeface="Arial"/>
                        <a:cs typeface="Arial"/>
                      </a:endParaRPr>
                    </a:p>
                  </a:txBody>
                  <a:tcPr marL="0" marR="0" marT="190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6034" algn="ctr">
                        <a:lnSpc>
                          <a:spcPts val="560"/>
                        </a:lnSpc>
                        <a:spcBef>
                          <a:spcPts val="15"/>
                        </a:spcBef>
                      </a:pPr>
                      <a:r>
                        <a:rPr sz="500" spc="10" dirty="0">
                          <a:solidFill>
                            <a:srgbClr val="231F20"/>
                          </a:solidFill>
                          <a:latin typeface="Arial"/>
                          <a:cs typeface="Arial"/>
                        </a:rPr>
                        <a:t>SQ1</a:t>
                      </a:r>
                      <a:endParaRPr sz="500">
                        <a:latin typeface="Arial"/>
                        <a:cs typeface="Arial"/>
                      </a:endParaRPr>
                    </a:p>
                  </a:txBody>
                  <a:tcPr marL="0" marR="0" marT="190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83185">
                <a:tc>
                  <a:txBody>
                    <a:bodyPr/>
                    <a:lstStyle/>
                    <a:p>
                      <a:pPr marR="4445" algn="r">
                        <a:lnSpc>
                          <a:spcPts val="555"/>
                        </a:lnSpc>
                      </a:pPr>
                      <a:r>
                        <a:rPr sz="500" spc="20" dirty="0">
                          <a:solidFill>
                            <a:srgbClr val="231F20"/>
                          </a:solidFill>
                          <a:latin typeface="Arial"/>
                          <a:cs typeface="Arial"/>
                        </a:rPr>
                        <a:t>QMD</a:t>
                      </a:r>
                      <a:endParaRPr sz="50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6034" algn="ctr">
                        <a:lnSpc>
                          <a:spcPts val="555"/>
                        </a:lnSpc>
                      </a:pPr>
                      <a:r>
                        <a:rPr sz="500" spc="10" dirty="0">
                          <a:solidFill>
                            <a:srgbClr val="231F20"/>
                          </a:solidFill>
                          <a:latin typeface="Arial"/>
                          <a:cs typeface="Arial"/>
                        </a:rPr>
                        <a:t>SQ1</a:t>
                      </a:r>
                      <a:endParaRPr sz="50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bl>
          </a:graphicData>
        </a:graphic>
      </p:graphicFrame>
      <p:graphicFrame>
        <p:nvGraphicFramePr>
          <p:cNvPr id="24" name="object 24"/>
          <p:cNvGraphicFramePr>
            <a:graphicFrameLocks noGrp="1"/>
          </p:cNvGraphicFramePr>
          <p:nvPr/>
        </p:nvGraphicFramePr>
        <p:xfrm>
          <a:off x="3637622" y="2470866"/>
          <a:ext cx="379730" cy="252095"/>
        </p:xfrm>
        <a:graphic>
          <a:graphicData uri="http://schemas.openxmlformats.org/drawingml/2006/table">
            <a:tbl>
              <a:tblPr firstRow="1" bandRow="1">
                <a:tableStyleId>{2D5ABB26-0587-4C30-8999-92F81FD0307C}</a:tableStyleId>
              </a:tblPr>
              <a:tblGrid>
                <a:gridCol w="189865">
                  <a:extLst>
                    <a:ext uri="{9D8B030D-6E8A-4147-A177-3AD203B41FA5}">
                      <a16:colId xmlns:a16="http://schemas.microsoft.com/office/drawing/2014/main" val="20000"/>
                    </a:ext>
                  </a:extLst>
                </a:gridCol>
                <a:gridCol w="189865">
                  <a:extLst>
                    <a:ext uri="{9D8B030D-6E8A-4147-A177-3AD203B41FA5}">
                      <a16:colId xmlns:a16="http://schemas.microsoft.com/office/drawing/2014/main" val="20001"/>
                    </a:ext>
                  </a:extLst>
                </a:gridCol>
              </a:tblGrid>
              <a:tr h="83185">
                <a:tc>
                  <a:txBody>
                    <a:bodyPr/>
                    <a:lstStyle/>
                    <a:p>
                      <a:pPr marL="4445" algn="ctr">
                        <a:lnSpc>
                          <a:spcPts val="530"/>
                        </a:lnSpc>
                        <a:spcBef>
                          <a:spcPts val="25"/>
                        </a:spcBef>
                      </a:pPr>
                      <a:r>
                        <a:rPr sz="500" spc="20" dirty="0">
                          <a:solidFill>
                            <a:srgbClr val="231F20"/>
                          </a:solidFill>
                          <a:latin typeface="Arial"/>
                          <a:cs typeface="Arial"/>
                        </a:rPr>
                        <a:t>QMA</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R="6985" algn="r">
                        <a:lnSpc>
                          <a:spcPts val="530"/>
                        </a:lnSpc>
                        <a:spcBef>
                          <a:spcPts val="25"/>
                        </a:spcBef>
                      </a:pPr>
                      <a:r>
                        <a:rPr sz="500" spc="10" dirty="0">
                          <a:solidFill>
                            <a:srgbClr val="231F20"/>
                          </a:solidFill>
                          <a:latin typeface="Arial"/>
                          <a:cs typeface="Arial"/>
                        </a:rPr>
                        <a:t>SQ1</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85725">
                <a:tc>
                  <a:txBody>
                    <a:bodyPr/>
                    <a:lstStyle/>
                    <a:p>
                      <a:pPr marL="4445" algn="ctr">
                        <a:lnSpc>
                          <a:spcPts val="560"/>
                        </a:lnSpc>
                        <a:spcBef>
                          <a:spcPts val="15"/>
                        </a:spcBef>
                      </a:pPr>
                      <a:r>
                        <a:rPr sz="500" spc="20" dirty="0">
                          <a:solidFill>
                            <a:srgbClr val="231F20"/>
                          </a:solidFill>
                          <a:latin typeface="Arial"/>
                          <a:cs typeface="Arial"/>
                        </a:rPr>
                        <a:t>QMB</a:t>
                      </a:r>
                      <a:endParaRPr sz="500">
                        <a:latin typeface="Arial"/>
                        <a:cs typeface="Arial"/>
                      </a:endParaRPr>
                    </a:p>
                  </a:txBody>
                  <a:tcPr marL="0" marR="0" marT="190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R="6985" algn="r">
                        <a:lnSpc>
                          <a:spcPts val="560"/>
                        </a:lnSpc>
                        <a:spcBef>
                          <a:spcPts val="15"/>
                        </a:spcBef>
                      </a:pPr>
                      <a:r>
                        <a:rPr sz="500" spc="10" dirty="0">
                          <a:solidFill>
                            <a:srgbClr val="231F20"/>
                          </a:solidFill>
                          <a:latin typeface="Arial"/>
                          <a:cs typeface="Arial"/>
                        </a:rPr>
                        <a:t>SQ1</a:t>
                      </a:r>
                      <a:endParaRPr sz="500">
                        <a:latin typeface="Arial"/>
                        <a:cs typeface="Arial"/>
                      </a:endParaRPr>
                    </a:p>
                  </a:txBody>
                  <a:tcPr marL="0" marR="0" marT="190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83185">
                <a:tc>
                  <a:txBody>
                    <a:bodyPr/>
                    <a:lstStyle/>
                    <a:p>
                      <a:pPr marL="7620" algn="ctr">
                        <a:lnSpc>
                          <a:spcPts val="555"/>
                        </a:lnSpc>
                      </a:pPr>
                      <a:r>
                        <a:rPr sz="500" spc="20" dirty="0">
                          <a:solidFill>
                            <a:srgbClr val="231F20"/>
                          </a:solidFill>
                          <a:latin typeface="Arial"/>
                          <a:cs typeface="Arial"/>
                        </a:rPr>
                        <a:t>QMD</a:t>
                      </a:r>
                      <a:endParaRPr sz="50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R="6985" algn="r">
                        <a:lnSpc>
                          <a:spcPts val="555"/>
                        </a:lnSpc>
                      </a:pPr>
                      <a:r>
                        <a:rPr sz="500" spc="10" dirty="0">
                          <a:solidFill>
                            <a:srgbClr val="231F20"/>
                          </a:solidFill>
                          <a:latin typeface="Arial"/>
                          <a:cs typeface="Arial"/>
                        </a:rPr>
                        <a:t>SQ1</a:t>
                      </a:r>
                      <a:endParaRPr sz="50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bl>
          </a:graphicData>
        </a:graphic>
      </p:graphicFrame>
      <p:sp>
        <p:nvSpPr>
          <p:cNvPr id="25" name="object 25"/>
          <p:cNvSpPr txBox="1"/>
          <p:nvPr/>
        </p:nvSpPr>
        <p:spPr>
          <a:xfrm>
            <a:off x="594016" y="2345959"/>
            <a:ext cx="39814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231F20"/>
                </a:solidFill>
                <a:latin typeface="Arial"/>
                <a:cs typeface="Arial"/>
              </a:rPr>
              <a:t>Routin</a:t>
            </a:r>
            <a:r>
              <a:rPr sz="500" spc="-5" dirty="0">
                <a:solidFill>
                  <a:srgbClr val="231F20"/>
                </a:solidFill>
                <a:latin typeface="Arial"/>
                <a:cs typeface="Arial"/>
              </a:rPr>
              <a:t>g table</a:t>
            </a:r>
            <a:endParaRPr sz="500">
              <a:latin typeface="Arial"/>
              <a:cs typeface="Arial"/>
            </a:endParaRPr>
          </a:p>
        </p:txBody>
      </p:sp>
      <p:sp>
        <p:nvSpPr>
          <p:cNvPr id="26" name="object 26"/>
          <p:cNvSpPr txBox="1"/>
          <p:nvPr/>
        </p:nvSpPr>
        <p:spPr>
          <a:xfrm>
            <a:off x="1729668" y="1335338"/>
            <a:ext cx="39814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231F20"/>
                </a:solidFill>
                <a:latin typeface="Arial"/>
                <a:cs typeface="Arial"/>
              </a:rPr>
              <a:t>Routin</a:t>
            </a:r>
            <a:r>
              <a:rPr sz="500" spc="-5" dirty="0">
                <a:solidFill>
                  <a:srgbClr val="231F20"/>
                </a:solidFill>
                <a:latin typeface="Arial"/>
                <a:cs typeface="Arial"/>
              </a:rPr>
              <a:t>g tab</a:t>
            </a:r>
            <a:r>
              <a:rPr sz="500" spc="-10" dirty="0">
                <a:solidFill>
                  <a:srgbClr val="231F20"/>
                </a:solidFill>
                <a:latin typeface="Arial"/>
                <a:cs typeface="Arial"/>
              </a:rPr>
              <a:t>l</a:t>
            </a:r>
            <a:r>
              <a:rPr sz="500" spc="-5" dirty="0">
                <a:solidFill>
                  <a:srgbClr val="231F20"/>
                </a:solidFill>
                <a:latin typeface="Arial"/>
                <a:cs typeface="Arial"/>
              </a:rPr>
              <a:t>e</a:t>
            </a:r>
            <a:endParaRPr sz="500">
              <a:latin typeface="Arial"/>
              <a:cs typeface="Arial"/>
            </a:endParaRPr>
          </a:p>
        </p:txBody>
      </p:sp>
      <p:sp>
        <p:nvSpPr>
          <p:cNvPr id="27" name="object 27"/>
          <p:cNvSpPr txBox="1"/>
          <p:nvPr/>
        </p:nvSpPr>
        <p:spPr>
          <a:xfrm>
            <a:off x="2994651" y="1461887"/>
            <a:ext cx="39814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231F20"/>
                </a:solidFill>
                <a:latin typeface="Arial"/>
                <a:cs typeface="Arial"/>
              </a:rPr>
              <a:t>Routin</a:t>
            </a:r>
            <a:r>
              <a:rPr sz="500" spc="-5" dirty="0">
                <a:solidFill>
                  <a:srgbClr val="231F20"/>
                </a:solidFill>
                <a:latin typeface="Arial"/>
                <a:cs typeface="Arial"/>
              </a:rPr>
              <a:t>g tab</a:t>
            </a:r>
            <a:r>
              <a:rPr sz="500" spc="-10" dirty="0">
                <a:solidFill>
                  <a:srgbClr val="231F20"/>
                </a:solidFill>
                <a:latin typeface="Arial"/>
                <a:cs typeface="Arial"/>
              </a:rPr>
              <a:t>l</a:t>
            </a:r>
            <a:r>
              <a:rPr sz="500" spc="-5" dirty="0">
                <a:solidFill>
                  <a:srgbClr val="231F20"/>
                </a:solidFill>
                <a:latin typeface="Arial"/>
                <a:cs typeface="Arial"/>
              </a:rPr>
              <a:t>e</a:t>
            </a:r>
            <a:endParaRPr sz="500">
              <a:latin typeface="Arial"/>
              <a:cs typeface="Arial"/>
            </a:endParaRPr>
          </a:p>
        </p:txBody>
      </p:sp>
      <p:sp>
        <p:nvSpPr>
          <p:cNvPr id="28" name="object 28"/>
          <p:cNvSpPr txBox="1"/>
          <p:nvPr/>
        </p:nvSpPr>
        <p:spPr>
          <a:xfrm>
            <a:off x="3627143" y="2368474"/>
            <a:ext cx="39814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231F20"/>
                </a:solidFill>
                <a:latin typeface="Arial"/>
                <a:cs typeface="Arial"/>
              </a:rPr>
              <a:t>Routin</a:t>
            </a:r>
            <a:r>
              <a:rPr sz="500" spc="-5" dirty="0">
                <a:solidFill>
                  <a:srgbClr val="231F20"/>
                </a:solidFill>
                <a:latin typeface="Arial"/>
                <a:cs typeface="Arial"/>
              </a:rPr>
              <a:t>g table</a:t>
            </a:r>
            <a:endParaRPr sz="500">
              <a:latin typeface="Arial"/>
              <a:cs typeface="Arial"/>
            </a:endParaRPr>
          </a:p>
        </p:txBody>
      </p:sp>
      <p:graphicFrame>
        <p:nvGraphicFramePr>
          <p:cNvPr id="29" name="object 29"/>
          <p:cNvGraphicFramePr>
            <a:graphicFrameLocks noGrp="1"/>
          </p:cNvGraphicFramePr>
          <p:nvPr/>
        </p:nvGraphicFramePr>
        <p:xfrm>
          <a:off x="602404" y="2892548"/>
          <a:ext cx="379730" cy="167640"/>
        </p:xfrm>
        <a:graphic>
          <a:graphicData uri="http://schemas.openxmlformats.org/drawingml/2006/table">
            <a:tbl>
              <a:tblPr firstRow="1" bandRow="1">
                <a:tableStyleId>{2D5ABB26-0587-4C30-8999-92F81FD0307C}</a:tableStyleId>
              </a:tblPr>
              <a:tblGrid>
                <a:gridCol w="189865">
                  <a:extLst>
                    <a:ext uri="{9D8B030D-6E8A-4147-A177-3AD203B41FA5}">
                      <a16:colId xmlns:a16="http://schemas.microsoft.com/office/drawing/2014/main" val="20000"/>
                    </a:ext>
                  </a:extLst>
                </a:gridCol>
                <a:gridCol w="189865">
                  <a:extLst>
                    <a:ext uri="{9D8B030D-6E8A-4147-A177-3AD203B41FA5}">
                      <a16:colId xmlns:a16="http://schemas.microsoft.com/office/drawing/2014/main" val="20001"/>
                    </a:ext>
                  </a:extLst>
                </a:gridCol>
              </a:tblGrid>
              <a:tr h="83820">
                <a:tc>
                  <a:txBody>
                    <a:bodyPr/>
                    <a:lstStyle/>
                    <a:p>
                      <a:pPr marL="7620" algn="ctr">
                        <a:lnSpc>
                          <a:spcPts val="540"/>
                        </a:lnSpc>
                        <a:spcBef>
                          <a:spcPts val="20"/>
                        </a:spcBef>
                      </a:pPr>
                      <a:r>
                        <a:rPr sz="500" spc="10" dirty="0">
                          <a:solidFill>
                            <a:srgbClr val="231F20"/>
                          </a:solidFill>
                          <a:latin typeface="Arial"/>
                          <a:cs typeface="Arial"/>
                        </a:rPr>
                        <a:t>LA1</a:t>
                      </a:r>
                      <a:endParaRPr sz="500">
                        <a:latin typeface="Arial"/>
                        <a:cs typeface="Arial"/>
                      </a:endParaRPr>
                    </a:p>
                  </a:txBody>
                  <a:tcPr marL="0" marR="0" marT="254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16510" algn="ctr">
                        <a:lnSpc>
                          <a:spcPts val="535"/>
                        </a:lnSpc>
                        <a:spcBef>
                          <a:spcPts val="25"/>
                        </a:spcBef>
                      </a:pPr>
                      <a:r>
                        <a:rPr sz="500" spc="20" dirty="0">
                          <a:solidFill>
                            <a:srgbClr val="231F20"/>
                          </a:solidFill>
                          <a:latin typeface="Arial"/>
                          <a:cs typeface="Arial"/>
                        </a:rPr>
                        <a:t>QMA</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83820">
                <a:tc>
                  <a:txBody>
                    <a:bodyPr/>
                    <a:lstStyle/>
                    <a:p>
                      <a:pPr marL="7620" algn="ctr">
                        <a:lnSpc>
                          <a:spcPts val="540"/>
                        </a:lnSpc>
                        <a:spcBef>
                          <a:spcPts val="20"/>
                        </a:spcBef>
                      </a:pPr>
                      <a:r>
                        <a:rPr sz="500" spc="10" dirty="0">
                          <a:solidFill>
                            <a:srgbClr val="231F20"/>
                          </a:solidFill>
                          <a:latin typeface="Arial"/>
                          <a:cs typeface="Arial"/>
                        </a:rPr>
                        <a:t>LA2</a:t>
                      </a:r>
                      <a:endParaRPr sz="500">
                        <a:latin typeface="Arial"/>
                        <a:cs typeface="Arial"/>
                      </a:endParaRPr>
                    </a:p>
                  </a:txBody>
                  <a:tcPr marL="0" marR="0" marT="254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16510" algn="ctr">
                        <a:lnSpc>
                          <a:spcPts val="535"/>
                        </a:lnSpc>
                        <a:spcBef>
                          <a:spcPts val="25"/>
                        </a:spcBef>
                      </a:pPr>
                      <a:r>
                        <a:rPr sz="500" spc="30" dirty="0">
                          <a:solidFill>
                            <a:srgbClr val="231F20"/>
                          </a:solidFill>
                          <a:latin typeface="Arial"/>
                          <a:cs typeface="Arial"/>
                        </a:rPr>
                        <a:t>Q</a:t>
                      </a:r>
                      <a:r>
                        <a:rPr sz="500" spc="35" dirty="0">
                          <a:solidFill>
                            <a:srgbClr val="231F20"/>
                          </a:solidFill>
                          <a:latin typeface="Arial"/>
                          <a:cs typeface="Arial"/>
                        </a:rPr>
                        <a:t>M</a:t>
                      </a:r>
                      <a:r>
                        <a:rPr sz="500" dirty="0">
                          <a:solidFill>
                            <a:srgbClr val="231F20"/>
                          </a:solidFill>
                          <a:latin typeface="Arial"/>
                          <a:cs typeface="Arial"/>
                        </a:rPr>
                        <a:t>C</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bl>
          </a:graphicData>
        </a:graphic>
      </p:graphicFrame>
      <p:graphicFrame>
        <p:nvGraphicFramePr>
          <p:cNvPr id="30" name="object 30"/>
          <p:cNvGraphicFramePr>
            <a:graphicFrameLocks noGrp="1"/>
          </p:cNvGraphicFramePr>
          <p:nvPr/>
        </p:nvGraphicFramePr>
        <p:xfrm>
          <a:off x="1276290" y="1437796"/>
          <a:ext cx="379730" cy="167640"/>
        </p:xfrm>
        <a:graphic>
          <a:graphicData uri="http://schemas.openxmlformats.org/drawingml/2006/table">
            <a:tbl>
              <a:tblPr firstRow="1" bandRow="1">
                <a:tableStyleId>{2D5ABB26-0587-4C30-8999-92F81FD0307C}</a:tableStyleId>
              </a:tblPr>
              <a:tblGrid>
                <a:gridCol w="189865">
                  <a:extLst>
                    <a:ext uri="{9D8B030D-6E8A-4147-A177-3AD203B41FA5}">
                      <a16:colId xmlns:a16="http://schemas.microsoft.com/office/drawing/2014/main" val="20000"/>
                    </a:ext>
                  </a:extLst>
                </a:gridCol>
                <a:gridCol w="189865">
                  <a:extLst>
                    <a:ext uri="{9D8B030D-6E8A-4147-A177-3AD203B41FA5}">
                      <a16:colId xmlns:a16="http://schemas.microsoft.com/office/drawing/2014/main" val="20001"/>
                    </a:ext>
                  </a:extLst>
                </a:gridCol>
              </a:tblGrid>
              <a:tr h="83820">
                <a:tc>
                  <a:txBody>
                    <a:bodyPr/>
                    <a:lstStyle/>
                    <a:p>
                      <a:pPr marL="7620" algn="ctr">
                        <a:lnSpc>
                          <a:spcPts val="540"/>
                        </a:lnSpc>
                        <a:spcBef>
                          <a:spcPts val="20"/>
                        </a:spcBef>
                      </a:pPr>
                      <a:r>
                        <a:rPr sz="500" spc="10" dirty="0">
                          <a:solidFill>
                            <a:srgbClr val="231F20"/>
                          </a:solidFill>
                          <a:latin typeface="Arial"/>
                          <a:cs typeface="Arial"/>
                        </a:rPr>
                        <a:t>LA1</a:t>
                      </a:r>
                      <a:endParaRPr sz="500">
                        <a:latin typeface="Arial"/>
                        <a:cs typeface="Arial"/>
                      </a:endParaRPr>
                    </a:p>
                  </a:txBody>
                  <a:tcPr marL="0" marR="0" marT="254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6670">
                        <a:lnSpc>
                          <a:spcPts val="535"/>
                        </a:lnSpc>
                        <a:spcBef>
                          <a:spcPts val="25"/>
                        </a:spcBef>
                      </a:pPr>
                      <a:r>
                        <a:rPr sz="500" spc="30" dirty="0">
                          <a:solidFill>
                            <a:srgbClr val="231F20"/>
                          </a:solidFill>
                          <a:latin typeface="Arial"/>
                          <a:cs typeface="Arial"/>
                        </a:rPr>
                        <a:t>Q</a:t>
                      </a:r>
                      <a:r>
                        <a:rPr sz="500" spc="35" dirty="0">
                          <a:solidFill>
                            <a:srgbClr val="231F20"/>
                          </a:solidFill>
                          <a:latin typeface="Arial"/>
                          <a:cs typeface="Arial"/>
                        </a:rPr>
                        <a:t>M</a:t>
                      </a:r>
                      <a:r>
                        <a:rPr sz="500" dirty="0">
                          <a:solidFill>
                            <a:srgbClr val="231F20"/>
                          </a:solidFill>
                          <a:latin typeface="Arial"/>
                          <a:cs typeface="Arial"/>
                        </a:rPr>
                        <a:t>C</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83820">
                <a:tc>
                  <a:txBody>
                    <a:bodyPr/>
                    <a:lstStyle/>
                    <a:p>
                      <a:pPr marL="6985" algn="ctr">
                        <a:lnSpc>
                          <a:spcPts val="540"/>
                        </a:lnSpc>
                        <a:spcBef>
                          <a:spcPts val="20"/>
                        </a:spcBef>
                      </a:pPr>
                      <a:r>
                        <a:rPr sz="500" spc="10" dirty="0">
                          <a:solidFill>
                            <a:srgbClr val="231F20"/>
                          </a:solidFill>
                          <a:latin typeface="Arial"/>
                          <a:cs typeface="Arial"/>
                        </a:rPr>
                        <a:t>LA2</a:t>
                      </a:r>
                      <a:endParaRPr sz="500">
                        <a:latin typeface="Arial"/>
                        <a:cs typeface="Arial"/>
                      </a:endParaRPr>
                    </a:p>
                  </a:txBody>
                  <a:tcPr marL="0" marR="0" marT="254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4765">
                        <a:lnSpc>
                          <a:spcPts val="535"/>
                        </a:lnSpc>
                        <a:spcBef>
                          <a:spcPts val="25"/>
                        </a:spcBef>
                      </a:pPr>
                      <a:r>
                        <a:rPr sz="500" spc="30" dirty="0">
                          <a:solidFill>
                            <a:srgbClr val="231F20"/>
                          </a:solidFill>
                          <a:latin typeface="Arial"/>
                          <a:cs typeface="Arial"/>
                        </a:rPr>
                        <a:t>Q</a:t>
                      </a:r>
                      <a:r>
                        <a:rPr sz="500" spc="35" dirty="0">
                          <a:solidFill>
                            <a:srgbClr val="231F20"/>
                          </a:solidFill>
                          <a:latin typeface="Arial"/>
                          <a:cs typeface="Arial"/>
                        </a:rPr>
                        <a:t>M</a:t>
                      </a:r>
                      <a:r>
                        <a:rPr sz="500" dirty="0">
                          <a:solidFill>
                            <a:srgbClr val="231F20"/>
                          </a:solidFill>
                          <a:latin typeface="Arial"/>
                          <a:cs typeface="Arial"/>
                        </a:rPr>
                        <a:t>D</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bl>
          </a:graphicData>
        </a:graphic>
      </p:graphicFrame>
      <p:graphicFrame>
        <p:nvGraphicFramePr>
          <p:cNvPr id="31" name="object 31"/>
          <p:cNvGraphicFramePr>
            <a:graphicFrameLocks noGrp="1"/>
          </p:cNvGraphicFramePr>
          <p:nvPr/>
        </p:nvGraphicFramePr>
        <p:xfrm>
          <a:off x="2541294" y="1564288"/>
          <a:ext cx="379730" cy="167640"/>
        </p:xfrm>
        <a:graphic>
          <a:graphicData uri="http://schemas.openxmlformats.org/drawingml/2006/table">
            <a:tbl>
              <a:tblPr firstRow="1" bandRow="1">
                <a:tableStyleId>{2D5ABB26-0587-4C30-8999-92F81FD0307C}</a:tableStyleId>
              </a:tblPr>
              <a:tblGrid>
                <a:gridCol w="189865">
                  <a:extLst>
                    <a:ext uri="{9D8B030D-6E8A-4147-A177-3AD203B41FA5}">
                      <a16:colId xmlns:a16="http://schemas.microsoft.com/office/drawing/2014/main" val="20000"/>
                    </a:ext>
                  </a:extLst>
                </a:gridCol>
                <a:gridCol w="189865">
                  <a:extLst>
                    <a:ext uri="{9D8B030D-6E8A-4147-A177-3AD203B41FA5}">
                      <a16:colId xmlns:a16="http://schemas.microsoft.com/office/drawing/2014/main" val="20001"/>
                    </a:ext>
                  </a:extLst>
                </a:gridCol>
              </a:tblGrid>
              <a:tr h="83820">
                <a:tc>
                  <a:txBody>
                    <a:bodyPr/>
                    <a:lstStyle/>
                    <a:p>
                      <a:pPr marL="7620" algn="ctr">
                        <a:lnSpc>
                          <a:spcPts val="540"/>
                        </a:lnSpc>
                        <a:spcBef>
                          <a:spcPts val="20"/>
                        </a:spcBef>
                      </a:pPr>
                      <a:r>
                        <a:rPr sz="500" spc="10" dirty="0">
                          <a:solidFill>
                            <a:srgbClr val="231F20"/>
                          </a:solidFill>
                          <a:latin typeface="Arial"/>
                          <a:cs typeface="Arial"/>
                        </a:rPr>
                        <a:t>LA1</a:t>
                      </a:r>
                      <a:endParaRPr sz="500">
                        <a:latin typeface="Arial"/>
                        <a:cs typeface="Arial"/>
                      </a:endParaRPr>
                    </a:p>
                  </a:txBody>
                  <a:tcPr marL="0" marR="0" marT="254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6670">
                        <a:lnSpc>
                          <a:spcPts val="535"/>
                        </a:lnSpc>
                        <a:spcBef>
                          <a:spcPts val="25"/>
                        </a:spcBef>
                      </a:pPr>
                      <a:r>
                        <a:rPr sz="500" spc="30" dirty="0">
                          <a:solidFill>
                            <a:srgbClr val="231F20"/>
                          </a:solidFill>
                          <a:latin typeface="Arial"/>
                          <a:cs typeface="Arial"/>
                        </a:rPr>
                        <a:t>Q</a:t>
                      </a:r>
                      <a:r>
                        <a:rPr sz="500" spc="35" dirty="0">
                          <a:solidFill>
                            <a:srgbClr val="231F20"/>
                          </a:solidFill>
                          <a:latin typeface="Arial"/>
                          <a:cs typeface="Arial"/>
                        </a:rPr>
                        <a:t>M</a:t>
                      </a:r>
                      <a:r>
                        <a:rPr sz="500" dirty="0">
                          <a:solidFill>
                            <a:srgbClr val="231F20"/>
                          </a:solidFill>
                          <a:latin typeface="Arial"/>
                          <a:cs typeface="Arial"/>
                        </a:rPr>
                        <a:t>A</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83820">
                <a:tc>
                  <a:txBody>
                    <a:bodyPr/>
                    <a:lstStyle/>
                    <a:p>
                      <a:pPr marL="6985" algn="ctr">
                        <a:lnSpc>
                          <a:spcPts val="540"/>
                        </a:lnSpc>
                        <a:spcBef>
                          <a:spcPts val="20"/>
                        </a:spcBef>
                      </a:pPr>
                      <a:r>
                        <a:rPr sz="500" spc="10" dirty="0">
                          <a:solidFill>
                            <a:srgbClr val="231F20"/>
                          </a:solidFill>
                          <a:latin typeface="Arial"/>
                          <a:cs typeface="Arial"/>
                        </a:rPr>
                        <a:t>LA2</a:t>
                      </a:r>
                      <a:endParaRPr sz="500">
                        <a:latin typeface="Arial"/>
                        <a:cs typeface="Arial"/>
                      </a:endParaRPr>
                    </a:p>
                  </a:txBody>
                  <a:tcPr marL="0" marR="0" marT="254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24765">
                        <a:lnSpc>
                          <a:spcPts val="535"/>
                        </a:lnSpc>
                        <a:spcBef>
                          <a:spcPts val="25"/>
                        </a:spcBef>
                      </a:pPr>
                      <a:r>
                        <a:rPr sz="500" spc="30" dirty="0">
                          <a:solidFill>
                            <a:srgbClr val="231F20"/>
                          </a:solidFill>
                          <a:latin typeface="Arial"/>
                          <a:cs typeface="Arial"/>
                        </a:rPr>
                        <a:t>Q</a:t>
                      </a:r>
                      <a:r>
                        <a:rPr sz="500" spc="35" dirty="0">
                          <a:solidFill>
                            <a:srgbClr val="231F20"/>
                          </a:solidFill>
                          <a:latin typeface="Arial"/>
                          <a:cs typeface="Arial"/>
                        </a:rPr>
                        <a:t>M</a:t>
                      </a:r>
                      <a:r>
                        <a:rPr sz="500" dirty="0">
                          <a:solidFill>
                            <a:srgbClr val="231F20"/>
                          </a:solidFill>
                          <a:latin typeface="Arial"/>
                          <a:cs typeface="Arial"/>
                        </a:rPr>
                        <a:t>D</a:t>
                      </a:r>
                      <a:endParaRPr sz="500">
                        <a:latin typeface="Arial"/>
                        <a:cs typeface="Arial"/>
                      </a:endParaRPr>
                    </a:p>
                  </a:txBody>
                  <a:tcPr marL="0" marR="0" marT="31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bl>
          </a:graphicData>
        </a:graphic>
      </p:graphicFrame>
      <p:sp>
        <p:nvSpPr>
          <p:cNvPr id="32" name="object 32"/>
          <p:cNvSpPr txBox="1"/>
          <p:nvPr/>
        </p:nvSpPr>
        <p:spPr>
          <a:xfrm>
            <a:off x="1313783" y="1338817"/>
            <a:ext cx="31750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Alias tab</a:t>
            </a:r>
            <a:r>
              <a:rPr sz="500" spc="-10" dirty="0">
                <a:solidFill>
                  <a:srgbClr val="231F20"/>
                </a:solidFill>
                <a:latin typeface="Arial"/>
                <a:cs typeface="Arial"/>
              </a:rPr>
              <a:t>l</a:t>
            </a:r>
            <a:r>
              <a:rPr sz="500" spc="-5" dirty="0">
                <a:solidFill>
                  <a:srgbClr val="231F20"/>
                </a:solidFill>
                <a:latin typeface="Arial"/>
                <a:cs typeface="Arial"/>
              </a:rPr>
              <a:t>e</a:t>
            </a:r>
            <a:endParaRPr sz="500">
              <a:latin typeface="Arial"/>
              <a:cs typeface="Arial"/>
            </a:endParaRPr>
          </a:p>
        </p:txBody>
      </p:sp>
      <p:sp>
        <p:nvSpPr>
          <p:cNvPr id="33" name="object 33"/>
          <p:cNvSpPr txBox="1"/>
          <p:nvPr/>
        </p:nvSpPr>
        <p:spPr>
          <a:xfrm>
            <a:off x="2578829" y="1465303"/>
            <a:ext cx="31750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Alias tab</a:t>
            </a:r>
            <a:r>
              <a:rPr sz="500" spc="-10" dirty="0">
                <a:solidFill>
                  <a:srgbClr val="231F20"/>
                </a:solidFill>
                <a:latin typeface="Arial"/>
                <a:cs typeface="Arial"/>
              </a:rPr>
              <a:t>l</a:t>
            </a:r>
            <a:r>
              <a:rPr sz="500" spc="-5" dirty="0">
                <a:solidFill>
                  <a:srgbClr val="231F20"/>
                </a:solidFill>
                <a:latin typeface="Arial"/>
                <a:cs typeface="Arial"/>
              </a:rPr>
              <a:t>e</a:t>
            </a:r>
            <a:endParaRPr sz="500">
              <a:latin typeface="Arial"/>
              <a:cs typeface="Arial"/>
            </a:endParaRPr>
          </a:p>
        </p:txBody>
      </p:sp>
      <p:sp>
        <p:nvSpPr>
          <p:cNvPr id="34" name="object 34"/>
          <p:cNvSpPr txBox="1"/>
          <p:nvPr/>
        </p:nvSpPr>
        <p:spPr>
          <a:xfrm>
            <a:off x="1164206" y="2987941"/>
            <a:ext cx="234315" cy="127000"/>
          </a:xfrm>
          <a:prstGeom prst="rect">
            <a:avLst/>
          </a:prstGeom>
        </p:spPr>
        <p:txBody>
          <a:bodyPr vert="horz" wrap="square" lIns="0" tIns="13970" rIns="0" bIns="0" rtlCol="0">
            <a:spAutoFit/>
          </a:bodyPr>
          <a:lstStyle/>
          <a:p>
            <a:pPr marL="12700">
              <a:lnSpc>
                <a:spcPct val="100000"/>
              </a:lnSpc>
              <a:spcBef>
                <a:spcPts val="110"/>
              </a:spcBef>
            </a:pPr>
            <a:r>
              <a:rPr sz="650" spc="50" dirty="0">
                <a:solidFill>
                  <a:srgbClr val="231F20"/>
                </a:solidFill>
                <a:latin typeface="Arial"/>
                <a:cs typeface="Arial"/>
              </a:rPr>
              <a:t>Q</a:t>
            </a:r>
            <a:r>
              <a:rPr sz="650" spc="55" dirty="0">
                <a:solidFill>
                  <a:srgbClr val="231F20"/>
                </a:solidFill>
                <a:latin typeface="Arial"/>
                <a:cs typeface="Arial"/>
              </a:rPr>
              <a:t>M</a:t>
            </a:r>
            <a:r>
              <a:rPr sz="650" spc="10" dirty="0">
                <a:solidFill>
                  <a:srgbClr val="231F20"/>
                </a:solidFill>
                <a:latin typeface="Arial"/>
                <a:cs typeface="Arial"/>
              </a:rPr>
              <a:t>D</a:t>
            </a:r>
            <a:endParaRPr sz="650">
              <a:latin typeface="Arial"/>
              <a:cs typeface="Arial"/>
            </a:endParaRPr>
          </a:p>
        </p:txBody>
      </p:sp>
      <p:sp>
        <p:nvSpPr>
          <p:cNvPr id="35" name="object 35"/>
          <p:cNvSpPr txBox="1"/>
          <p:nvPr/>
        </p:nvSpPr>
        <p:spPr>
          <a:xfrm>
            <a:off x="1266662" y="1950058"/>
            <a:ext cx="229235" cy="127000"/>
          </a:xfrm>
          <a:prstGeom prst="rect">
            <a:avLst/>
          </a:prstGeom>
        </p:spPr>
        <p:txBody>
          <a:bodyPr vert="horz" wrap="square" lIns="0" tIns="13970" rIns="0" bIns="0" rtlCol="0">
            <a:spAutoFit/>
          </a:bodyPr>
          <a:lstStyle/>
          <a:p>
            <a:pPr marL="12700">
              <a:lnSpc>
                <a:spcPct val="100000"/>
              </a:lnSpc>
              <a:spcBef>
                <a:spcPts val="110"/>
              </a:spcBef>
            </a:pPr>
            <a:r>
              <a:rPr sz="650" spc="50" dirty="0">
                <a:solidFill>
                  <a:srgbClr val="231F20"/>
                </a:solidFill>
                <a:latin typeface="Arial"/>
                <a:cs typeface="Arial"/>
              </a:rPr>
              <a:t>Q</a:t>
            </a:r>
            <a:r>
              <a:rPr sz="650" spc="55" dirty="0">
                <a:solidFill>
                  <a:srgbClr val="231F20"/>
                </a:solidFill>
                <a:latin typeface="Arial"/>
                <a:cs typeface="Arial"/>
              </a:rPr>
              <a:t>M</a:t>
            </a:r>
            <a:r>
              <a:rPr sz="650" spc="5" dirty="0">
                <a:solidFill>
                  <a:srgbClr val="231F20"/>
                </a:solidFill>
                <a:latin typeface="Arial"/>
                <a:cs typeface="Arial"/>
              </a:rPr>
              <a:t>A</a:t>
            </a:r>
            <a:endParaRPr sz="650">
              <a:latin typeface="Arial"/>
              <a:cs typeface="Arial"/>
            </a:endParaRPr>
          </a:p>
        </p:txBody>
      </p:sp>
      <p:sp>
        <p:nvSpPr>
          <p:cNvPr id="36" name="object 36"/>
          <p:cNvSpPr txBox="1"/>
          <p:nvPr/>
        </p:nvSpPr>
        <p:spPr>
          <a:xfrm>
            <a:off x="3155394" y="2072499"/>
            <a:ext cx="229235" cy="127000"/>
          </a:xfrm>
          <a:prstGeom prst="rect">
            <a:avLst/>
          </a:prstGeom>
        </p:spPr>
        <p:txBody>
          <a:bodyPr vert="horz" wrap="square" lIns="0" tIns="13970" rIns="0" bIns="0" rtlCol="0">
            <a:spAutoFit/>
          </a:bodyPr>
          <a:lstStyle/>
          <a:p>
            <a:pPr marL="12700">
              <a:lnSpc>
                <a:spcPct val="100000"/>
              </a:lnSpc>
              <a:spcBef>
                <a:spcPts val="110"/>
              </a:spcBef>
            </a:pPr>
            <a:r>
              <a:rPr sz="650" spc="55" dirty="0">
                <a:solidFill>
                  <a:srgbClr val="231F20"/>
                </a:solidFill>
                <a:latin typeface="Arial"/>
                <a:cs typeface="Arial"/>
              </a:rPr>
              <a:t>Q</a:t>
            </a:r>
            <a:r>
              <a:rPr sz="650" spc="50" dirty="0">
                <a:solidFill>
                  <a:srgbClr val="231F20"/>
                </a:solidFill>
                <a:latin typeface="Arial"/>
                <a:cs typeface="Arial"/>
              </a:rPr>
              <a:t>M</a:t>
            </a:r>
            <a:r>
              <a:rPr sz="650" spc="5" dirty="0">
                <a:solidFill>
                  <a:srgbClr val="231F20"/>
                </a:solidFill>
                <a:latin typeface="Arial"/>
                <a:cs typeface="Arial"/>
              </a:rPr>
              <a:t>B</a:t>
            </a:r>
            <a:endParaRPr sz="650">
              <a:latin typeface="Arial"/>
              <a:cs typeface="Arial"/>
            </a:endParaRPr>
          </a:p>
        </p:txBody>
      </p:sp>
      <p:sp>
        <p:nvSpPr>
          <p:cNvPr id="37" name="object 37"/>
          <p:cNvSpPr txBox="1"/>
          <p:nvPr/>
        </p:nvSpPr>
        <p:spPr>
          <a:xfrm>
            <a:off x="3184149" y="2366881"/>
            <a:ext cx="234315" cy="127000"/>
          </a:xfrm>
          <a:prstGeom prst="rect">
            <a:avLst/>
          </a:prstGeom>
        </p:spPr>
        <p:txBody>
          <a:bodyPr vert="horz" wrap="square" lIns="0" tIns="13970" rIns="0" bIns="0" rtlCol="0">
            <a:spAutoFit/>
          </a:bodyPr>
          <a:lstStyle/>
          <a:p>
            <a:pPr marL="12700">
              <a:lnSpc>
                <a:spcPct val="100000"/>
              </a:lnSpc>
              <a:spcBef>
                <a:spcPts val="110"/>
              </a:spcBef>
            </a:pPr>
            <a:r>
              <a:rPr sz="650" spc="55" dirty="0">
                <a:solidFill>
                  <a:srgbClr val="231F20"/>
                </a:solidFill>
                <a:latin typeface="Arial"/>
                <a:cs typeface="Arial"/>
              </a:rPr>
              <a:t>Q</a:t>
            </a:r>
            <a:r>
              <a:rPr sz="650" spc="50" dirty="0">
                <a:solidFill>
                  <a:srgbClr val="231F20"/>
                </a:solidFill>
                <a:latin typeface="Arial"/>
                <a:cs typeface="Arial"/>
              </a:rPr>
              <a:t>M</a:t>
            </a:r>
            <a:r>
              <a:rPr sz="650" spc="10" dirty="0">
                <a:solidFill>
                  <a:srgbClr val="231F20"/>
                </a:solidFill>
                <a:latin typeface="Arial"/>
                <a:cs typeface="Arial"/>
              </a:rPr>
              <a:t>C</a:t>
            </a:r>
            <a:endParaRPr sz="650">
              <a:latin typeface="Arial"/>
              <a:cs typeface="Arial"/>
            </a:endParaRPr>
          </a:p>
        </p:txBody>
      </p:sp>
      <p:sp>
        <p:nvSpPr>
          <p:cNvPr id="38" name="object 38"/>
          <p:cNvSpPr txBox="1"/>
          <p:nvPr/>
        </p:nvSpPr>
        <p:spPr>
          <a:xfrm>
            <a:off x="1075683" y="2415188"/>
            <a:ext cx="158750" cy="101600"/>
          </a:xfrm>
          <a:prstGeom prst="rect">
            <a:avLst/>
          </a:prstGeom>
        </p:spPr>
        <p:txBody>
          <a:bodyPr vert="horz" wrap="square" lIns="0" tIns="12065" rIns="0" bIns="0" rtlCol="0">
            <a:spAutoFit/>
          </a:bodyPr>
          <a:lstStyle/>
          <a:p>
            <a:pPr marL="12700">
              <a:lnSpc>
                <a:spcPct val="100000"/>
              </a:lnSpc>
              <a:spcBef>
                <a:spcPts val="95"/>
              </a:spcBef>
            </a:pPr>
            <a:r>
              <a:rPr sz="500" spc="30" dirty="0">
                <a:solidFill>
                  <a:srgbClr val="231F20"/>
                </a:solidFill>
                <a:latin typeface="Arial"/>
                <a:cs typeface="Arial"/>
              </a:rPr>
              <a:t>S</a:t>
            </a:r>
            <a:r>
              <a:rPr sz="500" spc="5" dirty="0">
                <a:solidFill>
                  <a:srgbClr val="231F20"/>
                </a:solidFill>
                <a:latin typeface="Arial"/>
                <a:cs typeface="Arial"/>
              </a:rPr>
              <a:t>Q</a:t>
            </a:r>
            <a:r>
              <a:rPr sz="500" spc="-5" dirty="0">
                <a:solidFill>
                  <a:srgbClr val="231F20"/>
                </a:solidFill>
                <a:latin typeface="Arial"/>
                <a:cs typeface="Arial"/>
              </a:rPr>
              <a:t>1</a:t>
            </a:r>
            <a:endParaRPr sz="500">
              <a:latin typeface="Arial"/>
              <a:cs typeface="Arial"/>
            </a:endParaRPr>
          </a:p>
        </p:txBody>
      </p:sp>
      <p:sp>
        <p:nvSpPr>
          <p:cNvPr id="39" name="object 39"/>
          <p:cNvSpPr txBox="1"/>
          <p:nvPr/>
        </p:nvSpPr>
        <p:spPr>
          <a:xfrm>
            <a:off x="2566127" y="1879394"/>
            <a:ext cx="158750" cy="101600"/>
          </a:xfrm>
          <a:prstGeom prst="rect">
            <a:avLst/>
          </a:prstGeom>
        </p:spPr>
        <p:txBody>
          <a:bodyPr vert="horz" wrap="square" lIns="0" tIns="12065" rIns="0" bIns="0" rtlCol="0">
            <a:spAutoFit/>
          </a:bodyPr>
          <a:lstStyle/>
          <a:p>
            <a:pPr marL="12700">
              <a:lnSpc>
                <a:spcPct val="100000"/>
              </a:lnSpc>
              <a:spcBef>
                <a:spcPts val="95"/>
              </a:spcBef>
            </a:pPr>
            <a:r>
              <a:rPr sz="500" spc="30" dirty="0">
                <a:solidFill>
                  <a:srgbClr val="231F20"/>
                </a:solidFill>
                <a:latin typeface="Arial"/>
                <a:cs typeface="Arial"/>
              </a:rPr>
              <a:t>S</a:t>
            </a:r>
            <a:r>
              <a:rPr sz="500" spc="5" dirty="0">
                <a:solidFill>
                  <a:srgbClr val="231F20"/>
                </a:solidFill>
                <a:latin typeface="Arial"/>
                <a:cs typeface="Arial"/>
              </a:rPr>
              <a:t>Q</a:t>
            </a:r>
            <a:r>
              <a:rPr sz="500" spc="-5" dirty="0">
                <a:solidFill>
                  <a:srgbClr val="231F20"/>
                </a:solidFill>
                <a:latin typeface="Arial"/>
                <a:cs typeface="Arial"/>
              </a:rPr>
              <a:t>1</a:t>
            </a:r>
            <a:endParaRPr sz="500">
              <a:latin typeface="Arial"/>
              <a:cs typeface="Arial"/>
            </a:endParaRPr>
          </a:p>
        </p:txBody>
      </p:sp>
      <p:sp>
        <p:nvSpPr>
          <p:cNvPr id="40" name="object 40"/>
          <p:cNvSpPr txBox="1"/>
          <p:nvPr/>
        </p:nvSpPr>
        <p:spPr>
          <a:xfrm>
            <a:off x="3373864" y="2933589"/>
            <a:ext cx="158750" cy="101600"/>
          </a:xfrm>
          <a:prstGeom prst="rect">
            <a:avLst/>
          </a:prstGeom>
        </p:spPr>
        <p:txBody>
          <a:bodyPr vert="horz" wrap="square" lIns="0" tIns="12065" rIns="0" bIns="0" rtlCol="0">
            <a:spAutoFit/>
          </a:bodyPr>
          <a:lstStyle/>
          <a:p>
            <a:pPr marL="12700">
              <a:lnSpc>
                <a:spcPct val="100000"/>
              </a:lnSpc>
              <a:spcBef>
                <a:spcPts val="95"/>
              </a:spcBef>
            </a:pPr>
            <a:r>
              <a:rPr sz="500" spc="30" dirty="0">
                <a:solidFill>
                  <a:srgbClr val="231F20"/>
                </a:solidFill>
                <a:latin typeface="Arial"/>
                <a:cs typeface="Arial"/>
              </a:rPr>
              <a:t>S</a:t>
            </a:r>
            <a:r>
              <a:rPr sz="500" spc="5" dirty="0">
                <a:solidFill>
                  <a:srgbClr val="231F20"/>
                </a:solidFill>
                <a:latin typeface="Arial"/>
                <a:cs typeface="Arial"/>
              </a:rPr>
              <a:t>Q</a:t>
            </a:r>
            <a:r>
              <a:rPr sz="500" spc="-5" dirty="0">
                <a:solidFill>
                  <a:srgbClr val="231F20"/>
                </a:solidFill>
                <a:latin typeface="Arial"/>
                <a:cs typeface="Arial"/>
              </a:rPr>
              <a:t>1</a:t>
            </a:r>
            <a:endParaRPr sz="500">
              <a:latin typeface="Arial"/>
              <a:cs typeface="Arial"/>
            </a:endParaRPr>
          </a:p>
        </p:txBody>
      </p:sp>
      <p:sp>
        <p:nvSpPr>
          <p:cNvPr id="41" name="object 41"/>
          <p:cNvSpPr txBox="1"/>
          <p:nvPr/>
        </p:nvSpPr>
        <p:spPr>
          <a:xfrm>
            <a:off x="639931" y="2612315"/>
            <a:ext cx="594360" cy="287020"/>
          </a:xfrm>
          <a:prstGeom prst="rect">
            <a:avLst/>
          </a:prstGeom>
        </p:spPr>
        <p:txBody>
          <a:bodyPr vert="horz" wrap="square" lIns="0" tIns="12065" rIns="0" bIns="0" rtlCol="0">
            <a:spAutoFit/>
          </a:bodyPr>
          <a:lstStyle/>
          <a:p>
            <a:pPr marR="5080" algn="r">
              <a:lnSpc>
                <a:spcPct val="100000"/>
              </a:lnSpc>
              <a:spcBef>
                <a:spcPts val="95"/>
              </a:spcBef>
            </a:pPr>
            <a:r>
              <a:rPr sz="500" spc="10" dirty="0">
                <a:solidFill>
                  <a:srgbClr val="231F20"/>
                </a:solidFill>
                <a:latin typeface="Arial"/>
                <a:cs typeface="Arial"/>
              </a:rPr>
              <a:t>SQ2</a:t>
            </a:r>
            <a:endParaRPr sz="500">
              <a:latin typeface="Arial"/>
              <a:cs typeface="Arial"/>
            </a:endParaRPr>
          </a:p>
          <a:p>
            <a:pPr>
              <a:lnSpc>
                <a:spcPct val="100000"/>
              </a:lnSpc>
              <a:spcBef>
                <a:spcPts val="55"/>
              </a:spcBef>
            </a:pPr>
            <a:endParaRPr sz="700">
              <a:latin typeface="Arial"/>
              <a:cs typeface="Arial"/>
            </a:endParaRPr>
          </a:p>
          <a:p>
            <a:pPr marL="12700">
              <a:lnSpc>
                <a:spcPct val="100000"/>
              </a:lnSpc>
            </a:pPr>
            <a:r>
              <a:rPr sz="500" spc="-5" dirty="0">
                <a:solidFill>
                  <a:srgbClr val="231F20"/>
                </a:solidFill>
                <a:latin typeface="Arial"/>
                <a:cs typeface="Arial"/>
              </a:rPr>
              <a:t>Alias table</a:t>
            </a:r>
            <a:endParaRPr sz="500">
              <a:latin typeface="Arial"/>
              <a:cs typeface="Arial"/>
            </a:endParaRPr>
          </a:p>
        </p:txBody>
      </p:sp>
      <p:sp>
        <p:nvSpPr>
          <p:cNvPr id="42" name="object 42"/>
          <p:cNvSpPr txBox="1"/>
          <p:nvPr/>
        </p:nvSpPr>
        <p:spPr>
          <a:xfrm>
            <a:off x="1710388" y="1763533"/>
            <a:ext cx="36068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231F20"/>
                </a:solidFill>
                <a:latin typeface="Arial"/>
                <a:cs typeface="Arial"/>
              </a:rPr>
              <a:t>SQ2  </a:t>
            </a:r>
            <a:r>
              <a:rPr sz="500" spc="35" dirty="0">
                <a:solidFill>
                  <a:srgbClr val="231F20"/>
                </a:solidFill>
                <a:latin typeface="Arial"/>
                <a:cs typeface="Arial"/>
              </a:rPr>
              <a:t> </a:t>
            </a:r>
            <a:r>
              <a:rPr sz="500" spc="10" dirty="0">
                <a:solidFill>
                  <a:srgbClr val="231F20"/>
                </a:solidFill>
                <a:latin typeface="Arial"/>
                <a:cs typeface="Arial"/>
              </a:rPr>
              <a:t>SQ1</a:t>
            </a:r>
            <a:endParaRPr sz="500">
              <a:latin typeface="Arial"/>
              <a:cs typeface="Arial"/>
            </a:endParaRPr>
          </a:p>
        </p:txBody>
      </p:sp>
      <p:grpSp>
        <p:nvGrpSpPr>
          <p:cNvPr id="43" name="object 43"/>
          <p:cNvGrpSpPr/>
          <p:nvPr/>
        </p:nvGrpSpPr>
        <p:grpSpPr>
          <a:xfrm>
            <a:off x="1222466" y="1868471"/>
            <a:ext cx="2137410" cy="1175385"/>
            <a:chOff x="1222466" y="1868471"/>
            <a:chExt cx="2137410" cy="1175385"/>
          </a:xfrm>
        </p:grpSpPr>
        <p:sp>
          <p:nvSpPr>
            <p:cNvPr id="44" name="object 44"/>
            <p:cNvSpPr/>
            <p:nvPr/>
          </p:nvSpPr>
          <p:spPr>
            <a:xfrm>
              <a:off x="1225101" y="1871107"/>
              <a:ext cx="2132330" cy="1170305"/>
            </a:xfrm>
            <a:custGeom>
              <a:avLst/>
              <a:gdLst/>
              <a:ahLst/>
              <a:cxnLst/>
              <a:rect l="l" t="t" r="r" b="b"/>
              <a:pathLst>
                <a:path w="2132329" h="1170305">
                  <a:moveTo>
                    <a:pt x="2076439" y="1072936"/>
                  </a:moveTo>
                  <a:lnTo>
                    <a:pt x="2076439" y="1156157"/>
                  </a:lnTo>
                </a:path>
                <a:path w="2132329" h="1170305">
                  <a:moveTo>
                    <a:pt x="2034834" y="1072936"/>
                  </a:moveTo>
                  <a:lnTo>
                    <a:pt x="2034834" y="1156157"/>
                  </a:lnTo>
                </a:path>
                <a:path w="2132329" h="1170305">
                  <a:moveTo>
                    <a:pt x="1993208" y="1072936"/>
                  </a:moveTo>
                  <a:lnTo>
                    <a:pt x="1993208" y="1156157"/>
                  </a:lnTo>
                </a:path>
                <a:path w="2132329" h="1170305">
                  <a:moveTo>
                    <a:pt x="2131927" y="1059054"/>
                  </a:moveTo>
                  <a:lnTo>
                    <a:pt x="1951602" y="1059054"/>
                  </a:lnTo>
                  <a:lnTo>
                    <a:pt x="1951602" y="1170019"/>
                  </a:lnTo>
                  <a:lnTo>
                    <a:pt x="2131927" y="1170019"/>
                  </a:lnTo>
                </a:path>
                <a:path w="2132329" h="1170305">
                  <a:moveTo>
                    <a:pt x="55487" y="636254"/>
                  </a:moveTo>
                  <a:lnTo>
                    <a:pt x="55487" y="553023"/>
                  </a:lnTo>
                </a:path>
                <a:path w="2132329" h="1170305">
                  <a:moveTo>
                    <a:pt x="97103" y="636254"/>
                  </a:moveTo>
                  <a:lnTo>
                    <a:pt x="97103" y="553023"/>
                  </a:lnTo>
                </a:path>
                <a:path w="2132329" h="1170305">
                  <a:moveTo>
                    <a:pt x="138719" y="636254"/>
                  </a:moveTo>
                  <a:lnTo>
                    <a:pt x="138719" y="553023"/>
                  </a:lnTo>
                </a:path>
                <a:path w="2132329" h="1170305">
                  <a:moveTo>
                    <a:pt x="0" y="650116"/>
                  </a:moveTo>
                  <a:lnTo>
                    <a:pt x="180335" y="650116"/>
                  </a:lnTo>
                  <a:lnTo>
                    <a:pt x="180335" y="539151"/>
                  </a:lnTo>
                  <a:lnTo>
                    <a:pt x="0" y="539151"/>
                  </a:lnTo>
                </a:path>
                <a:path w="2132329" h="1170305">
                  <a:moveTo>
                    <a:pt x="57922" y="837777"/>
                  </a:moveTo>
                  <a:lnTo>
                    <a:pt x="57922" y="754556"/>
                  </a:lnTo>
                </a:path>
                <a:path w="2132329" h="1170305">
                  <a:moveTo>
                    <a:pt x="99538" y="837777"/>
                  </a:moveTo>
                  <a:lnTo>
                    <a:pt x="99538" y="754556"/>
                  </a:lnTo>
                </a:path>
                <a:path w="2132329" h="1170305">
                  <a:moveTo>
                    <a:pt x="141154" y="837777"/>
                  </a:moveTo>
                  <a:lnTo>
                    <a:pt x="141154" y="754556"/>
                  </a:lnTo>
                </a:path>
                <a:path w="2132329" h="1170305">
                  <a:moveTo>
                    <a:pt x="2434" y="851660"/>
                  </a:moveTo>
                  <a:lnTo>
                    <a:pt x="182770" y="851660"/>
                  </a:lnTo>
                  <a:lnTo>
                    <a:pt x="182770" y="740684"/>
                  </a:lnTo>
                  <a:lnTo>
                    <a:pt x="2434" y="740684"/>
                  </a:lnTo>
                </a:path>
                <a:path w="2132329" h="1170305">
                  <a:moveTo>
                    <a:pt x="714068" y="55487"/>
                  </a:moveTo>
                  <a:lnTo>
                    <a:pt x="797300" y="55487"/>
                  </a:lnTo>
                </a:path>
                <a:path w="2132329" h="1170305">
                  <a:moveTo>
                    <a:pt x="714068" y="97093"/>
                  </a:moveTo>
                  <a:lnTo>
                    <a:pt x="797300" y="97093"/>
                  </a:lnTo>
                </a:path>
                <a:path w="2132329" h="1170305">
                  <a:moveTo>
                    <a:pt x="714068" y="138709"/>
                  </a:moveTo>
                  <a:lnTo>
                    <a:pt x="797300" y="138709"/>
                  </a:lnTo>
                </a:path>
                <a:path w="2132329" h="1170305">
                  <a:moveTo>
                    <a:pt x="700196" y="0"/>
                  </a:moveTo>
                  <a:lnTo>
                    <a:pt x="700196" y="180324"/>
                  </a:lnTo>
                  <a:lnTo>
                    <a:pt x="811161" y="180324"/>
                  </a:lnTo>
                  <a:lnTo>
                    <a:pt x="811161" y="0"/>
                  </a:lnTo>
                </a:path>
                <a:path w="2132329" h="1170305">
                  <a:moveTo>
                    <a:pt x="512524" y="57901"/>
                  </a:moveTo>
                  <a:lnTo>
                    <a:pt x="595756" y="57901"/>
                  </a:lnTo>
                </a:path>
                <a:path w="2132329" h="1170305">
                  <a:moveTo>
                    <a:pt x="512524" y="99528"/>
                  </a:moveTo>
                  <a:lnTo>
                    <a:pt x="595756" y="99528"/>
                  </a:lnTo>
                </a:path>
                <a:path w="2132329" h="1170305">
                  <a:moveTo>
                    <a:pt x="512524" y="141143"/>
                  </a:moveTo>
                  <a:lnTo>
                    <a:pt x="595756" y="141143"/>
                  </a:lnTo>
                </a:path>
                <a:path w="2132329" h="1170305">
                  <a:moveTo>
                    <a:pt x="498663" y="2434"/>
                  </a:moveTo>
                  <a:lnTo>
                    <a:pt x="498663" y="182759"/>
                  </a:lnTo>
                  <a:lnTo>
                    <a:pt x="609628" y="182759"/>
                  </a:lnTo>
                  <a:lnTo>
                    <a:pt x="609628" y="2434"/>
                  </a:lnTo>
                </a:path>
              </a:pathLst>
            </a:custGeom>
            <a:ln w="5270">
              <a:solidFill>
                <a:srgbClr val="231F20"/>
              </a:solidFill>
            </a:ln>
          </p:spPr>
          <p:txBody>
            <a:bodyPr wrap="square" lIns="0" tIns="0" rIns="0" bIns="0" rtlCol="0"/>
            <a:lstStyle/>
            <a:p>
              <a:endParaRPr/>
            </a:p>
          </p:txBody>
        </p:sp>
        <p:sp>
          <p:nvSpPr>
            <p:cNvPr id="45" name="object 45"/>
            <p:cNvSpPr/>
            <p:nvPr/>
          </p:nvSpPr>
          <p:spPr>
            <a:xfrm>
              <a:off x="1407876" y="2053860"/>
              <a:ext cx="604520" cy="685800"/>
            </a:xfrm>
            <a:custGeom>
              <a:avLst/>
              <a:gdLst/>
              <a:ahLst/>
              <a:cxnLst/>
              <a:rect l="l" t="t" r="r" b="b"/>
              <a:pathLst>
                <a:path w="604519" h="685800">
                  <a:moveTo>
                    <a:pt x="603946" y="329574"/>
                  </a:moveTo>
                  <a:lnTo>
                    <a:pt x="578411" y="225721"/>
                  </a:lnTo>
                  <a:lnTo>
                    <a:pt x="548349" y="147439"/>
                  </a:lnTo>
                  <a:lnTo>
                    <a:pt x="523309" y="98041"/>
                  </a:lnTo>
                  <a:lnTo>
                    <a:pt x="512840" y="80838"/>
                  </a:lnTo>
                </a:path>
                <a:path w="604519" h="685800">
                  <a:moveTo>
                    <a:pt x="525690" y="381910"/>
                  </a:moveTo>
                  <a:lnTo>
                    <a:pt x="429976" y="260215"/>
                  </a:lnTo>
                  <a:lnTo>
                    <a:pt x="384884" y="135824"/>
                  </a:lnTo>
                  <a:lnTo>
                    <a:pt x="371615" y="38999"/>
                  </a:lnTo>
                  <a:lnTo>
                    <a:pt x="371369" y="0"/>
                  </a:lnTo>
                </a:path>
                <a:path w="604519" h="685800">
                  <a:moveTo>
                    <a:pt x="181842" y="685333"/>
                  </a:moveTo>
                  <a:lnTo>
                    <a:pt x="102365" y="643735"/>
                  </a:lnTo>
                  <a:lnTo>
                    <a:pt x="45530" y="622393"/>
                  </a:lnTo>
                  <a:lnTo>
                    <a:pt x="11391" y="614546"/>
                  </a:lnTo>
                  <a:lnTo>
                    <a:pt x="0" y="613433"/>
                  </a:lnTo>
                </a:path>
              </a:pathLst>
            </a:custGeom>
            <a:ln w="5270">
              <a:solidFill>
                <a:srgbClr val="231F20"/>
              </a:solidFill>
            </a:ln>
          </p:spPr>
          <p:txBody>
            <a:bodyPr wrap="square" lIns="0" tIns="0" rIns="0" bIns="0" rtlCol="0"/>
            <a:lstStyle/>
            <a:p>
              <a:endParaRPr/>
            </a:p>
          </p:txBody>
        </p:sp>
        <p:pic>
          <p:nvPicPr>
            <p:cNvPr id="46" name="object 46"/>
            <p:cNvPicPr/>
            <p:nvPr/>
          </p:nvPicPr>
          <p:blipFill>
            <a:blip r:embed="rId9" cstate="print"/>
            <a:stretch>
              <a:fillRect/>
            </a:stretch>
          </p:blipFill>
          <p:spPr>
            <a:xfrm>
              <a:off x="1899716" y="2103779"/>
              <a:ext cx="68158" cy="79426"/>
            </a:xfrm>
            <a:prstGeom prst="rect">
              <a:avLst/>
            </a:prstGeom>
          </p:spPr>
        </p:pic>
        <p:sp>
          <p:nvSpPr>
            <p:cNvPr id="47" name="object 47"/>
            <p:cNvSpPr/>
            <p:nvPr/>
          </p:nvSpPr>
          <p:spPr>
            <a:xfrm>
              <a:off x="2578882" y="1988913"/>
              <a:ext cx="111125" cy="180340"/>
            </a:xfrm>
            <a:custGeom>
              <a:avLst/>
              <a:gdLst/>
              <a:ahLst/>
              <a:cxnLst/>
              <a:rect l="l" t="t" r="r" b="b"/>
              <a:pathLst>
                <a:path w="111125" h="180339">
                  <a:moveTo>
                    <a:pt x="13882" y="55477"/>
                  </a:moveTo>
                  <a:lnTo>
                    <a:pt x="97103" y="55477"/>
                  </a:lnTo>
                </a:path>
                <a:path w="111125" h="180339">
                  <a:moveTo>
                    <a:pt x="13882" y="97093"/>
                  </a:moveTo>
                  <a:lnTo>
                    <a:pt x="97103" y="97093"/>
                  </a:lnTo>
                </a:path>
                <a:path w="111125" h="180339">
                  <a:moveTo>
                    <a:pt x="13882" y="138698"/>
                  </a:moveTo>
                  <a:lnTo>
                    <a:pt x="97103" y="138698"/>
                  </a:lnTo>
                </a:path>
                <a:path w="111125" h="180339">
                  <a:moveTo>
                    <a:pt x="0" y="0"/>
                  </a:moveTo>
                  <a:lnTo>
                    <a:pt x="0" y="180314"/>
                  </a:lnTo>
                  <a:lnTo>
                    <a:pt x="110975" y="180314"/>
                  </a:lnTo>
                  <a:lnTo>
                    <a:pt x="110975" y="0"/>
                  </a:lnTo>
                </a:path>
              </a:pathLst>
            </a:custGeom>
            <a:ln w="5270">
              <a:solidFill>
                <a:srgbClr val="231F20"/>
              </a:solidFill>
            </a:ln>
          </p:spPr>
          <p:txBody>
            <a:bodyPr wrap="square" lIns="0" tIns="0" rIns="0" bIns="0" rtlCol="0"/>
            <a:lstStyle/>
            <a:p>
              <a:endParaRPr/>
            </a:p>
          </p:txBody>
        </p:sp>
        <p:sp>
          <p:nvSpPr>
            <p:cNvPr id="48" name="object 48"/>
            <p:cNvSpPr/>
            <p:nvPr/>
          </p:nvSpPr>
          <p:spPr>
            <a:xfrm>
              <a:off x="1980782" y="2051431"/>
              <a:ext cx="554990" cy="325120"/>
            </a:xfrm>
            <a:custGeom>
              <a:avLst/>
              <a:gdLst/>
              <a:ahLst/>
              <a:cxnLst/>
              <a:rect l="l" t="t" r="r" b="b"/>
              <a:pathLst>
                <a:path w="554989" h="325119">
                  <a:moveTo>
                    <a:pt x="467914" y="320319"/>
                  </a:moveTo>
                  <a:lnTo>
                    <a:pt x="511380" y="266698"/>
                  </a:lnTo>
                  <a:lnTo>
                    <a:pt x="537890" y="232646"/>
                  </a:lnTo>
                  <a:lnTo>
                    <a:pt x="551107" y="214732"/>
                  </a:lnTo>
                  <a:lnTo>
                    <a:pt x="554699" y="209523"/>
                  </a:lnTo>
                </a:path>
                <a:path w="554989" h="325119">
                  <a:moveTo>
                    <a:pt x="0" y="0"/>
                  </a:moveTo>
                  <a:lnTo>
                    <a:pt x="32416" y="141967"/>
                  </a:lnTo>
                  <a:lnTo>
                    <a:pt x="89128" y="243462"/>
                  </a:lnTo>
                  <a:lnTo>
                    <a:pt x="143031" y="304413"/>
                  </a:lnTo>
                  <a:lnTo>
                    <a:pt x="167022" y="324747"/>
                  </a:lnTo>
                </a:path>
              </a:pathLst>
            </a:custGeom>
            <a:ln w="5270">
              <a:solidFill>
                <a:srgbClr val="231F20"/>
              </a:solidFill>
            </a:ln>
          </p:spPr>
          <p:txBody>
            <a:bodyPr wrap="square" lIns="0" tIns="0" rIns="0" bIns="0" rtlCol="0"/>
            <a:lstStyle/>
            <a:p>
              <a:endParaRPr/>
            </a:p>
          </p:txBody>
        </p:sp>
        <p:pic>
          <p:nvPicPr>
            <p:cNvPr id="49" name="object 49"/>
            <p:cNvPicPr/>
            <p:nvPr/>
          </p:nvPicPr>
          <p:blipFill>
            <a:blip r:embed="rId10" cstate="print"/>
            <a:stretch>
              <a:fillRect/>
            </a:stretch>
          </p:blipFill>
          <p:spPr>
            <a:xfrm>
              <a:off x="2488673" y="2229520"/>
              <a:ext cx="67040" cy="79795"/>
            </a:xfrm>
            <a:prstGeom prst="rect">
              <a:avLst/>
            </a:prstGeom>
          </p:spPr>
        </p:pic>
        <p:sp>
          <p:nvSpPr>
            <p:cNvPr id="50" name="object 50"/>
            <p:cNvSpPr/>
            <p:nvPr/>
          </p:nvSpPr>
          <p:spPr>
            <a:xfrm>
              <a:off x="2634362" y="2169228"/>
              <a:ext cx="460375" cy="574675"/>
            </a:xfrm>
            <a:custGeom>
              <a:avLst/>
              <a:gdLst/>
              <a:ahLst/>
              <a:cxnLst/>
              <a:rect l="l" t="t" r="r" b="b"/>
              <a:pathLst>
                <a:path w="460375" h="574675">
                  <a:moveTo>
                    <a:pt x="291068" y="544600"/>
                  </a:moveTo>
                  <a:lnTo>
                    <a:pt x="366366" y="561311"/>
                  </a:lnTo>
                  <a:lnTo>
                    <a:pt x="419052" y="570120"/>
                  </a:lnTo>
                  <a:lnTo>
                    <a:pt x="450012" y="573553"/>
                  </a:lnTo>
                  <a:lnTo>
                    <a:pt x="460135" y="574136"/>
                  </a:lnTo>
                </a:path>
                <a:path w="460375" h="574675">
                  <a:moveTo>
                    <a:pt x="0" y="0"/>
                  </a:moveTo>
                  <a:lnTo>
                    <a:pt x="1415" y="93379"/>
                  </a:lnTo>
                  <a:lnTo>
                    <a:pt x="5155" y="152320"/>
                  </a:lnTo>
                  <a:lnTo>
                    <a:pt x="9017" y="183088"/>
                  </a:lnTo>
                  <a:lnTo>
                    <a:pt x="10793" y="191951"/>
                  </a:lnTo>
                </a:path>
              </a:pathLst>
            </a:custGeom>
            <a:ln w="5270">
              <a:solidFill>
                <a:srgbClr val="231F20"/>
              </a:solidFill>
            </a:ln>
          </p:spPr>
          <p:txBody>
            <a:bodyPr wrap="square" lIns="0" tIns="0" rIns="0" bIns="0" rtlCol="0"/>
            <a:lstStyle/>
            <a:p>
              <a:endParaRPr/>
            </a:p>
          </p:txBody>
        </p:sp>
        <p:sp>
          <p:nvSpPr>
            <p:cNvPr id="51" name="object 51"/>
            <p:cNvSpPr/>
            <p:nvPr/>
          </p:nvSpPr>
          <p:spPr>
            <a:xfrm>
              <a:off x="3056993" y="2710882"/>
              <a:ext cx="74930" cy="64135"/>
            </a:xfrm>
            <a:custGeom>
              <a:avLst/>
              <a:gdLst/>
              <a:ahLst/>
              <a:cxnLst/>
              <a:rect l="l" t="t" r="r" b="b"/>
              <a:pathLst>
                <a:path w="74930" h="64135">
                  <a:moveTo>
                    <a:pt x="1022" y="0"/>
                  </a:moveTo>
                  <a:lnTo>
                    <a:pt x="6746" y="16041"/>
                  </a:lnTo>
                  <a:lnTo>
                    <a:pt x="8484" y="32010"/>
                  </a:lnTo>
                  <a:lnTo>
                    <a:pt x="6235" y="47911"/>
                  </a:lnTo>
                  <a:lnTo>
                    <a:pt x="0" y="63751"/>
                  </a:lnTo>
                  <a:lnTo>
                    <a:pt x="74883" y="33077"/>
                  </a:lnTo>
                  <a:lnTo>
                    <a:pt x="1022" y="0"/>
                  </a:lnTo>
                  <a:close/>
                </a:path>
              </a:pathLst>
            </a:custGeom>
            <a:solidFill>
              <a:srgbClr val="231F20"/>
            </a:solidFill>
          </p:spPr>
          <p:txBody>
            <a:bodyPr wrap="square" lIns="0" tIns="0" rIns="0" bIns="0" rtlCol="0"/>
            <a:lstStyle/>
            <a:p>
              <a:endParaRPr/>
            </a:p>
          </p:txBody>
        </p:sp>
      </p:grpSp>
      <p:sp>
        <p:nvSpPr>
          <p:cNvPr id="52" name="object 52"/>
          <p:cNvSpPr txBox="1"/>
          <p:nvPr/>
        </p:nvSpPr>
        <p:spPr>
          <a:xfrm>
            <a:off x="66713" y="3327684"/>
            <a:ext cx="60896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11" action="ppaction://hlinksldjump"/>
              </a:rPr>
              <a:t>Message t</a:t>
            </a:r>
            <a:r>
              <a:rPr sz="600" spc="-15" dirty="0">
                <a:solidFill>
                  <a:srgbClr val="3333B2"/>
                </a:solidFill>
                <a:latin typeface="Arial"/>
                <a:cs typeface="Arial"/>
                <a:hlinkClick r:id="rId11" action="ppaction://hlinksldjump"/>
              </a:rPr>
              <a:t>r</a:t>
            </a:r>
            <a:r>
              <a:rPr sz="600" spc="-5" dirty="0">
                <a:solidFill>
                  <a:srgbClr val="3333B2"/>
                </a:solidFill>
                <a:latin typeface="Arial"/>
                <a:cs typeface="Arial"/>
                <a:hlinkClick r:id="rId11" action="ppaction://hlinksldjump"/>
              </a:rPr>
              <a:t>ans</a:t>
            </a:r>
            <a:r>
              <a:rPr sz="600" spc="-25" dirty="0">
                <a:solidFill>
                  <a:srgbClr val="3333B2"/>
                </a:solidFill>
                <a:latin typeface="Arial"/>
                <a:cs typeface="Arial"/>
                <a:hlinkClick r:id="rId11" action="ppaction://hlinksldjump"/>
              </a:rPr>
              <a:t>f</a:t>
            </a:r>
            <a:r>
              <a:rPr sz="600" spc="-5" dirty="0">
                <a:solidFill>
                  <a:srgbClr val="3333B2"/>
                </a:solidFill>
                <a:latin typeface="Arial"/>
                <a:cs typeface="Arial"/>
                <a:hlinkClick r:id="rId11" action="ppaction://hlinksldjump"/>
              </a:rPr>
              <a:t>er</a:t>
            </a:r>
            <a:endParaRPr sz="600">
              <a:latin typeface="Arial"/>
              <a:cs typeface="Arial"/>
            </a:endParaRPr>
          </a:p>
        </p:txBody>
      </p:sp>
      <p:sp>
        <p:nvSpPr>
          <p:cNvPr id="53" name="object 53"/>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37</a:t>
            </a:r>
            <a:r>
              <a:rPr spc="-40" dirty="0"/>
              <a:t> </a:t>
            </a:r>
            <a:r>
              <a:rPr spc="-5" dirty="0"/>
              <a:t>/</a:t>
            </a:r>
            <a:r>
              <a:rPr spc="-35" dirty="0"/>
              <a:t> </a:t>
            </a:r>
            <a:r>
              <a:rPr spc="-5" dirty="0"/>
              <a:t>49</a:t>
            </a:r>
          </a:p>
        </p:txBody>
      </p:sp>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Multicast</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162320" y="716"/>
            <a:ext cx="137922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Application-level tree-based</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multicasting</a:t>
            </a:r>
            <a:endParaRPr sz="600">
              <a:latin typeface="Arial"/>
              <a:cs typeface="Arial"/>
            </a:endParaRPr>
          </a:p>
        </p:txBody>
      </p:sp>
      <p:sp>
        <p:nvSpPr>
          <p:cNvPr id="4" name="object 4"/>
          <p:cNvSpPr txBox="1"/>
          <p:nvPr/>
        </p:nvSpPr>
        <p:spPr>
          <a:xfrm>
            <a:off x="95300" y="188846"/>
            <a:ext cx="2352675" cy="244475"/>
          </a:xfrm>
          <a:prstGeom prst="rect">
            <a:avLst/>
          </a:prstGeom>
        </p:spPr>
        <p:txBody>
          <a:bodyPr vert="horz" wrap="square" lIns="0" tIns="17145" rIns="0" bIns="0" rtlCol="0">
            <a:spAutoFit/>
          </a:bodyPr>
          <a:lstStyle/>
          <a:p>
            <a:pPr marL="12700">
              <a:lnSpc>
                <a:spcPct val="100000"/>
              </a:lnSpc>
              <a:spcBef>
                <a:spcPts val="135"/>
              </a:spcBef>
            </a:pPr>
            <a:r>
              <a:rPr sz="1400" spc="5" dirty="0">
                <a:solidFill>
                  <a:srgbClr val="3333B2"/>
                </a:solidFill>
                <a:latin typeface="Arial"/>
                <a:cs typeface="Arial"/>
              </a:rPr>
              <a:t>Application-level</a:t>
            </a:r>
            <a:r>
              <a:rPr sz="1400" spc="30" dirty="0">
                <a:solidFill>
                  <a:srgbClr val="3333B2"/>
                </a:solidFill>
                <a:latin typeface="Arial"/>
                <a:cs typeface="Arial"/>
              </a:rPr>
              <a:t> </a:t>
            </a:r>
            <a:r>
              <a:rPr sz="1400" spc="10" dirty="0">
                <a:solidFill>
                  <a:srgbClr val="3333B2"/>
                </a:solidFill>
                <a:latin typeface="Arial"/>
                <a:cs typeface="Arial"/>
              </a:rPr>
              <a:t>multicasting</a:t>
            </a:r>
            <a:endParaRPr sz="1400" dirty="0">
              <a:latin typeface="Arial"/>
              <a:cs typeface="Arial"/>
            </a:endParaRPr>
          </a:p>
        </p:txBody>
      </p:sp>
      <p:sp>
        <p:nvSpPr>
          <p:cNvPr id="5" name="object 5"/>
          <p:cNvSpPr txBox="1"/>
          <p:nvPr/>
        </p:nvSpPr>
        <p:spPr>
          <a:xfrm>
            <a:off x="321894" y="1187955"/>
            <a:ext cx="3844290" cy="884555"/>
          </a:xfrm>
          <a:prstGeom prst="rect">
            <a:avLst/>
          </a:prstGeom>
        </p:spPr>
        <p:txBody>
          <a:bodyPr vert="horz" wrap="square" lIns="0" tIns="12065" rIns="0" bIns="0" rtlCol="0">
            <a:spAutoFit/>
          </a:bodyPr>
          <a:lstStyle/>
          <a:p>
            <a:pPr marL="38100">
              <a:lnSpc>
                <a:spcPts val="1410"/>
              </a:lnSpc>
              <a:spcBef>
                <a:spcPts val="95"/>
              </a:spcBef>
            </a:pPr>
            <a:r>
              <a:rPr sz="1200" spc="-5" dirty="0">
                <a:solidFill>
                  <a:srgbClr val="3333B2"/>
                </a:solidFill>
                <a:latin typeface="Arial"/>
                <a:cs typeface="Arial"/>
              </a:rPr>
              <a:t>Essence</a:t>
            </a:r>
            <a:endParaRPr sz="1200" dirty="0">
              <a:latin typeface="Arial"/>
              <a:cs typeface="Arial"/>
            </a:endParaRPr>
          </a:p>
          <a:p>
            <a:pPr marL="38100" marR="30480">
              <a:lnSpc>
                <a:spcPts val="1200"/>
              </a:lnSpc>
              <a:spcBef>
                <a:spcPts val="10"/>
              </a:spcBef>
            </a:pPr>
            <a:r>
              <a:rPr sz="1000" spc="-5" dirty="0">
                <a:latin typeface="Arial"/>
                <a:cs typeface="Arial"/>
              </a:rPr>
              <a:t>Organize</a:t>
            </a:r>
            <a:r>
              <a:rPr sz="1000" dirty="0">
                <a:latin typeface="Arial"/>
                <a:cs typeface="Arial"/>
              </a:rPr>
              <a:t> </a:t>
            </a:r>
            <a:r>
              <a:rPr sz="1000" spc="-5" dirty="0">
                <a:latin typeface="Arial"/>
                <a:cs typeface="Arial"/>
              </a:rPr>
              <a:t>nodes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distributed</a:t>
            </a:r>
            <a:r>
              <a:rPr sz="1000"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into</a:t>
            </a:r>
            <a:r>
              <a:rPr sz="1000" spc="5" dirty="0">
                <a:latin typeface="Arial"/>
                <a:cs typeface="Arial"/>
              </a:rPr>
              <a:t> </a:t>
            </a:r>
            <a:r>
              <a:rPr sz="1000" spc="-5" dirty="0">
                <a:latin typeface="Arial"/>
                <a:cs typeface="Arial"/>
              </a:rPr>
              <a:t>an</a:t>
            </a:r>
            <a:r>
              <a:rPr sz="1000" dirty="0">
                <a:latin typeface="Arial"/>
                <a:cs typeface="Arial"/>
              </a:rPr>
              <a:t> </a:t>
            </a:r>
            <a:r>
              <a:rPr sz="1000" spc="-15" dirty="0">
                <a:solidFill>
                  <a:srgbClr val="0000FA"/>
                </a:solidFill>
                <a:latin typeface="Arial"/>
                <a:cs typeface="Arial"/>
              </a:rPr>
              <a:t>overlay</a:t>
            </a:r>
            <a:r>
              <a:rPr sz="1000" dirty="0">
                <a:solidFill>
                  <a:srgbClr val="0000FA"/>
                </a:solidFill>
                <a:latin typeface="Arial"/>
                <a:cs typeface="Arial"/>
              </a:rPr>
              <a:t> </a:t>
            </a:r>
            <a:r>
              <a:rPr sz="1000" spc="-5" dirty="0">
                <a:solidFill>
                  <a:srgbClr val="0000FA"/>
                </a:solidFill>
                <a:latin typeface="Arial"/>
                <a:cs typeface="Arial"/>
              </a:rPr>
              <a:t>network</a:t>
            </a:r>
            <a:r>
              <a:rPr sz="1000" dirty="0">
                <a:solidFill>
                  <a:srgbClr val="0000FA"/>
                </a:solidFill>
                <a:latin typeface="Arial"/>
                <a:cs typeface="Arial"/>
              </a:rPr>
              <a:t> </a:t>
            </a:r>
            <a:r>
              <a:rPr sz="1000" spc="-5" dirty="0">
                <a:latin typeface="Arial"/>
                <a:cs typeface="Arial"/>
              </a:rPr>
              <a:t>and </a:t>
            </a:r>
            <a:r>
              <a:rPr sz="1000" spc="-260" dirty="0">
                <a:latin typeface="Arial"/>
                <a:cs typeface="Arial"/>
              </a:rPr>
              <a:t> </a:t>
            </a:r>
            <a:r>
              <a:rPr sz="1000" spc="-5" dirty="0">
                <a:latin typeface="Arial"/>
                <a:cs typeface="Arial"/>
              </a:rPr>
              <a:t>use that network to disseminate data:</a:t>
            </a:r>
            <a:endParaRPr sz="1000" dirty="0">
              <a:latin typeface="Arial"/>
              <a:cs typeface="Arial"/>
            </a:endParaRPr>
          </a:p>
          <a:p>
            <a:pPr marL="314960" indent="-168275">
              <a:lnSpc>
                <a:spcPts val="1200"/>
              </a:lnSpc>
              <a:spcBef>
                <a:spcPts val="550"/>
              </a:spcBef>
              <a:buClr>
                <a:srgbClr val="3333B2"/>
              </a:buClr>
              <a:buChar char="►"/>
              <a:tabLst>
                <a:tab pos="315595" algn="l"/>
              </a:tabLst>
            </a:pPr>
            <a:r>
              <a:rPr sz="1000" spc="-5" dirty="0">
                <a:latin typeface="Arial"/>
                <a:cs typeface="Arial"/>
              </a:rPr>
              <a:t>Oftentimes a </a:t>
            </a:r>
            <a:r>
              <a:rPr sz="1000" spc="-5" dirty="0">
                <a:solidFill>
                  <a:srgbClr val="FA0000"/>
                </a:solidFill>
                <a:latin typeface="Arial"/>
                <a:cs typeface="Arial"/>
              </a:rPr>
              <a:t>tree</a:t>
            </a:r>
            <a:r>
              <a:rPr sz="1000" spc="-5" dirty="0">
                <a:latin typeface="Arial"/>
                <a:cs typeface="Arial"/>
              </a:rPr>
              <a:t>,</a:t>
            </a:r>
            <a:r>
              <a:rPr sz="1000" dirty="0">
                <a:latin typeface="Arial"/>
                <a:cs typeface="Arial"/>
              </a:rPr>
              <a:t> </a:t>
            </a:r>
            <a:r>
              <a:rPr sz="1000" spc="-5" dirty="0">
                <a:latin typeface="Arial"/>
                <a:cs typeface="Arial"/>
              </a:rPr>
              <a:t>leading to</a:t>
            </a:r>
            <a:r>
              <a:rPr sz="1000" dirty="0">
                <a:latin typeface="Arial"/>
                <a:cs typeface="Arial"/>
              </a:rPr>
              <a:t> </a:t>
            </a:r>
            <a:r>
              <a:rPr sz="1000" spc="-5" dirty="0">
                <a:latin typeface="Arial"/>
                <a:cs typeface="Arial"/>
              </a:rPr>
              <a:t>unique paths</a:t>
            </a:r>
            <a:endParaRPr sz="1000" dirty="0">
              <a:latin typeface="Arial"/>
              <a:cs typeface="Arial"/>
            </a:endParaRPr>
          </a:p>
          <a:p>
            <a:pPr marL="314960" indent="-168275">
              <a:lnSpc>
                <a:spcPts val="1200"/>
              </a:lnSpc>
              <a:buClr>
                <a:srgbClr val="3333B2"/>
              </a:buClr>
              <a:buChar char="►"/>
              <a:tabLst>
                <a:tab pos="315595" algn="l"/>
              </a:tabLst>
            </a:pPr>
            <a:r>
              <a:rPr sz="1000" spc="-10" dirty="0">
                <a:latin typeface="Arial"/>
                <a:cs typeface="Arial"/>
              </a:rPr>
              <a:t>Alternatively,</a:t>
            </a:r>
            <a:r>
              <a:rPr sz="1000" spc="-5" dirty="0">
                <a:latin typeface="Arial"/>
                <a:cs typeface="Arial"/>
              </a:rPr>
              <a:t> also</a:t>
            </a:r>
            <a:r>
              <a:rPr sz="1000" dirty="0">
                <a:latin typeface="Arial"/>
                <a:cs typeface="Arial"/>
              </a:rPr>
              <a:t> </a:t>
            </a:r>
            <a:r>
              <a:rPr sz="1000" spc="-5" dirty="0">
                <a:solidFill>
                  <a:srgbClr val="FA0000"/>
                </a:solidFill>
                <a:latin typeface="Arial"/>
                <a:cs typeface="Arial"/>
              </a:rPr>
              <a:t>mesh</a:t>
            </a:r>
            <a:r>
              <a:rPr sz="1000" dirty="0">
                <a:solidFill>
                  <a:srgbClr val="FA0000"/>
                </a:solidFill>
                <a:latin typeface="Arial"/>
                <a:cs typeface="Arial"/>
              </a:rPr>
              <a:t> </a:t>
            </a:r>
            <a:r>
              <a:rPr sz="1000" spc="-5" dirty="0">
                <a:solidFill>
                  <a:srgbClr val="FA0000"/>
                </a:solidFill>
                <a:latin typeface="Arial"/>
                <a:cs typeface="Arial"/>
              </a:rPr>
              <a:t>networks</a:t>
            </a:r>
            <a:r>
              <a:rPr sz="1000" spc="-5" dirty="0">
                <a:latin typeface="Arial"/>
                <a:cs typeface="Arial"/>
              </a:rPr>
              <a:t>,</a:t>
            </a:r>
            <a:r>
              <a:rPr sz="1000" dirty="0">
                <a:latin typeface="Arial"/>
                <a:cs typeface="Arial"/>
              </a:rPr>
              <a:t> </a:t>
            </a:r>
            <a:r>
              <a:rPr sz="1000" spc="-5" dirty="0">
                <a:latin typeface="Arial"/>
                <a:cs typeface="Arial"/>
              </a:rPr>
              <a:t>requiring</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form</a:t>
            </a:r>
            <a:r>
              <a:rPr sz="1000" dirty="0">
                <a:latin typeface="Arial"/>
                <a:cs typeface="Arial"/>
              </a:rPr>
              <a:t> </a:t>
            </a:r>
            <a:r>
              <a:rPr sz="1000" spc="-5" dirty="0">
                <a:latin typeface="Arial"/>
                <a:cs typeface="Arial"/>
              </a:rPr>
              <a:t>of </a:t>
            </a:r>
            <a:r>
              <a:rPr sz="1000" spc="-5" dirty="0">
                <a:solidFill>
                  <a:srgbClr val="0000FA"/>
                </a:solidFill>
                <a:latin typeface="Arial"/>
                <a:cs typeface="Arial"/>
              </a:rPr>
              <a:t>routing</a:t>
            </a:r>
            <a:endParaRPr sz="1000" dirty="0">
              <a:latin typeface="Arial"/>
              <a:cs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38</a:t>
            </a:r>
            <a:r>
              <a:rPr spc="-40" dirty="0"/>
              <a:t> </a:t>
            </a:r>
            <a:r>
              <a:rPr spc="-5" dirty="0"/>
              <a:t>/</a:t>
            </a:r>
            <a:r>
              <a:rPr spc="-35" dirty="0"/>
              <a:t> </a:t>
            </a:r>
            <a:r>
              <a:rPr spc="-5" dirty="0"/>
              <a:t>49</a:t>
            </a:r>
          </a:p>
        </p:txBody>
      </p:sp>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Multicast</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162320" y="716"/>
            <a:ext cx="137922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Application-level tree-based</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multicasting</a:t>
            </a:r>
            <a:endParaRPr sz="600">
              <a:latin typeface="Arial"/>
              <a:cs typeface="Arial"/>
            </a:endParaRPr>
          </a:p>
        </p:txBody>
      </p:sp>
      <p:sp>
        <p:nvSpPr>
          <p:cNvPr id="4" name="object 4"/>
          <p:cNvSpPr txBox="1"/>
          <p:nvPr/>
        </p:nvSpPr>
        <p:spPr>
          <a:xfrm>
            <a:off x="95300" y="188846"/>
            <a:ext cx="3091815" cy="244475"/>
          </a:xfrm>
          <a:prstGeom prst="rect">
            <a:avLst/>
          </a:prstGeom>
        </p:spPr>
        <p:txBody>
          <a:bodyPr vert="horz" wrap="square" lIns="0" tIns="17145" rIns="0" bIns="0" rtlCol="0">
            <a:spAutoFit/>
          </a:bodyPr>
          <a:lstStyle/>
          <a:p>
            <a:pPr marL="12700">
              <a:lnSpc>
                <a:spcPct val="100000"/>
              </a:lnSpc>
              <a:spcBef>
                <a:spcPts val="135"/>
              </a:spcBef>
            </a:pPr>
            <a:r>
              <a:rPr sz="1400" spc="5" dirty="0">
                <a:solidFill>
                  <a:srgbClr val="3333B2"/>
                </a:solidFill>
                <a:latin typeface="Arial"/>
                <a:cs typeface="Arial"/>
              </a:rPr>
              <a:t>Application-level</a:t>
            </a:r>
            <a:r>
              <a:rPr sz="1400" spc="20" dirty="0">
                <a:solidFill>
                  <a:srgbClr val="3333B2"/>
                </a:solidFill>
                <a:latin typeface="Arial"/>
                <a:cs typeface="Arial"/>
              </a:rPr>
              <a:t> </a:t>
            </a:r>
            <a:r>
              <a:rPr sz="1400" spc="10" dirty="0">
                <a:solidFill>
                  <a:srgbClr val="3333B2"/>
                </a:solidFill>
                <a:latin typeface="Arial"/>
                <a:cs typeface="Arial"/>
              </a:rPr>
              <a:t>multicasting</a:t>
            </a:r>
            <a:r>
              <a:rPr sz="1400" spc="20" dirty="0">
                <a:solidFill>
                  <a:srgbClr val="3333B2"/>
                </a:solidFill>
                <a:latin typeface="Arial"/>
                <a:cs typeface="Arial"/>
              </a:rPr>
              <a:t> </a:t>
            </a:r>
            <a:r>
              <a:rPr sz="1400" spc="10" dirty="0">
                <a:solidFill>
                  <a:srgbClr val="3333B2"/>
                </a:solidFill>
                <a:latin typeface="Arial"/>
                <a:cs typeface="Arial"/>
              </a:rPr>
              <a:t>in</a:t>
            </a:r>
            <a:r>
              <a:rPr sz="1400" spc="20" dirty="0">
                <a:solidFill>
                  <a:srgbClr val="3333B2"/>
                </a:solidFill>
                <a:latin typeface="Arial"/>
                <a:cs typeface="Arial"/>
              </a:rPr>
              <a:t> </a:t>
            </a:r>
            <a:r>
              <a:rPr sz="1400" spc="15" dirty="0">
                <a:solidFill>
                  <a:srgbClr val="3333B2"/>
                </a:solidFill>
                <a:latin typeface="Arial"/>
                <a:cs typeface="Arial"/>
              </a:rPr>
              <a:t>Chord</a:t>
            </a:r>
            <a:endParaRPr sz="1400" dirty="0">
              <a:latin typeface="Arial"/>
              <a:cs typeface="Arial"/>
            </a:endParaRPr>
          </a:p>
        </p:txBody>
      </p:sp>
      <p:sp>
        <p:nvSpPr>
          <p:cNvPr id="5" name="object 5"/>
          <p:cNvSpPr txBox="1"/>
          <p:nvPr/>
        </p:nvSpPr>
        <p:spPr>
          <a:xfrm>
            <a:off x="283794" y="802205"/>
            <a:ext cx="3994785" cy="1850389"/>
          </a:xfrm>
          <a:prstGeom prst="rect">
            <a:avLst/>
          </a:prstGeom>
        </p:spPr>
        <p:txBody>
          <a:bodyPr vert="horz" wrap="square" lIns="0" tIns="12065" rIns="0" bIns="0" rtlCol="0">
            <a:spAutoFit/>
          </a:bodyPr>
          <a:lstStyle/>
          <a:p>
            <a:pPr marL="76200">
              <a:lnSpc>
                <a:spcPct val="100000"/>
              </a:lnSpc>
              <a:spcBef>
                <a:spcPts val="95"/>
              </a:spcBef>
            </a:pPr>
            <a:r>
              <a:rPr sz="1200" spc="-5" dirty="0">
                <a:solidFill>
                  <a:srgbClr val="3333B2"/>
                </a:solidFill>
                <a:latin typeface="Arial"/>
                <a:cs typeface="Arial"/>
              </a:rPr>
              <a:t>Basic</a:t>
            </a:r>
            <a:r>
              <a:rPr sz="1200" spc="-35" dirty="0">
                <a:solidFill>
                  <a:srgbClr val="3333B2"/>
                </a:solidFill>
                <a:latin typeface="Arial"/>
                <a:cs typeface="Arial"/>
              </a:rPr>
              <a:t> </a:t>
            </a:r>
            <a:r>
              <a:rPr sz="1200" spc="-5" dirty="0">
                <a:solidFill>
                  <a:srgbClr val="3333B2"/>
                </a:solidFill>
                <a:latin typeface="Arial"/>
                <a:cs typeface="Arial"/>
              </a:rPr>
              <a:t>approach</a:t>
            </a:r>
            <a:endParaRPr sz="1200" dirty="0">
              <a:latin typeface="Arial"/>
              <a:cs typeface="Arial"/>
            </a:endParaRPr>
          </a:p>
          <a:p>
            <a:pPr marL="353060" indent="-175260">
              <a:lnSpc>
                <a:spcPts val="1200"/>
              </a:lnSpc>
              <a:spcBef>
                <a:spcPts val="770"/>
              </a:spcBef>
              <a:buClr>
                <a:srgbClr val="3333B2"/>
              </a:buClr>
              <a:buAutoNum type="arabicPeriod"/>
              <a:tabLst>
                <a:tab pos="353695" algn="l"/>
              </a:tabLst>
            </a:pPr>
            <a:r>
              <a:rPr sz="1000" spc="-5" dirty="0">
                <a:latin typeface="Arial"/>
                <a:cs typeface="Arial"/>
              </a:rPr>
              <a:t>Initiator generates a</a:t>
            </a:r>
            <a:r>
              <a:rPr sz="1000" dirty="0">
                <a:latin typeface="Arial"/>
                <a:cs typeface="Arial"/>
              </a:rPr>
              <a:t> </a:t>
            </a:r>
            <a:r>
              <a:rPr sz="1000" spc="-5" dirty="0">
                <a:solidFill>
                  <a:srgbClr val="0000FA"/>
                </a:solidFill>
                <a:latin typeface="Arial"/>
                <a:cs typeface="Arial"/>
              </a:rPr>
              <a:t>multicast identifier</a:t>
            </a:r>
            <a:r>
              <a:rPr sz="1000" dirty="0">
                <a:solidFill>
                  <a:srgbClr val="0000FA"/>
                </a:solidFill>
                <a:latin typeface="Arial"/>
                <a:cs typeface="Arial"/>
              </a:rPr>
              <a:t> </a:t>
            </a:r>
            <a:r>
              <a:rPr sz="1000" i="1" spc="-5" dirty="0">
                <a:latin typeface="Arial"/>
                <a:cs typeface="Arial"/>
              </a:rPr>
              <a:t>mid</a:t>
            </a:r>
            <a:r>
              <a:rPr sz="1000" i="1" spc="-185" dirty="0">
                <a:latin typeface="Arial"/>
                <a:cs typeface="Arial"/>
              </a:rPr>
              <a:t> </a:t>
            </a:r>
            <a:r>
              <a:rPr sz="1000" spc="-5" dirty="0">
                <a:latin typeface="Arial"/>
                <a:cs typeface="Arial"/>
              </a:rPr>
              <a:t>.</a:t>
            </a:r>
            <a:endParaRPr sz="1000" dirty="0">
              <a:latin typeface="Arial"/>
              <a:cs typeface="Arial"/>
            </a:endParaRPr>
          </a:p>
          <a:p>
            <a:pPr marL="353060" indent="-175260">
              <a:lnSpc>
                <a:spcPts val="1195"/>
              </a:lnSpc>
              <a:buClr>
                <a:srgbClr val="3333B2"/>
              </a:buClr>
              <a:buAutoNum type="arabicPeriod"/>
              <a:tabLst>
                <a:tab pos="353695" algn="l"/>
              </a:tabLst>
            </a:pPr>
            <a:r>
              <a:rPr sz="1000" spc="-5" dirty="0">
                <a:latin typeface="Arial"/>
                <a:cs typeface="Arial"/>
              </a:rPr>
              <a:t>Lookup </a:t>
            </a:r>
            <a:r>
              <a:rPr sz="1000" i="1" spc="-5" dirty="0">
                <a:solidFill>
                  <a:srgbClr val="0000FA"/>
                </a:solidFill>
                <a:latin typeface="Arial"/>
                <a:cs typeface="Arial"/>
              </a:rPr>
              <a:t>suc</a:t>
            </a:r>
            <a:r>
              <a:rPr sz="1000" i="1" spc="45" dirty="0">
                <a:solidFill>
                  <a:srgbClr val="0000FA"/>
                </a:solidFill>
                <a:latin typeface="Arial"/>
                <a:cs typeface="Arial"/>
              </a:rPr>
              <a:t>c</a:t>
            </a:r>
            <a:r>
              <a:rPr sz="1000" spc="50" dirty="0">
                <a:solidFill>
                  <a:srgbClr val="0000FA"/>
                </a:solidFill>
                <a:latin typeface="Arial"/>
                <a:cs typeface="Arial"/>
              </a:rPr>
              <a:t>(</a:t>
            </a:r>
            <a:r>
              <a:rPr sz="1000" i="1" spc="-5" dirty="0">
                <a:solidFill>
                  <a:srgbClr val="0000FA"/>
                </a:solidFill>
                <a:latin typeface="Arial"/>
                <a:cs typeface="Arial"/>
              </a:rPr>
              <a:t>mid</a:t>
            </a:r>
            <a:r>
              <a:rPr sz="1000" i="1" spc="-185" dirty="0">
                <a:solidFill>
                  <a:srgbClr val="0000FA"/>
                </a:solidFill>
                <a:latin typeface="Arial"/>
                <a:cs typeface="Arial"/>
              </a:rPr>
              <a:t> </a:t>
            </a:r>
            <a:r>
              <a:rPr sz="1000" spc="50" dirty="0">
                <a:solidFill>
                  <a:srgbClr val="0000FA"/>
                </a:solidFill>
                <a:latin typeface="Arial"/>
                <a:cs typeface="Arial"/>
              </a:rPr>
              <a:t>)</a:t>
            </a:r>
            <a:r>
              <a:rPr sz="1000" spc="-5" dirty="0">
                <a:latin typeface="Arial"/>
                <a:cs typeface="Arial"/>
              </a:rPr>
              <a:t>, the node responsi</a:t>
            </a:r>
            <a:r>
              <a:rPr sz="1000" spc="-25" dirty="0">
                <a:latin typeface="Arial"/>
                <a:cs typeface="Arial"/>
              </a:rPr>
              <a:t>b</a:t>
            </a:r>
            <a:r>
              <a:rPr sz="1000" spc="-5" dirty="0">
                <a:latin typeface="Arial"/>
                <a:cs typeface="Arial"/>
              </a:rPr>
              <a:t>le </a:t>
            </a:r>
            <a:r>
              <a:rPr sz="1000" spc="-35" dirty="0">
                <a:latin typeface="Arial"/>
                <a:cs typeface="Arial"/>
              </a:rPr>
              <a:t>f</a:t>
            </a:r>
            <a:r>
              <a:rPr sz="1000" spc="-5" dirty="0">
                <a:latin typeface="Arial"/>
                <a:cs typeface="Arial"/>
              </a:rPr>
              <a:t>or </a:t>
            </a:r>
            <a:r>
              <a:rPr sz="1000" i="1" spc="-5" dirty="0">
                <a:latin typeface="Arial"/>
                <a:cs typeface="Arial"/>
              </a:rPr>
              <a:t>mid</a:t>
            </a:r>
            <a:r>
              <a:rPr sz="1000" i="1" spc="-185" dirty="0">
                <a:latin typeface="Arial"/>
                <a:cs typeface="Arial"/>
              </a:rPr>
              <a:t> </a:t>
            </a:r>
            <a:r>
              <a:rPr sz="1000" spc="-5" dirty="0">
                <a:latin typeface="Arial"/>
                <a:cs typeface="Arial"/>
              </a:rPr>
              <a:t>.</a:t>
            </a:r>
            <a:endParaRPr sz="1000" dirty="0">
              <a:latin typeface="Arial"/>
              <a:cs typeface="Arial"/>
            </a:endParaRPr>
          </a:p>
          <a:p>
            <a:pPr marL="353060" indent="-175260">
              <a:lnSpc>
                <a:spcPts val="1195"/>
              </a:lnSpc>
              <a:buClr>
                <a:srgbClr val="3333B2"/>
              </a:buClr>
              <a:buAutoNum type="arabicPeriod"/>
              <a:tabLst>
                <a:tab pos="353695" algn="l"/>
              </a:tabLst>
            </a:pPr>
            <a:r>
              <a:rPr sz="1000" spc="-5" dirty="0">
                <a:latin typeface="Arial"/>
                <a:cs typeface="Arial"/>
              </a:rPr>
              <a:t>Request is</a:t>
            </a:r>
            <a:r>
              <a:rPr sz="1000" dirty="0">
                <a:latin typeface="Arial"/>
                <a:cs typeface="Arial"/>
              </a:rPr>
              <a:t> </a:t>
            </a:r>
            <a:r>
              <a:rPr sz="1000" spc="-5" dirty="0">
                <a:latin typeface="Arial"/>
                <a:cs typeface="Arial"/>
              </a:rPr>
              <a:t>routed</a:t>
            </a:r>
            <a:r>
              <a:rPr sz="1000" dirty="0">
                <a:latin typeface="Arial"/>
                <a:cs typeface="Arial"/>
              </a:rPr>
              <a:t> </a:t>
            </a:r>
            <a:r>
              <a:rPr sz="1000" spc="-5" dirty="0">
                <a:latin typeface="Arial"/>
                <a:cs typeface="Arial"/>
              </a:rPr>
              <a:t>to </a:t>
            </a:r>
            <a:r>
              <a:rPr sz="1000" i="1" spc="10" dirty="0">
                <a:latin typeface="Arial"/>
                <a:cs typeface="Arial"/>
              </a:rPr>
              <a:t>succ</a:t>
            </a:r>
            <a:r>
              <a:rPr sz="1000" spc="10" dirty="0">
                <a:latin typeface="Arial"/>
                <a:cs typeface="Arial"/>
              </a:rPr>
              <a:t>(</a:t>
            </a:r>
            <a:r>
              <a:rPr sz="1000" i="1" spc="10" dirty="0">
                <a:latin typeface="Arial"/>
                <a:cs typeface="Arial"/>
              </a:rPr>
              <a:t>mid</a:t>
            </a:r>
            <a:r>
              <a:rPr sz="1000" i="1" spc="-180" dirty="0">
                <a:latin typeface="Arial"/>
                <a:cs typeface="Arial"/>
              </a:rPr>
              <a:t> </a:t>
            </a:r>
            <a:r>
              <a:rPr sz="1000" spc="25" dirty="0">
                <a:latin typeface="Arial"/>
                <a:cs typeface="Arial"/>
              </a:rPr>
              <a:t>),</a:t>
            </a:r>
            <a:r>
              <a:rPr sz="1000" spc="-5" dirty="0">
                <a:latin typeface="Arial"/>
                <a:cs typeface="Arial"/>
              </a:rPr>
              <a:t> which</a:t>
            </a:r>
            <a:r>
              <a:rPr sz="1000" dirty="0">
                <a:latin typeface="Arial"/>
                <a:cs typeface="Arial"/>
              </a:rPr>
              <a:t> </a:t>
            </a:r>
            <a:r>
              <a:rPr sz="1000" spc="-5" dirty="0">
                <a:latin typeface="Arial"/>
                <a:cs typeface="Arial"/>
              </a:rPr>
              <a:t>will</a:t>
            </a:r>
            <a:r>
              <a:rPr sz="1000" dirty="0">
                <a:latin typeface="Arial"/>
                <a:cs typeface="Arial"/>
              </a:rPr>
              <a:t> </a:t>
            </a:r>
            <a:r>
              <a:rPr sz="1000" spc="-5" dirty="0">
                <a:latin typeface="Arial"/>
                <a:cs typeface="Arial"/>
              </a:rPr>
              <a:t>become the</a:t>
            </a:r>
            <a:r>
              <a:rPr sz="1000" dirty="0">
                <a:latin typeface="Arial"/>
                <a:cs typeface="Arial"/>
              </a:rPr>
              <a:t> </a:t>
            </a:r>
            <a:r>
              <a:rPr sz="1000" spc="-5" dirty="0">
                <a:solidFill>
                  <a:srgbClr val="0000FA"/>
                </a:solidFill>
                <a:latin typeface="Arial"/>
                <a:cs typeface="Arial"/>
              </a:rPr>
              <a:t>root</a:t>
            </a:r>
            <a:r>
              <a:rPr sz="1000" spc="-5" dirty="0">
                <a:latin typeface="Arial"/>
                <a:cs typeface="Arial"/>
              </a:rPr>
              <a:t>.</a:t>
            </a:r>
            <a:endParaRPr sz="1000" dirty="0">
              <a:latin typeface="Arial"/>
              <a:cs typeface="Arial"/>
            </a:endParaRPr>
          </a:p>
          <a:p>
            <a:pPr marL="353060" indent="-175260">
              <a:lnSpc>
                <a:spcPts val="1195"/>
              </a:lnSpc>
              <a:buClr>
                <a:srgbClr val="3333B2"/>
              </a:buClr>
              <a:buAutoNum type="arabicPeriod"/>
              <a:tabLst>
                <a:tab pos="353695" algn="l"/>
              </a:tabLst>
            </a:pPr>
            <a:r>
              <a:rPr sz="1000" spc="-5" dirty="0">
                <a:latin typeface="Arial"/>
                <a:cs typeface="Arial"/>
              </a:rPr>
              <a:t>If </a:t>
            </a:r>
            <a:r>
              <a:rPr sz="1000" i="1" spc="-5" dirty="0">
                <a:latin typeface="Arial"/>
                <a:cs typeface="Arial"/>
              </a:rPr>
              <a:t>P</a:t>
            </a:r>
            <a:r>
              <a:rPr sz="1000" i="1" spc="70" dirty="0">
                <a:latin typeface="Arial"/>
                <a:cs typeface="Arial"/>
              </a:rPr>
              <a:t> </a:t>
            </a:r>
            <a:r>
              <a:rPr sz="1000" spc="-5" dirty="0">
                <a:latin typeface="Arial"/>
                <a:cs typeface="Arial"/>
              </a:rPr>
              <a:t>wants to join,</a:t>
            </a:r>
            <a:r>
              <a:rPr sz="1000" dirty="0">
                <a:latin typeface="Arial"/>
                <a:cs typeface="Arial"/>
              </a:rPr>
              <a:t> </a:t>
            </a:r>
            <a:r>
              <a:rPr sz="1000" spc="-5" dirty="0">
                <a:latin typeface="Arial"/>
                <a:cs typeface="Arial"/>
              </a:rPr>
              <a:t>it sends</a:t>
            </a:r>
            <a:r>
              <a:rPr sz="1000" dirty="0">
                <a:latin typeface="Arial"/>
                <a:cs typeface="Arial"/>
              </a:rPr>
              <a:t> </a:t>
            </a:r>
            <a:r>
              <a:rPr sz="1000" spc="-5" dirty="0">
                <a:latin typeface="Arial"/>
                <a:cs typeface="Arial"/>
              </a:rPr>
              <a:t>a </a:t>
            </a:r>
            <a:r>
              <a:rPr sz="1000" spc="-5" dirty="0">
                <a:solidFill>
                  <a:srgbClr val="0000FA"/>
                </a:solidFill>
                <a:latin typeface="Arial"/>
                <a:cs typeface="Arial"/>
              </a:rPr>
              <a:t>join</a:t>
            </a:r>
            <a:r>
              <a:rPr sz="1000" dirty="0">
                <a:solidFill>
                  <a:srgbClr val="0000FA"/>
                </a:solidFill>
                <a:latin typeface="Arial"/>
                <a:cs typeface="Arial"/>
              </a:rPr>
              <a:t> </a:t>
            </a:r>
            <a:r>
              <a:rPr sz="1000" spc="-5" dirty="0">
                <a:latin typeface="Arial"/>
                <a:cs typeface="Arial"/>
              </a:rPr>
              <a:t>request to</a:t>
            </a:r>
            <a:r>
              <a:rPr sz="1000" dirty="0">
                <a:latin typeface="Arial"/>
                <a:cs typeface="Arial"/>
              </a:rPr>
              <a:t> </a:t>
            </a:r>
            <a:r>
              <a:rPr sz="1000" spc="-5" dirty="0">
                <a:latin typeface="Arial"/>
                <a:cs typeface="Arial"/>
              </a:rPr>
              <a:t>the root.</a:t>
            </a:r>
            <a:endParaRPr sz="1000" dirty="0">
              <a:latin typeface="Arial"/>
              <a:cs typeface="Arial"/>
            </a:endParaRPr>
          </a:p>
          <a:p>
            <a:pPr marL="353060" indent="-175260">
              <a:lnSpc>
                <a:spcPts val="1200"/>
              </a:lnSpc>
              <a:buClr>
                <a:srgbClr val="3333B2"/>
              </a:buClr>
              <a:buAutoNum type="arabicPeriod"/>
              <a:tabLst>
                <a:tab pos="353695" algn="l"/>
              </a:tabLst>
            </a:pPr>
            <a:r>
              <a:rPr sz="1000" spc="-5" dirty="0">
                <a:latin typeface="Arial"/>
                <a:cs typeface="Arial"/>
              </a:rPr>
              <a:t>When</a:t>
            </a:r>
            <a:r>
              <a:rPr sz="1000" spc="-20" dirty="0">
                <a:latin typeface="Arial"/>
                <a:cs typeface="Arial"/>
              </a:rPr>
              <a:t> </a:t>
            </a:r>
            <a:r>
              <a:rPr sz="1000" spc="-5" dirty="0">
                <a:latin typeface="Arial"/>
                <a:cs typeface="Arial"/>
              </a:rPr>
              <a:t>request</a:t>
            </a:r>
            <a:r>
              <a:rPr sz="1000" spc="-15" dirty="0">
                <a:latin typeface="Arial"/>
                <a:cs typeface="Arial"/>
              </a:rPr>
              <a:t> </a:t>
            </a:r>
            <a:r>
              <a:rPr sz="1000" spc="-5" dirty="0">
                <a:latin typeface="Arial"/>
                <a:cs typeface="Arial"/>
              </a:rPr>
              <a:t>arrives</a:t>
            </a:r>
            <a:r>
              <a:rPr sz="1000" spc="-15" dirty="0">
                <a:latin typeface="Arial"/>
                <a:cs typeface="Arial"/>
              </a:rPr>
              <a:t> </a:t>
            </a:r>
            <a:r>
              <a:rPr sz="1000" spc="-5" dirty="0">
                <a:latin typeface="Arial"/>
                <a:cs typeface="Arial"/>
              </a:rPr>
              <a:t>at</a:t>
            </a:r>
            <a:r>
              <a:rPr sz="1000" spc="-15" dirty="0">
                <a:latin typeface="Arial"/>
                <a:cs typeface="Arial"/>
              </a:rPr>
              <a:t> </a:t>
            </a:r>
            <a:r>
              <a:rPr sz="1000" i="1" spc="20" dirty="0">
                <a:latin typeface="Arial"/>
                <a:cs typeface="Arial"/>
              </a:rPr>
              <a:t>Q</a:t>
            </a:r>
            <a:r>
              <a:rPr sz="1000" spc="20" dirty="0">
                <a:latin typeface="Arial"/>
                <a:cs typeface="Arial"/>
              </a:rPr>
              <a:t>:</a:t>
            </a:r>
            <a:endParaRPr sz="1000" dirty="0">
              <a:latin typeface="Arial"/>
              <a:cs typeface="Arial"/>
            </a:endParaRPr>
          </a:p>
          <a:p>
            <a:pPr marL="629920" marR="55880" lvl="1" indent="-168275">
              <a:lnSpc>
                <a:spcPct val="100000"/>
              </a:lnSpc>
              <a:spcBef>
                <a:spcPts val="195"/>
              </a:spcBef>
              <a:buClr>
                <a:srgbClr val="3333B2"/>
              </a:buClr>
              <a:buFont typeface="Arial"/>
              <a:buChar char="►"/>
              <a:tabLst>
                <a:tab pos="630555" algn="l"/>
              </a:tabLst>
            </a:pPr>
            <a:r>
              <a:rPr sz="1000" i="1" spc="-5" dirty="0">
                <a:latin typeface="Arial"/>
                <a:cs typeface="Arial"/>
              </a:rPr>
              <a:t>Q</a:t>
            </a:r>
            <a:r>
              <a:rPr sz="1000" i="1" spc="45" dirty="0">
                <a:latin typeface="Arial"/>
                <a:cs typeface="Arial"/>
              </a:rPr>
              <a:t> </a:t>
            </a:r>
            <a:r>
              <a:rPr sz="1000" spc="-5" dirty="0">
                <a:latin typeface="Arial"/>
                <a:cs typeface="Arial"/>
              </a:rPr>
              <a:t>has not seen a join request</a:t>
            </a:r>
            <a:r>
              <a:rPr sz="1000" dirty="0">
                <a:latin typeface="Arial"/>
                <a:cs typeface="Arial"/>
              </a:rPr>
              <a:t> </a:t>
            </a:r>
            <a:r>
              <a:rPr sz="1000" spc="-10" dirty="0">
                <a:latin typeface="Arial"/>
                <a:cs typeface="Arial"/>
              </a:rPr>
              <a:t>before</a:t>
            </a:r>
            <a:r>
              <a:rPr sz="1000" spc="-5" dirty="0">
                <a:latin typeface="Arial"/>
                <a:cs typeface="Arial"/>
              </a:rPr>
              <a:t> </a:t>
            </a:r>
            <a:r>
              <a:rPr sz="1000" i="1" spc="-5" dirty="0">
                <a:latin typeface="メイリオ"/>
                <a:cs typeface="メイリオ"/>
              </a:rPr>
              <a:t>⇒</a:t>
            </a:r>
            <a:r>
              <a:rPr sz="1000" i="1" spc="-65" dirty="0">
                <a:latin typeface="メイリオ"/>
                <a:cs typeface="メイリオ"/>
              </a:rPr>
              <a:t> </a:t>
            </a:r>
            <a:r>
              <a:rPr sz="1000" spc="-5" dirty="0">
                <a:latin typeface="Arial"/>
                <a:cs typeface="Arial"/>
              </a:rPr>
              <a:t>it becomes </a:t>
            </a:r>
            <a:r>
              <a:rPr sz="1000" dirty="0">
                <a:latin typeface="Arial"/>
                <a:cs typeface="Arial"/>
              </a:rPr>
              <a:t> </a:t>
            </a:r>
            <a:r>
              <a:rPr sz="1000" spc="-10" dirty="0">
                <a:solidFill>
                  <a:srgbClr val="0000FA"/>
                </a:solidFill>
                <a:latin typeface="Arial"/>
                <a:cs typeface="Arial"/>
              </a:rPr>
              <a:t>forwarder</a:t>
            </a:r>
            <a:r>
              <a:rPr sz="1000" spc="-10" dirty="0">
                <a:latin typeface="Arial"/>
                <a:cs typeface="Arial"/>
              </a:rPr>
              <a:t>;</a:t>
            </a:r>
            <a:r>
              <a:rPr sz="1000" spc="-5" dirty="0">
                <a:latin typeface="Arial"/>
                <a:cs typeface="Arial"/>
              </a:rPr>
              <a:t> </a:t>
            </a:r>
            <a:r>
              <a:rPr sz="1000" i="1" spc="-5" dirty="0">
                <a:latin typeface="Arial"/>
                <a:cs typeface="Arial"/>
              </a:rPr>
              <a:t>P</a:t>
            </a:r>
            <a:r>
              <a:rPr sz="1000" i="1" spc="75" dirty="0">
                <a:latin typeface="Arial"/>
                <a:cs typeface="Arial"/>
              </a:rPr>
              <a:t> </a:t>
            </a:r>
            <a:r>
              <a:rPr sz="1000" spc="-5" dirty="0">
                <a:latin typeface="Arial"/>
                <a:cs typeface="Arial"/>
              </a:rPr>
              <a:t>becomes child</a:t>
            </a:r>
            <a:r>
              <a:rPr sz="1000" dirty="0">
                <a:latin typeface="Arial"/>
                <a:cs typeface="Arial"/>
              </a:rPr>
              <a:t> </a:t>
            </a:r>
            <a:r>
              <a:rPr sz="1000" spc="-5" dirty="0">
                <a:latin typeface="Arial"/>
                <a:cs typeface="Arial"/>
              </a:rPr>
              <a:t>of</a:t>
            </a:r>
            <a:r>
              <a:rPr sz="1000" dirty="0">
                <a:latin typeface="Arial"/>
                <a:cs typeface="Arial"/>
              </a:rPr>
              <a:t> </a:t>
            </a:r>
            <a:r>
              <a:rPr sz="1000" i="1" spc="20" dirty="0">
                <a:latin typeface="Arial"/>
                <a:cs typeface="Arial"/>
              </a:rPr>
              <a:t>Q</a:t>
            </a:r>
            <a:r>
              <a:rPr sz="1000" spc="20" dirty="0">
                <a:latin typeface="Arial"/>
                <a:cs typeface="Arial"/>
              </a:rPr>
              <a:t>.</a:t>
            </a:r>
            <a:r>
              <a:rPr sz="1000" spc="65" dirty="0">
                <a:latin typeface="Arial"/>
                <a:cs typeface="Arial"/>
              </a:rPr>
              <a:t> </a:t>
            </a:r>
            <a:r>
              <a:rPr sz="1000" spc="-5" dirty="0">
                <a:solidFill>
                  <a:srgbClr val="FA0000"/>
                </a:solidFill>
                <a:latin typeface="Arial"/>
                <a:cs typeface="Arial"/>
              </a:rPr>
              <a:t>Join</a:t>
            </a:r>
            <a:r>
              <a:rPr sz="1000" dirty="0">
                <a:solidFill>
                  <a:srgbClr val="FA0000"/>
                </a:solidFill>
                <a:latin typeface="Arial"/>
                <a:cs typeface="Arial"/>
              </a:rPr>
              <a:t> </a:t>
            </a:r>
            <a:r>
              <a:rPr sz="1000" spc="-5" dirty="0">
                <a:solidFill>
                  <a:srgbClr val="FA0000"/>
                </a:solidFill>
                <a:latin typeface="Arial"/>
                <a:cs typeface="Arial"/>
              </a:rPr>
              <a:t>request</a:t>
            </a:r>
            <a:r>
              <a:rPr sz="1000" dirty="0">
                <a:solidFill>
                  <a:srgbClr val="FA0000"/>
                </a:solidFill>
                <a:latin typeface="Arial"/>
                <a:cs typeface="Arial"/>
              </a:rPr>
              <a:t> </a:t>
            </a:r>
            <a:r>
              <a:rPr sz="1000" spc="-5" dirty="0">
                <a:solidFill>
                  <a:srgbClr val="FA0000"/>
                </a:solidFill>
                <a:latin typeface="Arial"/>
                <a:cs typeface="Arial"/>
              </a:rPr>
              <a:t>continues</a:t>
            </a:r>
            <a:r>
              <a:rPr sz="1000" dirty="0">
                <a:solidFill>
                  <a:srgbClr val="FA0000"/>
                </a:solidFill>
                <a:latin typeface="Arial"/>
                <a:cs typeface="Arial"/>
              </a:rPr>
              <a:t> </a:t>
            </a:r>
            <a:r>
              <a:rPr sz="1000" spc="-5" dirty="0">
                <a:solidFill>
                  <a:srgbClr val="FA0000"/>
                </a:solidFill>
                <a:latin typeface="Arial"/>
                <a:cs typeface="Arial"/>
              </a:rPr>
              <a:t>to </a:t>
            </a:r>
            <a:r>
              <a:rPr sz="1000" spc="-260" dirty="0">
                <a:solidFill>
                  <a:srgbClr val="FA0000"/>
                </a:solidFill>
                <a:latin typeface="Arial"/>
                <a:cs typeface="Arial"/>
              </a:rPr>
              <a:t> </a:t>
            </a:r>
            <a:r>
              <a:rPr sz="1000" spc="-5" dirty="0">
                <a:solidFill>
                  <a:srgbClr val="FA0000"/>
                </a:solidFill>
                <a:latin typeface="Arial"/>
                <a:cs typeface="Arial"/>
              </a:rPr>
              <a:t>be</a:t>
            </a:r>
            <a:r>
              <a:rPr sz="1000" spc="-10" dirty="0">
                <a:solidFill>
                  <a:srgbClr val="FA0000"/>
                </a:solidFill>
                <a:latin typeface="Arial"/>
                <a:cs typeface="Arial"/>
              </a:rPr>
              <a:t> forwarded</a:t>
            </a:r>
            <a:r>
              <a:rPr sz="1000" spc="-10" dirty="0">
                <a:latin typeface="Arial"/>
                <a:cs typeface="Arial"/>
              </a:rPr>
              <a:t>.</a:t>
            </a:r>
            <a:endParaRPr sz="1000" dirty="0">
              <a:latin typeface="Arial"/>
              <a:cs typeface="Arial"/>
            </a:endParaRPr>
          </a:p>
          <a:p>
            <a:pPr marL="629920" marR="142875" lvl="1" indent="-168275">
              <a:lnSpc>
                <a:spcPts val="1200"/>
              </a:lnSpc>
              <a:spcBef>
                <a:spcPts val="25"/>
              </a:spcBef>
              <a:buClr>
                <a:srgbClr val="3333B2"/>
              </a:buClr>
              <a:buFont typeface="Arial"/>
              <a:buChar char="►"/>
              <a:tabLst>
                <a:tab pos="630555" algn="l"/>
              </a:tabLst>
            </a:pPr>
            <a:r>
              <a:rPr sz="1000" i="1" spc="-5" dirty="0">
                <a:latin typeface="Arial"/>
                <a:cs typeface="Arial"/>
              </a:rPr>
              <a:t>Q</a:t>
            </a:r>
            <a:r>
              <a:rPr sz="1000" i="1" spc="45" dirty="0">
                <a:latin typeface="Arial"/>
                <a:cs typeface="Arial"/>
              </a:rPr>
              <a:t> </a:t>
            </a:r>
            <a:r>
              <a:rPr sz="1000" spc="-10" dirty="0">
                <a:latin typeface="Arial"/>
                <a:cs typeface="Arial"/>
              </a:rPr>
              <a:t>knows</a:t>
            </a:r>
            <a:r>
              <a:rPr sz="1000" spc="-5" dirty="0">
                <a:latin typeface="Arial"/>
                <a:cs typeface="Arial"/>
              </a:rPr>
              <a:t> about</a:t>
            </a:r>
            <a:r>
              <a:rPr sz="1000" dirty="0">
                <a:latin typeface="Arial"/>
                <a:cs typeface="Arial"/>
              </a:rPr>
              <a:t> </a:t>
            </a:r>
            <a:r>
              <a:rPr sz="1000" spc="-5" dirty="0">
                <a:latin typeface="Arial"/>
                <a:cs typeface="Arial"/>
              </a:rPr>
              <a:t>tree </a:t>
            </a:r>
            <a:r>
              <a:rPr sz="1000" i="1" spc="-5" dirty="0">
                <a:latin typeface="メイリオ"/>
                <a:cs typeface="メイリオ"/>
              </a:rPr>
              <a:t>⇒</a:t>
            </a:r>
            <a:r>
              <a:rPr sz="1000" i="1" spc="-60" dirty="0">
                <a:latin typeface="メイリオ"/>
                <a:cs typeface="メイリオ"/>
              </a:rPr>
              <a:t> </a:t>
            </a:r>
            <a:r>
              <a:rPr sz="1000" i="1" spc="-5" dirty="0">
                <a:latin typeface="Arial"/>
                <a:cs typeface="Arial"/>
              </a:rPr>
              <a:t>P</a:t>
            </a:r>
            <a:r>
              <a:rPr sz="1000" i="1" spc="65" dirty="0">
                <a:latin typeface="Arial"/>
                <a:cs typeface="Arial"/>
              </a:rPr>
              <a:t> </a:t>
            </a:r>
            <a:r>
              <a:rPr sz="1000" spc="-5" dirty="0">
                <a:latin typeface="Arial"/>
                <a:cs typeface="Arial"/>
              </a:rPr>
              <a:t>becomes child</a:t>
            </a:r>
            <a:r>
              <a:rPr sz="1000" dirty="0">
                <a:latin typeface="Arial"/>
                <a:cs typeface="Arial"/>
              </a:rPr>
              <a:t> </a:t>
            </a:r>
            <a:r>
              <a:rPr sz="1000" spc="-5" dirty="0">
                <a:latin typeface="Arial"/>
                <a:cs typeface="Arial"/>
              </a:rPr>
              <a:t>of </a:t>
            </a:r>
            <a:r>
              <a:rPr sz="1000" i="1" spc="20" dirty="0">
                <a:latin typeface="Arial"/>
                <a:cs typeface="Arial"/>
              </a:rPr>
              <a:t>Q</a:t>
            </a:r>
            <a:r>
              <a:rPr sz="1000" spc="20" dirty="0">
                <a:latin typeface="Arial"/>
                <a:cs typeface="Arial"/>
              </a:rPr>
              <a:t>.</a:t>
            </a:r>
            <a:r>
              <a:rPr sz="1000" spc="65" dirty="0">
                <a:latin typeface="Arial"/>
                <a:cs typeface="Arial"/>
              </a:rPr>
              <a:t> </a:t>
            </a:r>
            <a:r>
              <a:rPr sz="1000" spc="-5" dirty="0">
                <a:solidFill>
                  <a:srgbClr val="FA0000"/>
                </a:solidFill>
                <a:latin typeface="Arial"/>
                <a:cs typeface="Arial"/>
              </a:rPr>
              <a:t>No need</a:t>
            </a:r>
            <a:r>
              <a:rPr sz="1000" dirty="0">
                <a:solidFill>
                  <a:srgbClr val="FA0000"/>
                </a:solidFill>
                <a:latin typeface="Arial"/>
                <a:cs typeface="Arial"/>
              </a:rPr>
              <a:t> </a:t>
            </a:r>
            <a:r>
              <a:rPr sz="1000" spc="-5" dirty="0">
                <a:solidFill>
                  <a:srgbClr val="FA0000"/>
                </a:solidFill>
                <a:latin typeface="Arial"/>
                <a:cs typeface="Arial"/>
              </a:rPr>
              <a:t>to </a:t>
            </a:r>
            <a:r>
              <a:rPr sz="1000" spc="-265" dirty="0">
                <a:solidFill>
                  <a:srgbClr val="FA0000"/>
                </a:solidFill>
                <a:latin typeface="Arial"/>
                <a:cs typeface="Arial"/>
              </a:rPr>
              <a:t> </a:t>
            </a:r>
            <a:r>
              <a:rPr sz="1000" spc="-10" dirty="0">
                <a:solidFill>
                  <a:srgbClr val="FA0000"/>
                </a:solidFill>
                <a:latin typeface="Arial"/>
                <a:cs typeface="Arial"/>
              </a:rPr>
              <a:t>forward </a:t>
            </a:r>
            <a:r>
              <a:rPr sz="1000" spc="-5" dirty="0">
                <a:solidFill>
                  <a:srgbClr val="FA0000"/>
                </a:solidFill>
                <a:latin typeface="Arial"/>
                <a:cs typeface="Arial"/>
              </a:rPr>
              <a:t>join request anymore</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Multicast</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162320" y="716"/>
            <a:ext cx="137922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Application-level tree-based</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multicasting</a:t>
            </a:r>
            <a:endParaRPr sz="600">
              <a:latin typeface="Arial"/>
              <a:cs typeface="Arial"/>
            </a:endParaRPr>
          </a:p>
        </p:txBody>
      </p:sp>
      <p:grpSp>
        <p:nvGrpSpPr>
          <p:cNvPr id="4" name="object 4"/>
          <p:cNvGrpSpPr/>
          <p:nvPr/>
        </p:nvGrpSpPr>
        <p:grpSpPr>
          <a:xfrm>
            <a:off x="1142900" y="769860"/>
            <a:ext cx="2320290" cy="1205865"/>
            <a:chOff x="1142900" y="769860"/>
            <a:chExt cx="2320290" cy="1205865"/>
          </a:xfrm>
        </p:grpSpPr>
        <p:sp>
          <p:nvSpPr>
            <p:cNvPr id="5" name="object 5"/>
            <p:cNvSpPr/>
            <p:nvPr/>
          </p:nvSpPr>
          <p:spPr>
            <a:xfrm>
              <a:off x="1297883" y="929108"/>
              <a:ext cx="2031364" cy="969644"/>
            </a:xfrm>
            <a:custGeom>
              <a:avLst/>
              <a:gdLst/>
              <a:ahLst/>
              <a:cxnLst/>
              <a:rect l="l" t="t" r="r" b="b"/>
              <a:pathLst>
                <a:path w="2031364" h="969644">
                  <a:moveTo>
                    <a:pt x="1148911" y="838607"/>
                  </a:moveTo>
                  <a:lnTo>
                    <a:pt x="1148338" y="871774"/>
                  </a:lnTo>
                  <a:lnTo>
                    <a:pt x="1159542" y="896592"/>
                  </a:lnTo>
                  <a:lnTo>
                    <a:pt x="1182566" y="912698"/>
                  </a:lnTo>
                  <a:lnTo>
                    <a:pt x="1217451" y="919727"/>
                  </a:lnTo>
                  <a:lnTo>
                    <a:pt x="1264241" y="917319"/>
                  </a:lnTo>
                  <a:lnTo>
                    <a:pt x="1322978" y="905107"/>
                  </a:lnTo>
                  <a:lnTo>
                    <a:pt x="1393704" y="882731"/>
                  </a:lnTo>
                  <a:lnTo>
                    <a:pt x="1441833" y="897330"/>
                  </a:lnTo>
                  <a:lnTo>
                    <a:pt x="1488814" y="888851"/>
                  </a:lnTo>
                  <a:lnTo>
                    <a:pt x="1527406" y="861221"/>
                  </a:lnTo>
                  <a:lnTo>
                    <a:pt x="1550365" y="818369"/>
                  </a:lnTo>
                  <a:lnTo>
                    <a:pt x="1600509" y="821891"/>
                  </a:lnTo>
                  <a:lnTo>
                    <a:pt x="1644845" y="819005"/>
                  </a:lnTo>
                  <a:lnTo>
                    <a:pt x="1679776" y="807924"/>
                  </a:lnTo>
                  <a:lnTo>
                    <a:pt x="1701705" y="786858"/>
                  </a:lnTo>
                  <a:lnTo>
                    <a:pt x="1707036" y="754020"/>
                  </a:lnTo>
                  <a:lnTo>
                    <a:pt x="1751737" y="770105"/>
                  </a:lnTo>
                  <a:lnTo>
                    <a:pt x="1794267" y="773439"/>
                  </a:lnTo>
                  <a:lnTo>
                    <a:pt x="1833826" y="765586"/>
                  </a:lnTo>
                  <a:lnTo>
                    <a:pt x="1869614" y="748108"/>
                  </a:lnTo>
                  <a:lnTo>
                    <a:pt x="1900831" y="722568"/>
                  </a:lnTo>
                  <a:lnTo>
                    <a:pt x="1926675" y="690526"/>
                  </a:lnTo>
                  <a:lnTo>
                    <a:pt x="1946347" y="653547"/>
                  </a:lnTo>
                  <a:lnTo>
                    <a:pt x="1959046" y="613191"/>
                  </a:lnTo>
                  <a:lnTo>
                    <a:pt x="1963972" y="571022"/>
                  </a:lnTo>
                  <a:lnTo>
                    <a:pt x="1988380" y="544903"/>
                  </a:lnTo>
                  <a:lnTo>
                    <a:pt x="2007150" y="512991"/>
                  </a:lnTo>
                  <a:lnTo>
                    <a:pt x="2020437" y="476563"/>
                  </a:lnTo>
                  <a:lnTo>
                    <a:pt x="2028396" y="436894"/>
                  </a:lnTo>
                  <a:lnTo>
                    <a:pt x="2031181" y="395260"/>
                  </a:lnTo>
                  <a:lnTo>
                    <a:pt x="2028945" y="352938"/>
                  </a:lnTo>
                  <a:lnTo>
                    <a:pt x="2021844" y="311202"/>
                  </a:lnTo>
                  <a:lnTo>
                    <a:pt x="2010031" y="271330"/>
                  </a:lnTo>
                  <a:lnTo>
                    <a:pt x="1993660" y="234596"/>
                  </a:lnTo>
                  <a:lnTo>
                    <a:pt x="1972886" y="202277"/>
                  </a:lnTo>
                  <a:lnTo>
                    <a:pt x="1918746" y="155987"/>
                  </a:lnTo>
                  <a:lnTo>
                    <a:pt x="1848844" y="142666"/>
                  </a:lnTo>
                  <a:lnTo>
                    <a:pt x="1819263" y="109202"/>
                  </a:lnTo>
                  <a:lnTo>
                    <a:pt x="1782926" y="85289"/>
                  </a:lnTo>
                  <a:lnTo>
                    <a:pt x="1741483" y="70117"/>
                  </a:lnTo>
                  <a:lnTo>
                    <a:pt x="1696583" y="62876"/>
                  </a:lnTo>
                  <a:lnTo>
                    <a:pt x="1649877" y="62753"/>
                  </a:lnTo>
                  <a:lnTo>
                    <a:pt x="1603016" y="68938"/>
                  </a:lnTo>
                  <a:lnTo>
                    <a:pt x="1557649" y="80620"/>
                  </a:lnTo>
                  <a:lnTo>
                    <a:pt x="1515428" y="96987"/>
                  </a:lnTo>
                  <a:lnTo>
                    <a:pt x="1478002" y="117229"/>
                  </a:lnTo>
                  <a:lnTo>
                    <a:pt x="1447022" y="140534"/>
                  </a:lnTo>
                  <a:lnTo>
                    <a:pt x="1411002" y="193090"/>
                  </a:lnTo>
                  <a:lnTo>
                    <a:pt x="1395801" y="154390"/>
                  </a:lnTo>
                  <a:lnTo>
                    <a:pt x="1371098" y="116733"/>
                  </a:lnTo>
                  <a:lnTo>
                    <a:pt x="1339588" y="82884"/>
                  </a:lnTo>
                  <a:lnTo>
                    <a:pt x="1303971" y="55607"/>
                  </a:lnTo>
                  <a:lnTo>
                    <a:pt x="1266944" y="37667"/>
                  </a:lnTo>
                  <a:lnTo>
                    <a:pt x="1231205" y="31826"/>
                  </a:lnTo>
                  <a:lnTo>
                    <a:pt x="1199450" y="40849"/>
                  </a:lnTo>
                  <a:lnTo>
                    <a:pt x="1174378" y="67500"/>
                  </a:lnTo>
                  <a:lnTo>
                    <a:pt x="1138821" y="43536"/>
                  </a:lnTo>
                  <a:lnTo>
                    <a:pt x="1099363" y="32316"/>
                  </a:lnTo>
                  <a:lnTo>
                    <a:pt x="1058624" y="32932"/>
                  </a:lnTo>
                  <a:lnTo>
                    <a:pt x="1019220" y="44476"/>
                  </a:lnTo>
                  <a:lnTo>
                    <a:pt x="983770" y="66038"/>
                  </a:lnTo>
                  <a:lnTo>
                    <a:pt x="954891" y="96712"/>
                  </a:lnTo>
                  <a:lnTo>
                    <a:pt x="935202" y="135588"/>
                  </a:lnTo>
                  <a:lnTo>
                    <a:pt x="916922" y="102318"/>
                  </a:lnTo>
                  <a:lnTo>
                    <a:pt x="892718" y="72691"/>
                  </a:lnTo>
                  <a:lnTo>
                    <a:pt x="863419" y="47301"/>
                  </a:lnTo>
                  <a:lnTo>
                    <a:pt x="829852" y="26743"/>
                  </a:lnTo>
                  <a:lnTo>
                    <a:pt x="792845" y="11611"/>
                  </a:lnTo>
                  <a:lnTo>
                    <a:pt x="753227" y="2499"/>
                  </a:lnTo>
                  <a:lnTo>
                    <a:pt x="711824" y="0"/>
                  </a:lnTo>
                  <a:lnTo>
                    <a:pt x="669464" y="4708"/>
                  </a:lnTo>
                  <a:lnTo>
                    <a:pt x="626976" y="17218"/>
                  </a:lnTo>
                  <a:lnTo>
                    <a:pt x="585187" y="38124"/>
                  </a:lnTo>
                  <a:lnTo>
                    <a:pt x="544924" y="68019"/>
                  </a:lnTo>
                  <a:lnTo>
                    <a:pt x="507017" y="107498"/>
                  </a:lnTo>
                  <a:lnTo>
                    <a:pt x="462173" y="100318"/>
                  </a:lnTo>
                  <a:lnTo>
                    <a:pt x="427746" y="106862"/>
                  </a:lnTo>
                  <a:lnTo>
                    <a:pt x="402865" y="125214"/>
                  </a:lnTo>
                  <a:lnTo>
                    <a:pt x="386664" y="153458"/>
                  </a:lnTo>
                  <a:lnTo>
                    <a:pt x="357718" y="132328"/>
                  </a:lnTo>
                  <a:lnTo>
                    <a:pt x="324463" y="119036"/>
                  </a:lnTo>
                  <a:lnTo>
                    <a:pt x="288367" y="113528"/>
                  </a:lnTo>
                  <a:lnTo>
                    <a:pt x="250898" y="115751"/>
                  </a:lnTo>
                  <a:lnTo>
                    <a:pt x="213522" y="125651"/>
                  </a:lnTo>
                  <a:lnTo>
                    <a:pt x="177709" y="143174"/>
                  </a:lnTo>
                  <a:lnTo>
                    <a:pt x="144924" y="168267"/>
                  </a:lnTo>
                  <a:lnTo>
                    <a:pt x="116637" y="200876"/>
                  </a:lnTo>
                  <a:lnTo>
                    <a:pt x="94314" y="240947"/>
                  </a:lnTo>
                  <a:lnTo>
                    <a:pt x="79423" y="288428"/>
                  </a:lnTo>
                  <a:lnTo>
                    <a:pt x="73431" y="343263"/>
                  </a:lnTo>
                  <a:lnTo>
                    <a:pt x="41907" y="361974"/>
                  </a:lnTo>
                  <a:lnTo>
                    <a:pt x="19713" y="402308"/>
                  </a:lnTo>
                  <a:lnTo>
                    <a:pt x="11261" y="452058"/>
                  </a:lnTo>
                  <a:lnTo>
                    <a:pt x="20965" y="499014"/>
                  </a:lnTo>
                  <a:lnTo>
                    <a:pt x="7101" y="541694"/>
                  </a:lnTo>
                  <a:lnTo>
                    <a:pt x="220" y="585376"/>
                  </a:lnTo>
                  <a:lnTo>
                    <a:pt x="0" y="628865"/>
                  </a:lnTo>
                  <a:lnTo>
                    <a:pt x="6115" y="670970"/>
                  </a:lnTo>
                  <a:lnTo>
                    <a:pt x="18244" y="710497"/>
                  </a:lnTo>
                  <a:lnTo>
                    <a:pt x="36063" y="746252"/>
                  </a:lnTo>
                  <a:lnTo>
                    <a:pt x="59248" y="777043"/>
                  </a:lnTo>
                  <a:lnTo>
                    <a:pt x="120424" y="818957"/>
                  </a:lnTo>
                  <a:lnTo>
                    <a:pt x="157769" y="827695"/>
                  </a:lnTo>
                  <a:lnTo>
                    <a:pt x="199186" y="826695"/>
                  </a:lnTo>
                  <a:lnTo>
                    <a:pt x="232554" y="868518"/>
                  </a:lnTo>
                  <a:lnTo>
                    <a:pt x="270552" y="888079"/>
                  </a:lnTo>
                  <a:lnTo>
                    <a:pt x="312020" y="885459"/>
                  </a:lnTo>
                  <a:lnTo>
                    <a:pt x="355802" y="860739"/>
                  </a:lnTo>
                  <a:lnTo>
                    <a:pt x="389770" y="898978"/>
                  </a:lnTo>
                  <a:lnTo>
                    <a:pt x="426379" y="928152"/>
                  </a:lnTo>
                  <a:lnTo>
                    <a:pt x="464900" y="948465"/>
                  </a:lnTo>
                  <a:lnTo>
                    <a:pt x="504601" y="960121"/>
                  </a:lnTo>
                  <a:lnTo>
                    <a:pt x="544754" y="963321"/>
                  </a:lnTo>
                  <a:lnTo>
                    <a:pt x="584627" y="958270"/>
                  </a:lnTo>
                  <a:lnTo>
                    <a:pt x="623490" y="945170"/>
                  </a:lnTo>
                  <a:lnTo>
                    <a:pt x="660614" y="924224"/>
                  </a:lnTo>
                  <a:lnTo>
                    <a:pt x="695267" y="895635"/>
                  </a:lnTo>
                  <a:lnTo>
                    <a:pt x="728672" y="927009"/>
                  </a:lnTo>
                  <a:lnTo>
                    <a:pt x="766452" y="949292"/>
                  </a:lnTo>
                  <a:lnTo>
                    <a:pt x="807534" y="963242"/>
                  </a:lnTo>
                  <a:lnTo>
                    <a:pt x="850845" y="969615"/>
                  </a:lnTo>
                  <a:lnTo>
                    <a:pt x="895314" y="969167"/>
                  </a:lnTo>
                  <a:lnTo>
                    <a:pt x="939867" y="962656"/>
                  </a:lnTo>
                  <a:lnTo>
                    <a:pt x="983433" y="950836"/>
                  </a:lnTo>
                  <a:lnTo>
                    <a:pt x="1024939" y="934466"/>
                  </a:lnTo>
                  <a:lnTo>
                    <a:pt x="1063312" y="914302"/>
                  </a:lnTo>
                  <a:lnTo>
                    <a:pt x="1097480" y="891099"/>
                  </a:lnTo>
                  <a:lnTo>
                    <a:pt x="1126370" y="865616"/>
                  </a:lnTo>
                  <a:lnTo>
                    <a:pt x="1148911" y="838607"/>
                  </a:lnTo>
                  <a:close/>
                </a:path>
              </a:pathLst>
            </a:custGeom>
            <a:ln w="5243">
              <a:solidFill>
                <a:srgbClr val="231F20"/>
              </a:solidFill>
            </a:ln>
          </p:spPr>
          <p:txBody>
            <a:bodyPr wrap="square" lIns="0" tIns="0" rIns="0" bIns="0" rtlCol="0"/>
            <a:lstStyle/>
            <a:p>
              <a:endParaRPr/>
            </a:p>
          </p:txBody>
        </p:sp>
        <p:sp>
          <p:nvSpPr>
            <p:cNvPr id="6" name="object 6"/>
            <p:cNvSpPr/>
            <p:nvPr/>
          </p:nvSpPr>
          <p:spPr>
            <a:xfrm>
              <a:off x="1222868" y="848391"/>
              <a:ext cx="2153920" cy="1012190"/>
            </a:xfrm>
            <a:custGeom>
              <a:avLst/>
              <a:gdLst/>
              <a:ahLst/>
              <a:cxnLst/>
              <a:rect l="l" t="t" r="r" b="b"/>
              <a:pathLst>
                <a:path w="2153920" h="1012189">
                  <a:moveTo>
                    <a:pt x="0" y="1011833"/>
                  </a:moveTo>
                  <a:lnTo>
                    <a:pt x="48274" y="1011167"/>
                  </a:lnTo>
                  <a:lnTo>
                    <a:pt x="93277" y="1009165"/>
                  </a:lnTo>
                  <a:lnTo>
                    <a:pt x="135121" y="1005877"/>
                  </a:lnTo>
                  <a:lnTo>
                    <a:pt x="173922" y="1001350"/>
                  </a:lnTo>
                  <a:lnTo>
                    <a:pt x="242850" y="988776"/>
                  </a:lnTo>
                  <a:lnTo>
                    <a:pt x="300976" y="971831"/>
                  </a:lnTo>
                  <a:lnTo>
                    <a:pt x="349213" y="950901"/>
                  </a:lnTo>
                  <a:lnTo>
                    <a:pt x="388475" y="926374"/>
                  </a:lnTo>
                  <a:lnTo>
                    <a:pt x="419677" y="898637"/>
                  </a:lnTo>
                  <a:lnTo>
                    <a:pt x="443734" y="868078"/>
                  </a:lnTo>
                  <a:lnTo>
                    <a:pt x="468420" y="817794"/>
                  </a:lnTo>
                  <a:lnTo>
                    <a:pt x="482172" y="763337"/>
                  </a:lnTo>
                  <a:lnTo>
                    <a:pt x="486789" y="725361"/>
                  </a:lnTo>
                  <a:lnTo>
                    <a:pt x="488831" y="686498"/>
                  </a:lnTo>
                  <a:lnTo>
                    <a:pt x="489214" y="647136"/>
                  </a:lnTo>
                  <a:lnTo>
                    <a:pt x="489068" y="627389"/>
                  </a:lnTo>
                  <a:lnTo>
                    <a:pt x="488851" y="607663"/>
                  </a:lnTo>
                  <a:lnTo>
                    <a:pt x="488675" y="588006"/>
                  </a:lnTo>
                  <a:lnTo>
                    <a:pt x="488908" y="549092"/>
                  </a:lnTo>
                  <a:lnTo>
                    <a:pt x="492431" y="492448"/>
                  </a:lnTo>
                  <a:lnTo>
                    <a:pt x="502505" y="439039"/>
                  </a:lnTo>
                  <a:lnTo>
                    <a:pt x="522215" y="390172"/>
                  </a:lnTo>
                  <a:lnTo>
                    <a:pt x="554649" y="347154"/>
                  </a:lnTo>
                  <a:lnTo>
                    <a:pt x="584863" y="322370"/>
                  </a:lnTo>
                  <a:lnTo>
                    <a:pt x="623018" y="301154"/>
                  </a:lnTo>
                  <a:lnTo>
                    <a:pt x="670027" y="283893"/>
                  </a:lnTo>
                  <a:lnTo>
                    <a:pt x="726805" y="270974"/>
                  </a:lnTo>
                  <a:lnTo>
                    <a:pt x="794266" y="262785"/>
                  </a:lnTo>
                  <a:lnTo>
                    <a:pt x="873325" y="259713"/>
                  </a:lnTo>
                  <a:lnTo>
                    <a:pt x="923214" y="257206"/>
                  </a:lnTo>
                  <a:lnTo>
                    <a:pt x="963666" y="250525"/>
                  </a:lnTo>
                  <a:lnTo>
                    <a:pt x="1020462" y="226724"/>
                  </a:lnTo>
                  <a:lnTo>
                    <a:pt x="1052115" y="192464"/>
                  </a:lnTo>
                  <a:lnTo>
                    <a:pt x="1067026" y="151902"/>
                  </a:lnTo>
                  <a:lnTo>
                    <a:pt x="1073597" y="109193"/>
                  </a:lnTo>
                  <a:lnTo>
                    <a:pt x="1076380" y="88332"/>
                  </a:lnTo>
                  <a:lnTo>
                    <a:pt x="1086192" y="50194"/>
                  </a:lnTo>
                  <a:lnTo>
                    <a:pt x="1127280" y="9740"/>
                  </a:lnTo>
                  <a:lnTo>
                    <a:pt x="1152208" y="2801"/>
                  </a:lnTo>
                  <a:lnTo>
                    <a:pt x="1184503" y="0"/>
                  </a:lnTo>
                </a:path>
                <a:path w="2153920" h="1012189">
                  <a:moveTo>
                    <a:pt x="2153495" y="902549"/>
                  </a:moveTo>
                  <a:lnTo>
                    <a:pt x="2106474" y="901673"/>
                  </a:lnTo>
                  <a:lnTo>
                    <a:pt x="2063319" y="899058"/>
                  </a:lnTo>
                  <a:lnTo>
                    <a:pt x="2023863" y="894783"/>
                  </a:lnTo>
                  <a:lnTo>
                    <a:pt x="1955391" y="881558"/>
                  </a:lnTo>
                  <a:lnTo>
                    <a:pt x="1899738" y="862614"/>
                  </a:lnTo>
                  <a:lnTo>
                    <a:pt x="1855586" y="838566"/>
                  </a:lnTo>
                  <a:lnTo>
                    <a:pt x="1821615" y="810032"/>
                  </a:lnTo>
                  <a:lnTo>
                    <a:pt x="1796506" y="777628"/>
                  </a:lnTo>
                  <a:lnTo>
                    <a:pt x="1778939" y="741969"/>
                  </a:lnTo>
                  <a:lnTo>
                    <a:pt x="1767594" y="703672"/>
                  </a:lnTo>
                  <a:lnTo>
                    <a:pt x="1761153" y="663353"/>
                  </a:lnTo>
                  <a:lnTo>
                    <a:pt x="1758296" y="621628"/>
                  </a:lnTo>
                  <a:lnTo>
                    <a:pt x="1757703" y="579113"/>
                  </a:lnTo>
                  <a:lnTo>
                    <a:pt x="1757843" y="557753"/>
                  </a:lnTo>
                  <a:lnTo>
                    <a:pt x="1758055" y="536426"/>
                  </a:lnTo>
                  <a:lnTo>
                    <a:pt x="1758174" y="515210"/>
                  </a:lnTo>
                  <a:lnTo>
                    <a:pt x="1757470" y="473417"/>
                  </a:lnTo>
                  <a:lnTo>
                    <a:pt x="1754412" y="432993"/>
                  </a:lnTo>
                  <a:lnTo>
                    <a:pt x="1747682" y="394551"/>
                  </a:lnTo>
                  <a:lnTo>
                    <a:pt x="1727813" y="341956"/>
                  </a:lnTo>
                  <a:lnTo>
                    <a:pt x="1692259" y="297289"/>
                  </a:lnTo>
                  <a:lnTo>
                    <a:pt x="1657643" y="272943"/>
                  </a:lnTo>
                  <a:lnTo>
                    <a:pt x="1612757" y="253662"/>
                  </a:lnTo>
                  <a:lnTo>
                    <a:pt x="1556282" y="240062"/>
                  </a:lnTo>
                  <a:lnTo>
                    <a:pt x="1486898" y="232758"/>
                  </a:lnTo>
                  <a:lnTo>
                    <a:pt x="1446953" y="231660"/>
                  </a:lnTo>
                  <a:lnTo>
                    <a:pt x="1399462" y="228515"/>
                  </a:lnTo>
                  <a:lnTo>
                    <a:pt x="1335259" y="207345"/>
                  </a:lnTo>
                  <a:lnTo>
                    <a:pt x="1302305" y="171673"/>
                  </a:lnTo>
                  <a:lnTo>
                    <a:pt x="1288856" y="127907"/>
                  </a:lnTo>
                  <a:lnTo>
                    <a:pt x="1283165" y="82451"/>
                  </a:lnTo>
                  <a:lnTo>
                    <a:pt x="1279558" y="61091"/>
                  </a:lnTo>
                  <a:lnTo>
                    <a:pt x="1273487" y="41710"/>
                  </a:lnTo>
                  <a:lnTo>
                    <a:pt x="1263483" y="25110"/>
                  </a:lnTo>
                  <a:lnTo>
                    <a:pt x="1248078" y="12091"/>
                  </a:lnTo>
                  <a:lnTo>
                    <a:pt x="1225803" y="3454"/>
                  </a:lnTo>
                  <a:lnTo>
                    <a:pt x="1195191" y="0"/>
                  </a:lnTo>
                </a:path>
              </a:pathLst>
            </a:custGeom>
            <a:ln w="21083">
              <a:solidFill>
                <a:srgbClr val="231F20"/>
              </a:solidFill>
            </a:ln>
          </p:spPr>
          <p:txBody>
            <a:bodyPr wrap="square" lIns="0" tIns="0" rIns="0" bIns="0" rtlCol="0"/>
            <a:lstStyle/>
            <a:p>
              <a:endParaRPr/>
            </a:p>
          </p:txBody>
        </p:sp>
        <p:sp>
          <p:nvSpPr>
            <p:cNvPr id="7" name="object 7"/>
            <p:cNvSpPr/>
            <p:nvPr/>
          </p:nvSpPr>
          <p:spPr>
            <a:xfrm>
              <a:off x="2408562" y="845755"/>
              <a:ext cx="0" cy="256540"/>
            </a:xfrm>
            <a:custGeom>
              <a:avLst/>
              <a:gdLst/>
              <a:ahLst/>
              <a:cxnLst/>
              <a:rect l="l" t="t" r="r" b="b"/>
              <a:pathLst>
                <a:path h="256540">
                  <a:moveTo>
                    <a:pt x="0" y="0"/>
                  </a:moveTo>
                  <a:lnTo>
                    <a:pt x="0" y="256024"/>
                  </a:lnTo>
                </a:path>
              </a:pathLst>
            </a:custGeom>
            <a:ln w="7653">
              <a:solidFill>
                <a:srgbClr val="231F20"/>
              </a:solidFill>
            </a:ln>
          </p:spPr>
          <p:txBody>
            <a:bodyPr wrap="square" lIns="0" tIns="0" rIns="0" bIns="0" rtlCol="0"/>
            <a:lstStyle/>
            <a:p>
              <a:endParaRPr/>
            </a:p>
          </p:txBody>
        </p:sp>
        <p:sp>
          <p:nvSpPr>
            <p:cNvPr id="8" name="object 8"/>
            <p:cNvSpPr/>
            <p:nvPr/>
          </p:nvSpPr>
          <p:spPr>
            <a:xfrm>
              <a:off x="1221431" y="987937"/>
              <a:ext cx="2163445" cy="873125"/>
            </a:xfrm>
            <a:custGeom>
              <a:avLst/>
              <a:gdLst/>
              <a:ahLst/>
              <a:cxnLst/>
              <a:rect l="l" t="t" r="r" b="b"/>
              <a:pathLst>
                <a:path w="2163445" h="873125">
                  <a:moveTo>
                    <a:pt x="2163017" y="0"/>
                  </a:moveTo>
                  <a:lnTo>
                    <a:pt x="2002925" y="262668"/>
                  </a:lnTo>
                  <a:lnTo>
                    <a:pt x="2020713" y="507549"/>
                  </a:lnTo>
                  <a:lnTo>
                    <a:pt x="2109653" y="688393"/>
                  </a:lnTo>
                  <a:lnTo>
                    <a:pt x="2163017" y="758951"/>
                  </a:lnTo>
                </a:path>
                <a:path w="2163445" h="873125">
                  <a:moveTo>
                    <a:pt x="40290" y="0"/>
                  </a:moveTo>
                  <a:lnTo>
                    <a:pt x="237945" y="328483"/>
                  </a:lnTo>
                  <a:lnTo>
                    <a:pt x="201434" y="607159"/>
                  </a:lnTo>
                  <a:lnTo>
                    <a:pt x="74278" y="800453"/>
                  </a:lnTo>
                  <a:lnTo>
                    <a:pt x="0" y="872790"/>
                  </a:lnTo>
                </a:path>
              </a:pathLst>
            </a:custGeom>
            <a:ln w="21083">
              <a:solidFill>
                <a:srgbClr val="231F20"/>
              </a:solidFill>
            </a:ln>
          </p:spPr>
          <p:txBody>
            <a:bodyPr wrap="square" lIns="0" tIns="0" rIns="0" bIns="0" rtlCol="0"/>
            <a:lstStyle/>
            <a:p>
              <a:endParaRPr/>
            </a:p>
          </p:txBody>
        </p:sp>
        <p:sp>
          <p:nvSpPr>
            <p:cNvPr id="9" name="object 9"/>
            <p:cNvSpPr/>
            <p:nvPr/>
          </p:nvSpPr>
          <p:spPr>
            <a:xfrm>
              <a:off x="3194710" y="987941"/>
              <a:ext cx="189865" cy="114300"/>
            </a:xfrm>
            <a:custGeom>
              <a:avLst/>
              <a:gdLst/>
              <a:ahLst/>
              <a:cxnLst/>
              <a:rect l="l" t="t" r="r" b="b"/>
              <a:pathLst>
                <a:path w="189864" h="114300">
                  <a:moveTo>
                    <a:pt x="189737" y="0"/>
                  </a:moveTo>
                  <a:lnTo>
                    <a:pt x="0" y="113838"/>
                  </a:lnTo>
                  <a:lnTo>
                    <a:pt x="189737" y="0"/>
                  </a:lnTo>
                  <a:close/>
                </a:path>
              </a:pathLst>
            </a:custGeom>
            <a:solidFill>
              <a:srgbClr val="231F20"/>
            </a:solidFill>
          </p:spPr>
          <p:txBody>
            <a:bodyPr wrap="square" lIns="0" tIns="0" rIns="0" bIns="0" rtlCol="0"/>
            <a:lstStyle/>
            <a:p>
              <a:endParaRPr/>
            </a:p>
          </p:txBody>
        </p:sp>
        <p:sp>
          <p:nvSpPr>
            <p:cNvPr id="10" name="object 10"/>
            <p:cNvSpPr/>
            <p:nvPr/>
          </p:nvSpPr>
          <p:spPr>
            <a:xfrm>
              <a:off x="3194710" y="987941"/>
              <a:ext cx="189865" cy="114300"/>
            </a:xfrm>
            <a:custGeom>
              <a:avLst/>
              <a:gdLst/>
              <a:ahLst/>
              <a:cxnLst/>
              <a:rect l="l" t="t" r="r" b="b"/>
              <a:pathLst>
                <a:path w="189864" h="114300">
                  <a:moveTo>
                    <a:pt x="189737" y="0"/>
                  </a:moveTo>
                  <a:lnTo>
                    <a:pt x="0" y="113838"/>
                  </a:lnTo>
                  <a:lnTo>
                    <a:pt x="189737" y="0"/>
                  </a:lnTo>
                  <a:close/>
                </a:path>
              </a:pathLst>
            </a:custGeom>
            <a:ln w="5270">
              <a:solidFill>
                <a:srgbClr val="231F20"/>
              </a:solidFill>
            </a:ln>
          </p:spPr>
          <p:txBody>
            <a:bodyPr wrap="square" lIns="0" tIns="0" rIns="0" bIns="0" rtlCol="0"/>
            <a:lstStyle/>
            <a:p>
              <a:endParaRPr/>
            </a:p>
          </p:txBody>
        </p:sp>
        <p:sp>
          <p:nvSpPr>
            <p:cNvPr id="11" name="object 11"/>
            <p:cNvSpPr/>
            <p:nvPr/>
          </p:nvSpPr>
          <p:spPr>
            <a:xfrm>
              <a:off x="3194710" y="1595098"/>
              <a:ext cx="189865" cy="152400"/>
            </a:xfrm>
            <a:custGeom>
              <a:avLst/>
              <a:gdLst/>
              <a:ahLst/>
              <a:cxnLst/>
              <a:rect l="l" t="t" r="r" b="b"/>
              <a:pathLst>
                <a:path w="189864" h="152400">
                  <a:moveTo>
                    <a:pt x="0" y="0"/>
                  </a:moveTo>
                  <a:lnTo>
                    <a:pt x="189737" y="151790"/>
                  </a:lnTo>
                  <a:lnTo>
                    <a:pt x="0" y="0"/>
                  </a:lnTo>
                  <a:close/>
                </a:path>
              </a:pathLst>
            </a:custGeom>
            <a:solidFill>
              <a:srgbClr val="231F20"/>
            </a:solidFill>
          </p:spPr>
          <p:txBody>
            <a:bodyPr wrap="square" lIns="0" tIns="0" rIns="0" bIns="0" rtlCol="0"/>
            <a:lstStyle/>
            <a:p>
              <a:endParaRPr/>
            </a:p>
          </p:txBody>
        </p:sp>
        <p:sp>
          <p:nvSpPr>
            <p:cNvPr id="12" name="object 12"/>
            <p:cNvSpPr/>
            <p:nvPr/>
          </p:nvSpPr>
          <p:spPr>
            <a:xfrm>
              <a:off x="3194710" y="1595098"/>
              <a:ext cx="189865" cy="152400"/>
            </a:xfrm>
            <a:custGeom>
              <a:avLst/>
              <a:gdLst/>
              <a:ahLst/>
              <a:cxnLst/>
              <a:rect l="l" t="t" r="r" b="b"/>
              <a:pathLst>
                <a:path w="189864" h="152400">
                  <a:moveTo>
                    <a:pt x="189737" y="151790"/>
                  </a:moveTo>
                  <a:lnTo>
                    <a:pt x="0" y="0"/>
                  </a:lnTo>
                  <a:lnTo>
                    <a:pt x="189737" y="151790"/>
                  </a:lnTo>
                  <a:close/>
                </a:path>
              </a:pathLst>
            </a:custGeom>
            <a:ln w="5270">
              <a:solidFill>
                <a:srgbClr val="231F20"/>
              </a:solidFill>
            </a:ln>
          </p:spPr>
          <p:txBody>
            <a:bodyPr wrap="square" lIns="0" tIns="0" rIns="0" bIns="0" rtlCol="0"/>
            <a:lstStyle/>
            <a:p>
              <a:endParaRPr/>
            </a:p>
          </p:txBody>
        </p:sp>
        <p:sp>
          <p:nvSpPr>
            <p:cNvPr id="13" name="object 13"/>
            <p:cNvSpPr/>
            <p:nvPr/>
          </p:nvSpPr>
          <p:spPr>
            <a:xfrm>
              <a:off x="1221435" y="1708945"/>
              <a:ext cx="266065" cy="152400"/>
            </a:xfrm>
            <a:custGeom>
              <a:avLst/>
              <a:gdLst/>
              <a:ahLst/>
              <a:cxnLst/>
              <a:rect l="l" t="t" r="r" b="b"/>
              <a:pathLst>
                <a:path w="266065" h="152400">
                  <a:moveTo>
                    <a:pt x="265633" y="0"/>
                  </a:moveTo>
                  <a:lnTo>
                    <a:pt x="0" y="151786"/>
                  </a:lnTo>
                  <a:lnTo>
                    <a:pt x="265633" y="0"/>
                  </a:lnTo>
                  <a:close/>
                </a:path>
              </a:pathLst>
            </a:custGeom>
            <a:solidFill>
              <a:srgbClr val="231F20"/>
            </a:solidFill>
          </p:spPr>
          <p:txBody>
            <a:bodyPr wrap="square" lIns="0" tIns="0" rIns="0" bIns="0" rtlCol="0"/>
            <a:lstStyle/>
            <a:p>
              <a:endParaRPr/>
            </a:p>
          </p:txBody>
        </p:sp>
        <p:sp>
          <p:nvSpPr>
            <p:cNvPr id="14" name="object 14"/>
            <p:cNvSpPr/>
            <p:nvPr/>
          </p:nvSpPr>
          <p:spPr>
            <a:xfrm>
              <a:off x="1221435" y="1708945"/>
              <a:ext cx="266065" cy="152400"/>
            </a:xfrm>
            <a:custGeom>
              <a:avLst/>
              <a:gdLst/>
              <a:ahLst/>
              <a:cxnLst/>
              <a:rect l="l" t="t" r="r" b="b"/>
              <a:pathLst>
                <a:path w="266065" h="152400">
                  <a:moveTo>
                    <a:pt x="0" y="151786"/>
                  </a:moveTo>
                  <a:lnTo>
                    <a:pt x="265633" y="0"/>
                  </a:lnTo>
                  <a:lnTo>
                    <a:pt x="0" y="151786"/>
                  </a:lnTo>
                  <a:close/>
                </a:path>
              </a:pathLst>
            </a:custGeom>
            <a:ln w="5270">
              <a:solidFill>
                <a:srgbClr val="231F20"/>
              </a:solidFill>
            </a:ln>
          </p:spPr>
          <p:txBody>
            <a:bodyPr wrap="square" lIns="0" tIns="0" rIns="0" bIns="0" rtlCol="0"/>
            <a:lstStyle/>
            <a:p>
              <a:endParaRPr/>
            </a:p>
          </p:txBody>
        </p:sp>
        <p:sp>
          <p:nvSpPr>
            <p:cNvPr id="15" name="object 15"/>
            <p:cNvSpPr/>
            <p:nvPr/>
          </p:nvSpPr>
          <p:spPr>
            <a:xfrm>
              <a:off x="1259382" y="987945"/>
              <a:ext cx="227965" cy="114300"/>
            </a:xfrm>
            <a:custGeom>
              <a:avLst/>
              <a:gdLst/>
              <a:ahLst/>
              <a:cxnLst/>
              <a:rect l="l" t="t" r="r" b="b"/>
              <a:pathLst>
                <a:path w="227965" h="114300">
                  <a:moveTo>
                    <a:pt x="0" y="0"/>
                  </a:moveTo>
                  <a:lnTo>
                    <a:pt x="227685" y="113842"/>
                  </a:lnTo>
                </a:path>
              </a:pathLst>
            </a:custGeom>
            <a:ln w="5270">
              <a:solidFill>
                <a:srgbClr val="231F20"/>
              </a:solidFill>
            </a:ln>
          </p:spPr>
          <p:txBody>
            <a:bodyPr wrap="square" lIns="0" tIns="0" rIns="0" bIns="0" rtlCol="0"/>
            <a:lstStyle/>
            <a:p>
              <a:endParaRPr/>
            </a:p>
          </p:txBody>
        </p:sp>
        <p:sp>
          <p:nvSpPr>
            <p:cNvPr id="16" name="object 16"/>
            <p:cNvSpPr/>
            <p:nvPr/>
          </p:nvSpPr>
          <p:spPr>
            <a:xfrm>
              <a:off x="1183483" y="912048"/>
              <a:ext cx="152400" cy="152400"/>
            </a:xfrm>
            <a:custGeom>
              <a:avLst/>
              <a:gdLst/>
              <a:ahLst/>
              <a:cxnLst/>
              <a:rect l="l" t="t" r="r" b="b"/>
              <a:pathLst>
                <a:path w="152400" h="152400">
                  <a:moveTo>
                    <a:pt x="75895" y="0"/>
                  </a:moveTo>
                  <a:lnTo>
                    <a:pt x="46354" y="5964"/>
                  </a:lnTo>
                  <a:lnTo>
                    <a:pt x="22230" y="22231"/>
                  </a:lnTo>
                  <a:lnTo>
                    <a:pt x="5964" y="46356"/>
                  </a:lnTo>
                  <a:lnTo>
                    <a:pt x="0" y="75897"/>
                  </a:lnTo>
                  <a:lnTo>
                    <a:pt x="5964" y="105437"/>
                  </a:lnTo>
                  <a:lnTo>
                    <a:pt x="22230" y="129561"/>
                  </a:lnTo>
                  <a:lnTo>
                    <a:pt x="46354" y="145827"/>
                  </a:lnTo>
                  <a:lnTo>
                    <a:pt x="75895" y="151792"/>
                  </a:lnTo>
                  <a:lnTo>
                    <a:pt x="105437" y="145827"/>
                  </a:lnTo>
                  <a:lnTo>
                    <a:pt x="129561" y="129561"/>
                  </a:lnTo>
                  <a:lnTo>
                    <a:pt x="145826" y="105437"/>
                  </a:lnTo>
                  <a:lnTo>
                    <a:pt x="151790" y="75897"/>
                  </a:lnTo>
                  <a:lnTo>
                    <a:pt x="145826" y="46356"/>
                  </a:lnTo>
                  <a:lnTo>
                    <a:pt x="129561" y="22231"/>
                  </a:lnTo>
                  <a:lnTo>
                    <a:pt x="105437" y="5964"/>
                  </a:lnTo>
                  <a:lnTo>
                    <a:pt x="75895" y="0"/>
                  </a:lnTo>
                  <a:close/>
                </a:path>
              </a:pathLst>
            </a:custGeom>
            <a:solidFill>
              <a:srgbClr val="FFFFFF"/>
            </a:solidFill>
          </p:spPr>
          <p:txBody>
            <a:bodyPr wrap="square" lIns="0" tIns="0" rIns="0" bIns="0" rtlCol="0"/>
            <a:lstStyle/>
            <a:p>
              <a:endParaRPr/>
            </a:p>
          </p:txBody>
        </p:sp>
        <p:sp>
          <p:nvSpPr>
            <p:cNvPr id="17" name="object 17"/>
            <p:cNvSpPr/>
            <p:nvPr/>
          </p:nvSpPr>
          <p:spPr>
            <a:xfrm>
              <a:off x="1183483" y="912048"/>
              <a:ext cx="152400" cy="152400"/>
            </a:xfrm>
            <a:custGeom>
              <a:avLst/>
              <a:gdLst/>
              <a:ahLst/>
              <a:cxnLst/>
              <a:rect l="l" t="t" r="r" b="b"/>
              <a:pathLst>
                <a:path w="152400" h="152400">
                  <a:moveTo>
                    <a:pt x="75895" y="151792"/>
                  </a:moveTo>
                  <a:lnTo>
                    <a:pt x="105437" y="145827"/>
                  </a:lnTo>
                  <a:lnTo>
                    <a:pt x="129561" y="129561"/>
                  </a:lnTo>
                  <a:lnTo>
                    <a:pt x="145826" y="105437"/>
                  </a:lnTo>
                  <a:lnTo>
                    <a:pt x="151790" y="75897"/>
                  </a:lnTo>
                  <a:lnTo>
                    <a:pt x="145826" y="46356"/>
                  </a:lnTo>
                  <a:lnTo>
                    <a:pt x="129561" y="22231"/>
                  </a:lnTo>
                  <a:lnTo>
                    <a:pt x="105437" y="5964"/>
                  </a:lnTo>
                  <a:lnTo>
                    <a:pt x="75895" y="0"/>
                  </a:lnTo>
                  <a:lnTo>
                    <a:pt x="46354" y="5964"/>
                  </a:lnTo>
                  <a:lnTo>
                    <a:pt x="22230" y="22231"/>
                  </a:lnTo>
                  <a:lnTo>
                    <a:pt x="5964" y="46356"/>
                  </a:lnTo>
                  <a:lnTo>
                    <a:pt x="0" y="75897"/>
                  </a:lnTo>
                  <a:lnTo>
                    <a:pt x="5964" y="105437"/>
                  </a:lnTo>
                  <a:lnTo>
                    <a:pt x="22230" y="129561"/>
                  </a:lnTo>
                  <a:lnTo>
                    <a:pt x="46354" y="145827"/>
                  </a:lnTo>
                  <a:lnTo>
                    <a:pt x="75895" y="151792"/>
                  </a:lnTo>
                  <a:close/>
                </a:path>
              </a:pathLst>
            </a:custGeom>
            <a:ln w="5270">
              <a:solidFill>
                <a:srgbClr val="231F20"/>
              </a:solidFill>
            </a:ln>
          </p:spPr>
          <p:txBody>
            <a:bodyPr wrap="square" lIns="0" tIns="0" rIns="0" bIns="0" rtlCol="0"/>
            <a:lstStyle/>
            <a:p>
              <a:endParaRPr/>
            </a:p>
          </p:txBody>
        </p:sp>
        <p:pic>
          <p:nvPicPr>
            <p:cNvPr id="18" name="object 18"/>
            <p:cNvPicPr/>
            <p:nvPr/>
          </p:nvPicPr>
          <p:blipFill>
            <a:blip r:embed="rId5" cstate="print"/>
            <a:stretch>
              <a:fillRect/>
            </a:stretch>
          </p:blipFill>
          <p:spPr>
            <a:xfrm>
              <a:off x="2328840" y="769860"/>
              <a:ext cx="157061" cy="157061"/>
            </a:xfrm>
            <a:prstGeom prst="rect">
              <a:avLst/>
            </a:prstGeom>
          </p:spPr>
        </p:pic>
        <p:pic>
          <p:nvPicPr>
            <p:cNvPr id="19" name="object 19"/>
            <p:cNvPicPr/>
            <p:nvPr/>
          </p:nvPicPr>
          <p:blipFill>
            <a:blip r:embed="rId6" cstate="print"/>
            <a:stretch>
              <a:fillRect/>
            </a:stretch>
          </p:blipFill>
          <p:spPr>
            <a:xfrm>
              <a:off x="1142900" y="1782197"/>
              <a:ext cx="157061" cy="157065"/>
            </a:xfrm>
            <a:prstGeom prst="rect">
              <a:avLst/>
            </a:prstGeom>
          </p:spPr>
        </p:pic>
        <p:pic>
          <p:nvPicPr>
            <p:cNvPr id="20" name="object 20"/>
            <p:cNvPicPr/>
            <p:nvPr/>
          </p:nvPicPr>
          <p:blipFill>
            <a:blip r:embed="rId7" cstate="print"/>
            <a:stretch>
              <a:fillRect/>
            </a:stretch>
          </p:blipFill>
          <p:spPr>
            <a:xfrm>
              <a:off x="3305917" y="1668358"/>
              <a:ext cx="157061" cy="157065"/>
            </a:xfrm>
            <a:prstGeom prst="rect">
              <a:avLst/>
            </a:prstGeom>
          </p:spPr>
        </p:pic>
        <p:pic>
          <p:nvPicPr>
            <p:cNvPr id="21" name="object 21"/>
            <p:cNvPicPr/>
            <p:nvPr/>
          </p:nvPicPr>
          <p:blipFill>
            <a:blip r:embed="rId8" cstate="print"/>
            <a:stretch>
              <a:fillRect/>
            </a:stretch>
          </p:blipFill>
          <p:spPr>
            <a:xfrm>
              <a:off x="3305917" y="909413"/>
              <a:ext cx="157061" cy="157059"/>
            </a:xfrm>
            <a:prstGeom prst="rect">
              <a:avLst/>
            </a:prstGeom>
          </p:spPr>
        </p:pic>
        <p:sp>
          <p:nvSpPr>
            <p:cNvPr id="22" name="object 22"/>
            <p:cNvSpPr/>
            <p:nvPr/>
          </p:nvSpPr>
          <p:spPr>
            <a:xfrm>
              <a:off x="1487072" y="1101780"/>
              <a:ext cx="152400" cy="114300"/>
            </a:xfrm>
            <a:custGeom>
              <a:avLst/>
              <a:gdLst/>
              <a:ahLst/>
              <a:cxnLst/>
              <a:rect l="l" t="t" r="r" b="b"/>
              <a:pathLst>
                <a:path w="152400" h="114300">
                  <a:moveTo>
                    <a:pt x="151786" y="0"/>
                  </a:moveTo>
                  <a:lnTo>
                    <a:pt x="0" y="0"/>
                  </a:lnTo>
                  <a:lnTo>
                    <a:pt x="0" y="113842"/>
                  </a:lnTo>
                  <a:lnTo>
                    <a:pt x="151786" y="113842"/>
                  </a:lnTo>
                  <a:lnTo>
                    <a:pt x="151786" y="0"/>
                  </a:lnTo>
                  <a:close/>
                </a:path>
              </a:pathLst>
            </a:custGeom>
            <a:solidFill>
              <a:srgbClr val="BBBDC0"/>
            </a:solidFill>
          </p:spPr>
          <p:txBody>
            <a:bodyPr wrap="square" lIns="0" tIns="0" rIns="0" bIns="0" rtlCol="0"/>
            <a:lstStyle/>
            <a:p>
              <a:endParaRPr/>
            </a:p>
          </p:txBody>
        </p:sp>
        <p:sp>
          <p:nvSpPr>
            <p:cNvPr id="23" name="object 23"/>
            <p:cNvSpPr/>
            <p:nvPr/>
          </p:nvSpPr>
          <p:spPr>
            <a:xfrm>
              <a:off x="1487072" y="1101780"/>
              <a:ext cx="152400" cy="114300"/>
            </a:xfrm>
            <a:custGeom>
              <a:avLst/>
              <a:gdLst/>
              <a:ahLst/>
              <a:cxnLst/>
              <a:rect l="l" t="t" r="r" b="b"/>
              <a:pathLst>
                <a:path w="152400" h="114300">
                  <a:moveTo>
                    <a:pt x="0" y="113842"/>
                  </a:moveTo>
                  <a:lnTo>
                    <a:pt x="151786" y="113842"/>
                  </a:lnTo>
                  <a:lnTo>
                    <a:pt x="151786" y="0"/>
                  </a:lnTo>
                  <a:lnTo>
                    <a:pt x="0" y="0"/>
                  </a:lnTo>
                  <a:lnTo>
                    <a:pt x="0" y="113842"/>
                  </a:lnTo>
                  <a:close/>
                </a:path>
              </a:pathLst>
            </a:custGeom>
            <a:ln w="5270">
              <a:solidFill>
                <a:srgbClr val="231F20"/>
              </a:solidFill>
            </a:ln>
          </p:spPr>
          <p:txBody>
            <a:bodyPr wrap="square" lIns="0" tIns="0" rIns="0" bIns="0" rtlCol="0"/>
            <a:lstStyle/>
            <a:p>
              <a:endParaRPr/>
            </a:p>
          </p:txBody>
        </p:sp>
        <p:sp>
          <p:nvSpPr>
            <p:cNvPr id="24" name="object 24"/>
            <p:cNvSpPr/>
            <p:nvPr/>
          </p:nvSpPr>
          <p:spPr>
            <a:xfrm>
              <a:off x="1487068" y="1595103"/>
              <a:ext cx="152400" cy="114300"/>
            </a:xfrm>
            <a:custGeom>
              <a:avLst/>
              <a:gdLst/>
              <a:ahLst/>
              <a:cxnLst/>
              <a:rect l="l" t="t" r="r" b="b"/>
              <a:pathLst>
                <a:path w="152400" h="114300">
                  <a:moveTo>
                    <a:pt x="151786" y="0"/>
                  </a:moveTo>
                  <a:lnTo>
                    <a:pt x="0" y="0"/>
                  </a:lnTo>
                  <a:lnTo>
                    <a:pt x="0" y="113842"/>
                  </a:lnTo>
                  <a:lnTo>
                    <a:pt x="151786" y="113842"/>
                  </a:lnTo>
                  <a:lnTo>
                    <a:pt x="151786" y="0"/>
                  </a:lnTo>
                  <a:close/>
                </a:path>
              </a:pathLst>
            </a:custGeom>
            <a:solidFill>
              <a:srgbClr val="BBBDC0"/>
            </a:solidFill>
          </p:spPr>
          <p:txBody>
            <a:bodyPr wrap="square" lIns="0" tIns="0" rIns="0" bIns="0" rtlCol="0"/>
            <a:lstStyle/>
            <a:p>
              <a:endParaRPr/>
            </a:p>
          </p:txBody>
        </p:sp>
        <p:sp>
          <p:nvSpPr>
            <p:cNvPr id="25" name="object 25"/>
            <p:cNvSpPr/>
            <p:nvPr/>
          </p:nvSpPr>
          <p:spPr>
            <a:xfrm>
              <a:off x="1487068" y="1595103"/>
              <a:ext cx="152400" cy="114300"/>
            </a:xfrm>
            <a:custGeom>
              <a:avLst/>
              <a:gdLst/>
              <a:ahLst/>
              <a:cxnLst/>
              <a:rect l="l" t="t" r="r" b="b"/>
              <a:pathLst>
                <a:path w="152400" h="114300">
                  <a:moveTo>
                    <a:pt x="0" y="113842"/>
                  </a:moveTo>
                  <a:lnTo>
                    <a:pt x="151786" y="113842"/>
                  </a:lnTo>
                  <a:lnTo>
                    <a:pt x="151786" y="0"/>
                  </a:lnTo>
                  <a:lnTo>
                    <a:pt x="0" y="0"/>
                  </a:lnTo>
                  <a:lnTo>
                    <a:pt x="0" y="113842"/>
                  </a:lnTo>
                  <a:close/>
                </a:path>
              </a:pathLst>
            </a:custGeom>
            <a:ln w="5270">
              <a:solidFill>
                <a:srgbClr val="231F20"/>
              </a:solidFill>
            </a:ln>
          </p:spPr>
          <p:txBody>
            <a:bodyPr wrap="square" lIns="0" tIns="0" rIns="0" bIns="0" rtlCol="0"/>
            <a:lstStyle/>
            <a:p>
              <a:endParaRPr/>
            </a:p>
          </p:txBody>
        </p:sp>
        <p:sp>
          <p:nvSpPr>
            <p:cNvPr id="26" name="object 26"/>
            <p:cNvSpPr/>
            <p:nvPr/>
          </p:nvSpPr>
          <p:spPr>
            <a:xfrm>
              <a:off x="3042919" y="1101784"/>
              <a:ext cx="152400" cy="114300"/>
            </a:xfrm>
            <a:custGeom>
              <a:avLst/>
              <a:gdLst/>
              <a:ahLst/>
              <a:cxnLst/>
              <a:rect l="l" t="t" r="r" b="b"/>
              <a:pathLst>
                <a:path w="152400" h="114300">
                  <a:moveTo>
                    <a:pt x="151790" y="0"/>
                  </a:moveTo>
                  <a:lnTo>
                    <a:pt x="0" y="0"/>
                  </a:lnTo>
                  <a:lnTo>
                    <a:pt x="0" y="113842"/>
                  </a:lnTo>
                  <a:lnTo>
                    <a:pt x="151790" y="113842"/>
                  </a:lnTo>
                  <a:lnTo>
                    <a:pt x="151790" y="0"/>
                  </a:lnTo>
                  <a:close/>
                </a:path>
              </a:pathLst>
            </a:custGeom>
            <a:solidFill>
              <a:srgbClr val="BBBDC0"/>
            </a:solidFill>
          </p:spPr>
          <p:txBody>
            <a:bodyPr wrap="square" lIns="0" tIns="0" rIns="0" bIns="0" rtlCol="0"/>
            <a:lstStyle/>
            <a:p>
              <a:endParaRPr/>
            </a:p>
          </p:txBody>
        </p:sp>
        <p:sp>
          <p:nvSpPr>
            <p:cNvPr id="27" name="object 27"/>
            <p:cNvSpPr/>
            <p:nvPr/>
          </p:nvSpPr>
          <p:spPr>
            <a:xfrm>
              <a:off x="3042919" y="1101784"/>
              <a:ext cx="152400" cy="114300"/>
            </a:xfrm>
            <a:custGeom>
              <a:avLst/>
              <a:gdLst/>
              <a:ahLst/>
              <a:cxnLst/>
              <a:rect l="l" t="t" r="r" b="b"/>
              <a:pathLst>
                <a:path w="152400" h="114300">
                  <a:moveTo>
                    <a:pt x="0" y="113842"/>
                  </a:moveTo>
                  <a:lnTo>
                    <a:pt x="151790" y="113842"/>
                  </a:lnTo>
                  <a:lnTo>
                    <a:pt x="151790" y="0"/>
                  </a:lnTo>
                  <a:lnTo>
                    <a:pt x="0" y="0"/>
                  </a:lnTo>
                  <a:lnTo>
                    <a:pt x="0" y="113842"/>
                  </a:lnTo>
                  <a:close/>
                </a:path>
              </a:pathLst>
            </a:custGeom>
            <a:ln w="5270">
              <a:solidFill>
                <a:srgbClr val="231F20"/>
              </a:solidFill>
            </a:ln>
          </p:spPr>
          <p:txBody>
            <a:bodyPr wrap="square" lIns="0" tIns="0" rIns="0" bIns="0" rtlCol="0"/>
            <a:lstStyle/>
            <a:p>
              <a:endParaRPr/>
            </a:p>
          </p:txBody>
        </p:sp>
        <p:sp>
          <p:nvSpPr>
            <p:cNvPr id="28" name="object 28"/>
            <p:cNvSpPr/>
            <p:nvPr/>
          </p:nvSpPr>
          <p:spPr>
            <a:xfrm>
              <a:off x="1562963" y="1215622"/>
              <a:ext cx="1556385" cy="379730"/>
            </a:xfrm>
            <a:custGeom>
              <a:avLst/>
              <a:gdLst/>
              <a:ahLst/>
              <a:cxnLst/>
              <a:rect l="l" t="t" r="r" b="b"/>
              <a:pathLst>
                <a:path w="1556385" h="379730">
                  <a:moveTo>
                    <a:pt x="0" y="379475"/>
                  </a:moveTo>
                  <a:lnTo>
                    <a:pt x="0" y="8"/>
                  </a:lnTo>
                </a:path>
                <a:path w="1556385" h="379730">
                  <a:moveTo>
                    <a:pt x="1555851" y="0"/>
                  </a:moveTo>
                  <a:lnTo>
                    <a:pt x="1555851" y="265633"/>
                  </a:lnTo>
                </a:path>
              </a:pathLst>
            </a:custGeom>
            <a:ln w="5270">
              <a:solidFill>
                <a:srgbClr val="231F20"/>
              </a:solidFill>
              <a:prstDash val="lgDash"/>
            </a:ln>
          </p:spPr>
          <p:txBody>
            <a:bodyPr wrap="square" lIns="0" tIns="0" rIns="0" bIns="0" rtlCol="0"/>
            <a:lstStyle/>
            <a:p>
              <a:endParaRPr/>
            </a:p>
          </p:txBody>
        </p:sp>
        <p:sp>
          <p:nvSpPr>
            <p:cNvPr id="29" name="object 29"/>
            <p:cNvSpPr/>
            <p:nvPr/>
          </p:nvSpPr>
          <p:spPr>
            <a:xfrm>
              <a:off x="1638858" y="1158701"/>
              <a:ext cx="1404620" cy="0"/>
            </a:xfrm>
            <a:custGeom>
              <a:avLst/>
              <a:gdLst/>
              <a:ahLst/>
              <a:cxnLst/>
              <a:rect l="l" t="t" r="r" b="b"/>
              <a:pathLst>
                <a:path w="1404620">
                  <a:moveTo>
                    <a:pt x="0" y="0"/>
                  </a:moveTo>
                  <a:lnTo>
                    <a:pt x="694999" y="0"/>
                  </a:lnTo>
                </a:path>
                <a:path w="1404620">
                  <a:moveTo>
                    <a:pt x="846785" y="0"/>
                  </a:moveTo>
                  <a:lnTo>
                    <a:pt x="1404061" y="0"/>
                  </a:lnTo>
                </a:path>
              </a:pathLst>
            </a:custGeom>
            <a:ln w="5270">
              <a:solidFill>
                <a:srgbClr val="231F20"/>
              </a:solidFill>
              <a:prstDash val="lgDash"/>
            </a:ln>
          </p:spPr>
          <p:txBody>
            <a:bodyPr wrap="square" lIns="0" tIns="0" rIns="0" bIns="0" rtlCol="0"/>
            <a:lstStyle/>
            <a:p>
              <a:endParaRPr/>
            </a:p>
          </p:txBody>
        </p:sp>
        <p:sp>
          <p:nvSpPr>
            <p:cNvPr id="30" name="object 30"/>
            <p:cNvSpPr/>
            <p:nvPr/>
          </p:nvSpPr>
          <p:spPr>
            <a:xfrm>
              <a:off x="1637141" y="1538263"/>
              <a:ext cx="1483360" cy="114300"/>
            </a:xfrm>
            <a:custGeom>
              <a:avLst/>
              <a:gdLst/>
              <a:ahLst/>
              <a:cxnLst/>
              <a:rect l="l" t="t" r="r" b="b"/>
              <a:pathLst>
                <a:path w="1483360" h="114300">
                  <a:moveTo>
                    <a:pt x="0" y="114007"/>
                  </a:moveTo>
                  <a:lnTo>
                    <a:pt x="1482991" y="0"/>
                  </a:lnTo>
                </a:path>
              </a:pathLst>
            </a:custGeom>
            <a:ln w="5270">
              <a:solidFill>
                <a:srgbClr val="231F20"/>
              </a:solidFill>
              <a:prstDash val="lgDash"/>
            </a:ln>
          </p:spPr>
          <p:txBody>
            <a:bodyPr wrap="square" lIns="0" tIns="0" rIns="0" bIns="0" rtlCol="0"/>
            <a:lstStyle/>
            <a:p>
              <a:endParaRPr/>
            </a:p>
          </p:txBody>
        </p:sp>
        <p:sp>
          <p:nvSpPr>
            <p:cNvPr id="31" name="object 31"/>
            <p:cNvSpPr/>
            <p:nvPr/>
          </p:nvSpPr>
          <p:spPr>
            <a:xfrm>
              <a:off x="1509571" y="949985"/>
              <a:ext cx="1571625" cy="1023619"/>
            </a:xfrm>
            <a:custGeom>
              <a:avLst/>
              <a:gdLst/>
              <a:ahLst/>
              <a:cxnLst/>
              <a:rect l="l" t="t" r="r" b="b"/>
              <a:pathLst>
                <a:path w="1571625" h="1023619">
                  <a:moveTo>
                    <a:pt x="1495401" y="0"/>
                  </a:moveTo>
                  <a:lnTo>
                    <a:pt x="1571296" y="151794"/>
                  </a:lnTo>
                </a:path>
                <a:path w="1571625" h="1023619">
                  <a:moveTo>
                    <a:pt x="0" y="886666"/>
                  </a:moveTo>
                  <a:lnTo>
                    <a:pt x="145470" y="1022995"/>
                  </a:lnTo>
                </a:path>
              </a:pathLst>
            </a:custGeom>
            <a:ln w="5270">
              <a:solidFill>
                <a:srgbClr val="231F20"/>
              </a:solidFill>
            </a:ln>
          </p:spPr>
          <p:txBody>
            <a:bodyPr wrap="square" lIns="0" tIns="0" rIns="0" bIns="0" rtlCol="0"/>
            <a:lstStyle/>
            <a:p>
              <a:endParaRPr/>
            </a:p>
          </p:txBody>
        </p:sp>
        <p:sp>
          <p:nvSpPr>
            <p:cNvPr id="32" name="object 32"/>
            <p:cNvSpPr/>
            <p:nvPr/>
          </p:nvSpPr>
          <p:spPr>
            <a:xfrm>
              <a:off x="3159134" y="1616708"/>
              <a:ext cx="52705" cy="75565"/>
            </a:xfrm>
            <a:custGeom>
              <a:avLst/>
              <a:gdLst/>
              <a:ahLst/>
              <a:cxnLst/>
              <a:rect l="l" t="t" r="r" b="b"/>
              <a:pathLst>
                <a:path w="52705" h="75564">
                  <a:moveTo>
                    <a:pt x="52709" y="0"/>
                  </a:moveTo>
                  <a:lnTo>
                    <a:pt x="0" y="0"/>
                  </a:lnTo>
                  <a:lnTo>
                    <a:pt x="0" y="75104"/>
                  </a:lnTo>
                  <a:lnTo>
                    <a:pt x="52709" y="75104"/>
                  </a:lnTo>
                  <a:lnTo>
                    <a:pt x="52709" y="0"/>
                  </a:lnTo>
                  <a:close/>
                </a:path>
              </a:pathLst>
            </a:custGeom>
            <a:solidFill>
              <a:srgbClr val="FFFFFF"/>
            </a:solidFill>
          </p:spPr>
          <p:txBody>
            <a:bodyPr wrap="square" lIns="0" tIns="0" rIns="0" bIns="0" rtlCol="0"/>
            <a:lstStyle/>
            <a:p>
              <a:endParaRPr/>
            </a:p>
          </p:txBody>
        </p:sp>
        <p:sp>
          <p:nvSpPr>
            <p:cNvPr id="33" name="object 33"/>
            <p:cNvSpPr/>
            <p:nvPr/>
          </p:nvSpPr>
          <p:spPr>
            <a:xfrm>
              <a:off x="2333858" y="1101780"/>
              <a:ext cx="152400" cy="114300"/>
            </a:xfrm>
            <a:custGeom>
              <a:avLst/>
              <a:gdLst/>
              <a:ahLst/>
              <a:cxnLst/>
              <a:rect l="l" t="t" r="r" b="b"/>
              <a:pathLst>
                <a:path w="152400" h="114300">
                  <a:moveTo>
                    <a:pt x="151786" y="0"/>
                  </a:moveTo>
                  <a:lnTo>
                    <a:pt x="0" y="0"/>
                  </a:lnTo>
                  <a:lnTo>
                    <a:pt x="0" y="113842"/>
                  </a:lnTo>
                  <a:lnTo>
                    <a:pt x="151786" y="113842"/>
                  </a:lnTo>
                  <a:lnTo>
                    <a:pt x="151786" y="0"/>
                  </a:lnTo>
                  <a:close/>
                </a:path>
              </a:pathLst>
            </a:custGeom>
            <a:solidFill>
              <a:srgbClr val="BBBDC0"/>
            </a:solidFill>
          </p:spPr>
          <p:txBody>
            <a:bodyPr wrap="square" lIns="0" tIns="0" rIns="0" bIns="0" rtlCol="0"/>
            <a:lstStyle/>
            <a:p>
              <a:endParaRPr/>
            </a:p>
          </p:txBody>
        </p:sp>
        <p:sp>
          <p:nvSpPr>
            <p:cNvPr id="34" name="object 34"/>
            <p:cNvSpPr/>
            <p:nvPr/>
          </p:nvSpPr>
          <p:spPr>
            <a:xfrm>
              <a:off x="2333858" y="1101780"/>
              <a:ext cx="152400" cy="114300"/>
            </a:xfrm>
            <a:custGeom>
              <a:avLst/>
              <a:gdLst/>
              <a:ahLst/>
              <a:cxnLst/>
              <a:rect l="l" t="t" r="r" b="b"/>
              <a:pathLst>
                <a:path w="152400" h="114300">
                  <a:moveTo>
                    <a:pt x="0" y="113842"/>
                  </a:moveTo>
                  <a:lnTo>
                    <a:pt x="151786" y="113842"/>
                  </a:lnTo>
                  <a:lnTo>
                    <a:pt x="151786" y="0"/>
                  </a:lnTo>
                  <a:lnTo>
                    <a:pt x="0" y="0"/>
                  </a:lnTo>
                  <a:lnTo>
                    <a:pt x="0" y="113842"/>
                  </a:lnTo>
                  <a:close/>
                </a:path>
              </a:pathLst>
            </a:custGeom>
            <a:ln w="5270">
              <a:solidFill>
                <a:srgbClr val="231F20"/>
              </a:solidFill>
            </a:ln>
          </p:spPr>
          <p:txBody>
            <a:bodyPr wrap="square" lIns="0" tIns="0" rIns="0" bIns="0" rtlCol="0"/>
            <a:lstStyle/>
            <a:p>
              <a:endParaRPr/>
            </a:p>
          </p:txBody>
        </p:sp>
      </p:grpSp>
      <p:sp>
        <p:nvSpPr>
          <p:cNvPr id="35" name="object 35"/>
          <p:cNvSpPr txBox="1"/>
          <p:nvPr/>
        </p:nvSpPr>
        <p:spPr>
          <a:xfrm>
            <a:off x="1487072" y="1101780"/>
            <a:ext cx="152400" cy="114300"/>
          </a:xfrm>
          <a:prstGeom prst="rect">
            <a:avLst/>
          </a:prstGeom>
        </p:spPr>
        <p:txBody>
          <a:bodyPr vert="horz" wrap="square" lIns="0" tIns="3810" rIns="0" bIns="0" rtlCol="0">
            <a:spAutoFit/>
          </a:bodyPr>
          <a:lstStyle/>
          <a:p>
            <a:pPr marL="21590">
              <a:lnSpc>
                <a:spcPct val="100000"/>
              </a:lnSpc>
              <a:spcBef>
                <a:spcPts val="30"/>
              </a:spcBef>
            </a:pPr>
            <a:r>
              <a:rPr sz="650" spc="5" dirty="0">
                <a:solidFill>
                  <a:srgbClr val="231F20"/>
                </a:solidFill>
                <a:latin typeface="Helvetica"/>
                <a:cs typeface="Helvetica"/>
              </a:rPr>
              <a:t>Ra</a:t>
            </a:r>
            <a:endParaRPr sz="650">
              <a:latin typeface="Helvetica"/>
              <a:cs typeface="Helvetica"/>
            </a:endParaRPr>
          </a:p>
        </p:txBody>
      </p:sp>
      <p:sp>
        <p:nvSpPr>
          <p:cNvPr id="36" name="object 36"/>
          <p:cNvSpPr txBox="1"/>
          <p:nvPr/>
        </p:nvSpPr>
        <p:spPr>
          <a:xfrm>
            <a:off x="3042919" y="1101784"/>
            <a:ext cx="152400" cy="114300"/>
          </a:xfrm>
          <a:prstGeom prst="rect">
            <a:avLst/>
          </a:prstGeom>
        </p:spPr>
        <p:txBody>
          <a:bodyPr vert="horz" wrap="square" lIns="0" tIns="3810" rIns="0" bIns="0" rtlCol="0">
            <a:spAutoFit/>
          </a:bodyPr>
          <a:lstStyle/>
          <a:p>
            <a:pPr marL="24130">
              <a:lnSpc>
                <a:spcPct val="100000"/>
              </a:lnSpc>
              <a:spcBef>
                <a:spcPts val="30"/>
              </a:spcBef>
            </a:pPr>
            <a:r>
              <a:rPr sz="650" spc="5" dirty="0">
                <a:solidFill>
                  <a:srgbClr val="231F20"/>
                </a:solidFill>
                <a:latin typeface="Helvetica"/>
                <a:cs typeface="Helvetica"/>
              </a:rPr>
              <a:t>Rc</a:t>
            </a:r>
            <a:endParaRPr sz="650">
              <a:latin typeface="Helvetica"/>
              <a:cs typeface="Helvetica"/>
            </a:endParaRPr>
          </a:p>
        </p:txBody>
      </p:sp>
      <p:sp>
        <p:nvSpPr>
          <p:cNvPr id="37" name="object 37"/>
          <p:cNvSpPr txBox="1"/>
          <p:nvPr/>
        </p:nvSpPr>
        <p:spPr>
          <a:xfrm>
            <a:off x="2333858" y="1101780"/>
            <a:ext cx="152400" cy="114300"/>
          </a:xfrm>
          <a:prstGeom prst="rect">
            <a:avLst/>
          </a:prstGeom>
        </p:spPr>
        <p:txBody>
          <a:bodyPr vert="horz" wrap="square" lIns="0" tIns="3810" rIns="0" bIns="0" rtlCol="0">
            <a:spAutoFit/>
          </a:bodyPr>
          <a:lstStyle/>
          <a:p>
            <a:pPr marL="21590">
              <a:lnSpc>
                <a:spcPct val="100000"/>
              </a:lnSpc>
              <a:spcBef>
                <a:spcPts val="30"/>
              </a:spcBef>
            </a:pPr>
            <a:r>
              <a:rPr sz="650" spc="5" dirty="0">
                <a:solidFill>
                  <a:srgbClr val="231F20"/>
                </a:solidFill>
                <a:latin typeface="Helvetica"/>
                <a:cs typeface="Helvetica"/>
              </a:rPr>
              <a:t>Re</a:t>
            </a:r>
            <a:endParaRPr sz="650">
              <a:latin typeface="Helvetica"/>
              <a:cs typeface="Helvetica"/>
            </a:endParaRPr>
          </a:p>
        </p:txBody>
      </p:sp>
      <p:sp>
        <p:nvSpPr>
          <p:cNvPr id="38" name="object 38"/>
          <p:cNvSpPr txBox="1"/>
          <p:nvPr/>
        </p:nvSpPr>
        <p:spPr>
          <a:xfrm>
            <a:off x="3341315" y="1679633"/>
            <a:ext cx="8636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Helvetica"/>
                <a:cs typeface="Helvetica"/>
              </a:rPr>
              <a:t>D</a:t>
            </a:r>
            <a:endParaRPr sz="650">
              <a:latin typeface="Helvetica"/>
              <a:cs typeface="Helvetica"/>
            </a:endParaRPr>
          </a:p>
        </p:txBody>
      </p:sp>
      <p:sp>
        <p:nvSpPr>
          <p:cNvPr id="39" name="object 39"/>
          <p:cNvSpPr txBox="1"/>
          <p:nvPr/>
        </p:nvSpPr>
        <p:spPr>
          <a:xfrm>
            <a:off x="2518635" y="1656892"/>
            <a:ext cx="3117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Helvetica"/>
                <a:cs typeface="Helvetica"/>
              </a:rPr>
              <a:t>Internet</a:t>
            </a:r>
            <a:endParaRPr sz="650">
              <a:latin typeface="Helvetica"/>
              <a:cs typeface="Helvetica"/>
            </a:endParaRPr>
          </a:p>
        </p:txBody>
      </p:sp>
      <p:sp>
        <p:nvSpPr>
          <p:cNvPr id="40" name="object 40"/>
          <p:cNvSpPr txBox="1"/>
          <p:nvPr/>
        </p:nvSpPr>
        <p:spPr>
          <a:xfrm>
            <a:off x="2916381" y="815020"/>
            <a:ext cx="2787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Helvetica"/>
                <a:cs typeface="Helvetica"/>
              </a:rPr>
              <a:t>Router</a:t>
            </a:r>
            <a:endParaRPr sz="650">
              <a:latin typeface="Helvetica"/>
              <a:cs typeface="Helvetica"/>
            </a:endParaRPr>
          </a:p>
        </p:txBody>
      </p:sp>
      <p:sp>
        <p:nvSpPr>
          <p:cNvPr id="41" name="object 41"/>
          <p:cNvSpPr txBox="1"/>
          <p:nvPr/>
        </p:nvSpPr>
        <p:spPr>
          <a:xfrm>
            <a:off x="1180610" y="1776021"/>
            <a:ext cx="1123315" cy="262890"/>
          </a:xfrm>
          <a:prstGeom prst="rect">
            <a:avLst/>
          </a:prstGeom>
        </p:spPr>
        <p:txBody>
          <a:bodyPr vert="horz" wrap="square" lIns="0" tIns="31750" rIns="0" bIns="0" rtlCol="0">
            <a:spAutoFit/>
          </a:bodyPr>
          <a:lstStyle/>
          <a:p>
            <a:pPr marL="12700">
              <a:lnSpc>
                <a:spcPct val="100000"/>
              </a:lnSpc>
              <a:spcBef>
                <a:spcPts val="250"/>
              </a:spcBef>
            </a:pPr>
            <a:r>
              <a:rPr sz="650" spc="5" dirty="0">
                <a:solidFill>
                  <a:srgbClr val="231F20"/>
                </a:solidFill>
                <a:latin typeface="Helvetica"/>
                <a:cs typeface="Helvetica"/>
              </a:rPr>
              <a:t>B</a:t>
            </a:r>
            <a:endParaRPr sz="650">
              <a:latin typeface="Helvetica"/>
              <a:cs typeface="Helvetica"/>
            </a:endParaRPr>
          </a:p>
          <a:p>
            <a:pPr marL="501015">
              <a:lnSpc>
                <a:spcPct val="100000"/>
              </a:lnSpc>
              <a:spcBef>
                <a:spcPts val="155"/>
              </a:spcBef>
            </a:pPr>
            <a:r>
              <a:rPr sz="650" spc="5" dirty="0">
                <a:solidFill>
                  <a:srgbClr val="231F20"/>
                </a:solidFill>
                <a:latin typeface="Helvetica"/>
                <a:cs typeface="Helvetica"/>
              </a:rPr>
              <a:t>Overlay network</a:t>
            </a:r>
            <a:endParaRPr sz="650">
              <a:latin typeface="Helvetica"/>
              <a:cs typeface="Helvetica"/>
            </a:endParaRPr>
          </a:p>
        </p:txBody>
      </p:sp>
      <p:sp>
        <p:nvSpPr>
          <p:cNvPr id="42" name="object 42"/>
          <p:cNvSpPr txBox="1"/>
          <p:nvPr/>
        </p:nvSpPr>
        <p:spPr>
          <a:xfrm>
            <a:off x="1588219" y="1356825"/>
            <a:ext cx="6667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Helvetica"/>
                <a:cs typeface="Helvetica"/>
              </a:rPr>
              <a:t>7</a:t>
            </a:r>
            <a:endParaRPr sz="550">
              <a:latin typeface="Helvetica"/>
              <a:cs typeface="Helvetica"/>
            </a:endParaRPr>
          </a:p>
        </p:txBody>
      </p:sp>
      <p:sp>
        <p:nvSpPr>
          <p:cNvPr id="43" name="object 43"/>
          <p:cNvSpPr txBox="1"/>
          <p:nvPr/>
        </p:nvSpPr>
        <p:spPr>
          <a:xfrm>
            <a:off x="3034434" y="1276713"/>
            <a:ext cx="6667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Helvetica"/>
                <a:cs typeface="Helvetica"/>
              </a:rPr>
              <a:t>5</a:t>
            </a:r>
            <a:endParaRPr sz="550">
              <a:latin typeface="Helvetica"/>
              <a:cs typeface="Helvetica"/>
            </a:endParaRPr>
          </a:p>
        </p:txBody>
      </p:sp>
      <p:sp>
        <p:nvSpPr>
          <p:cNvPr id="44" name="object 44"/>
          <p:cNvSpPr txBox="1"/>
          <p:nvPr/>
        </p:nvSpPr>
        <p:spPr>
          <a:xfrm>
            <a:off x="3219968" y="928860"/>
            <a:ext cx="207645" cy="127000"/>
          </a:xfrm>
          <a:prstGeom prst="rect">
            <a:avLst/>
          </a:prstGeom>
        </p:spPr>
        <p:txBody>
          <a:bodyPr vert="horz" wrap="square" lIns="0" tIns="13970" rIns="0" bIns="0" rtlCol="0">
            <a:spAutoFit/>
          </a:bodyPr>
          <a:lstStyle/>
          <a:p>
            <a:pPr marL="12700">
              <a:lnSpc>
                <a:spcPct val="100000"/>
              </a:lnSpc>
              <a:spcBef>
                <a:spcPts val="110"/>
              </a:spcBef>
            </a:pPr>
            <a:r>
              <a:rPr sz="550" spc="15" dirty="0">
                <a:solidFill>
                  <a:srgbClr val="231F20"/>
                </a:solidFill>
                <a:latin typeface="Helvetica"/>
                <a:cs typeface="Helvetica"/>
              </a:rPr>
              <a:t>1  </a:t>
            </a:r>
            <a:r>
              <a:rPr sz="550" spc="55" dirty="0">
                <a:solidFill>
                  <a:srgbClr val="231F20"/>
                </a:solidFill>
                <a:latin typeface="Helvetica"/>
                <a:cs typeface="Helvetica"/>
              </a:rPr>
              <a:t> </a:t>
            </a:r>
            <a:r>
              <a:rPr sz="975" spc="15" baseline="4273" dirty="0">
                <a:solidFill>
                  <a:srgbClr val="231F20"/>
                </a:solidFill>
                <a:latin typeface="Helvetica"/>
                <a:cs typeface="Helvetica"/>
              </a:rPr>
              <a:t>C</a:t>
            </a:r>
            <a:endParaRPr sz="975" baseline="4273">
              <a:latin typeface="Helvetica"/>
              <a:cs typeface="Helvetica"/>
            </a:endParaRPr>
          </a:p>
        </p:txBody>
      </p:sp>
      <p:sp>
        <p:nvSpPr>
          <p:cNvPr id="45" name="object 45"/>
          <p:cNvSpPr txBox="1"/>
          <p:nvPr/>
        </p:nvSpPr>
        <p:spPr>
          <a:xfrm>
            <a:off x="3159102" y="1591090"/>
            <a:ext cx="6667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Helvetica"/>
                <a:cs typeface="Helvetica"/>
              </a:rPr>
              <a:t>1</a:t>
            </a:r>
            <a:endParaRPr sz="550">
              <a:latin typeface="Helvetica"/>
              <a:cs typeface="Helvetica"/>
            </a:endParaRPr>
          </a:p>
        </p:txBody>
      </p:sp>
      <p:sp>
        <p:nvSpPr>
          <p:cNvPr id="46" name="object 46"/>
          <p:cNvSpPr txBox="1"/>
          <p:nvPr/>
        </p:nvSpPr>
        <p:spPr>
          <a:xfrm>
            <a:off x="95300" y="113140"/>
            <a:ext cx="1453515" cy="942340"/>
          </a:xfrm>
          <a:prstGeom prst="rect">
            <a:avLst/>
          </a:prstGeom>
        </p:spPr>
        <p:txBody>
          <a:bodyPr vert="horz" wrap="square" lIns="0" tIns="92710" rIns="0" bIns="0" rtlCol="0">
            <a:spAutoFit/>
          </a:bodyPr>
          <a:lstStyle/>
          <a:p>
            <a:pPr marL="12700">
              <a:lnSpc>
                <a:spcPct val="100000"/>
              </a:lnSpc>
              <a:spcBef>
                <a:spcPts val="730"/>
              </a:spcBef>
            </a:pPr>
            <a:r>
              <a:rPr sz="1400" spc="20" dirty="0">
                <a:solidFill>
                  <a:srgbClr val="3333B2"/>
                </a:solidFill>
                <a:latin typeface="Arial"/>
                <a:cs typeface="Arial"/>
              </a:rPr>
              <a:t>ALM:</a:t>
            </a:r>
            <a:r>
              <a:rPr sz="1400" spc="-35" dirty="0">
                <a:solidFill>
                  <a:srgbClr val="3333B2"/>
                </a:solidFill>
                <a:latin typeface="Arial"/>
                <a:cs typeface="Arial"/>
              </a:rPr>
              <a:t> </a:t>
            </a:r>
            <a:r>
              <a:rPr sz="1400" spc="20" dirty="0">
                <a:solidFill>
                  <a:srgbClr val="3333B2"/>
                </a:solidFill>
                <a:latin typeface="Arial"/>
                <a:cs typeface="Arial"/>
              </a:rPr>
              <a:t>Some</a:t>
            </a:r>
            <a:r>
              <a:rPr sz="1400" spc="-30" dirty="0">
                <a:solidFill>
                  <a:srgbClr val="3333B2"/>
                </a:solidFill>
                <a:latin typeface="Arial"/>
                <a:cs typeface="Arial"/>
              </a:rPr>
              <a:t> </a:t>
            </a:r>
            <a:r>
              <a:rPr sz="1400" spc="15" dirty="0">
                <a:solidFill>
                  <a:srgbClr val="3333B2"/>
                </a:solidFill>
                <a:latin typeface="Arial"/>
                <a:cs typeface="Arial"/>
              </a:rPr>
              <a:t>costs</a:t>
            </a:r>
            <a:endParaRPr sz="1400" dirty="0">
              <a:latin typeface="Arial"/>
              <a:cs typeface="Arial"/>
            </a:endParaRPr>
          </a:p>
          <a:p>
            <a:pPr marL="264160">
              <a:lnSpc>
                <a:spcPct val="100000"/>
              </a:lnSpc>
              <a:spcBef>
                <a:spcPts val="500"/>
              </a:spcBef>
            </a:pPr>
            <a:r>
              <a:rPr sz="1200" spc="-10" dirty="0">
                <a:solidFill>
                  <a:srgbClr val="3333B2"/>
                </a:solidFill>
                <a:latin typeface="Arial"/>
                <a:cs typeface="Arial"/>
              </a:rPr>
              <a:t>Different</a:t>
            </a:r>
            <a:r>
              <a:rPr sz="1200" spc="-75" dirty="0">
                <a:solidFill>
                  <a:srgbClr val="3333B2"/>
                </a:solidFill>
                <a:latin typeface="Arial"/>
                <a:cs typeface="Arial"/>
              </a:rPr>
              <a:t> </a:t>
            </a:r>
            <a:r>
              <a:rPr sz="1200" dirty="0">
                <a:solidFill>
                  <a:srgbClr val="3333B2"/>
                </a:solidFill>
                <a:latin typeface="Arial"/>
                <a:cs typeface="Arial"/>
              </a:rPr>
              <a:t>metrics</a:t>
            </a:r>
            <a:endParaRPr sz="1200" dirty="0">
              <a:latin typeface="Arial"/>
              <a:cs typeface="Arial"/>
            </a:endParaRPr>
          </a:p>
          <a:p>
            <a:pPr marL="1135380" marR="28575" indent="-52069">
              <a:lnSpc>
                <a:spcPct val="187300"/>
              </a:lnSpc>
              <a:spcBef>
                <a:spcPts val="45"/>
              </a:spcBef>
            </a:pPr>
            <a:r>
              <a:rPr sz="650" spc="5" dirty="0">
                <a:solidFill>
                  <a:srgbClr val="231F20"/>
                </a:solidFill>
                <a:latin typeface="Helvetica"/>
                <a:cs typeface="Helvetica"/>
              </a:rPr>
              <a:t>End host  </a:t>
            </a:r>
            <a:r>
              <a:rPr sz="975" spc="7" baseline="4273" dirty="0">
                <a:solidFill>
                  <a:srgbClr val="231F20"/>
                </a:solidFill>
                <a:latin typeface="Helvetica"/>
                <a:cs typeface="Helvetica"/>
              </a:rPr>
              <a:t>A    </a:t>
            </a:r>
            <a:r>
              <a:rPr sz="975" spc="75" baseline="4273" dirty="0">
                <a:solidFill>
                  <a:srgbClr val="231F20"/>
                </a:solidFill>
                <a:latin typeface="Helvetica"/>
                <a:cs typeface="Helvetica"/>
              </a:rPr>
              <a:t> </a:t>
            </a:r>
            <a:r>
              <a:rPr sz="550" spc="15" dirty="0">
                <a:solidFill>
                  <a:srgbClr val="231F20"/>
                </a:solidFill>
                <a:latin typeface="Helvetica"/>
                <a:cs typeface="Helvetica"/>
              </a:rPr>
              <a:t>1</a:t>
            </a:r>
            <a:endParaRPr sz="550" dirty="0">
              <a:latin typeface="Helvetica"/>
              <a:cs typeface="Helvetica"/>
            </a:endParaRPr>
          </a:p>
        </p:txBody>
      </p:sp>
      <p:sp>
        <p:nvSpPr>
          <p:cNvPr id="47" name="object 47"/>
          <p:cNvSpPr txBox="1"/>
          <p:nvPr/>
        </p:nvSpPr>
        <p:spPr>
          <a:xfrm>
            <a:off x="1394269" y="1584764"/>
            <a:ext cx="235585" cy="127000"/>
          </a:xfrm>
          <a:prstGeom prst="rect">
            <a:avLst/>
          </a:prstGeom>
        </p:spPr>
        <p:txBody>
          <a:bodyPr vert="horz" wrap="square" lIns="0" tIns="13970" rIns="0" bIns="0" rtlCol="0">
            <a:spAutoFit/>
          </a:bodyPr>
          <a:lstStyle/>
          <a:p>
            <a:pPr marL="12700">
              <a:lnSpc>
                <a:spcPct val="100000"/>
              </a:lnSpc>
              <a:spcBef>
                <a:spcPts val="110"/>
              </a:spcBef>
            </a:pPr>
            <a:r>
              <a:rPr sz="825" spc="22" baseline="-25252" dirty="0">
                <a:solidFill>
                  <a:srgbClr val="231F20"/>
                </a:solidFill>
                <a:latin typeface="Helvetica"/>
                <a:cs typeface="Helvetica"/>
              </a:rPr>
              <a:t>1 </a:t>
            </a:r>
            <a:r>
              <a:rPr sz="825" spc="120" baseline="-25252" dirty="0">
                <a:solidFill>
                  <a:srgbClr val="231F20"/>
                </a:solidFill>
                <a:latin typeface="Helvetica"/>
                <a:cs typeface="Helvetica"/>
              </a:rPr>
              <a:t> </a:t>
            </a:r>
            <a:r>
              <a:rPr sz="650" spc="5" dirty="0">
                <a:solidFill>
                  <a:srgbClr val="231F20"/>
                </a:solidFill>
                <a:latin typeface="Helvetica"/>
                <a:cs typeface="Helvetica"/>
              </a:rPr>
              <a:t>Rb</a:t>
            </a:r>
            <a:endParaRPr sz="650">
              <a:latin typeface="Helvetica"/>
              <a:cs typeface="Helvetica"/>
            </a:endParaRPr>
          </a:p>
        </p:txBody>
      </p:sp>
      <p:sp>
        <p:nvSpPr>
          <p:cNvPr id="48" name="object 48"/>
          <p:cNvSpPr txBox="1"/>
          <p:nvPr/>
        </p:nvSpPr>
        <p:spPr>
          <a:xfrm>
            <a:off x="2344037" y="962336"/>
            <a:ext cx="6667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Helvetica"/>
                <a:cs typeface="Helvetica"/>
              </a:rPr>
              <a:t>1</a:t>
            </a:r>
            <a:endParaRPr sz="550">
              <a:latin typeface="Helvetica"/>
              <a:cs typeface="Helvetica"/>
            </a:endParaRPr>
          </a:p>
        </p:txBody>
      </p:sp>
      <p:sp>
        <p:nvSpPr>
          <p:cNvPr id="49" name="object 49"/>
          <p:cNvSpPr txBox="1"/>
          <p:nvPr/>
        </p:nvSpPr>
        <p:spPr>
          <a:xfrm>
            <a:off x="1988175" y="1151094"/>
            <a:ext cx="107950"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Helvetica"/>
                <a:cs typeface="Helvetica"/>
              </a:rPr>
              <a:t>30</a:t>
            </a:r>
            <a:endParaRPr sz="550">
              <a:latin typeface="Helvetica"/>
              <a:cs typeface="Helvetica"/>
            </a:endParaRPr>
          </a:p>
        </p:txBody>
      </p:sp>
      <p:sp>
        <p:nvSpPr>
          <p:cNvPr id="50" name="object 50"/>
          <p:cNvSpPr txBox="1"/>
          <p:nvPr/>
        </p:nvSpPr>
        <p:spPr>
          <a:xfrm>
            <a:off x="2652073" y="1146066"/>
            <a:ext cx="107950"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Helvetica"/>
                <a:cs typeface="Helvetica"/>
              </a:rPr>
              <a:t>20</a:t>
            </a:r>
            <a:endParaRPr sz="550">
              <a:latin typeface="Helvetica"/>
              <a:cs typeface="Helvetica"/>
            </a:endParaRPr>
          </a:p>
        </p:txBody>
      </p:sp>
      <p:sp>
        <p:nvSpPr>
          <p:cNvPr id="51" name="object 51"/>
          <p:cNvSpPr txBox="1"/>
          <p:nvPr/>
        </p:nvSpPr>
        <p:spPr>
          <a:xfrm>
            <a:off x="2241611" y="1484758"/>
            <a:ext cx="107950"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Helvetica"/>
                <a:cs typeface="Helvetica"/>
              </a:rPr>
              <a:t>40</a:t>
            </a:r>
            <a:endParaRPr sz="550">
              <a:latin typeface="Helvetica"/>
              <a:cs typeface="Helvetica"/>
            </a:endParaRPr>
          </a:p>
        </p:txBody>
      </p:sp>
      <p:sp>
        <p:nvSpPr>
          <p:cNvPr id="52" name="object 52"/>
          <p:cNvSpPr txBox="1"/>
          <p:nvPr/>
        </p:nvSpPr>
        <p:spPr>
          <a:xfrm>
            <a:off x="2365501" y="781558"/>
            <a:ext cx="819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E</a:t>
            </a:r>
            <a:endParaRPr sz="650">
              <a:latin typeface="Arial"/>
              <a:cs typeface="Arial"/>
            </a:endParaRPr>
          </a:p>
        </p:txBody>
      </p:sp>
      <p:sp>
        <p:nvSpPr>
          <p:cNvPr id="53" name="object 53"/>
          <p:cNvSpPr txBox="1"/>
          <p:nvPr/>
        </p:nvSpPr>
        <p:spPr>
          <a:xfrm>
            <a:off x="3042919" y="1481256"/>
            <a:ext cx="152400" cy="114300"/>
          </a:xfrm>
          <a:prstGeom prst="rect">
            <a:avLst/>
          </a:prstGeom>
          <a:solidFill>
            <a:srgbClr val="BBBDC0"/>
          </a:solidFill>
          <a:ln w="5270">
            <a:solidFill>
              <a:srgbClr val="231F20"/>
            </a:solidFill>
          </a:ln>
        </p:spPr>
        <p:txBody>
          <a:bodyPr vert="horz" wrap="square" lIns="0" tIns="3810" rIns="0" bIns="0" rtlCol="0">
            <a:spAutoFit/>
          </a:bodyPr>
          <a:lstStyle/>
          <a:p>
            <a:pPr marL="21590">
              <a:lnSpc>
                <a:spcPct val="100000"/>
              </a:lnSpc>
              <a:spcBef>
                <a:spcPts val="30"/>
              </a:spcBef>
            </a:pPr>
            <a:r>
              <a:rPr sz="650" spc="5" dirty="0">
                <a:solidFill>
                  <a:srgbClr val="231F20"/>
                </a:solidFill>
                <a:latin typeface="Helvetica"/>
                <a:cs typeface="Helvetica"/>
              </a:rPr>
              <a:t>Rd</a:t>
            </a:r>
            <a:endParaRPr sz="650">
              <a:latin typeface="Helvetica"/>
              <a:cs typeface="Helvetica"/>
            </a:endParaRPr>
          </a:p>
        </p:txBody>
      </p:sp>
      <p:sp>
        <p:nvSpPr>
          <p:cNvPr id="54" name="object 54"/>
          <p:cNvSpPr txBox="1"/>
          <p:nvPr/>
        </p:nvSpPr>
        <p:spPr>
          <a:xfrm>
            <a:off x="444004" y="2238100"/>
            <a:ext cx="3847465" cy="936625"/>
          </a:xfrm>
          <a:prstGeom prst="rect">
            <a:avLst/>
          </a:prstGeom>
        </p:spPr>
        <p:txBody>
          <a:bodyPr vert="horz" wrap="square" lIns="0" tIns="12065" rIns="0" bIns="0" rtlCol="0">
            <a:spAutoFit/>
          </a:bodyPr>
          <a:lstStyle/>
          <a:p>
            <a:pPr marL="193040" marR="172720" indent="-168275">
              <a:lnSpc>
                <a:spcPct val="100000"/>
              </a:lnSpc>
              <a:spcBef>
                <a:spcPts val="95"/>
              </a:spcBef>
              <a:buClr>
                <a:srgbClr val="3333B2"/>
              </a:buClr>
              <a:buChar char="►"/>
              <a:tabLst>
                <a:tab pos="193675" algn="l"/>
              </a:tabLst>
            </a:pPr>
            <a:r>
              <a:rPr sz="1000" spc="-5" dirty="0">
                <a:solidFill>
                  <a:srgbClr val="FA0000"/>
                </a:solidFill>
                <a:latin typeface="Arial"/>
                <a:cs typeface="Arial"/>
              </a:rPr>
              <a:t>Link stress</a:t>
            </a:r>
            <a:r>
              <a:rPr sz="1000" spc="-5" dirty="0">
                <a:latin typeface="Arial"/>
                <a:cs typeface="Arial"/>
              </a:rPr>
              <a:t>:</a:t>
            </a:r>
            <a:r>
              <a:rPr sz="1000" spc="65" dirty="0">
                <a:latin typeface="Arial"/>
                <a:cs typeface="Arial"/>
              </a:rPr>
              <a:t> </a:t>
            </a:r>
            <a:r>
              <a:rPr sz="1000" spc="-10" dirty="0">
                <a:latin typeface="Arial"/>
                <a:cs typeface="Arial"/>
              </a:rPr>
              <a:t>How</a:t>
            </a:r>
            <a:r>
              <a:rPr sz="1000" dirty="0">
                <a:latin typeface="Arial"/>
                <a:cs typeface="Arial"/>
              </a:rPr>
              <a:t> </a:t>
            </a:r>
            <a:r>
              <a:rPr sz="1000" spc="-5" dirty="0">
                <a:latin typeface="Arial"/>
                <a:cs typeface="Arial"/>
              </a:rPr>
              <a:t>often</a:t>
            </a:r>
            <a:r>
              <a:rPr sz="1000" dirty="0">
                <a:latin typeface="Arial"/>
                <a:cs typeface="Arial"/>
              </a:rPr>
              <a:t> </a:t>
            </a:r>
            <a:r>
              <a:rPr sz="1000" spc="-5" dirty="0">
                <a:latin typeface="Arial"/>
                <a:cs typeface="Arial"/>
              </a:rPr>
              <a:t>does</a:t>
            </a:r>
            <a:r>
              <a:rPr sz="1000" dirty="0">
                <a:latin typeface="Arial"/>
                <a:cs typeface="Arial"/>
              </a:rPr>
              <a:t> </a:t>
            </a:r>
            <a:r>
              <a:rPr sz="1000" spc="-5" dirty="0">
                <a:latin typeface="Arial"/>
                <a:cs typeface="Arial"/>
              </a:rPr>
              <a:t>an ALM</a:t>
            </a:r>
            <a:r>
              <a:rPr sz="1000" dirty="0">
                <a:latin typeface="Arial"/>
                <a:cs typeface="Arial"/>
              </a:rPr>
              <a:t> </a:t>
            </a:r>
            <a:r>
              <a:rPr sz="1000" spc="-5" dirty="0">
                <a:latin typeface="Arial"/>
                <a:cs typeface="Arial"/>
              </a:rPr>
              <a:t>message</a:t>
            </a:r>
            <a:r>
              <a:rPr sz="1000" dirty="0">
                <a:latin typeface="Arial"/>
                <a:cs typeface="Arial"/>
              </a:rPr>
              <a:t> </a:t>
            </a:r>
            <a:r>
              <a:rPr sz="1000" spc="-5" dirty="0">
                <a:latin typeface="Arial"/>
                <a:cs typeface="Arial"/>
              </a:rPr>
              <a:t>cross</a:t>
            </a:r>
            <a:r>
              <a:rPr sz="1000" dirty="0">
                <a:latin typeface="Arial"/>
                <a:cs typeface="Arial"/>
              </a:rPr>
              <a:t> </a:t>
            </a:r>
            <a:r>
              <a:rPr sz="1000" spc="-5" dirty="0">
                <a:latin typeface="Arial"/>
                <a:cs typeface="Arial"/>
              </a:rPr>
              <a:t>the same </a:t>
            </a:r>
            <a:r>
              <a:rPr sz="1000" spc="-260" dirty="0">
                <a:latin typeface="Arial"/>
                <a:cs typeface="Arial"/>
              </a:rPr>
              <a:t> </a:t>
            </a:r>
            <a:r>
              <a:rPr sz="1000" spc="-10" dirty="0">
                <a:latin typeface="Arial"/>
                <a:cs typeface="Arial"/>
              </a:rPr>
              <a:t>physical</a:t>
            </a:r>
            <a:r>
              <a:rPr sz="1000" spc="-5" dirty="0">
                <a:latin typeface="Arial"/>
                <a:cs typeface="Arial"/>
              </a:rPr>
              <a:t> link?</a:t>
            </a:r>
            <a:r>
              <a:rPr sz="1000" spc="70" dirty="0">
                <a:latin typeface="Arial"/>
                <a:cs typeface="Arial"/>
              </a:rPr>
              <a:t> </a:t>
            </a:r>
            <a:r>
              <a:rPr sz="1000" spc="-5" dirty="0">
                <a:solidFill>
                  <a:srgbClr val="0000FA"/>
                </a:solidFill>
                <a:latin typeface="Arial"/>
                <a:cs typeface="Arial"/>
              </a:rPr>
              <a:t>Example:</a:t>
            </a:r>
            <a:r>
              <a:rPr sz="1000" spc="65" dirty="0">
                <a:solidFill>
                  <a:srgbClr val="0000FA"/>
                </a:solidFill>
                <a:latin typeface="Arial"/>
                <a:cs typeface="Arial"/>
              </a:rPr>
              <a:t> </a:t>
            </a:r>
            <a:r>
              <a:rPr sz="1000" spc="-5" dirty="0">
                <a:latin typeface="Arial"/>
                <a:cs typeface="Arial"/>
              </a:rPr>
              <a:t>message</a:t>
            </a:r>
            <a:r>
              <a:rPr sz="1000" dirty="0">
                <a:latin typeface="Arial"/>
                <a:cs typeface="Arial"/>
              </a:rPr>
              <a:t> </a:t>
            </a:r>
            <a:r>
              <a:rPr sz="1000" spc="-5" dirty="0">
                <a:latin typeface="Arial"/>
                <a:cs typeface="Arial"/>
              </a:rPr>
              <a:t>from </a:t>
            </a:r>
            <a:r>
              <a:rPr sz="1000" i="1" spc="-5" dirty="0">
                <a:latin typeface="Arial"/>
                <a:cs typeface="Arial"/>
              </a:rPr>
              <a:t>A</a:t>
            </a:r>
            <a:r>
              <a:rPr sz="1000" i="1" dirty="0">
                <a:latin typeface="Arial"/>
                <a:cs typeface="Arial"/>
              </a:rPr>
              <a:t> </a:t>
            </a:r>
            <a:r>
              <a:rPr sz="1000" spc="-5" dirty="0">
                <a:latin typeface="Arial"/>
                <a:cs typeface="Arial"/>
              </a:rPr>
              <a:t>to</a:t>
            </a:r>
            <a:r>
              <a:rPr sz="1000" dirty="0">
                <a:latin typeface="Arial"/>
                <a:cs typeface="Arial"/>
              </a:rPr>
              <a:t> </a:t>
            </a:r>
            <a:r>
              <a:rPr sz="1000" i="1" spc="-5" dirty="0">
                <a:latin typeface="Arial"/>
                <a:cs typeface="Arial"/>
              </a:rPr>
              <a:t>D</a:t>
            </a:r>
            <a:r>
              <a:rPr sz="1000" i="1" spc="45" dirty="0">
                <a:latin typeface="Arial"/>
                <a:cs typeface="Arial"/>
              </a:rPr>
              <a:t> </a:t>
            </a:r>
            <a:r>
              <a:rPr sz="1000" spc="-5" dirty="0">
                <a:latin typeface="Arial"/>
                <a:cs typeface="Arial"/>
              </a:rPr>
              <a:t>needs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cross</a:t>
            </a:r>
            <a:endParaRPr sz="1000" dirty="0">
              <a:latin typeface="Arial"/>
              <a:cs typeface="Arial"/>
            </a:endParaRPr>
          </a:p>
          <a:p>
            <a:pPr marL="193040" indent="-168275">
              <a:lnSpc>
                <a:spcPts val="1190"/>
              </a:lnSpc>
              <a:buClr>
                <a:srgbClr val="3333B2"/>
              </a:buClr>
              <a:buFont typeface="Arial"/>
              <a:buChar char="►"/>
              <a:tabLst>
                <a:tab pos="193675" algn="l"/>
              </a:tabLst>
            </a:pPr>
            <a:r>
              <a:rPr sz="1000" i="1" spc="-55" dirty="0">
                <a:latin typeface="メイリオ"/>
                <a:cs typeface="メイリオ"/>
              </a:rPr>
              <a:t>(</a:t>
            </a:r>
            <a:r>
              <a:rPr sz="1000" i="1" spc="-5" dirty="0">
                <a:latin typeface="Arial"/>
                <a:cs typeface="Arial"/>
              </a:rPr>
              <a:t>Ra,</a:t>
            </a:r>
            <a:r>
              <a:rPr sz="1000" i="1" spc="-170" dirty="0">
                <a:latin typeface="Arial"/>
                <a:cs typeface="Arial"/>
              </a:rPr>
              <a:t> </a:t>
            </a:r>
            <a:r>
              <a:rPr sz="1000" i="1" spc="-5" dirty="0">
                <a:latin typeface="Arial"/>
                <a:cs typeface="Arial"/>
              </a:rPr>
              <a:t>R</a:t>
            </a:r>
            <a:r>
              <a:rPr sz="1000" i="1" spc="20" dirty="0">
                <a:latin typeface="Arial"/>
                <a:cs typeface="Arial"/>
              </a:rPr>
              <a:t>b</a:t>
            </a:r>
            <a:r>
              <a:rPr sz="1000" i="1" spc="-55" dirty="0">
                <a:latin typeface="メイリオ"/>
                <a:cs typeface="メイリオ"/>
              </a:rPr>
              <a:t>)</a:t>
            </a:r>
            <a:r>
              <a:rPr sz="1000" i="1" spc="-65" dirty="0">
                <a:latin typeface="メイリオ"/>
                <a:cs typeface="メイリオ"/>
              </a:rPr>
              <a:t> </a:t>
            </a:r>
            <a:r>
              <a:rPr sz="1000" spc="-5" dirty="0">
                <a:latin typeface="Arial"/>
                <a:cs typeface="Arial"/>
              </a:rPr>
              <a:t>twic</a:t>
            </a:r>
            <a:r>
              <a:rPr sz="1000" spc="-20" dirty="0">
                <a:latin typeface="Arial"/>
                <a:cs typeface="Arial"/>
              </a:rPr>
              <a:t>e</a:t>
            </a:r>
            <a:r>
              <a:rPr sz="1000" spc="-5" dirty="0">
                <a:latin typeface="Arial"/>
                <a:cs typeface="Arial"/>
              </a:rPr>
              <a:t>.</a:t>
            </a:r>
            <a:endParaRPr sz="1000" dirty="0">
              <a:latin typeface="Arial"/>
              <a:cs typeface="Arial"/>
            </a:endParaRPr>
          </a:p>
          <a:p>
            <a:pPr marL="193040" marR="17780" algn="just">
              <a:lnSpc>
                <a:spcPts val="1200"/>
              </a:lnSpc>
              <a:spcBef>
                <a:spcPts val="40"/>
              </a:spcBef>
            </a:pPr>
            <a:r>
              <a:rPr sz="1000" spc="-10" dirty="0">
                <a:solidFill>
                  <a:srgbClr val="FA0000"/>
                </a:solidFill>
                <a:latin typeface="Arial"/>
                <a:cs typeface="Arial"/>
              </a:rPr>
              <a:t>Stretch</a:t>
            </a:r>
            <a:r>
              <a:rPr sz="1000" spc="-10" dirty="0">
                <a:latin typeface="Arial"/>
                <a:cs typeface="Arial"/>
              </a:rPr>
              <a:t>: Ratio in </a:t>
            </a:r>
            <a:r>
              <a:rPr sz="1000" spc="-15" dirty="0">
                <a:latin typeface="Arial"/>
                <a:cs typeface="Arial"/>
              </a:rPr>
              <a:t>delay between ALM-level </a:t>
            </a:r>
            <a:r>
              <a:rPr sz="1000" spc="-10" dirty="0">
                <a:latin typeface="Arial"/>
                <a:cs typeface="Arial"/>
              </a:rPr>
              <a:t>path and </a:t>
            </a:r>
            <a:r>
              <a:rPr sz="1000" spc="-15" dirty="0">
                <a:latin typeface="Arial"/>
                <a:cs typeface="Arial"/>
              </a:rPr>
              <a:t>network-level </a:t>
            </a:r>
            <a:r>
              <a:rPr sz="1000" spc="-10" dirty="0">
                <a:latin typeface="Arial"/>
                <a:cs typeface="Arial"/>
              </a:rPr>
              <a:t> path. </a:t>
            </a:r>
            <a:r>
              <a:rPr sz="1000" spc="-10" dirty="0">
                <a:solidFill>
                  <a:srgbClr val="0000FA"/>
                </a:solidFill>
                <a:latin typeface="Arial"/>
                <a:cs typeface="Arial"/>
              </a:rPr>
              <a:t>Example: </a:t>
            </a:r>
            <a:r>
              <a:rPr sz="1000" spc="-15" dirty="0">
                <a:latin typeface="Arial"/>
                <a:cs typeface="Arial"/>
              </a:rPr>
              <a:t>messages </a:t>
            </a:r>
            <a:r>
              <a:rPr sz="1000" i="1" spc="-5" dirty="0">
                <a:latin typeface="Arial"/>
                <a:cs typeface="Arial"/>
              </a:rPr>
              <a:t>B </a:t>
            </a:r>
            <a:r>
              <a:rPr sz="1000" spc="-10" dirty="0">
                <a:latin typeface="Arial"/>
                <a:cs typeface="Arial"/>
              </a:rPr>
              <a:t>to </a:t>
            </a:r>
            <a:r>
              <a:rPr sz="1000" i="1" spc="-5" dirty="0">
                <a:latin typeface="Arial"/>
                <a:cs typeface="Arial"/>
              </a:rPr>
              <a:t>C </a:t>
            </a:r>
            <a:r>
              <a:rPr sz="1000" spc="-20" dirty="0">
                <a:latin typeface="Arial"/>
                <a:cs typeface="Arial"/>
              </a:rPr>
              <a:t>follow </a:t>
            </a:r>
            <a:r>
              <a:rPr sz="1000" spc="-10" dirty="0">
                <a:latin typeface="Arial"/>
                <a:cs typeface="Arial"/>
              </a:rPr>
              <a:t>path of length </a:t>
            </a:r>
            <a:r>
              <a:rPr sz="1000" spc="-15" dirty="0">
                <a:latin typeface="Arial"/>
                <a:cs typeface="Arial"/>
              </a:rPr>
              <a:t>73 </a:t>
            </a:r>
            <a:r>
              <a:rPr sz="1000" spc="-10" dirty="0">
                <a:latin typeface="Arial"/>
                <a:cs typeface="Arial"/>
              </a:rPr>
              <a:t>at </a:t>
            </a:r>
            <a:r>
              <a:rPr sz="1000" spc="-15" dirty="0">
                <a:latin typeface="Arial"/>
                <a:cs typeface="Arial"/>
              </a:rPr>
              <a:t>ALM, </a:t>
            </a:r>
            <a:r>
              <a:rPr sz="1000" spc="-10" dirty="0">
                <a:latin typeface="Arial"/>
                <a:cs typeface="Arial"/>
              </a:rPr>
              <a:t> but </a:t>
            </a:r>
            <a:r>
              <a:rPr sz="1000" spc="-5" dirty="0">
                <a:latin typeface="Arial"/>
                <a:cs typeface="Arial"/>
              </a:rPr>
              <a:t>47 at network </a:t>
            </a:r>
            <a:r>
              <a:rPr sz="1000" spc="-15" dirty="0">
                <a:latin typeface="Arial"/>
                <a:cs typeface="Arial"/>
              </a:rPr>
              <a:t>level</a:t>
            </a:r>
            <a:r>
              <a:rPr sz="1000" spc="-5" dirty="0">
                <a:latin typeface="Arial"/>
                <a:cs typeface="Arial"/>
              </a:rPr>
              <a:t> </a:t>
            </a:r>
            <a:r>
              <a:rPr sz="1000" i="1" spc="-5" dirty="0">
                <a:latin typeface="メイリオ"/>
                <a:cs typeface="メイリオ"/>
              </a:rPr>
              <a:t>⇒</a:t>
            </a:r>
            <a:r>
              <a:rPr sz="1000" i="1" spc="-65" dirty="0">
                <a:latin typeface="メイリオ"/>
                <a:cs typeface="メイリオ"/>
              </a:rPr>
              <a:t> </a:t>
            </a:r>
            <a:r>
              <a:rPr sz="1000" spc="-5" dirty="0">
                <a:latin typeface="Arial"/>
                <a:cs typeface="Arial"/>
              </a:rPr>
              <a:t>stretch = 73/47.</a:t>
            </a:r>
            <a:endParaRPr sz="1000" dirty="0">
              <a:latin typeface="Arial"/>
              <a:cs typeface="Arial"/>
            </a:endParaRPr>
          </a:p>
        </p:txBody>
      </p:sp>
      <p:sp>
        <p:nvSpPr>
          <p:cNvPr id="55" name="object 55"/>
          <p:cNvSpPr txBox="1"/>
          <p:nvPr/>
        </p:nvSpPr>
        <p:spPr>
          <a:xfrm>
            <a:off x="66713" y="3327684"/>
            <a:ext cx="10718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9" action="ppaction://hlinksldjump"/>
              </a:rPr>
              <a:t>Performance</a:t>
            </a:r>
            <a:r>
              <a:rPr sz="600" spc="-15"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issues</a:t>
            </a:r>
            <a:r>
              <a:rPr sz="600" spc="-15"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in</a:t>
            </a:r>
            <a:r>
              <a:rPr sz="600" spc="-15" dirty="0">
                <a:solidFill>
                  <a:srgbClr val="3333B2"/>
                </a:solidFill>
                <a:latin typeface="Arial"/>
                <a:cs typeface="Arial"/>
                <a:hlinkClick r:id="rId9" action="ppaction://hlinksldjump"/>
              </a:rPr>
              <a:t> </a:t>
            </a:r>
            <a:r>
              <a:rPr sz="600" spc="-10" dirty="0">
                <a:solidFill>
                  <a:srgbClr val="3333B2"/>
                </a:solidFill>
                <a:latin typeface="Arial"/>
                <a:cs typeface="Arial"/>
                <a:hlinkClick r:id="rId9" action="ppaction://hlinksldjump"/>
              </a:rPr>
              <a:t>overlays</a:t>
            </a:r>
            <a:endParaRPr sz="600">
              <a:latin typeface="Arial"/>
              <a:cs typeface="Arial"/>
            </a:endParaRPr>
          </a:p>
        </p:txBody>
      </p:sp>
      <p:sp>
        <p:nvSpPr>
          <p:cNvPr id="56" name="object 56"/>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Multicast</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571580" y="716"/>
            <a:ext cx="970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Flooding-based</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multicasting</a:t>
            </a:r>
            <a:endParaRPr sz="600">
              <a:latin typeface="Arial"/>
              <a:cs typeface="Arial"/>
            </a:endParaRPr>
          </a:p>
        </p:txBody>
      </p:sp>
      <p:sp>
        <p:nvSpPr>
          <p:cNvPr id="4" name="object 4"/>
          <p:cNvSpPr txBox="1"/>
          <p:nvPr/>
        </p:nvSpPr>
        <p:spPr>
          <a:xfrm>
            <a:off x="95300" y="80039"/>
            <a:ext cx="2040255" cy="1946910"/>
          </a:xfrm>
          <a:prstGeom prst="rect">
            <a:avLst/>
          </a:prstGeom>
        </p:spPr>
        <p:txBody>
          <a:bodyPr vert="horz" wrap="square" lIns="0" tIns="125730" rIns="0" bIns="0" rtlCol="0">
            <a:spAutoFit/>
          </a:bodyPr>
          <a:lstStyle/>
          <a:p>
            <a:pPr marL="12700">
              <a:lnSpc>
                <a:spcPct val="100000"/>
              </a:lnSpc>
              <a:spcBef>
                <a:spcPts val="990"/>
              </a:spcBef>
            </a:pPr>
            <a:r>
              <a:rPr sz="1400" spc="15" dirty="0">
                <a:solidFill>
                  <a:srgbClr val="3333B2"/>
                </a:solidFill>
                <a:latin typeface="Arial"/>
                <a:cs typeface="Arial"/>
              </a:rPr>
              <a:t>Flooding</a:t>
            </a:r>
            <a:endParaRPr sz="1400" dirty="0">
              <a:latin typeface="Arial"/>
              <a:cs typeface="Arial"/>
            </a:endParaRPr>
          </a:p>
          <a:p>
            <a:pPr marL="273685">
              <a:lnSpc>
                <a:spcPts val="1410"/>
              </a:lnSpc>
              <a:spcBef>
                <a:spcPts val="715"/>
              </a:spcBef>
            </a:pPr>
            <a:r>
              <a:rPr sz="1200" spc="-5" dirty="0">
                <a:solidFill>
                  <a:srgbClr val="3333B2"/>
                </a:solidFill>
                <a:latin typeface="Arial"/>
                <a:cs typeface="Arial"/>
              </a:rPr>
              <a:t>Essence</a:t>
            </a:r>
            <a:endParaRPr sz="1200" dirty="0">
              <a:latin typeface="Arial"/>
              <a:cs typeface="Arial"/>
            </a:endParaRPr>
          </a:p>
          <a:p>
            <a:pPr marL="273685" marR="5080">
              <a:lnSpc>
                <a:spcPts val="1200"/>
              </a:lnSpc>
              <a:spcBef>
                <a:spcPts val="15"/>
              </a:spcBef>
            </a:pPr>
            <a:r>
              <a:rPr sz="1000" i="1" spc="-5" dirty="0">
                <a:latin typeface="Arial"/>
                <a:cs typeface="Arial"/>
              </a:rPr>
              <a:t>P</a:t>
            </a:r>
            <a:r>
              <a:rPr sz="1000" i="1" spc="70" dirty="0">
                <a:latin typeface="Arial"/>
                <a:cs typeface="Arial"/>
              </a:rPr>
              <a:t> </a:t>
            </a:r>
            <a:r>
              <a:rPr sz="1000" spc="-5" dirty="0">
                <a:latin typeface="Arial"/>
                <a:cs typeface="Arial"/>
              </a:rPr>
              <a:t>simply</a:t>
            </a:r>
            <a:r>
              <a:rPr sz="1000" spc="5" dirty="0">
                <a:latin typeface="Arial"/>
                <a:cs typeface="Arial"/>
              </a:rPr>
              <a:t> </a:t>
            </a:r>
            <a:r>
              <a:rPr sz="1000" spc="-5" dirty="0">
                <a:latin typeface="Arial"/>
                <a:cs typeface="Arial"/>
              </a:rPr>
              <a:t>sends</a:t>
            </a:r>
            <a:r>
              <a:rPr sz="1000" spc="5"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message</a:t>
            </a:r>
            <a:r>
              <a:rPr sz="1000" dirty="0">
                <a:latin typeface="Arial"/>
                <a:cs typeface="Arial"/>
              </a:rPr>
              <a:t> </a:t>
            </a:r>
            <a:r>
              <a:rPr sz="1000" i="1" spc="-5" dirty="0">
                <a:latin typeface="Arial"/>
                <a:cs typeface="Arial"/>
              </a:rPr>
              <a:t>m </a:t>
            </a:r>
            <a:r>
              <a:rPr sz="1000" i="1" dirty="0">
                <a:latin typeface="Arial"/>
                <a:cs typeface="Arial"/>
              </a:rPr>
              <a:t> </a:t>
            </a:r>
            <a:r>
              <a:rPr sz="1000" spc="-5" dirty="0">
                <a:latin typeface="Arial"/>
                <a:cs typeface="Arial"/>
              </a:rPr>
              <a:t>to</a:t>
            </a:r>
            <a:r>
              <a:rPr sz="1000" spc="-10" dirty="0">
                <a:latin typeface="Arial"/>
                <a:cs typeface="Arial"/>
              </a:rPr>
              <a:t> </a:t>
            </a:r>
            <a:r>
              <a:rPr sz="1000" spc="-5" dirty="0">
                <a:latin typeface="Arial"/>
                <a:cs typeface="Arial"/>
              </a:rPr>
              <a:t>each</a:t>
            </a:r>
            <a:r>
              <a:rPr sz="1000" spc="-10" dirty="0">
                <a:latin typeface="Arial"/>
                <a:cs typeface="Arial"/>
              </a:rPr>
              <a:t> </a:t>
            </a:r>
            <a:r>
              <a:rPr sz="1000" spc="-5" dirty="0">
                <a:latin typeface="Arial"/>
                <a:cs typeface="Arial"/>
              </a:rPr>
              <a:t>of</a:t>
            </a:r>
            <a:r>
              <a:rPr sz="1000" spc="-10" dirty="0">
                <a:latin typeface="Arial"/>
                <a:cs typeface="Arial"/>
              </a:rPr>
              <a:t> </a:t>
            </a:r>
            <a:r>
              <a:rPr sz="1000" spc="-5" dirty="0">
                <a:latin typeface="Arial"/>
                <a:cs typeface="Arial"/>
              </a:rPr>
              <a:t>its</a:t>
            </a:r>
            <a:r>
              <a:rPr sz="1000" spc="-10" dirty="0">
                <a:latin typeface="Arial"/>
                <a:cs typeface="Arial"/>
              </a:rPr>
              <a:t> </a:t>
            </a:r>
            <a:r>
              <a:rPr sz="1000" spc="-5" dirty="0">
                <a:latin typeface="Arial"/>
                <a:cs typeface="Arial"/>
              </a:rPr>
              <a:t>neighbors.</a:t>
            </a:r>
            <a:r>
              <a:rPr sz="1000" spc="55" dirty="0">
                <a:latin typeface="Arial"/>
                <a:cs typeface="Arial"/>
              </a:rPr>
              <a:t> </a:t>
            </a:r>
            <a:r>
              <a:rPr sz="1000" spc="-5" dirty="0">
                <a:latin typeface="Arial"/>
                <a:cs typeface="Arial"/>
              </a:rPr>
              <a:t>Each </a:t>
            </a:r>
            <a:r>
              <a:rPr sz="1000" dirty="0">
                <a:latin typeface="Arial"/>
                <a:cs typeface="Arial"/>
              </a:rPr>
              <a:t> </a:t>
            </a:r>
            <a:r>
              <a:rPr sz="1000" spc="-5" dirty="0">
                <a:latin typeface="Arial"/>
                <a:cs typeface="Arial"/>
              </a:rPr>
              <a:t>neighbor will </a:t>
            </a:r>
            <a:r>
              <a:rPr sz="1000" spc="-10" dirty="0">
                <a:latin typeface="Arial"/>
                <a:cs typeface="Arial"/>
              </a:rPr>
              <a:t>forward </a:t>
            </a:r>
            <a:r>
              <a:rPr sz="1000" spc="-5" dirty="0">
                <a:latin typeface="Arial"/>
                <a:cs typeface="Arial"/>
              </a:rPr>
              <a:t>that </a:t>
            </a:r>
            <a:r>
              <a:rPr sz="1000" dirty="0">
                <a:latin typeface="Arial"/>
                <a:cs typeface="Arial"/>
              </a:rPr>
              <a:t> </a:t>
            </a:r>
            <a:r>
              <a:rPr sz="1000" spc="-10" dirty="0">
                <a:latin typeface="Arial"/>
                <a:cs typeface="Arial"/>
              </a:rPr>
              <a:t>message,</a:t>
            </a:r>
            <a:r>
              <a:rPr sz="1000" spc="-15" dirty="0">
                <a:latin typeface="Arial"/>
                <a:cs typeface="Arial"/>
              </a:rPr>
              <a:t> except </a:t>
            </a:r>
            <a:r>
              <a:rPr sz="1000" spc="-10" dirty="0">
                <a:latin typeface="Arial"/>
                <a:cs typeface="Arial"/>
              </a:rPr>
              <a:t>to </a:t>
            </a:r>
            <a:r>
              <a:rPr sz="1000" i="1" spc="25" dirty="0">
                <a:latin typeface="Arial"/>
                <a:cs typeface="Arial"/>
              </a:rPr>
              <a:t>P</a:t>
            </a:r>
            <a:r>
              <a:rPr sz="1000" spc="25" dirty="0">
                <a:latin typeface="Arial"/>
                <a:cs typeface="Arial"/>
              </a:rPr>
              <a:t>,</a:t>
            </a:r>
            <a:r>
              <a:rPr sz="1000" spc="-15" dirty="0">
                <a:latin typeface="Arial"/>
                <a:cs typeface="Arial"/>
              </a:rPr>
              <a:t> </a:t>
            </a:r>
            <a:r>
              <a:rPr sz="1000" spc="-10" dirty="0">
                <a:latin typeface="Arial"/>
                <a:cs typeface="Arial"/>
              </a:rPr>
              <a:t>and</a:t>
            </a:r>
            <a:r>
              <a:rPr sz="1000" spc="-15" dirty="0">
                <a:latin typeface="Arial"/>
                <a:cs typeface="Arial"/>
              </a:rPr>
              <a:t> </a:t>
            </a:r>
            <a:r>
              <a:rPr sz="1000" spc="-10" dirty="0">
                <a:latin typeface="Arial"/>
                <a:cs typeface="Arial"/>
              </a:rPr>
              <a:t>only </a:t>
            </a:r>
            <a:r>
              <a:rPr sz="1000" spc="-260" dirty="0">
                <a:latin typeface="Arial"/>
                <a:cs typeface="Arial"/>
              </a:rPr>
              <a:t> </a:t>
            </a:r>
            <a:r>
              <a:rPr sz="1000" spc="-5" dirty="0">
                <a:latin typeface="Arial"/>
                <a:cs typeface="Arial"/>
              </a:rPr>
              <a:t>if</a:t>
            </a:r>
            <a:r>
              <a:rPr sz="1000" spc="-10" dirty="0">
                <a:latin typeface="Arial"/>
                <a:cs typeface="Arial"/>
              </a:rPr>
              <a:t> </a:t>
            </a:r>
            <a:r>
              <a:rPr sz="1000" spc="-5" dirty="0">
                <a:latin typeface="Arial"/>
                <a:cs typeface="Arial"/>
              </a:rPr>
              <a:t>it</a:t>
            </a:r>
            <a:r>
              <a:rPr sz="1000" spc="-10" dirty="0">
                <a:latin typeface="Arial"/>
                <a:cs typeface="Arial"/>
              </a:rPr>
              <a:t> </a:t>
            </a:r>
            <a:r>
              <a:rPr sz="1000" spc="-5" dirty="0">
                <a:latin typeface="Arial"/>
                <a:cs typeface="Arial"/>
              </a:rPr>
              <a:t>had not</a:t>
            </a:r>
            <a:r>
              <a:rPr sz="1000" spc="-10" dirty="0">
                <a:latin typeface="Arial"/>
                <a:cs typeface="Arial"/>
              </a:rPr>
              <a:t> </a:t>
            </a:r>
            <a:r>
              <a:rPr sz="1000" spc="-5" dirty="0">
                <a:latin typeface="Arial"/>
                <a:cs typeface="Arial"/>
              </a:rPr>
              <a:t>seen </a:t>
            </a:r>
            <a:r>
              <a:rPr sz="1000" i="1" spc="-5" dirty="0">
                <a:latin typeface="Arial"/>
                <a:cs typeface="Arial"/>
              </a:rPr>
              <a:t>m</a:t>
            </a:r>
            <a:r>
              <a:rPr sz="1000" i="1" spc="10" dirty="0">
                <a:latin typeface="Arial"/>
                <a:cs typeface="Arial"/>
              </a:rPr>
              <a:t> </a:t>
            </a:r>
            <a:r>
              <a:rPr sz="1000" spc="-10" dirty="0">
                <a:latin typeface="Arial"/>
                <a:cs typeface="Arial"/>
              </a:rPr>
              <a:t>before.</a:t>
            </a:r>
            <a:endParaRPr sz="1000" dirty="0">
              <a:latin typeface="Arial"/>
              <a:cs typeface="Arial"/>
            </a:endParaRPr>
          </a:p>
          <a:p>
            <a:pPr marL="273685">
              <a:lnSpc>
                <a:spcPts val="1410"/>
              </a:lnSpc>
              <a:spcBef>
                <a:spcPts val="635"/>
              </a:spcBef>
            </a:pPr>
            <a:r>
              <a:rPr sz="1200" spc="-10" dirty="0">
                <a:solidFill>
                  <a:srgbClr val="FA0000"/>
                </a:solidFill>
                <a:latin typeface="Arial"/>
                <a:cs typeface="Arial"/>
              </a:rPr>
              <a:t>Performance</a:t>
            </a:r>
            <a:endParaRPr sz="1200" dirty="0">
              <a:latin typeface="Arial"/>
              <a:cs typeface="Arial"/>
            </a:endParaRPr>
          </a:p>
          <a:p>
            <a:pPr marL="273685" marR="272415" indent="-4445">
              <a:lnSpc>
                <a:spcPts val="1200"/>
              </a:lnSpc>
              <a:spcBef>
                <a:spcPts val="10"/>
              </a:spcBef>
            </a:pPr>
            <a:r>
              <a:rPr sz="1000" spc="-5" dirty="0">
                <a:latin typeface="Arial"/>
                <a:cs typeface="Arial"/>
              </a:rPr>
              <a:t>The</a:t>
            </a:r>
            <a:r>
              <a:rPr sz="1000" spc="-20" dirty="0">
                <a:latin typeface="Arial"/>
                <a:cs typeface="Arial"/>
              </a:rPr>
              <a:t> </a:t>
            </a:r>
            <a:r>
              <a:rPr sz="1000" spc="-5" dirty="0">
                <a:latin typeface="Arial"/>
                <a:cs typeface="Arial"/>
              </a:rPr>
              <a:t>more</a:t>
            </a:r>
            <a:r>
              <a:rPr sz="1000" spc="-20" dirty="0">
                <a:latin typeface="Arial"/>
                <a:cs typeface="Arial"/>
              </a:rPr>
              <a:t> </a:t>
            </a:r>
            <a:r>
              <a:rPr sz="1000" spc="-5" dirty="0">
                <a:latin typeface="Arial"/>
                <a:cs typeface="Arial"/>
              </a:rPr>
              <a:t>edges,</a:t>
            </a:r>
            <a:r>
              <a:rPr sz="1000" spc="-20" dirty="0">
                <a:latin typeface="Arial"/>
                <a:cs typeface="Arial"/>
              </a:rPr>
              <a:t> </a:t>
            </a:r>
            <a:r>
              <a:rPr sz="1000" spc="-5" dirty="0">
                <a:latin typeface="Arial"/>
                <a:cs typeface="Arial"/>
              </a:rPr>
              <a:t>the</a:t>
            </a:r>
            <a:r>
              <a:rPr sz="1000" spc="-15" dirty="0">
                <a:latin typeface="Arial"/>
                <a:cs typeface="Arial"/>
              </a:rPr>
              <a:t> </a:t>
            </a:r>
            <a:r>
              <a:rPr sz="1000" spc="-5" dirty="0">
                <a:latin typeface="Arial"/>
                <a:cs typeface="Arial"/>
              </a:rPr>
              <a:t>more </a:t>
            </a:r>
            <a:r>
              <a:rPr sz="1000" spc="-265" dirty="0">
                <a:latin typeface="Arial"/>
                <a:cs typeface="Arial"/>
              </a:rPr>
              <a:t> </a:t>
            </a:r>
            <a:r>
              <a:rPr sz="1000" spc="-10" dirty="0">
                <a:latin typeface="Arial"/>
                <a:cs typeface="Arial"/>
              </a:rPr>
              <a:t>expensive!</a:t>
            </a:r>
            <a:endParaRPr sz="1000" dirty="0">
              <a:latin typeface="Arial"/>
              <a:cs typeface="Arial"/>
            </a:endParaRPr>
          </a:p>
        </p:txBody>
      </p:sp>
      <p:sp>
        <p:nvSpPr>
          <p:cNvPr id="5" name="object 5"/>
          <p:cNvSpPr txBox="1"/>
          <p:nvPr/>
        </p:nvSpPr>
        <p:spPr>
          <a:xfrm>
            <a:off x="2471394" y="499374"/>
            <a:ext cx="1710055" cy="561975"/>
          </a:xfrm>
          <a:prstGeom prst="rect">
            <a:avLst/>
          </a:prstGeom>
        </p:spPr>
        <p:txBody>
          <a:bodyPr vert="horz" wrap="square" lIns="0" tIns="22860" rIns="0" bIns="0" rtlCol="0">
            <a:spAutoFit/>
          </a:bodyPr>
          <a:lstStyle/>
          <a:p>
            <a:pPr marL="17145" marR="5080" indent="-5080">
              <a:lnSpc>
                <a:spcPts val="1390"/>
              </a:lnSpc>
              <a:spcBef>
                <a:spcPts val="180"/>
              </a:spcBef>
            </a:pPr>
            <a:r>
              <a:rPr sz="1200" spc="-5" dirty="0">
                <a:solidFill>
                  <a:srgbClr val="3333B2"/>
                </a:solidFill>
                <a:latin typeface="Arial"/>
                <a:cs typeface="Arial"/>
              </a:rPr>
              <a:t>The </a:t>
            </a:r>
            <a:r>
              <a:rPr sz="1200" spc="-10" dirty="0">
                <a:solidFill>
                  <a:srgbClr val="3333B2"/>
                </a:solidFill>
                <a:latin typeface="Arial"/>
                <a:cs typeface="Arial"/>
              </a:rPr>
              <a:t>size </a:t>
            </a:r>
            <a:r>
              <a:rPr sz="1200" spc="-5" dirty="0">
                <a:solidFill>
                  <a:srgbClr val="3333B2"/>
                </a:solidFill>
                <a:latin typeface="Arial"/>
                <a:cs typeface="Arial"/>
              </a:rPr>
              <a:t>of a </a:t>
            </a:r>
            <a:r>
              <a:rPr sz="1200" spc="-10" dirty="0">
                <a:solidFill>
                  <a:srgbClr val="3333B2"/>
                </a:solidFill>
                <a:latin typeface="Arial"/>
                <a:cs typeface="Arial"/>
              </a:rPr>
              <a:t>random </a:t>
            </a:r>
            <a:r>
              <a:rPr sz="1200" spc="-5" dirty="0">
                <a:solidFill>
                  <a:srgbClr val="3333B2"/>
                </a:solidFill>
                <a:latin typeface="Arial"/>
                <a:cs typeface="Arial"/>
              </a:rPr>
              <a:t> </a:t>
            </a:r>
            <a:r>
              <a:rPr sz="1200" spc="-15" dirty="0">
                <a:solidFill>
                  <a:srgbClr val="3333B2"/>
                </a:solidFill>
                <a:latin typeface="Arial"/>
                <a:cs typeface="Arial"/>
              </a:rPr>
              <a:t>overlay </a:t>
            </a:r>
            <a:r>
              <a:rPr sz="1200" spc="-5" dirty="0">
                <a:solidFill>
                  <a:srgbClr val="3333B2"/>
                </a:solidFill>
                <a:latin typeface="Arial"/>
                <a:cs typeface="Arial"/>
              </a:rPr>
              <a:t>as</a:t>
            </a:r>
            <a:r>
              <a:rPr sz="1200" spc="-20" dirty="0">
                <a:solidFill>
                  <a:srgbClr val="3333B2"/>
                </a:solidFill>
                <a:latin typeface="Arial"/>
                <a:cs typeface="Arial"/>
              </a:rPr>
              <a:t> </a:t>
            </a:r>
            <a:r>
              <a:rPr sz="1200" spc="-5" dirty="0">
                <a:solidFill>
                  <a:srgbClr val="3333B2"/>
                </a:solidFill>
                <a:latin typeface="Arial"/>
                <a:cs typeface="Arial"/>
              </a:rPr>
              <a:t>function</a:t>
            </a:r>
            <a:r>
              <a:rPr sz="1200" spc="-15" dirty="0">
                <a:solidFill>
                  <a:srgbClr val="3333B2"/>
                </a:solidFill>
                <a:latin typeface="Arial"/>
                <a:cs typeface="Arial"/>
              </a:rPr>
              <a:t> </a:t>
            </a:r>
            <a:r>
              <a:rPr sz="1200" spc="-5" dirty="0">
                <a:solidFill>
                  <a:srgbClr val="3333B2"/>
                </a:solidFill>
                <a:latin typeface="Arial"/>
                <a:cs typeface="Arial"/>
              </a:rPr>
              <a:t>of</a:t>
            </a:r>
            <a:r>
              <a:rPr sz="1200" spc="-15" dirty="0">
                <a:solidFill>
                  <a:srgbClr val="3333B2"/>
                </a:solidFill>
                <a:latin typeface="Arial"/>
                <a:cs typeface="Arial"/>
              </a:rPr>
              <a:t> </a:t>
            </a:r>
            <a:r>
              <a:rPr sz="1200" spc="-5" dirty="0">
                <a:solidFill>
                  <a:srgbClr val="3333B2"/>
                </a:solidFill>
                <a:latin typeface="Arial"/>
                <a:cs typeface="Arial"/>
              </a:rPr>
              <a:t>the </a:t>
            </a:r>
            <a:r>
              <a:rPr sz="1200" spc="-315" dirty="0">
                <a:solidFill>
                  <a:srgbClr val="3333B2"/>
                </a:solidFill>
                <a:latin typeface="Arial"/>
                <a:cs typeface="Arial"/>
              </a:rPr>
              <a:t> </a:t>
            </a:r>
            <a:r>
              <a:rPr sz="1200" spc="-10" dirty="0">
                <a:solidFill>
                  <a:srgbClr val="3333B2"/>
                </a:solidFill>
                <a:latin typeface="Arial"/>
                <a:cs typeface="Arial"/>
              </a:rPr>
              <a:t>number </a:t>
            </a:r>
            <a:r>
              <a:rPr sz="1200" spc="-5" dirty="0">
                <a:solidFill>
                  <a:srgbClr val="3333B2"/>
                </a:solidFill>
                <a:latin typeface="Arial"/>
                <a:cs typeface="Arial"/>
              </a:rPr>
              <a:t>of</a:t>
            </a:r>
            <a:r>
              <a:rPr sz="1200" spc="-10" dirty="0">
                <a:solidFill>
                  <a:srgbClr val="3333B2"/>
                </a:solidFill>
                <a:latin typeface="Arial"/>
                <a:cs typeface="Arial"/>
              </a:rPr>
              <a:t> </a:t>
            </a:r>
            <a:r>
              <a:rPr sz="1200" spc="-5" dirty="0">
                <a:solidFill>
                  <a:srgbClr val="3333B2"/>
                </a:solidFill>
                <a:latin typeface="Arial"/>
                <a:cs typeface="Arial"/>
              </a:rPr>
              <a:t>nodes</a:t>
            </a:r>
            <a:endParaRPr sz="1200">
              <a:latin typeface="Arial"/>
              <a:cs typeface="Arial"/>
            </a:endParaRPr>
          </a:p>
        </p:txBody>
      </p:sp>
      <p:grpSp>
        <p:nvGrpSpPr>
          <p:cNvPr id="6" name="object 6"/>
          <p:cNvGrpSpPr/>
          <p:nvPr/>
        </p:nvGrpSpPr>
        <p:grpSpPr>
          <a:xfrm>
            <a:off x="2802338" y="1315753"/>
            <a:ext cx="1349375" cy="1097915"/>
            <a:chOff x="2802338" y="1315753"/>
            <a:chExt cx="1349375" cy="1097915"/>
          </a:xfrm>
        </p:grpSpPr>
        <p:sp>
          <p:nvSpPr>
            <p:cNvPr id="7" name="object 7"/>
            <p:cNvSpPr/>
            <p:nvPr/>
          </p:nvSpPr>
          <p:spPr>
            <a:xfrm>
              <a:off x="2804974" y="1318389"/>
              <a:ext cx="1343660" cy="1092200"/>
            </a:xfrm>
            <a:custGeom>
              <a:avLst/>
              <a:gdLst/>
              <a:ahLst/>
              <a:cxnLst/>
              <a:rect l="l" t="t" r="r" b="b"/>
              <a:pathLst>
                <a:path w="1343660" h="1092200">
                  <a:moveTo>
                    <a:pt x="0" y="1092057"/>
                  </a:moveTo>
                  <a:lnTo>
                    <a:pt x="1343450" y="1092057"/>
                  </a:lnTo>
                  <a:lnTo>
                    <a:pt x="1343450" y="9"/>
                  </a:lnTo>
                  <a:lnTo>
                    <a:pt x="0" y="9"/>
                  </a:lnTo>
                  <a:lnTo>
                    <a:pt x="0" y="1092057"/>
                  </a:lnTo>
                  <a:close/>
                </a:path>
                <a:path w="1343660" h="1092200">
                  <a:moveTo>
                    <a:pt x="0" y="1024063"/>
                  </a:moveTo>
                  <a:lnTo>
                    <a:pt x="33204" y="1024063"/>
                  </a:lnTo>
                </a:path>
                <a:path w="1343660" h="1092200">
                  <a:moveTo>
                    <a:pt x="0" y="853299"/>
                  </a:moveTo>
                  <a:lnTo>
                    <a:pt x="33204" y="853299"/>
                  </a:lnTo>
                </a:path>
                <a:path w="1343660" h="1092200">
                  <a:moveTo>
                    <a:pt x="0" y="682534"/>
                  </a:moveTo>
                  <a:lnTo>
                    <a:pt x="33204" y="682534"/>
                  </a:lnTo>
                </a:path>
                <a:path w="1343660" h="1092200">
                  <a:moveTo>
                    <a:pt x="0" y="511770"/>
                  </a:moveTo>
                  <a:lnTo>
                    <a:pt x="33204" y="511770"/>
                  </a:lnTo>
                </a:path>
                <a:path w="1343660" h="1092200">
                  <a:moveTo>
                    <a:pt x="0" y="341533"/>
                  </a:moveTo>
                  <a:lnTo>
                    <a:pt x="33204" y="341533"/>
                  </a:lnTo>
                </a:path>
                <a:path w="1343660" h="1092200">
                  <a:moveTo>
                    <a:pt x="0" y="170764"/>
                  </a:moveTo>
                  <a:lnTo>
                    <a:pt x="33204" y="170764"/>
                  </a:lnTo>
                </a:path>
                <a:path w="1343660" h="1092200">
                  <a:moveTo>
                    <a:pt x="0" y="0"/>
                  </a:moveTo>
                  <a:lnTo>
                    <a:pt x="33204" y="0"/>
                  </a:lnTo>
                </a:path>
                <a:path w="1343660" h="1092200">
                  <a:moveTo>
                    <a:pt x="0" y="1092057"/>
                  </a:moveTo>
                  <a:lnTo>
                    <a:pt x="0" y="1058852"/>
                  </a:lnTo>
                </a:path>
                <a:path w="1343660" h="1092200">
                  <a:moveTo>
                    <a:pt x="149155" y="1092057"/>
                  </a:moveTo>
                  <a:lnTo>
                    <a:pt x="149155" y="1058852"/>
                  </a:lnTo>
                </a:path>
                <a:path w="1343660" h="1092200">
                  <a:moveTo>
                    <a:pt x="298310" y="1092057"/>
                  </a:moveTo>
                  <a:lnTo>
                    <a:pt x="298310" y="1058852"/>
                  </a:lnTo>
                </a:path>
                <a:path w="1343660" h="1092200">
                  <a:moveTo>
                    <a:pt x="447992" y="1092057"/>
                  </a:moveTo>
                  <a:lnTo>
                    <a:pt x="447992" y="1058852"/>
                  </a:lnTo>
                </a:path>
                <a:path w="1343660" h="1092200">
                  <a:moveTo>
                    <a:pt x="597147" y="1092057"/>
                  </a:moveTo>
                  <a:lnTo>
                    <a:pt x="597147" y="1058852"/>
                  </a:lnTo>
                </a:path>
                <a:path w="1343660" h="1092200">
                  <a:moveTo>
                    <a:pt x="746301" y="1092057"/>
                  </a:moveTo>
                  <a:lnTo>
                    <a:pt x="746301" y="1058852"/>
                  </a:lnTo>
                </a:path>
                <a:path w="1343660" h="1092200">
                  <a:moveTo>
                    <a:pt x="895456" y="1092057"/>
                  </a:moveTo>
                  <a:lnTo>
                    <a:pt x="895456" y="1058852"/>
                  </a:lnTo>
                </a:path>
                <a:path w="1343660" h="1092200">
                  <a:moveTo>
                    <a:pt x="1045139" y="1092057"/>
                  </a:moveTo>
                  <a:lnTo>
                    <a:pt x="1045139" y="1058852"/>
                  </a:lnTo>
                </a:path>
                <a:path w="1343660" h="1092200">
                  <a:moveTo>
                    <a:pt x="1194304" y="1092057"/>
                  </a:moveTo>
                  <a:lnTo>
                    <a:pt x="1194304" y="1058852"/>
                  </a:lnTo>
                </a:path>
                <a:path w="1343660" h="1092200">
                  <a:moveTo>
                    <a:pt x="1343459" y="1092057"/>
                  </a:moveTo>
                  <a:lnTo>
                    <a:pt x="1343459" y="1058852"/>
                  </a:lnTo>
                </a:path>
                <a:path w="1343660" h="1092200">
                  <a:moveTo>
                    <a:pt x="0" y="1092057"/>
                  </a:moveTo>
                  <a:lnTo>
                    <a:pt x="1343450" y="1092057"/>
                  </a:lnTo>
                  <a:lnTo>
                    <a:pt x="1343450" y="9"/>
                  </a:lnTo>
                  <a:lnTo>
                    <a:pt x="0" y="9"/>
                  </a:lnTo>
                  <a:lnTo>
                    <a:pt x="0" y="1092057"/>
                  </a:lnTo>
                  <a:close/>
                </a:path>
                <a:path w="1343660" h="1092200">
                  <a:moveTo>
                    <a:pt x="0" y="1020378"/>
                  </a:moveTo>
                  <a:lnTo>
                    <a:pt x="13703" y="1019846"/>
                  </a:lnTo>
                  <a:lnTo>
                    <a:pt x="26879" y="1019324"/>
                  </a:lnTo>
                  <a:lnTo>
                    <a:pt x="40582" y="1018270"/>
                  </a:lnTo>
                  <a:lnTo>
                    <a:pt x="54286" y="1017746"/>
                  </a:lnTo>
                  <a:lnTo>
                    <a:pt x="67989" y="1016688"/>
                  </a:lnTo>
                  <a:lnTo>
                    <a:pt x="81165" y="1015634"/>
                  </a:lnTo>
                  <a:lnTo>
                    <a:pt x="94868" y="1014580"/>
                  </a:lnTo>
                  <a:lnTo>
                    <a:pt x="108572" y="1013529"/>
                  </a:lnTo>
                  <a:lnTo>
                    <a:pt x="122275" y="1012475"/>
                  </a:lnTo>
                  <a:lnTo>
                    <a:pt x="135451" y="1011418"/>
                  </a:lnTo>
                  <a:lnTo>
                    <a:pt x="149155" y="1010364"/>
                  </a:lnTo>
                  <a:lnTo>
                    <a:pt x="162858" y="1008783"/>
                  </a:lnTo>
                  <a:lnTo>
                    <a:pt x="176561" y="1007729"/>
                  </a:lnTo>
                  <a:lnTo>
                    <a:pt x="189737" y="1006151"/>
                  </a:lnTo>
                  <a:lnTo>
                    <a:pt x="203441" y="1004569"/>
                  </a:lnTo>
                  <a:lnTo>
                    <a:pt x="217144" y="1003515"/>
                  </a:lnTo>
                  <a:lnTo>
                    <a:pt x="230852" y="1001934"/>
                  </a:lnTo>
                  <a:lnTo>
                    <a:pt x="244024" y="1000353"/>
                  </a:lnTo>
                  <a:lnTo>
                    <a:pt x="257731" y="998776"/>
                  </a:lnTo>
                  <a:lnTo>
                    <a:pt x="271434" y="996668"/>
                  </a:lnTo>
                  <a:lnTo>
                    <a:pt x="285138" y="995087"/>
                  </a:lnTo>
                  <a:lnTo>
                    <a:pt x="298314" y="992979"/>
                  </a:lnTo>
                  <a:lnTo>
                    <a:pt x="312017" y="991397"/>
                  </a:lnTo>
                  <a:lnTo>
                    <a:pt x="325721" y="989289"/>
                  </a:lnTo>
                  <a:lnTo>
                    <a:pt x="339424" y="987181"/>
                  </a:lnTo>
                  <a:lnTo>
                    <a:pt x="352600" y="985077"/>
                  </a:lnTo>
                  <a:lnTo>
                    <a:pt x="366303" y="982969"/>
                  </a:lnTo>
                  <a:lnTo>
                    <a:pt x="380007" y="980861"/>
                  </a:lnTo>
                  <a:lnTo>
                    <a:pt x="393706" y="978752"/>
                  </a:lnTo>
                  <a:lnTo>
                    <a:pt x="406886" y="976644"/>
                  </a:lnTo>
                  <a:lnTo>
                    <a:pt x="420590" y="974009"/>
                  </a:lnTo>
                  <a:lnTo>
                    <a:pt x="434293" y="971901"/>
                  </a:lnTo>
                  <a:lnTo>
                    <a:pt x="447992" y="969265"/>
                  </a:lnTo>
                  <a:lnTo>
                    <a:pt x="461172" y="966634"/>
                  </a:lnTo>
                  <a:lnTo>
                    <a:pt x="474876" y="964526"/>
                  </a:lnTo>
                  <a:lnTo>
                    <a:pt x="488575" y="961891"/>
                  </a:lnTo>
                  <a:lnTo>
                    <a:pt x="502282" y="958733"/>
                  </a:lnTo>
                  <a:lnTo>
                    <a:pt x="515459" y="956098"/>
                  </a:lnTo>
                  <a:lnTo>
                    <a:pt x="529162" y="953462"/>
                  </a:lnTo>
                  <a:lnTo>
                    <a:pt x="542865" y="950827"/>
                  </a:lnTo>
                  <a:lnTo>
                    <a:pt x="556568" y="947665"/>
                  </a:lnTo>
                  <a:lnTo>
                    <a:pt x="569745" y="944507"/>
                  </a:lnTo>
                  <a:lnTo>
                    <a:pt x="583448" y="941872"/>
                  </a:lnTo>
                  <a:lnTo>
                    <a:pt x="597151" y="938709"/>
                  </a:lnTo>
                  <a:lnTo>
                    <a:pt x="610855" y="935547"/>
                  </a:lnTo>
                  <a:lnTo>
                    <a:pt x="624031" y="932385"/>
                  </a:lnTo>
                  <a:lnTo>
                    <a:pt x="637734" y="929222"/>
                  </a:lnTo>
                  <a:lnTo>
                    <a:pt x="651442" y="926060"/>
                  </a:lnTo>
                  <a:lnTo>
                    <a:pt x="665145" y="922375"/>
                  </a:lnTo>
                  <a:lnTo>
                    <a:pt x="678317" y="919213"/>
                  </a:lnTo>
                  <a:lnTo>
                    <a:pt x="692025" y="915523"/>
                  </a:lnTo>
                  <a:lnTo>
                    <a:pt x="705728" y="911834"/>
                  </a:lnTo>
                  <a:lnTo>
                    <a:pt x="719431" y="908672"/>
                  </a:lnTo>
                  <a:lnTo>
                    <a:pt x="732607" y="904986"/>
                  </a:lnTo>
                  <a:lnTo>
                    <a:pt x="746312" y="901297"/>
                  </a:lnTo>
                  <a:lnTo>
                    <a:pt x="760015" y="897608"/>
                  </a:lnTo>
                  <a:lnTo>
                    <a:pt x="773718" y="893391"/>
                  </a:lnTo>
                  <a:lnTo>
                    <a:pt x="786895" y="889706"/>
                  </a:lnTo>
                  <a:lnTo>
                    <a:pt x="800598" y="886017"/>
                  </a:lnTo>
                  <a:lnTo>
                    <a:pt x="814301" y="881805"/>
                  </a:lnTo>
                  <a:lnTo>
                    <a:pt x="828005" y="878111"/>
                  </a:lnTo>
                  <a:lnTo>
                    <a:pt x="841181" y="873899"/>
                  </a:lnTo>
                  <a:lnTo>
                    <a:pt x="854884" y="869683"/>
                  </a:lnTo>
                  <a:lnTo>
                    <a:pt x="868587" y="865466"/>
                  </a:lnTo>
                  <a:lnTo>
                    <a:pt x="882291" y="861250"/>
                  </a:lnTo>
                  <a:lnTo>
                    <a:pt x="895467" y="857033"/>
                  </a:lnTo>
                  <a:lnTo>
                    <a:pt x="909170" y="852294"/>
                  </a:lnTo>
                  <a:lnTo>
                    <a:pt x="922874" y="848078"/>
                  </a:lnTo>
                  <a:lnTo>
                    <a:pt x="936577" y="843334"/>
                  </a:lnTo>
                  <a:lnTo>
                    <a:pt x="949753" y="839118"/>
                  </a:lnTo>
                  <a:lnTo>
                    <a:pt x="963456" y="834374"/>
                  </a:lnTo>
                  <a:lnTo>
                    <a:pt x="977160" y="829631"/>
                  </a:lnTo>
                  <a:lnTo>
                    <a:pt x="990863" y="824888"/>
                  </a:lnTo>
                  <a:lnTo>
                    <a:pt x="1004039" y="820144"/>
                  </a:lnTo>
                  <a:lnTo>
                    <a:pt x="1017742" y="815401"/>
                  </a:lnTo>
                  <a:lnTo>
                    <a:pt x="1031456" y="810657"/>
                  </a:lnTo>
                  <a:lnTo>
                    <a:pt x="1045160" y="805914"/>
                  </a:lnTo>
                  <a:lnTo>
                    <a:pt x="1058336" y="800643"/>
                  </a:lnTo>
                  <a:lnTo>
                    <a:pt x="1072039" y="795900"/>
                  </a:lnTo>
                  <a:lnTo>
                    <a:pt x="1085742" y="790629"/>
                  </a:lnTo>
                  <a:lnTo>
                    <a:pt x="1099446" y="785359"/>
                  </a:lnTo>
                  <a:lnTo>
                    <a:pt x="1112622" y="780091"/>
                  </a:lnTo>
                  <a:lnTo>
                    <a:pt x="1126325" y="774821"/>
                  </a:lnTo>
                  <a:lnTo>
                    <a:pt x="1140029" y="769550"/>
                  </a:lnTo>
                  <a:lnTo>
                    <a:pt x="1153732" y="764280"/>
                  </a:lnTo>
                  <a:lnTo>
                    <a:pt x="1166908" y="759009"/>
                  </a:lnTo>
                  <a:lnTo>
                    <a:pt x="1180611" y="753212"/>
                  </a:lnTo>
                  <a:lnTo>
                    <a:pt x="1194315" y="747941"/>
                  </a:lnTo>
                  <a:lnTo>
                    <a:pt x="1208018" y="742148"/>
                  </a:lnTo>
                  <a:lnTo>
                    <a:pt x="1221194" y="736351"/>
                  </a:lnTo>
                  <a:lnTo>
                    <a:pt x="1234898" y="730553"/>
                  </a:lnTo>
                  <a:lnTo>
                    <a:pt x="1248601" y="724755"/>
                  </a:lnTo>
                  <a:lnTo>
                    <a:pt x="1262304" y="718958"/>
                  </a:lnTo>
                  <a:lnTo>
                    <a:pt x="1275491" y="713160"/>
                  </a:lnTo>
                  <a:lnTo>
                    <a:pt x="1289184" y="707363"/>
                  </a:lnTo>
                  <a:lnTo>
                    <a:pt x="1302898" y="701038"/>
                  </a:lnTo>
                  <a:lnTo>
                    <a:pt x="1316601" y="695241"/>
                  </a:lnTo>
                  <a:lnTo>
                    <a:pt x="1329777" y="688916"/>
                  </a:lnTo>
                  <a:lnTo>
                    <a:pt x="1343480" y="683123"/>
                  </a:lnTo>
                </a:path>
                <a:path w="1343660" h="1092200">
                  <a:moveTo>
                    <a:pt x="0" y="1017211"/>
                  </a:moveTo>
                  <a:lnTo>
                    <a:pt x="13703" y="1015634"/>
                  </a:lnTo>
                  <a:lnTo>
                    <a:pt x="26879" y="1014580"/>
                  </a:lnTo>
                  <a:lnTo>
                    <a:pt x="40582" y="1012999"/>
                  </a:lnTo>
                  <a:lnTo>
                    <a:pt x="54286" y="1011418"/>
                  </a:lnTo>
                  <a:lnTo>
                    <a:pt x="67989" y="1009310"/>
                  </a:lnTo>
                  <a:lnTo>
                    <a:pt x="81165" y="1007729"/>
                  </a:lnTo>
                  <a:lnTo>
                    <a:pt x="94868" y="1005624"/>
                  </a:lnTo>
                  <a:lnTo>
                    <a:pt x="108572" y="1003515"/>
                  </a:lnTo>
                  <a:lnTo>
                    <a:pt x="122275" y="1001407"/>
                  </a:lnTo>
                  <a:lnTo>
                    <a:pt x="135451" y="999299"/>
                  </a:lnTo>
                  <a:lnTo>
                    <a:pt x="149155" y="996664"/>
                  </a:lnTo>
                  <a:lnTo>
                    <a:pt x="162858" y="994033"/>
                  </a:lnTo>
                  <a:lnTo>
                    <a:pt x="176561" y="991397"/>
                  </a:lnTo>
                  <a:lnTo>
                    <a:pt x="189737" y="988762"/>
                  </a:lnTo>
                  <a:lnTo>
                    <a:pt x="203441" y="985600"/>
                  </a:lnTo>
                  <a:lnTo>
                    <a:pt x="217144" y="982969"/>
                  </a:lnTo>
                  <a:lnTo>
                    <a:pt x="230852" y="979802"/>
                  </a:lnTo>
                  <a:lnTo>
                    <a:pt x="244024" y="976640"/>
                  </a:lnTo>
                  <a:lnTo>
                    <a:pt x="257731" y="973482"/>
                  </a:lnTo>
                  <a:lnTo>
                    <a:pt x="271434" y="969793"/>
                  </a:lnTo>
                  <a:lnTo>
                    <a:pt x="285138" y="966107"/>
                  </a:lnTo>
                  <a:lnTo>
                    <a:pt x="298314" y="962414"/>
                  </a:lnTo>
                  <a:lnTo>
                    <a:pt x="312017" y="958729"/>
                  </a:lnTo>
                  <a:lnTo>
                    <a:pt x="325721" y="955039"/>
                  </a:lnTo>
                  <a:lnTo>
                    <a:pt x="339424" y="950827"/>
                  </a:lnTo>
                  <a:lnTo>
                    <a:pt x="352600" y="946611"/>
                  </a:lnTo>
                  <a:lnTo>
                    <a:pt x="366303" y="942394"/>
                  </a:lnTo>
                  <a:lnTo>
                    <a:pt x="380007" y="938178"/>
                  </a:lnTo>
                  <a:lnTo>
                    <a:pt x="393706" y="933962"/>
                  </a:lnTo>
                  <a:lnTo>
                    <a:pt x="406886" y="929218"/>
                  </a:lnTo>
                  <a:lnTo>
                    <a:pt x="420590" y="924475"/>
                  </a:lnTo>
                  <a:lnTo>
                    <a:pt x="434293" y="919731"/>
                  </a:lnTo>
                  <a:lnTo>
                    <a:pt x="447992" y="914988"/>
                  </a:lnTo>
                  <a:lnTo>
                    <a:pt x="461172" y="909717"/>
                  </a:lnTo>
                  <a:lnTo>
                    <a:pt x="474876" y="904974"/>
                  </a:lnTo>
                  <a:lnTo>
                    <a:pt x="488575" y="899708"/>
                  </a:lnTo>
                  <a:lnTo>
                    <a:pt x="502282" y="893906"/>
                  </a:lnTo>
                  <a:lnTo>
                    <a:pt x="515459" y="888639"/>
                  </a:lnTo>
                  <a:lnTo>
                    <a:pt x="529162" y="883369"/>
                  </a:lnTo>
                  <a:lnTo>
                    <a:pt x="542865" y="877571"/>
                  </a:lnTo>
                  <a:lnTo>
                    <a:pt x="556568" y="871774"/>
                  </a:lnTo>
                  <a:lnTo>
                    <a:pt x="569745" y="865449"/>
                  </a:lnTo>
                  <a:lnTo>
                    <a:pt x="583448" y="859652"/>
                  </a:lnTo>
                  <a:lnTo>
                    <a:pt x="597151" y="853331"/>
                  </a:lnTo>
                  <a:lnTo>
                    <a:pt x="610855" y="847534"/>
                  </a:lnTo>
                  <a:lnTo>
                    <a:pt x="624031" y="840682"/>
                  </a:lnTo>
                  <a:lnTo>
                    <a:pt x="637734" y="834358"/>
                  </a:lnTo>
                  <a:lnTo>
                    <a:pt x="651442" y="828033"/>
                  </a:lnTo>
                  <a:lnTo>
                    <a:pt x="665145" y="821181"/>
                  </a:lnTo>
                  <a:lnTo>
                    <a:pt x="678317" y="814330"/>
                  </a:lnTo>
                  <a:lnTo>
                    <a:pt x="692025" y="807478"/>
                  </a:lnTo>
                  <a:lnTo>
                    <a:pt x="705728" y="800104"/>
                  </a:lnTo>
                  <a:lnTo>
                    <a:pt x="719431" y="793252"/>
                  </a:lnTo>
                  <a:lnTo>
                    <a:pt x="732607" y="785873"/>
                  </a:lnTo>
                  <a:lnTo>
                    <a:pt x="746312" y="778494"/>
                  </a:lnTo>
                  <a:lnTo>
                    <a:pt x="760015" y="771120"/>
                  </a:lnTo>
                  <a:lnTo>
                    <a:pt x="773718" y="763210"/>
                  </a:lnTo>
                  <a:lnTo>
                    <a:pt x="786895" y="755836"/>
                  </a:lnTo>
                  <a:lnTo>
                    <a:pt x="800598" y="747930"/>
                  </a:lnTo>
                  <a:lnTo>
                    <a:pt x="814301" y="740024"/>
                  </a:lnTo>
                  <a:lnTo>
                    <a:pt x="828005" y="732118"/>
                  </a:lnTo>
                  <a:lnTo>
                    <a:pt x="841181" y="723686"/>
                  </a:lnTo>
                  <a:lnTo>
                    <a:pt x="854884" y="715257"/>
                  </a:lnTo>
                  <a:lnTo>
                    <a:pt x="868587" y="706824"/>
                  </a:lnTo>
                  <a:lnTo>
                    <a:pt x="882291" y="698396"/>
                  </a:lnTo>
                  <a:lnTo>
                    <a:pt x="895467" y="689963"/>
                  </a:lnTo>
                  <a:lnTo>
                    <a:pt x="909170" y="681003"/>
                  </a:lnTo>
                  <a:lnTo>
                    <a:pt x="922874" y="672046"/>
                  </a:lnTo>
                  <a:lnTo>
                    <a:pt x="936577" y="663083"/>
                  </a:lnTo>
                  <a:lnTo>
                    <a:pt x="949753" y="654127"/>
                  </a:lnTo>
                  <a:lnTo>
                    <a:pt x="963456" y="645163"/>
                  </a:lnTo>
                  <a:lnTo>
                    <a:pt x="977160" y="635677"/>
                  </a:lnTo>
                  <a:lnTo>
                    <a:pt x="990863" y="626190"/>
                  </a:lnTo>
                  <a:lnTo>
                    <a:pt x="1004039" y="616703"/>
                  </a:lnTo>
                  <a:lnTo>
                    <a:pt x="1017742" y="607216"/>
                  </a:lnTo>
                  <a:lnTo>
                    <a:pt x="1031456" y="597205"/>
                  </a:lnTo>
                  <a:lnTo>
                    <a:pt x="1045160" y="587718"/>
                  </a:lnTo>
                  <a:lnTo>
                    <a:pt x="1058336" y="577704"/>
                  </a:lnTo>
                  <a:lnTo>
                    <a:pt x="1072039" y="567690"/>
                  </a:lnTo>
                  <a:lnTo>
                    <a:pt x="1085742" y="557149"/>
                  </a:lnTo>
                  <a:lnTo>
                    <a:pt x="1099446" y="547135"/>
                  </a:lnTo>
                  <a:lnTo>
                    <a:pt x="1112622" y="536594"/>
                  </a:lnTo>
                  <a:lnTo>
                    <a:pt x="1126325" y="526058"/>
                  </a:lnTo>
                  <a:lnTo>
                    <a:pt x="1140029" y="515517"/>
                  </a:lnTo>
                  <a:lnTo>
                    <a:pt x="1153732" y="504449"/>
                  </a:lnTo>
                  <a:lnTo>
                    <a:pt x="1166908" y="493908"/>
                  </a:lnTo>
                  <a:lnTo>
                    <a:pt x="1180611" y="482839"/>
                  </a:lnTo>
                  <a:lnTo>
                    <a:pt x="1194315" y="471776"/>
                  </a:lnTo>
                  <a:lnTo>
                    <a:pt x="1208018" y="460176"/>
                  </a:lnTo>
                  <a:lnTo>
                    <a:pt x="1221194" y="449108"/>
                  </a:lnTo>
                  <a:lnTo>
                    <a:pt x="1234898" y="437517"/>
                  </a:lnTo>
                  <a:lnTo>
                    <a:pt x="1248601" y="425922"/>
                  </a:lnTo>
                  <a:lnTo>
                    <a:pt x="1262304" y="414327"/>
                  </a:lnTo>
                  <a:lnTo>
                    <a:pt x="1275491" y="402732"/>
                  </a:lnTo>
                  <a:lnTo>
                    <a:pt x="1289184" y="390610"/>
                  </a:lnTo>
                  <a:lnTo>
                    <a:pt x="1302898" y="378492"/>
                  </a:lnTo>
                  <a:lnTo>
                    <a:pt x="1316601" y="366370"/>
                  </a:lnTo>
                  <a:lnTo>
                    <a:pt x="1329777" y="354248"/>
                  </a:lnTo>
                  <a:lnTo>
                    <a:pt x="1343480" y="342130"/>
                  </a:lnTo>
                </a:path>
                <a:path w="1343660" h="1092200">
                  <a:moveTo>
                    <a:pt x="0" y="1013526"/>
                  </a:moveTo>
                  <a:lnTo>
                    <a:pt x="13703" y="1011945"/>
                  </a:lnTo>
                  <a:lnTo>
                    <a:pt x="26879" y="1009837"/>
                  </a:lnTo>
                  <a:lnTo>
                    <a:pt x="40582" y="1007201"/>
                  </a:lnTo>
                  <a:lnTo>
                    <a:pt x="54286" y="1005093"/>
                  </a:lnTo>
                  <a:lnTo>
                    <a:pt x="67989" y="1002458"/>
                  </a:lnTo>
                  <a:lnTo>
                    <a:pt x="81165" y="999296"/>
                  </a:lnTo>
                  <a:lnTo>
                    <a:pt x="94868" y="996664"/>
                  </a:lnTo>
                  <a:lnTo>
                    <a:pt x="108572" y="993501"/>
                  </a:lnTo>
                  <a:lnTo>
                    <a:pt x="122275" y="990339"/>
                  </a:lnTo>
                  <a:lnTo>
                    <a:pt x="135451" y="986650"/>
                  </a:lnTo>
                  <a:lnTo>
                    <a:pt x="149155" y="982965"/>
                  </a:lnTo>
                  <a:lnTo>
                    <a:pt x="162858" y="979275"/>
                  </a:lnTo>
                  <a:lnTo>
                    <a:pt x="176561" y="975059"/>
                  </a:lnTo>
                  <a:lnTo>
                    <a:pt x="189737" y="971369"/>
                  </a:lnTo>
                  <a:lnTo>
                    <a:pt x="203441" y="966630"/>
                  </a:lnTo>
                  <a:lnTo>
                    <a:pt x="217144" y="962414"/>
                  </a:lnTo>
                  <a:lnTo>
                    <a:pt x="230852" y="957666"/>
                  </a:lnTo>
                  <a:lnTo>
                    <a:pt x="244024" y="952927"/>
                  </a:lnTo>
                  <a:lnTo>
                    <a:pt x="257731" y="948179"/>
                  </a:lnTo>
                  <a:lnTo>
                    <a:pt x="271434" y="942913"/>
                  </a:lnTo>
                  <a:lnTo>
                    <a:pt x="285138" y="937642"/>
                  </a:lnTo>
                  <a:lnTo>
                    <a:pt x="298314" y="931845"/>
                  </a:lnTo>
                  <a:lnTo>
                    <a:pt x="312017" y="926574"/>
                  </a:lnTo>
                  <a:lnTo>
                    <a:pt x="325721" y="920250"/>
                  </a:lnTo>
                  <a:lnTo>
                    <a:pt x="339424" y="914457"/>
                  </a:lnTo>
                  <a:lnTo>
                    <a:pt x="352600" y="908128"/>
                  </a:lnTo>
                  <a:lnTo>
                    <a:pt x="366303" y="901807"/>
                  </a:lnTo>
                  <a:lnTo>
                    <a:pt x="380007" y="895483"/>
                  </a:lnTo>
                  <a:lnTo>
                    <a:pt x="393706" y="888631"/>
                  </a:lnTo>
                  <a:lnTo>
                    <a:pt x="406886" y="881779"/>
                  </a:lnTo>
                  <a:lnTo>
                    <a:pt x="420590" y="874928"/>
                  </a:lnTo>
                  <a:lnTo>
                    <a:pt x="434293" y="867553"/>
                  </a:lnTo>
                  <a:lnTo>
                    <a:pt x="447992" y="860175"/>
                  </a:lnTo>
                  <a:lnTo>
                    <a:pt x="461172" y="852796"/>
                  </a:lnTo>
                  <a:lnTo>
                    <a:pt x="474876" y="845421"/>
                  </a:lnTo>
                  <a:lnTo>
                    <a:pt x="488575" y="837516"/>
                  </a:lnTo>
                  <a:lnTo>
                    <a:pt x="502282" y="829083"/>
                  </a:lnTo>
                  <a:lnTo>
                    <a:pt x="515459" y="821177"/>
                  </a:lnTo>
                  <a:lnTo>
                    <a:pt x="529162" y="812749"/>
                  </a:lnTo>
                  <a:lnTo>
                    <a:pt x="542865" y="804316"/>
                  </a:lnTo>
                  <a:lnTo>
                    <a:pt x="556568" y="795356"/>
                  </a:lnTo>
                  <a:lnTo>
                    <a:pt x="569745" y="786396"/>
                  </a:lnTo>
                  <a:lnTo>
                    <a:pt x="583448" y="777436"/>
                  </a:lnTo>
                  <a:lnTo>
                    <a:pt x="597151" y="768476"/>
                  </a:lnTo>
                  <a:lnTo>
                    <a:pt x="610855" y="758989"/>
                  </a:lnTo>
                  <a:lnTo>
                    <a:pt x="624031" y="749503"/>
                  </a:lnTo>
                  <a:lnTo>
                    <a:pt x="637734" y="739489"/>
                  </a:lnTo>
                  <a:lnTo>
                    <a:pt x="651442" y="730002"/>
                  </a:lnTo>
                  <a:lnTo>
                    <a:pt x="665145" y="719992"/>
                  </a:lnTo>
                  <a:lnTo>
                    <a:pt x="678317" y="709451"/>
                  </a:lnTo>
                  <a:lnTo>
                    <a:pt x="692025" y="698910"/>
                  </a:lnTo>
                  <a:lnTo>
                    <a:pt x="705728" y="688369"/>
                  </a:lnTo>
                  <a:lnTo>
                    <a:pt x="719431" y="677828"/>
                  </a:lnTo>
                  <a:lnTo>
                    <a:pt x="732607" y="666760"/>
                  </a:lnTo>
                  <a:lnTo>
                    <a:pt x="746312" y="655696"/>
                  </a:lnTo>
                  <a:lnTo>
                    <a:pt x="760015" y="644628"/>
                  </a:lnTo>
                  <a:lnTo>
                    <a:pt x="773718" y="633033"/>
                  </a:lnTo>
                  <a:lnTo>
                    <a:pt x="786895" y="621438"/>
                  </a:lnTo>
                  <a:lnTo>
                    <a:pt x="800598" y="609843"/>
                  </a:lnTo>
                  <a:lnTo>
                    <a:pt x="814301" y="597721"/>
                  </a:lnTo>
                  <a:lnTo>
                    <a:pt x="828005" y="586125"/>
                  </a:lnTo>
                  <a:lnTo>
                    <a:pt x="841181" y="573476"/>
                  </a:lnTo>
                  <a:lnTo>
                    <a:pt x="854884" y="561358"/>
                  </a:lnTo>
                  <a:lnTo>
                    <a:pt x="868587" y="548709"/>
                  </a:lnTo>
                  <a:lnTo>
                    <a:pt x="882291" y="536060"/>
                  </a:lnTo>
                  <a:lnTo>
                    <a:pt x="895467" y="522884"/>
                  </a:lnTo>
                  <a:lnTo>
                    <a:pt x="909170" y="509712"/>
                  </a:lnTo>
                  <a:lnTo>
                    <a:pt x="922874" y="496535"/>
                  </a:lnTo>
                  <a:lnTo>
                    <a:pt x="936577" y="482832"/>
                  </a:lnTo>
                  <a:lnTo>
                    <a:pt x="949753" y="469656"/>
                  </a:lnTo>
                  <a:lnTo>
                    <a:pt x="963456" y="455425"/>
                  </a:lnTo>
                  <a:lnTo>
                    <a:pt x="977160" y="441725"/>
                  </a:lnTo>
                  <a:lnTo>
                    <a:pt x="990863" y="427492"/>
                  </a:lnTo>
                  <a:lnTo>
                    <a:pt x="1004039" y="413265"/>
                  </a:lnTo>
                  <a:lnTo>
                    <a:pt x="1017742" y="399031"/>
                  </a:lnTo>
                  <a:lnTo>
                    <a:pt x="1031456" y="384277"/>
                  </a:lnTo>
                  <a:lnTo>
                    <a:pt x="1045160" y="369520"/>
                  </a:lnTo>
                  <a:lnTo>
                    <a:pt x="1058336" y="354235"/>
                  </a:lnTo>
                  <a:lnTo>
                    <a:pt x="1072039" y="339478"/>
                  </a:lnTo>
                  <a:lnTo>
                    <a:pt x="1085742" y="324193"/>
                  </a:lnTo>
                  <a:lnTo>
                    <a:pt x="1099446" y="308386"/>
                  </a:lnTo>
                  <a:lnTo>
                    <a:pt x="1112622" y="293101"/>
                  </a:lnTo>
                  <a:lnTo>
                    <a:pt x="1126325" y="277290"/>
                  </a:lnTo>
                  <a:lnTo>
                    <a:pt x="1140029" y="260951"/>
                  </a:lnTo>
                  <a:lnTo>
                    <a:pt x="1153732" y="245141"/>
                  </a:lnTo>
                  <a:lnTo>
                    <a:pt x="1166908" y="228802"/>
                  </a:lnTo>
                  <a:lnTo>
                    <a:pt x="1180611" y="211937"/>
                  </a:lnTo>
                  <a:lnTo>
                    <a:pt x="1194315" y="195598"/>
                  </a:lnTo>
                  <a:lnTo>
                    <a:pt x="1208018" y="178733"/>
                  </a:lnTo>
                  <a:lnTo>
                    <a:pt x="1221194" y="161867"/>
                  </a:lnTo>
                  <a:lnTo>
                    <a:pt x="1234898" y="144474"/>
                  </a:lnTo>
                  <a:lnTo>
                    <a:pt x="1248601" y="127092"/>
                  </a:lnTo>
                  <a:lnTo>
                    <a:pt x="1262304" y="109689"/>
                  </a:lnTo>
                  <a:lnTo>
                    <a:pt x="1275491" y="91780"/>
                  </a:lnTo>
                  <a:lnTo>
                    <a:pt x="1289184" y="74377"/>
                  </a:lnTo>
                  <a:lnTo>
                    <a:pt x="1302898" y="55941"/>
                  </a:lnTo>
                  <a:lnTo>
                    <a:pt x="1316601" y="38021"/>
                  </a:lnTo>
                  <a:lnTo>
                    <a:pt x="1329777" y="19574"/>
                  </a:lnTo>
                  <a:lnTo>
                    <a:pt x="1343480" y="1127"/>
                  </a:lnTo>
                </a:path>
              </a:pathLst>
            </a:custGeom>
            <a:ln w="5270">
              <a:solidFill>
                <a:srgbClr val="000000"/>
              </a:solidFill>
            </a:ln>
          </p:spPr>
          <p:txBody>
            <a:bodyPr wrap="square" lIns="0" tIns="0" rIns="0" bIns="0" rtlCol="0"/>
            <a:lstStyle/>
            <a:p>
              <a:endParaRPr/>
            </a:p>
          </p:txBody>
        </p:sp>
        <p:sp>
          <p:nvSpPr>
            <p:cNvPr id="8" name="object 8"/>
            <p:cNvSpPr/>
            <p:nvPr/>
          </p:nvSpPr>
          <p:spPr>
            <a:xfrm>
              <a:off x="3696449" y="1600517"/>
              <a:ext cx="310515" cy="591185"/>
            </a:xfrm>
            <a:custGeom>
              <a:avLst/>
              <a:gdLst/>
              <a:ahLst/>
              <a:cxnLst/>
              <a:rect l="l" t="t" r="r" b="b"/>
              <a:pathLst>
                <a:path w="310514" h="591185">
                  <a:moveTo>
                    <a:pt x="281990" y="463829"/>
                  </a:moveTo>
                  <a:lnTo>
                    <a:pt x="0" y="463829"/>
                  </a:lnTo>
                  <a:lnTo>
                    <a:pt x="0" y="591172"/>
                  </a:lnTo>
                  <a:lnTo>
                    <a:pt x="281990" y="591172"/>
                  </a:lnTo>
                  <a:lnTo>
                    <a:pt x="281990" y="463829"/>
                  </a:lnTo>
                  <a:close/>
                </a:path>
                <a:path w="310514" h="591185">
                  <a:moveTo>
                    <a:pt x="295173" y="0"/>
                  </a:moveTo>
                  <a:lnTo>
                    <a:pt x="0" y="0"/>
                  </a:lnTo>
                  <a:lnTo>
                    <a:pt x="0" y="126504"/>
                  </a:lnTo>
                  <a:lnTo>
                    <a:pt x="295173" y="126504"/>
                  </a:lnTo>
                  <a:lnTo>
                    <a:pt x="295173" y="0"/>
                  </a:lnTo>
                  <a:close/>
                </a:path>
                <a:path w="310514" h="591185">
                  <a:moveTo>
                    <a:pt x="310489" y="252996"/>
                  </a:moveTo>
                  <a:lnTo>
                    <a:pt x="15316" y="252996"/>
                  </a:lnTo>
                  <a:lnTo>
                    <a:pt x="15316" y="389623"/>
                  </a:lnTo>
                  <a:lnTo>
                    <a:pt x="310489" y="389623"/>
                  </a:lnTo>
                  <a:lnTo>
                    <a:pt x="310489" y="252996"/>
                  </a:lnTo>
                  <a:close/>
                </a:path>
              </a:pathLst>
            </a:custGeom>
            <a:solidFill>
              <a:srgbClr val="FFFFFF"/>
            </a:solidFill>
          </p:spPr>
          <p:txBody>
            <a:bodyPr wrap="square" lIns="0" tIns="0" rIns="0" bIns="0" rtlCol="0"/>
            <a:lstStyle/>
            <a:p>
              <a:endParaRPr/>
            </a:p>
          </p:txBody>
        </p:sp>
      </p:grpSp>
      <p:sp>
        <p:nvSpPr>
          <p:cNvPr id="9" name="object 9"/>
          <p:cNvSpPr txBox="1"/>
          <p:nvPr/>
        </p:nvSpPr>
        <p:spPr>
          <a:xfrm>
            <a:off x="2639504" y="2102546"/>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50</a:t>
            </a:r>
            <a:endParaRPr sz="650">
              <a:latin typeface="Arial"/>
              <a:cs typeface="Arial"/>
            </a:endParaRPr>
          </a:p>
        </p:txBody>
      </p:sp>
      <p:sp>
        <p:nvSpPr>
          <p:cNvPr id="10" name="object 10"/>
          <p:cNvSpPr txBox="1"/>
          <p:nvPr/>
        </p:nvSpPr>
        <p:spPr>
          <a:xfrm>
            <a:off x="2592605" y="1935825"/>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100</a:t>
            </a:r>
            <a:endParaRPr sz="650">
              <a:latin typeface="Arial"/>
              <a:cs typeface="Arial"/>
            </a:endParaRPr>
          </a:p>
        </p:txBody>
      </p:sp>
      <p:sp>
        <p:nvSpPr>
          <p:cNvPr id="11" name="object 11"/>
          <p:cNvSpPr txBox="1"/>
          <p:nvPr/>
        </p:nvSpPr>
        <p:spPr>
          <a:xfrm>
            <a:off x="2592605" y="1769109"/>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150</a:t>
            </a:r>
            <a:endParaRPr sz="650">
              <a:latin typeface="Arial"/>
              <a:cs typeface="Arial"/>
            </a:endParaRPr>
          </a:p>
        </p:txBody>
      </p:sp>
      <p:sp>
        <p:nvSpPr>
          <p:cNvPr id="12" name="object 12"/>
          <p:cNvSpPr txBox="1"/>
          <p:nvPr/>
        </p:nvSpPr>
        <p:spPr>
          <a:xfrm>
            <a:off x="2592605" y="1602388"/>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200</a:t>
            </a:r>
            <a:endParaRPr sz="650">
              <a:latin typeface="Arial"/>
              <a:cs typeface="Arial"/>
            </a:endParaRPr>
          </a:p>
        </p:txBody>
      </p:sp>
      <p:sp>
        <p:nvSpPr>
          <p:cNvPr id="13" name="object 13"/>
          <p:cNvSpPr txBox="1"/>
          <p:nvPr/>
        </p:nvSpPr>
        <p:spPr>
          <a:xfrm>
            <a:off x="2592605" y="1435667"/>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250</a:t>
            </a:r>
            <a:endParaRPr sz="650">
              <a:latin typeface="Arial"/>
              <a:cs typeface="Arial"/>
            </a:endParaRPr>
          </a:p>
        </p:txBody>
      </p:sp>
      <p:sp>
        <p:nvSpPr>
          <p:cNvPr id="14" name="object 14"/>
          <p:cNvSpPr txBox="1"/>
          <p:nvPr/>
        </p:nvSpPr>
        <p:spPr>
          <a:xfrm>
            <a:off x="2592605" y="1268951"/>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300</a:t>
            </a:r>
            <a:endParaRPr sz="650">
              <a:latin typeface="Arial"/>
              <a:cs typeface="Arial"/>
            </a:endParaRPr>
          </a:p>
        </p:txBody>
      </p:sp>
      <p:sp>
        <p:nvSpPr>
          <p:cNvPr id="15" name="object 15"/>
          <p:cNvSpPr txBox="1"/>
          <p:nvPr/>
        </p:nvSpPr>
        <p:spPr>
          <a:xfrm>
            <a:off x="3680124" y="1592118"/>
            <a:ext cx="430530" cy="127000"/>
          </a:xfrm>
          <a:prstGeom prst="rect">
            <a:avLst/>
          </a:prstGeom>
        </p:spPr>
        <p:txBody>
          <a:bodyPr vert="horz" wrap="square" lIns="0" tIns="13970" rIns="0" bIns="0" rtlCol="0">
            <a:spAutoFit/>
          </a:bodyPr>
          <a:lstStyle/>
          <a:p>
            <a:pPr marL="38100">
              <a:lnSpc>
                <a:spcPct val="100000"/>
              </a:lnSpc>
              <a:spcBef>
                <a:spcPts val="110"/>
              </a:spcBef>
            </a:pPr>
            <a:r>
              <a:rPr sz="650" i="1" spc="5" dirty="0">
                <a:solidFill>
                  <a:srgbClr val="231F20"/>
                </a:solidFill>
                <a:latin typeface="Arial"/>
                <a:cs typeface="Arial"/>
              </a:rPr>
              <a:t>p</a:t>
            </a:r>
            <a:r>
              <a:rPr sz="450" i="1" spc="22" baseline="-27777" dirty="0">
                <a:solidFill>
                  <a:srgbClr val="231F20"/>
                </a:solidFill>
                <a:latin typeface="Arial"/>
                <a:cs typeface="Arial"/>
              </a:rPr>
              <a:t>edge  </a:t>
            </a:r>
            <a:r>
              <a:rPr sz="650" spc="5" dirty="0">
                <a:solidFill>
                  <a:srgbClr val="231F20"/>
                </a:solidFill>
                <a:latin typeface="Arial"/>
                <a:cs typeface="Arial"/>
              </a:rPr>
              <a:t>=</a:t>
            </a:r>
            <a:r>
              <a:rPr sz="650" dirty="0">
                <a:solidFill>
                  <a:srgbClr val="231F20"/>
                </a:solidFill>
                <a:latin typeface="Arial"/>
                <a:cs typeface="Arial"/>
              </a:rPr>
              <a:t> </a:t>
            </a:r>
            <a:r>
              <a:rPr sz="650" spc="5" dirty="0">
                <a:solidFill>
                  <a:srgbClr val="231F20"/>
                </a:solidFill>
                <a:latin typeface="Arial"/>
                <a:cs typeface="Arial"/>
              </a:rPr>
              <a:t>0.6</a:t>
            </a:r>
            <a:endParaRPr sz="650">
              <a:latin typeface="Arial"/>
              <a:cs typeface="Arial"/>
            </a:endParaRPr>
          </a:p>
        </p:txBody>
      </p:sp>
      <p:sp>
        <p:nvSpPr>
          <p:cNvPr id="16" name="object 16"/>
          <p:cNvSpPr txBox="1"/>
          <p:nvPr/>
        </p:nvSpPr>
        <p:spPr>
          <a:xfrm>
            <a:off x="3680124" y="1838197"/>
            <a:ext cx="430530" cy="127000"/>
          </a:xfrm>
          <a:prstGeom prst="rect">
            <a:avLst/>
          </a:prstGeom>
        </p:spPr>
        <p:txBody>
          <a:bodyPr vert="horz" wrap="square" lIns="0" tIns="13970" rIns="0" bIns="0" rtlCol="0">
            <a:spAutoFit/>
          </a:bodyPr>
          <a:lstStyle/>
          <a:p>
            <a:pPr marL="38100">
              <a:lnSpc>
                <a:spcPct val="100000"/>
              </a:lnSpc>
              <a:spcBef>
                <a:spcPts val="110"/>
              </a:spcBef>
            </a:pPr>
            <a:r>
              <a:rPr sz="650" i="1" spc="5" dirty="0">
                <a:solidFill>
                  <a:srgbClr val="231F20"/>
                </a:solidFill>
                <a:latin typeface="Arial"/>
                <a:cs typeface="Arial"/>
              </a:rPr>
              <a:t>p</a:t>
            </a:r>
            <a:r>
              <a:rPr sz="450" spc="22" baseline="-27777" dirty="0">
                <a:solidFill>
                  <a:srgbClr val="231F20"/>
                </a:solidFill>
                <a:latin typeface="Arial"/>
                <a:cs typeface="Arial"/>
              </a:rPr>
              <a:t>edge  </a:t>
            </a:r>
            <a:r>
              <a:rPr sz="650" spc="5" dirty="0">
                <a:solidFill>
                  <a:srgbClr val="231F20"/>
                </a:solidFill>
                <a:latin typeface="Arial"/>
                <a:cs typeface="Arial"/>
              </a:rPr>
              <a:t>=</a:t>
            </a:r>
            <a:r>
              <a:rPr sz="650" dirty="0">
                <a:solidFill>
                  <a:srgbClr val="231F20"/>
                </a:solidFill>
                <a:latin typeface="Arial"/>
                <a:cs typeface="Arial"/>
              </a:rPr>
              <a:t> </a:t>
            </a:r>
            <a:r>
              <a:rPr sz="650" spc="5" dirty="0">
                <a:solidFill>
                  <a:srgbClr val="231F20"/>
                </a:solidFill>
                <a:latin typeface="Arial"/>
                <a:cs typeface="Arial"/>
              </a:rPr>
              <a:t>0.4</a:t>
            </a:r>
            <a:endParaRPr sz="650">
              <a:latin typeface="Arial"/>
              <a:cs typeface="Arial"/>
            </a:endParaRPr>
          </a:p>
        </p:txBody>
      </p:sp>
      <p:sp>
        <p:nvSpPr>
          <p:cNvPr id="17" name="object 17"/>
          <p:cNvSpPr txBox="1"/>
          <p:nvPr/>
        </p:nvSpPr>
        <p:spPr>
          <a:xfrm>
            <a:off x="3680124" y="2055950"/>
            <a:ext cx="430530" cy="127000"/>
          </a:xfrm>
          <a:prstGeom prst="rect">
            <a:avLst/>
          </a:prstGeom>
        </p:spPr>
        <p:txBody>
          <a:bodyPr vert="horz" wrap="square" lIns="0" tIns="13970" rIns="0" bIns="0" rtlCol="0">
            <a:spAutoFit/>
          </a:bodyPr>
          <a:lstStyle/>
          <a:p>
            <a:pPr marL="38100">
              <a:lnSpc>
                <a:spcPct val="100000"/>
              </a:lnSpc>
              <a:spcBef>
                <a:spcPts val="110"/>
              </a:spcBef>
            </a:pPr>
            <a:r>
              <a:rPr sz="650" i="1" spc="5" dirty="0">
                <a:solidFill>
                  <a:srgbClr val="231F20"/>
                </a:solidFill>
                <a:latin typeface="Arial"/>
                <a:cs typeface="Arial"/>
              </a:rPr>
              <a:t>p</a:t>
            </a:r>
            <a:r>
              <a:rPr sz="450" spc="22" baseline="-27777" dirty="0">
                <a:solidFill>
                  <a:srgbClr val="231F20"/>
                </a:solidFill>
                <a:latin typeface="Arial"/>
                <a:cs typeface="Arial"/>
              </a:rPr>
              <a:t>edge  </a:t>
            </a:r>
            <a:r>
              <a:rPr sz="650" spc="5" dirty="0">
                <a:solidFill>
                  <a:srgbClr val="231F20"/>
                </a:solidFill>
                <a:latin typeface="Arial"/>
                <a:cs typeface="Arial"/>
              </a:rPr>
              <a:t>=</a:t>
            </a:r>
            <a:r>
              <a:rPr sz="650" dirty="0">
                <a:solidFill>
                  <a:srgbClr val="231F20"/>
                </a:solidFill>
                <a:latin typeface="Arial"/>
                <a:cs typeface="Arial"/>
              </a:rPr>
              <a:t> </a:t>
            </a:r>
            <a:r>
              <a:rPr sz="650" spc="5" dirty="0">
                <a:solidFill>
                  <a:srgbClr val="231F20"/>
                </a:solidFill>
                <a:latin typeface="Arial"/>
                <a:cs typeface="Arial"/>
              </a:rPr>
              <a:t>0.2</a:t>
            </a:r>
            <a:endParaRPr sz="650">
              <a:latin typeface="Arial"/>
              <a:cs typeface="Arial"/>
            </a:endParaRPr>
          </a:p>
        </p:txBody>
      </p:sp>
      <p:sp>
        <p:nvSpPr>
          <p:cNvPr id="18" name="object 18"/>
          <p:cNvSpPr txBox="1"/>
          <p:nvPr/>
        </p:nvSpPr>
        <p:spPr>
          <a:xfrm>
            <a:off x="2686403" y="2280948"/>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a:t>
            </a:r>
            <a:endParaRPr sz="650">
              <a:latin typeface="Arial"/>
              <a:cs typeface="Arial"/>
            </a:endParaRPr>
          </a:p>
        </p:txBody>
      </p:sp>
      <p:sp>
        <p:nvSpPr>
          <p:cNvPr id="19" name="object 19"/>
          <p:cNvSpPr txBox="1"/>
          <p:nvPr/>
        </p:nvSpPr>
        <p:spPr>
          <a:xfrm>
            <a:off x="2719620" y="2418796"/>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100</a:t>
            </a:r>
            <a:endParaRPr sz="650">
              <a:latin typeface="Arial"/>
              <a:cs typeface="Arial"/>
            </a:endParaRPr>
          </a:p>
        </p:txBody>
      </p:sp>
      <p:sp>
        <p:nvSpPr>
          <p:cNvPr id="20" name="object 20"/>
          <p:cNvSpPr txBox="1"/>
          <p:nvPr/>
        </p:nvSpPr>
        <p:spPr>
          <a:xfrm>
            <a:off x="3163206" y="2428530"/>
            <a:ext cx="672465" cy="222885"/>
          </a:xfrm>
          <a:prstGeom prst="rect">
            <a:avLst/>
          </a:prstGeom>
        </p:spPr>
        <p:txBody>
          <a:bodyPr vert="horz" wrap="square" lIns="0" tIns="13970" rIns="0" bIns="0" rtlCol="0">
            <a:spAutoFit/>
          </a:bodyPr>
          <a:lstStyle/>
          <a:p>
            <a:pPr marL="179705">
              <a:lnSpc>
                <a:spcPts val="770"/>
              </a:lnSpc>
              <a:spcBef>
                <a:spcPts val="110"/>
              </a:spcBef>
            </a:pPr>
            <a:r>
              <a:rPr sz="650" spc="5" dirty="0">
                <a:latin typeface="Arial"/>
                <a:cs typeface="Arial"/>
              </a:rPr>
              <a:t>500</a:t>
            </a:r>
            <a:endParaRPr sz="650">
              <a:latin typeface="Arial"/>
              <a:cs typeface="Arial"/>
            </a:endParaRPr>
          </a:p>
          <a:p>
            <a:pPr marL="12700">
              <a:lnSpc>
                <a:spcPts val="770"/>
              </a:lnSpc>
            </a:pPr>
            <a:r>
              <a:rPr sz="650" spc="5" dirty="0">
                <a:solidFill>
                  <a:srgbClr val="231F20"/>
                </a:solidFill>
                <a:latin typeface="Arial"/>
                <a:cs typeface="Arial"/>
              </a:rPr>
              <a:t>Number</a:t>
            </a:r>
            <a:r>
              <a:rPr sz="650" spc="-30" dirty="0">
                <a:solidFill>
                  <a:srgbClr val="231F20"/>
                </a:solidFill>
                <a:latin typeface="Arial"/>
                <a:cs typeface="Arial"/>
              </a:rPr>
              <a:t> </a:t>
            </a:r>
            <a:r>
              <a:rPr sz="650" spc="5" dirty="0">
                <a:solidFill>
                  <a:srgbClr val="231F20"/>
                </a:solidFill>
                <a:latin typeface="Arial"/>
                <a:cs typeface="Arial"/>
              </a:rPr>
              <a:t>of</a:t>
            </a:r>
            <a:r>
              <a:rPr sz="650" spc="-25" dirty="0">
                <a:solidFill>
                  <a:srgbClr val="231F20"/>
                </a:solidFill>
                <a:latin typeface="Arial"/>
                <a:cs typeface="Arial"/>
              </a:rPr>
              <a:t> </a:t>
            </a:r>
            <a:r>
              <a:rPr sz="650" spc="5" dirty="0">
                <a:solidFill>
                  <a:srgbClr val="231F20"/>
                </a:solidFill>
                <a:latin typeface="Arial"/>
                <a:cs typeface="Arial"/>
              </a:rPr>
              <a:t>nodes</a:t>
            </a:r>
            <a:endParaRPr sz="650">
              <a:latin typeface="Arial"/>
              <a:cs typeface="Arial"/>
            </a:endParaRPr>
          </a:p>
        </p:txBody>
      </p:sp>
      <p:sp>
        <p:nvSpPr>
          <p:cNvPr id="21" name="object 21"/>
          <p:cNvSpPr txBox="1"/>
          <p:nvPr/>
        </p:nvSpPr>
        <p:spPr>
          <a:xfrm>
            <a:off x="4045505" y="2418796"/>
            <a:ext cx="21336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1000</a:t>
            </a:r>
            <a:endParaRPr sz="650">
              <a:latin typeface="Arial"/>
              <a:cs typeface="Arial"/>
            </a:endParaRPr>
          </a:p>
        </p:txBody>
      </p:sp>
      <p:sp>
        <p:nvSpPr>
          <p:cNvPr id="22" name="object 22"/>
          <p:cNvSpPr txBox="1"/>
          <p:nvPr/>
        </p:nvSpPr>
        <p:spPr>
          <a:xfrm>
            <a:off x="2472188" y="1374064"/>
            <a:ext cx="109855" cy="1005205"/>
          </a:xfrm>
          <a:prstGeom prst="rect">
            <a:avLst/>
          </a:prstGeom>
        </p:spPr>
        <p:txBody>
          <a:bodyPr vert="vert270" wrap="square" lIns="0" tIns="0" rIns="0" bIns="0" rtlCol="0">
            <a:spAutoFit/>
          </a:bodyPr>
          <a:lstStyle/>
          <a:p>
            <a:pPr marL="12700">
              <a:lnSpc>
                <a:spcPts val="745"/>
              </a:lnSpc>
            </a:pPr>
            <a:r>
              <a:rPr sz="650" spc="5" dirty="0">
                <a:solidFill>
                  <a:srgbClr val="231F20"/>
                </a:solidFill>
                <a:latin typeface="Arial"/>
                <a:cs typeface="Arial"/>
              </a:rPr>
              <a:t>Number</a:t>
            </a:r>
            <a:r>
              <a:rPr sz="650" spc="-15" dirty="0">
                <a:solidFill>
                  <a:srgbClr val="231F20"/>
                </a:solidFill>
                <a:latin typeface="Arial"/>
                <a:cs typeface="Arial"/>
              </a:rPr>
              <a:t> </a:t>
            </a:r>
            <a:r>
              <a:rPr sz="650" spc="5" dirty="0">
                <a:solidFill>
                  <a:srgbClr val="231F20"/>
                </a:solidFill>
                <a:latin typeface="Arial"/>
                <a:cs typeface="Arial"/>
              </a:rPr>
              <a:t>of</a:t>
            </a:r>
            <a:r>
              <a:rPr sz="650" spc="-10" dirty="0">
                <a:solidFill>
                  <a:srgbClr val="231F20"/>
                </a:solidFill>
                <a:latin typeface="Arial"/>
                <a:cs typeface="Arial"/>
              </a:rPr>
              <a:t> </a:t>
            </a:r>
            <a:r>
              <a:rPr sz="650" spc="5" dirty="0">
                <a:solidFill>
                  <a:srgbClr val="231F20"/>
                </a:solidFill>
                <a:latin typeface="Arial"/>
                <a:cs typeface="Arial"/>
              </a:rPr>
              <a:t>edges</a:t>
            </a:r>
            <a:r>
              <a:rPr sz="650" spc="-10" dirty="0">
                <a:solidFill>
                  <a:srgbClr val="231F20"/>
                </a:solidFill>
                <a:latin typeface="Arial"/>
                <a:cs typeface="Arial"/>
              </a:rPr>
              <a:t> </a:t>
            </a:r>
            <a:r>
              <a:rPr sz="650" spc="5" dirty="0">
                <a:solidFill>
                  <a:srgbClr val="231F20"/>
                </a:solidFill>
                <a:latin typeface="Arial"/>
                <a:cs typeface="Arial"/>
              </a:rPr>
              <a:t>(x</a:t>
            </a:r>
            <a:r>
              <a:rPr sz="650" spc="-15" dirty="0">
                <a:solidFill>
                  <a:srgbClr val="231F20"/>
                </a:solidFill>
                <a:latin typeface="Arial"/>
                <a:cs typeface="Arial"/>
              </a:rPr>
              <a:t> </a:t>
            </a:r>
            <a:r>
              <a:rPr sz="650" spc="5" dirty="0">
                <a:solidFill>
                  <a:srgbClr val="231F20"/>
                </a:solidFill>
                <a:latin typeface="Arial"/>
                <a:cs typeface="Arial"/>
              </a:rPr>
              <a:t>1000)</a:t>
            </a:r>
            <a:endParaRPr sz="650">
              <a:latin typeface="Arial"/>
              <a:cs typeface="Arial"/>
            </a:endParaRPr>
          </a:p>
        </p:txBody>
      </p:sp>
      <p:sp>
        <p:nvSpPr>
          <p:cNvPr id="23" name="object 23"/>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40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Multicast</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571580" y="716"/>
            <a:ext cx="970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Flooding-based</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multicasting</a:t>
            </a:r>
            <a:endParaRPr sz="600">
              <a:latin typeface="Arial"/>
              <a:cs typeface="Arial"/>
            </a:endParaRPr>
          </a:p>
        </p:txBody>
      </p:sp>
      <p:sp>
        <p:nvSpPr>
          <p:cNvPr id="4" name="object 4"/>
          <p:cNvSpPr txBox="1"/>
          <p:nvPr/>
        </p:nvSpPr>
        <p:spPr>
          <a:xfrm>
            <a:off x="95300" y="80039"/>
            <a:ext cx="2040255" cy="1946910"/>
          </a:xfrm>
          <a:prstGeom prst="rect">
            <a:avLst/>
          </a:prstGeom>
        </p:spPr>
        <p:txBody>
          <a:bodyPr vert="horz" wrap="square" lIns="0" tIns="125730" rIns="0" bIns="0" rtlCol="0">
            <a:spAutoFit/>
          </a:bodyPr>
          <a:lstStyle/>
          <a:p>
            <a:pPr marL="12700">
              <a:lnSpc>
                <a:spcPct val="100000"/>
              </a:lnSpc>
              <a:spcBef>
                <a:spcPts val="990"/>
              </a:spcBef>
            </a:pPr>
            <a:r>
              <a:rPr sz="1400" spc="15" dirty="0">
                <a:solidFill>
                  <a:srgbClr val="3333B2"/>
                </a:solidFill>
                <a:latin typeface="Arial"/>
                <a:cs typeface="Arial"/>
              </a:rPr>
              <a:t>Flooding</a:t>
            </a:r>
            <a:endParaRPr sz="1400">
              <a:latin typeface="Arial"/>
              <a:cs typeface="Arial"/>
            </a:endParaRPr>
          </a:p>
          <a:p>
            <a:pPr marL="273685">
              <a:lnSpc>
                <a:spcPts val="1410"/>
              </a:lnSpc>
              <a:spcBef>
                <a:spcPts val="715"/>
              </a:spcBef>
            </a:pPr>
            <a:r>
              <a:rPr sz="1200" spc="-5" dirty="0">
                <a:solidFill>
                  <a:srgbClr val="3333B2"/>
                </a:solidFill>
                <a:latin typeface="Arial"/>
                <a:cs typeface="Arial"/>
              </a:rPr>
              <a:t>Essence</a:t>
            </a:r>
            <a:endParaRPr sz="1200">
              <a:latin typeface="Arial"/>
              <a:cs typeface="Arial"/>
            </a:endParaRPr>
          </a:p>
          <a:p>
            <a:pPr marL="273685" marR="5080">
              <a:lnSpc>
                <a:spcPts val="1200"/>
              </a:lnSpc>
              <a:spcBef>
                <a:spcPts val="15"/>
              </a:spcBef>
            </a:pPr>
            <a:r>
              <a:rPr sz="1000" i="1" spc="-5" dirty="0">
                <a:latin typeface="Arial"/>
                <a:cs typeface="Arial"/>
              </a:rPr>
              <a:t>P</a:t>
            </a:r>
            <a:r>
              <a:rPr sz="1000" i="1" spc="70" dirty="0">
                <a:latin typeface="Arial"/>
                <a:cs typeface="Arial"/>
              </a:rPr>
              <a:t> </a:t>
            </a:r>
            <a:r>
              <a:rPr sz="1000" spc="-5" dirty="0">
                <a:latin typeface="Arial"/>
                <a:cs typeface="Arial"/>
              </a:rPr>
              <a:t>simply</a:t>
            </a:r>
            <a:r>
              <a:rPr sz="1000" spc="5" dirty="0">
                <a:latin typeface="Arial"/>
                <a:cs typeface="Arial"/>
              </a:rPr>
              <a:t> </a:t>
            </a:r>
            <a:r>
              <a:rPr sz="1000" spc="-5" dirty="0">
                <a:latin typeface="Arial"/>
                <a:cs typeface="Arial"/>
              </a:rPr>
              <a:t>sends</a:t>
            </a:r>
            <a:r>
              <a:rPr sz="1000" spc="5"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message</a:t>
            </a:r>
            <a:r>
              <a:rPr sz="1000" dirty="0">
                <a:latin typeface="Arial"/>
                <a:cs typeface="Arial"/>
              </a:rPr>
              <a:t> </a:t>
            </a:r>
            <a:r>
              <a:rPr sz="1000" i="1" spc="-5" dirty="0">
                <a:latin typeface="Arial"/>
                <a:cs typeface="Arial"/>
              </a:rPr>
              <a:t>m </a:t>
            </a:r>
            <a:r>
              <a:rPr sz="1000" i="1" dirty="0">
                <a:latin typeface="Arial"/>
                <a:cs typeface="Arial"/>
              </a:rPr>
              <a:t> </a:t>
            </a:r>
            <a:r>
              <a:rPr sz="1000" spc="-5" dirty="0">
                <a:latin typeface="Arial"/>
                <a:cs typeface="Arial"/>
              </a:rPr>
              <a:t>to</a:t>
            </a:r>
            <a:r>
              <a:rPr sz="1000" spc="-10" dirty="0">
                <a:latin typeface="Arial"/>
                <a:cs typeface="Arial"/>
              </a:rPr>
              <a:t> </a:t>
            </a:r>
            <a:r>
              <a:rPr sz="1000" spc="-5" dirty="0">
                <a:latin typeface="Arial"/>
                <a:cs typeface="Arial"/>
              </a:rPr>
              <a:t>each</a:t>
            </a:r>
            <a:r>
              <a:rPr sz="1000" spc="-10" dirty="0">
                <a:latin typeface="Arial"/>
                <a:cs typeface="Arial"/>
              </a:rPr>
              <a:t> </a:t>
            </a:r>
            <a:r>
              <a:rPr sz="1000" spc="-5" dirty="0">
                <a:latin typeface="Arial"/>
                <a:cs typeface="Arial"/>
              </a:rPr>
              <a:t>of</a:t>
            </a:r>
            <a:r>
              <a:rPr sz="1000" spc="-10" dirty="0">
                <a:latin typeface="Arial"/>
                <a:cs typeface="Arial"/>
              </a:rPr>
              <a:t> </a:t>
            </a:r>
            <a:r>
              <a:rPr sz="1000" spc="-5" dirty="0">
                <a:latin typeface="Arial"/>
                <a:cs typeface="Arial"/>
              </a:rPr>
              <a:t>its</a:t>
            </a:r>
            <a:r>
              <a:rPr sz="1000" spc="-10" dirty="0">
                <a:latin typeface="Arial"/>
                <a:cs typeface="Arial"/>
              </a:rPr>
              <a:t> </a:t>
            </a:r>
            <a:r>
              <a:rPr sz="1000" spc="-5" dirty="0">
                <a:latin typeface="Arial"/>
                <a:cs typeface="Arial"/>
              </a:rPr>
              <a:t>neighbors.</a:t>
            </a:r>
            <a:r>
              <a:rPr sz="1000" spc="55" dirty="0">
                <a:latin typeface="Arial"/>
                <a:cs typeface="Arial"/>
              </a:rPr>
              <a:t> </a:t>
            </a:r>
            <a:r>
              <a:rPr sz="1000" spc="-5" dirty="0">
                <a:latin typeface="Arial"/>
                <a:cs typeface="Arial"/>
              </a:rPr>
              <a:t>Each </a:t>
            </a:r>
            <a:r>
              <a:rPr sz="1000" dirty="0">
                <a:latin typeface="Arial"/>
                <a:cs typeface="Arial"/>
              </a:rPr>
              <a:t> </a:t>
            </a:r>
            <a:r>
              <a:rPr sz="1000" spc="-5" dirty="0">
                <a:latin typeface="Arial"/>
                <a:cs typeface="Arial"/>
              </a:rPr>
              <a:t>neighbor will </a:t>
            </a:r>
            <a:r>
              <a:rPr sz="1000" spc="-10" dirty="0">
                <a:latin typeface="Arial"/>
                <a:cs typeface="Arial"/>
              </a:rPr>
              <a:t>forward </a:t>
            </a:r>
            <a:r>
              <a:rPr sz="1000" spc="-5" dirty="0">
                <a:latin typeface="Arial"/>
                <a:cs typeface="Arial"/>
              </a:rPr>
              <a:t>that </a:t>
            </a:r>
            <a:r>
              <a:rPr sz="1000" dirty="0">
                <a:latin typeface="Arial"/>
                <a:cs typeface="Arial"/>
              </a:rPr>
              <a:t> </a:t>
            </a:r>
            <a:r>
              <a:rPr sz="1000" spc="-10" dirty="0">
                <a:latin typeface="Arial"/>
                <a:cs typeface="Arial"/>
              </a:rPr>
              <a:t>message,</a:t>
            </a:r>
            <a:r>
              <a:rPr sz="1000" spc="-15" dirty="0">
                <a:latin typeface="Arial"/>
                <a:cs typeface="Arial"/>
              </a:rPr>
              <a:t> except </a:t>
            </a:r>
            <a:r>
              <a:rPr sz="1000" spc="-10" dirty="0">
                <a:latin typeface="Arial"/>
                <a:cs typeface="Arial"/>
              </a:rPr>
              <a:t>to </a:t>
            </a:r>
            <a:r>
              <a:rPr sz="1000" i="1" spc="25" dirty="0">
                <a:latin typeface="Arial"/>
                <a:cs typeface="Arial"/>
              </a:rPr>
              <a:t>P</a:t>
            </a:r>
            <a:r>
              <a:rPr sz="1000" spc="25" dirty="0">
                <a:latin typeface="Arial"/>
                <a:cs typeface="Arial"/>
              </a:rPr>
              <a:t>,</a:t>
            </a:r>
            <a:r>
              <a:rPr sz="1000" spc="-15" dirty="0">
                <a:latin typeface="Arial"/>
                <a:cs typeface="Arial"/>
              </a:rPr>
              <a:t> </a:t>
            </a:r>
            <a:r>
              <a:rPr sz="1000" spc="-10" dirty="0">
                <a:latin typeface="Arial"/>
                <a:cs typeface="Arial"/>
              </a:rPr>
              <a:t>and</a:t>
            </a:r>
            <a:r>
              <a:rPr sz="1000" spc="-15" dirty="0">
                <a:latin typeface="Arial"/>
                <a:cs typeface="Arial"/>
              </a:rPr>
              <a:t> </a:t>
            </a:r>
            <a:r>
              <a:rPr sz="1000" spc="-10" dirty="0">
                <a:latin typeface="Arial"/>
                <a:cs typeface="Arial"/>
              </a:rPr>
              <a:t>only </a:t>
            </a:r>
            <a:r>
              <a:rPr sz="1000" spc="-260" dirty="0">
                <a:latin typeface="Arial"/>
                <a:cs typeface="Arial"/>
              </a:rPr>
              <a:t> </a:t>
            </a:r>
            <a:r>
              <a:rPr sz="1000" spc="-5" dirty="0">
                <a:latin typeface="Arial"/>
                <a:cs typeface="Arial"/>
              </a:rPr>
              <a:t>if</a:t>
            </a:r>
            <a:r>
              <a:rPr sz="1000" spc="-10" dirty="0">
                <a:latin typeface="Arial"/>
                <a:cs typeface="Arial"/>
              </a:rPr>
              <a:t> </a:t>
            </a:r>
            <a:r>
              <a:rPr sz="1000" spc="-5" dirty="0">
                <a:latin typeface="Arial"/>
                <a:cs typeface="Arial"/>
              </a:rPr>
              <a:t>it</a:t>
            </a:r>
            <a:r>
              <a:rPr sz="1000" spc="-10" dirty="0">
                <a:latin typeface="Arial"/>
                <a:cs typeface="Arial"/>
              </a:rPr>
              <a:t> </a:t>
            </a:r>
            <a:r>
              <a:rPr sz="1000" spc="-5" dirty="0">
                <a:latin typeface="Arial"/>
                <a:cs typeface="Arial"/>
              </a:rPr>
              <a:t>had not</a:t>
            </a:r>
            <a:r>
              <a:rPr sz="1000" spc="-10" dirty="0">
                <a:latin typeface="Arial"/>
                <a:cs typeface="Arial"/>
              </a:rPr>
              <a:t> </a:t>
            </a:r>
            <a:r>
              <a:rPr sz="1000" spc="-5" dirty="0">
                <a:latin typeface="Arial"/>
                <a:cs typeface="Arial"/>
              </a:rPr>
              <a:t>seen </a:t>
            </a:r>
            <a:r>
              <a:rPr sz="1000" i="1" spc="-5" dirty="0">
                <a:latin typeface="Arial"/>
                <a:cs typeface="Arial"/>
              </a:rPr>
              <a:t>m</a:t>
            </a:r>
            <a:r>
              <a:rPr sz="1000" i="1" spc="10" dirty="0">
                <a:latin typeface="Arial"/>
                <a:cs typeface="Arial"/>
              </a:rPr>
              <a:t> </a:t>
            </a:r>
            <a:r>
              <a:rPr sz="1000" spc="-10" dirty="0">
                <a:latin typeface="Arial"/>
                <a:cs typeface="Arial"/>
              </a:rPr>
              <a:t>before.</a:t>
            </a:r>
            <a:endParaRPr sz="1000">
              <a:latin typeface="Arial"/>
              <a:cs typeface="Arial"/>
            </a:endParaRPr>
          </a:p>
          <a:p>
            <a:pPr marL="273685">
              <a:lnSpc>
                <a:spcPts val="1410"/>
              </a:lnSpc>
              <a:spcBef>
                <a:spcPts val="635"/>
              </a:spcBef>
            </a:pPr>
            <a:r>
              <a:rPr sz="1200" spc="-10" dirty="0">
                <a:solidFill>
                  <a:srgbClr val="FA0000"/>
                </a:solidFill>
                <a:latin typeface="Arial"/>
                <a:cs typeface="Arial"/>
              </a:rPr>
              <a:t>Performance</a:t>
            </a:r>
            <a:endParaRPr sz="1200">
              <a:latin typeface="Arial"/>
              <a:cs typeface="Arial"/>
            </a:endParaRPr>
          </a:p>
          <a:p>
            <a:pPr marL="273685" marR="272415" indent="-4445">
              <a:lnSpc>
                <a:spcPts val="1200"/>
              </a:lnSpc>
              <a:spcBef>
                <a:spcPts val="10"/>
              </a:spcBef>
            </a:pPr>
            <a:r>
              <a:rPr sz="1000" spc="-5" dirty="0">
                <a:latin typeface="Arial"/>
                <a:cs typeface="Arial"/>
              </a:rPr>
              <a:t>The</a:t>
            </a:r>
            <a:r>
              <a:rPr sz="1000" spc="-20" dirty="0">
                <a:latin typeface="Arial"/>
                <a:cs typeface="Arial"/>
              </a:rPr>
              <a:t> </a:t>
            </a:r>
            <a:r>
              <a:rPr sz="1000" spc="-5" dirty="0">
                <a:latin typeface="Arial"/>
                <a:cs typeface="Arial"/>
              </a:rPr>
              <a:t>more</a:t>
            </a:r>
            <a:r>
              <a:rPr sz="1000" spc="-20" dirty="0">
                <a:latin typeface="Arial"/>
                <a:cs typeface="Arial"/>
              </a:rPr>
              <a:t> </a:t>
            </a:r>
            <a:r>
              <a:rPr sz="1000" spc="-5" dirty="0">
                <a:latin typeface="Arial"/>
                <a:cs typeface="Arial"/>
              </a:rPr>
              <a:t>edges,</a:t>
            </a:r>
            <a:r>
              <a:rPr sz="1000" spc="-20" dirty="0">
                <a:latin typeface="Arial"/>
                <a:cs typeface="Arial"/>
              </a:rPr>
              <a:t> </a:t>
            </a:r>
            <a:r>
              <a:rPr sz="1000" spc="-5" dirty="0">
                <a:latin typeface="Arial"/>
                <a:cs typeface="Arial"/>
              </a:rPr>
              <a:t>the</a:t>
            </a:r>
            <a:r>
              <a:rPr sz="1000" spc="-15" dirty="0">
                <a:latin typeface="Arial"/>
                <a:cs typeface="Arial"/>
              </a:rPr>
              <a:t> </a:t>
            </a:r>
            <a:r>
              <a:rPr sz="1000" spc="-5" dirty="0">
                <a:latin typeface="Arial"/>
                <a:cs typeface="Arial"/>
              </a:rPr>
              <a:t>more </a:t>
            </a:r>
            <a:r>
              <a:rPr sz="1000" spc="-265" dirty="0">
                <a:latin typeface="Arial"/>
                <a:cs typeface="Arial"/>
              </a:rPr>
              <a:t> </a:t>
            </a:r>
            <a:r>
              <a:rPr sz="1000" spc="-10" dirty="0">
                <a:latin typeface="Arial"/>
                <a:cs typeface="Arial"/>
              </a:rPr>
              <a:t>expensive!</a:t>
            </a:r>
            <a:endParaRPr sz="1000">
              <a:latin typeface="Arial"/>
              <a:cs typeface="Arial"/>
            </a:endParaRPr>
          </a:p>
        </p:txBody>
      </p:sp>
      <p:sp>
        <p:nvSpPr>
          <p:cNvPr id="5" name="object 5"/>
          <p:cNvSpPr txBox="1"/>
          <p:nvPr/>
        </p:nvSpPr>
        <p:spPr>
          <a:xfrm>
            <a:off x="2471394" y="499374"/>
            <a:ext cx="1710055" cy="561975"/>
          </a:xfrm>
          <a:prstGeom prst="rect">
            <a:avLst/>
          </a:prstGeom>
        </p:spPr>
        <p:txBody>
          <a:bodyPr vert="horz" wrap="square" lIns="0" tIns="22860" rIns="0" bIns="0" rtlCol="0">
            <a:spAutoFit/>
          </a:bodyPr>
          <a:lstStyle/>
          <a:p>
            <a:pPr marL="17145" marR="5080" indent="-5080">
              <a:lnSpc>
                <a:spcPts val="1390"/>
              </a:lnSpc>
              <a:spcBef>
                <a:spcPts val="180"/>
              </a:spcBef>
            </a:pPr>
            <a:r>
              <a:rPr sz="1200" spc="-5" dirty="0">
                <a:solidFill>
                  <a:srgbClr val="3333B2"/>
                </a:solidFill>
                <a:latin typeface="Arial"/>
                <a:cs typeface="Arial"/>
              </a:rPr>
              <a:t>The </a:t>
            </a:r>
            <a:r>
              <a:rPr sz="1200" spc="-10" dirty="0">
                <a:solidFill>
                  <a:srgbClr val="3333B2"/>
                </a:solidFill>
                <a:latin typeface="Arial"/>
                <a:cs typeface="Arial"/>
              </a:rPr>
              <a:t>size </a:t>
            </a:r>
            <a:r>
              <a:rPr sz="1200" spc="-5" dirty="0">
                <a:solidFill>
                  <a:srgbClr val="3333B2"/>
                </a:solidFill>
                <a:latin typeface="Arial"/>
                <a:cs typeface="Arial"/>
              </a:rPr>
              <a:t>of a </a:t>
            </a:r>
            <a:r>
              <a:rPr sz="1200" spc="-10" dirty="0">
                <a:solidFill>
                  <a:srgbClr val="3333B2"/>
                </a:solidFill>
                <a:latin typeface="Arial"/>
                <a:cs typeface="Arial"/>
              </a:rPr>
              <a:t>random </a:t>
            </a:r>
            <a:r>
              <a:rPr sz="1200" spc="-5" dirty="0">
                <a:solidFill>
                  <a:srgbClr val="3333B2"/>
                </a:solidFill>
                <a:latin typeface="Arial"/>
                <a:cs typeface="Arial"/>
              </a:rPr>
              <a:t> </a:t>
            </a:r>
            <a:r>
              <a:rPr sz="1200" spc="-15" dirty="0">
                <a:solidFill>
                  <a:srgbClr val="3333B2"/>
                </a:solidFill>
                <a:latin typeface="Arial"/>
                <a:cs typeface="Arial"/>
              </a:rPr>
              <a:t>overlay </a:t>
            </a:r>
            <a:r>
              <a:rPr sz="1200" spc="-5" dirty="0">
                <a:solidFill>
                  <a:srgbClr val="3333B2"/>
                </a:solidFill>
                <a:latin typeface="Arial"/>
                <a:cs typeface="Arial"/>
              </a:rPr>
              <a:t>as</a:t>
            </a:r>
            <a:r>
              <a:rPr sz="1200" spc="-20" dirty="0">
                <a:solidFill>
                  <a:srgbClr val="3333B2"/>
                </a:solidFill>
                <a:latin typeface="Arial"/>
                <a:cs typeface="Arial"/>
              </a:rPr>
              <a:t> </a:t>
            </a:r>
            <a:r>
              <a:rPr sz="1200" spc="-5" dirty="0">
                <a:solidFill>
                  <a:srgbClr val="3333B2"/>
                </a:solidFill>
                <a:latin typeface="Arial"/>
                <a:cs typeface="Arial"/>
              </a:rPr>
              <a:t>function</a:t>
            </a:r>
            <a:r>
              <a:rPr sz="1200" spc="-15" dirty="0">
                <a:solidFill>
                  <a:srgbClr val="3333B2"/>
                </a:solidFill>
                <a:latin typeface="Arial"/>
                <a:cs typeface="Arial"/>
              </a:rPr>
              <a:t> </a:t>
            </a:r>
            <a:r>
              <a:rPr sz="1200" spc="-5" dirty="0">
                <a:solidFill>
                  <a:srgbClr val="3333B2"/>
                </a:solidFill>
                <a:latin typeface="Arial"/>
                <a:cs typeface="Arial"/>
              </a:rPr>
              <a:t>of</a:t>
            </a:r>
            <a:r>
              <a:rPr sz="1200" spc="-15" dirty="0">
                <a:solidFill>
                  <a:srgbClr val="3333B2"/>
                </a:solidFill>
                <a:latin typeface="Arial"/>
                <a:cs typeface="Arial"/>
              </a:rPr>
              <a:t> </a:t>
            </a:r>
            <a:r>
              <a:rPr sz="1200" spc="-5" dirty="0">
                <a:solidFill>
                  <a:srgbClr val="3333B2"/>
                </a:solidFill>
                <a:latin typeface="Arial"/>
                <a:cs typeface="Arial"/>
              </a:rPr>
              <a:t>the </a:t>
            </a:r>
            <a:r>
              <a:rPr sz="1200" spc="-315" dirty="0">
                <a:solidFill>
                  <a:srgbClr val="3333B2"/>
                </a:solidFill>
                <a:latin typeface="Arial"/>
                <a:cs typeface="Arial"/>
              </a:rPr>
              <a:t> </a:t>
            </a:r>
            <a:r>
              <a:rPr sz="1200" spc="-10" dirty="0">
                <a:solidFill>
                  <a:srgbClr val="3333B2"/>
                </a:solidFill>
                <a:latin typeface="Arial"/>
                <a:cs typeface="Arial"/>
              </a:rPr>
              <a:t>number </a:t>
            </a:r>
            <a:r>
              <a:rPr sz="1200" spc="-5" dirty="0">
                <a:solidFill>
                  <a:srgbClr val="3333B2"/>
                </a:solidFill>
                <a:latin typeface="Arial"/>
                <a:cs typeface="Arial"/>
              </a:rPr>
              <a:t>of</a:t>
            </a:r>
            <a:r>
              <a:rPr sz="1200" spc="-10" dirty="0">
                <a:solidFill>
                  <a:srgbClr val="3333B2"/>
                </a:solidFill>
                <a:latin typeface="Arial"/>
                <a:cs typeface="Arial"/>
              </a:rPr>
              <a:t> </a:t>
            </a:r>
            <a:r>
              <a:rPr sz="1200" spc="-5" dirty="0">
                <a:solidFill>
                  <a:srgbClr val="3333B2"/>
                </a:solidFill>
                <a:latin typeface="Arial"/>
                <a:cs typeface="Arial"/>
              </a:rPr>
              <a:t>nodes</a:t>
            </a:r>
            <a:endParaRPr sz="1200">
              <a:latin typeface="Arial"/>
              <a:cs typeface="Arial"/>
            </a:endParaRPr>
          </a:p>
        </p:txBody>
      </p:sp>
      <p:grpSp>
        <p:nvGrpSpPr>
          <p:cNvPr id="6" name="object 6"/>
          <p:cNvGrpSpPr/>
          <p:nvPr/>
        </p:nvGrpSpPr>
        <p:grpSpPr>
          <a:xfrm>
            <a:off x="2802338" y="1315753"/>
            <a:ext cx="1349375" cy="1097915"/>
            <a:chOff x="2802338" y="1315753"/>
            <a:chExt cx="1349375" cy="1097915"/>
          </a:xfrm>
        </p:grpSpPr>
        <p:sp>
          <p:nvSpPr>
            <p:cNvPr id="7" name="object 7"/>
            <p:cNvSpPr/>
            <p:nvPr/>
          </p:nvSpPr>
          <p:spPr>
            <a:xfrm>
              <a:off x="2804974" y="1318389"/>
              <a:ext cx="1343660" cy="1092200"/>
            </a:xfrm>
            <a:custGeom>
              <a:avLst/>
              <a:gdLst/>
              <a:ahLst/>
              <a:cxnLst/>
              <a:rect l="l" t="t" r="r" b="b"/>
              <a:pathLst>
                <a:path w="1343660" h="1092200">
                  <a:moveTo>
                    <a:pt x="0" y="1092057"/>
                  </a:moveTo>
                  <a:lnTo>
                    <a:pt x="1343450" y="1092057"/>
                  </a:lnTo>
                  <a:lnTo>
                    <a:pt x="1343450" y="9"/>
                  </a:lnTo>
                  <a:lnTo>
                    <a:pt x="0" y="9"/>
                  </a:lnTo>
                  <a:lnTo>
                    <a:pt x="0" y="1092057"/>
                  </a:lnTo>
                  <a:close/>
                </a:path>
                <a:path w="1343660" h="1092200">
                  <a:moveTo>
                    <a:pt x="0" y="1024063"/>
                  </a:moveTo>
                  <a:lnTo>
                    <a:pt x="33204" y="1024063"/>
                  </a:lnTo>
                </a:path>
                <a:path w="1343660" h="1092200">
                  <a:moveTo>
                    <a:pt x="0" y="853299"/>
                  </a:moveTo>
                  <a:lnTo>
                    <a:pt x="33204" y="853299"/>
                  </a:lnTo>
                </a:path>
                <a:path w="1343660" h="1092200">
                  <a:moveTo>
                    <a:pt x="0" y="682534"/>
                  </a:moveTo>
                  <a:lnTo>
                    <a:pt x="33204" y="682534"/>
                  </a:lnTo>
                </a:path>
                <a:path w="1343660" h="1092200">
                  <a:moveTo>
                    <a:pt x="0" y="511770"/>
                  </a:moveTo>
                  <a:lnTo>
                    <a:pt x="33204" y="511770"/>
                  </a:lnTo>
                </a:path>
                <a:path w="1343660" h="1092200">
                  <a:moveTo>
                    <a:pt x="0" y="341533"/>
                  </a:moveTo>
                  <a:lnTo>
                    <a:pt x="33204" y="341533"/>
                  </a:lnTo>
                </a:path>
                <a:path w="1343660" h="1092200">
                  <a:moveTo>
                    <a:pt x="0" y="170764"/>
                  </a:moveTo>
                  <a:lnTo>
                    <a:pt x="33204" y="170764"/>
                  </a:lnTo>
                </a:path>
                <a:path w="1343660" h="1092200">
                  <a:moveTo>
                    <a:pt x="0" y="0"/>
                  </a:moveTo>
                  <a:lnTo>
                    <a:pt x="33204" y="0"/>
                  </a:lnTo>
                </a:path>
                <a:path w="1343660" h="1092200">
                  <a:moveTo>
                    <a:pt x="0" y="1092057"/>
                  </a:moveTo>
                  <a:lnTo>
                    <a:pt x="0" y="1058852"/>
                  </a:lnTo>
                </a:path>
                <a:path w="1343660" h="1092200">
                  <a:moveTo>
                    <a:pt x="149155" y="1092057"/>
                  </a:moveTo>
                  <a:lnTo>
                    <a:pt x="149155" y="1058852"/>
                  </a:lnTo>
                </a:path>
                <a:path w="1343660" h="1092200">
                  <a:moveTo>
                    <a:pt x="298310" y="1092057"/>
                  </a:moveTo>
                  <a:lnTo>
                    <a:pt x="298310" y="1058852"/>
                  </a:lnTo>
                </a:path>
                <a:path w="1343660" h="1092200">
                  <a:moveTo>
                    <a:pt x="447992" y="1092057"/>
                  </a:moveTo>
                  <a:lnTo>
                    <a:pt x="447992" y="1058852"/>
                  </a:lnTo>
                </a:path>
                <a:path w="1343660" h="1092200">
                  <a:moveTo>
                    <a:pt x="597147" y="1092057"/>
                  </a:moveTo>
                  <a:lnTo>
                    <a:pt x="597147" y="1058852"/>
                  </a:lnTo>
                </a:path>
                <a:path w="1343660" h="1092200">
                  <a:moveTo>
                    <a:pt x="746301" y="1092057"/>
                  </a:moveTo>
                  <a:lnTo>
                    <a:pt x="746301" y="1058852"/>
                  </a:lnTo>
                </a:path>
                <a:path w="1343660" h="1092200">
                  <a:moveTo>
                    <a:pt x="895456" y="1092057"/>
                  </a:moveTo>
                  <a:lnTo>
                    <a:pt x="895456" y="1058852"/>
                  </a:lnTo>
                </a:path>
                <a:path w="1343660" h="1092200">
                  <a:moveTo>
                    <a:pt x="1045139" y="1092057"/>
                  </a:moveTo>
                  <a:lnTo>
                    <a:pt x="1045139" y="1058852"/>
                  </a:lnTo>
                </a:path>
                <a:path w="1343660" h="1092200">
                  <a:moveTo>
                    <a:pt x="1194304" y="1092057"/>
                  </a:moveTo>
                  <a:lnTo>
                    <a:pt x="1194304" y="1058852"/>
                  </a:lnTo>
                </a:path>
                <a:path w="1343660" h="1092200">
                  <a:moveTo>
                    <a:pt x="1343459" y="1092057"/>
                  </a:moveTo>
                  <a:lnTo>
                    <a:pt x="1343459" y="1058852"/>
                  </a:lnTo>
                </a:path>
                <a:path w="1343660" h="1092200">
                  <a:moveTo>
                    <a:pt x="0" y="1092057"/>
                  </a:moveTo>
                  <a:lnTo>
                    <a:pt x="1343450" y="1092057"/>
                  </a:lnTo>
                  <a:lnTo>
                    <a:pt x="1343450" y="9"/>
                  </a:lnTo>
                  <a:lnTo>
                    <a:pt x="0" y="9"/>
                  </a:lnTo>
                  <a:lnTo>
                    <a:pt x="0" y="1092057"/>
                  </a:lnTo>
                  <a:close/>
                </a:path>
                <a:path w="1343660" h="1092200">
                  <a:moveTo>
                    <a:pt x="0" y="1020378"/>
                  </a:moveTo>
                  <a:lnTo>
                    <a:pt x="13703" y="1019846"/>
                  </a:lnTo>
                  <a:lnTo>
                    <a:pt x="26879" y="1019324"/>
                  </a:lnTo>
                  <a:lnTo>
                    <a:pt x="40582" y="1018270"/>
                  </a:lnTo>
                  <a:lnTo>
                    <a:pt x="54286" y="1017746"/>
                  </a:lnTo>
                  <a:lnTo>
                    <a:pt x="67989" y="1016688"/>
                  </a:lnTo>
                  <a:lnTo>
                    <a:pt x="81165" y="1015634"/>
                  </a:lnTo>
                  <a:lnTo>
                    <a:pt x="94868" y="1014580"/>
                  </a:lnTo>
                  <a:lnTo>
                    <a:pt x="108572" y="1013529"/>
                  </a:lnTo>
                  <a:lnTo>
                    <a:pt x="122275" y="1012475"/>
                  </a:lnTo>
                  <a:lnTo>
                    <a:pt x="135451" y="1011418"/>
                  </a:lnTo>
                  <a:lnTo>
                    <a:pt x="149155" y="1010364"/>
                  </a:lnTo>
                  <a:lnTo>
                    <a:pt x="162858" y="1008783"/>
                  </a:lnTo>
                  <a:lnTo>
                    <a:pt x="176561" y="1007729"/>
                  </a:lnTo>
                  <a:lnTo>
                    <a:pt x="189737" y="1006151"/>
                  </a:lnTo>
                  <a:lnTo>
                    <a:pt x="203441" y="1004569"/>
                  </a:lnTo>
                  <a:lnTo>
                    <a:pt x="217144" y="1003515"/>
                  </a:lnTo>
                  <a:lnTo>
                    <a:pt x="230852" y="1001934"/>
                  </a:lnTo>
                  <a:lnTo>
                    <a:pt x="244024" y="1000353"/>
                  </a:lnTo>
                  <a:lnTo>
                    <a:pt x="257731" y="998776"/>
                  </a:lnTo>
                  <a:lnTo>
                    <a:pt x="271434" y="996668"/>
                  </a:lnTo>
                  <a:lnTo>
                    <a:pt x="285138" y="995087"/>
                  </a:lnTo>
                  <a:lnTo>
                    <a:pt x="298314" y="992979"/>
                  </a:lnTo>
                  <a:lnTo>
                    <a:pt x="312017" y="991397"/>
                  </a:lnTo>
                  <a:lnTo>
                    <a:pt x="325721" y="989289"/>
                  </a:lnTo>
                  <a:lnTo>
                    <a:pt x="339424" y="987181"/>
                  </a:lnTo>
                  <a:lnTo>
                    <a:pt x="352600" y="985077"/>
                  </a:lnTo>
                  <a:lnTo>
                    <a:pt x="366303" y="982969"/>
                  </a:lnTo>
                  <a:lnTo>
                    <a:pt x="380007" y="980861"/>
                  </a:lnTo>
                  <a:lnTo>
                    <a:pt x="393706" y="978752"/>
                  </a:lnTo>
                  <a:lnTo>
                    <a:pt x="406886" y="976644"/>
                  </a:lnTo>
                  <a:lnTo>
                    <a:pt x="420590" y="974009"/>
                  </a:lnTo>
                  <a:lnTo>
                    <a:pt x="434293" y="971901"/>
                  </a:lnTo>
                  <a:lnTo>
                    <a:pt x="447992" y="969265"/>
                  </a:lnTo>
                  <a:lnTo>
                    <a:pt x="461172" y="966634"/>
                  </a:lnTo>
                  <a:lnTo>
                    <a:pt x="474876" y="964526"/>
                  </a:lnTo>
                  <a:lnTo>
                    <a:pt x="488575" y="961891"/>
                  </a:lnTo>
                  <a:lnTo>
                    <a:pt x="502282" y="958733"/>
                  </a:lnTo>
                  <a:lnTo>
                    <a:pt x="515459" y="956098"/>
                  </a:lnTo>
                  <a:lnTo>
                    <a:pt x="529162" y="953462"/>
                  </a:lnTo>
                  <a:lnTo>
                    <a:pt x="542865" y="950827"/>
                  </a:lnTo>
                  <a:lnTo>
                    <a:pt x="556568" y="947665"/>
                  </a:lnTo>
                  <a:lnTo>
                    <a:pt x="569745" y="944507"/>
                  </a:lnTo>
                  <a:lnTo>
                    <a:pt x="583448" y="941872"/>
                  </a:lnTo>
                  <a:lnTo>
                    <a:pt x="597151" y="938709"/>
                  </a:lnTo>
                  <a:lnTo>
                    <a:pt x="610855" y="935547"/>
                  </a:lnTo>
                  <a:lnTo>
                    <a:pt x="624031" y="932385"/>
                  </a:lnTo>
                  <a:lnTo>
                    <a:pt x="637734" y="929222"/>
                  </a:lnTo>
                  <a:lnTo>
                    <a:pt x="651442" y="926060"/>
                  </a:lnTo>
                  <a:lnTo>
                    <a:pt x="665145" y="922375"/>
                  </a:lnTo>
                  <a:lnTo>
                    <a:pt x="678317" y="919213"/>
                  </a:lnTo>
                  <a:lnTo>
                    <a:pt x="692025" y="915523"/>
                  </a:lnTo>
                  <a:lnTo>
                    <a:pt x="705728" y="911834"/>
                  </a:lnTo>
                  <a:lnTo>
                    <a:pt x="719431" y="908672"/>
                  </a:lnTo>
                  <a:lnTo>
                    <a:pt x="732607" y="904986"/>
                  </a:lnTo>
                  <a:lnTo>
                    <a:pt x="746312" y="901297"/>
                  </a:lnTo>
                  <a:lnTo>
                    <a:pt x="760015" y="897608"/>
                  </a:lnTo>
                  <a:lnTo>
                    <a:pt x="773718" y="893391"/>
                  </a:lnTo>
                  <a:lnTo>
                    <a:pt x="786895" y="889706"/>
                  </a:lnTo>
                  <a:lnTo>
                    <a:pt x="800598" y="886017"/>
                  </a:lnTo>
                  <a:lnTo>
                    <a:pt x="814301" y="881805"/>
                  </a:lnTo>
                  <a:lnTo>
                    <a:pt x="828005" y="878111"/>
                  </a:lnTo>
                  <a:lnTo>
                    <a:pt x="841181" y="873899"/>
                  </a:lnTo>
                  <a:lnTo>
                    <a:pt x="854884" y="869683"/>
                  </a:lnTo>
                  <a:lnTo>
                    <a:pt x="868587" y="865466"/>
                  </a:lnTo>
                  <a:lnTo>
                    <a:pt x="882291" y="861250"/>
                  </a:lnTo>
                  <a:lnTo>
                    <a:pt x="895467" y="857033"/>
                  </a:lnTo>
                  <a:lnTo>
                    <a:pt x="909170" y="852294"/>
                  </a:lnTo>
                  <a:lnTo>
                    <a:pt x="922874" y="848078"/>
                  </a:lnTo>
                  <a:lnTo>
                    <a:pt x="936577" y="843334"/>
                  </a:lnTo>
                  <a:lnTo>
                    <a:pt x="949753" y="839118"/>
                  </a:lnTo>
                  <a:lnTo>
                    <a:pt x="963456" y="834374"/>
                  </a:lnTo>
                  <a:lnTo>
                    <a:pt x="977160" y="829631"/>
                  </a:lnTo>
                  <a:lnTo>
                    <a:pt x="990863" y="824888"/>
                  </a:lnTo>
                  <a:lnTo>
                    <a:pt x="1004039" y="820144"/>
                  </a:lnTo>
                  <a:lnTo>
                    <a:pt x="1017742" y="815401"/>
                  </a:lnTo>
                  <a:lnTo>
                    <a:pt x="1031456" y="810657"/>
                  </a:lnTo>
                  <a:lnTo>
                    <a:pt x="1045160" y="805914"/>
                  </a:lnTo>
                  <a:lnTo>
                    <a:pt x="1058336" y="800643"/>
                  </a:lnTo>
                  <a:lnTo>
                    <a:pt x="1072039" y="795900"/>
                  </a:lnTo>
                  <a:lnTo>
                    <a:pt x="1085742" y="790629"/>
                  </a:lnTo>
                  <a:lnTo>
                    <a:pt x="1099446" y="785359"/>
                  </a:lnTo>
                  <a:lnTo>
                    <a:pt x="1112622" y="780091"/>
                  </a:lnTo>
                  <a:lnTo>
                    <a:pt x="1126325" y="774821"/>
                  </a:lnTo>
                  <a:lnTo>
                    <a:pt x="1140029" y="769550"/>
                  </a:lnTo>
                  <a:lnTo>
                    <a:pt x="1153732" y="764280"/>
                  </a:lnTo>
                  <a:lnTo>
                    <a:pt x="1166908" y="759009"/>
                  </a:lnTo>
                  <a:lnTo>
                    <a:pt x="1180611" y="753212"/>
                  </a:lnTo>
                  <a:lnTo>
                    <a:pt x="1194315" y="747941"/>
                  </a:lnTo>
                  <a:lnTo>
                    <a:pt x="1208018" y="742148"/>
                  </a:lnTo>
                  <a:lnTo>
                    <a:pt x="1221194" y="736351"/>
                  </a:lnTo>
                  <a:lnTo>
                    <a:pt x="1234898" y="730553"/>
                  </a:lnTo>
                  <a:lnTo>
                    <a:pt x="1248601" y="724755"/>
                  </a:lnTo>
                  <a:lnTo>
                    <a:pt x="1262304" y="718958"/>
                  </a:lnTo>
                  <a:lnTo>
                    <a:pt x="1275491" y="713160"/>
                  </a:lnTo>
                  <a:lnTo>
                    <a:pt x="1289184" y="707363"/>
                  </a:lnTo>
                  <a:lnTo>
                    <a:pt x="1302898" y="701038"/>
                  </a:lnTo>
                  <a:lnTo>
                    <a:pt x="1316601" y="695241"/>
                  </a:lnTo>
                  <a:lnTo>
                    <a:pt x="1329777" y="688916"/>
                  </a:lnTo>
                  <a:lnTo>
                    <a:pt x="1343480" y="683123"/>
                  </a:lnTo>
                </a:path>
                <a:path w="1343660" h="1092200">
                  <a:moveTo>
                    <a:pt x="0" y="1017211"/>
                  </a:moveTo>
                  <a:lnTo>
                    <a:pt x="13703" y="1015634"/>
                  </a:lnTo>
                  <a:lnTo>
                    <a:pt x="26879" y="1014580"/>
                  </a:lnTo>
                  <a:lnTo>
                    <a:pt x="40582" y="1012999"/>
                  </a:lnTo>
                  <a:lnTo>
                    <a:pt x="54286" y="1011418"/>
                  </a:lnTo>
                  <a:lnTo>
                    <a:pt x="67989" y="1009310"/>
                  </a:lnTo>
                  <a:lnTo>
                    <a:pt x="81165" y="1007729"/>
                  </a:lnTo>
                  <a:lnTo>
                    <a:pt x="94868" y="1005624"/>
                  </a:lnTo>
                  <a:lnTo>
                    <a:pt x="108572" y="1003515"/>
                  </a:lnTo>
                  <a:lnTo>
                    <a:pt x="122275" y="1001407"/>
                  </a:lnTo>
                  <a:lnTo>
                    <a:pt x="135451" y="999299"/>
                  </a:lnTo>
                  <a:lnTo>
                    <a:pt x="149155" y="996664"/>
                  </a:lnTo>
                  <a:lnTo>
                    <a:pt x="162858" y="994033"/>
                  </a:lnTo>
                  <a:lnTo>
                    <a:pt x="176561" y="991397"/>
                  </a:lnTo>
                  <a:lnTo>
                    <a:pt x="189737" y="988762"/>
                  </a:lnTo>
                  <a:lnTo>
                    <a:pt x="203441" y="985600"/>
                  </a:lnTo>
                  <a:lnTo>
                    <a:pt x="217144" y="982969"/>
                  </a:lnTo>
                  <a:lnTo>
                    <a:pt x="230852" y="979802"/>
                  </a:lnTo>
                  <a:lnTo>
                    <a:pt x="244024" y="976640"/>
                  </a:lnTo>
                  <a:lnTo>
                    <a:pt x="257731" y="973482"/>
                  </a:lnTo>
                  <a:lnTo>
                    <a:pt x="271434" y="969793"/>
                  </a:lnTo>
                  <a:lnTo>
                    <a:pt x="285138" y="966107"/>
                  </a:lnTo>
                  <a:lnTo>
                    <a:pt x="298314" y="962414"/>
                  </a:lnTo>
                  <a:lnTo>
                    <a:pt x="312017" y="958729"/>
                  </a:lnTo>
                  <a:lnTo>
                    <a:pt x="325721" y="955039"/>
                  </a:lnTo>
                  <a:lnTo>
                    <a:pt x="339424" y="950827"/>
                  </a:lnTo>
                  <a:lnTo>
                    <a:pt x="352600" y="946611"/>
                  </a:lnTo>
                  <a:lnTo>
                    <a:pt x="366303" y="942394"/>
                  </a:lnTo>
                  <a:lnTo>
                    <a:pt x="380007" y="938178"/>
                  </a:lnTo>
                  <a:lnTo>
                    <a:pt x="393706" y="933962"/>
                  </a:lnTo>
                  <a:lnTo>
                    <a:pt x="406886" y="929218"/>
                  </a:lnTo>
                  <a:lnTo>
                    <a:pt x="420590" y="924475"/>
                  </a:lnTo>
                  <a:lnTo>
                    <a:pt x="434293" y="919731"/>
                  </a:lnTo>
                  <a:lnTo>
                    <a:pt x="447992" y="914988"/>
                  </a:lnTo>
                  <a:lnTo>
                    <a:pt x="461172" y="909717"/>
                  </a:lnTo>
                  <a:lnTo>
                    <a:pt x="474876" y="904974"/>
                  </a:lnTo>
                  <a:lnTo>
                    <a:pt x="488575" y="899708"/>
                  </a:lnTo>
                  <a:lnTo>
                    <a:pt x="502282" y="893906"/>
                  </a:lnTo>
                  <a:lnTo>
                    <a:pt x="515459" y="888639"/>
                  </a:lnTo>
                  <a:lnTo>
                    <a:pt x="529162" y="883369"/>
                  </a:lnTo>
                  <a:lnTo>
                    <a:pt x="542865" y="877571"/>
                  </a:lnTo>
                  <a:lnTo>
                    <a:pt x="556568" y="871774"/>
                  </a:lnTo>
                  <a:lnTo>
                    <a:pt x="569745" y="865449"/>
                  </a:lnTo>
                  <a:lnTo>
                    <a:pt x="583448" y="859652"/>
                  </a:lnTo>
                  <a:lnTo>
                    <a:pt x="597151" y="853331"/>
                  </a:lnTo>
                  <a:lnTo>
                    <a:pt x="610855" y="847534"/>
                  </a:lnTo>
                  <a:lnTo>
                    <a:pt x="624031" y="840682"/>
                  </a:lnTo>
                  <a:lnTo>
                    <a:pt x="637734" y="834358"/>
                  </a:lnTo>
                  <a:lnTo>
                    <a:pt x="651442" y="828033"/>
                  </a:lnTo>
                  <a:lnTo>
                    <a:pt x="665145" y="821181"/>
                  </a:lnTo>
                  <a:lnTo>
                    <a:pt x="678317" y="814330"/>
                  </a:lnTo>
                  <a:lnTo>
                    <a:pt x="692025" y="807478"/>
                  </a:lnTo>
                  <a:lnTo>
                    <a:pt x="705728" y="800104"/>
                  </a:lnTo>
                  <a:lnTo>
                    <a:pt x="719431" y="793252"/>
                  </a:lnTo>
                  <a:lnTo>
                    <a:pt x="732607" y="785873"/>
                  </a:lnTo>
                  <a:lnTo>
                    <a:pt x="746312" y="778494"/>
                  </a:lnTo>
                  <a:lnTo>
                    <a:pt x="760015" y="771120"/>
                  </a:lnTo>
                  <a:lnTo>
                    <a:pt x="773718" y="763210"/>
                  </a:lnTo>
                  <a:lnTo>
                    <a:pt x="786895" y="755836"/>
                  </a:lnTo>
                  <a:lnTo>
                    <a:pt x="800598" y="747930"/>
                  </a:lnTo>
                  <a:lnTo>
                    <a:pt x="814301" y="740024"/>
                  </a:lnTo>
                  <a:lnTo>
                    <a:pt x="828005" y="732118"/>
                  </a:lnTo>
                  <a:lnTo>
                    <a:pt x="841181" y="723686"/>
                  </a:lnTo>
                  <a:lnTo>
                    <a:pt x="854884" y="715257"/>
                  </a:lnTo>
                  <a:lnTo>
                    <a:pt x="868587" y="706824"/>
                  </a:lnTo>
                  <a:lnTo>
                    <a:pt x="882291" y="698396"/>
                  </a:lnTo>
                  <a:lnTo>
                    <a:pt x="895467" y="689963"/>
                  </a:lnTo>
                  <a:lnTo>
                    <a:pt x="909170" y="681003"/>
                  </a:lnTo>
                  <a:lnTo>
                    <a:pt x="922874" y="672046"/>
                  </a:lnTo>
                  <a:lnTo>
                    <a:pt x="936577" y="663083"/>
                  </a:lnTo>
                  <a:lnTo>
                    <a:pt x="949753" y="654127"/>
                  </a:lnTo>
                  <a:lnTo>
                    <a:pt x="963456" y="645163"/>
                  </a:lnTo>
                  <a:lnTo>
                    <a:pt x="977160" y="635677"/>
                  </a:lnTo>
                  <a:lnTo>
                    <a:pt x="990863" y="626190"/>
                  </a:lnTo>
                  <a:lnTo>
                    <a:pt x="1004039" y="616703"/>
                  </a:lnTo>
                  <a:lnTo>
                    <a:pt x="1017742" y="607216"/>
                  </a:lnTo>
                  <a:lnTo>
                    <a:pt x="1031456" y="597205"/>
                  </a:lnTo>
                  <a:lnTo>
                    <a:pt x="1045160" y="587718"/>
                  </a:lnTo>
                  <a:lnTo>
                    <a:pt x="1058336" y="577704"/>
                  </a:lnTo>
                  <a:lnTo>
                    <a:pt x="1072039" y="567690"/>
                  </a:lnTo>
                  <a:lnTo>
                    <a:pt x="1085742" y="557149"/>
                  </a:lnTo>
                  <a:lnTo>
                    <a:pt x="1099446" y="547135"/>
                  </a:lnTo>
                  <a:lnTo>
                    <a:pt x="1112622" y="536594"/>
                  </a:lnTo>
                  <a:lnTo>
                    <a:pt x="1126325" y="526058"/>
                  </a:lnTo>
                  <a:lnTo>
                    <a:pt x="1140029" y="515517"/>
                  </a:lnTo>
                  <a:lnTo>
                    <a:pt x="1153732" y="504449"/>
                  </a:lnTo>
                  <a:lnTo>
                    <a:pt x="1166908" y="493908"/>
                  </a:lnTo>
                  <a:lnTo>
                    <a:pt x="1180611" y="482839"/>
                  </a:lnTo>
                  <a:lnTo>
                    <a:pt x="1194315" y="471776"/>
                  </a:lnTo>
                  <a:lnTo>
                    <a:pt x="1208018" y="460176"/>
                  </a:lnTo>
                  <a:lnTo>
                    <a:pt x="1221194" y="449108"/>
                  </a:lnTo>
                  <a:lnTo>
                    <a:pt x="1234898" y="437517"/>
                  </a:lnTo>
                  <a:lnTo>
                    <a:pt x="1248601" y="425922"/>
                  </a:lnTo>
                  <a:lnTo>
                    <a:pt x="1262304" y="414327"/>
                  </a:lnTo>
                  <a:lnTo>
                    <a:pt x="1275491" y="402732"/>
                  </a:lnTo>
                  <a:lnTo>
                    <a:pt x="1289184" y="390610"/>
                  </a:lnTo>
                  <a:lnTo>
                    <a:pt x="1302898" y="378492"/>
                  </a:lnTo>
                  <a:lnTo>
                    <a:pt x="1316601" y="366370"/>
                  </a:lnTo>
                  <a:lnTo>
                    <a:pt x="1329777" y="354248"/>
                  </a:lnTo>
                  <a:lnTo>
                    <a:pt x="1343480" y="342130"/>
                  </a:lnTo>
                </a:path>
                <a:path w="1343660" h="1092200">
                  <a:moveTo>
                    <a:pt x="0" y="1013526"/>
                  </a:moveTo>
                  <a:lnTo>
                    <a:pt x="13703" y="1011945"/>
                  </a:lnTo>
                  <a:lnTo>
                    <a:pt x="26879" y="1009837"/>
                  </a:lnTo>
                  <a:lnTo>
                    <a:pt x="40582" y="1007201"/>
                  </a:lnTo>
                  <a:lnTo>
                    <a:pt x="54286" y="1005093"/>
                  </a:lnTo>
                  <a:lnTo>
                    <a:pt x="67989" y="1002458"/>
                  </a:lnTo>
                  <a:lnTo>
                    <a:pt x="81165" y="999296"/>
                  </a:lnTo>
                  <a:lnTo>
                    <a:pt x="94868" y="996664"/>
                  </a:lnTo>
                  <a:lnTo>
                    <a:pt x="108572" y="993501"/>
                  </a:lnTo>
                  <a:lnTo>
                    <a:pt x="122275" y="990339"/>
                  </a:lnTo>
                  <a:lnTo>
                    <a:pt x="135451" y="986650"/>
                  </a:lnTo>
                  <a:lnTo>
                    <a:pt x="149155" y="982965"/>
                  </a:lnTo>
                  <a:lnTo>
                    <a:pt x="162858" y="979275"/>
                  </a:lnTo>
                  <a:lnTo>
                    <a:pt x="176561" y="975059"/>
                  </a:lnTo>
                  <a:lnTo>
                    <a:pt x="189737" y="971369"/>
                  </a:lnTo>
                  <a:lnTo>
                    <a:pt x="203441" y="966630"/>
                  </a:lnTo>
                  <a:lnTo>
                    <a:pt x="217144" y="962414"/>
                  </a:lnTo>
                  <a:lnTo>
                    <a:pt x="230852" y="957666"/>
                  </a:lnTo>
                  <a:lnTo>
                    <a:pt x="244024" y="952927"/>
                  </a:lnTo>
                  <a:lnTo>
                    <a:pt x="257731" y="948179"/>
                  </a:lnTo>
                  <a:lnTo>
                    <a:pt x="271434" y="942913"/>
                  </a:lnTo>
                  <a:lnTo>
                    <a:pt x="285138" y="937642"/>
                  </a:lnTo>
                  <a:lnTo>
                    <a:pt x="298314" y="931845"/>
                  </a:lnTo>
                  <a:lnTo>
                    <a:pt x="312017" y="926574"/>
                  </a:lnTo>
                  <a:lnTo>
                    <a:pt x="325721" y="920250"/>
                  </a:lnTo>
                  <a:lnTo>
                    <a:pt x="339424" y="914457"/>
                  </a:lnTo>
                  <a:lnTo>
                    <a:pt x="352600" y="908128"/>
                  </a:lnTo>
                  <a:lnTo>
                    <a:pt x="366303" y="901807"/>
                  </a:lnTo>
                  <a:lnTo>
                    <a:pt x="380007" y="895483"/>
                  </a:lnTo>
                  <a:lnTo>
                    <a:pt x="393706" y="888631"/>
                  </a:lnTo>
                  <a:lnTo>
                    <a:pt x="406886" y="881779"/>
                  </a:lnTo>
                  <a:lnTo>
                    <a:pt x="420590" y="874928"/>
                  </a:lnTo>
                  <a:lnTo>
                    <a:pt x="434293" y="867553"/>
                  </a:lnTo>
                  <a:lnTo>
                    <a:pt x="447992" y="860175"/>
                  </a:lnTo>
                  <a:lnTo>
                    <a:pt x="461172" y="852796"/>
                  </a:lnTo>
                  <a:lnTo>
                    <a:pt x="474876" y="845421"/>
                  </a:lnTo>
                  <a:lnTo>
                    <a:pt x="488575" y="837516"/>
                  </a:lnTo>
                  <a:lnTo>
                    <a:pt x="502282" y="829083"/>
                  </a:lnTo>
                  <a:lnTo>
                    <a:pt x="515459" y="821177"/>
                  </a:lnTo>
                  <a:lnTo>
                    <a:pt x="529162" y="812749"/>
                  </a:lnTo>
                  <a:lnTo>
                    <a:pt x="542865" y="804316"/>
                  </a:lnTo>
                  <a:lnTo>
                    <a:pt x="556568" y="795356"/>
                  </a:lnTo>
                  <a:lnTo>
                    <a:pt x="569745" y="786396"/>
                  </a:lnTo>
                  <a:lnTo>
                    <a:pt x="583448" y="777436"/>
                  </a:lnTo>
                  <a:lnTo>
                    <a:pt x="597151" y="768476"/>
                  </a:lnTo>
                  <a:lnTo>
                    <a:pt x="610855" y="758989"/>
                  </a:lnTo>
                  <a:lnTo>
                    <a:pt x="624031" y="749503"/>
                  </a:lnTo>
                  <a:lnTo>
                    <a:pt x="637734" y="739489"/>
                  </a:lnTo>
                  <a:lnTo>
                    <a:pt x="651442" y="730002"/>
                  </a:lnTo>
                  <a:lnTo>
                    <a:pt x="665145" y="719992"/>
                  </a:lnTo>
                  <a:lnTo>
                    <a:pt x="678317" y="709451"/>
                  </a:lnTo>
                  <a:lnTo>
                    <a:pt x="692025" y="698910"/>
                  </a:lnTo>
                  <a:lnTo>
                    <a:pt x="705728" y="688369"/>
                  </a:lnTo>
                  <a:lnTo>
                    <a:pt x="719431" y="677828"/>
                  </a:lnTo>
                  <a:lnTo>
                    <a:pt x="732607" y="666760"/>
                  </a:lnTo>
                  <a:lnTo>
                    <a:pt x="746312" y="655696"/>
                  </a:lnTo>
                  <a:lnTo>
                    <a:pt x="760015" y="644628"/>
                  </a:lnTo>
                  <a:lnTo>
                    <a:pt x="773718" y="633033"/>
                  </a:lnTo>
                  <a:lnTo>
                    <a:pt x="786895" y="621438"/>
                  </a:lnTo>
                  <a:lnTo>
                    <a:pt x="800598" y="609843"/>
                  </a:lnTo>
                  <a:lnTo>
                    <a:pt x="814301" y="597721"/>
                  </a:lnTo>
                  <a:lnTo>
                    <a:pt x="828005" y="586125"/>
                  </a:lnTo>
                  <a:lnTo>
                    <a:pt x="841181" y="573476"/>
                  </a:lnTo>
                  <a:lnTo>
                    <a:pt x="854884" y="561358"/>
                  </a:lnTo>
                  <a:lnTo>
                    <a:pt x="868587" y="548709"/>
                  </a:lnTo>
                  <a:lnTo>
                    <a:pt x="882291" y="536060"/>
                  </a:lnTo>
                  <a:lnTo>
                    <a:pt x="895467" y="522884"/>
                  </a:lnTo>
                  <a:lnTo>
                    <a:pt x="909170" y="509712"/>
                  </a:lnTo>
                  <a:lnTo>
                    <a:pt x="922874" y="496535"/>
                  </a:lnTo>
                  <a:lnTo>
                    <a:pt x="936577" y="482832"/>
                  </a:lnTo>
                  <a:lnTo>
                    <a:pt x="949753" y="469656"/>
                  </a:lnTo>
                  <a:lnTo>
                    <a:pt x="963456" y="455425"/>
                  </a:lnTo>
                  <a:lnTo>
                    <a:pt x="977160" y="441725"/>
                  </a:lnTo>
                  <a:lnTo>
                    <a:pt x="990863" y="427492"/>
                  </a:lnTo>
                  <a:lnTo>
                    <a:pt x="1004039" y="413265"/>
                  </a:lnTo>
                  <a:lnTo>
                    <a:pt x="1017742" y="399031"/>
                  </a:lnTo>
                  <a:lnTo>
                    <a:pt x="1031456" y="384277"/>
                  </a:lnTo>
                  <a:lnTo>
                    <a:pt x="1045160" y="369520"/>
                  </a:lnTo>
                  <a:lnTo>
                    <a:pt x="1058336" y="354235"/>
                  </a:lnTo>
                  <a:lnTo>
                    <a:pt x="1072039" y="339478"/>
                  </a:lnTo>
                  <a:lnTo>
                    <a:pt x="1085742" y="324193"/>
                  </a:lnTo>
                  <a:lnTo>
                    <a:pt x="1099446" y="308386"/>
                  </a:lnTo>
                  <a:lnTo>
                    <a:pt x="1112622" y="293101"/>
                  </a:lnTo>
                  <a:lnTo>
                    <a:pt x="1126325" y="277290"/>
                  </a:lnTo>
                  <a:lnTo>
                    <a:pt x="1140029" y="260951"/>
                  </a:lnTo>
                  <a:lnTo>
                    <a:pt x="1153732" y="245141"/>
                  </a:lnTo>
                  <a:lnTo>
                    <a:pt x="1166908" y="228802"/>
                  </a:lnTo>
                  <a:lnTo>
                    <a:pt x="1180611" y="211937"/>
                  </a:lnTo>
                  <a:lnTo>
                    <a:pt x="1194315" y="195598"/>
                  </a:lnTo>
                  <a:lnTo>
                    <a:pt x="1208018" y="178733"/>
                  </a:lnTo>
                  <a:lnTo>
                    <a:pt x="1221194" y="161867"/>
                  </a:lnTo>
                  <a:lnTo>
                    <a:pt x="1234898" y="144474"/>
                  </a:lnTo>
                  <a:lnTo>
                    <a:pt x="1248601" y="127092"/>
                  </a:lnTo>
                  <a:lnTo>
                    <a:pt x="1262304" y="109689"/>
                  </a:lnTo>
                  <a:lnTo>
                    <a:pt x="1275491" y="91780"/>
                  </a:lnTo>
                  <a:lnTo>
                    <a:pt x="1289184" y="74377"/>
                  </a:lnTo>
                  <a:lnTo>
                    <a:pt x="1302898" y="55941"/>
                  </a:lnTo>
                  <a:lnTo>
                    <a:pt x="1316601" y="38021"/>
                  </a:lnTo>
                  <a:lnTo>
                    <a:pt x="1329777" y="19574"/>
                  </a:lnTo>
                  <a:lnTo>
                    <a:pt x="1343480" y="1127"/>
                  </a:lnTo>
                </a:path>
              </a:pathLst>
            </a:custGeom>
            <a:ln w="5270">
              <a:solidFill>
                <a:srgbClr val="000000"/>
              </a:solidFill>
            </a:ln>
          </p:spPr>
          <p:txBody>
            <a:bodyPr wrap="square" lIns="0" tIns="0" rIns="0" bIns="0" rtlCol="0"/>
            <a:lstStyle/>
            <a:p>
              <a:endParaRPr/>
            </a:p>
          </p:txBody>
        </p:sp>
        <p:sp>
          <p:nvSpPr>
            <p:cNvPr id="8" name="object 8"/>
            <p:cNvSpPr/>
            <p:nvPr/>
          </p:nvSpPr>
          <p:spPr>
            <a:xfrm>
              <a:off x="3696449" y="1600517"/>
              <a:ext cx="310515" cy="591185"/>
            </a:xfrm>
            <a:custGeom>
              <a:avLst/>
              <a:gdLst/>
              <a:ahLst/>
              <a:cxnLst/>
              <a:rect l="l" t="t" r="r" b="b"/>
              <a:pathLst>
                <a:path w="310514" h="591185">
                  <a:moveTo>
                    <a:pt x="281990" y="463829"/>
                  </a:moveTo>
                  <a:lnTo>
                    <a:pt x="0" y="463829"/>
                  </a:lnTo>
                  <a:lnTo>
                    <a:pt x="0" y="591172"/>
                  </a:lnTo>
                  <a:lnTo>
                    <a:pt x="281990" y="591172"/>
                  </a:lnTo>
                  <a:lnTo>
                    <a:pt x="281990" y="463829"/>
                  </a:lnTo>
                  <a:close/>
                </a:path>
                <a:path w="310514" h="591185">
                  <a:moveTo>
                    <a:pt x="295173" y="0"/>
                  </a:moveTo>
                  <a:lnTo>
                    <a:pt x="0" y="0"/>
                  </a:lnTo>
                  <a:lnTo>
                    <a:pt x="0" y="126504"/>
                  </a:lnTo>
                  <a:lnTo>
                    <a:pt x="295173" y="126504"/>
                  </a:lnTo>
                  <a:lnTo>
                    <a:pt x="295173" y="0"/>
                  </a:lnTo>
                  <a:close/>
                </a:path>
                <a:path w="310514" h="591185">
                  <a:moveTo>
                    <a:pt x="310489" y="252996"/>
                  </a:moveTo>
                  <a:lnTo>
                    <a:pt x="15316" y="252996"/>
                  </a:lnTo>
                  <a:lnTo>
                    <a:pt x="15316" y="389623"/>
                  </a:lnTo>
                  <a:lnTo>
                    <a:pt x="310489" y="389623"/>
                  </a:lnTo>
                  <a:lnTo>
                    <a:pt x="310489" y="252996"/>
                  </a:lnTo>
                  <a:close/>
                </a:path>
              </a:pathLst>
            </a:custGeom>
            <a:solidFill>
              <a:srgbClr val="FFFFFF"/>
            </a:solidFill>
          </p:spPr>
          <p:txBody>
            <a:bodyPr wrap="square" lIns="0" tIns="0" rIns="0" bIns="0" rtlCol="0"/>
            <a:lstStyle/>
            <a:p>
              <a:endParaRPr/>
            </a:p>
          </p:txBody>
        </p:sp>
      </p:grpSp>
      <p:sp>
        <p:nvSpPr>
          <p:cNvPr id="9" name="object 9"/>
          <p:cNvSpPr txBox="1"/>
          <p:nvPr/>
        </p:nvSpPr>
        <p:spPr>
          <a:xfrm>
            <a:off x="2639504" y="2102546"/>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50</a:t>
            </a:r>
            <a:endParaRPr sz="650">
              <a:latin typeface="Arial"/>
              <a:cs typeface="Arial"/>
            </a:endParaRPr>
          </a:p>
        </p:txBody>
      </p:sp>
      <p:sp>
        <p:nvSpPr>
          <p:cNvPr id="10" name="object 10"/>
          <p:cNvSpPr txBox="1"/>
          <p:nvPr/>
        </p:nvSpPr>
        <p:spPr>
          <a:xfrm>
            <a:off x="2592605" y="1935825"/>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100</a:t>
            </a:r>
            <a:endParaRPr sz="650">
              <a:latin typeface="Arial"/>
              <a:cs typeface="Arial"/>
            </a:endParaRPr>
          </a:p>
        </p:txBody>
      </p:sp>
      <p:sp>
        <p:nvSpPr>
          <p:cNvPr id="11" name="object 11"/>
          <p:cNvSpPr txBox="1"/>
          <p:nvPr/>
        </p:nvSpPr>
        <p:spPr>
          <a:xfrm>
            <a:off x="2592605" y="1769109"/>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150</a:t>
            </a:r>
            <a:endParaRPr sz="650">
              <a:latin typeface="Arial"/>
              <a:cs typeface="Arial"/>
            </a:endParaRPr>
          </a:p>
        </p:txBody>
      </p:sp>
      <p:sp>
        <p:nvSpPr>
          <p:cNvPr id="12" name="object 12"/>
          <p:cNvSpPr txBox="1"/>
          <p:nvPr/>
        </p:nvSpPr>
        <p:spPr>
          <a:xfrm>
            <a:off x="2592605" y="1602388"/>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200</a:t>
            </a:r>
            <a:endParaRPr sz="650">
              <a:latin typeface="Arial"/>
              <a:cs typeface="Arial"/>
            </a:endParaRPr>
          </a:p>
        </p:txBody>
      </p:sp>
      <p:sp>
        <p:nvSpPr>
          <p:cNvPr id="13" name="object 13"/>
          <p:cNvSpPr txBox="1"/>
          <p:nvPr/>
        </p:nvSpPr>
        <p:spPr>
          <a:xfrm>
            <a:off x="2592605" y="1435667"/>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250</a:t>
            </a:r>
            <a:endParaRPr sz="650">
              <a:latin typeface="Arial"/>
              <a:cs typeface="Arial"/>
            </a:endParaRPr>
          </a:p>
        </p:txBody>
      </p:sp>
      <p:sp>
        <p:nvSpPr>
          <p:cNvPr id="14" name="object 14"/>
          <p:cNvSpPr txBox="1"/>
          <p:nvPr/>
        </p:nvSpPr>
        <p:spPr>
          <a:xfrm>
            <a:off x="2592605" y="1268951"/>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300</a:t>
            </a:r>
            <a:endParaRPr sz="650">
              <a:latin typeface="Arial"/>
              <a:cs typeface="Arial"/>
            </a:endParaRPr>
          </a:p>
        </p:txBody>
      </p:sp>
      <p:sp>
        <p:nvSpPr>
          <p:cNvPr id="15" name="object 15"/>
          <p:cNvSpPr txBox="1"/>
          <p:nvPr/>
        </p:nvSpPr>
        <p:spPr>
          <a:xfrm>
            <a:off x="3680124" y="1592118"/>
            <a:ext cx="430530" cy="127000"/>
          </a:xfrm>
          <a:prstGeom prst="rect">
            <a:avLst/>
          </a:prstGeom>
        </p:spPr>
        <p:txBody>
          <a:bodyPr vert="horz" wrap="square" lIns="0" tIns="13970" rIns="0" bIns="0" rtlCol="0">
            <a:spAutoFit/>
          </a:bodyPr>
          <a:lstStyle/>
          <a:p>
            <a:pPr marL="38100">
              <a:lnSpc>
                <a:spcPct val="100000"/>
              </a:lnSpc>
              <a:spcBef>
                <a:spcPts val="110"/>
              </a:spcBef>
            </a:pPr>
            <a:r>
              <a:rPr sz="650" i="1" spc="5" dirty="0">
                <a:solidFill>
                  <a:srgbClr val="231F20"/>
                </a:solidFill>
                <a:latin typeface="Arial"/>
                <a:cs typeface="Arial"/>
              </a:rPr>
              <a:t>p</a:t>
            </a:r>
            <a:r>
              <a:rPr sz="450" i="1" spc="22" baseline="-27777" dirty="0">
                <a:solidFill>
                  <a:srgbClr val="231F20"/>
                </a:solidFill>
                <a:latin typeface="Arial"/>
                <a:cs typeface="Arial"/>
              </a:rPr>
              <a:t>edge  </a:t>
            </a:r>
            <a:r>
              <a:rPr sz="650" spc="5" dirty="0">
                <a:solidFill>
                  <a:srgbClr val="231F20"/>
                </a:solidFill>
                <a:latin typeface="Arial"/>
                <a:cs typeface="Arial"/>
              </a:rPr>
              <a:t>=</a:t>
            </a:r>
            <a:r>
              <a:rPr sz="650" dirty="0">
                <a:solidFill>
                  <a:srgbClr val="231F20"/>
                </a:solidFill>
                <a:latin typeface="Arial"/>
                <a:cs typeface="Arial"/>
              </a:rPr>
              <a:t> </a:t>
            </a:r>
            <a:r>
              <a:rPr sz="650" spc="5" dirty="0">
                <a:solidFill>
                  <a:srgbClr val="231F20"/>
                </a:solidFill>
                <a:latin typeface="Arial"/>
                <a:cs typeface="Arial"/>
              </a:rPr>
              <a:t>0.6</a:t>
            </a:r>
            <a:endParaRPr sz="650">
              <a:latin typeface="Arial"/>
              <a:cs typeface="Arial"/>
            </a:endParaRPr>
          </a:p>
        </p:txBody>
      </p:sp>
      <p:sp>
        <p:nvSpPr>
          <p:cNvPr id="16" name="object 16"/>
          <p:cNvSpPr txBox="1"/>
          <p:nvPr/>
        </p:nvSpPr>
        <p:spPr>
          <a:xfrm>
            <a:off x="3680124" y="1838197"/>
            <a:ext cx="430530" cy="127000"/>
          </a:xfrm>
          <a:prstGeom prst="rect">
            <a:avLst/>
          </a:prstGeom>
        </p:spPr>
        <p:txBody>
          <a:bodyPr vert="horz" wrap="square" lIns="0" tIns="13970" rIns="0" bIns="0" rtlCol="0">
            <a:spAutoFit/>
          </a:bodyPr>
          <a:lstStyle/>
          <a:p>
            <a:pPr marL="38100">
              <a:lnSpc>
                <a:spcPct val="100000"/>
              </a:lnSpc>
              <a:spcBef>
                <a:spcPts val="110"/>
              </a:spcBef>
            </a:pPr>
            <a:r>
              <a:rPr sz="650" i="1" spc="5" dirty="0">
                <a:solidFill>
                  <a:srgbClr val="231F20"/>
                </a:solidFill>
                <a:latin typeface="Arial"/>
                <a:cs typeface="Arial"/>
              </a:rPr>
              <a:t>p</a:t>
            </a:r>
            <a:r>
              <a:rPr sz="450" spc="22" baseline="-27777" dirty="0">
                <a:solidFill>
                  <a:srgbClr val="231F20"/>
                </a:solidFill>
                <a:latin typeface="Arial"/>
                <a:cs typeface="Arial"/>
              </a:rPr>
              <a:t>edge  </a:t>
            </a:r>
            <a:r>
              <a:rPr sz="650" spc="5" dirty="0">
                <a:solidFill>
                  <a:srgbClr val="231F20"/>
                </a:solidFill>
                <a:latin typeface="Arial"/>
                <a:cs typeface="Arial"/>
              </a:rPr>
              <a:t>=</a:t>
            </a:r>
            <a:r>
              <a:rPr sz="650" dirty="0">
                <a:solidFill>
                  <a:srgbClr val="231F20"/>
                </a:solidFill>
                <a:latin typeface="Arial"/>
                <a:cs typeface="Arial"/>
              </a:rPr>
              <a:t> </a:t>
            </a:r>
            <a:r>
              <a:rPr sz="650" spc="5" dirty="0">
                <a:solidFill>
                  <a:srgbClr val="231F20"/>
                </a:solidFill>
                <a:latin typeface="Arial"/>
                <a:cs typeface="Arial"/>
              </a:rPr>
              <a:t>0.4</a:t>
            </a:r>
            <a:endParaRPr sz="650">
              <a:latin typeface="Arial"/>
              <a:cs typeface="Arial"/>
            </a:endParaRPr>
          </a:p>
        </p:txBody>
      </p:sp>
      <p:sp>
        <p:nvSpPr>
          <p:cNvPr id="17" name="object 17"/>
          <p:cNvSpPr txBox="1"/>
          <p:nvPr/>
        </p:nvSpPr>
        <p:spPr>
          <a:xfrm>
            <a:off x="3680124" y="2055950"/>
            <a:ext cx="430530" cy="127000"/>
          </a:xfrm>
          <a:prstGeom prst="rect">
            <a:avLst/>
          </a:prstGeom>
        </p:spPr>
        <p:txBody>
          <a:bodyPr vert="horz" wrap="square" lIns="0" tIns="13970" rIns="0" bIns="0" rtlCol="0">
            <a:spAutoFit/>
          </a:bodyPr>
          <a:lstStyle/>
          <a:p>
            <a:pPr marL="38100">
              <a:lnSpc>
                <a:spcPct val="100000"/>
              </a:lnSpc>
              <a:spcBef>
                <a:spcPts val="110"/>
              </a:spcBef>
            </a:pPr>
            <a:r>
              <a:rPr sz="650" i="1" spc="5" dirty="0">
                <a:solidFill>
                  <a:srgbClr val="231F20"/>
                </a:solidFill>
                <a:latin typeface="Arial"/>
                <a:cs typeface="Arial"/>
              </a:rPr>
              <a:t>p</a:t>
            </a:r>
            <a:r>
              <a:rPr sz="450" spc="22" baseline="-27777" dirty="0">
                <a:solidFill>
                  <a:srgbClr val="231F20"/>
                </a:solidFill>
                <a:latin typeface="Arial"/>
                <a:cs typeface="Arial"/>
              </a:rPr>
              <a:t>edge  </a:t>
            </a:r>
            <a:r>
              <a:rPr sz="650" spc="5" dirty="0">
                <a:solidFill>
                  <a:srgbClr val="231F20"/>
                </a:solidFill>
                <a:latin typeface="Arial"/>
                <a:cs typeface="Arial"/>
              </a:rPr>
              <a:t>=</a:t>
            </a:r>
            <a:r>
              <a:rPr sz="650" dirty="0">
                <a:solidFill>
                  <a:srgbClr val="231F20"/>
                </a:solidFill>
                <a:latin typeface="Arial"/>
                <a:cs typeface="Arial"/>
              </a:rPr>
              <a:t> </a:t>
            </a:r>
            <a:r>
              <a:rPr sz="650" spc="5" dirty="0">
                <a:solidFill>
                  <a:srgbClr val="231F20"/>
                </a:solidFill>
                <a:latin typeface="Arial"/>
                <a:cs typeface="Arial"/>
              </a:rPr>
              <a:t>0.2</a:t>
            </a:r>
            <a:endParaRPr sz="650">
              <a:latin typeface="Arial"/>
              <a:cs typeface="Arial"/>
            </a:endParaRPr>
          </a:p>
        </p:txBody>
      </p:sp>
      <p:sp>
        <p:nvSpPr>
          <p:cNvPr id="18" name="object 18"/>
          <p:cNvSpPr txBox="1"/>
          <p:nvPr/>
        </p:nvSpPr>
        <p:spPr>
          <a:xfrm>
            <a:off x="2686403" y="2280948"/>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a:t>
            </a:r>
            <a:endParaRPr sz="650">
              <a:latin typeface="Arial"/>
              <a:cs typeface="Arial"/>
            </a:endParaRPr>
          </a:p>
        </p:txBody>
      </p:sp>
      <p:sp>
        <p:nvSpPr>
          <p:cNvPr id="19" name="object 19"/>
          <p:cNvSpPr txBox="1"/>
          <p:nvPr/>
        </p:nvSpPr>
        <p:spPr>
          <a:xfrm>
            <a:off x="2719620" y="2418796"/>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100</a:t>
            </a:r>
            <a:endParaRPr sz="650">
              <a:latin typeface="Arial"/>
              <a:cs typeface="Arial"/>
            </a:endParaRPr>
          </a:p>
        </p:txBody>
      </p:sp>
      <p:sp>
        <p:nvSpPr>
          <p:cNvPr id="20" name="object 20"/>
          <p:cNvSpPr txBox="1"/>
          <p:nvPr/>
        </p:nvSpPr>
        <p:spPr>
          <a:xfrm>
            <a:off x="3163206" y="2428530"/>
            <a:ext cx="672465" cy="222885"/>
          </a:xfrm>
          <a:prstGeom prst="rect">
            <a:avLst/>
          </a:prstGeom>
        </p:spPr>
        <p:txBody>
          <a:bodyPr vert="horz" wrap="square" lIns="0" tIns="13970" rIns="0" bIns="0" rtlCol="0">
            <a:spAutoFit/>
          </a:bodyPr>
          <a:lstStyle/>
          <a:p>
            <a:pPr marL="179705">
              <a:lnSpc>
                <a:spcPts val="770"/>
              </a:lnSpc>
              <a:spcBef>
                <a:spcPts val="110"/>
              </a:spcBef>
            </a:pPr>
            <a:r>
              <a:rPr sz="650" spc="5" dirty="0">
                <a:latin typeface="Arial"/>
                <a:cs typeface="Arial"/>
              </a:rPr>
              <a:t>500</a:t>
            </a:r>
            <a:endParaRPr sz="650">
              <a:latin typeface="Arial"/>
              <a:cs typeface="Arial"/>
            </a:endParaRPr>
          </a:p>
          <a:p>
            <a:pPr marL="12700">
              <a:lnSpc>
                <a:spcPts val="770"/>
              </a:lnSpc>
            </a:pPr>
            <a:r>
              <a:rPr sz="650" spc="5" dirty="0">
                <a:solidFill>
                  <a:srgbClr val="231F20"/>
                </a:solidFill>
                <a:latin typeface="Arial"/>
                <a:cs typeface="Arial"/>
              </a:rPr>
              <a:t>Number</a:t>
            </a:r>
            <a:r>
              <a:rPr sz="650" spc="-30" dirty="0">
                <a:solidFill>
                  <a:srgbClr val="231F20"/>
                </a:solidFill>
                <a:latin typeface="Arial"/>
                <a:cs typeface="Arial"/>
              </a:rPr>
              <a:t> </a:t>
            </a:r>
            <a:r>
              <a:rPr sz="650" spc="5" dirty="0">
                <a:solidFill>
                  <a:srgbClr val="231F20"/>
                </a:solidFill>
                <a:latin typeface="Arial"/>
                <a:cs typeface="Arial"/>
              </a:rPr>
              <a:t>of</a:t>
            </a:r>
            <a:r>
              <a:rPr sz="650" spc="-25" dirty="0">
                <a:solidFill>
                  <a:srgbClr val="231F20"/>
                </a:solidFill>
                <a:latin typeface="Arial"/>
                <a:cs typeface="Arial"/>
              </a:rPr>
              <a:t> </a:t>
            </a:r>
            <a:r>
              <a:rPr sz="650" spc="5" dirty="0">
                <a:solidFill>
                  <a:srgbClr val="231F20"/>
                </a:solidFill>
                <a:latin typeface="Arial"/>
                <a:cs typeface="Arial"/>
              </a:rPr>
              <a:t>nodes</a:t>
            </a:r>
            <a:endParaRPr sz="650">
              <a:latin typeface="Arial"/>
              <a:cs typeface="Arial"/>
            </a:endParaRPr>
          </a:p>
        </p:txBody>
      </p:sp>
      <p:sp>
        <p:nvSpPr>
          <p:cNvPr id="21" name="object 21"/>
          <p:cNvSpPr txBox="1"/>
          <p:nvPr/>
        </p:nvSpPr>
        <p:spPr>
          <a:xfrm>
            <a:off x="4045505" y="2418796"/>
            <a:ext cx="21336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1000</a:t>
            </a:r>
            <a:endParaRPr sz="650">
              <a:latin typeface="Arial"/>
              <a:cs typeface="Arial"/>
            </a:endParaRPr>
          </a:p>
        </p:txBody>
      </p:sp>
      <p:sp>
        <p:nvSpPr>
          <p:cNvPr id="22" name="object 22"/>
          <p:cNvSpPr txBox="1"/>
          <p:nvPr/>
        </p:nvSpPr>
        <p:spPr>
          <a:xfrm>
            <a:off x="2472188" y="1374064"/>
            <a:ext cx="109855" cy="1005205"/>
          </a:xfrm>
          <a:prstGeom prst="rect">
            <a:avLst/>
          </a:prstGeom>
        </p:spPr>
        <p:txBody>
          <a:bodyPr vert="vert270" wrap="square" lIns="0" tIns="0" rIns="0" bIns="0" rtlCol="0">
            <a:spAutoFit/>
          </a:bodyPr>
          <a:lstStyle/>
          <a:p>
            <a:pPr marL="12700">
              <a:lnSpc>
                <a:spcPts val="745"/>
              </a:lnSpc>
            </a:pPr>
            <a:r>
              <a:rPr sz="650" spc="5" dirty="0">
                <a:solidFill>
                  <a:srgbClr val="231F20"/>
                </a:solidFill>
                <a:latin typeface="Arial"/>
                <a:cs typeface="Arial"/>
              </a:rPr>
              <a:t>Number</a:t>
            </a:r>
            <a:r>
              <a:rPr sz="650" spc="-15" dirty="0">
                <a:solidFill>
                  <a:srgbClr val="231F20"/>
                </a:solidFill>
                <a:latin typeface="Arial"/>
                <a:cs typeface="Arial"/>
              </a:rPr>
              <a:t> </a:t>
            </a:r>
            <a:r>
              <a:rPr sz="650" spc="5" dirty="0">
                <a:solidFill>
                  <a:srgbClr val="231F20"/>
                </a:solidFill>
                <a:latin typeface="Arial"/>
                <a:cs typeface="Arial"/>
              </a:rPr>
              <a:t>of</a:t>
            </a:r>
            <a:r>
              <a:rPr sz="650" spc="-10" dirty="0">
                <a:solidFill>
                  <a:srgbClr val="231F20"/>
                </a:solidFill>
                <a:latin typeface="Arial"/>
                <a:cs typeface="Arial"/>
              </a:rPr>
              <a:t> </a:t>
            </a:r>
            <a:r>
              <a:rPr sz="650" spc="5" dirty="0">
                <a:solidFill>
                  <a:srgbClr val="231F20"/>
                </a:solidFill>
                <a:latin typeface="Arial"/>
                <a:cs typeface="Arial"/>
              </a:rPr>
              <a:t>edges</a:t>
            </a:r>
            <a:r>
              <a:rPr sz="650" spc="-10" dirty="0">
                <a:solidFill>
                  <a:srgbClr val="231F20"/>
                </a:solidFill>
                <a:latin typeface="Arial"/>
                <a:cs typeface="Arial"/>
              </a:rPr>
              <a:t> </a:t>
            </a:r>
            <a:r>
              <a:rPr sz="650" spc="5" dirty="0">
                <a:solidFill>
                  <a:srgbClr val="231F20"/>
                </a:solidFill>
                <a:latin typeface="Arial"/>
                <a:cs typeface="Arial"/>
              </a:rPr>
              <a:t>(x</a:t>
            </a:r>
            <a:r>
              <a:rPr sz="650" spc="-15" dirty="0">
                <a:solidFill>
                  <a:srgbClr val="231F20"/>
                </a:solidFill>
                <a:latin typeface="Arial"/>
                <a:cs typeface="Arial"/>
              </a:rPr>
              <a:t> </a:t>
            </a:r>
            <a:r>
              <a:rPr sz="650" spc="5" dirty="0">
                <a:solidFill>
                  <a:srgbClr val="231F20"/>
                </a:solidFill>
                <a:latin typeface="Arial"/>
                <a:cs typeface="Arial"/>
              </a:rPr>
              <a:t>1000)</a:t>
            </a:r>
            <a:endParaRPr sz="650">
              <a:latin typeface="Arial"/>
              <a:cs typeface="Arial"/>
            </a:endParaRPr>
          </a:p>
        </p:txBody>
      </p:sp>
      <p:sp>
        <p:nvSpPr>
          <p:cNvPr id="23" name="object 23"/>
          <p:cNvSpPr txBox="1"/>
          <p:nvPr/>
        </p:nvSpPr>
        <p:spPr>
          <a:xfrm>
            <a:off x="316890" y="2745610"/>
            <a:ext cx="3971290" cy="657225"/>
          </a:xfrm>
          <a:prstGeom prst="rect">
            <a:avLst/>
          </a:prstGeom>
        </p:spPr>
        <p:txBody>
          <a:bodyPr vert="horz" wrap="square" lIns="0" tIns="12065" rIns="0" bIns="0" rtlCol="0">
            <a:spAutoFit/>
          </a:bodyPr>
          <a:lstStyle/>
          <a:p>
            <a:pPr marL="38100">
              <a:lnSpc>
                <a:spcPts val="1410"/>
              </a:lnSpc>
              <a:spcBef>
                <a:spcPts val="95"/>
              </a:spcBef>
            </a:pPr>
            <a:r>
              <a:rPr sz="1200" spc="-10" dirty="0">
                <a:solidFill>
                  <a:srgbClr val="3333B2"/>
                </a:solidFill>
                <a:latin typeface="Arial"/>
                <a:cs typeface="Arial"/>
              </a:rPr>
              <a:t>Variation</a:t>
            </a:r>
            <a:endParaRPr sz="1200" dirty="0">
              <a:latin typeface="Arial"/>
              <a:cs typeface="Arial"/>
            </a:endParaRPr>
          </a:p>
          <a:p>
            <a:pPr marL="42545" marR="30480">
              <a:lnSpc>
                <a:spcPts val="1200"/>
              </a:lnSpc>
              <a:spcBef>
                <a:spcPts val="10"/>
              </a:spcBef>
            </a:pPr>
            <a:r>
              <a:rPr sz="1000" spc="-5" dirty="0">
                <a:latin typeface="Arial"/>
                <a:cs typeface="Arial"/>
              </a:rPr>
              <a:t>Let </a:t>
            </a:r>
            <a:r>
              <a:rPr sz="1000" i="1" spc="-5" dirty="0">
                <a:latin typeface="Arial"/>
                <a:cs typeface="Arial"/>
              </a:rPr>
              <a:t>Q </a:t>
            </a:r>
            <a:r>
              <a:rPr sz="1000" spc="-10" dirty="0">
                <a:latin typeface="Arial"/>
                <a:cs typeface="Arial"/>
              </a:rPr>
              <a:t>forward </a:t>
            </a:r>
            <a:r>
              <a:rPr sz="1000" spc="-5" dirty="0">
                <a:latin typeface="Arial"/>
                <a:cs typeface="Arial"/>
              </a:rPr>
              <a:t>a message with a </a:t>
            </a:r>
            <a:r>
              <a:rPr sz="1000" dirty="0">
                <a:latin typeface="Arial"/>
                <a:cs typeface="Arial"/>
              </a:rPr>
              <a:t>certain </a:t>
            </a:r>
            <a:r>
              <a:rPr sz="1000" spc="-5" dirty="0">
                <a:latin typeface="Arial"/>
                <a:cs typeface="Arial"/>
              </a:rPr>
              <a:t>probability </a:t>
            </a:r>
            <a:r>
              <a:rPr sz="1000" i="1" spc="10" dirty="0">
                <a:latin typeface="Arial"/>
                <a:cs typeface="Arial"/>
              </a:rPr>
              <a:t>p</a:t>
            </a:r>
            <a:r>
              <a:rPr sz="1050" i="1" spc="15" baseline="-15873" dirty="0">
                <a:latin typeface="Arial"/>
                <a:cs typeface="Arial"/>
              </a:rPr>
              <a:t>flood </a:t>
            </a:r>
            <a:r>
              <a:rPr sz="1000" spc="-5" dirty="0">
                <a:latin typeface="Arial"/>
                <a:cs typeface="Arial"/>
              </a:rPr>
              <a:t>, possibly </a:t>
            </a:r>
            <a:r>
              <a:rPr sz="1000" dirty="0">
                <a:latin typeface="Arial"/>
                <a:cs typeface="Arial"/>
              </a:rPr>
              <a:t> </a:t>
            </a:r>
            <a:r>
              <a:rPr sz="1000" spc="-20" dirty="0">
                <a:latin typeface="Arial"/>
                <a:cs typeface="Arial"/>
              </a:rPr>
              <a:t>even</a:t>
            </a:r>
            <a:r>
              <a:rPr sz="1000" dirty="0">
                <a:latin typeface="Arial"/>
                <a:cs typeface="Arial"/>
              </a:rPr>
              <a:t> </a:t>
            </a:r>
            <a:r>
              <a:rPr sz="1000" spc="-10" dirty="0">
                <a:latin typeface="Arial"/>
                <a:cs typeface="Arial"/>
              </a:rPr>
              <a:t>dependent</a:t>
            </a:r>
            <a:r>
              <a:rPr sz="1000" dirty="0">
                <a:latin typeface="Arial"/>
                <a:cs typeface="Arial"/>
              </a:rPr>
              <a:t> </a:t>
            </a:r>
            <a:r>
              <a:rPr sz="1000" spc="-10" dirty="0">
                <a:latin typeface="Arial"/>
                <a:cs typeface="Arial"/>
              </a:rPr>
              <a:t>on</a:t>
            </a:r>
            <a:r>
              <a:rPr sz="1000" dirty="0">
                <a:latin typeface="Arial"/>
                <a:cs typeface="Arial"/>
              </a:rPr>
              <a:t> </a:t>
            </a:r>
            <a:r>
              <a:rPr sz="1000" spc="-5" dirty="0">
                <a:latin typeface="Arial"/>
                <a:cs typeface="Arial"/>
              </a:rPr>
              <a:t>its</a:t>
            </a:r>
            <a:r>
              <a:rPr sz="1000" dirty="0">
                <a:latin typeface="Arial"/>
                <a:cs typeface="Arial"/>
              </a:rPr>
              <a:t> </a:t>
            </a:r>
            <a:r>
              <a:rPr sz="1000" spc="-15" dirty="0">
                <a:latin typeface="Arial"/>
                <a:cs typeface="Arial"/>
              </a:rPr>
              <a:t>own</a:t>
            </a:r>
            <a:r>
              <a:rPr sz="1000" dirty="0">
                <a:latin typeface="Arial"/>
                <a:cs typeface="Arial"/>
              </a:rPr>
              <a:t> </a:t>
            </a:r>
            <a:r>
              <a:rPr sz="1000" spc="-10" dirty="0">
                <a:latin typeface="Arial"/>
                <a:cs typeface="Arial"/>
              </a:rPr>
              <a:t>number</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neighbors</a:t>
            </a:r>
            <a:r>
              <a:rPr sz="1000" dirty="0">
                <a:latin typeface="Arial"/>
                <a:cs typeface="Arial"/>
              </a:rPr>
              <a:t> </a:t>
            </a:r>
            <a:r>
              <a:rPr sz="1000" spc="-10" dirty="0">
                <a:latin typeface="Arial"/>
                <a:cs typeface="Arial"/>
              </a:rPr>
              <a:t>(i.e.,</a:t>
            </a:r>
            <a:r>
              <a:rPr sz="1000" spc="5" dirty="0">
                <a:latin typeface="Arial"/>
                <a:cs typeface="Arial"/>
              </a:rPr>
              <a:t> </a:t>
            </a:r>
            <a:r>
              <a:rPr sz="1000" spc="-10" dirty="0">
                <a:solidFill>
                  <a:srgbClr val="FA0000"/>
                </a:solidFill>
                <a:latin typeface="Arial"/>
                <a:cs typeface="Arial"/>
              </a:rPr>
              <a:t>node</a:t>
            </a:r>
            <a:r>
              <a:rPr sz="1000" dirty="0">
                <a:solidFill>
                  <a:srgbClr val="FA0000"/>
                </a:solidFill>
                <a:latin typeface="Arial"/>
                <a:cs typeface="Arial"/>
              </a:rPr>
              <a:t> </a:t>
            </a:r>
            <a:r>
              <a:rPr sz="1000" spc="-10" dirty="0">
                <a:solidFill>
                  <a:srgbClr val="FA0000"/>
                </a:solidFill>
                <a:latin typeface="Arial"/>
                <a:cs typeface="Arial"/>
              </a:rPr>
              <a:t>degree</a:t>
            </a:r>
            <a:r>
              <a:rPr sz="1000" spc="-10" dirty="0">
                <a:latin typeface="Arial"/>
                <a:cs typeface="Arial"/>
              </a:rPr>
              <a:t>)</a:t>
            </a:r>
            <a:r>
              <a:rPr sz="1000" dirty="0">
                <a:latin typeface="Arial"/>
                <a:cs typeface="Arial"/>
              </a:rPr>
              <a:t> </a:t>
            </a:r>
            <a:r>
              <a:rPr sz="1000" spc="-5" dirty="0">
                <a:latin typeface="Arial"/>
                <a:cs typeface="Arial"/>
              </a:rPr>
              <a:t>or </a:t>
            </a:r>
            <a:r>
              <a:rPr sz="1000" spc="-265"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degree of its neighbors.</a:t>
            </a:r>
            <a:endParaRPr sz="1000" dirty="0">
              <a:latin typeface="Arial"/>
              <a:cs typeface="Arial"/>
            </a:endParaRPr>
          </a:p>
        </p:txBody>
      </p:sp>
      <p:sp>
        <p:nvSpPr>
          <p:cNvPr id="24" name="object 24"/>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40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Multicast</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393559" y="716"/>
            <a:ext cx="11480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Gossip-based data</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dissemination</a:t>
            </a:r>
            <a:endParaRPr sz="600">
              <a:latin typeface="Arial"/>
              <a:cs typeface="Arial"/>
            </a:endParaRPr>
          </a:p>
        </p:txBody>
      </p:sp>
      <p:sp>
        <p:nvSpPr>
          <p:cNvPr id="4" name="object 4"/>
          <p:cNvSpPr txBox="1"/>
          <p:nvPr/>
        </p:nvSpPr>
        <p:spPr>
          <a:xfrm>
            <a:off x="69900" y="188846"/>
            <a:ext cx="4228465" cy="2713990"/>
          </a:xfrm>
          <a:prstGeom prst="rect">
            <a:avLst/>
          </a:prstGeom>
        </p:spPr>
        <p:txBody>
          <a:bodyPr vert="horz" wrap="square" lIns="0" tIns="17145" rIns="0" bIns="0" rtlCol="0">
            <a:spAutoFit/>
          </a:bodyPr>
          <a:lstStyle/>
          <a:p>
            <a:pPr marL="38100">
              <a:lnSpc>
                <a:spcPct val="100000"/>
              </a:lnSpc>
              <a:spcBef>
                <a:spcPts val="135"/>
              </a:spcBef>
            </a:pPr>
            <a:r>
              <a:rPr sz="1400" spc="15" dirty="0">
                <a:solidFill>
                  <a:srgbClr val="3333B2"/>
                </a:solidFill>
                <a:latin typeface="Arial"/>
                <a:cs typeface="Arial"/>
              </a:rPr>
              <a:t>Epidemic</a:t>
            </a:r>
            <a:r>
              <a:rPr sz="1400" spc="-70" dirty="0">
                <a:solidFill>
                  <a:srgbClr val="3333B2"/>
                </a:solidFill>
                <a:latin typeface="Arial"/>
                <a:cs typeface="Arial"/>
              </a:rPr>
              <a:t> </a:t>
            </a:r>
            <a:r>
              <a:rPr sz="1400" spc="15" dirty="0">
                <a:solidFill>
                  <a:srgbClr val="3333B2"/>
                </a:solidFill>
                <a:latin typeface="Arial"/>
                <a:cs typeface="Arial"/>
              </a:rPr>
              <a:t>protocols</a:t>
            </a:r>
            <a:endParaRPr sz="1400" dirty="0">
              <a:latin typeface="Arial"/>
              <a:cs typeface="Arial"/>
            </a:endParaRPr>
          </a:p>
          <a:p>
            <a:pPr>
              <a:lnSpc>
                <a:spcPct val="100000"/>
              </a:lnSpc>
              <a:spcBef>
                <a:spcPts val="5"/>
              </a:spcBef>
            </a:pPr>
            <a:endParaRPr sz="1550" dirty="0">
              <a:latin typeface="Arial"/>
              <a:cs typeface="Arial"/>
            </a:endParaRPr>
          </a:p>
          <a:p>
            <a:pPr marL="284480">
              <a:lnSpc>
                <a:spcPct val="100000"/>
              </a:lnSpc>
            </a:pPr>
            <a:r>
              <a:rPr sz="1200" spc="-5" dirty="0">
                <a:solidFill>
                  <a:srgbClr val="3333B2"/>
                </a:solidFill>
                <a:latin typeface="Arial"/>
                <a:cs typeface="Arial"/>
              </a:rPr>
              <a:t>Assume</a:t>
            </a:r>
            <a:r>
              <a:rPr sz="1200" spc="-10" dirty="0">
                <a:solidFill>
                  <a:srgbClr val="3333B2"/>
                </a:solidFill>
                <a:latin typeface="Arial"/>
                <a:cs typeface="Arial"/>
              </a:rPr>
              <a:t> </a:t>
            </a:r>
            <a:r>
              <a:rPr sz="1200" spc="-5" dirty="0">
                <a:solidFill>
                  <a:srgbClr val="3333B2"/>
                </a:solidFill>
                <a:latin typeface="Arial"/>
                <a:cs typeface="Arial"/>
              </a:rPr>
              <a:t>there</a:t>
            </a:r>
            <a:r>
              <a:rPr sz="1200" spc="-10" dirty="0">
                <a:solidFill>
                  <a:srgbClr val="3333B2"/>
                </a:solidFill>
                <a:latin typeface="Arial"/>
                <a:cs typeface="Arial"/>
              </a:rPr>
              <a:t> </a:t>
            </a:r>
            <a:r>
              <a:rPr sz="1200" spc="-5" dirty="0">
                <a:solidFill>
                  <a:srgbClr val="3333B2"/>
                </a:solidFill>
                <a:latin typeface="Arial"/>
                <a:cs typeface="Arial"/>
              </a:rPr>
              <a:t>are</a:t>
            </a:r>
            <a:r>
              <a:rPr sz="1200" spc="-10" dirty="0">
                <a:solidFill>
                  <a:srgbClr val="3333B2"/>
                </a:solidFill>
                <a:latin typeface="Arial"/>
                <a:cs typeface="Arial"/>
              </a:rPr>
              <a:t> </a:t>
            </a:r>
            <a:r>
              <a:rPr sz="1200" spc="-5" dirty="0">
                <a:solidFill>
                  <a:srgbClr val="3333B2"/>
                </a:solidFill>
                <a:latin typeface="Arial"/>
                <a:cs typeface="Arial"/>
              </a:rPr>
              <a:t>no </a:t>
            </a:r>
            <a:r>
              <a:rPr sz="1200" dirty="0">
                <a:solidFill>
                  <a:srgbClr val="3333B2"/>
                </a:solidFill>
                <a:latin typeface="Arial"/>
                <a:cs typeface="Arial"/>
              </a:rPr>
              <a:t>write–write</a:t>
            </a:r>
            <a:r>
              <a:rPr sz="1200" spc="-10" dirty="0">
                <a:solidFill>
                  <a:srgbClr val="3333B2"/>
                </a:solidFill>
                <a:latin typeface="Arial"/>
                <a:cs typeface="Arial"/>
              </a:rPr>
              <a:t> </a:t>
            </a:r>
            <a:r>
              <a:rPr sz="1200" spc="-5" dirty="0">
                <a:solidFill>
                  <a:srgbClr val="3333B2"/>
                </a:solidFill>
                <a:latin typeface="Arial"/>
                <a:cs typeface="Arial"/>
              </a:rPr>
              <a:t>conflicts</a:t>
            </a:r>
            <a:endParaRPr sz="1200" dirty="0">
              <a:latin typeface="Arial"/>
              <a:cs typeface="Arial"/>
            </a:endParaRPr>
          </a:p>
          <a:p>
            <a:pPr marL="567055" indent="-168275">
              <a:lnSpc>
                <a:spcPts val="1200"/>
              </a:lnSpc>
              <a:spcBef>
                <a:spcPts val="545"/>
              </a:spcBef>
              <a:buClr>
                <a:srgbClr val="3333B2"/>
              </a:buClr>
              <a:buChar char="►"/>
              <a:tabLst>
                <a:tab pos="567690" algn="l"/>
              </a:tabLst>
            </a:pPr>
            <a:r>
              <a:rPr sz="1000" spc="-5" dirty="0">
                <a:latin typeface="Arial"/>
                <a:cs typeface="Arial"/>
              </a:rPr>
              <a:t>Update operations are</a:t>
            </a:r>
            <a:r>
              <a:rPr sz="1000" dirty="0">
                <a:latin typeface="Arial"/>
                <a:cs typeface="Arial"/>
              </a:rPr>
              <a:t> </a:t>
            </a:r>
            <a:r>
              <a:rPr sz="1000" spc="-5" dirty="0">
                <a:latin typeface="Arial"/>
                <a:cs typeface="Arial"/>
              </a:rPr>
              <a:t>performed at a</a:t>
            </a:r>
            <a:r>
              <a:rPr sz="1000" dirty="0">
                <a:latin typeface="Arial"/>
                <a:cs typeface="Arial"/>
              </a:rPr>
              <a:t> </a:t>
            </a:r>
            <a:r>
              <a:rPr sz="1000" spc="-5" dirty="0">
                <a:latin typeface="Arial"/>
                <a:cs typeface="Arial"/>
              </a:rPr>
              <a:t>single server</a:t>
            </a:r>
            <a:endParaRPr sz="1000" dirty="0">
              <a:latin typeface="Arial"/>
              <a:cs typeface="Arial"/>
            </a:endParaRPr>
          </a:p>
          <a:p>
            <a:pPr marL="567055" indent="-168275">
              <a:lnSpc>
                <a:spcPts val="1195"/>
              </a:lnSpc>
              <a:buClr>
                <a:srgbClr val="3333B2"/>
              </a:buClr>
              <a:buChar char="►"/>
              <a:tabLst>
                <a:tab pos="567690" algn="l"/>
              </a:tabLst>
            </a:pPr>
            <a:r>
              <a:rPr sz="1000" spc="-5" dirty="0">
                <a:latin typeface="Arial"/>
                <a:cs typeface="Arial"/>
              </a:rPr>
              <a:t>A replica</a:t>
            </a:r>
            <a:r>
              <a:rPr sz="1000" dirty="0">
                <a:latin typeface="Arial"/>
                <a:cs typeface="Arial"/>
              </a:rPr>
              <a:t> </a:t>
            </a:r>
            <a:r>
              <a:rPr sz="1000" spc="-5" dirty="0">
                <a:latin typeface="Arial"/>
                <a:cs typeface="Arial"/>
              </a:rPr>
              <a:t>passes</a:t>
            </a:r>
            <a:r>
              <a:rPr sz="1000" dirty="0">
                <a:latin typeface="Arial"/>
                <a:cs typeface="Arial"/>
              </a:rPr>
              <a:t> </a:t>
            </a:r>
            <a:r>
              <a:rPr sz="1000" spc="-5" dirty="0">
                <a:latin typeface="Arial"/>
                <a:cs typeface="Arial"/>
              </a:rPr>
              <a:t>updated state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only a</a:t>
            </a:r>
            <a:r>
              <a:rPr sz="1000" dirty="0">
                <a:latin typeface="Arial"/>
                <a:cs typeface="Arial"/>
              </a:rPr>
              <a:t> </a:t>
            </a:r>
            <a:r>
              <a:rPr sz="1000" spc="-20" dirty="0">
                <a:latin typeface="Arial"/>
                <a:cs typeface="Arial"/>
              </a:rPr>
              <a:t>few</a:t>
            </a:r>
            <a:r>
              <a:rPr sz="1000" dirty="0">
                <a:latin typeface="Arial"/>
                <a:cs typeface="Arial"/>
              </a:rPr>
              <a:t> </a:t>
            </a:r>
            <a:r>
              <a:rPr sz="1000" spc="-5" dirty="0">
                <a:latin typeface="Arial"/>
                <a:cs typeface="Arial"/>
              </a:rPr>
              <a:t>neighbors</a:t>
            </a:r>
            <a:endParaRPr sz="1000" dirty="0">
              <a:latin typeface="Arial"/>
              <a:cs typeface="Arial"/>
            </a:endParaRPr>
          </a:p>
          <a:p>
            <a:pPr marL="567055" indent="-168275">
              <a:lnSpc>
                <a:spcPts val="1195"/>
              </a:lnSpc>
              <a:buClr>
                <a:srgbClr val="3333B2"/>
              </a:buClr>
              <a:buChar char="►"/>
              <a:tabLst>
                <a:tab pos="567690" algn="l"/>
              </a:tabLst>
            </a:pPr>
            <a:r>
              <a:rPr sz="1000" spc="-5" dirty="0">
                <a:latin typeface="Arial"/>
                <a:cs typeface="Arial"/>
              </a:rPr>
              <a:t>Update propagation is</a:t>
            </a:r>
            <a:r>
              <a:rPr sz="1000" dirty="0">
                <a:latin typeface="Arial"/>
                <a:cs typeface="Arial"/>
              </a:rPr>
              <a:t> </a:t>
            </a:r>
            <a:r>
              <a:rPr sz="1000" spc="-25" dirty="0">
                <a:latin typeface="Arial"/>
                <a:cs typeface="Arial"/>
              </a:rPr>
              <a:t>lazy,</a:t>
            </a:r>
            <a:r>
              <a:rPr sz="1000" spc="-5" dirty="0">
                <a:latin typeface="Arial"/>
                <a:cs typeface="Arial"/>
              </a:rPr>
              <a:t> i.e.,</a:t>
            </a:r>
            <a:r>
              <a:rPr sz="1000" dirty="0">
                <a:latin typeface="Arial"/>
                <a:cs typeface="Arial"/>
              </a:rPr>
              <a:t> </a:t>
            </a:r>
            <a:r>
              <a:rPr sz="1000" spc="-5" dirty="0">
                <a:latin typeface="Arial"/>
                <a:cs typeface="Arial"/>
              </a:rPr>
              <a:t>not immediate</a:t>
            </a:r>
            <a:endParaRPr sz="1000" dirty="0">
              <a:latin typeface="Arial"/>
              <a:cs typeface="Arial"/>
            </a:endParaRPr>
          </a:p>
          <a:p>
            <a:pPr marL="567055" indent="-168275">
              <a:lnSpc>
                <a:spcPts val="1200"/>
              </a:lnSpc>
              <a:buClr>
                <a:srgbClr val="3333B2"/>
              </a:buClr>
              <a:buChar char="►"/>
              <a:tabLst>
                <a:tab pos="567690" algn="l"/>
              </a:tabLst>
            </a:pPr>
            <a:r>
              <a:rPr sz="1000" spc="-15" dirty="0">
                <a:latin typeface="Arial"/>
                <a:cs typeface="Arial"/>
              </a:rPr>
              <a:t>Eventually,</a:t>
            </a:r>
            <a:r>
              <a:rPr sz="1000" spc="-5" dirty="0">
                <a:latin typeface="Arial"/>
                <a:cs typeface="Arial"/>
              </a:rPr>
              <a:t> each update</a:t>
            </a:r>
            <a:r>
              <a:rPr sz="1000" dirty="0">
                <a:latin typeface="Arial"/>
                <a:cs typeface="Arial"/>
              </a:rPr>
              <a:t> </a:t>
            </a:r>
            <a:r>
              <a:rPr sz="1000" spc="-5" dirty="0">
                <a:latin typeface="Arial"/>
                <a:cs typeface="Arial"/>
              </a:rPr>
              <a:t>should reach</a:t>
            </a:r>
            <a:r>
              <a:rPr sz="1000" dirty="0">
                <a:latin typeface="Arial"/>
                <a:cs typeface="Arial"/>
              </a:rPr>
              <a:t> </a:t>
            </a:r>
            <a:r>
              <a:rPr sz="1000" spc="-10" dirty="0">
                <a:latin typeface="Arial"/>
                <a:cs typeface="Arial"/>
              </a:rPr>
              <a:t>every</a:t>
            </a:r>
            <a:r>
              <a:rPr sz="1000" spc="-5" dirty="0">
                <a:latin typeface="Arial"/>
                <a:cs typeface="Arial"/>
              </a:rPr>
              <a:t> replica</a:t>
            </a:r>
            <a:endParaRPr sz="1000" dirty="0">
              <a:latin typeface="Arial"/>
              <a:cs typeface="Arial"/>
            </a:endParaRPr>
          </a:p>
          <a:p>
            <a:pPr>
              <a:lnSpc>
                <a:spcPct val="100000"/>
              </a:lnSpc>
              <a:spcBef>
                <a:spcPts val="5"/>
              </a:spcBef>
              <a:buClr>
                <a:srgbClr val="3333B2"/>
              </a:buClr>
              <a:buFont typeface="Arial"/>
              <a:buChar char="►"/>
            </a:pPr>
            <a:endParaRPr sz="1300" dirty="0">
              <a:latin typeface="Arial"/>
              <a:cs typeface="Arial"/>
            </a:endParaRPr>
          </a:p>
          <a:p>
            <a:pPr marL="285115">
              <a:lnSpc>
                <a:spcPct val="100000"/>
              </a:lnSpc>
            </a:pPr>
            <a:r>
              <a:rPr sz="1200" spc="-60" dirty="0">
                <a:solidFill>
                  <a:srgbClr val="3333B2"/>
                </a:solidFill>
                <a:latin typeface="Arial"/>
                <a:cs typeface="Arial"/>
              </a:rPr>
              <a:t>Two</a:t>
            </a:r>
            <a:r>
              <a:rPr sz="1200" spc="-15" dirty="0">
                <a:solidFill>
                  <a:srgbClr val="3333B2"/>
                </a:solidFill>
                <a:latin typeface="Arial"/>
                <a:cs typeface="Arial"/>
              </a:rPr>
              <a:t> </a:t>
            </a:r>
            <a:r>
              <a:rPr sz="1200" spc="-10" dirty="0">
                <a:solidFill>
                  <a:srgbClr val="3333B2"/>
                </a:solidFill>
                <a:latin typeface="Arial"/>
                <a:cs typeface="Arial"/>
              </a:rPr>
              <a:t>forms</a:t>
            </a:r>
            <a:r>
              <a:rPr sz="1200" spc="-15" dirty="0">
                <a:solidFill>
                  <a:srgbClr val="3333B2"/>
                </a:solidFill>
                <a:latin typeface="Arial"/>
                <a:cs typeface="Arial"/>
              </a:rPr>
              <a:t> </a:t>
            </a:r>
            <a:r>
              <a:rPr sz="1200" spc="-5" dirty="0">
                <a:solidFill>
                  <a:srgbClr val="3333B2"/>
                </a:solidFill>
                <a:latin typeface="Arial"/>
                <a:cs typeface="Arial"/>
              </a:rPr>
              <a:t>of</a:t>
            </a:r>
            <a:r>
              <a:rPr sz="1200" spc="-10" dirty="0">
                <a:solidFill>
                  <a:srgbClr val="3333B2"/>
                </a:solidFill>
                <a:latin typeface="Arial"/>
                <a:cs typeface="Arial"/>
              </a:rPr>
              <a:t> </a:t>
            </a:r>
            <a:r>
              <a:rPr sz="1200" spc="-5" dirty="0">
                <a:solidFill>
                  <a:srgbClr val="3333B2"/>
                </a:solidFill>
                <a:latin typeface="Arial"/>
                <a:cs typeface="Arial"/>
              </a:rPr>
              <a:t>epidemics</a:t>
            </a:r>
            <a:endParaRPr sz="1200" dirty="0">
              <a:latin typeface="Arial"/>
              <a:cs typeface="Arial"/>
            </a:endParaRPr>
          </a:p>
          <a:p>
            <a:pPr marL="567055" marR="158115" indent="-168275">
              <a:lnSpc>
                <a:spcPct val="100000"/>
              </a:lnSpc>
              <a:spcBef>
                <a:spcPts val="775"/>
              </a:spcBef>
              <a:buClr>
                <a:srgbClr val="3333B2"/>
              </a:buClr>
              <a:buChar char="►"/>
              <a:tabLst>
                <a:tab pos="567690" algn="l"/>
              </a:tabLst>
            </a:pPr>
            <a:r>
              <a:rPr sz="1000" spc="-5" dirty="0">
                <a:solidFill>
                  <a:srgbClr val="FA0000"/>
                </a:solidFill>
                <a:latin typeface="Arial"/>
                <a:cs typeface="Arial"/>
              </a:rPr>
              <a:t>Anti-entropy</a:t>
            </a:r>
            <a:r>
              <a:rPr sz="1000" spc="-5" dirty="0">
                <a:latin typeface="Arial"/>
                <a:cs typeface="Arial"/>
              </a:rPr>
              <a:t>:</a:t>
            </a:r>
            <a:r>
              <a:rPr sz="1000" spc="65" dirty="0">
                <a:latin typeface="Arial"/>
                <a:cs typeface="Arial"/>
              </a:rPr>
              <a:t> </a:t>
            </a:r>
            <a:r>
              <a:rPr sz="1000" spc="-5" dirty="0">
                <a:latin typeface="Arial"/>
                <a:cs typeface="Arial"/>
              </a:rPr>
              <a:t>Each</a:t>
            </a:r>
            <a:r>
              <a:rPr sz="1000" spc="5" dirty="0">
                <a:latin typeface="Arial"/>
                <a:cs typeface="Arial"/>
              </a:rPr>
              <a:t> </a:t>
            </a:r>
            <a:r>
              <a:rPr sz="1000" spc="-5" dirty="0">
                <a:latin typeface="Arial"/>
                <a:cs typeface="Arial"/>
              </a:rPr>
              <a:t>replica</a:t>
            </a:r>
            <a:r>
              <a:rPr sz="1000" spc="5" dirty="0">
                <a:latin typeface="Arial"/>
                <a:cs typeface="Arial"/>
              </a:rPr>
              <a:t> </a:t>
            </a:r>
            <a:r>
              <a:rPr sz="1000" spc="-5" dirty="0">
                <a:latin typeface="Arial"/>
                <a:cs typeface="Arial"/>
              </a:rPr>
              <a:t>regularly</a:t>
            </a:r>
            <a:r>
              <a:rPr sz="1000" dirty="0">
                <a:latin typeface="Arial"/>
                <a:cs typeface="Arial"/>
              </a:rPr>
              <a:t> </a:t>
            </a:r>
            <a:r>
              <a:rPr sz="1000" spc="-5" dirty="0">
                <a:latin typeface="Arial"/>
                <a:cs typeface="Arial"/>
              </a:rPr>
              <a:t>chooses</a:t>
            </a:r>
            <a:r>
              <a:rPr sz="1000" spc="5" dirty="0">
                <a:latin typeface="Arial"/>
                <a:cs typeface="Arial"/>
              </a:rPr>
              <a:t> </a:t>
            </a:r>
            <a:r>
              <a:rPr sz="1000" spc="-5" dirty="0">
                <a:latin typeface="Arial"/>
                <a:cs typeface="Arial"/>
              </a:rPr>
              <a:t>another</a:t>
            </a:r>
            <a:r>
              <a:rPr sz="1000" spc="5" dirty="0">
                <a:latin typeface="Arial"/>
                <a:cs typeface="Arial"/>
              </a:rPr>
              <a:t> </a:t>
            </a:r>
            <a:r>
              <a:rPr sz="1000" spc="-5" dirty="0">
                <a:latin typeface="Arial"/>
                <a:cs typeface="Arial"/>
              </a:rPr>
              <a:t>replica</a:t>
            </a:r>
            <a:r>
              <a:rPr sz="1000" dirty="0">
                <a:latin typeface="Arial"/>
                <a:cs typeface="Arial"/>
              </a:rPr>
              <a:t> </a:t>
            </a:r>
            <a:r>
              <a:rPr sz="1000" spc="-5" dirty="0">
                <a:latin typeface="Arial"/>
                <a:cs typeface="Arial"/>
              </a:rPr>
              <a:t>at </a:t>
            </a:r>
            <a:r>
              <a:rPr sz="1000" spc="-260" dirty="0">
                <a:latin typeface="Arial"/>
                <a:cs typeface="Arial"/>
              </a:rPr>
              <a:t> </a:t>
            </a:r>
            <a:r>
              <a:rPr sz="1000" spc="-5" dirty="0">
                <a:latin typeface="Arial"/>
                <a:cs typeface="Arial"/>
              </a:rPr>
              <a:t>random,</a:t>
            </a:r>
            <a:r>
              <a:rPr sz="1000" spc="5" dirty="0">
                <a:latin typeface="Arial"/>
                <a:cs typeface="Arial"/>
              </a:rPr>
              <a:t> </a:t>
            </a:r>
            <a:r>
              <a:rPr sz="1000" spc="-5" dirty="0">
                <a:latin typeface="Arial"/>
                <a:cs typeface="Arial"/>
              </a:rPr>
              <a:t>and</a:t>
            </a:r>
            <a:r>
              <a:rPr sz="1000" spc="5" dirty="0">
                <a:latin typeface="Arial"/>
                <a:cs typeface="Arial"/>
              </a:rPr>
              <a:t> </a:t>
            </a:r>
            <a:r>
              <a:rPr sz="1000" spc="-10" dirty="0">
                <a:latin typeface="Arial"/>
                <a:cs typeface="Arial"/>
              </a:rPr>
              <a:t>exchanges</a:t>
            </a:r>
            <a:r>
              <a:rPr sz="1000" spc="5" dirty="0">
                <a:latin typeface="Arial"/>
                <a:cs typeface="Arial"/>
              </a:rPr>
              <a:t> </a:t>
            </a:r>
            <a:r>
              <a:rPr sz="1000" spc="-5" dirty="0">
                <a:latin typeface="Arial"/>
                <a:cs typeface="Arial"/>
              </a:rPr>
              <a:t>state</a:t>
            </a:r>
            <a:r>
              <a:rPr sz="1000" spc="5" dirty="0">
                <a:latin typeface="Arial"/>
                <a:cs typeface="Arial"/>
              </a:rPr>
              <a:t> </a:t>
            </a:r>
            <a:r>
              <a:rPr sz="1000" spc="-10" dirty="0">
                <a:latin typeface="Arial"/>
                <a:cs typeface="Arial"/>
              </a:rPr>
              <a:t>differences,</a:t>
            </a:r>
            <a:r>
              <a:rPr sz="1000" spc="5" dirty="0">
                <a:latin typeface="Arial"/>
                <a:cs typeface="Arial"/>
              </a:rPr>
              <a:t> </a:t>
            </a:r>
            <a:r>
              <a:rPr sz="1000" spc="-5" dirty="0">
                <a:latin typeface="Arial"/>
                <a:cs typeface="Arial"/>
              </a:rPr>
              <a:t>leading</a:t>
            </a:r>
            <a:r>
              <a:rPr sz="1000" spc="5"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identical </a:t>
            </a:r>
            <a:r>
              <a:rPr sz="1000" dirty="0">
                <a:latin typeface="Arial"/>
                <a:cs typeface="Arial"/>
              </a:rPr>
              <a:t> </a:t>
            </a:r>
            <a:r>
              <a:rPr sz="1000" spc="-5" dirty="0">
                <a:latin typeface="Arial"/>
                <a:cs typeface="Arial"/>
              </a:rPr>
              <a:t>states</a:t>
            </a:r>
            <a:r>
              <a:rPr sz="1000" spc="-10" dirty="0">
                <a:latin typeface="Arial"/>
                <a:cs typeface="Arial"/>
              </a:rPr>
              <a:t> </a:t>
            </a:r>
            <a:r>
              <a:rPr sz="1000" spc="-5" dirty="0">
                <a:latin typeface="Arial"/>
                <a:cs typeface="Arial"/>
              </a:rPr>
              <a:t>at both afterwards</a:t>
            </a:r>
            <a:endParaRPr sz="1000" dirty="0">
              <a:latin typeface="Arial"/>
              <a:cs typeface="Arial"/>
            </a:endParaRPr>
          </a:p>
          <a:p>
            <a:pPr marL="567055" marR="43180" indent="-168275">
              <a:lnSpc>
                <a:spcPts val="1200"/>
              </a:lnSpc>
              <a:spcBef>
                <a:spcPts val="25"/>
              </a:spcBef>
              <a:buClr>
                <a:srgbClr val="3333B2"/>
              </a:buClr>
              <a:buChar char="►"/>
              <a:tabLst>
                <a:tab pos="567690" algn="l"/>
              </a:tabLst>
            </a:pPr>
            <a:r>
              <a:rPr sz="1000" spc="-5" dirty="0">
                <a:solidFill>
                  <a:srgbClr val="FA0000"/>
                </a:solidFill>
                <a:latin typeface="Arial"/>
                <a:cs typeface="Arial"/>
              </a:rPr>
              <a:t>Rumor spreading</a:t>
            </a:r>
            <a:r>
              <a:rPr sz="1000" spc="-5" dirty="0">
                <a:latin typeface="Arial"/>
                <a:cs typeface="Arial"/>
              </a:rPr>
              <a:t>:</a:t>
            </a:r>
            <a:r>
              <a:rPr sz="1000" spc="6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replica which</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just</a:t>
            </a:r>
            <a:r>
              <a:rPr sz="1000" dirty="0">
                <a:latin typeface="Arial"/>
                <a:cs typeface="Arial"/>
              </a:rPr>
              <a:t> </a:t>
            </a:r>
            <a:r>
              <a:rPr sz="1000" spc="-5" dirty="0">
                <a:latin typeface="Arial"/>
                <a:cs typeface="Arial"/>
              </a:rPr>
              <a:t>been updated</a:t>
            </a:r>
            <a:r>
              <a:rPr sz="1000" dirty="0">
                <a:latin typeface="Arial"/>
                <a:cs typeface="Arial"/>
              </a:rPr>
              <a:t> </a:t>
            </a:r>
            <a:r>
              <a:rPr sz="1000" spc="-5" dirty="0">
                <a:latin typeface="Arial"/>
                <a:cs typeface="Arial"/>
              </a:rPr>
              <a:t>(i.e., </a:t>
            </a:r>
            <a:r>
              <a:rPr sz="1000" dirty="0">
                <a:latin typeface="Arial"/>
                <a:cs typeface="Arial"/>
              </a:rPr>
              <a:t> </a:t>
            </a:r>
            <a:r>
              <a:rPr sz="1000" spc="-15" dirty="0">
                <a:latin typeface="Arial"/>
                <a:cs typeface="Arial"/>
              </a:rPr>
              <a:t>has</a:t>
            </a:r>
            <a:r>
              <a:rPr sz="1000" spc="-5" dirty="0">
                <a:latin typeface="Arial"/>
                <a:cs typeface="Arial"/>
              </a:rPr>
              <a:t> </a:t>
            </a:r>
            <a:r>
              <a:rPr sz="1000" spc="-15" dirty="0">
                <a:latin typeface="Arial"/>
                <a:cs typeface="Arial"/>
              </a:rPr>
              <a:t>been</a:t>
            </a:r>
            <a:r>
              <a:rPr sz="1000" dirty="0">
                <a:latin typeface="Arial"/>
                <a:cs typeface="Arial"/>
              </a:rPr>
              <a:t> </a:t>
            </a:r>
            <a:r>
              <a:rPr sz="1000" spc="-15" dirty="0">
                <a:solidFill>
                  <a:srgbClr val="0000FA"/>
                </a:solidFill>
                <a:latin typeface="Arial"/>
                <a:cs typeface="Arial"/>
              </a:rPr>
              <a:t>contaminated</a:t>
            </a:r>
            <a:r>
              <a:rPr sz="1000" spc="-15" dirty="0">
                <a:latin typeface="Arial"/>
                <a:cs typeface="Arial"/>
              </a:rPr>
              <a:t>),</a:t>
            </a:r>
            <a:r>
              <a:rPr sz="1000" dirty="0">
                <a:latin typeface="Arial"/>
                <a:cs typeface="Arial"/>
              </a:rPr>
              <a:t> </a:t>
            </a:r>
            <a:r>
              <a:rPr sz="1000" spc="-10" dirty="0">
                <a:latin typeface="Arial"/>
                <a:cs typeface="Arial"/>
              </a:rPr>
              <a:t>tells</a:t>
            </a:r>
            <a:r>
              <a:rPr sz="1000" dirty="0">
                <a:latin typeface="Arial"/>
                <a:cs typeface="Arial"/>
              </a:rPr>
              <a:t> </a:t>
            </a:r>
            <a:r>
              <a:rPr sz="1000" spc="-15" dirty="0">
                <a:latin typeface="Arial"/>
                <a:cs typeface="Arial"/>
              </a:rPr>
              <a:t>a</a:t>
            </a:r>
            <a:r>
              <a:rPr sz="1000" dirty="0">
                <a:latin typeface="Arial"/>
                <a:cs typeface="Arial"/>
              </a:rPr>
              <a:t> </a:t>
            </a:r>
            <a:r>
              <a:rPr sz="1000" spc="-15" dirty="0">
                <a:latin typeface="Arial"/>
                <a:cs typeface="Arial"/>
              </a:rPr>
              <a:t>number</a:t>
            </a:r>
            <a:r>
              <a:rPr sz="1000" spc="-5" dirty="0">
                <a:latin typeface="Arial"/>
                <a:cs typeface="Arial"/>
              </a:rPr>
              <a:t> </a:t>
            </a:r>
            <a:r>
              <a:rPr sz="1000" spc="-10" dirty="0">
                <a:latin typeface="Arial"/>
                <a:cs typeface="Arial"/>
              </a:rPr>
              <a:t>of</a:t>
            </a:r>
            <a:r>
              <a:rPr sz="1000" dirty="0">
                <a:latin typeface="Arial"/>
                <a:cs typeface="Arial"/>
              </a:rPr>
              <a:t> </a:t>
            </a:r>
            <a:r>
              <a:rPr sz="1000" spc="-10" dirty="0">
                <a:latin typeface="Arial"/>
                <a:cs typeface="Arial"/>
              </a:rPr>
              <a:t>other</a:t>
            </a:r>
            <a:r>
              <a:rPr sz="1000" dirty="0">
                <a:latin typeface="Arial"/>
                <a:cs typeface="Arial"/>
              </a:rPr>
              <a:t> </a:t>
            </a:r>
            <a:r>
              <a:rPr sz="1000" spc="-10" dirty="0">
                <a:latin typeface="Arial"/>
                <a:cs typeface="Arial"/>
              </a:rPr>
              <a:t>replicas</a:t>
            </a:r>
            <a:r>
              <a:rPr sz="1000" dirty="0">
                <a:latin typeface="Arial"/>
                <a:cs typeface="Arial"/>
              </a:rPr>
              <a:t> </a:t>
            </a:r>
            <a:r>
              <a:rPr sz="1000" spc="-15" dirty="0">
                <a:latin typeface="Arial"/>
                <a:cs typeface="Arial"/>
              </a:rPr>
              <a:t>about</a:t>
            </a:r>
            <a:r>
              <a:rPr sz="1000" dirty="0">
                <a:latin typeface="Arial"/>
                <a:cs typeface="Arial"/>
              </a:rPr>
              <a:t> </a:t>
            </a:r>
            <a:r>
              <a:rPr sz="1000" spc="-10" dirty="0">
                <a:latin typeface="Arial"/>
                <a:cs typeface="Arial"/>
              </a:rPr>
              <a:t>its </a:t>
            </a:r>
            <a:r>
              <a:rPr sz="1000" spc="-265" dirty="0">
                <a:latin typeface="Arial"/>
                <a:cs typeface="Arial"/>
              </a:rPr>
              <a:t> </a:t>
            </a:r>
            <a:r>
              <a:rPr sz="1000" spc="-5" dirty="0">
                <a:latin typeface="Arial"/>
                <a:cs typeface="Arial"/>
              </a:rPr>
              <a:t>update</a:t>
            </a:r>
            <a:r>
              <a:rPr sz="1000" spc="-10" dirty="0">
                <a:latin typeface="Arial"/>
                <a:cs typeface="Arial"/>
              </a:rPr>
              <a:t> </a:t>
            </a:r>
            <a:r>
              <a:rPr sz="1000" spc="-5" dirty="0">
                <a:latin typeface="Arial"/>
                <a:cs typeface="Arial"/>
              </a:rPr>
              <a:t>(contaminating them as well).</a:t>
            </a:r>
            <a:endParaRPr sz="1000" dirty="0">
              <a:latin typeface="Arial"/>
              <a:cs typeface="Arial"/>
            </a:endParaRPr>
          </a:p>
        </p:txBody>
      </p:sp>
      <p:sp>
        <p:nvSpPr>
          <p:cNvPr id="5" name="object 5"/>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41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11557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Information dissemination models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42</a:t>
            </a:r>
            <a:r>
              <a:rPr spc="-40" dirty="0"/>
              <a:t> </a:t>
            </a:r>
            <a:r>
              <a:rPr spc="-5" dirty="0"/>
              <a:t>/</a:t>
            </a:r>
            <a:r>
              <a:rPr spc="-35" dirty="0"/>
              <a:t> </a:t>
            </a:r>
            <a:r>
              <a:rPr spc="-5" dirty="0"/>
              <a:t>49</a:t>
            </a:r>
          </a:p>
        </p:txBody>
      </p:sp>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5" action="ppaction://hlinksldjump"/>
              </a:rPr>
              <a:t>Multicast</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endParaRPr sz="600">
              <a:latin typeface="Arial"/>
              <a:cs typeface="Arial"/>
            </a:endParaRPr>
          </a:p>
        </p:txBody>
      </p:sp>
      <p:sp>
        <p:nvSpPr>
          <p:cNvPr id="3" name="object 3"/>
          <p:cNvSpPr txBox="1"/>
          <p:nvPr/>
        </p:nvSpPr>
        <p:spPr>
          <a:xfrm>
            <a:off x="3393559" y="716"/>
            <a:ext cx="11480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Gossip-based data</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dissemination</a:t>
            </a:r>
            <a:endParaRPr sz="600">
              <a:latin typeface="Arial"/>
              <a:cs typeface="Arial"/>
            </a:endParaRPr>
          </a:p>
        </p:txBody>
      </p:sp>
      <p:sp>
        <p:nvSpPr>
          <p:cNvPr id="4" name="object 4"/>
          <p:cNvSpPr txBox="1"/>
          <p:nvPr/>
        </p:nvSpPr>
        <p:spPr>
          <a:xfrm>
            <a:off x="95300" y="188846"/>
            <a:ext cx="1002665"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Anti-entro</a:t>
            </a:r>
            <a:r>
              <a:rPr sz="1400" spc="-30" dirty="0">
                <a:solidFill>
                  <a:srgbClr val="3333B2"/>
                </a:solidFill>
                <a:latin typeface="Arial"/>
                <a:cs typeface="Arial"/>
              </a:rPr>
              <a:t>p</a:t>
            </a:r>
            <a:r>
              <a:rPr sz="1400" spc="15" dirty="0">
                <a:solidFill>
                  <a:srgbClr val="3333B2"/>
                </a:solidFill>
                <a:latin typeface="Arial"/>
                <a:cs typeface="Arial"/>
              </a:rPr>
              <a:t>y</a:t>
            </a:r>
            <a:endParaRPr sz="1400" dirty="0">
              <a:latin typeface="Arial"/>
              <a:cs typeface="Arial"/>
            </a:endParaRPr>
          </a:p>
        </p:txBody>
      </p:sp>
      <p:sp>
        <p:nvSpPr>
          <p:cNvPr id="5" name="object 5"/>
          <p:cNvSpPr txBox="1"/>
          <p:nvPr/>
        </p:nvSpPr>
        <p:spPr>
          <a:xfrm>
            <a:off x="309194" y="877821"/>
            <a:ext cx="3947160" cy="1736089"/>
          </a:xfrm>
          <a:prstGeom prst="rect">
            <a:avLst/>
          </a:prstGeom>
        </p:spPr>
        <p:txBody>
          <a:bodyPr vert="horz" wrap="square" lIns="0" tIns="12065" rIns="0" bIns="0" rtlCol="0">
            <a:spAutoFit/>
          </a:bodyPr>
          <a:lstStyle/>
          <a:p>
            <a:pPr marL="50800">
              <a:lnSpc>
                <a:spcPct val="100000"/>
              </a:lnSpc>
              <a:spcBef>
                <a:spcPts val="95"/>
              </a:spcBef>
            </a:pPr>
            <a:r>
              <a:rPr sz="1200" spc="-5" dirty="0">
                <a:solidFill>
                  <a:srgbClr val="3333B2"/>
                </a:solidFill>
                <a:latin typeface="Arial"/>
                <a:cs typeface="Arial"/>
              </a:rPr>
              <a:t>Principle</a:t>
            </a:r>
            <a:r>
              <a:rPr sz="1200" spc="-30" dirty="0">
                <a:solidFill>
                  <a:srgbClr val="3333B2"/>
                </a:solidFill>
                <a:latin typeface="Arial"/>
                <a:cs typeface="Arial"/>
              </a:rPr>
              <a:t> </a:t>
            </a:r>
            <a:r>
              <a:rPr sz="1200" spc="-5" dirty="0">
                <a:solidFill>
                  <a:srgbClr val="3333B2"/>
                </a:solidFill>
                <a:latin typeface="Arial"/>
                <a:cs typeface="Arial"/>
              </a:rPr>
              <a:t>operations</a:t>
            </a:r>
            <a:endParaRPr sz="1200" dirty="0">
              <a:latin typeface="Arial"/>
              <a:cs typeface="Arial"/>
            </a:endParaRPr>
          </a:p>
          <a:p>
            <a:pPr marL="327660" indent="-168275">
              <a:lnSpc>
                <a:spcPts val="1200"/>
              </a:lnSpc>
              <a:spcBef>
                <a:spcPts val="770"/>
              </a:spcBef>
              <a:buClr>
                <a:srgbClr val="3333B2"/>
              </a:buClr>
              <a:buChar char="►"/>
              <a:tabLst>
                <a:tab pos="328295" algn="l"/>
              </a:tabLst>
            </a:pPr>
            <a:r>
              <a:rPr sz="1000" spc="-5" dirty="0">
                <a:latin typeface="Arial"/>
                <a:cs typeface="Arial"/>
              </a:rPr>
              <a:t>A node</a:t>
            </a:r>
            <a:r>
              <a:rPr sz="1000" dirty="0">
                <a:latin typeface="Arial"/>
                <a:cs typeface="Arial"/>
              </a:rPr>
              <a:t> </a:t>
            </a:r>
            <a:r>
              <a:rPr sz="1000" i="1" spc="-5" dirty="0">
                <a:latin typeface="Arial"/>
                <a:cs typeface="Arial"/>
              </a:rPr>
              <a:t>P</a:t>
            </a:r>
            <a:r>
              <a:rPr sz="1000" i="1" spc="65" dirty="0">
                <a:latin typeface="Arial"/>
                <a:cs typeface="Arial"/>
              </a:rPr>
              <a:t> </a:t>
            </a:r>
            <a:r>
              <a:rPr sz="1000" spc="-5" dirty="0">
                <a:latin typeface="Arial"/>
                <a:cs typeface="Arial"/>
              </a:rPr>
              <a:t>selects</a:t>
            </a:r>
            <a:r>
              <a:rPr sz="1000" dirty="0">
                <a:latin typeface="Arial"/>
                <a:cs typeface="Arial"/>
              </a:rPr>
              <a:t> </a:t>
            </a:r>
            <a:r>
              <a:rPr sz="1000" spc="-5" dirty="0">
                <a:latin typeface="Arial"/>
                <a:cs typeface="Arial"/>
              </a:rPr>
              <a:t>another node</a:t>
            </a:r>
            <a:r>
              <a:rPr sz="1000" dirty="0">
                <a:latin typeface="Arial"/>
                <a:cs typeface="Arial"/>
              </a:rPr>
              <a:t> </a:t>
            </a:r>
            <a:r>
              <a:rPr sz="1000" i="1" spc="-5" dirty="0">
                <a:latin typeface="Arial"/>
                <a:cs typeface="Arial"/>
              </a:rPr>
              <a:t>Q</a:t>
            </a:r>
            <a:r>
              <a:rPr sz="1000" i="1" spc="45"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the system</a:t>
            </a:r>
            <a:r>
              <a:rPr sz="1000" dirty="0">
                <a:latin typeface="Arial"/>
                <a:cs typeface="Arial"/>
              </a:rPr>
              <a:t> </a:t>
            </a:r>
            <a:r>
              <a:rPr sz="1000" spc="-5" dirty="0">
                <a:latin typeface="Arial"/>
                <a:cs typeface="Arial"/>
              </a:rPr>
              <a:t>at random.</a:t>
            </a:r>
            <a:endParaRPr sz="1000" dirty="0">
              <a:latin typeface="Arial"/>
              <a:cs typeface="Arial"/>
            </a:endParaRPr>
          </a:p>
          <a:p>
            <a:pPr marL="327660" indent="-168275">
              <a:lnSpc>
                <a:spcPts val="1195"/>
              </a:lnSpc>
              <a:buClr>
                <a:srgbClr val="3333B2"/>
              </a:buClr>
              <a:buChar char="►"/>
              <a:tabLst>
                <a:tab pos="328295" algn="l"/>
              </a:tabLst>
            </a:pPr>
            <a:r>
              <a:rPr sz="1000" spc="-5" dirty="0">
                <a:solidFill>
                  <a:srgbClr val="FA0000"/>
                </a:solidFill>
                <a:latin typeface="Arial"/>
                <a:cs typeface="Arial"/>
              </a:rPr>
              <a:t>Pull</a:t>
            </a:r>
            <a:r>
              <a:rPr sz="1000" spc="-5" dirty="0">
                <a:latin typeface="Arial"/>
                <a:cs typeface="Arial"/>
              </a:rPr>
              <a:t>:</a:t>
            </a:r>
            <a:r>
              <a:rPr sz="1000" spc="55" dirty="0">
                <a:latin typeface="Arial"/>
                <a:cs typeface="Arial"/>
              </a:rPr>
              <a:t> </a:t>
            </a:r>
            <a:r>
              <a:rPr sz="1000" i="1" spc="-5" dirty="0">
                <a:latin typeface="Arial"/>
                <a:cs typeface="Arial"/>
              </a:rPr>
              <a:t>P</a:t>
            </a:r>
            <a:r>
              <a:rPr sz="1000" i="1" spc="65" dirty="0">
                <a:latin typeface="Arial"/>
                <a:cs typeface="Arial"/>
              </a:rPr>
              <a:t> </a:t>
            </a:r>
            <a:r>
              <a:rPr sz="1000" spc="-5" dirty="0">
                <a:latin typeface="Arial"/>
                <a:cs typeface="Arial"/>
              </a:rPr>
              <a:t>only pulls in </a:t>
            </a:r>
            <a:r>
              <a:rPr sz="1000" spc="-10" dirty="0">
                <a:latin typeface="Arial"/>
                <a:cs typeface="Arial"/>
              </a:rPr>
              <a:t>new</a:t>
            </a:r>
            <a:r>
              <a:rPr sz="1000" spc="-5" dirty="0">
                <a:latin typeface="Arial"/>
                <a:cs typeface="Arial"/>
              </a:rPr>
              <a:t> updates from </a:t>
            </a:r>
            <a:r>
              <a:rPr sz="1000" i="1" spc="-5" dirty="0">
                <a:latin typeface="Arial"/>
                <a:cs typeface="Arial"/>
              </a:rPr>
              <a:t>Q</a:t>
            </a:r>
            <a:endParaRPr sz="1000" dirty="0">
              <a:latin typeface="Arial"/>
              <a:cs typeface="Arial"/>
            </a:endParaRPr>
          </a:p>
          <a:p>
            <a:pPr marL="327660" indent="-168275">
              <a:lnSpc>
                <a:spcPts val="1195"/>
              </a:lnSpc>
              <a:buClr>
                <a:srgbClr val="3333B2"/>
              </a:buClr>
              <a:buChar char="►"/>
              <a:tabLst>
                <a:tab pos="328295" algn="l"/>
              </a:tabLst>
            </a:pPr>
            <a:r>
              <a:rPr sz="1000" spc="-5" dirty="0">
                <a:solidFill>
                  <a:srgbClr val="FA0000"/>
                </a:solidFill>
                <a:latin typeface="Arial"/>
                <a:cs typeface="Arial"/>
              </a:rPr>
              <a:t>Push</a:t>
            </a:r>
            <a:r>
              <a:rPr sz="1000" spc="-5" dirty="0">
                <a:latin typeface="Arial"/>
                <a:cs typeface="Arial"/>
              </a:rPr>
              <a:t>:</a:t>
            </a:r>
            <a:r>
              <a:rPr sz="1000" spc="55" dirty="0">
                <a:latin typeface="Arial"/>
                <a:cs typeface="Arial"/>
              </a:rPr>
              <a:t> </a:t>
            </a:r>
            <a:r>
              <a:rPr sz="1000" i="1" spc="-5" dirty="0">
                <a:latin typeface="Arial"/>
                <a:cs typeface="Arial"/>
              </a:rPr>
              <a:t>P</a:t>
            </a:r>
            <a:r>
              <a:rPr sz="1000" i="1" spc="65" dirty="0">
                <a:latin typeface="Arial"/>
                <a:cs typeface="Arial"/>
              </a:rPr>
              <a:t> </a:t>
            </a:r>
            <a:r>
              <a:rPr sz="1000" spc="-5" dirty="0">
                <a:latin typeface="Arial"/>
                <a:cs typeface="Arial"/>
              </a:rPr>
              <a:t>only pushes its </a:t>
            </a:r>
            <a:r>
              <a:rPr sz="1000" spc="-10" dirty="0">
                <a:latin typeface="Arial"/>
                <a:cs typeface="Arial"/>
              </a:rPr>
              <a:t>own</a:t>
            </a:r>
            <a:r>
              <a:rPr sz="1000" spc="-5" dirty="0">
                <a:latin typeface="Arial"/>
                <a:cs typeface="Arial"/>
              </a:rPr>
              <a:t> updates to </a:t>
            </a:r>
            <a:r>
              <a:rPr sz="1000" i="1" spc="-5" dirty="0">
                <a:latin typeface="Arial"/>
                <a:cs typeface="Arial"/>
              </a:rPr>
              <a:t>Q</a:t>
            </a:r>
            <a:endParaRPr sz="1000" dirty="0">
              <a:latin typeface="Arial"/>
              <a:cs typeface="Arial"/>
            </a:endParaRPr>
          </a:p>
          <a:p>
            <a:pPr marL="327660" indent="-168275">
              <a:lnSpc>
                <a:spcPts val="1200"/>
              </a:lnSpc>
              <a:buClr>
                <a:srgbClr val="3333B2"/>
              </a:buClr>
              <a:buChar char="►"/>
              <a:tabLst>
                <a:tab pos="328295" algn="l"/>
              </a:tabLst>
            </a:pPr>
            <a:r>
              <a:rPr sz="1000" spc="-5" dirty="0">
                <a:solidFill>
                  <a:srgbClr val="FA0000"/>
                </a:solidFill>
                <a:latin typeface="Arial"/>
                <a:cs typeface="Arial"/>
              </a:rPr>
              <a:t>Push-pull</a:t>
            </a:r>
            <a:r>
              <a:rPr sz="1000" spc="-5" dirty="0">
                <a:latin typeface="Arial"/>
                <a:cs typeface="Arial"/>
              </a:rPr>
              <a:t>:</a:t>
            </a:r>
            <a:r>
              <a:rPr sz="1000" spc="60" dirty="0">
                <a:latin typeface="Arial"/>
                <a:cs typeface="Arial"/>
              </a:rPr>
              <a:t> </a:t>
            </a:r>
            <a:r>
              <a:rPr sz="1000" i="1" spc="-5" dirty="0">
                <a:latin typeface="Arial"/>
                <a:cs typeface="Arial"/>
              </a:rPr>
              <a:t>P</a:t>
            </a:r>
            <a:r>
              <a:rPr sz="1000" i="1" spc="65" dirty="0">
                <a:latin typeface="Arial"/>
                <a:cs typeface="Arial"/>
              </a:rPr>
              <a:t> </a:t>
            </a:r>
            <a:r>
              <a:rPr sz="1000" spc="-5" dirty="0">
                <a:latin typeface="Arial"/>
                <a:cs typeface="Arial"/>
              </a:rPr>
              <a:t>and </a:t>
            </a:r>
            <a:r>
              <a:rPr sz="1000" i="1" spc="-5" dirty="0">
                <a:latin typeface="Arial"/>
                <a:cs typeface="Arial"/>
              </a:rPr>
              <a:t>Q</a:t>
            </a:r>
            <a:r>
              <a:rPr sz="1000" i="1" spc="50" dirty="0">
                <a:latin typeface="Arial"/>
                <a:cs typeface="Arial"/>
              </a:rPr>
              <a:t> </a:t>
            </a:r>
            <a:r>
              <a:rPr sz="1000" spc="-5" dirty="0">
                <a:latin typeface="Arial"/>
                <a:cs typeface="Arial"/>
              </a:rPr>
              <a:t>send updates to each</a:t>
            </a:r>
            <a:r>
              <a:rPr sz="1000" dirty="0">
                <a:latin typeface="Arial"/>
                <a:cs typeface="Arial"/>
              </a:rPr>
              <a:t> </a:t>
            </a:r>
            <a:r>
              <a:rPr sz="1000" spc="-5" dirty="0">
                <a:latin typeface="Arial"/>
                <a:cs typeface="Arial"/>
              </a:rPr>
              <a:t>other</a:t>
            </a:r>
            <a:endParaRPr sz="1000" dirty="0">
              <a:latin typeface="Arial"/>
              <a:cs typeface="Arial"/>
            </a:endParaRPr>
          </a:p>
          <a:p>
            <a:pPr>
              <a:lnSpc>
                <a:spcPct val="100000"/>
              </a:lnSpc>
              <a:spcBef>
                <a:spcPts val="5"/>
              </a:spcBef>
            </a:pPr>
            <a:endParaRPr sz="1300" dirty="0">
              <a:latin typeface="Arial"/>
              <a:cs typeface="Arial"/>
            </a:endParaRPr>
          </a:p>
          <a:p>
            <a:pPr marL="50800">
              <a:lnSpc>
                <a:spcPts val="1410"/>
              </a:lnSpc>
            </a:pPr>
            <a:r>
              <a:rPr sz="1200" spc="-5" dirty="0">
                <a:solidFill>
                  <a:srgbClr val="3333B2"/>
                </a:solidFill>
                <a:latin typeface="Arial"/>
                <a:cs typeface="Arial"/>
              </a:rPr>
              <a:t>Observation</a:t>
            </a:r>
            <a:endParaRPr sz="1200" dirty="0">
              <a:latin typeface="Arial"/>
              <a:cs typeface="Arial"/>
            </a:endParaRPr>
          </a:p>
          <a:p>
            <a:pPr marL="50800" marR="17780" algn="just">
              <a:lnSpc>
                <a:spcPts val="1200"/>
              </a:lnSpc>
              <a:spcBef>
                <a:spcPts val="10"/>
              </a:spcBef>
            </a:pPr>
            <a:r>
              <a:rPr sz="1000" spc="-15" dirty="0">
                <a:latin typeface="Arial"/>
                <a:cs typeface="Arial"/>
              </a:rPr>
              <a:t>For </a:t>
            </a:r>
            <a:r>
              <a:rPr sz="1000" spc="-5" dirty="0">
                <a:latin typeface="Arial"/>
                <a:cs typeface="Arial"/>
              </a:rPr>
              <a:t>push-pull it </a:t>
            </a:r>
            <a:r>
              <a:rPr sz="1000" spc="-10" dirty="0">
                <a:latin typeface="Arial"/>
                <a:cs typeface="Arial"/>
              </a:rPr>
              <a:t>takes </a:t>
            </a:r>
            <a:r>
              <a:rPr sz="1000" i="1" spc="40" dirty="0">
                <a:latin typeface="Arial"/>
                <a:cs typeface="Arial"/>
              </a:rPr>
              <a:t>O</a:t>
            </a:r>
            <a:r>
              <a:rPr sz="1000" spc="40" dirty="0">
                <a:latin typeface="Arial"/>
                <a:cs typeface="Arial"/>
              </a:rPr>
              <a:t>(</a:t>
            </a:r>
            <a:r>
              <a:rPr sz="1000" i="1" spc="40" dirty="0">
                <a:latin typeface="Arial"/>
                <a:cs typeface="Arial"/>
              </a:rPr>
              <a:t>log</a:t>
            </a:r>
            <a:r>
              <a:rPr sz="1000" spc="40" dirty="0">
                <a:latin typeface="Arial"/>
                <a:cs typeface="Arial"/>
              </a:rPr>
              <a:t>(</a:t>
            </a:r>
            <a:r>
              <a:rPr sz="1000" i="1" spc="40" dirty="0">
                <a:latin typeface="Arial"/>
                <a:cs typeface="Arial"/>
              </a:rPr>
              <a:t>N</a:t>
            </a:r>
            <a:r>
              <a:rPr sz="1000" spc="40" dirty="0">
                <a:latin typeface="Arial"/>
                <a:cs typeface="Arial"/>
              </a:rPr>
              <a:t>)) </a:t>
            </a:r>
            <a:r>
              <a:rPr sz="1000" spc="-5" dirty="0">
                <a:latin typeface="Arial"/>
                <a:cs typeface="Arial"/>
              </a:rPr>
              <a:t>rounds to disseminate updates to all </a:t>
            </a:r>
            <a:r>
              <a:rPr sz="1000" dirty="0">
                <a:latin typeface="Arial"/>
                <a:cs typeface="Arial"/>
              </a:rPr>
              <a:t> </a:t>
            </a:r>
            <a:r>
              <a:rPr sz="1000" i="1" spc="-5" dirty="0">
                <a:latin typeface="Arial"/>
                <a:cs typeface="Arial"/>
              </a:rPr>
              <a:t>N </a:t>
            </a:r>
            <a:r>
              <a:rPr sz="1000" spc="-5" dirty="0">
                <a:latin typeface="Arial"/>
                <a:cs typeface="Arial"/>
              </a:rPr>
              <a:t>nodes (</a:t>
            </a:r>
            <a:r>
              <a:rPr sz="1000" spc="-5" dirty="0">
                <a:solidFill>
                  <a:srgbClr val="FA0000"/>
                </a:solidFill>
                <a:latin typeface="Arial"/>
                <a:cs typeface="Arial"/>
              </a:rPr>
              <a:t>round </a:t>
            </a:r>
            <a:r>
              <a:rPr sz="1000" spc="-5" dirty="0">
                <a:latin typeface="Arial"/>
                <a:cs typeface="Arial"/>
              </a:rPr>
              <a:t>= when </a:t>
            </a:r>
            <a:r>
              <a:rPr sz="1000" spc="-10" dirty="0">
                <a:latin typeface="Arial"/>
                <a:cs typeface="Arial"/>
              </a:rPr>
              <a:t>every </a:t>
            </a:r>
            <a:r>
              <a:rPr sz="1000" spc="-5" dirty="0">
                <a:latin typeface="Arial"/>
                <a:cs typeface="Arial"/>
              </a:rPr>
              <a:t>node has </a:t>
            </a:r>
            <a:r>
              <a:rPr sz="1000" spc="-10" dirty="0">
                <a:latin typeface="Arial"/>
                <a:cs typeface="Arial"/>
              </a:rPr>
              <a:t>taken </a:t>
            </a:r>
            <a:r>
              <a:rPr sz="1000" spc="-5" dirty="0">
                <a:latin typeface="Arial"/>
                <a:cs typeface="Arial"/>
              </a:rPr>
              <a:t>the initiative to </a:t>
            </a:r>
            <a:r>
              <a:rPr sz="1000" spc="5" dirty="0">
                <a:latin typeface="Arial"/>
                <a:cs typeface="Arial"/>
              </a:rPr>
              <a:t>start </a:t>
            </a:r>
            <a:r>
              <a:rPr sz="1000" spc="-5" dirty="0">
                <a:latin typeface="Arial"/>
                <a:cs typeface="Arial"/>
              </a:rPr>
              <a:t>an </a:t>
            </a:r>
            <a:r>
              <a:rPr sz="1000" spc="-265" dirty="0">
                <a:latin typeface="Arial"/>
                <a:cs typeface="Arial"/>
              </a:rPr>
              <a:t> </a:t>
            </a:r>
            <a:r>
              <a:rPr sz="1000" spc="-5" dirty="0">
                <a:latin typeface="Arial"/>
                <a:cs typeface="Arial"/>
              </a:rPr>
              <a:t>exchange).</a:t>
            </a:r>
            <a:endParaRPr sz="1000" dirty="0">
              <a:latin typeface="Arial"/>
              <a:cs typeface="Arial"/>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339465" algn="l"/>
              </a:tabLst>
            </a:pPr>
            <a:r>
              <a:rPr sz="600" spc="-5" dirty="0">
                <a:solidFill>
                  <a:srgbClr val="3333B2"/>
                </a:solidFill>
                <a:latin typeface="Arial"/>
                <a:cs typeface="Arial"/>
                <a:hlinkClick r:id="rId3" action="ppaction://hlinksldjump"/>
              </a:rPr>
              <a:t>Communication:</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Multicast</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Gossip-based data</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dissemination</a:t>
            </a:r>
            <a:endParaRPr sz="600">
              <a:latin typeface="Arial"/>
              <a:cs typeface="Arial"/>
            </a:endParaRPr>
          </a:p>
        </p:txBody>
      </p:sp>
      <p:sp>
        <p:nvSpPr>
          <p:cNvPr id="3" name="object 3"/>
          <p:cNvSpPr txBox="1">
            <a:spLocks noGrp="1"/>
          </p:cNvSpPr>
          <p:nvPr>
            <p:ph type="title"/>
          </p:nvPr>
        </p:nvSpPr>
        <p:spPr>
          <a:xfrm>
            <a:off x="95300" y="188846"/>
            <a:ext cx="1774189" cy="244475"/>
          </a:xfrm>
          <a:prstGeom prst="rect">
            <a:avLst/>
          </a:prstGeom>
        </p:spPr>
        <p:txBody>
          <a:bodyPr vert="horz" wrap="square" lIns="0" tIns="17145" rIns="0" bIns="0" rtlCol="0">
            <a:spAutoFit/>
          </a:bodyPr>
          <a:lstStyle/>
          <a:p>
            <a:pPr marL="12700">
              <a:lnSpc>
                <a:spcPct val="100000"/>
              </a:lnSpc>
              <a:spcBef>
                <a:spcPts val="135"/>
              </a:spcBef>
            </a:pPr>
            <a:r>
              <a:rPr spc="10" dirty="0"/>
              <a:t>Anti-entropy:</a:t>
            </a:r>
            <a:r>
              <a:rPr spc="35" dirty="0"/>
              <a:t> </a:t>
            </a:r>
            <a:r>
              <a:rPr spc="15" dirty="0"/>
              <a:t>analysis</a:t>
            </a:r>
          </a:p>
        </p:txBody>
      </p:sp>
      <p:sp>
        <p:nvSpPr>
          <p:cNvPr id="4" name="object 4"/>
          <p:cNvSpPr txBox="1"/>
          <p:nvPr/>
        </p:nvSpPr>
        <p:spPr>
          <a:xfrm>
            <a:off x="324015" y="511388"/>
            <a:ext cx="3957954" cy="965200"/>
          </a:xfrm>
          <a:prstGeom prst="rect">
            <a:avLst/>
          </a:prstGeom>
        </p:spPr>
        <p:txBody>
          <a:bodyPr vert="horz" wrap="square" lIns="0" tIns="12065" rIns="0" bIns="0" rtlCol="0">
            <a:spAutoFit/>
          </a:bodyPr>
          <a:lstStyle/>
          <a:p>
            <a:pPr marL="35560">
              <a:lnSpc>
                <a:spcPts val="1410"/>
              </a:lnSpc>
              <a:spcBef>
                <a:spcPts val="95"/>
              </a:spcBef>
            </a:pPr>
            <a:r>
              <a:rPr sz="1200" spc="-5" dirty="0">
                <a:solidFill>
                  <a:srgbClr val="3333B2"/>
                </a:solidFill>
                <a:latin typeface="Arial"/>
                <a:cs typeface="Arial"/>
              </a:rPr>
              <a:t>Basics</a:t>
            </a:r>
            <a:endParaRPr sz="1200" dirty="0">
              <a:latin typeface="Arial"/>
              <a:cs typeface="Arial"/>
            </a:endParaRPr>
          </a:p>
          <a:p>
            <a:pPr marL="35560" marR="17780">
              <a:lnSpc>
                <a:spcPts val="1200"/>
              </a:lnSpc>
              <a:spcBef>
                <a:spcPts val="10"/>
              </a:spcBef>
            </a:pPr>
            <a:r>
              <a:rPr sz="1000" spc="-5" dirty="0">
                <a:latin typeface="Arial"/>
                <a:cs typeface="Arial"/>
              </a:rPr>
              <a:t>Consider a single source,</a:t>
            </a:r>
            <a:r>
              <a:rPr sz="1000" dirty="0">
                <a:latin typeface="Arial"/>
                <a:cs typeface="Arial"/>
              </a:rPr>
              <a:t> </a:t>
            </a:r>
            <a:r>
              <a:rPr sz="1000" spc="-5" dirty="0">
                <a:latin typeface="Arial"/>
                <a:cs typeface="Arial"/>
              </a:rPr>
              <a:t>propagating its update.</a:t>
            </a:r>
            <a:r>
              <a:rPr sz="1000" spc="65" dirty="0">
                <a:latin typeface="Arial"/>
                <a:cs typeface="Arial"/>
              </a:rPr>
              <a:t> </a:t>
            </a:r>
            <a:r>
              <a:rPr sz="1000" spc="-5" dirty="0">
                <a:latin typeface="Arial"/>
                <a:cs typeface="Arial"/>
              </a:rPr>
              <a:t>Let </a:t>
            </a:r>
            <a:r>
              <a:rPr sz="1000" i="1" dirty="0">
                <a:latin typeface="Arial"/>
                <a:cs typeface="Arial"/>
              </a:rPr>
              <a:t>p</a:t>
            </a:r>
            <a:r>
              <a:rPr sz="1050" i="1" baseline="-15873" dirty="0">
                <a:latin typeface="Arial"/>
                <a:cs typeface="Arial"/>
              </a:rPr>
              <a:t>i</a:t>
            </a:r>
            <a:r>
              <a:rPr sz="1050" i="1" spc="7" baseline="-15873"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the </a:t>
            </a:r>
            <a:r>
              <a:rPr sz="1000" dirty="0">
                <a:latin typeface="Arial"/>
                <a:cs typeface="Arial"/>
              </a:rPr>
              <a:t> </a:t>
            </a:r>
            <a:r>
              <a:rPr sz="1000" spc="-5" dirty="0">
                <a:latin typeface="Arial"/>
                <a:cs typeface="Arial"/>
              </a:rPr>
              <a:t>probability</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node</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not</a:t>
            </a:r>
            <a:r>
              <a:rPr sz="1000" dirty="0">
                <a:latin typeface="Arial"/>
                <a:cs typeface="Arial"/>
              </a:rPr>
              <a:t> </a:t>
            </a:r>
            <a:r>
              <a:rPr sz="1000" spc="-5" dirty="0">
                <a:latin typeface="Arial"/>
                <a:cs typeface="Arial"/>
              </a:rPr>
              <a:t>received</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update</a:t>
            </a:r>
            <a:r>
              <a:rPr sz="1000" dirty="0">
                <a:latin typeface="Arial"/>
                <a:cs typeface="Arial"/>
              </a:rPr>
              <a:t> </a:t>
            </a:r>
            <a:r>
              <a:rPr sz="1000" spc="-5" dirty="0">
                <a:latin typeface="Arial"/>
                <a:cs typeface="Arial"/>
              </a:rPr>
              <a:t>after</a:t>
            </a:r>
            <a:r>
              <a:rPr sz="1000" dirty="0">
                <a:latin typeface="Arial"/>
                <a:cs typeface="Arial"/>
              </a:rPr>
              <a:t> </a:t>
            </a:r>
            <a:r>
              <a:rPr sz="1000" spc="-5" dirty="0">
                <a:latin typeface="Arial"/>
                <a:cs typeface="Arial"/>
              </a:rPr>
              <a:t>the</a:t>
            </a:r>
            <a:r>
              <a:rPr sz="1000" dirty="0">
                <a:latin typeface="Arial"/>
                <a:cs typeface="Arial"/>
              </a:rPr>
              <a:t> </a:t>
            </a:r>
            <a:r>
              <a:rPr sz="1000" i="1" spc="25" dirty="0">
                <a:latin typeface="Arial"/>
                <a:cs typeface="Arial"/>
              </a:rPr>
              <a:t>i</a:t>
            </a:r>
            <a:r>
              <a:rPr sz="1200" i="1" spc="37" baseline="24305" dirty="0">
                <a:latin typeface="Arial"/>
                <a:cs typeface="Arial"/>
              </a:rPr>
              <a:t>th</a:t>
            </a:r>
            <a:r>
              <a:rPr sz="1200" i="1" spc="157" baseline="24305" dirty="0">
                <a:latin typeface="Arial"/>
                <a:cs typeface="Arial"/>
              </a:rPr>
              <a:t> </a:t>
            </a:r>
            <a:r>
              <a:rPr sz="1000" spc="-5" dirty="0">
                <a:latin typeface="Arial"/>
                <a:cs typeface="Arial"/>
              </a:rPr>
              <a:t>round.</a:t>
            </a:r>
            <a:endParaRPr sz="1000" dirty="0">
              <a:latin typeface="Arial"/>
              <a:cs typeface="Arial"/>
            </a:endParaRPr>
          </a:p>
          <a:p>
            <a:pPr marL="30480">
              <a:lnSpc>
                <a:spcPct val="100000"/>
              </a:lnSpc>
              <a:spcBef>
                <a:spcPts val="650"/>
              </a:spcBef>
            </a:pPr>
            <a:r>
              <a:rPr sz="1200" spc="-5" dirty="0">
                <a:solidFill>
                  <a:srgbClr val="3333B2"/>
                </a:solidFill>
                <a:latin typeface="Arial"/>
                <a:cs typeface="Arial"/>
              </a:rPr>
              <a:t>Analysis:</a:t>
            </a:r>
            <a:r>
              <a:rPr sz="1200" spc="55" dirty="0">
                <a:solidFill>
                  <a:srgbClr val="3333B2"/>
                </a:solidFill>
                <a:latin typeface="Arial"/>
                <a:cs typeface="Arial"/>
              </a:rPr>
              <a:t> </a:t>
            </a:r>
            <a:r>
              <a:rPr sz="1200" spc="-10" dirty="0">
                <a:solidFill>
                  <a:srgbClr val="3333B2"/>
                </a:solidFill>
                <a:latin typeface="Arial"/>
                <a:cs typeface="Arial"/>
              </a:rPr>
              <a:t>staying</a:t>
            </a:r>
            <a:r>
              <a:rPr sz="1200" spc="-20" dirty="0">
                <a:solidFill>
                  <a:srgbClr val="3333B2"/>
                </a:solidFill>
                <a:latin typeface="Arial"/>
                <a:cs typeface="Arial"/>
              </a:rPr>
              <a:t> </a:t>
            </a:r>
            <a:r>
              <a:rPr sz="1200" spc="-5" dirty="0">
                <a:solidFill>
                  <a:srgbClr val="3333B2"/>
                </a:solidFill>
                <a:latin typeface="Arial"/>
                <a:cs typeface="Arial"/>
              </a:rPr>
              <a:t>ignorant</a:t>
            </a:r>
            <a:endParaRPr sz="1200" dirty="0">
              <a:latin typeface="Arial"/>
              <a:cs typeface="Arial"/>
            </a:endParaRPr>
          </a:p>
          <a:p>
            <a:pPr marL="193040" indent="-168275">
              <a:lnSpc>
                <a:spcPct val="100000"/>
              </a:lnSpc>
              <a:spcBef>
                <a:spcPts val="290"/>
              </a:spcBef>
              <a:buClr>
                <a:srgbClr val="3333B2"/>
              </a:buClr>
              <a:buChar char="►"/>
              <a:tabLst>
                <a:tab pos="193675" algn="l"/>
              </a:tabLst>
            </a:pPr>
            <a:r>
              <a:rPr sz="1000" spc="-5" dirty="0">
                <a:latin typeface="Arial"/>
                <a:cs typeface="Arial"/>
              </a:rPr>
              <a:t>With </a:t>
            </a:r>
            <a:r>
              <a:rPr sz="1000" spc="-5" dirty="0">
                <a:solidFill>
                  <a:srgbClr val="0000FA"/>
                </a:solidFill>
                <a:latin typeface="Arial"/>
                <a:cs typeface="Arial"/>
              </a:rPr>
              <a:t>pull</a:t>
            </a:r>
            <a:r>
              <a:rPr sz="1000" spc="-5" dirty="0">
                <a:latin typeface="Arial"/>
                <a:cs typeface="Arial"/>
              </a:rPr>
              <a:t>, </a:t>
            </a:r>
            <a:r>
              <a:rPr sz="1000" i="1" spc="-5" dirty="0">
                <a:latin typeface="Arial"/>
                <a:cs typeface="Arial"/>
              </a:rPr>
              <a:t>p</a:t>
            </a:r>
            <a:r>
              <a:rPr sz="1050" i="1" spc="7" baseline="-15873" dirty="0">
                <a:latin typeface="Arial"/>
                <a:cs typeface="Arial"/>
              </a:rPr>
              <a:t>i</a:t>
            </a:r>
            <a:r>
              <a:rPr sz="1050" i="1" spc="-202" baseline="-15873" dirty="0">
                <a:latin typeface="Arial"/>
                <a:cs typeface="Arial"/>
              </a:rPr>
              <a:t> </a:t>
            </a:r>
            <a:r>
              <a:rPr sz="1050" spc="247" baseline="-15873" dirty="0">
                <a:latin typeface="Arial"/>
                <a:cs typeface="Arial"/>
              </a:rPr>
              <a:t>+</a:t>
            </a:r>
            <a:r>
              <a:rPr sz="1050" spc="30" baseline="-15873" dirty="0">
                <a:latin typeface="Arial"/>
                <a:cs typeface="Arial"/>
              </a:rPr>
              <a:t>1</a:t>
            </a:r>
            <a:r>
              <a:rPr sz="1050" spc="112" baseline="-15873" dirty="0">
                <a:latin typeface="Arial"/>
                <a:cs typeface="Arial"/>
              </a:rPr>
              <a:t> </a:t>
            </a:r>
            <a:r>
              <a:rPr sz="1000" spc="190" dirty="0">
                <a:latin typeface="Arial"/>
                <a:cs typeface="Arial"/>
              </a:rPr>
              <a:t>=</a:t>
            </a:r>
            <a:r>
              <a:rPr sz="1000" spc="-60" dirty="0">
                <a:latin typeface="Arial"/>
                <a:cs typeface="Arial"/>
              </a:rPr>
              <a:t> </a:t>
            </a:r>
            <a:r>
              <a:rPr sz="1000" spc="50" dirty="0">
                <a:latin typeface="Arial"/>
                <a:cs typeface="Arial"/>
              </a:rPr>
              <a:t>(</a:t>
            </a:r>
            <a:r>
              <a:rPr sz="1000" i="1" spc="-5" dirty="0">
                <a:latin typeface="Arial"/>
                <a:cs typeface="Arial"/>
              </a:rPr>
              <a:t>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50" spc="97" baseline="27777" dirty="0">
                <a:latin typeface="Arial"/>
                <a:cs typeface="Arial"/>
              </a:rPr>
              <a:t>2</a:t>
            </a:r>
            <a:r>
              <a:rPr sz="1000" spc="-5" dirty="0">
                <a:latin typeface="Arial"/>
                <a:cs typeface="Arial"/>
              </a:rPr>
              <a:t>:</a:t>
            </a:r>
            <a:r>
              <a:rPr sz="1000" spc="60" dirty="0">
                <a:latin typeface="Arial"/>
                <a:cs typeface="Arial"/>
              </a:rPr>
              <a:t> </a:t>
            </a:r>
            <a:r>
              <a:rPr sz="1000" spc="-5" dirty="0">
                <a:latin typeface="Arial"/>
                <a:cs typeface="Arial"/>
              </a:rPr>
              <a:t>the node</a:t>
            </a:r>
            <a:endParaRPr sz="1000" dirty="0">
              <a:latin typeface="Arial"/>
              <a:cs typeface="Arial"/>
            </a:endParaRPr>
          </a:p>
        </p:txBody>
      </p:sp>
      <p:sp>
        <p:nvSpPr>
          <p:cNvPr id="5" name="object 5"/>
          <p:cNvSpPr txBox="1">
            <a:spLocks noGrp="1"/>
          </p:cNvSpPr>
          <p:nvPr>
            <p:ph type="body" idx="1"/>
          </p:nvPr>
        </p:nvSpPr>
        <p:spPr>
          <a:prstGeom prst="rect">
            <a:avLst/>
          </a:prstGeom>
        </p:spPr>
        <p:txBody>
          <a:bodyPr vert="horz" wrap="square" lIns="0" tIns="12065" rIns="0" bIns="0" rtlCol="0">
            <a:spAutoFit/>
          </a:bodyPr>
          <a:lstStyle/>
          <a:p>
            <a:pPr marL="205740" marR="30480" indent="-5080">
              <a:lnSpc>
                <a:spcPct val="100000"/>
              </a:lnSpc>
              <a:spcBef>
                <a:spcPts val="95"/>
              </a:spcBef>
            </a:pPr>
            <a:r>
              <a:rPr spc="-10" dirty="0"/>
              <a:t>was </a:t>
            </a:r>
            <a:r>
              <a:rPr spc="-5" dirty="0"/>
              <a:t>not updated during the </a:t>
            </a:r>
            <a:r>
              <a:rPr i="1" spc="25" dirty="0">
                <a:latin typeface="Arial"/>
                <a:cs typeface="Arial"/>
              </a:rPr>
              <a:t>i</a:t>
            </a:r>
            <a:r>
              <a:rPr sz="1200" i="1" spc="37" baseline="24305" dirty="0">
                <a:latin typeface="Arial"/>
                <a:cs typeface="Arial"/>
              </a:rPr>
              <a:t>th </a:t>
            </a:r>
            <a:r>
              <a:rPr sz="1200" i="1" spc="44" baseline="24305" dirty="0">
                <a:latin typeface="Arial"/>
                <a:cs typeface="Arial"/>
              </a:rPr>
              <a:t> </a:t>
            </a:r>
            <a:r>
              <a:rPr sz="1000" spc="-10" dirty="0"/>
              <a:t>round</a:t>
            </a:r>
            <a:r>
              <a:rPr sz="1000" spc="-20" dirty="0"/>
              <a:t> </a:t>
            </a:r>
            <a:r>
              <a:rPr sz="1000" spc="-10" dirty="0"/>
              <a:t>and</a:t>
            </a:r>
            <a:r>
              <a:rPr sz="1000" spc="-15" dirty="0"/>
              <a:t> </a:t>
            </a:r>
            <a:r>
              <a:rPr sz="1000" spc="-10" dirty="0"/>
              <a:t>should</a:t>
            </a:r>
            <a:r>
              <a:rPr sz="1000" spc="-15" dirty="0"/>
              <a:t> </a:t>
            </a:r>
            <a:r>
              <a:rPr sz="1000" spc="-10" dirty="0"/>
              <a:t>contact</a:t>
            </a:r>
            <a:r>
              <a:rPr sz="1000" spc="-15" dirty="0"/>
              <a:t> </a:t>
            </a:r>
            <a:r>
              <a:rPr sz="1000" spc="-10" dirty="0"/>
              <a:t>another </a:t>
            </a:r>
            <a:r>
              <a:rPr sz="1000" spc="-265" dirty="0"/>
              <a:t> </a:t>
            </a:r>
            <a:r>
              <a:rPr sz="1000" spc="-5" dirty="0"/>
              <a:t>ignorant node during the </a:t>
            </a:r>
            <a:r>
              <a:rPr sz="1000" spc="-10" dirty="0"/>
              <a:t>next </a:t>
            </a:r>
            <a:r>
              <a:rPr sz="1000" spc="-5" dirty="0"/>
              <a:t> round.</a:t>
            </a:r>
            <a:endParaRPr sz="1000" dirty="0">
              <a:latin typeface="Arial"/>
              <a:cs typeface="Arial"/>
            </a:endParaRPr>
          </a:p>
          <a:p>
            <a:pPr marL="205740" indent="-168275">
              <a:lnSpc>
                <a:spcPts val="1180"/>
              </a:lnSpc>
              <a:buClr>
                <a:srgbClr val="3333B2"/>
              </a:buClr>
              <a:buChar char="►"/>
              <a:tabLst>
                <a:tab pos="206375" algn="l"/>
              </a:tabLst>
            </a:pPr>
            <a:r>
              <a:rPr sz="1000" spc="-5" dirty="0"/>
              <a:t>With </a:t>
            </a:r>
            <a:r>
              <a:rPr sz="1000" spc="-5" dirty="0">
                <a:solidFill>
                  <a:srgbClr val="0000FA"/>
                </a:solidFill>
              </a:rPr>
              <a:t>push</a:t>
            </a:r>
            <a:r>
              <a:rPr sz="1000" spc="-5" dirty="0"/>
              <a:t>, </a:t>
            </a:r>
            <a:r>
              <a:rPr sz="1000" i="1" spc="-5" dirty="0">
                <a:latin typeface="Arial"/>
                <a:cs typeface="Arial"/>
              </a:rPr>
              <a:t>p</a:t>
            </a:r>
            <a:r>
              <a:rPr sz="1050" i="1" spc="7" baseline="-15873" dirty="0">
                <a:latin typeface="Arial"/>
                <a:cs typeface="Arial"/>
              </a:rPr>
              <a:t>i</a:t>
            </a:r>
            <a:r>
              <a:rPr sz="1050" i="1" spc="-202" baseline="-15873" dirty="0">
                <a:latin typeface="Arial"/>
                <a:cs typeface="Arial"/>
              </a:rPr>
              <a:t> </a:t>
            </a:r>
            <a:r>
              <a:rPr sz="1050" spc="247" baseline="-15873" dirty="0"/>
              <a:t>+</a:t>
            </a:r>
            <a:r>
              <a:rPr sz="1050" spc="30" baseline="-15873" dirty="0"/>
              <a:t>1</a:t>
            </a:r>
            <a:r>
              <a:rPr sz="1050" spc="112" baseline="-15873" dirty="0"/>
              <a:t> </a:t>
            </a:r>
            <a:r>
              <a:rPr sz="1000" spc="190" dirty="0"/>
              <a:t>=</a:t>
            </a:r>
            <a:endParaRPr sz="1000" dirty="0">
              <a:latin typeface="Arial"/>
              <a:cs typeface="Arial"/>
            </a:endParaRPr>
          </a:p>
        </p:txBody>
      </p:sp>
      <p:sp>
        <p:nvSpPr>
          <p:cNvPr id="6" name="object 6"/>
          <p:cNvSpPr txBox="1"/>
          <p:nvPr/>
        </p:nvSpPr>
        <p:spPr>
          <a:xfrm>
            <a:off x="573328" y="2280268"/>
            <a:ext cx="46355" cy="137795"/>
          </a:xfrm>
          <a:prstGeom prst="rect">
            <a:avLst/>
          </a:prstGeom>
        </p:spPr>
        <p:txBody>
          <a:bodyPr vert="horz" wrap="square" lIns="0" tIns="17145" rIns="0" bIns="0" rtlCol="0">
            <a:spAutoFit/>
          </a:bodyPr>
          <a:lstStyle/>
          <a:p>
            <a:pPr marL="12700">
              <a:lnSpc>
                <a:spcPct val="100000"/>
              </a:lnSpc>
              <a:spcBef>
                <a:spcPts val="135"/>
              </a:spcBef>
            </a:pPr>
            <a:r>
              <a:rPr sz="700" i="1" spc="5" dirty="0">
                <a:latin typeface="Arial"/>
                <a:cs typeface="Arial"/>
              </a:rPr>
              <a:t>i</a:t>
            </a:r>
            <a:endParaRPr sz="700">
              <a:latin typeface="Arial"/>
              <a:cs typeface="Arial"/>
            </a:endParaRPr>
          </a:p>
        </p:txBody>
      </p:sp>
      <p:sp>
        <p:nvSpPr>
          <p:cNvPr id="7" name="object 7"/>
          <p:cNvSpPr/>
          <p:nvPr/>
        </p:nvSpPr>
        <p:spPr>
          <a:xfrm>
            <a:off x="884466" y="2330843"/>
            <a:ext cx="200025" cy="0"/>
          </a:xfrm>
          <a:custGeom>
            <a:avLst/>
            <a:gdLst/>
            <a:ahLst/>
            <a:cxnLst/>
            <a:rect l="l" t="t" r="r" b="b"/>
            <a:pathLst>
              <a:path w="200025">
                <a:moveTo>
                  <a:pt x="0" y="0"/>
                </a:moveTo>
                <a:lnTo>
                  <a:pt x="199618" y="0"/>
                </a:lnTo>
              </a:path>
            </a:pathLst>
          </a:custGeom>
          <a:ln w="5054">
            <a:solidFill>
              <a:srgbClr val="000000"/>
            </a:solidFill>
          </a:ln>
        </p:spPr>
        <p:txBody>
          <a:bodyPr wrap="square" lIns="0" tIns="0" rIns="0" bIns="0" rtlCol="0"/>
          <a:lstStyle/>
          <a:p>
            <a:endParaRPr/>
          </a:p>
        </p:txBody>
      </p:sp>
      <p:sp>
        <p:nvSpPr>
          <p:cNvPr id="8" name="object 8"/>
          <p:cNvSpPr txBox="1"/>
          <p:nvPr/>
        </p:nvSpPr>
        <p:spPr>
          <a:xfrm>
            <a:off x="871766" y="2299801"/>
            <a:ext cx="225425" cy="137795"/>
          </a:xfrm>
          <a:prstGeom prst="rect">
            <a:avLst/>
          </a:prstGeom>
        </p:spPr>
        <p:txBody>
          <a:bodyPr vert="horz" wrap="square" lIns="0" tIns="17145" rIns="0" bIns="0" rtlCol="0">
            <a:spAutoFit/>
          </a:bodyPr>
          <a:lstStyle/>
          <a:p>
            <a:pPr marL="12700">
              <a:lnSpc>
                <a:spcPct val="100000"/>
              </a:lnSpc>
              <a:spcBef>
                <a:spcPts val="135"/>
              </a:spcBef>
            </a:pPr>
            <a:r>
              <a:rPr sz="700" i="1" spc="80" dirty="0">
                <a:latin typeface="Arial"/>
                <a:cs typeface="Arial"/>
              </a:rPr>
              <a:t>N</a:t>
            </a:r>
            <a:r>
              <a:rPr sz="700" i="1" spc="10" dirty="0">
                <a:latin typeface="メイリオ"/>
                <a:cs typeface="メイリオ"/>
              </a:rPr>
              <a:t>−</a:t>
            </a:r>
            <a:r>
              <a:rPr sz="700" spc="20" dirty="0">
                <a:latin typeface="Arial"/>
                <a:cs typeface="Arial"/>
              </a:rPr>
              <a:t>1</a:t>
            </a:r>
            <a:endParaRPr sz="700">
              <a:latin typeface="Arial"/>
              <a:cs typeface="Arial"/>
            </a:endParaRPr>
          </a:p>
        </p:txBody>
      </p:sp>
      <p:sp>
        <p:nvSpPr>
          <p:cNvPr id="9" name="object 9"/>
          <p:cNvSpPr txBox="1"/>
          <p:nvPr/>
        </p:nvSpPr>
        <p:spPr>
          <a:xfrm>
            <a:off x="504393" y="2223254"/>
            <a:ext cx="657225" cy="177800"/>
          </a:xfrm>
          <a:prstGeom prst="rect">
            <a:avLst/>
          </a:prstGeom>
        </p:spPr>
        <p:txBody>
          <a:bodyPr vert="horz" wrap="square" lIns="0" tIns="12065" rIns="0" bIns="0" rtlCol="0">
            <a:spAutoFit/>
          </a:bodyPr>
          <a:lstStyle/>
          <a:p>
            <a:pPr marL="12700">
              <a:lnSpc>
                <a:spcPct val="100000"/>
              </a:lnSpc>
              <a:spcBef>
                <a:spcPts val="95"/>
              </a:spcBef>
              <a:tabLst>
                <a:tab pos="594360" algn="l"/>
              </a:tabLst>
            </a:pPr>
            <a:r>
              <a:rPr sz="1000" i="1" spc="-15" dirty="0">
                <a:latin typeface="Arial"/>
                <a:cs typeface="Arial"/>
              </a:rPr>
              <a:t>p</a:t>
            </a:r>
            <a:r>
              <a:rPr sz="1000" i="1" spc="-5" dirty="0">
                <a:latin typeface="Arial"/>
                <a:cs typeface="Arial"/>
              </a:rPr>
              <a:t> </a:t>
            </a:r>
            <a:r>
              <a:rPr sz="1000" spc="50" dirty="0">
                <a:latin typeface="Arial"/>
                <a:cs typeface="Arial"/>
              </a:rPr>
              <a:t>(</a:t>
            </a:r>
            <a:r>
              <a:rPr sz="1000" spc="-15" dirty="0">
                <a:latin typeface="Arial"/>
                <a:cs typeface="Arial"/>
              </a:rPr>
              <a:t>1</a:t>
            </a:r>
            <a:r>
              <a:rPr sz="1000" spc="-155" dirty="0">
                <a:latin typeface="Arial"/>
                <a:cs typeface="Arial"/>
              </a:rPr>
              <a:t> </a:t>
            </a:r>
            <a:r>
              <a:rPr sz="1000" i="1" spc="-30" dirty="0">
                <a:latin typeface="メイリオ"/>
                <a:cs typeface="メイリオ"/>
              </a:rPr>
              <a:t>−</a:t>
            </a:r>
            <a:r>
              <a:rPr sz="1000" i="1" dirty="0">
                <a:latin typeface="メイリオ"/>
                <a:cs typeface="メイリオ"/>
              </a:rPr>
              <a:t>	</a:t>
            </a:r>
            <a:r>
              <a:rPr sz="1000" spc="50" dirty="0">
                <a:latin typeface="Arial"/>
                <a:cs typeface="Arial"/>
              </a:rPr>
              <a:t>)</a:t>
            </a:r>
            <a:endParaRPr sz="1000" dirty="0">
              <a:latin typeface="Arial"/>
              <a:cs typeface="Arial"/>
            </a:endParaRPr>
          </a:p>
        </p:txBody>
      </p:sp>
      <p:sp>
        <p:nvSpPr>
          <p:cNvPr id="10" name="object 10"/>
          <p:cNvSpPr txBox="1"/>
          <p:nvPr/>
        </p:nvSpPr>
        <p:spPr>
          <a:xfrm>
            <a:off x="1622031" y="2250584"/>
            <a:ext cx="42545" cy="116839"/>
          </a:xfrm>
          <a:prstGeom prst="rect">
            <a:avLst/>
          </a:prstGeom>
        </p:spPr>
        <p:txBody>
          <a:bodyPr vert="horz" wrap="square" lIns="0" tIns="12065" rIns="0" bIns="0" rtlCol="0">
            <a:spAutoFit/>
          </a:bodyPr>
          <a:lstStyle/>
          <a:p>
            <a:pPr marL="12700">
              <a:lnSpc>
                <a:spcPct val="100000"/>
              </a:lnSpc>
              <a:spcBef>
                <a:spcPts val="95"/>
              </a:spcBef>
            </a:pPr>
            <a:r>
              <a:rPr sz="600" i="1" spc="-5" dirty="0">
                <a:latin typeface="Arial"/>
                <a:cs typeface="Arial"/>
              </a:rPr>
              <a:t>i</a:t>
            </a:r>
            <a:endParaRPr sz="600">
              <a:latin typeface="Arial"/>
              <a:cs typeface="Arial"/>
            </a:endParaRPr>
          </a:p>
        </p:txBody>
      </p:sp>
      <p:sp>
        <p:nvSpPr>
          <p:cNvPr id="11" name="object 11"/>
          <p:cNvSpPr txBox="1"/>
          <p:nvPr/>
        </p:nvSpPr>
        <p:spPr>
          <a:xfrm>
            <a:off x="945540" y="2210228"/>
            <a:ext cx="768350" cy="137795"/>
          </a:xfrm>
          <a:prstGeom prst="rect">
            <a:avLst/>
          </a:prstGeom>
        </p:spPr>
        <p:txBody>
          <a:bodyPr vert="horz" wrap="square" lIns="0" tIns="17145" rIns="0" bIns="0" rtlCol="0">
            <a:spAutoFit/>
          </a:bodyPr>
          <a:lstStyle/>
          <a:p>
            <a:pPr marL="12700">
              <a:lnSpc>
                <a:spcPct val="100000"/>
              </a:lnSpc>
              <a:spcBef>
                <a:spcPts val="135"/>
              </a:spcBef>
              <a:tabLst>
                <a:tab pos="202565" algn="l"/>
              </a:tabLst>
            </a:pPr>
            <a:r>
              <a:rPr sz="1050" spc="30" baseline="3968" dirty="0">
                <a:latin typeface="Arial"/>
                <a:cs typeface="Arial"/>
              </a:rPr>
              <a:t>1	</a:t>
            </a:r>
            <a:r>
              <a:rPr sz="700" spc="35" dirty="0">
                <a:latin typeface="Arial"/>
                <a:cs typeface="Arial"/>
              </a:rPr>
              <a:t>(</a:t>
            </a:r>
            <a:r>
              <a:rPr sz="700" i="1" spc="35" dirty="0">
                <a:latin typeface="Arial"/>
                <a:cs typeface="Arial"/>
              </a:rPr>
              <a:t>N</a:t>
            </a:r>
            <a:r>
              <a:rPr sz="700" i="1" spc="35" dirty="0">
                <a:latin typeface="メイリオ"/>
                <a:cs typeface="メイリオ"/>
              </a:rPr>
              <a:t>−</a:t>
            </a:r>
            <a:r>
              <a:rPr sz="700" spc="35" dirty="0">
                <a:latin typeface="Arial"/>
                <a:cs typeface="Arial"/>
              </a:rPr>
              <a:t>1)(1</a:t>
            </a:r>
            <a:r>
              <a:rPr sz="700" i="1" spc="35" dirty="0">
                <a:latin typeface="メイリオ"/>
                <a:cs typeface="メイリオ"/>
              </a:rPr>
              <a:t>−</a:t>
            </a:r>
            <a:r>
              <a:rPr sz="700" i="1" spc="35" dirty="0">
                <a:latin typeface="Arial"/>
                <a:cs typeface="Arial"/>
              </a:rPr>
              <a:t>p</a:t>
            </a:r>
            <a:r>
              <a:rPr sz="700" i="1" spc="-20" dirty="0">
                <a:latin typeface="Arial"/>
                <a:cs typeface="Arial"/>
              </a:rPr>
              <a:t> </a:t>
            </a:r>
            <a:r>
              <a:rPr sz="700" spc="50" dirty="0">
                <a:latin typeface="Arial"/>
                <a:cs typeface="Arial"/>
              </a:rPr>
              <a:t>)</a:t>
            </a:r>
            <a:endParaRPr sz="700" dirty="0">
              <a:latin typeface="Arial"/>
              <a:cs typeface="Arial"/>
            </a:endParaRPr>
          </a:p>
        </p:txBody>
      </p:sp>
      <p:sp>
        <p:nvSpPr>
          <p:cNvPr id="12" name="object 12"/>
          <p:cNvSpPr txBox="1"/>
          <p:nvPr/>
        </p:nvSpPr>
        <p:spPr>
          <a:xfrm>
            <a:off x="1914626" y="2280268"/>
            <a:ext cx="46355" cy="137795"/>
          </a:xfrm>
          <a:prstGeom prst="rect">
            <a:avLst/>
          </a:prstGeom>
        </p:spPr>
        <p:txBody>
          <a:bodyPr vert="horz" wrap="square" lIns="0" tIns="17145" rIns="0" bIns="0" rtlCol="0">
            <a:spAutoFit/>
          </a:bodyPr>
          <a:lstStyle/>
          <a:p>
            <a:pPr marL="12700">
              <a:lnSpc>
                <a:spcPct val="100000"/>
              </a:lnSpc>
              <a:spcBef>
                <a:spcPts val="135"/>
              </a:spcBef>
            </a:pPr>
            <a:r>
              <a:rPr sz="700" i="1" spc="5" dirty="0">
                <a:latin typeface="Arial"/>
                <a:cs typeface="Arial"/>
              </a:rPr>
              <a:t>i</a:t>
            </a:r>
            <a:endParaRPr sz="700">
              <a:latin typeface="Arial"/>
              <a:cs typeface="Arial"/>
            </a:endParaRPr>
          </a:p>
        </p:txBody>
      </p:sp>
      <p:sp>
        <p:nvSpPr>
          <p:cNvPr id="13" name="object 13"/>
          <p:cNvSpPr txBox="1"/>
          <p:nvPr/>
        </p:nvSpPr>
        <p:spPr>
          <a:xfrm>
            <a:off x="1924392" y="2177331"/>
            <a:ext cx="273050" cy="177800"/>
          </a:xfrm>
          <a:prstGeom prst="rect">
            <a:avLst/>
          </a:prstGeom>
        </p:spPr>
        <p:txBody>
          <a:bodyPr vert="horz" wrap="square" lIns="0" tIns="12065" rIns="0" bIns="0" rtlCol="0">
            <a:spAutoFit/>
          </a:bodyPr>
          <a:lstStyle/>
          <a:p>
            <a:pPr marL="38100">
              <a:lnSpc>
                <a:spcPct val="100000"/>
              </a:lnSpc>
              <a:spcBef>
                <a:spcPts val="95"/>
              </a:spcBef>
            </a:pPr>
            <a:r>
              <a:rPr sz="1500" i="1" spc="15" baseline="-19444" dirty="0">
                <a:latin typeface="Arial"/>
                <a:cs typeface="Arial"/>
              </a:rPr>
              <a:t>e</a:t>
            </a:r>
            <a:r>
              <a:rPr sz="700" i="1" spc="10" dirty="0">
                <a:latin typeface="メイリオ"/>
                <a:cs typeface="メイリオ"/>
              </a:rPr>
              <a:t>−</a:t>
            </a:r>
            <a:r>
              <a:rPr sz="700" spc="10" dirty="0">
                <a:latin typeface="Arial"/>
                <a:cs typeface="Arial"/>
              </a:rPr>
              <a:t>1</a:t>
            </a:r>
            <a:endParaRPr sz="700">
              <a:latin typeface="Arial"/>
              <a:cs typeface="Arial"/>
            </a:endParaRPr>
          </a:p>
        </p:txBody>
      </p:sp>
      <p:sp>
        <p:nvSpPr>
          <p:cNvPr id="14" name="object 14"/>
          <p:cNvSpPr txBox="1"/>
          <p:nvPr/>
        </p:nvSpPr>
        <p:spPr>
          <a:xfrm>
            <a:off x="1721015" y="2223254"/>
            <a:ext cx="672465" cy="177800"/>
          </a:xfrm>
          <a:prstGeom prst="rect">
            <a:avLst/>
          </a:prstGeom>
        </p:spPr>
        <p:txBody>
          <a:bodyPr vert="horz" wrap="square" lIns="0" tIns="12065" rIns="0" bIns="0" rtlCol="0">
            <a:spAutoFit/>
          </a:bodyPr>
          <a:lstStyle/>
          <a:p>
            <a:pPr marL="12700">
              <a:lnSpc>
                <a:spcPct val="100000"/>
              </a:lnSpc>
              <a:spcBef>
                <a:spcPts val="95"/>
              </a:spcBef>
              <a:tabLst>
                <a:tab pos="476884" algn="l"/>
              </a:tabLst>
            </a:pPr>
            <a:r>
              <a:rPr sz="1000" i="1" spc="-35" dirty="0">
                <a:latin typeface="メイリオ"/>
                <a:cs typeface="メイリオ"/>
              </a:rPr>
              <a:t>≈</a:t>
            </a:r>
            <a:r>
              <a:rPr sz="1000" i="1" spc="-135" dirty="0">
                <a:latin typeface="メイリオ"/>
                <a:cs typeface="メイリオ"/>
              </a:rPr>
              <a:t> </a:t>
            </a:r>
            <a:r>
              <a:rPr sz="1000" i="1" spc="-15" dirty="0">
                <a:latin typeface="Arial"/>
                <a:cs typeface="Arial"/>
              </a:rPr>
              <a:t>p</a:t>
            </a:r>
            <a:r>
              <a:rPr sz="1000" i="1" dirty="0">
                <a:latin typeface="Arial"/>
                <a:cs typeface="Arial"/>
              </a:rPr>
              <a:t>	</a:t>
            </a:r>
            <a:r>
              <a:rPr sz="1000" spc="-10" dirty="0">
                <a:latin typeface="Arial"/>
                <a:cs typeface="Arial"/>
              </a:rPr>
              <a:t>(</a:t>
            </a:r>
            <a:r>
              <a:rPr sz="1000" spc="-45" dirty="0">
                <a:latin typeface="Arial"/>
                <a:cs typeface="Arial"/>
              </a:rPr>
              <a:t>f</a:t>
            </a:r>
            <a:r>
              <a:rPr sz="1000" spc="-15" dirty="0">
                <a:latin typeface="Arial"/>
                <a:cs typeface="Arial"/>
              </a:rPr>
              <a:t>or</a:t>
            </a:r>
            <a:endParaRPr sz="1000" dirty="0">
              <a:latin typeface="Arial"/>
              <a:cs typeface="Arial"/>
            </a:endParaRPr>
          </a:p>
        </p:txBody>
      </p:sp>
      <p:sp>
        <p:nvSpPr>
          <p:cNvPr id="15" name="object 15"/>
          <p:cNvSpPr txBox="1"/>
          <p:nvPr/>
        </p:nvSpPr>
        <p:spPr>
          <a:xfrm>
            <a:off x="478993" y="2375082"/>
            <a:ext cx="1824355" cy="177800"/>
          </a:xfrm>
          <a:prstGeom prst="rect">
            <a:avLst/>
          </a:prstGeom>
        </p:spPr>
        <p:txBody>
          <a:bodyPr vert="horz" wrap="square" lIns="0" tIns="12065" rIns="0" bIns="0" rtlCol="0">
            <a:spAutoFit/>
          </a:bodyPr>
          <a:lstStyle/>
          <a:p>
            <a:pPr marL="38100">
              <a:lnSpc>
                <a:spcPct val="100000"/>
              </a:lnSpc>
              <a:spcBef>
                <a:spcPts val="95"/>
              </a:spcBef>
            </a:pPr>
            <a:r>
              <a:rPr sz="1000" spc="-5" dirty="0">
                <a:latin typeface="Arial"/>
                <a:cs typeface="Arial"/>
              </a:rPr>
              <a:t>small</a:t>
            </a:r>
            <a:r>
              <a:rPr sz="1000" spc="-10" dirty="0">
                <a:latin typeface="Arial"/>
                <a:cs typeface="Arial"/>
              </a:rPr>
              <a:t> </a:t>
            </a:r>
            <a:r>
              <a:rPr sz="1000" i="1" dirty="0">
                <a:latin typeface="Arial"/>
                <a:cs typeface="Arial"/>
              </a:rPr>
              <a:t>p</a:t>
            </a:r>
            <a:r>
              <a:rPr sz="1050" i="1" baseline="-15873" dirty="0">
                <a:latin typeface="Arial"/>
                <a:cs typeface="Arial"/>
              </a:rPr>
              <a:t>i</a:t>
            </a:r>
            <a:r>
              <a:rPr sz="1050" i="1" spc="284" baseline="-15873" dirty="0">
                <a:latin typeface="Arial"/>
                <a:cs typeface="Arial"/>
              </a:rPr>
              <a:t> </a:t>
            </a:r>
            <a:r>
              <a:rPr sz="1000" spc="-5" dirty="0">
                <a:latin typeface="Arial"/>
                <a:cs typeface="Arial"/>
              </a:rPr>
              <a:t>and</a:t>
            </a:r>
            <a:r>
              <a:rPr sz="1000" spc="-10" dirty="0">
                <a:latin typeface="Arial"/>
                <a:cs typeface="Arial"/>
              </a:rPr>
              <a:t> </a:t>
            </a:r>
            <a:r>
              <a:rPr sz="1000" spc="-5" dirty="0">
                <a:latin typeface="Arial"/>
                <a:cs typeface="Arial"/>
              </a:rPr>
              <a:t>large </a:t>
            </a:r>
            <a:r>
              <a:rPr sz="1000" i="1" spc="20" dirty="0">
                <a:latin typeface="Arial"/>
                <a:cs typeface="Arial"/>
              </a:rPr>
              <a:t>N</a:t>
            </a:r>
            <a:r>
              <a:rPr sz="1000" spc="20" dirty="0">
                <a:latin typeface="Arial"/>
                <a:cs typeface="Arial"/>
              </a:rPr>
              <a:t>):</a:t>
            </a:r>
            <a:r>
              <a:rPr sz="1000" spc="55"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node</a:t>
            </a:r>
            <a:endParaRPr sz="1000" dirty="0">
              <a:latin typeface="Arial"/>
              <a:cs typeface="Arial"/>
            </a:endParaRPr>
          </a:p>
        </p:txBody>
      </p:sp>
      <p:sp>
        <p:nvSpPr>
          <p:cNvPr id="16" name="object 16"/>
          <p:cNvSpPr txBox="1"/>
          <p:nvPr/>
        </p:nvSpPr>
        <p:spPr>
          <a:xfrm>
            <a:off x="474433" y="2526911"/>
            <a:ext cx="1924050" cy="329565"/>
          </a:xfrm>
          <a:prstGeom prst="rect">
            <a:avLst/>
          </a:prstGeom>
        </p:spPr>
        <p:txBody>
          <a:bodyPr vert="horz" wrap="square" lIns="0" tIns="12065" rIns="0" bIns="0" rtlCol="0">
            <a:spAutoFit/>
          </a:bodyPr>
          <a:lstStyle/>
          <a:p>
            <a:pPr marL="42545" marR="30480" indent="-5080">
              <a:lnSpc>
                <a:spcPct val="100000"/>
              </a:lnSpc>
              <a:spcBef>
                <a:spcPts val="95"/>
              </a:spcBef>
            </a:pPr>
            <a:r>
              <a:rPr sz="1000" spc="-10" dirty="0">
                <a:latin typeface="Arial"/>
                <a:cs typeface="Arial"/>
              </a:rPr>
              <a:t>was </a:t>
            </a:r>
            <a:r>
              <a:rPr sz="1000" spc="-5" dirty="0">
                <a:latin typeface="Arial"/>
                <a:cs typeface="Arial"/>
              </a:rPr>
              <a:t>ignorant</a:t>
            </a:r>
            <a:r>
              <a:rPr sz="1000" spc="-10" dirty="0">
                <a:latin typeface="Arial"/>
                <a:cs typeface="Arial"/>
              </a:rPr>
              <a:t> </a:t>
            </a:r>
            <a:r>
              <a:rPr sz="1000" spc="-5" dirty="0">
                <a:latin typeface="Arial"/>
                <a:cs typeface="Arial"/>
              </a:rPr>
              <a:t>during the</a:t>
            </a:r>
            <a:r>
              <a:rPr sz="1000" spc="-10" dirty="0">
                <a:latin typeface="Arial"/>
                <a:cs typeface="Arial"/>
              </a:rPr>
              <a:t> </a:t>
            </a:r>
            <a:r>
              <a:rPr sz="1000" i="1" spc="25" dirty="0">
                <a:latin typeface="Arial"/>
                <a:cs typeface="Arial"/>
              </a:rPr>
              <a:t>i</a:t>
            </a:r>
            <a:r>
              <a:rPr sz="1200" i="1" spc="37" baseline="24305" dirty="0">
                <a:latin typeface="Arial"/>
                <a:cs typeface="Arial"/>
              </a:rPr>
              <a:t>th</a:t>
            </a:r>
            <a:r>
              <a:rPr sz="1200" i="1" spc="142" baseline="24305" dirty="0">
                <a:latin typeface="Arial"/>
                <a:cs typeface="Arial"/>
              </a:rPr>
              <a:t> </a:t>
            </a:r>
            <a:r>
              <a:rPr sz="1000" spc="-5" dirty="0">
                <a:latin typeface="Arial"/>
                <a:cs typeface="Arial"/>
              </a:rPr>
              <a:t>round </a:t>
            </a:r>
            <a:r>
              <a:rPr sz="1000" spc="-260" dirty="0">
                <a:latin typeface="Arial"/>
                <a:cs typeface="Arial"/>
              </a:rPr>
              <a:t> </a:t>
            </a:r>
            <a:r>
              <a:rPr sz="1000" spc="-5" dirty="0">
                <a:latin typeface="Arial"/>
                <a:cs typeface="Arial"/>
              </a:rPr>
              <a:t>and</a:t>
            </a:r>
            <a:r>
              <a:rPr sz="1000" spc="-15" dirty="0">
                <a:latin typeface="Arial"/>
                <a:cs typeface="Arial"/>
              </a:rPr>
              <a:t> </a:t>
            </a:r>
            <a:r>
              <a:rPr sz="1000" spc="-5" dirty="0">
                <a:latin typeface="Arial"/>
                <a:cs typeface="Arial"/>
              </a:rPr>
              <a:t>no</a:t>
            </a:r>
            <a:r>
              <a:rPr sz="1000" spc="-10" dirty="0">
                <a:latin typeface="Arial"/>
                <a:cs typeface="Arial"/>
              </a:rPr>
              <a:t> </a:t>
            </a:r>
            <a:r>
              <a:rPr sz="1000" spc="-5" dirty="0">
                <a:latin typeface="Arial"/>
                <a:cs typeface="Arial"/>
              </a:rPr>
              <a:t>updated</a:t>
            </a:r>
            <a:r>
              <a:rPr sz="1000" spc="-10" dirty="0">
                <a:latin typeface="Arial"/>
                <a:cs typeface="Arial"/>
              </a:rPr>
              <a:t> </a:t>
            </a:r>
            <a:r>
              <a:rPr sz="1000" spc="-5" dirty="0">
                <a:latin typeface="Arial"/>
                <a:cs typeface="Arial"/>
              </a:rPr>
              <a:t>node</a:t>
            </a:r>
            <a:r>
              <a:rPr sz="1000" spc="-10" dirty="0">
                <a:latin typeface="Arial"/>
                <a:cs typeface="Arial"/>
              </a:rPr>
              <a:t> </a:t>
            </a:r>
            <a:r>
              <a:rPr sz="1000" spc="-5" dirty="0">
                <a:latin typeface="Arial"/>
                <a:cs typeface="Arial"/>
              </a:rPr>
              <a:t>chooses</a:t>
            </a:r>
            <a:r>
              <a:rPr sz="1000" spc="-10" dirty="0">
                <a:latin typeface="Arial"/>
                <a:cs typeface="Arial"/>
              </a:rPr>
              <a:t> </a:t>
            </a:r>
            <a:r>
              <a:rPr sz="1000" spc="-5" dirty="0">
                <a:latin typeface="Arial"/>
                <a:cs typeface="Arial"/>
              </a:rPr>
              <a:t>to</a:t>
            </a:r>
            <a:endParaRPr sz="1000" dirty="0">
              <a:latin typeface="Arial"/>
              <a:cs typeface="Arial"/>
            </a:endParaRPr>
          </a:p>
        </p:txBody>
      </p:sp>
      <p:sp>
        <p:nvSpPr>
          <p:cNvPr id="17" name="object 17"/>
          <p:cNvSpPr txBox="1"/>
          <p:nvPr/>
        </p:nvSpPr>
        <p:spPr>
          <a:xfrm>
            <a:off x="311315" y="2830581"/>
            <a:ext cx="2014855" cy="329565"/>
          </a:xfrm>
          <a:prstGeom prst="rect">
            <a:avLst/>
          </a:prstGeom>
        </p:spPr>
        <p:txBody>
          <a:bodyPr vert="horz" wrap="square" lIns="0" tIns="12065" rIns="0" bIns="0" rtlCol="0">
            <a:spAutoFit/>
          </a:bodyPr>
          <a:lstStyle/>
          <a:p>
            <a:pPr marL="205740">
              <a:lnSpc>
                <a:spcPts val="1200"/>
              </a:lnSpc>
              <a:spcBef>
                <a:spcPts val="95"/>
              </a:spcBef>
            </a:pPr>
            <a:r>
              <a:rPr sz="1000" spc="-5" dirty="0">
                <a:latin typeface="Arial"/>
                <a:cs typeface="Arial"/>
              </a:rPr>
              <a:t>contact</a:t>
            </a:r>
            <a:r>
              <a:rPr sz="1000" spc="-10" dirty="0">
                <a:latin typeface="Arial"/>
                <a:cs typeface="Arial"/>
              </a:rPr>
              <a:t> </a:t>
            </a:r>
            <a:r>
              <a:rPr sz="1000" spc="-5" dirty="0">
                <a:latin typeface="Arial"/>
                <a:cs typeface="Arial"/>
              </a:rPr>
              <a:t>it during the</a:t>
            </a:r>
            <a:r>
              <a:rPr sz="1000" spc="-10" dirty="0">
                <a:latin typeface="Arial"/>
                <a:cs typeface="Arial"/>
              </a:rPr>
              <a:t> next</a:t>
            </a:r>
            <a:r>
              <a:rPr sz="1000" spc="-5" dirty="0">
                <a:latin typeface="Arial"/>
                <a:cs typeface="Arial"/>
              </a:rPr>
              <a:t> round.</a:t>
            </a:r>
            <a:endParaRPr sz="1000" dirty="0">
              <a:latin typeface="Arial"/>
              <a:cs typeface="Arial"/>
            </a:endParaRPr>
          </a:p>
          <a:p>
            <a:pPr marL="205740" indent="-168275">
              <a:lnSpc>
                <a:spcPts val="1200"/>
              </a:lnSpc>
              <a:buClr>
                <a:srgbClr val="3333B2"/>
              </a:buClr>
              <a:buChar char="►"/>
              <a:tabLst>
                <a:tab pos="206375" algn="l"/>
              </a:tabLst>
            </a:pPr>
            <a:r>
              <a:rPr sz="1000" spc="-5" dirty="0">
                <a:latin typeface="Arial"/>
                <a:cs typeface="Arial"/>
              </a:rPr>
              <a:t>With </a:t>
            </a:r>
            <a:r>
              <a:rPr sz="1000" spc="-5" dirty="0">
                <a:solidFill>
                  <a:srgbClr val="0000FA"/>
                </a:solidFill>
                <a:latin typeface="Arial"/>
                <a:cs typeface="Arial"/>
              </a:rPr>
              <a:t>push-pull</a:t>
            </a:r>
            <a:r>
              <a:rPr sz="1000" spc="-5" dirty="0">
                <a:latin typeface="Arial"/>
                <a:cs typeface="Arial"/>
              </a:rPr>
              <a:t>:</a:t>
            </a:r>
            <a:r>
              <a:rPr sz="1000" spc="60" dirty="0">
                <a:latin typeface="Arial"/>
                <a:cs typeface="Arial"/>
              </a:rPr>
              <a:t> </a:t>
            </a:r>
            <a:r>
              <a:rPr sz="1000" spc="50" dirty="0">
                <a:latin typeface="Arial"/>
                <a:cs typeface="Arial"/>
              </a:rPr>
              <a:t>(</a:t>
            </a:r>
            <a:r>
              <a:rPr sz="1000" i="1" spc="-5" dirty="0">
                <a:latin typeface="Arial"/>
                <a:cs typeface="Arial"/>
              </a:rPr>
              <a:t>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50" spc="30" baseline="27777" dirty="0">
                <a:latin typeface="Arial"/>
                <a:cs typeface="Arial"/>
              </a:rPr>
              <a:t>2</a:t>
            </a:r>
            <a:r>
              <a:rPr sz="1050" spc="-15" baseline="27777" dirty="0">
                <a:latin typeface="Arial"/>
                <a:cs typeface="Arial"/>
              </a:rPr>
              <a:t> </a:t>
            </a:r>
            <a:r>
              <a:rPr sz="1000" i="1" spc="-75" dirty="0">
                <a:latin typeface="メイリオ"/>
                <a:cs typeface="メイリオ"/>
              </a:rPr>
              <a:t>·</a:t>
            </a:r>
            <a:r>
              <a:rPr sz="1000" i="1" spc="-204" dirty="0">
                <a:latin typeface="メイリオ"/>
                <a:cs typeface="メイリオ"/>
              </a:rPr>
              <a:t> </a:t>
            </a:r>
            <a:r>
              <a:rPr sz="1000" spc="50" dirty="0">
                <a:latin typeface="Arial"/>
                <a:cs typeface="Arial"/>
              </a:rPr>
              <a:t>(</a:t>
            </a:r>
            <a:r>
              <a:rPr sz="1000" i="1" spc="-5" dirty="0">
                <a:latin typeface="Arial"/>
                <a:cs typeface="Arial"/>
              </a:rPr>
              <a:t>p</a:t>
            </a:r>
            <a:r>
              <a:rPr sz="1050" i="1" spc="7" baseline="-15873" dirty="0">
                <a:latin typeface="Arial"/>
                <a:cs typeface="Arial"/>
              </a:rPr>
              <a:t>i</a:t>
            </a:r>
            <a:r>
              <a:rPr sz="1050" i="1" spc="-127" baseline="-15873" dirty="0">
                <a:latin typeface="Arial"/>
                <a:cs typeface="Arial"/>
              </a:rPr>
              <a:t> </a:t>
            </a:r>
            <a:r>
              <a:rPr sz="1000" i="1" spc="15" dirty="0">
                <a:latin typeface="Arial"/>
                <a:cs typeface="Arial"/>
              </a:rPr>
              <a:t>e</a:t>
            </a:r>
            <a:r>
              <a:rPr sz="1050" i="1" spc="15" baseline="27777" dirty="0">
                <a:latin typeface="メイリオ"/>
                <a:cs typeface="メイリオ"/>
              </a:rPr>
              <a:t>−</a:t>
            </a:r>
            <a:r>
              <a:rPr sz="1050" spc="97" baseline="27777" dirty="0">
                <a:latin typeface="Arial"/>
                <a:cs typeface="Arial"/>
              </a:rPr>
              <a:t>1</a:t>
            </a:r>
            <a:r>
              <a:rPr sz="1000" spc="50" dirty="0">
                <a:latin typeface="Arial"/>
                <a:cs typeface="Arial"/>
              </a:rPr>
              <a:t>)</a:t>
            </a:r>
            <a:endParaRPr sz="1000" dirty="0">
              <a:latin typeface="Arial"/>
              <a:cs typeface="Arial"/>
            </a:endParaRPr>
          </a:p>
        </p:txBody>
      </p:sp>
      <p:sp>
        <p:nvSpPr>
          <p:cNvPr id="18" name="object 18"/>
          <p:cNvSpPr/>
          <p:nvPr/>
        </p:nvSpPr>
        <p:spPr>
          <a:xfrm>
            <a:off x="2879949" y="1703322"/>
            <a:ext cx="1553845" cy="1136015"/>
          </a:xfrm>
          <a:custGeom>
            <a:avLst/>
            <a:gdLst/>
            <a:ahLst/>
            <a:cxnLst/>
            <a:rect l="l" t="t" r="r" b="b"/>
            <a:pathLst>
              <a:path w="1553845" h="1136014">
                <a:moveTo>
                  <a:pt x="0" y="1135437"/>
                </a:moveTo>
                <a:lnTo>
                  <a:pt x="1553743" y="1135437"/>
                </a:lnTo>
                <a:lnTo>
                  <a:pt x="1553743" y="3"/>
                </a:lnTo>
                <a:lnTo>
                  <a:pt x="0" y="3"/>
                </a:lnTo>
                <a:lnTo>
                  <a:pt x="0" y="1135437"/>
                </a:lnTo>
                <a:close/>
              </a:path>
              <a:path w="1553845" h="1136014">
                <a:moveTo>
                  <a:pt x="0" y="1135437"/>
                </a:moveTo>
                <a:lnTo>
                  <a:pt x="34942" y="1135437"/>
                </a:lnTo>
              </a:path>
              <a:path w="1553845" h="1136014">
                <a:moveTo>
                  <a:pt x="0" y="1022002"/>
                </a:moveTo>
                <a:lnTo>
                  <a:pt x="34942" y="1022002"/>
                </a:lnTo>
              </a:path>
              <a:path w="1553845" h="1136014">
                <a:moveTo>
                  <a:pt x="0" y="908571"/>
                </a:moveTo>
                <a:lnTo>
                  <a:pt x="34942" y="908571"/>
                </a:lnTo>
              </a:path>
              <a:path w="1553845" h="1136014">
                <a:moveTo>
                  <a:pt x="0" y="794588"/>
                </a:moveTo>
                <a:lnTo>
                  <a:pt x="34942" y="794588"/>
                </a:lnTo>
              </a:path>
              <a:path w="1553845" h="1136014">
                <a:moveTo>
                  <a:pt x="0" y="681154"/>
                </a:moveTo>
                <a:lnTo>
                  <a:pt x="34942" y="681154"/>
                </a:lnTo>
              </a:path>
              <a:path w="1553845" h="1136014">
                <a:moveTo>
                  <a:pt x="0" y="567718"/>
                </a:moveTo>
                <a:lnTo>
                  <a:pt x="34942" y="567718"/>
                </a:lnTo>
              </a:path>
              <a:path w="1553845" h="1136014">
                <a:moveTo>
                  <a:pt x="0" y="454287"/>
                </a:moveTo>
                <a:lnTo>
                  <a:pt x="34942" y="454287"/>
                </a:lnTo>
              </a:path>
              <a:path w="1553845" h="1136014">
                <a:moveTo>
                  <a:pt x="0" y="340852"/>
                </a:moveTo>
                <a:lnTo>
                  <a:pt x="34942" y="340852"/>
                </a:lnTo>
              </a:path>
              <a:path w="1553845" h="1136014">
                <a:moveTo>
                  <a:pt x="0" y="226873"/>
                </a:moveTo>
                <a:lnTo>
                  <a:pt x="34942" y="226873"/>
                </a:lnTo>
              </a:path>
              <a:path w="1553845" h="1136014">
                <a:moveTo>
                  <a:pt x="0" y="113431"/>
                </a:moveTo>
                <a:lnTo>
                  <a:pt x="34942" y="113431"/>
                </a:lnTo>
              </a:path>
              <a:path w="1553845" h="1136014">
                <a:moveTo>
                  <a:pt x="0" y="0"/>
                </a:moveTo>
                <a:lnTo>
                  <a:pt x="34942" y="0"/>
                </a:lnTo>
              </a:path>
              <a:path w="1553845" h="1136014">
                <a:moveTo>
                  <a:pt x="0" y="1135437"/>
                </a:moveTo>
                <a:lnTo>
                  <a:pt x="0" y="1100911"/>
                </a:lnTo>
              </a:path>
              <a:path w="1553845" h="1136014">
                <a:moveTo>
                  <a:pt x="310639" y="1135437"/>
                </a:moveTo>
                <a:lnTo>
                  <a:pt x="310639" y="1100911"/>
                </a:lnTo>
              </a:path>
              <a:path w="1553845" h="1136014">
                <a:moveTo>
                  <a:pt x="621277" y="1135437"/>
                </a:moveTo>
                <a:lnTo>
                  <a:pt x="621277" y="1100911"/>
                </a:lnTo>
              </a:path>
              <a:path w="1553845" h="1136014">
                <a:moveTo>
                  <a:pt x="932470" y="1135437"/>
                </a:moveTo>
                <a:lnTo>
                  <a:pt x="932470" y="1100911"/>
                </a:lnTo>
              </a:path>
              <a:path w="1553845" h="1136014">
                <a:moveTo>
                  <a:pt x="1243113" y="1135437"/>
                </a:moveTo>
                <a:lnTo>
                  <a:pt x="1243113" y="1100911"/>
                </a:lnTo>
              </a:path>
              <a:path w="1553845" h="1136014">
                <a:moveTo>
                  <a:pt x="1553746" y="1135437"/>
                </a:moveTo>
                <a:lnTo>
                  <a:pt x="1553746" y="1100911"/>
                </a:lnTo>
              </a:path>
              <a:path w="1553845" h="1136014">
                <a:moveTo>
                  <a:pt x="0" y="1135437"/>
                </a:moveTo>
                <a:lnTo>
                  <a:pt x="1553743" y="1135437"/>
                </a:lnTo>
                <a:lnTo>
                  <a:pt x="1553743" y="3"/>
                </a:lnTo>
                <a:lnTo>
                  <a:pt x="0" y="3"/>
                </a:lnTo>
                <a:lnTo>
                  <a:pt x="0" y="1135437"/>
                </a:lnTo>
                <a:close/>
              </a:path>
              <a:path w="1553845" h="1136014">
                <a:moveTo>
                  <a:pt x="0" y="0"/>
                </a:moveTo>
                <a:lnTo>
                  <a:pt x="62126" y="0"/>
                </a:lnTo>
                <a:lnTo>
                  <a:pt x="124252" y="548"/>
                </a:lnTo>
                <a:lnTo>
                  <a:pt x="186382" y="1106"/>
                </a:lnTo>
                <a:lnTo>
                  <a:pt x="248508" y="1654"/>
                </a:lnTo>
                <a:lnTo>
                  <a:pt x="310639" y="3836"/>
                </a:lnTo>
                <a:lnTo>
                  <a:pt x="372764" y="7125"/>
                </a:lnTo>
                <a:lnTo>
                  <a:pt x="434894" y="14251"/>
                </a:lnTo>
                <a:lnTo>
                  <a:pt x="497024" y="28502"/>
                </a:lnTo>
                <a:lnTo>
                  <a:pt x="559150" y="56447"/>
                </a:lnTo>
                <a:lnTo>
                  <a:pt x="621277" y="110153"/>
                </a:lnTo>
                <a:lnTo>
                  <a:pt x="683406" y="208247"/>
                </a:lnTo>
                <a:lnTo>
                  <a:pt x="745533" y="374290"/>
                </a:lnTo>
                <a:lnTo>
                  <a:pt x="808223" y="615955"/>
                </a:lnTo>
                <a:lnTo>
                  <a:pt x="870341" y="882811"/>
                </a:lnTo>
                <a:lnTo>
                  <a:pt x="932470" y="1067484"/>
                </a:lnTo>
                <a:lnTo>
                  <a:pt x="994599" y="1128861"/>
                </a:lnTo>
                <a:lnTo>
                  <a:pt x="1056727" y="1135437"/>
                </a:lnTo>
                <a:lnTo>
                  <a:pt x="1491628" y="1135437"/>
                </a:lnTo>
              </a:path>
              <a:path w="1553845" h="1136014">
                <a:moveTo>
                  <a:pt x="0" y="0"/>
                </a:moveTo>
                <a:lnTo>
                  <a:pt x="124252" y="0"/>
                </a:lnTo>
                <a:lnTo>
                  <a:pt x="186382" y="548"/>
                </a:lnTo>
                <a:lnTo>
                  <a:pt x="248508" y="1106"/>
                </a:lnTo>
                <a:lnTo>
                  <a:pt x="310639" y="1654"/>
                </a:lnTo>
                <a:lnTo>
                  <a:pt x="372764" y="3836"/>
                </a:lnTo>
                <a:lnTo>
                  <a:pt x="434894" y="7125"/>
                </a:lnTo>
                <a:lnTo>
                  <a:pt x="497024" y="14251"/>
                </a:lnTo>
                <a:lnTo>
                  <a:pt x="559150" y="28502"/>
                </a:lnTo>
                <a:lnTo>
                  <a:pt x="621277" y="55898"/>
                </a:lnTo>
                <a:lnTo>
                  <a:pt x="683406" y="107960"/>
                </a:lnTo>
                <a:lnTo>
                  <a:pt x="745533" y="201122"/>
                </a:lnTo>
                <a:lnTo>
                  <a:pt x="808223" y="352916"/>
                </a:lnTo>
                <a:lnTo>
                  <a:pt x="870341" y="562250"/>
                </a:lnTo>
                <a:lnTo>
                  <a:pt x="932470" y="785817"/>
                </a:lnTo>
                <a:lnTo>
                  <a:pt x="994599" y="960625"/>
                </a:lnTo>
                <a:lnTo>
                  <a:pt x="1056727" y="1060362"/>
                </a:lnTo>
                <a:lnTo>
                  <a:pt x="1118856" y="1105848"/>
                </a:lnTo>
                <a:lnTo>
                  <a:pt x="1180985" y="1124481"/>
                </a:lnTo>
                <a:lnTo>
                  <a:pt x="1243113" y="1131056"/>
                </a:lnTo>
                <a:lnTo>
                  <a:pt x="1305242" y="1133795"/>
                </a:lnTo>
                <a:lnTo>
                  <a:pt x="1367371" y="1134894"/>
                </a:lnTo>
                <a:lnTo>
                  <a:pt x="1429499" y="1135441"/>
                </a:lnTo>
                <a:lnTo>
                  <a:pt x="1491628" y="1135441"/>
                </a:lnTo>
              </a:path>
              <a:path w="1553845" h="1136014">
                <a:moveTo>
                  <a:pt x="0" y="0"/>
                </a:moveTo>
                <a:lnTo>
                  <a:pt x="124252" y="0"/>
                </a:lnTo>
                <a:lnTo>
                  <a:pt x="186382" y="548"/>
                </a:lnTo>
                <a:lnTo>
                  <a:pt x="248508" y="1106"/>
                </a:lnTo>
                <a:lnTo>
                  <a:pt x="310639" y="1654"/>
                </a:lnTo>
                <a:lnTo>
                  <a:pt x="372764" y="3836"/>
                </a:lnTo>
                <a:lnTo>
                  <a:pt x="434894" y="7125"/>
                </a:lnTo>
                <a:lnTo>
                  <a:pt x="497024" y="14251"/>
                </a:lnTo>
                <a:lnTo>
                  <a:pt x="559150" y="28502"/>
                </a:lnTo>
                <a:lnTo>
                  <a:pt x="621277" y="56447"/>
                </a:lnTo>
                <a:lnTo>
                  <a:pt x="683406" y="110701"/>
                </a:lnTo>
                <a:lnTo>
                  <a:pt x="745533" y="210440"/>
                </a:lnTo>
                <a:lnTo>
                  <a:pt x="808223" y="381414"/>
                </a:lnTo>
                <a:lnTo>
                  <a:pt x="870341" y="635135"/>
                </a:lnTo>
                <a:lnTo>
                  <a:pt x="932470" y="915147"/>
                </a:lnTo>
                <a:lnTo>
                  <a:pt x="994599" y="1092692"/>
                </a:lnTo>
                <a:lnTo>
                  <a:pt x="1056727" y="1133795"/>
                </a:lnTo>
                <a:lnTo>
                  <a:pt x="1118856" y="1135437"/>
                </a:lnTo>
                <a:lnTo>
                  <a:pt x="1491628" y="1135437"/>
                </a:lnTo>
              </a:path>
            </a:pathLst>
          </a:custGeom>
          <a:ln w="5270">
            <a:solidFill>
              <a:srgbClr val="000000"/>
            </a:solidFill>
          </a:ln>
        </p:spPr>
        <p:txBody>
          <a:bodyPr wrap="square" lIns="0" tIns="0" rIns="0" bIns="0" rtlCol="0"/>
          <a:lstStyle/>
          <a:p>
            <a:endParaRPr/>
          </a:p>
        </p:txBody>
      </p:sp>
      <p:sp>
        <p:nvSpPr>
          <p:cNvPr id="19" name="object 19"/>
          <p:cNvSpPr txBox="1"/>
          <p:nvPr/>
        </p:nvSpPr>
        <p:spPr>
          <a:xfrm>
            <a:off x="3843961" y="2057804"/>
            <a:ext cx="208279"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push</a:t>
            </a:r>
            <a:endParaRPr sz="650">
              <a:latin typeface="Arial"/>
              <a:cs typeface="Arial"/>
            </a:endParaRPr>
          </a:p>
        </p:txBody>
      </p:sp>
      <p:sp>
        <p:nvSpPr>
          <p:cNvPr id="20" name="object 20"/>
          <p:cNvSpPr txBox="1"/>
          <p:nvPr/>
        </p:nvSpPr>
        <p:spPr>
          <a:xfrm>
            <a:off x="3952764" y="2413003"/>
            <a:ext cx="15684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pull</a:t>
            </a:r>
            <a:endParaRPr sz="650">
              <a:latin typeface="Arial"/>
              <a:cs typeface="Arial"/>
            </a:endParaRPr>
          </a:p>
        </p:txBody>
      </p:sp>
      <p:sp>
        <p:nvSpPr>
          <p:cNvPr id="21" name="object 21"/>
          <p:cNvSpPr txBox="1"/>
          <p:nvPr/>
        </p:nvSpPr>
        <p:spPr>
          <a:xfrm>
            <a:off x="3114635" y="2285461"/>
            <a:ext cx="36766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push-pull</a:t>
            </a:r>
            <a:endParaRPr sz="650">
              <a:latin typeface="Arial"/>
              <a:cs typeface="Arial"/>
            </a:endParaRPr>
          </a:p>
        </p:txBody>
      </p:sp>
      <p:sp>
        <p:nvSpPr>
          <p:cNvPr id="22" name="object 22"/>
          <p:cNvSpPr/>
          <p:nvPr/>
        </p:nvSpPr>
        <p:spPr>
          <a:xfrm>
            <a:off x="3524458" y="2181405"/>
            <a:ext cx="491490" cy="511809"/>
          </a:xfrm>
          <a:custGeom>
            <a:avLst/>
            <a:gdLst/>
            <a:ahLst/>
            <a:cxnLst/>
            <a:rect l="l" t="t" r="r" b="b"/>
            <a:pathLst>
              <a:path w="491489" h="511810">
                <a:moveTo>
                  <a:pt x="371404" y="0"/>
                </a:moveTo>
                <a:lnTo>
                  <a:pt x="234803" y="116441"/>
                </a:lnTo>
              </a:path>
              <a:path w="491489" h="511810">
                <a:moveTo>
                  <a:pt x="490929" y="358558"/>
                </a:moveTo>
                <a:lnTo>
                  <a:pt x="313998" y="511481"/>
                </a:lnTo>
              </a:path>
              <a:path w="491489" h="511810">
                <a:moveTo>
                  <a:pt x="0" y="179843"/>
                </a:moveTo>
                <a:lnTo>
                  <a:pt x="173286" y="179024"/>
                </a:lnTo>
              </a:path>
            </a:pathLst>
          </a:custGeom>
          <a:ln w="5270">
            <a:solidFill>
              <a:srgbClr val="000000"/>
            </a:solidFill>
          </a:ln>
        </p:spPr>
        <p:txBody>
          <a:bodyPr wrap="square" lIns="0" tIns="0" rIns="0" bIns="0" rtlCol="0"/>
          <a:lstStyle/>
          <a:p>
            <a:endParaRPr/>
          </a:p>
        </p:txBody>
      </p:sp>
      <p:sp>
        <p:nvSpPr>
          <p:cNvPr id="23" name="object 23"/>
          <p:cNvSpPr txBox="1"/>
          <p:nvPr/>
        </p:nvSpPr>
        <p:spPr>
          <a:xfrm>
            <a:off x="4374605" y="2831312"/>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25</a:t>
            </a:r>
            <a:endParaRPr sz="650">
              <a:latin typeface="Arial"/>
              <a:cs typeface="Arial"/>
            </a:endParaRPr>
          </a:p>
        </p:txBody>
      </p:sp>
      <p:sp>
        <p:nvSpPr>
          <p:cNvPr id="37" name="object 37"/>
          <p:cNvSpPr txBox="1"/>
          <p:nvPr/>
        </p:nvSpPr>
        <p:spPr>
          <a:xfrm>
            <a:off x="66713" y="3331252"/>
            <a:ext cx="11557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Information dissemination models</a:t>
            </a:r>
            <a:endParaRPr sz="600">
              <a:latin typeface="Arial"/>
              <a:cs typeface="Arial"/>
            </a:endParaRPr>
          </a:p>
        </p:txBody>
      </p:sp>
      <p:sp>
        <p:nvSpPr>
          <p:cNvPr id="38" name="object 3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43</a:t>
            </a:r>
            <a:r>
              <a:rPr spc="-40" dirty="0"/>
              <a:t> </a:t>
            </a:r>
            <a:r>
              <a:rPr spc="-5" dirty="0"/>
              <a:t>/</a:t>
            </a:r>
            <a:r>
              <a:rPr spc="-35" dirty="0"/>
              <a:t> </a:t>
            </a:r>
            <a:r>
              <a:rPr spc="-5" dirty="0"/>
              <a:t>49</a:t>
            </a:r>
          </a:p>
        </p:txBody>
      </p:sp>
      <p:sp>
        <p:nvSpPr>
          <p:cNvPr id="24" name="object 24"/>
          <p:cNvSpPr txBox="1"/>
          <p:nvPr/>
        </p:nvSpPr>
        <p:spPr>
          <a:xfrm>
            <a:off x="2803227" y="2832428"/>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a:t>
            </a:r>
            <a:endParaRPr sz="650">
              <a:latin typeface="Arial"/>
              <a:cs typeface="Arial"/>
            </a:endParaRPr>
          </a:p>
        </p:txBody>
      </p:sp>
      <p:sp>
        <p:nvSpPr>
          <p:cNvPr id="25" name="object 25"/>
          <p:cNvSpPr txBox="1"/>
          <p:nvPr/>
        </p:nvSpPr>
        <p:spPr>
          <a:xfrm>
            <a:off x="3154469" y="2831312"/>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5</a:t>
            </a:r>
            <a:endParaRPr sz="650">
              <a:latin typeface="Arial"/>
              <a:cs typeface="Arial"/>
            </a:endParaRPr>
          </a:p>
        </p:txBody>
      </p:sp>
      <p:sp>
        <p:nvSpPr>
          <p:cNvPr id="26" name="object 26"/>
          <p:cNvSpPr txBox="1"/>
          <p:nvPr/>
        </p:nvSpPr>
        <p:spPr>
          <a:xfrm>
            <a:off x="3439327" y="2831312"/>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10</a:t>
            </a:r>
            <a:endParaRPr sz="650">
              <a:latin typeface="Arial"/>
              <a:cs typeface="Arial"/>
            </a:endParaRPr>
          </a:p>
        </p:txBody>
      </p:sp>
      <p:sp>
        <p:nvSpPr>
          <p:cNvPr id="27" name="object 27"/>
          <p:cNvSpPr txBox="1"/>
          <p:nvPr/>
        </p:nvSpPr>
        <p:spPr>
          <a:xfrm>
            <a:off x="3749738" y="2831312"/>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15</a:t>
            </a:r>
            <a:endParaRPr sz="650">
              <a:latin typeface="Arial"/>
              <a:cs typeface="Arial"/>
            </a:endParaRPr>
          </a:p>
        </p:txBody>
      </p:sp>
      <p:sp>
        <p:nvSpPr>
          <p:cNvPr id="28" name="object 28"/>
          <p:cNvSpPr txBox="1"/>
          <p:nvPr/>
        </p:nvSpPr>
        <p:spPr>
          <a:xfrm>
            <a:off x="4064190" y="2831312"/>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20</a:t>
            </a:r>
            <a:endParaRPr sz="650">
              <a:latin typeface="Arial"/>
              <a:cs typeface="Arial"/>
            </a:endParaRPr>
          </a:p>
        </p:txBody>
      </p:sp>
      <p:sp>
        <p:nvSpPr>
          <p:cNvPr id="29" name="object 29"/>
          <p:cNvSpPr txBox="1"/>
          <p:nvPr/>
        </p:nvSpPr>
        <p:spPr>
          <a:xfrm>
            <a:off x="2719212" y="1635414"/>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1.0</a:t>
            </a:r>
            <a:endParaRPr sz="650">
              <a:latin typeface="Arial"/>
              <a:cs typeface="Arial"/>
            </a:endParaRPr>
          </a:p>
        </p:txBody>
      </p:sp>
      <p:sp>
        <p:nvSpPr>
          <p:cNvPr id="30" name="object 30"/>
          <p:cNvSpPr txBox="1"/>
          <p:nvPr/>
        </p:nvSpPr>
        <p:spPr>
          <a:xfrm>
            <a:off x="2718874" y="1862503"/>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0.8</a:t>
            </a:r>
            <a:endParaRPr sz="650">
              <a:latin typeface="Arial"/>
              <a:cs typeface="Arial"/>
            </a:endParaRPr>
          </a:p>
        </p:txBody>
      </p:sp>
      <p:sp>
        <p:nvSpPr>
          <p:cNvPr id="31" name="object 31"/>
          <p:cNvSpPr txBox="1"/>
          <p:nvPr/>
        </p:nvSpPr>
        <p:spPr>
          <a:xfrm>
            <a:off x="2718960" y="2089592"/>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0.6</a:t>
            </a:r>
            <a:endParaRPr sz="650">
              <a:latin typeface="Arial"/>
              <a:cs typeface="Arial"/>
            </a:endParaRPr>
          </a:p>
        </p:txBody>
      </p:sp>
      <p:sp>
        <p:nvSpPr>
          <p:cNvPr id="32" name="object 32"/>
          <p:cNvSpPr txBox="1"/>
          <p:nvPr/>
        </p:nvSpPr>
        <p:spPr>
          <a:xfrm>
            <a:off x="2719212" y="2316684"/>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0.4</a:t>
            </a:r>
            <a:endParaRPr sz="650">
              <a:latin typeface="Arial"/>
              <a:cs typeface="Arial"/>
            </a:endParaRPr>
          </a:p>
        </p:txBody>
      </p:sp>
      <p:sp>
        <p:nvSpPr>
          <p:cNvPr id="33" name="object 33"/>
          <p:cNvSpPr txBox="1"/>
          <p:nvPr/>
        </p:nvSpPr>
        <p:spPr>
          <a:xfrm>
            <a:off x="2719632" y="2543769"/>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0.2</a:t>
            </a:r>
            <a:endParaRPr sz="650">
              <a:latin typeface="Arial"/>
              <a:cs typeface="Arial"/>
            </a:endParaRPr>
          </a:p>
        </p:txBody>
      </p:sp>
      <p:sp>
        <p:nvSpPr>
          <p:cNvPr id="34" name="object 34"/>
          <p:cNvSpPr txBox="1"/>
          <p:nvPr/>
        </p:nvSpPr>
        <p:spPr>
          <a:xfrm>
            <a:off x="2606166" y="1793696"/>
            <a:ext cx="109855" cy="1024255"/>
          </a:xfrm>
          <a:prstGeom prst="rect">
            <a:avLst/>
          </a:prstGeom>
        </p:spPr>
        <p:txBody>
          <a:bodyPr vert="vert270" wrap="square" lIns="0" tIns="0" rIns="0" bIns="0" rtlCol="0">
            <a:spAutoFit/>
          </a:bodyPr>
          <a:lstStyle/>
          <a:p>
            <a:pPr marL="12700">
              <a:lnSpc>
                <a:spcPts val="745"/>
              </a:lnSpc>
            </a:pPr>
            <a:r>
              <a:rPr sz="650" spc="5" dirty="0">
                <a:latin typeface="Arial"/>
                <a:cs typeface="Arial"/>
              </a:rPr>
              <a:t>Probability</a:t>
            </a:r>
            <a:r>
              <a:rPr sz="650" spc="-20" dirty="0">
                <a:latin typeface="Arial"/>
                <a:cs typeface="Arial"/>
              </a:rPr>
              <a:t> </a:t>
            </a:r>
            <a:r>
              <a:rPr sz="650" spc="5" dirty="0">
                <a:latin typeface="Arial"/>
                <a:cs typeface="Arial"/>
              </a:rPr>
              <a:t>not</a:t>
            </a:r>
            <a:r>
              <a:rPr sz="650" spc="-20" dirty="0">
                <a:latin typeface="Arial"/>
                <a:cs typeface="Arial"/>
              </a:rPr>
              <a:t> </a:t>
            </a:r>
            <a:r>
              <a:rPr sz="650" spc="5" dirty="0">
                <a:latin typeface="Arial"/>
                <a:cs typeface="Arial"/>
              </a:rPr>
              <a:t>yet</a:t>
            </a:r>
            <a:r>
              <a:rPr sz="650" spc="-20" dirty="0">
                <a:latin typeface="Arial"/>
                <a:cs typeface="Arial"/>
              </a:rPr>
              <a:t> </a:t>
            </a:r>
            <a:r>
              <a:rPr sz="650" spc="5" dirty="0">
                <a:latin typeface="Arial"/>
                <a:cs typeface="Arial"/>
              </a:rPr>
              <a:t>updated</a:t>
            </a:r>
            <a:endParaRPr sz="650">
              <a:latin typeface="Arial"/>
              <a:cs typeface="Arial"/>
            </a:endParaRPr>
          </a:p>
        </p:txBody>
      </p:sp>
      <p:sp>
        <p:nvSpPr>
          <p:cNvPr id="35" name="object 35"/>
          <p:cNvSpPr txBox="1"/>
          <p:nvPr/>
        </p:nvSpPr>
        <p:spPr>
          <a:xfrm>
            <a:off x="3519627" y="2950746"/>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Round</a:t>
            </a:r>
            <a:endParaRPr sz="650">
              <a:latin typeface="Arial"/>
              <a:cs typeface="Arial"/>
            </a:endParaRPr>
          </a:p>
        </p:txBody>
      </p:sp>
      <p:sp>
        <p:nvSpPr>
          <p:cNvPr id="36" name="object 36"/>
          <p:cNvSpPr txBox="1"/>
          <p:nvPr/>
        </p:nvSpPr>
        <p:spPr>
          <a:xfrm>
            <a:off x="3936515" y="1726693"/>
            <a:ext cx="440690" cy="127000"/>
          </a:xfrm>
          <a:prstGeom prst="rect">
            <a:avLst/>
          </a:prstGeom>
        </p:spPr>
        <p:txBody>
          <a:bodyPr vert="horz" wrap="square" lIns="0" tIns="13970" rIns="0" bIns="0" rtlCol="0">
            <a:spAutoFit/>
          </a:bodyPr>
          <a:lstStyle/>
          <a:p>
            <a:pPr marL="12700">
              <a:lnSpc>
                <a:spcPct val="100000"/>
              </a:lnSpc>
              <a:spcBef>
                <a:spcPts val="110"/>
              </a:spcBef>
            </a:pPr>
            <a:r>
              <a:rPr sz="650" spc="10" dirty="0">
                <a:latin typeface="Arial"/>
                <a:cs typeface="Arial"/>
              </a:rPr>
              <a:t>N</a:t>
            </a:r>
            <a:r>
              <a:rPr sz="650" spc="-35" dirty="0">
                <a:latin typeface="Arial"/>
                <a:cs typeface="Arial"/>
              </a:rPr>
              <a:t> </a:t>
            </a:r>
            <a:r>
              <a:rPr sz="650" spc="5" dirty="0">
                <a:latin typeface="Arial"/>
                <a:cs typeface="Arial"/>
              </a:rPr>
              <a:t>=</a:t>
            </a:r>
            <a:r>
              <a:rPr sz="650" spc="-30" dirty="0">
                <a:latin typeface="Arial"/>
                <a:cs typeface="Arial"/>
              </a:rPr>
              <a:t> </a:t>
            </a:r>
            <a:r>
              <a:rPr sz="650" spc="5" dirty="0">
                <a:latin typeface="Arial"/>
                <a:cs typeface="Arial"/>
              </a:rPr>
              <a:t>10,000</a:t>
            </a:r>
            <a:endParaRPr sz="650">
              <a:latin typeface="Arial"/>
              <a:cs typeface="Arial"/>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Multicast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communication</a:t>
            </a:r>
            <a:endParaRPr sz="600">
              <a:latin typeface="Arial"/>
              <a:cs typeface="Arial"/>
            </a:endParaRPr>
          </a:p>
        </p:txBody>
      </p:sp>
      <p:sp>
        <p:nvSpPr>
          <p:cNvPr id="3" name="object 3"/>
          <p:cNvSpPr txBox="1"/>
          <p:nvPr/>
        </p:nvSpPr>
        <p:spPr>
          <a:xfrm>
            <a:off x="3393559" y="716"/>
            <a:ext cx="11480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Gossip-based data</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dissemination</a:t>
            </a:r>
            <a:endParaRPr sz="600">
              <a:latin typeface="Arial"/>
              <a:cs typeface="Arial"/>
            </a:endParaRPr>
          </a:p>
        </p:txBody>
      </p:sp>
      <p:sp>
        <p:nvSpPr>
          <p:cNvPr id="4" name="object 4"/>
          <p:cNvSpPr txBox="1"/>
          <p:nvPr/>
        </p:nvSpPr>
        <p:spPr>
          <a:xfrm>
            <a:off x="95300" y="188846"/>
            <a:ext cx="207518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Anti-entropy</a:t>
            </a:r>
            <a:r>
              <a:rPr sz="1400" spc="-45" dirty="0">
                <a:solidFill>
                  <a:srgbClr val="3333B2"/>
                </a:solidFill>
                <a:latin typeface="Arial"/>
                <a:cs typeface="Arial"/>
              </a:rPr>
              <a:t> </a:t>
            </a:r>
            <a:r>
              <a:rPr sz="1400" spc="15" dirty="0">
                <a:solidFill>
                  <a:srgbClr val="3333B2"/>
                </a:solidFill>
                <a:latin typeface="Arial"/>
                <a:cs typeface="Arial"/>
              </a:rPr>
              <a:t>performance</a:t>
            </a:r>
            <a:endParaRPr sz="1400">
              <a:latin typeface="Arial"/>
              <a:cs typeface="Arial"/>
            </a:endParaRPr>
          </a:p>
        </p:txBody>
      </p:sp>
      <p:sp>
        <p:nvSpPr>
          <p:cNvPr id="5" name="object 5"/>
          <p:cNvSpPr/>
          <p:nvPr/>
        </p:nvSpPr>
        <p:spPr>
          <a:xfrm>
            <a:off x="1632657" y="1178329"/>
            <a:ext cx="1553845" cy="1136015"/>
          </a:xfrm>
          <a:custGeom>
            <a:avLst/>
            <a:gdLst/>
            <a:ahLst/>
            <a:cxnLst/>
            <a:rect l="l" t="t" r="r" b="b"/>
            <a:pathLst>
              <a:path w="1553845" h="1136014">
                <a:moveTo>
                  <a:pt x="0" y="1135437"/>
                </a:moveTo>
                <a:lnTo>
                  <a:pt x="1553743" y="1135437"/>
                </a:lnTo>
                <a:lnTo>
                  <a:pt x="1553743" y="3"/>
                </a:lnTo>
                <a:lnTo>
                  <a:pt x="0" y="3"/>
                </a:lnTo>
                <a:lnTo>
                  <a:pt x="0" y="1135437"/>
                </a:lnTo>
                <a:close/>
              </a:path>
              <a:path w="1553845" h="1136014">
                <a:moveTo>
                  <a:pt x="0" y="1135437"/>
                </a:moveTo>
                <a:lnTo>
                  <a:pt x="34942" y="1135437"/>
                </a:lnTo>
              </a:path>
              <a:path w="1553845" h="1136014">
                <a:moveTo>
                  <a:pt x="0" y="1022002"/>
                </a:moveTo>
                <a:lnTo>
                  <a:pt x="34942" y="1022002"/>
                </a:lnTo>
              </a:path>
              <a:path w="1553845" h="1136014">
                <a:moveTo>
                  <a:pt x="0" y="908571"/>
                </a:moveTo>
                <a:lnTo>
                  <a:pt x="34942" y="908571"/>
                </a:lnTo>
              </a:path>
              <a:path w="1553845" h="1136014">
                <a:moveTo>
                  <a:pt x="0" y="794588"/>
                </a:moveTo>
                <a:lnTo>
                  <a:pt x="34942" y="794588"/>
                </a:lnTo>
              </a:path>
              <a:path w="1553845" h="1136014">
                <a:moveTo>
                  <a:pt x="0" y="681154"/>
                </a:moveTo>
                <a:lnTo>
                  <a:pt x="34942" y="681154"/>
                </a:lnTo>
              </a:path>
              <a:path w="1553845" h="1136014">
                <a:moveTo>
                  <a:pt x="0" y="567718"/>
                </a:moveTo>
                <a:lnTo>
                  <a:pt x="34942" y="567718"/>
                </a:lnTo>
              </a:path>
              <a:path w="1553845" h="1136014">
                <a:moveTo>
                  <a:pt x="0" y="454287"/>
                </a:moveTo>
                <a:lnTo>
                  <a:pt x="34942" y="454287"/>
                </a:lnTo>
              </a:path>
              <a:path w="1553845" h="1136014">
                <a:moveTo>
                  <a:pt x="0" y="340852"/>
                </a:moveTo>
                <a:lnTo>
                  <a:pt x="34942" y="340852"/>
                </a:lnTo>
              </a:path>
              <a:path w="1553845" h="1136014">
                <a:moveTo>
                  <a:pt x="0" y="226873"/>
                </a:moveTo>
                <a:lnTo>
                  <a:pt x="34942" y="226873"/>
                </a:lnTo>
              </a:path>
              <a:path w="1553845" h="1136014">
                <a:moveTo>
                  <a:pt x="0" y="113431"/>
                </a:moveTo>
                <a:lnTo>
                  <a:pt x="34942" y="113431"/>
                </a:lnTo>
              </a:path>
              <a:path w="1553845" h="1136014">
                <a:moveTo>
                  <a:pt x="0" y="0"/>
                </a:moveTo>
                <a:lnTo>
                  <a:pt x="34942" y="0"/>
                </a:lnTo>
              </a:path>
              <a:path w="1553845" h="1136014">
                <a:moveTo>
                  <a:pt x="0" y="1135437"/>
                </a:moveTo>
                <a:lnTo>
                  <a:pt x="0" y="1100911"/>
                </a:lnTo>
              </a:path>
              <a:path w="1553845" h="1136014">
                <a:moveTo>
                  <a:pt x="310639" y="1135437"/>
                </a:moveTo>
                <a:lnTo>
                  <a:pt x="310639" y="1100911"/>
                </a:lnTo>
              </a:path>
              <a:path w="1553845" h="1136014">
                <a:moveTo>
                  <a:pt x="621277" y="1135437"/>
                </a:moveTo>
                <a:lnTo>
                  <a:pt x="621277" y="1100911"/>
                </a:lnTo>
              </a:path>
              <a:path w="1553845" h="1136014">
                <a:moveTo>
                  <a:pt x="932470" y="1135437"/>
                </a:moveTo>
                <a:lnTo>
                  <a:pt x="932470" y="1100911"/>
                </a:lnTo>
              </a:path>
              <a:path w="1553845" h="1136014">
                <a:moveTo>
                  <a:pt x="1243113" y="1135437"/>
                </a:moveTo>
                <a:lnTo>
                  <a:pt x="1243113" y="1100911"/>
                </a:lnTo>
              </a:path>
              <a:path w="1553845" h="1136014">
                <a:moveTo>
                  <a:pt x="1553746" y="1135437"/>
                </a:moveTo>
                <a:lnTo>
                  <a:pt x="1553746" y="1100911"/>
                </a:lnTo>
              </a:path>
              <a:path w="1553845" h="1136014">
                <a:moveTo>
                  <a:pt x="0" y="1135437"/>
                </a:moveTo>
                <a:lnTo>
                  <a:pt x="1553743" y="1135437"/>
                </a:lnTo>
                <a:lnTo>
                  <a:pt x="1553743" y="3"/>
                </a:lnTo>
                <a:lnTo>
                  <a:pt x="0" y="3"/>
                </a:lnTo>
                <a:lnTo>
                  <a:pt x="0" y="1135437"/>
                </a:lnTo>
                <a:close/>
              </a:path>
              <a:path w="1553845" h="1136014">
                <a:moveTo>
                  <a:pt x="0" y="0"/>
                </a:moveTo>
                <a:lnTo>
                  <a:pt x="62126" y="0"/>
                </a:lnTo>
                <a:lnTo>
                  <a:pt x="124252" y="548"/>
                </a:lnTo>
                <a:lnTo>
                  <a:pt x="186382" y="1106"/>
                </a:lnTo>
                <a:lnTo>
                  <a:pt x="248508" y="1654"/>
                </a:lnTo>
                <a:lnTo>
                  <a:pt x="310639" y="3836"/>
                </a:lnTo>
                <a:lnTo>
                  <a:pt x="372764" y="7125"/>
                </a:lnTo>
                <a:lnTo>
                  <a:pt x="434894" y="14251"/>
                </a:lnTo>
                <a:lnTo>
                  <a:pt x="497024" y="28502"/>
                </a:lnTo>
                <a:lnTo>
                  <a:pt x="559150" y="56447"/>
                </a:lnTo>
                <a:lnTo>
                  <a:pt x="621277" y="110153"/>
                </a:lnTo>
                <a:lnTo>
                  <a:pt x="683406" y="208247"/>
                </a:lnTo>
                <a:lnTo>
                  <a:pt x="745533" y="374290"/>
                </a:lnTo>
                <a:lnTo>
                  <a:pt x="808223" y="615955"/>
                </a:lnTo>
                <a:lnTo>
                  <a:pt x="870341" y="882811"/>
                </a:lnTo>
                <a:lnTo>
                  <a:pt x="932470" y="1067484"/>
                </a:lnTo>
                <a:lnTo>
                  <a:pt x="994599" y="1128861"/>
                </a:lnTo>
                <a:lnTo>
                  <a:pt x="1056727" y="1135437"/>
                </a:lnTo>
                <a:lnTo>
                  <a:pt x="1491628" y="1135437"/>
                </a:lnTo>
              </a:path>
              <a:path w="1553845" h="1136014">
                <a:moveTo>
                  <a:pt x="0" y="0"/>
                </a:moveTo>
                <a:lnTo>
                  <a:pt x="124252" y="0"/>
                </a:lnTo>
                <a:lnTo>
                  <a:pt x="186382" y="548"/>
                </a:lnTo>
                <a:lnTo>
                  <a:pt x="248508" y="1106"/>
                </a:lnTo>
                <a:lnTo>
                  <a:pt x="310639" y="1654"/>
                </a:lnTo>
                <a:lnTo>
                  <a:pt x="372764" y="3836"/>
                </a:lnTo>
                <a:lnTo>
                  <a:pt x="434894" y="7125"/>
                </a:lnTo>
                <a:lnTo>
                  <a:pt x="497024" y="14251"/>
                </a:lnTo>
                <a:lnTo>
                  <a:pt x="559150" y="28502"/>
                </a:lnTo>
                <a:lnTo>
                  <a:pt x="621277" y="55898"/>
                </a:lnTo>
                <a:lnTo>
                  <a:pt x="683406" y="107960"/>
                </a:lnTo>
                <a:lnTo>
                  <a:pt x="745533" y="201122"/>
                </a:lnTo>
                <a:lnTo>
                  <a:pt x="808223" y="352916"/>
                </a:lnTo>
                <a:lnTo>
                  <a:pt x="870341" y="562250"/>
                </a:lnTo>
                <a:lnTo>
                  <a:pt x="932470" y="785817"/>
                </a:lnTo>
                <a:lnTo>
                  <a:pt x="994599" y="960625"/>
                </a:lnTo>
                <a:lnTo>
                  <a:pt x="1056727" y="1060362"/>
                </a:lnTo>
                <a:lnTo>
                  <a:pt x="1118856" y="1105848"/>
                </a:lnTo>
                <a:lnTo>
                  <a:pt x="1180985" y="1124481"/>
                </a:lnTo>
                <a:lnTo>
                  <a:pt x="1243113" y="1131056"/>
                </a:lnTo>
                <a:lnTo>
                  <a:pt x="1305242" y="1133795"/>
                </a:lnTo>
                <a:lnTo>
                  <a:pt x="1367371" y="1134894"/>
                </a:lnTo>
                <a:lnTo>
                  <a:pt x="1429499" y="1135441"/>
                </a:lnTo>
                <a:lnTo>
                  <a:pt x="1491628" y="1135441"/>
                </a:lnTo>
              </a:path>
              <a:path w="1553845" h="1136014">
                <a:moveTo>
                  <a:pt x="0" y="0"/>
                </a:moveTo>
                <a:lnTo>
                  <a:pt x="124252" y="0"/>
                </a:lnTo>
                <a:lnTo>
                  <a:pt x="186382" y="548"/>
                </a:lnTo>
                <a:lnTo>
                  <a:pt x="248508" y="1106"/>
                </a:lnTo>
                <a:lnTo>
                  <a:pt x="310639" y="1654"/>
                </a:lnTo>
                <a:lnTo>
                  <a:pt x="372764" y="3836"/>
                </a:lnTo>
                <a:lnTo>
                  <a:pt x="434894" y="7125"/>
                </a:lnTo>
                <a:lnTo>
                  <a:pt x="497024" y="14251"/>
                </a:lnTo>
                <a:lnTo>
                  <a:pt x="559150" y="28502"/>
                </a:lnTo>
                <a:lnTo>
                  <a:pt x="621277" y="56447"/>
                </a:lnTo>
                <a:lnTo>
                  <a:pt x="683406" y="110701"/>
                </a:lnTo>
                <a:lnTo>
                  <a:pt x="745533" y="210440"/>
                </a:lnTo>
                <a:lnTo>
                  <a:pt x="808223" y="381414"/>
                </a:lnTo>
                <a:lnTo>
                  <a:pt x="870341" y="635135"/>
                </a:lnTo>
                <a:lnTo>
                  <a:pt x="932470" y="915147"/>
                </a:lnTo>
                <a:lnTo>
                  <a:pt x="994599" y="1092692"/>
                </a:lnTo>
                <a:lnTo>
                  <a:pt x="1056727" y="1133795"/>
                </a:lnTo>
                <a:lnTo>
                  <a:pt x="1118856" y="1135437"/>
                </a:lnTo>
                <a:lnTo>
                  <a:pt x="1491628" y="1135437"/>
                </a:lnTo>
              </a:path>
            </a:pathLst>
          </a:custGeom>
          <a:ln w="5270">
            <a:solidFill>
              <a:srgbClr val="000000"/>
            </a:solidFill>
          </a:ln>
        </p:spPr>
        <p:txBody>
          <a:bodyPr wrap="square" lIns="0" tIns="0" rIns="0" bIns="0" rtlCol="0"/>
          <a:lstStyle/>
          <a:p>
            <a:endParaRPr/>
          </a:p>
        </p:txBody>
      </p:sp>
      <p:sp>
        <p:nvSpPr>
          <p:cNvPr id="6" name="object 6"/>
          <p:cNvSpPr txBox="1"/>
          <p:nvPr/>
        </p:nvSpPr>
        <p:spPr>
          <a:xfrm>
            <a:off x="2596668" y="1532811"/>
            <a:ext cx="208279"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push</a:t>
            </a:r>
            <a:endParaRPr sz="650">
              <a:latin typeface="Arial"/>
              <a:cs typeface="Arial"/>
            </a:endParaRPr>
          </a:p>
        </p:txBody>
      </p:sp>
      <p:sp>
        <p:nvSpPr>
          <p:cNvPr id="7" name="object 7"/>
          <p:cNvSpPr txBox="1"/>
          <p:nvPr/>
        </p:nvSpPr>
        <p:spPr>
          <a:xfrm>
            <a:off x="2705471" y="1888010"/>
            <a:ext cx="15684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pull</a:t>
            </a:r>
            <a:endParaRPr sz="650">
              <a:latin typeface="Arial"/>
              <a:cs typeface="Arial"/>
            </a:endParaRPr>
          </a:p>
        </p:txBody>
      </p:sp>
      <p:sp>
        <p:nvSpPr>
          <p:cNvPr id="8" name="object 8"/>
          <p:cNvSpPr txBox="1"/>
          <p:nvPr/>
        </p:nvSpPr>
        <p:spPr>
          <a:xfrm>
            <a:off x="1867343" y="1760468"/>
            <a:ext cx="36766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push-pull</a:t>
            </a:r>
            <a:endParaRPr sz="650">
              <a:latin typeface="Arial"/>
              <a:cs typeface="Arial"/>
            </a:endParaRPr>
          </a:p>
        </p:txBody>
      </p:sp>
      <p:sp>
        <p:nvSpPr>
          <p:cNvPr id="9" name="object 9"/>
          <p:cNvSpPr/>
          <p:nvPr/>
        </p:nvSpPr>
        <p:spPr>
          <a:xfrm>
            <a:off x="2277165" y="1656412"/>
            <a:ext cx="491490" cy="511809"/>
          </a:xfrm>
          <a:custGeom>
            <a:avLst/>
            <a:gdLst/>
            <a:ahLst/>
            <a:cxnLst/>
            <a:rect l="l" t="t" r="r" b="b"/>
            <a:pathLst>
              <a:path w="491489" h="511810">
                <a:moveTo>
                  <a:pt x="371404" y="0"/>
                </a:moveTo>
                <a:lnTo>
                  <a:pt x="234803" y="116441"/>
                </a:lnTo>
              </a:path>
              <a:path w="491489" h="511810">
                <a:moveTo>
                  <a:pt x="490929" y="358558"/>
                </a:moveTo>
                <a:lnTo>
                  <a:pt x="313998" y="511481"/>
                </a:lnTo>
              </a:path>
              <a:path w="491489" h="511810">
                <a:moveTo>
                  <a:pt x="0" y="179843"/>
                </a:moveTo>
                <a:lnTo>
                  <a:pt x="173286" y="179024"/>
                </a:lnTo>
              </a:path>
            </a:pathLst>
          </a:custGeom>
          <a:ln w="5270">
            <a:solidFill>
              <a:srgbClr val="000000"/>
            </a:solidFill>
          </a:ln>
        </p:spPr>
        <p:txBody>
          <a:bodyPr wrap="square" lIns="0" tIns="0" rIns="0" bIns="0" rtlCol="0"/>
          <a:lstStyle/>
          <a:p>
            <a:endParaRPr/>
          </a:p>
        </p:txBody>
      </p:sp>
      <p:sp>
        <p:nvSpPr>
          <p:cNvPr id="10" name="object 10"/>
          <p:cNvSpPr txBox="1"/>
          <p:nvPr/>
        </p:nvSpPr>
        <p:spPr>
          <a:xfrm>
            <a:off x="3127313" y="2306319"/>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25</a:t>
            </a:r>
            <a:endParaRPr sz="650">
              <a:latin typeface="Arial"/>
              <a:cs typeface="Arial"/>
            </a:endParaRPr>
          </a:p>
        </p:txBody>
      </p:sp>
      <p:sp>
        <p:nvSpPr>
          <p:cNvPr id="24" name="object 24"/>
          <p:cNvSpPr txBox="1"/>
          <p:nvPr/>
        </p:nvSpPr>
        <p:spPr>
          <a:xfrm>
            <a:off x="66713" y="3331252"/>
            <a:ext cx="11557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Information dissemination models</a:t>
            </a:r>
            <a:endParaRPr sz="600">
              <a:latin typeface="Arial"/>
              <a:cs typeface="Arial"/>
            </a:endParaRPr>
          </a:p>
        </p:txBody>
      </p:sp>
      <p:sp>
        <p:nvSpPr>
          <p:cNvPr id="25" name="object 2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44</a:t>
            </a:r>
            <a:r>
              <a:rPr spc="-40" dirty="0"/>
              <a:t> </a:t>
            </a:r>
            <a:r>
              <a:rPr spc="-5" dirty="0"/>
              <a:t>/</a:t>
            </a:r>
            <a:r>
              <a:rPr spc="-35" dirty="0"/>
              <a:t> </a:t>
            </a:r>
            <a:r>
              <a:rPr spc="-5" dirty="0"/>
              <a:t>49</a:t>
            </a:r>
          </a:p>
        </p:txBody>
      </p:sp>
      <p:sp>
        <p:nvSpPr>
          <p:cNvPr id="11" name="object 11"/>
          <p:cNvSpPr txBox="1"/>
          <p:nvPr/>
        </p:nvSpPr>
        <p:spPr>
          <a:xfrm>
            <a:off x="1555934" y="2307435"/>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a:t>
            </a:r>
            <a:endParaRPr sz="650">
              <a:latin typeface="Arial"/>
              <a:cs typeface="Arial"/>
            </a:endParaRPr>
          </a:p>
        </p:txBody>
      </p:sp>
      <p:sp>
        <p:nvSpPr>
          <p:cNvPr id="12" name="object 12"/>
          <p:cNvSpPr txBox="1"/>
          <p:nvPr/>
        </p:nvSpPr>
        <p:spPr>
          <a:xfrm>
            <a:off x="1907176" y="2306319"/>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5</a:t>
            </a:r>
            <a:endParaRPr sz="650">
              <a:latin typeface="Arial"/>
              <a:cs typeface="Arial"/>
            </a:endParaRPr>
          </a:p>
        </p:txBody>
      </p:sp>
      <p:sp>
        <p:nvSpPr>
          <p:cNvPr id="13" name="object 13"/>
          <p:cNvSpPr txBox="1"/>
          <p:nvPr/>
        </p:nvSpPr>
        <p:spPr>
          <a:xfrm>
            <a:off x="2192034" y="2306319"/>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10</a:t>
            </a:r>
            <a:endParaRPr sz="650">
              <a:latin typeface="Arial"/>
              <a:cs typeface="Arial"/>
            </a:endParaRPr>
          </a:p>
        </p:txBody>
      </p:sp>
      <p:sp>
        <p:nvSpPr>
          <p:cNvPr id="14" name="object 14"/>
          <p:cNvSpPr txBox="1"/>
          <p:nvPr/>
        </p:nvSpPr>
        <p:spPr>
          <a:xfrm>
            <a:off x="2502446" y="2306319"/>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15</a:t>
            </a:r>
            <a:endParaRPr sz="650">
              <a:latin typeface="Arial"/>
              <a:cs typeface="Arial"/>
            </a:endParaRPr>
          </a:p>
        </p:txBody>
      </p:sp>
      <p:sp>
        <p:nvSpPr>
          <p:cNvPr id="15" name="object 15"/>
          <p:cNvSpPr txBox="1"/>
          <p:nvPr/>
        </p:nvSpPr>
        <p:spPr>
          <a:xfrm>
            <a:off x="2816898" y="2306319"/>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20</a:t>
            </a:r>
            <a:endParaRPr sz="650">
              <a:latin typeface="Arial"/>
              <a:cs typeface="Arial"/>
            </a:endParaRPr>
          </a:p>
        </p:txBody>
      </p:sp>
      <p:sp>
        <p:nvSpPr>
          <p:cNvPr id="16" name="object 16"/>
          <p:cNvSpPr txBox="1"/>
          <p:nvPr/>
        </p:nvSpPr>
        <p:spPr>
          <a:xfrm>
            <a:off x="1471919" y="1110422"/>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1.0</a:t>
            </a:r>
            <a:endParaRPr sz="650">
              <a:latin typeface="Arial"/>
              <a:cs typeface="Arial"/>
            </a:endParaRPr>
          </a:p>
        </p:txBody>
      </p:sp>
      <p:sp>
        <p:nvSpPr>
          <p:cNvPr id="17" name="object 17"/>
          <p:cNvSpPr txBox="1"/>
          <p:nvPr/>
        </p:nvSpPr>
        <p:spPr>
          <a:xfrm>
            <a:off x="1471582" y="1337511"/>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0.8</a:t>
            </a:r>
            <a:endParaRPr sz="650">
              <a:latin typeface="Arial"/>
              <a:cs typeface="Arial"/>
            </a:endParaRPr>
          </a:p>
        </p:txBody>
      </p:sp>
      <p:sp>
        <p:nvSpPr>
          <p:cNvPr id="18" name="object 18"/>
          <p:cNvSpPr txBox="1"/>
          <p:nvPr/>
        </p:nvSpPr>
        <p:spPr>
          <a:xfrm>
            <a:off x="1471668" y="1564600"/>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0.6</a:t>
            </a:r>
            <a:endParaRPr sz="650">
              <a:latin typeface="Arial"/>
              <a:cs typeface="Arial"/>
            </a:endParaRPr>
          </a:p>
        </p:txBody>
      </p:sp>
      <p:sp>
        <p:nvSpPr>
          <p:cNvPr id="19" name="object 19"/>
          <p:cNvSpPr txBox="1"/>
          <p:nvPr/>
        </p:nvSpPr>
        <p:spPr>
          <a:xfrm>
            <a:off x="1471919" y="1791692"/>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0.4</a:t>
            </a:r>
            <a:endParaRPr sz="650">
              <a:latin typeface="Arial"/>
              <a:cs typeface="Arial"/>
            </a:endParaRPr>
          </a:p>
        </p:txBody>
      </p:sp>
      <p:sp>
        <p:nvSpPr>
          <p:cNvPr id="20" name="object 20"/>
          <p:cNvSpPr txBox="1"/>
          <p:nvPr/>
        </p:nvSpPr>
        <p:spPr>
          <a:xfrm>
            <a:off x="1472339" y="2018776"/>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0.2</a:t>
            </a:r>
            <a:endParaRPr sz="650">
              <a:latin typeface="Arial"/>
              <a:cs typeface="Arial"/>
            </a:endParaRPr>
          </a:p>
        </p:txBody>
      </p:sp>
      <p:sp>
        <p:nvSpPr>
          <p:cNvPr id="21" name="object 21"/>
          <p:cNvSpPr txBox="1"/>
          <p:nvPr/>
        </p:nvSpPr>
        <p:spPr>
          <a:xfrm>
            <a:off x="1358873" y="1268703"/>
            <a:ext cx="109855" cy="1024255"/>
          </a:xfrm>
          <a:prstGeom prst="rect">
            <a:avLst/>
          </a:prstGeom>
        </p:spPr>
        <p:txBody>
          <a:bodyPr vert="vert270" wrap="square" lIns="0" tIns="0" rIns="0" bIns="0" rtlCol="0">
            <a:spAutoFit/>
          </a:bodyPr>
          <a:lstStyle/>
          <a:p>
            <a:pPr marL="12700">
              <a:lnSpc>
                <a:spcPts val="745"/>
              </a:lnSpc>
            </a:pPr>
            <a:r>
              <a:rPr sz="650" spc="5" dirty="0">
                <a:latin typeface="Arial"/>
                <a:cs typeface="Arial"/>
              </a:rPr>
              <a:t>Probability</a:t>
            </a:r>
            <a:r>
              <a:rPr sz="650" spc="-20" dirty="0">
                <a:latin typeface="Arial"/>
                <a:cs typeface="Arial"/>
              </a:rPr>
              <a:t> </a:t>
            </a:r>
            <a:r>
              <a:rPr sz="650" spc="5" dirty="0">
                <a:latin typeface="Arial"/>
                <a:cs typeface="Arial"/>
              </a:rPr>
              <a:t>not</a:t>
            </a:r>
            <a:r>
              <a:rPr sz="650" spc="-20" dirty="0">
                <a:latin typeface="Arial"/>
                <a:cs typeface="Arial"/>
              </a:rPr>
              <a:t> </a:t>
            </a:r>
            <a:r>
              <a:rPr sz="650" spc="5" dirty="0">
                <a:latin typeface="Arial"/>
                <a:cs typeface="Arial"/>
              </a:rPr>
              <a:t>yet</a:t>
            </a:r>
            <a:r>
              <a:rPr sz="650" spc="-20" dirty="0">
                <a:latin typeface="Arial"/>
                <a:cs typeface="Arial"/>
              </a:rPr>
              <a:t> </a:t>
            </a:r>
            <a:r>
              <a:rPr sz="650" spc="5" dirty="0">
                <a:latin typeface="Arial"/>
                <a:cs typeface="Arial"/>
              </a:rPr>
              <a:t>updated</a:t>
            </a:r>
            <a:endParaRPr sz="650">
              <a:latin typeface="Arial"/>
              <a:cs typeface="Arial"/>
            </a:endParaRPr>
          </a:p>
        </p:txBody>
      </p:sp>
      <p:sp>
        <p:nvSpPr>
          <p:cNvPr id="22" name="object 22"/>
          <p:cNvSpPr txBox="1"/>
          <p:nvPr/>
        </p:nvSpPr>
        <p:spPr>
          <a:xfrm>
            <a:off x="2272334" y="2425753"/>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Round</a:t>
            </a:r>
            <a:endParaRPr sz="650">
              <a:latin typeface="Arial"/>
              <a:cs typeface="Arial"/>
            </a:endParaRPr>
          </a:p>
        </p:txBody>
      </p:sp>
      <p:sp>
        <p:nvSpPr>
          <p:cNvPr id="23" name="object 23"/>
          <p:cNvSpPr txBox="1"/>
          <p:nvPr/>
        </p:nvSpPr>
        <p:spPr>
          <a:xfrm>
            <a:off x="2689222" y="1201701"/>
            <a:ext cx="440690" cy="127000"/>
          </a:xfrm>
          <a:prstGeom prst="rect">
            <a:avLst/>
          </a:prstGeom>
        </p:spPr>
        <p:txBody>
          <a:bodyPr vert="horz" wrap="square" lIns="0" tIns="13970" rIns="0" bIns="0" rtlCol="0">
            <a:spAutoFit/>
          </a:bodyPr>
          <a:lstStyle/>
          <a:p>
            <a:pPr marL="12700">
              <a:lnSpc>
                <a:spcPct val="100000"/>
              </a:lnSpc>
              <a:spcBef>
                <a:spcPts val="110"/>
              </a:spcBef>
            </a:pPr>
            <a:r>
              <a:rPr sz="650" spc="10" dirty="0">
                <a:latin typeface="Arial"/>
                <a:cs typeface="Arial"/>
              </a:rPr>
              <a:t>N</a:t>
            </a:r>
            <a:r>
              <a:rPr sz="650" spc="-35" dirty="0">
                <a:latin typeface="Arial"/>
                <a:cs typeface="Arial"/>
              </a:rPr>
              <a:t> </a:t>
            </a:r>
            <a:r>
              <a:rPr sz="650" spc="5" dirty="0">
                <a:latin typeface="Arial"/>
                <a:cs typeface="Arial"/>
              </a:rPr>
              <a:t>=</a:t>
            </a:r>
            <a:r>
              <a:rPr sz="650" spc="-30" dirty="0">
                <a:latin typeface="Arial"/>
                <a:cs typeface="Arial"/>
              </a:rPr>
              <a:t> </a:t>
            </a:r>
            <a:r>
              <a:rPr sz="650" spc="5" dirty="0">
                <a:latin typeface="Arial"/>
                <a:cs typeface="Arial"/>
              </a:rPr>
              <a:t>10,000</a:t>
            </a:r>
            <a:endParaRPr sz="650">
              <a:latin typeface="Arial"/>
              <a:cs typeface="Arial"/>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11557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Information dissemination models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45</a:t>
            </a:r>
            <a:r>
              <a:rPr spc="-40" dirty="0"/>
              <a:t> </a:t>
            </a:r>
            <a:r>
              <a:rPr spc="-5" dirty="0"/>
              <a:t>/</a:t>
            </a:r>
            <a:r>
              <a:rPr spc="-35" dirty="0"/>
              <a:t> </a:t>
            </a:r>
            <a:r>
              <a:rPr spc="-5" dirty="0"/>
              <a:t>49</a:t>
            </a:r>
          </a:p>
        </p:txBody>
      </p:sp>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5" action="ppaction://hlinksldjump"/>
              </a:rPr>
              <a:t>Multicast</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endParaRPr sz="600">
              <a:latin typeface="Arial"/>
              <a:cs typeface="Arial"/>
            </a:endParaRPr>
          </a:p>
        </p:txBody>
      </p:sp>
      <p:sp>
        <p:nvSpPr>
          <p:cNvPr id="3" name="object 3"/>
          <p:cNvSpPr txBox="1"/>
          <p:nvPr/>
        </p:nvSpPr>
        <p:spPr>
          <a:xfrm>
            <a:off x="3393559" y="716"/>
            <a:ext cx="11480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Gossip-based data</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dissemination</a:t>
            </a:r>
            <a:endParaRPr sz="600">
              <a:latin typeface="Arial"/>
              <a:cs typeface="Arial"/>
            </a:endParaRPr>
          </a:p>
        </p:txBody>
      </p:sp>
      <p:sp>
        <p:nvSpPr>
          <p:cNvPr id="4" name="object 4"/>
          <p:cNvSpPr txBox="1"/>
          <p:nvPr/>
        </p:nvSpPr>
        <p:spPr>
          <a:xfrm>
            <a:off x="95300" y="188846"/>
            <a:ext cx="142303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Rumor</a:t>
            </a:r>
            <a:r>
              <a:rPr sz="1400" spc="-60" dirty="0">
                <a:solidFill>
                  <a:srgbClr val="3333B2"/>
                </a:solidFill>
                <a:latin typeface="Arial"/>
                <a:cs typeface="Arial"/>
              </a:rPr>
              <a:t> </a:t>
            </a:r>
            <a:r>
              <a:rPr sz="1400" spc="15" dirty="0">
                <a:solidFill>
                  <a:srgbClr val="3333B2"/>
                </a:solidFill>
                <a:latin typeface="Arial"/>
                <a:cs typeface="Arial"/>
              </a:rPr>
              <a:t>spreading</a:t>
            </a:r>
            <a:endParaRPr sz="1400" dirty="0">
              <a:latin typeface="Arial"/>
              <a:cs typeface="Arial"/>
            </a:endParaRPr>
          </a:p>
        </p:txBody>
      </p:sp>
      <p:sp>
        <p:nvSpPr>
          <p:cNvPr id="5" name="object 5"/>
          <p:cNvSpPr txBox="1"/>
          <p:nvPr/>
        </p:nvSpPr>
        <p:spPr>
          <a:xfrm>
            <a:off x="317728" y="912365"/>
            <a:ext cx="3845560" cy="1478915"/>
          </a:xfrm>
          <a:prstGeom prst="rect">
            <a:avLst/>
          </a:prstGeom>
        </p:spPr>
        <p:txBody>
          <a:bodyPr vert="horz" wrap="square" lIns="0" tIns="12065" rIns="0" bIns="0" rtlCol="0">
            <a:spAutoFit/>
          </a:bodyPr>
          <a:lstStyle/>
          <a:p>
            <a:pPr marL="41910" algn="just">
              <a:lnSpc>
                <a:spcPts val="1410"/>
              </a:lnSpc>
              <a:spcBef>
                <a:spcPts val="95"/>
              </a:spcBef>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model</a:t>
            </a:r>
            <a:endParaRPr sz="1200" dirty="0">
              <a:latin typeface="Arial"/>
              <a:cs typeface="Arial"/>
            </a:endParaRPr>
          </a:p>
          <a:p>
            <a:pPr marL="41910" marR="80645" indent="-4445" algn="just">
              <a:lnSpc>
                <a:spcPts val="1200"/>
              </a:lnSpc>
              <a:spcBef>
                <a:spcPts val="10"/>
              </a:spcBef>
            </a:pPr>
            <a:r>
              <a:rPr sz="1000" spc="-5" dirty="0">
                <a:latin typeface="Arial"/>
                <a:cs typeface="Arial"/>
              </a:rPr>
              <a:t>A server </a:t>
            </a:r>
            <a:r>
              <a:rPr sz="1000" i="1" spc="-5" dirty="0">
                <a:latin typeface="Arial"/>
                <a:cs typeface="Arial"/>
              </a:rPr>
              <a:t>S </a:t>
            </a:r>
            <a:r>
              <a:rPr sz="1000" spc="-10" dirty="0">
                <a:latin typeface="Arial"/>
                <a:cs typeface="Arial"/>
              </a:rPr>
              <a:t>having </a:t>
            </a:r>
            <a:r>
              <a:rPr sz="1000" spc="-5" dirty="0">
                <a:latin typeface="Arial"/>
                <a:cs typeface="Arial"/>
              </a:rPr>
              <a:t>an update to </a:t>
            </a:r>
            <a:r>
              <a:rPr sz="1000" dirty="0">
                <a:latin typeface="Arial"/>
                <a:cs typeface="Arial"/>
              </a:rPr>
              <a:t>report, </a:t>
            </a:r>
            <a:r>
              <a:rPr sz="1000" spc="-5" dirty="0">
                <a:latin typeface="Arial"/>
                <a:cs typeface="Arial"/>
              </a:rPr>
              <a:t>contacts other servers. If a </a:t>
            </a:r>
            <a:r>
              <a:rPr sz="1000" dirty="0">
                <a:latin typeface="Arial"/>
                <a:cs typeface="Arial"/>
              </a:rPr>
              <a:t> </a:t>
            </a:r>
            <a:r>
              <a:rPr sz="1000" spc="-5" dirty="0">
                <a:latin typeface="Arial"/>
                <a:cs typeface="Arial"/>
              </a:rPr>
              <a:t>server is contacted to which the update has already propagated, </a:t>
            </a:r>
            <a:r>
              <a:rPr sz="1000" i="1" spc="-5" dirty="0">
                <a:latin typeface="Arial"/>
                <a:cs typeface="Arial"/>
              </a:rPr>
              <a:t>S </a:t>
            </a:r>
            <a:r>
              <a:rPr sz="1000" i="1" spc="-265" dirty="0">
                <a:latin typeface="Arial"/>
                <a:cs typeface="Arial"/>
              </a:rPr>
              <a:t> </a:t>
            </a:r>
            <a:r>
              <a:rPr sz="1000" spc="-5" dirty="0">
                <a:latin typeface="Arial"/>
                <a:cs typeface="Arial"/>
              </a:rPr>
              <a:t>stops contacting other servers</a:t>
            </a:r>
            <a:r>
              <a:rPr sz="1000" dirty="0">
                <a:latin typeface="Arial"/>
                <a:cs typeface="Arial"/>
              </a:rPr>
              <a:t> </a:t>
            </a:r>
            <a:r>
              <a:rPr sz="1000" spc="-5" dirty="0">
                <a:latin typeface="Arial"/>
                <a:cs typeface="Arial"/>
              </a:rPr>
              <a:t>with probability </a:t>
            </a:r>
            <a:r>
              <a:rPr sz="1000" i="1" spc="5" dirty="0">
                <a:latin typeface="Arial"/>
                <a:cs typeface="Arial"/>
              </a:rPr>
              <a:t>p</a:t>
            </a:r>
            <a:r>
              <a:rPr sz="1200" i="1" spc="7" baseline="-13888" dirty="0">
                <a:latin typeface="Arial"/>
                <a:cs typeface="Arial"/>
              </a:rPr>
              <a:t>stop</a:t>
            </a:r>
            <a:r>
              <a:rPr sz="1000" spc="5" dirty="0">
                <a:latin typeface="Arial"/>
                <a:cs typeface="Arial"/>
              </a:rPr>
              <a:t>.</a:t>
            </a:r>
            <a:endParaRPr sz="1000" dirty="0">
              <a:latin typeface="Arial"/>
              <a:cs typeface="Arial"/>
            </a:endParaRPr>
          </a:p>
          <a:p>
            <a:pPr marL="41910">
              <a:lnSpc>
                <a:spcPts val="1410"/>
              </a:lnSpc>
              <a:spcBef>
                <a:spcPts val="785"/>
              </a:spcBef>
            </a:pPr>
            <a:r>
              <a:rPr sz="1200" spc="-5" dirty="0">
                <a:solidFill>
                  <a:srgbClr val="3333B2"/>
                </a:solidFill>
                <a:latin typeface="Arial"/>
                <a:cs typeface="Arial"/>
              </a:rPr>
              <a:t>Observation</a:t>
            </a:r>
            <a:endParaRPr sz="1200" dirty="0">
              <a:latin typeface="Arial"/>
              <a:cs typeface="Arial"/>
            </a:endParaRPr>
          </a:p>
          <a:p>
            <a:pPr marL="41910" marR="30480" algn="just">
              <a:lnSpc>
                <a:spcPts val="1200"/>
              </a:lnSpc>
              <a:spcBef>
                <a:spcPts val="15"/>
              </a:spcBef>
            </a:pPr>
            <a:r>
              <a:rPr sz="1000" spc="-5" dirty="0">
                <a:latin typeface="Arial"/>
                <a:cs typeface="Arial"/>
              </a:rPr>
              <a:t>If </a:t>
            </a:r>
            <a:r>
              <a:rPr sz="1000" i="1" spc="-5" dirty="0">
                <a:latin typeface="Arial"/>
                <a:cs typeface="Arial"/>
              </a:rPr>
              <a:t>s </a:t>
            </a:r>
            <a:r>
              <a:rPr sz="1000" spc="-5" dirty="0">
                <a:latin typeface="Arial"/>
                <a:cs typeface="Arial"/>
              </a:rPr>
              <a:t>is the fraction of ignorant servers (i.e., which are </a:t>
            </a:r>
            <a:r>
              <a:rPr sz="1000" spc="-10" dirty="0">
                <a:latin typeface="Arial"/>
                <a:cs typeface="Arial"/>
              </a:rPr>
              <a:t>unaware </a:t>
            </a:r>
            <a:r>
              <a:rPr sz="1000" spc="-5" dirty="0">
                <a:latin typeface="Arial"/>
                <a:cs typeface="Arial"/>
              </a:rPr>
              <a:t>of the </a:t>
            </a:r>
            <a:r>
              <a:rPr sz="1000" spc="-265" dirty="0">
                <a:latin typeface="Arial"/>
                <a:cs typeface="Arial"/>
              </a:rPr>
              <a:t> </a:t>
            </a:r>
            <a:r>
              <a:rPr sz="1000" spc="-5" dirty="0">
                <a:latin typeface="Arial"/>
                <a:cs typeface="Arial"/>
              </a:rPr>
              <a:t>update), it can be </a:t>
            </a:r>
            <a:r>
              <a:rPr sz="1000" spc="-10" dirty="0">
                <a:latin typeface="Arial"/>
                <a:cs typeface="Arial"/>
              </a:rPr>
              <a:t>shown</a:t>
            </a:r>
            <a:r>
              <a:rPr sz="1000" spc="-5" dirty="0">
                <a:latin typeface="Arial"/>
                <a:cs typeface="Arial"/>
              </a:rPr>
              <a:t> that</a:t>
            </a:r>
            <a:r>
              <a:rPr sz="1000" dirty="0">
                <a:latin typeface="Arial"/>
                <a:cs typeface="Arial"/>
              </a:rPr>
              <a:t> </a:t>
            </a:r>
            <a:r>
              <a:rPr sz="1000" spc="-5" dirty="0">
                <a:latin typeface="Arial"/>
                <a:cs typeface="Arial"/>
              </a:rPr>
              <a:t>with </a:t>
            </a:r>
            <a:r>
              <a:rPr sz="1000" spc="-10" dirty="0">
                <a:latin typeface="Arial"/>
                <a:cs typeface="Arial"/>
              </a:rPr>
              <a:t>many</a:t>
            </a:r>
            <a:r>
              <a:rPr sz="1000" spc="-5" dirty="0">
                <a:latin typeface="Arial"/>
                <a:cs typeface="Arial"/>
              </a:rPr>
              <a:t> servers</a:t>
            </a:r>
            <a:endParaRPr sz="1000" dirty="0">
              <a:latin typeface="Arial"/>
              <a:cs typeface="Arial"/>
            </a:endParaRPr>
          </a:p>
          <a:p>
            <a:pPr marL="120650" algn="ctr">
              <a:lnSpc>
                <a:spcPct val="100000"/>
              </a:lnSpc>
              <a:spcBef>
                <a:spcPts val="610"/>
              </a:spcBef>
            </a:pPr>
            <a:r>
              <a:rPr sz="1500" i="1" spc="-7" baseline="-30555" dirty="0">
                <a:latin typeface="Arial"/>
                <a:cs typeface="Arial"/>
              </a:rPr>
              <a:t>s</a:t>
            </a:r>
            <a:r>
              <a:rPr sz="1500" i="1" spc="-44" baseline="-30555" dirty="0">
                <a:latin typeface="Arial"/>
                <a:cs typeface="Arial"/>
              </a:rPr>
              <a:t> </a:t>
            </a:r>
            <a:r>
              <a:rPr sz="1500" spc="284" baseline="-30555" dirty="0">
                <a:latin typeface="Arial"/>
                <a:cs typeface="Arial"/>
              </a:rPr>
              <a:t>=</a:t>
            </a:r>
            <a:r>
              <a:rPr sz="1500" spc="-89" baseline="-30555" dirty="0">
                <a:latin typeface="Arial"/>
                <a:cs typeface="Arial"/>
              </a:rPr>
              <a:t> </a:t>
            </a:r>
            <a:r>
              <a:rPr sz="1500" i="1" spc="22" baseline="-30555" dirty="0">
                <a:latin typeface="Arial"/>
                <a:cs typeface="Arial"/>
              </a:rPr>
              <a:t>e</a:t>
            </a:r>
            <a:r>
              <a:rPr sz="700" i="1" spc="10" dirty="0">
                <a:latin typeface="メイリオ"/>
                <a:cs typeface="メイリオ"/>
              </a:rPr>
              <a:t>−</a:t>
            </a:r>
            <a:r>
              <a:rPr sz="700" spc="50" dirty="0">
                <a:latin typeface="Arial"/>
                <a:cs typeface="Arial"/>
              </a:rPr>
              <a:t>(</a:t>
            </a:r>
            <a:r>
              <a:rPr sz="700" spc="20" dirty="0">
                <a:latin typeface="Arial"/>
                <a:cs typeface="Arial"/>
              </a:rPr>
              <a:t>1</a:t>
            </a:r>
            <a:r>
              <a:rPr sz="700" i="1" spc="170" dirty="0">
                <a:latin typeface="Arial"/>
                <a:cs typeface="Arial"/>
              </a:rPr>
              <a:t>/</a:t>
            </a:r>
            <a:r>
              <a:rPr sz="700" i="1" spc="20" dirty="0">
                <a:latin typeface="Arial"/>
                <a:cs typeface="Arial"/>
              </a:rPr>
              <a:t>p</a:t>
            </a:r>
            <a:r>
              <a:rPr sz="1200" i="1" spc="-7" baseline="-20833" dirty="0">
                <a:latin typeface="Arial"/>
                <a:cs typeface="Arial"/>
              </a:rPr>
              <a:t>sto</a:t>
            </a:r>
            <a:r>
              <a:rPr sz="1200" i="1" spc="60" baseline="-20833" dirty="0">
                <a:latin typeface="Arial"/>
                <a:cs typeface="Arial"/>
              </a:rPr>
              <a:t>p</a:t>
            </a:r>
            <a:r>
              <a:rPr sz="700" spc="165" dirty="0">
                <a:latin typeface="Arial"/>
                <a:cs typeface="Arial"/>
              </a:rPr>
              <a:t>+</a:t>
            </a:r>
            <a:r>
              <a:rPr sz="700" spc="20" dirty="0">
                <a:latin typeface="Arial"/>
                <a:cs typeface="Arial"/>
              </a:rPr>
              <a:t>1</a:t>
            </a:r>
            <a:r>
              <a:rPr sz="700" spc="50" dirty="0">
                <a:latin typeface="Arial"/>
                <a:cs typeface="Arial"/>
              </a:rPr>
              <a:t>)(</a:t>
            </a:r>
            <a:r>
              <a:rPr sz="700" spc="20" dirty="0">
                <a:latin typeface="Arial"/>
                <a:cs typeface="Arial"/>
              </a:rPr>
              <a:t>1</a:t>
            </a:r>
            <a:r>
              <a:rPr sz="700" i="1" spc="10" dirty="0">
                <a:latin typeface="メイリオ"/>
                <a:cs typeface="メイリオ"/>
              </a:rPr>
              <a:t>−</a:t>
            </a:r>
            <a:r>
              <a:rPr sz="700" i="1" spc="35" dirty="0">
                <a:latin typeface="Arial"/>
                <a:cs typeface="Arial"/>
              </a:rPr>
              <a:t>s</a:t>
            </a:r>
            <a:r>
              <a:rPr sz="700" spc="50" dirty="0">
                <a:latin typeface="Arial"/>
                <a:cs typeface="Arial"/>
              </a:rPr>
              <a:t>)</a:t>
            </a:r>
            <a:endParaRPr sz="700" dirty="0">
              <a:latin typeface="Arial"/>
              <a:cs typeface="Arial"/>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object 13"/>
          <p:cNvSpPr txBox="1"/>
          <p:nvPr/>
        </p:nvSpPr>
        <p:spPr>
          <a:xfrm>
            <a:off x="66713" y="3331252"/>
            <a:ext cx="11557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Information dissemination models</a:t>
            </a:r>
            <a:endParaRPr sz="600">
              <a:latin typeface="Arial"/>
              <a:cs typeface="Arial"/>
            </a:endParaRPr>
          </a:p>
        </p:txBody>
      </p:sp>
      <p:sp>
        <p:nvSpPr>
          <p:cNvPr id="14" name="object 1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46</a:t>
            </a:r>
            <a:r>
              <a:rPr spc="-40" dirty="0"/>
              <a:t> </a:t>
            </a:r>
            <a:r>
              <a:rPr spc="-5" dirty="0"/>
              <a:t>/</a:t>
            </a:r>
            <a:r>
              <a:rPr spc="-35" dirty="0"/>
              <a:t> </a:t>
            </a:r>
            <a:r>
              <a:rPr spc="-5" dirty="0"/>
              <a:t>49</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339465" algn="l"/>
              </a:tabLst>
            </a:pPr>
            <a:r>
              <a:rPr sz="600" spc="-5" dirty="0">
                <a:solidFill>
                  <a:srgbClr val="3333B2"/>
                </a:solidFill>
                <a:latin typeface="Arial"/>
                <a:cs typeface="Arial"/>
                <a:hlinkClick r:id="rId4" action="ppaction://hlinksldjump"/>
              </a:rPr>
              <a:t>Communication:</a:t>
            </a:r>
            <a:r>
              <a:rPr sz="600" spc="185" dirty="0">
                <a:solidFill>
                  <a:srgbClr val="3333B2"/>
                </a:solidFill>
                <a:latin typeface="Arial"/>
                <a:cs typeface="Arial"/>
              </a:rPr>
              <a:t> </a:t>
            </a:r>
            <a:r>
              <a:rPr sz="600" spc="-5" dirty="0">
                <a:solidFill>
                  <a:srgbClr val="3333B2"/>
                </a:solidFill>
                <a:latin typeface="Arial"/>
                <a:cs typeface="Arial"/>
                <a:hlinkClick r:id="rId5" action="ppaction://hlinksldjump"/>
              </a:rPr>
              <a:t>Multicast</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r>
              <a:rPr sz="600" spc="-5" dirty="0">
                <a:solidFill>
                  <a:srgbClr val="3333B2"/>
                </a:solidFill>
                <a:latin typeface="Arial"/>
                <a:cs typeface="Arial"/>
              </a:rPr>
              <a:t>	</a:t>
            </a:r>
            <a:r>
              <a:rPr sz="600" spc="-5" dirty="0">
                <a:solidFill>
                  <a:srgbClr val="262685"/>
                </a:solidFill>
                <a:latin typeface="Arial"/>
                <a:cs typeface="Arial"/>
                <a:hlinkClick r:id="rId6" action="ppaction://hlinksldjump"/>
              </a:rPr>
              <a:t>Gossip-based data</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dissemination</a:t>
            </a:r>
            <a:endParaRPr sz="600">
              <a:latin typeface="Arial"/>
              <a:cs typeface="Arial"/>
            </a:endParaRPr>
          </a:p>
        </p:txBody>
      </p:sp>
      <p:sp>
        <p:nvSpPr>
          <p:cNvPr id="3" name="object 3"/>
          <p:cNvSpPr txBox="1">
            <a:spLocks noGrp="1"/>
          </p:cNvSpPr>
          <p:nvPr>
            <p:ph type="title"/>
          </p:nvPr>
        </p:nvSpPr>
        <p:spPr>
          <a:xfrm>
            <a:off x="95300" y="188846"/>
            <a:ext cx="1300480" cy="244475"/>
          </a:xfrm>
          <a:prstGeom prst="rect">
            <a:avLst/>
          </a:prstGeom>
        </p:spPr>
        <p:txBody>
          <a:bodyPr vert="horz" wrap="square" lIns="0" tIns="17145" rIns="0" bIns="0" rtlCol="0">
            <a:spAutoFit/>
          </a:bodyPr>
          <a:lstStyle/>
          <a:p>
            <a:pPr marL="12700">
              <a:lnSpc>
                <a:spcPct val="100000"/>
              </a:lnSpc>
              <a:spcBef>
                <a:spcPts val="135"/>
              </a:spcBef>
            </a:pPr>
            <a:r>
              <a:rPr spc="15" dirty="0"/>
              <a:t>Formal</a:t>
            </a:r>
            <a:r>
              <a:rPr spc="-65" dirty="0"/>
              <a:t> </a:t>
            </a:r>
            <a:r>
              <a:rPr spc="15" dirty="0"/>
              <a:t>analysis</a:t>
            </a:r>
          </a:p>
        </p:txBody>
      </p:sp>
      <p:sp>
        <p:nvSpPr>
          <p:cNvPr id="4" name="object 4"/>
          <p:cNvSpPr txBox="1"/>
          <p:nvPr/>
        </p:nvSpPr>
        <p:spPr>
          <a:xfrm>
            <a:off x="347294" y="537766"/>
            <a:ext cx="3899535" cy="92773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Notations</a:t>
            </a:r>
            <a:endParaRPr sz="1200" dirty="0">
              <a:latin typeface="Arial"/>
              <a:cs typeface="Arial"/>
            </a:endParaRPr>
          </a:p>
          <a:p>
            <a:pPr marL="12700" marR="5080">
              <a:lnSpc>
                <a:spcPts val="1200"/>
              </a:lnSpc>
              <a:spcBef>
                <a:spcPts val="10"/>
              </a:spcBef>
            </a:pPr>
            <a:r>
              <a:rPr sz="1000" spc="-5" dirty="0">
                <a:latin typeface="Arial"/>
                <a:cs typeface="Arial"/>
              </a:rPr>
              <a:t>Let </a:t>
            </a:r>
            <a:r>
              <a:rPr sz="1000" i="1" spc="-5" dirty="0">
                <a:solidFill>
                  <a:srgbClr val="FA0000"/>
                </a:solidFill>
                <a:latin typeface="Arial"/>
                <a:cs typeface="Arial"/>
              </a:rPr>
              <a:t>s</a:t>
            </a:r>
            <a:r>
              <a:rPr sz="1000" i="1" spc="30" dirty="0">
                <a:solidFill>
                  <a:srgbClr val="FA0000"/>
                </a:solidFill>
                <a:latin typeface="Arial"/>
                <a:cs typeface="Arial"/>
              </a:rPr>
              <a:t> </a:t>
            </a:r>
            <a:r>
              <a:rPr sz="1000" spc="-5" dirty="0">
                <a:latin typeface="Arial"/>
                <a:cs typeface="Arial"/>
              </a:rPr>
              <a:t>denote fraction</a:t>
            </a:r>
            <a:r>
              <a:rPr sz="1000" dirty="0">
                <a:latin typeface="Arial"/>
                <a:cs typeface="Arial"/>
              </a:rPr>
              <a:t> </a:t>
            </a:r>
            <a:r>
              <a:rPr sz="1000" spc="-5" dirty="0">
                <a:latin typeface="Arial"/>
                <a:cs typeface="Arial"/>
              </a:rPr>
              <a:t>of nodes</a:t>
            </a:r>
            <a:r>
              <a:rPr sz="1000" dirty="0">
                <a:latin typeface="Arial"/>
                <a:cs typeface="Arial"/>
              </a:rPr>
              <a:t> </a:t>
            </a:r>
            <a:r>
              <a:rPr sz="1000" spc="-5" dirty="0">
                <a:latin typeface="Arial"/>
                <a:cs typeface="Arial"/>
              </a:rPr>
              <a:t>that </a:t>
            </a:r>
            <a:r>
              <a:rPr sz="1000" spc="-15" dirty="0">
                <a:latin typeface="Arial"/>
                <a:cs typeface="Arial"/>
              </a:rPr>
              <a:t>have</a:t>
            </a:r>
            <a:r>
              <a:rPr sz="1000" dirty="0">
                <a:latin typeface="Arial"/>
                <a:cs typeface="Arial"/>
              </a:rPr>
              <a:t> </a:t>
            </a:r>
            <a:r>
              <a:rPr sz="1000" spc="-5" dirty="0">
                <a:latin typeface="Arial"/>
                <a:cs typeface="Arial"/>
              </a:rPr>
              <a:t>not </a:t>
            </a:r>
            <a:r>
              <a:rPr sz="1000" spc="-10" dirty="0">
                <a:latin typeface="Arial"/>
                <a:cs typeface="Arial"/>
              </a:rPr>
              <a:t>yet</a:t>
            </a:r>
            <a:r>
              <a:rPr sz="1000" dirty="0">
                <a:latin typeface="Arial"/>
                <a:cs typeface="Arial"/>
              </a:rPr>
              <a:t> </a:t>
            </a:r>
            <a:r>
              <a:rPr sz="1000" spc="-5" dirty="0">
                <a:latin typeface="Arial"/>
                <a:cs typeface="Arial"/>
              </a:rPr>
              <a:t>been updated</a:t>
            </a:r>
            <a:r>
              <a:rPr sz="1000" dirty="0">
                <a:latin typeface="Arial"/>
                <a:cs typeface="Arial"/>
              </a:rPr>
              <a:t> </a:t>
            </a:r>
            <a:r>
              <a:rPr sz="1000" spc="-5" dirty="0">
                <a:latin typeface="Arial"/>
                <a:cs typeface="Arial"/>
              </a:rPr>
              <a:t>(i.e., </a:t>
            </a:r>
            <a:r>
              <a:rPr sz="1000" dirty="0">
                <a:latin typeface="Arial"/>
                <a:cs typeface="Arial"/>
              </a:rPr>
              <a:t> </a:t>
            </a:r>
            <a:r>
              <a:rPr sz="1000" spc="-15" dirty="0">
                <a:solidFill>
                  <a:srgbClr val="0000FA"/>
                </a:solidFill>
                <a:latin typeface="Arial"/>
                <a:cs typeface="Arial"/>
              </a:rPr>
              <a:t>susceptible</a:t>
            </a:r>
            <a:r>
              <a:rPr sz="1000" spc="-15" dirty="0">
                <a:latin typeface="Arial"/>
                <a:cs typeface="Arial"/>
              </a:rPr>
              <a:t>;</a:t>
            </a:r>
            <a:r>
              <a:rPr sz="1000" dirty="0">
                <a:latin typeface="Arial"/>
                <a:cs typeface="Arial"/>
              </a:rPr>
              <a:t> </a:t>
            </a:r>
            <a:r>
              <a:rPr sz="1000" i="1" spc="-5" dirty="0">
                <a:solidFill>
                  <a:srgbClr val="FA0000"/>
                </a:solidFill>
                <a:latin typeface="Arial"/>
                <a:cs typeface="Arial"/>
              </a:rPr>
              <a:t>i</a:t>
            </a:r>
            <a:r>
              <a:rPr sz="1000" i="1" spc="95" dirty="0">
                <a:solidFill>
                  <a:srgbClr val="FA0000"/>
                </a:solidFill>
                <a:latin typeface="Arial"/>
                <a:cs typeface="Arial"/>
              </a:rPr>
              <a:t> </a:t>
            </a:r>
            <a:r>
              <a:rPr sz="1000" spc="-15" dirty="0">
                <a:latin typeface="Arial"/>
                <a:cs typeface="Arial"/>
              </a:rPr>
              <a:t>the</a:t>
            </a:r>
            <a:r>
              <a:rPr sz="1000" spc="5" dirty="0">
                <a:latin typeface="Arial"/>
                <a:cs typeface="Arial"/>
              </a:rPr>
              <a:t> </a:t>
            </a:r>
            <a:r>
              <a:rPr sz="1000" spc="-15" dirty="0">
                <a:latin typeface="Arial"/>
                <a:cs typeface="Arial"/>
              </a:rPr>
              <a:t>fraction</a:t>
            </a:r>
            <a:r>
              <a:rPr sz="1000" spc="5" dirty="0">
                <a:latin typeface="Arial"/>
                <a:cs typeface="Arial"/>
              </a:rPr>
              <a:t> </a:t>
            </a:r>
            <a:r>
              <a:rPr sz="1000" spc="-10" dirty="0">
                <a:latin typeface="Arial"/>
                <a:cs typeface="Arial"/>
              </a:rPr>
              <a:t>of</a:t>
            </a:r>
            <a:r>
              <a:rPr sz="1000" dirty="0">
                <a:latin typeface="Arial"/>
                <a:cs typeface="Arial"/>
              </a:rPr>
              <a:t> </a:t>
            </a:r>
            <a:r>
              <a:rPr sz="1000" spc="-15" dirty="0">
                <a:latin typeface="Arial"/>
                <a:cs typeface="Arial"/>
              </a:rPr>
              <a:t>updated</a:t>
            </a:r>
            <a:r>
              <a:rPr sz="1000" spc="5" dirty="0">
                <a:latin typeface="Arial"/>
                <a:cs typeface="Arial"/>
              </a:rPr>
              <a:t> </a:t>
            </a:r>
            <a:r>
              <a:rPr sz="1000" spc="-15" dirty="0">
                <a:latin typeface="Arial"/>
                <a:cs typeface="Arial"/>
              </a:rPr>
              <a:t>(</a:t>
            </a:r>
            <a:r>
              <a:rPr sz="1000" spc="-15" dirty="0">
                <a:solidFill>
                  <a:srgbClr val="0000FA"/>
                </a:solidFill>
                <a:latin typeface="Arial"/>
                <a:cs typeface="Arial"/>
              </a:rPr>
              <a:t>infected</a:t>
            </a:r>
            <a:r>
              <a:rPr sz="1000" spc="-15" dirty="0">
                <a:latin typeface="Arial"/>
                <a:cs typeface="Arial"/>
              </a:rPr>
              <a:t>)</a:t>
            </a:r>
            <a:r>
              <a:rPr sz="1000" spc="5" dirty="0">
                <a:latin typeface="Arial"/>
                <a:cs typeface="Arial"/>
              </a:rPr>
              <a:t> </a:t>
            </a:r>
            <a:r>
              <a:rPr sz="1000" spc="-15" dirty="0">
                <a:latin typeface="Arial"/>
                <a:cs typeface="Arial"/>
              </a:rPr>
              <a:t>and</a:t>
            </a:r>
            <a:r>
              <a:rPr sz="1000" spc="5" dirty="0">
                <a:latin typeface="Arial"/>
                <a:cs typeface="Arial"/>
              </a:rPr>
              <a:t> </a:t>
            </a:r>
            <a:r>
              <a:rPr sz="1000" spc="-15" dirty="0">
                <a:latin typeface="Arial"/>
                <a:cs typeface="Arial"/>
              </a:rPr>
              <a:t>active</a:t>
            </a:r>
            <a:r>
              <a:rPr sz="1000" spc="5" dirty="0">
                <a:latin typeface="Arial"/>
                <a:cs typeface="Arial"/>
              </a:rPr>
              <a:t> </a:t>
            </a:r>
            <a:r>
              <a:rPr sz="1000" spc="-15" dirty="0">
                <a:latin typeface="Arial"/>
                <a:cs typeface="Arial"/>
              </a:rPr>
              <a:t>nodes;</a:t>
            </a:r>
            <a:r>
              <a:rPr sz="1000" spc="5" dirty="0">
                <a:latin typeface="Arial"/>
                <a:cs typeface="Arial"/>
              </a:rPr>
              <a:t> </a:t>
            </a:r>
            <a:r>
              <a:rPr sz="1000" spc="-15" dirty="0">
                <a:latin typeface="Arial"/>
                <a:cs typeface="Arial"/>
              </a:rPr>
              <a:t>and</a:t>
            </a:r>
            <a:r>
              <a:rPr sz="1000" spc="5" dirty="0">
                <a:latin typeface="Arial"/>
                <a:cs typeface="Arial"/>
              </a:rPr>
              <a:t> </a:t>
            </a:r>
            <a:r>
              <a:rPr sz="1000" i="1" spc="-10" dirty="0">
                <a:solidFill>
                  <a:srgbClr val="FA0000"/>
                </a:solidFill>
                <a:latin typeface="Arial"/>
                <a:cs typeface="Arial"/>
              </a:rPr>
              <a:t>r </a:t>
            </a:r>
            <a:r>
              <a:rPr sz="1000" i="1" spc="-265" dirty="0">
                <a:solidFill>
                  <a:srgbClr val="FA0000"/>
                </a:solidFill>
                <a:latin typeface="Arial"/>
                <a:cs typeface="Arial"/>
              </a:rPr>
              <a:t> </a:t>
            </a:r>
            <a:r>
              <a:rPr sz="1000" spc="-5" dirty="0">
                <a:latin typeface="Arial"/>
                <a:cs typeface="Arial"/>
              </a:rPr>
              <a:t>the fraction of updated nodes</a:t>
            </a:r>
            <a:r>
              <a:rPr sz="1000" dirty="0">
                <a:latin typeface="Arial"/>
                <a:cs typeface="Arial"/>
              </a:rPr>
              <a:t> </a:t>
            </a:r>
            <a:r>
              <a:rPr sz="1000" spc="-5" dirty="0">
                <a:latin typeface="Arial"/>
                <a:cs typeface="Arial"/>
              </a:rPr>
              <a:t>that </a:t>
            </a:r>
            <a:r>
              <a:rPr sz="1000" spc="-15" dirty="0">
                <a:latin typeface="Arial"/>
                <a:cs typeface="Arial"/>
              </a:rPr>
              <a:t>gave</a:t>
            </a:r>
            <a:r>
              <a:rPr sz="1000" spc="-5" dirty="0">
                <a:latin typeface="Arial"/>
                <a:cs typeface="Arial"/>
              </a:rPr>
              <a:t> up </a:t>
            </a:r>
            <a:r>
              <a:rPr sz="1000" spc="-10" dirty="0">
                <a:latin typeface="Arial"/>
                <a:cs typeface="Arial"/>
              </a:rPr>
              <a:t>(</a:t>
            </a:r>
            <a:r>
              <a:rPr sz="1000" spc="-10" dirty="0">
                <a:solidFill>
                  <a:srgbClr val="0000FA"/>
                </a:solidFill>
                <a:latin typeface="Arial"/>
                <a:cs typeface="Arial"/>
              </a:rPr>
              <a:t>removed</a:t>
            </a:r>
            <a:r>
              <a:rPr sz="1000" spc="-10" dirty="0">
                <a:latin typeface="Arial"/>
                <a:cs typeface="Arial"/>
              </a:rPr>
              <a:t>).</a:t>
            </a:r>
            <a:endParaRPr sz="1000" dirty="0">
              <a:latin typeface="Arial"/>
              <a:cs typeface="Arial"/>
            </a:endParaRPr>
          </a:p>
          <a:p>
            <a:pPr marL="12700">
              <a:lnSpc>
                <a:spcPct val="100000"/>
              </a:lnSpc>
              <a:spcBef>
                <a:spcPts val="645"/>
              </a:spcBef>
            </a:pPr>
            <a:r>
              <a:rPr sz="1200" spc="-20" dirty="0">
                <a:solidFill>
                  <a:srgbClr val="3333B2"/>
                </a:solidFill>
                <a:latin typeface="Arial"/>
                <a:cs typeface="Arial"/>
              </a:rPr>
              <a:t>From</a:t>
            </a:r>
            <a:r>
              <a:rPr sz="1200" spc="-15" dirty="0">
                <a:solidFill>
                  <a:srgbClr val="3333B2"/>
                </a:solidFill>
                <a:latin typeface="Arial"/>
                <a:cs typeface="Arial"/>
              </a:rPr>
              <a:t> </a:t>
            </a:r>
            <a:r>
              <a:rPr sz="1200" dirty="0">
                <a:solidFill>
                  <a:srgbClr val="3333B2"/>
                </a:solidFill>
                <a:latin typeface="Arial"/>
                <a:cs typeface="Arial"/>
              </a:rPr>
              <a:t>theory</a:t>
            </a:r>
            <a:r>
              <a:rPr sz="1200" spc="-15" dirty="0">
                <a:solidFill>
                  <a:srgbClr val="3333B2"/>
                </a:solidFill>
                <a:latin typeface="Arial"/>
                <a:cs typeface="Arial"/>
              </a:rPr>
              <a:t> </a:t>
            </a:r>
            <a:r>
              <a:rPr sz="1200" spc="-5" dirty="0">
                <a:solidFill>
                  <a:srgbClr val="3333B2"/>
                </a:solidFill>
                <a:latin typeface="Arial"/>
                <a:cs typeface="Arial"/>
              </a:rPr>
              <a:t>of</a:t>
            </a:r>
            <a:r>
              <a:rPr sz="1200" spc="-10" dirty="0">
                <a:solidFill>
                  <a:srgbClr val="3333B2"/>
                </a:solidFill>
                <a:latin typeface="Arial"/>
                <a:cs typeface="Arial"/>
              </a:rPr>
              <a:t> </a:t>
            </a:r>
            <a:r>
              <a:rPr sz="1200" spc="-5" dirty="0">
                <a:solidFill>
                  <a:srgbClr val="3333B2"/>
                </a:solidFill>
                <a:latin typeface="Arial"/>
                <a:cs typeface="Arial"/>
              </a:rPr>
              <a:t>epidemics</a:t>
            </a:r>
            <a:endParaRPr sz="1200" dirty="0">
              <a:latin typeface="Arial"/>
              <a:cs typeface="Arial"/>
            </a:endParaRPr>
          </a:p>
        </p:txBody>
      </p:sp>
      <p:sp>
        <p:nvSpPr>
          <p:cNvPr id="5" name="object 5"/>
          <p:cNvSpPr txBox="1"/>
          <p:nvPr/>
        </p:nvSpPr>
        <p:spPr>
          <a:xfrm>
            <a:off x="923734" y="1573143"/>
            <a:ext cx="627380" cy="773430"/>
          </a:xfrm>
          <a:prstGeom prst="rect">
            <a:avLst/>
          </a:prstGeom>
        </p:spPr>
        <p:txBody>
          <a:bodyPr vert="horz" wrap="square" lIns="0" tIns="42545" rIns="0" bIns="0" rtlCol="0">
            <a:spAutoFit/>
          </a:bodyPr>
          <a:lstStyle/>
          <a:p>
            <a:pPr marL="307975" indent="-295910">
              <a:lnSpc>
                <a:spcPct val="100000"/>
              </a:lnSpc>
              <a:spcBef>
                <a:spcPts val="335"/>
              </a:spcBef>
              <a:buFont typeface="Arial"/>
              <a:buAutoNum type="arabicParenBoth"/>
              <a:tabLst>
                <a:tab pos="308610" algn="l"/>
              </a:tabLst>
            </a:pPr>
            <a:r>
              <a:rPr sz="1000" i="1" spc="-5" dirty="0">
                <a:latin typeface="Arial"/>
                <a:cs typeface="Arial"/>
              </a:rPr>
              <a:t>d</a:t>
            </a:r>
            <a:r>
              <a:rPr sz="1000" i="1" spc="20" dirty="0">
                <a:latin typeface="Arial"/>
                <a:cs typeface="Arial"/>
              </a:rPr>
              <a:t>s</a:t>
            </a:r>
            <a:r>
              <a:rPr sz="1000" i="1" spc="220" dirty="0">
                <a:latin typeface="Arial"/>
                <a:cs typeface="Arial"/>
              </a:rPr>
              <a:t>/</a:t>
            </a:r>
            <a:r>
              <a:rPr sz="1000" i="1" spc="-5" dirty="0">
                <a:latin typeface="Arial"/>
                <a:cs typeface="Arial"/>
              </a:rPr>
              <a:t>dt</a:t>
            </a:r>
            <a:endParaRPr sz="1000" dirty="0">
              <a:latin typeface="Arial"/>
              <a:cs typeface="Arial"/>
            </a:endParaRPr>
          </a:p>
          <a:p>
            <a:pPr marL="307975" indent="-295910">
              <a:lnSpc>
                <a:spcPct val="100000"/>
              </a:lnSpc>
              <a:spcBef>
                <a:spcPts val="234"/>
              </a:spcBef>
              <a:buFont typeface="Arial"/>
              <a:buAutoNum type="arabicParenBoth"/>
              <a:tabLst>
                <a:tab pos="308610" algn="l"/>
              </a:tabLst>
            </a:pPr>
            <a:r>
              <a:rPr sz="1000" i="1" spc="55" dirty="0">
                <a:latin typeface="Arial"/>
                <a:cs typeface="Arial"/>
              </a:rPr>
              <a:t>di/dt</a:t>
            </a:r>
            <a:endParaRPr sz="1000" dirty="0">
              <a:latin typeface="Arial"/>
              <a:cs typeface="Arial"/>
            </a:endParaRPr>
          </a:p>
          <a:p>
            <a:pPr marL="12700">
              <a:lnSpc>
                <a:spcPct val="100000"/>
              </a:lnSpc>
              <a:spcBef>
                <a:spcPts val="384"/>
              </a:spcBef>
              <a:tabLst>
                <a:tab pos="307340" algn="l"/>
              </a:tabLst>
            </a:pPr>
            <a:r>
              <a:rPr sz="1000" i="1" spc="-5" dirty="0">
                <a:latin typeface="メイリオ"/>
                <a:cs typeface="メイリオ"/>
              </a:rPr>
              <a:t>⇒	</a:t>
            </a:r>
            <a:r>
              <a:rPr sz="1000" i="1" spc="-5" dirty="0">
                <a:latin typeface="Arial"/>
                <a:cs typeface="Arial"/>
              </a:rPr>
              <a:t>d</a:t>
            </a:r>
            <a:r>
              <a:rPr sz="1000" i="1" spc="80" dirty="0">
                <a:latin typeface="Arial"/>
                <a:cs typeface="Arial"/>
              </a:rPr>
              <a:t>i</a:t>
            </a:r>
            <a:r>
              <a:rPr sz="1000" i="1" spc="220" dirty="0">
                <a:latin typeface="Arial"/>
                <a:cs typeface="Arial"/>
              </a:rPr>
              <a:t>/</a:t>
            </a:r>
            <a:r>
              <a:rPr sz="1000" i="1" spc="-5" dirty="0">
                <a:latin typeface="Arial"/>
                <a:cs typeface="Arial"/>
              </a:rPr>
              <a:t>ds</a:t>
            </a:r>
            <a:endParaRPr sz="1000" dirty="0">
              <a:latin typeface="Arial"/>
              <a:cs typeface="Arial"/>
            </a:endParaRPr>
          </a:p>
          <a:p>
            <a:pPr marL="12700">
              <a:lnSpc>
                <a:spcPct val="100000"/>
              </a:lnSpc>
              <a:spcBef>
                <a:spcPts val="229"/>
              </a:spcBef>
              <a:tabLst>
                <a:tab pos="307340" algn="l"/>
              </a:tabLst>
            </a:pPr>
            <a:r>
              <a:rPr sz="1000" i="1" spc="-5" dirty="0">
                <a:latin typeface="メイリオ"/>
                <a:cs typeface="メイリオ"/>
              </a:rPr>
              <a:t>⇒	</a:t>
            </a:r>
            <a:r>
              <a:rPr sz="1000" i="1" spc="-5" dirty="0">
                <a:latin typeface="Arial"/>
                <a:cs typeface="Arial"/>
              </a:rPr>
              <a:t>i</a:t>
            </a:r>
            <a:r>
              <a:rPr sz="1000" i="1" spc="-195" dirty="0">
                <a:latin typeface="Arial"/>
                <a:cs typeface="Arial"/>
              </a:rPr>
              <a:t> </a:t>
            </a:r>
            <a:r>
              <a:rPr sz="1000" spc="50" dirty="0">
                <a:latin typeface="Arial"/>
                <a:cs typeface="Arial"/>
              </a:rPr>
              <a:t>(</a:t>
            </a:r>
            <a:r>
              <a:rPr sz="1000" i="1" spc="20" dirty="0">
                <a:latin typeface="Arial"/>
                <a:cs typeface="Arial"/>
              </a:rPr>
              <a:t>s</a:t>
            </a:r>
            <a:r>
              <a:rPr sz="1000" spc="50" dirty="0">
                <a:latin typeface="Arial"/>
                <a:cs typeface="Arial"/>
              </a:rPr>
              <a:t>)</a:t>
            </a:r>
            <a:endParaRPr sz="1000" dirty="0">
              <a:latin typeface="Arial"/>
              <a:cs typeface="Arial"/>
            </a:endParaRPr>
          </a:p>
        </p:txBody>
      </p:sp>
      <p:sp>
        <p:nvSpPr>
          <p:cNvPr id="6" name="object 6"/>
          <p:cNvSpPr txBox="1"/>
          <p:nvPr/>
        </p:nvSpPr>
        <p:spPr>
          <a:xfrm>
            <a:off x="1662988" y="1603507"/>
            <a:ext cx="642062" cy="166071"/>
          </a:xfrm>
          <a:prstGeom prst="rect">
            <a:avLst/>
          </a:prstGeom>
        </p:spPr>
        <p:txBody>
          <a:bodyPr vert="horz" wrap="square" lIns="0" tIns="12065" rIns="0" bIns="0" rtlCol="0">
            <a:spAutoFit/>
          </a:bodyPr>
          <a:lstStyle/>
          <a:p>
            <a:pPr marL="12700">
              <a:lnSpc>
                <a:spcPct val="100000"/>
              </a:lnSpc>
              <a:spcBef>
                <a:spcPts val="95"/>
              </a:spcBef>
            </a:pPr>
            <a:r>
              <a:rPr sz="1000" spc="190" dirty="0">
                <a:latin typeface="Arial"/>
                <a:cs typeface="Arial"/>
              </a:rPr>
              <a:t>=   </a:t>
            </a:r>
            <a:r>
              <a:rPr sz="1000" spc="-114" dirty="0">
                <a:latin typeface="Arial"/>
                <a:cs typeface="Arial"/>
              </a:rPr>
              <a:t> </a:t>
            </a:r>
            <a:r>
              <a:rPr sz="1000" i="1" spc="-35" dirty="0">
                <a:latin typeface="メイリオ"/>
                <a:cs typeface="メイリオ"/>
              </a:rPr>
              <a:t>−</a:t>
            </a:r>
            <a:r>
              <a:rPr sz="1000" i="1" spc="-5" dirty="0">
                <a:latin typeface="Arial"/>
                <a:cs typeface="Arial"/>
              </a:rPr>
              <a:t>s</a:t>
            </a:r>
            <a:r>
              <a:rPr sz="1000" i="1" spc="-114"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i</a:t>
            </a:r>
            <a:endParaRPr sz="1000" dirty="0">
              <a:latin typeface="Arial"/>
              <a:cs typeface="Arial"/>
            </a:endParaRPr>
          </a:p>
        </p:txBody>
      </p:sp>
      <p:sp>
        <p:nvSpPr>
          <p:cNvPr id="7" name="object 7"/>
          <p:cNvSpPr txBox="1"/>
          <p:nvPr/>
        </p:nvSpPr>
        <p:spPr>
          <a:xfrm>
            <a:off x="1637588" y="1986894"/>
            <a:ext cx="1085850" cy="177800"/>
          </a:xfrm>
          <a:prstGeom prst="rect">
            <a:avLst/>
          </a:prstGeom>
        </p:spPr>
        <p:txBody>
          <a:bodyPr vert="horz" wrap="square" lIns="0" tIns="12065" rIns="0" bIns="0" rtlCol="0">
            <a:spAutoFit/>
          </a:bodyPr>
          <a:lstStyle/>
          <a:p>
            <a:pPr marL="38100">
              <a:lnSpc>
                <a:spcPct val="100000"/>
              </a:lnSpc>
              <a:spcBef>
                <a:spcPts val="95"/>
              </a:spcBef>
            </a:pPr>
            <a:r>
              <a:rPr sz="1000" spc="190" dirty="0">
                <a:latin typeface="Arial"/>
                <a:cs typeface="Arial"/>
              </a:rPr>
              <a:t>=   </a:t>
            </a:r>
            <a:r>
              <a:rPr sz="1000" spc="-114" dirty="0">
                <a:latin typeface="Arial"/>
                <a:cs typeface="Arial"/>
              </a:rPr>
              <a:t> </a:t>
            </a:r>
            <a:r>
              <a:rPr sz="1000" i="1" spc="-35" dirty="0">
                <a:latin typeface="メイリオ"/>
                <a:cs typeface="メイリオ"/>
              </a:rPr>
              <a:t>−</a:t>
            </a:r>
            <a:r>
              <a:rPr sz="1000" spc="50" dirty="0">
                <a:latin typeface="Arial"/>
                <a:cs typeface="Arial"/>
              </a:rPr>
              <a:t>(</a:t>
            </a:r>
            <a:r>
              <a:rPr sz="1000" spc="-5" dirty="0">
                <a:latin typeface="Arial"/>
                <a:cs typeface="Arial"/>
              </a:rPr>
              <a:t>1</a:t>
            </a:r>
            <a:r>
              <a:rPr sz="1000" spc="-140" dirty="0">
                <a:latin typeface="Arial"/>
                <a:cs typeface="Arial"/>
              </a:rPr>
              <a:t> </a:t>
            </a:r>
            <a:r>
              <a:rPr sz="1000" spc="190" dirty="0">
                <a:latin typeface="Arial"/>
                <a:cs typeface="Arial"/>
              </a:rPr>
              <a:t>+</a:t>
            </a:r>
            <a:r>
              <a:rPr sz="1000" spc="-140" dirty="0">
                <a:latin typeface="Arial"/>
                <a:cs typeface="Arial"/>
              </a:rPr>
              <a:t> </a:t>
            </a:r>
            <a:r>
              <a:rPr sz="1000" i="1" spc="-5" dirty="0">
                <a:latin typeface="Arial"/>
                <a:cs typeface="Arial"/>
              </a:rPr>
              <a:t>p</a:t>
            </a:r>
            <a:r>
              <a:rPr sz="1200" i="1" spc="-7" baseline="-13888" dirty="0">
                <a:latin typeface="Arial"/>
                <a:cs typeface="Arial"/>
              </a:rPr>
              <a:t>sto</a:t>
            </a:r>
            <a:r>
              <a:rPr sz="1200" i="1" spc="60" baseline="-13888" dirty="0">
                <a:latin typeface="Arial"/>
                <a:cs typeface="Arial"/>
              </a:rPr>
              <a:t>p</a:t>
            </a:r>
            <a:r>
              <a:rPr sz="1000" spc="50" dirty="0">
                <a:latin typeface="Arial"/>
                <a:cs typeface="Arial"/>
              </a:rPr>
              <a:t>)</a:t>
            </a:r>
            <a:r>
              <a:rPr sz="1000" spc="-140" dirty="0">
                <a:latin typeface="Arial"/>
                <a:cs typeface="Arial"/>
              </a:rPr>
              <a:t> </a:t>
            </a:r>
            <a:r>
              <a:rPr sz="1000" spc="190" dirty="0">
                <a:latin typeface="Arial"/>
                <a:cs typeface="Arial"/>
              </a:rPr>
              <a:t>+</a:t>
            </a:r>
            <a:endParaRPr sz="1000">
              <a:latin typeface="Arial"/>
              <a:cs typeface="Arial"/>
            </a:endParaRPr>
          </a:p>
        </p:txBody>
      </p:sp>
      <p:sp>
        <p:nvSpPr>
          <p:cNvPr id="8" name="object 8"/>
          <p:cNvSpPr txBox="1"/>
          <p:nvPr/>
        </p:nvSpPr>
        <p:spPr>
          <a:xfrm>
            <a:off x="1637588" y="1785701"/>
            <a:ext cx="1581862" cy="166071"/>
          </a:xfrm>
          <a:prstGeom prst="rect">
            <a:avLst/>
          </a:prstGeom>
        </p:spPr>
        <p:txBody>
          <a:bodyPr vert="horz" wrap="square" lIns="0" tIns="12065" rIns="0" bIns="0" rtlCol="0">
            <a:spAutoFit/>
          </a:bodyPr>
          <a:lstStyle/>
          <a:p>
            <a:pPr marL="38100">
              <a:lnSpc>
                <a:spcPct val="100000"/>
              </a:lnSpc>
              <a:spcBef>
                <a:spcPts val="95"/>
              </a:spcBef>
            </a:pPr>
            <a:r>
              <a:rPr lang="en-US" sz="1000" spc="190" dirty="0">
                <a:latin typeface="Arial"/>
                <a:cs typeface="Arial"/>
              </a:rPr>
              <a:t>=   </a:t>
            </a:r>
            <a:r>
              <a:rPr lang="en-US" sz="1000" spc="-114" dirty="0">
                <a:latin typeface="Arial"/>
                <a:cs typeface="Arial"/>
              </a:rPr>
              <a:t> </a:t>
            </a:r>
            <a:r>
              <a:rPr sz="1000" i="1" spc="-5" dirty="0">
                <a:latin typeface="Arial"/>
                <a:cs typeface="Arial"/>
              </a:rPr>
              <a:t>s</a:t>
            </a:r>
            <a:r>
              <a:rPr sz="1000" i="1" spc="-114"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i</a:t>
            </a:r>
            <a:r>
              <a:rPr sz="1000" i="1" spc="-55" dirty="0">
                <a:latin typeface="Arial"/>
                <a:cs typeface="Arial"/>
              </a:rPr>
              <a:t> </a:t>
            </a:r>
            <a:r>
              <a:rPr sz="1000" i="1" spc="105" dirty="0">
                <a:latin typeface="メイリオ"/>
                <a:cs typeface="メイリオ"/>
              </a:rPr>
              <a:t>−</a:t>
            </a:r>
            <a:r>
              <a:rPr sz="1000" i="1" spc="-5" dirty="0">
                <a:latin typeface="Arial"/>
                <a:cs typeface="Arial"/>
              </a:rPr>
              <a:t>p</a:t>
            </a:r>
            <a:r>
              <a:rPr sz="1200" i="1" spc="-7" baseline="-13888" dirty="0">
                <a:latin typeface="Arial"/>
                <a:cs typeface="Arial"/>
              </a:rPr>
              <a:t>stop</a:t>
            </a:r>
            <a:r>
              <a:rPr sz="1200" i="1" spc="-52" baseline="-13888" dirty="0">
                <a:latin typeface="Arial"/>
                <a:cs typeface="Arial"/>
              </a:rPr>
              <a:t> </a:t>
            </a:r>
            <a:r>
              <a:rPr sz="1000" i="1" spc="-75" dirty="0">
                <a:latin typeface="メイリオ"/>
                <a:cs typeface="メイリオ"/>
              </a:rPr>
              <a:t>·</a:t>
            </a:r>
            <a:r>
              <a:rPr sz="1000" i="1" spc="-204" dirty="0">
                <a:latin typeface="メイリオ"/>
                <a:cs typeface="メイリオ"/>
              </a:rPr>
              <a:t> </a:t>
            </a:r>
            <a:r>
              <a:rPr sz="1000" spc="50" dirty="0">
                <a:latin typeface="Arial"/>
                <a:cs typeface="Arial"/>
              </a:rPr>
              <a:t>(</a:t>
            </a:r>
            <a:r>
              <a:rPr sz="1000" spc="-5" dirty="0">
                <a:latin typeface="Arial"/>
                <a:cs typeface="Arial"/>
              </a:rPr>
              <a:t>1</a:t>
            </a:r>
            <a:r>
              <a:rPr sz="1000" spc="-140" dirty="0">
                <a:latin typeface="Arial"/>
                <a:cs typeface="Arial"/>
              </a:rPr>
              <a:t> </a:t>
            </a:r>
            <a:r>
              <a:rPr sz="1000" i="1" spc="-550" dirty="0">
                <a:latin typeface="メイリオ"/>
                <a:cs typeface="メイリオ"/>
              </a:rPr>
              <a:t>−</a:t>
            </a:r>
            <a:r>
              <a:rPr sz="1050" i="1" spc="30" baseline="-67460" dirty="0">
                <a:latin typeface="Arial"/>
                <a:cs typeface="Arial"/>
              </a:rPr>
              <a:t>p</a:t>
            </a:r>
            <a:r>
              <a:rPr sz="1050" i="1" spc="75" baseline="-67460" dirty="0">
                <a:latin typeface="Arial"/>
                <a:cs typeface="Arial"/>
              </a:rPr>
              <a:t> </a:t>
            </a:r>
            <a:r>
              <a:rPr sz="1000" i="1" spc="20" dirty="0">
                <a:latin typeface="Arial"/>
                <a:cs typeface="Arial"/>
              </a:rPr>
              <a:t>s</a:t>
            </a:r>
            <a:r>
              <a:rPr sz="1000" spc="50" dirty="0">
                <a:latin typeface="Arial"/>
                <a:cs typeface="Arial"/>
              </a:rPr>
              <a:t>)</a:t>
            </a:r>
            <a:r>
              <a:rPr sz="1000" spc="-140"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i</a:t>
            </a:r>
            <a:endParaRPr sz="1000" dirty="0">
              <a:latin typeface="Arial"/>
              <a:cs typeface="Arial"/>
            </a:endParaRPr>
          </a:p>
        </p:txBody>
      </p:sp>
      <p:sp>
        <p:nvSpPr>
          <p:cNvPr id="9" name="object 9"/>
          <p:cNvSpPr txBox="1"/>
          <p:nvPr/>
        </p:nvSpPr>
        <p:spPr>
          <a:xfrm>
            <a:off x="2723438" y="1951874"/>
            <a:ext cx="335549" cy="135293"/>
          </a:xfrm>
          <a:prstGeom prst="rect">
            <a:avLst/>
          </a:prstGeom>
        </p:spPr>
        <p:txBody>
          <a:bodyPr vert="horz" wrap="square" lIns="0" tIns="12065" rIns="0" bIns="0" rtlCol="0">
            <a:spAutoFit/>
          </a:bodyPr>
          <a:lstStyle/>
          <a:p>
            <a:pPr marL="12700">
              <a:lnSpc>
                <a:spcPct val="100000"/>
              </a:lnSpc>
              <a:spcBef>
                <a:spcPts val="95"/>
              </a:spcBef>
            </a:pPr>
            <a:r>
              <a:rPr sz="800" u="sng" spc="-5" dirty="0">
                <a:uFill>
                  <a:solidFill>
                    <a:srgbClr val="000000"/>
                  </a:solidFill>
                </a:uFill>
                <a:latin typeface="Times New Roman"/>
                <a:cs typeface="Times New Roman"/>
              </a:rPr>
              <a:t> </a:t>
            </a:r>
            <a:r>
              <a:rPr sz="800" u="sng" spc="10" dirty="0">
                <a:uFill>
                  <a:solidFill>
                    <a:srgbClr val="000000"/>
                  </a:solidFill>
                </a:uFill>
                <a:latin typeface="Times New Roman"/>
                <a:cs typeface="Times New Roman"/>
              </a:rPr>
              <a:t> </a:t>
            </a:r>
            <a:r>
              <a:rPr sz="800" i="1" u="sng" spc="-5" dirty="0">
                <a:uFill>
                  <a:solidFill>
                    <a:srgbClr val="000000"/>
                  </a:solidFill>
                </a:uFill>
                <a:latin typeface="Arial"/>
                <a:cs typeface="Arial"/>
              </a:rPr>
              <a:t>stop</a:t>
            </a:r>
            <a:endParaRPr sz="800" dirty="0">
              <a:latin typeface="Arial"/>
              <a:cs typeface="Arial"/>
            </a:endParaRPr>
          </a:p>
        </p:txBody>
      </p:sp>
      <p:sp>
        <p:nvSpPr>
          <p:cNvPr id="10" name="object 10"/>
          <p:cNvSpPr txBox="1"/>
          <p:nvPr/>
        </p:nvSpPr>
        <p:spPr>
          <a:xfrm>
            <a:off x="2805341" y="2063441"/>
            <a:ext cx="72390" cy="137795"/>
          </a:xfrm>
          <a:prstGeom prst="rect">
            <a:avLst/>
          </a:prstGeom>
        </p:spPr>
        <p:txBody>
          <a:bodyPr vert="horz" wrap="square" lIns="0" tIns="17145" rIns="0" bIns="0" rtlCol="0">
            <a:spAutoFit/>
          </a:bodyPr>
          <a:lstStyle/>
          <a:p>
            <a:pPr marL="12700">
              <a:lnSpc>
                <a:spcPct val="100000"/>
              </a:lnSpc>
              <a:spcBef>
                <a:spcPts val="135"/>
              </a:spcBef>
            </a:pPr>
            <a:r>
              <a:rPr sz="700" i="1" spc="15" dirty="0">
                <a:latin typeface="Arial"/>
                <a:cs typeface="Arial"/>
              </a:rPr>
              <a:t>s</a:t>
            </a:r>
            <a:endParaRPr sz="700">
              <a:latin typeface="Arial"/>
              <a:cs typeface="Arial"/>
            </a:endParaRPr>
          </a:p>
        </p:txBody>
      </p:sp>
      <p:sp>
        <p:nvSpPr>
          <p:cNvPr id="11" name="object 11"/>
          <p:cNvSpPr txBox="1"/>
          <p:nvPr/>
        </p:nvSpPr>
        <p:spPr>
          <a:xfrm>
            <a:off x="1637571" y="2169088"/>
            <a:ext cx="2065020" cy="177800"/>
          </a:xfrm>
          <a:prstGeom prst="rect">
            <a:avLst/>
          </a:prstGeom>
        </p:spPr>
        <p:txBody>
          <a:bodyPr vert="horz" wrap="square" lIns="0" tIns="12065" rIns="0" bIns="0" rtlCol="0">
            <a:spAutoFit/>
          </a:bodyPr>
          <a:lstStyle/>
          <a:p>
            <a:pPr marL="38100">
              <a:lnSpc>
                <a:spcPct val="100000"/>
              </a:lnSpc>
              <a:spcBef>
                <a:spcPts val="95"/>
              </a:spcBef>
            </a:pPr>
            <a:r>
              <a:rPr sz="1000" spc="190" dirty="0">
                <a:latin typeface="Arial"/>
                <a:cs typeface="Arial"/>
              </a:rPr>
              <a:t>=   </a:t>
            </a:r>
            <a:r>
              <a:rPr sz="1000" spc="-114" dirty="0">
                <a:latin typeface="Arial"/>
                <a:cs typeface="Arial"/>
              </a:rPr>
              <a:t> </a:t>
            </a:r>
            <a:r>
              <a:rPr sz="1000" i="1" spc="-35" dirty="0">
                <a:latin typeface="メイリオ"/>
                <a:cs typeface="メイリオ"/>
              </a:rPr>
              <a:t>−</a:t>
            </a:r>
            <a:r>
              <a:rPr sz="1000" spc="50" dirty="0">
                <a:latin typeface="Arial"/>
                <a:cs typeface="Arial"/>
              </a:rPr>
              <a:t>(</a:t>
            </a:r>
            <a:r>
              <a:rPr sz="1000" spc="-5" dirty="0">
                <a:latin typeface="Arial"/>
                <a:cs typeface="Arial"/>
              </a:rPr>
              <a:t>1</a:t>
            </a:r>
            <a:r>
              <a:rPr sz="1000" spc="-140" dirty="0">
                <a:latin typeface="Arial"/>
                <a:cs typeface="Arial"/>
              </a:rPr>
              <a:t> </a:t>
            </a:r>
            <a:r>
              <a:rPr sz="1000" spc="190" dirty="0">
                <a:latin typeface="Arial"/>
                <a:cs typeface="Arial"/>
              </a:rPr>
              <a:t>+</a:t>
            </a:r>
            <a:r>
              <a:rPr sz="1000" spc="-140" dirty="0">
                <a:latin typeface="Arial"/>
                <a:cs typeface="Arial"/>
              </a:rPr>
              <a:t> </a:t>
            </a:r>
            <a:r>
              <a:rPr sz="1000" i="1" spc="-5" dirty="0">
                <a:latin typeface="Arial"/>
                <a:cs typeface="Arial"/>
              </a:rPr>
              <a:t>p</a:t>
            </a:r>
            <a:r>
              <a:rPr sz="1200" i="1" spc="-7" baseline="-13888" dirty="0">
                <a:latin typeface="Arial"/>
                <a:cs typeface="Arial"/>
              </a:rPr>
              <a:t>sto</a:t>
            </a:r>
            <a:r>
              <a:rPr sz="1200" i="1" spc="60" baseline="-13888" dirty="0">
                <a:latin typeface="Arial"/>
                <a:cs typeface="Arial"/>
              </a:rPr>
              <a:t>p</a:t>
            </a:r>
            <a:r>
              <a:rPr sz="1000" spc="50" dirty="0">
                <a:latin typeface="Arial"/>
                <a:cs typeface="Arial"/>
              </a:rPr>
              <a:t>)</a:t>
            </a:r>
            <a:r>
              <a:rPr sz="1000" spc="-140"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s</a:t>
            </a:r>
            <a:r>
              <a:rPr sz="1000" i="1" spc="-114" dirty="0">
                <a:latin typeface="Arial"/>
                <a:cs typeface="Arial"/>
              </a:rPr>
              <a:t> </a:t>
            </a:r>
            <a:r>
              <a:rPr sz="1000" spc="190" dirty="0">
                <a:latin typeface="Arial"/>
                <a:cs typeface="Arial"/>
              </a:rPr>
              <a:t>+</a:t>
            </a:r>
            <a:r>
              <a:rPr sz="1000" spc="-140" dirty="0">
                <a:latin typeface="Arial"/>
                <a:cs typeface="Arial"/>
              </a:rPr>
              <a:t> </a:t>
            </a:r>
            <a:r>
              <a:rPr sz="1000" i="1" spc="-5" dirty="0">
                <a:latin typeface="Arial"/>
                <a:cs typeface="Arial"/>
              </a:rPr>
              <a:t>p</a:t>
            </a:r>
            <a:r>
              <a:rPr sz="1200" i="1" spc="-7" baseline="-13888" dirty="0">
                <a:latin typeface="Arial"/>
                <a:cs typeface="Arial"/>
              </a:rPr>
              <a:t>stop</a:t>
            </a:r>
            <a:r>
              <a:rPr sz="1200" i="1" spc="-52" baseline="-13888" dirty="0">
                <a:latin typeface="Arial"/>
                <a:cs typeface="Arial"/>
              </a:rPr>
              <a:t> </a:t>
            </a:r>
            <a:r>
              <a:rPr sz="1000" i="1" spc="-75" dirty="0">
                <a:latin typeface="メイリオ"/>
                <a:cs typeface="メイリオ"/>
              </a:rPr>
              <a:t>·</a:t>
            </a:r>
            <a:r>
              <a:rPr sz="1000" i="1" spc="-204" dirty="0">
                <a:latin typeface="メイリオ"/>
                <a:cs typeface="メイリオ"/>
              </a:rPr>
              <a:t> </a:t>
            </a:r>
            <a:r>
              <a:rPr sz="1000" spc="5" dirty="0">
                <a:latin typeface="Arial"/>
                <a:cs typeface="Arial"/>
              </a:rPr>
              <a:t>ln(</a:t>
            </a:r>
            <a:r>
              <a:rPr sz="1000" i="1" spc="20" dirty="0">
                <a:latin typeface="Arial"/>
                <a:cs typeface="Arial"/>
              </a:rPr>
              <a:t>s</a:t>
            </a:r>
            <a:r>
              <a:rPr sz="1000" spc="50" dirty="0">
                <a:latin typeface="Arial"/>
                <a:cs typeface="Arial"/>
              </a:rPr>
              <a:t>)</a:t>
            </a:r>
            <a:r>
              <a:rPr sz="1000" spc="-140" dirty="0">
                <a:latin typeface="Arial"/>
                <a:cs typeface="Arial"/>
              </a:rPr>
              <a:t> </a:t>
            </a:r>
            <a:r>
              <a:rPr sz="1000" spc="190" dirty="0">
                <a:latin typeface="Arial"/>
                <a:cs typeface="Arial"/>
              </a:rPr>
              <a:t>+</a:t>
            </a:r>
            <a:r>
              <a:rPr sz="1000" spc="-140" dirty="0">
                <a:latin typeface="Arial"/>
                <a:cs typeface="Arial"/>
              </a:rPr>
              <a:t> </a:t>
            </a:r>
            <a:r>
              <a:rPr sz="1000" i="1" spc="-5" dirty="0">
                <a:latin typeface="Arial"/>
                <a:cs typeface="Arial"/>
              </a:rPr>
              <a:t>C</a:t>
            </a:r>
            <a:endParaRPr sz="1000">
              <a:latin typeface="Arial"/>
              <a:cs typeface="Arial"/>
            </a:endParaRPr>
          </a:p>
        </p:txBody>
      </p:sp>
      <p:sp>
        <p:nvSpPr>
          <p:cNvPr id="12" name="object 12"/>
          <p:cNvSpPr txBox="1"/>
          <p:nvPr/>
        </p:nvSpPr>
        <p:spPr>
          <a:xfrm>
            <a:off x="296494" y="2512821"/>
            <a:ext cx="4015104" cy="607695"/>
          </a:xfrm>
          <a:prstGeom prst="rect">
            <a:avLst/>
          </a:prstGeom>
        </p:spPr>
        <p:txBody>
          <a:bodyPr vert="horz" wrap="square" lIns="0" tIns="39370" rIns="0" bIns="0" rtlCol="0">
            <a:spAutoFit/>
          </a:bodyPr>
          <a:lstStyle/>
          <a:p>
            <a:pPr marL="55880">
              <a:lnSpc>
                <a:spcPct val="100000"/>
              </a:lnSpc>
              <a:spcBef>
                <a:spcPts val="310"/>
              </a:spcBef>
            </a:pPr>
            <a:r>
              <a:rPr sz="1200" spc="-10" dirty="0">
                <a:solidFill>
                  <a:srgbClr val="3333B2"/>
                </a:solidFill>
                <a:latin typeface="Arial"/>
                <a:cs typeface="Arial"/>
              </a:rPr>
              <a:t>Wrapup</a:t>
            </a:r>
            <a:endParaRPr sz="1200" dirty="0">
              <a:latin typeface="Arial"/>
              <a:cs typeface="Arial"/>
            </a:endParaRPr>
          </a:p>
          <a:p>
            <a:pPr marL="63500">
              <a:lnSpc>
                <a:spcPct val="100000"/>
              </a:lnSpc>
              <a:spcBef>
                <a:spcPts val="175"/>
              </a:spcBef>
            </a:pPr>
            <a:r>
              <a:rPr sz="1000" i="1" spc="-5" dirty="0">
                <a:latin typeface="Arial"/>
                <a:cs typeface="Arial"/>
              </a:rPr>
              <a:t>i</a:t>
            </a:r>
            <a:r>
              <a:rPr sz="1000" i="1" spc="-195" dirty="0">
                <a:latin typeface="Arial"/>
                <a:cs typeface="Arial"/>
              </a:rPr>
              <a:t> </a:t>
            </a:r>
            <a:r>
              <a:rPr sz="1000" spc="30" dirty="0">
                <a:latin typeface="Arial"/>
                <a:cs typeface="Arial"/>
              </a:rPr>
              <a:t>(1)</a:t>
            </a:r>
            <a:r>
              <a:rPr sz="1000" spc="-60" dirty="0">
                <a:latin typeface="Arial"/>
                <a:cs typeface="Arial"/>
              </a:rPr>
              <a:t> </a:t>
            </a:r>
            <a:r>
              <a:rPr sz="1000" spc="190" dirty="0">
                <a:latin typeface="Arial"/>
                <a:cs typeface="Arial"/>
              </a:rPr>
              <a:t>=</a:t>
            </a:r>
            <a:r>
              <a:rPr sz="1000" spc="-60" dirty="0">
                <a:latin typeface="Arial"/>
                <a:cs typeface="Arial"/>
              </a:rPr>
              <a:t> </a:t>
            </a:r>
            <a:r>
              <a:rPr sz="1000" spc="-5" dirty="0">
                <a:latin typeface="Arial"/>
                <a:cs typeface="Arial"/>
              </a:rPr>
              <a:t>0</a:t>
            </a:r>
            <a:r>
              <a:rPr sz="1000" spc="-60" dirty="0">
                <a:latin typeface="Arial"/>
                <a:cs typeface="Arial"/>
              </a:rPr>
              <a:t> </a:t>
            </a:r>
            <a:r>
              <a:rPr sz="1000" i="1" spc="-5" dirty="0">
                <a:latin typeface="メイリオ"/>
                <a:cs typeface="メイリオ"/>
              </a:rPr>
              <a:t>⇒</a:t>
            </a:r>
            <a:r>
              <a:rPr sz="1000" i="1" spc="-120" dirty="0">
                <a:latin typeface="メイリオ"/>
                <a:cs typeface="メイリオ"/>
              </a:rPr>
              <a:t> </a:t>
            </a:r>
            <a:r>
              <a:rPr sz="1000" i="1" spc="-5" dirty="0">
                <a:latin typeface="Arial"/>
                <a:cs typeface="Arial"/>
              </a:rPr>
              <a:t>C</a:t>
            </a:r>
            <a:r>
              <a:rPr sz="1000" i="1" dirty="0">
                <a:latin typeface="Arial"/>
                <a:cs typeface="Arial"/>
              </a:rPr>
              <a:t> </a:t>
            </a:r>
            <a:r>
              <a:rPr sz="1000" spc="190" dirty="0">
                <a:latin typeface="Arial"/>
                <a:cs typeface="Arial"/>
              </a:rPr>
              <a:t>=</a:t>
            </a:r>
            <a:r>
              <a:rPr sz="1000" spc="-60" dirty="0">
                <a:latin typeface="Arial"/>
                <a:cs typeface="Arial"/>
              </a:rPr>
              <a:t> </a:t>
            </a:r>
            <a:r>
              <a:rPr sz="1000" spc="-5" dirty="0">
                <a:latin typeface="Arial"/>
                <a:cs typeface="Arial"/>
              </a:rPr>
              <a:t>1</a:t>
            </a:r>
            <a:r>
              <a:rPr sz="1000" spc="-135" dirty="0">
                <a:latin typeface="Arial"/>
                <a:cs typeface="Arial"/>
              </a:rPr>
              <a:t> </a:t>
            </a:r>
            <a:r>
              <a:rPr sz="1000" spc="190" dirty="0">
                <a:latin typeface="Arial"/>
                <a:cs typeface="Arial"/>
              </a:rPr>
              <a:t>+</a:t>
            </a:r>
            <a:r>
              <a:rPr sz="1000" spc="-140" dirty="0">
                <a:latin typeface="Arial"/>
                <a:cs typeface="Arial"/>
              </a:rPr>
              <a:t> </a:t>
            </a:r>
            <a:r>
              <a:rPr sz="1000" i="1" spc="-5" dirty="0">
                <a:latin typeface="Arial"/>
                <a:cs typeface="Arial"/>
              </a:rPr>
              <a:t>p</a:t>
            </a:r>
            <a:r>
              <a:rPr sz="1200" i="1" spc="-7" baseline="-13888" dirty="0">
                <a:latin typeface="Arial"/>
                <a:cs typeface="Arial"/>
              </a:rPr>
              <a:t>stop</a:t>
            </a:r>
            <a:r>
              <a:rPr sz="1200" i="1" spc="67" baseline="-13888" dirty="0">
                <a:latin typeface="Arial"/>
                <a:cs typeface="Arial"/>
              </a:rPr>
              <a:t> </a:t>
            </a:r>
            <a:r>
              <a:rPr sz="1000" i="1" spc="-5" dirty="0">
                <a:latin typeface="メイリオ"/>
                <a:cs typeface="メイリオ"/>
              </a:rPr>
              <a:t>⇒</a:t>
            </a:r>
            <a:r>
              <a:rPr sz="1000" i="1" spc="-120" dirty="0">
                <a:latin typeface="メイリオ"/>
                <a:cs typeface="メイリオ"/>
              </a:rPr>
              <a:t> </a:t>
            </a:r>
            <a:r>
              <a:rPr sz="1000" i="1" spc="-5" dirty="0">
                <a:latin typeface="Arial"/>
                <a:cs typeface="Arial"/>
              </a:rPr>
              <a:t>i</a:t>
            </a:r>
            <a:r>
              <a:rPr sz="1000" i="1" spc="-195" dirty="0">
                <a:latin typeface="Arial"/>
                <a:cs typeface="Arial"/>
              </a:rPr>
              <a:t> </a:t>
            </a:r>
            <a:r>
              <a:rPr sz="1000" spc="40" dirty="0">
                <a:latin typeface="Arial"/>
                <a:cs typeface="Arial"/>
              </a:rPr>
              <a:t>(</a:t>
            </a:r>
            <a:r>
              <a:rPr sz="1000" i="1" spc="40" dirty="0">
                <a:latin typeface="Arial"/>
                <a:cs typeface="Arial"/>
              </a:rPr>
              <a:t>s</a:t>
            </a:r>
            <a:r>
              <a:rPr sz="1000" spc="40" dirty="0">
                <a:latin typeface="Arial"/>
                <a:cs typeface="Arial"/>
              </a:rPr>
              <a:t>)</a:t>
            </a:r>
            <a:r>
              <a:rPr sz="1000" spc="-60" dirty="0">
                <a:latin typeface="Arial"/>
                <a:cs typeface="Arial"/>
              </a:rPr>
              <a:t> </a:t>
            </a:r>
            <a:r>
              <a:rPr sz="1000" spc="190" dirty="0">
                <a:latin typeface="Arial"/>
                <a:cs typeface="Arial"/>
              </a:rPr>
              <a:t>=</a:t>
            </a:r>
            <a:r>
              <a:rPr sz="1000" spc="-60" dirty="0">
                <a:latin typeface="Arial"/>
                <a:cs typeface="Arial"/>
              </a:rPr>
              <a:t> </a:t>
            </a:r>
            <a:r>
              <a:rPr sz="1000" spc="25" dirty="0">
                <a:latin typeface="Arial"/>
                <a:cs typeface="Arial"/>
              </a:rPr>
              <a:t>(1</a:t>
            </a:r>
            <a:r>
              <a:rPr sz="1000" spc="-140" dirty="0">
                <a:latin typeface="Arial"/>
                <a:cs typeface="Arial"/>
              </a:rPr>
              <a:t> </a:t>
            </a:r>
            <a:r>
              <a:rPr sz="1000" spc="190" dirty="0">
                <a:latin typeface="Arial"/>
                <a:cs typeface="Arial"/>
              </a:rPr>
              <a:t>+</a:t>
            </a:r>
            <a:r>
              <a:rPr sz="1000" spc="-135" dirty="0">
                <a:latin typeface="Arial"/>
                <a:cs typeface="Arial"/>
              </a:rPr>
              <a:t> </a:t>
            </a:r>
            <a:r>
              <a:rPr sz="1000" i="1" spc="10" dirty="0">
                <a:latin typeface="Arial"/>
                <a:cs typeface="Arial"/>
              </a:rPr>
              <a:t>p</a:t>
            </a:r>
            <a:r>
              <a:rPr sz="1200" i="1" spc="15" baseline="-13888" dirty="0">
                <a:latin typeface="Arial"/>
                <a:cs typeface="Arial"/>
              </a:rPr>
              <a:t>stop</a:t>
            </a:r>
            <a:r>
              <a:rPr sz="1000" spc="10" dirty="0">
                <a:latin typeface="Arial"/>
                <a:cs typeface="Arial"/>
              </a:rPr>
              <a:t>)</a:t>
            </a:r>
            <a:r>
              <a:rPr sz="1000" spc="-140" dirty="0">
                <a:latin typeface="Arial"/>
                <a:cs typeface="Arial"/>
              </a:rPr>
              <a:t> </a:t>
            </a:r>
            <a:r>
              <a:rPr sz="1000" i="1" spc="-75" dirty="0">
                <a:latin typeface="メイリオ"/>
                <a:cs typeface="メイリオ"/>
              </a:rPr>
              <a:t>·</a:t>
            </a:r>
            <a:r>
              <a:rPr sz="1000" i="1" spc="-204" dirty="0">
                <a:latin typeface="メイリオ"/>
                <a:cs typeface="メイリオ"/>
              </a:rPr>
              <a:t> </a:t>
            </a:r>
            <a:r>
              <a:rPr sz="1000" spc="25" dirty="0">
                <a:latin typeface="Arial"/>
                <a:cs typeface="Arial"/>
              </a:rPr>
              <a:t>(1</a:t>
            </a:r>
            <a:r>
              <a:rPr sz="1000" spc="-140" dirty="0">
                <a:latin typeface="Arial"/>
                <a:cs typeface="Arial"/>
              </a:rPr>
              <a:t> </a:t>
            </a:r>
            <a:r>
              <a:rPr sz="1000" i="1" spc="60" dirty="0">
                <a:latin typeface="メイリオ"/>
                <a:cs typeface="メイリオ"/>
              </a:rPr>
              <a:t>−</a:t>
            </a:r>
            <a:r>
              <a:rPr sz="1000" i="1" spc="60" dirty="0">
                <a:latin typeface="Arial"/>
                <a:cs typeface="Arial"/>
              </a:rPr>
              <a:t>s</a:t>
            </a:r>
            <a:r>
              <a:rPr sz="1000" spc="60" dirty="0">
                <a:latin typeface="Arial"/>
                <a:cs typeface="Arial"/>
              </a:rPr>
              <a:t>)</a:t>
            </a:r>
            <a:r>
              <a:rPr sz="1000" spc="-140" dirty="0">
                <a:latin typeface="Arial"/>
                <a:cs typeface="Arial"/>
              </a:rPr>
              <a:t> </a:t>
            </a:r>
            <a:r>
              <a:rPr sz="1000" spc="190" dirty="0">
                <a:latin typeface="Arial"/>
                <a:cs typeface="Arial"/>
              </a:rPr>
              <a:t>+</a:t>
            </a:r>
            <a:r>
              <a:rPr sz="1000" spc="-140" dirty="0">
                <a:latin typeface="Arial"/>
                <a:cs typeface="Arial"/>
              </a:rPr>
              <a:t> </a:t>
            </a:r>
            <a:r>
              <a:rPr sz="1000" i="1" spc="-5" dirty="0">
                <a:latin typeface="Arial"/>
                <a:cs typeface="Arial"/>
              </a:rPr>
              <a:t>p</a:t>
            </a:r>
            <a:r>
              <a:rPr sz="1200" i="1" spc="-7" baseline="-13888" dirty="0">
                <a:latin typeface="Arial"/>
                <a:cs typeface="Arial"/>
              </a:rPr>
              <a:t>stop</a:t>
            </a:r>
            <a:r>
              <a:rPr sz="1200" i="1" spc="-52" baseline="-13888" dirty="0">
                <a:latin typeface="Arial"/>
                <a:cs typeface="Arial"/>
              </a:rPr>
              <a:t> </a:t>
            </a:r>
            <a:r>
              <a:rPr sz="1000" i="1" spc="-75" dirty="0">
                <a:latin typeface="メイリオ"/>
                <a:cs typeface="メイリオ"/>
              </a:rPr>
              <a:t>·</a:t>
            </a:r>
            <a:r>
              <a:rPr sz="1000" i="1" spc="-204" dirty="0">
                <a:latin typeface="メイリオ"/>
                <a:cs typeface="メイリオ"/>
              </a:rPr>
              <a:t> </a:t>
            </a:r>
            <a:r>
              <a:rPr sz="1000" spc="15" dirty="0">
                <a:latin typeface="Arial"/>
                <a:cs typeface="Arial"/>
              </a:rPr>
              <a:t>ln(</a:t>
            </a:r>
            <a:r>
              <a:rPr sz="1000" i="1" spc="15" dirty="0">
                <a:latin typeface="Arial"/>
                <a:cs typeface="Arial"/>
              </a:rPr>
              <a:t>s</a:t>
            </a:r>
            <a:r>
              <a:rPr sz="1000" spc="15" dirty="0">
                <a:latin typeface="Arial"/>
                <a:cs typeface="Arial"/>
              </a:rPr>
              <a:t>).</a:t>
            </a:r>
            <a:r>
              <a:rPr sz="1000" spc="65" dirty="0">
                <a:latin typeface="Arial"/>
                <a:cs typeface="Arial"/>
              </a:rPr>
              <a:t> </a:t>
            </a:r>
            <a:r>
              <a:rPr sz="1000" spc="-20" dirty="0">
                <a:latin typeface="Arial"/>
                <a:cs typeface="Arial"/>
              </a:rPr>
              <a:t>We</a:t>
            </a:r>
            <a:endParaRPr sz="1000" dirty="0">
              <a:latin typeface="Arial"/>
              <a:cs typeface="Arial"/>
            </a:endParaRPr>
          </a:p>
          <a:p>
            <a:pPr marL="63500">
              <a:lnSpc>
                <a:spcPct val="100000"/>
              </a:lnSpc>
              <a:spcBef>
                <a:spcPts val="355"/>
              </a:spcBef>
            </a:pPr>
            <a:r>
              <a:rPr sz="1000" spc="-5" dirty="0">
                <a:latin typeface="Arial"/>
                <a:cs typeface="Arial"/>
              </a:rPr>
              <a:t>are looking</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case</a:t>
            </a:r>
            <a:r>
              <a:rPr sz="1000" dirty="0">
                <a:latin typeface="Arial"/>
                <a:cs typeface="Arial"/>
              </a:rPr>
              <a:t> </a:t>
            </a:r>
            <a:r>
              <a:rPr sz="1000" i="1" spc="-5" dirty="0">
                <a:latin typeface="Arial"/>
                <a:cs typeface="Arial"/>
              </a:rPr>
              <a:t>i</a:t>
            </a:r>
            <a:r>
              <a:rPr sz="1000" i="1" spc="-195" dirty="0">
                <a:latin typeface="Arial"/>
                <a:cs typeface="Arial"/>
              </a:rPr>
              <a:t> </a:t>
            </a:r>
            <a:r>
              <a:rPr sz="1000" spc="40" dirty="0">
                <a:latin typeface="Arial"/>
                <a:cs typeface="Arial"/>
              </a:rPr>
              <a:t>(</a:t>
            </a:r>
            <a:r>
              <a:rPr sz="1000" i="1" spc="40" dirty="0">
                <a:latin typeface="Arial"/>
                <a:cs typeface="Arial"/>
              </a:rPr>
              <a:t>s</a:t>
            </a:r>
            <a:r>
              <a:rPr sz="1000" spc="40" dirty="0">
                <a:latin typeface="Arial"/>
                <a:cs typeface="Arial"/>
              </a:rPr>
              <a:t>)</a:t>
            </a:r>
            <a:r>
              <a:rPr sz="1000" spc="-55" dirty="0">
                <a:latin typeface="Arial"/>
                <a:cs typeface="Arial"/>
              </a:rPr>
              <a:t> </a:t>
            </a:r>
            <a:r>
              <a:rPr sz="1000" spc="190" dirty="0">
                <a:latin typeface="Arial"/>
                <a:cs typeface="Arial"/>
              </a:rPr>
              <a:t>=</a:t>
            </a:r>
            <a:r>
              <a:rPr sz="1000" spc="-55" dirty="0">
                <a:latin typeface="Arial"/>
                <a:cs typeface="Arial"/>
              </a:rPr>
              <a:t> </a:t>
            </a:r>
            <a:r>
              <a:rPr sz="1000" spc="-5" dirty="0">
                <a:latin typeface="Arial"/>
                <a:cs typeface="Arial"/>
              </a:rPr>
              <a:t>0,</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leads</a:t>
            </a:r>
            <a:r>
              <a:rPr sz="1000" dirty="0">
                <a:latin typeface="Arial"/>
                <a:cs typeface="Arial"/>
              </a:rPr>
              <a:t> </a:t>
            </a:r>
            <a:r>
              <a:rPr sz="1000" spc="-5" dirty="0">
                <a:latin typeface="Arial"/>
                <a:cs typeface="Arial"/>
              </a:rPr>
              <a:t>to</a:t>
            </a:r>
            <a:r>
              <a:rPr sz="1000" dirty="0">
                <a:latin typeface="Arial"/>
                <a:cs typeface="Arial"/>
              </a:rPr>
              <a:t> </a:t>
            </a:r>
            <a:r>
              <a:rPr sz="1000" i="1" spc="-5" dirty="0">
                <a:latin typeface="Arial"/>
                <a:cs typeface="Arial"/>
              </a:rPr>
              <a:t>s</a:t>
            </a:r>
            <a:r>
              <a:rPr sz="1000" i="1" spc="-25" dirty="0">
                <a:latin typeface="Arial"/>
                <a:cs typeface="Arial"/>
              </a:rPr>
              <a:t> </a:t>
            </a:r>
            <a:r>
              <a:rPr sz="1000" spc="190" dirty="0">
                <a:latin typeface="Arial"/>
                <a:cs typeface="Arial"/>
              </a:rPr>
              <a:t>=</a:t>
            </a:r>
            <a:r>
              <a:rPr sz="1000" spc="-60" dirty="0">
                <a:latin typeface="Arial"/>
                <a:cs typeface="Arial"/>
              </a:rPr>
              <a:t> </a:t>
            </a:r>
            <a:r>
              <a:rPr sz="1000" i="1" spc="40" dirty="0">
                <a:latin typeface="Arial"/>
                <a:cs typeface="Arial"/>
              </a:rPr>
              <a:t>e</a:t>
            </a:r>
            <a:r>
              <a:rPr sz="1050" i="1" spc="60" baseline="43650" dirty="0">
                <a:latin typeface="メイリオ"/>
                <a:cs typeface="メイリオ"/>
              </a:rPr>
              <a:t>−</a:t>
            </a:r>
            <a:r>
              <a:rPr sz="1050" spc="60" baseline="43650" dirty="0">
                <a:latin typeface="Arial"/>
                <a:cs typeface="Arial"/>
              </a:rPr>
              <a:t>(1</a:t>
            </a:r>
            <a:r>
              <a:rPr sz="1050" i="1" spc="60" baseline="43650" dirty="0">
                <a:latin typeface="Arial"/>
                <a:cs typeface="Arial"/>
              </a:rPr>
              <a:t>/p</a:t>
            </a:r>
            <a:r>
              <a:rPr sz="1200" i="1" spc="60" baseline="17361" dirty="0">
                <a:latin typeface="Arial"/>
                <a:cs typeface="Arial"/>
              </a:rPr>
              <a:t>stop</a:t>
            </a:r>
            <a:r>
              <a:rPr sz="1050" spc="60" baseline="43650" dirty="0">
                <a:latin typeface="Arial"/>
                <a:cs typeface="Arial"/>
              </a:rPr>
              <a:t>+1)(1</a:t>
            </a:r>
            <a:r>
              <a:rPr sz="1050" i="1" spc="60" baseline="43650" dirty="0">
                <a:latin typeface="メイリオ"/>
                <a:cs typeface="メイリオ"/>
              </a:rPr>
              <a:t>−</a:t>
            </a:r>
            <a:r>
              <a:rPr sz="1050" i="1" spc="60" baseline="43650" dirty="0">
                <a:latin typeface="Arial"/>
                <a:cs typeface="Arial"/>
              </a:rPr>
              <a:t>s</a:t>
            </a:r>
            <a:r>
              <a:rPr sz="1050" spc="60" baseline="43650" dirty="0">
                <a:latin typeface="Arial"/>
                <a:cs typeface="Arial"/>
              </a:rPr>
              <a:t>)</a:t>
            </a:r>
            <a:endParaRPr sz="1050" baseline="43650" dirty="0">
              <a:latin typeface="Arial"/>
              <a:cs typeface="Arial"/>
            </a:endParaRP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Multicast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communication</a:t>
            </a:r>
            <a:endParaRPr sz="600">
              <a:latin typeface="Arial"/>
              <a:cs typeface="Arial"/>
            </a:endParaRPr>
          </a:p>
        </p:txBody>
      </p:sp>
      <p:sp>
        <p:nvSpPr>
          <p:cNvPr id="3" name="object 3"/>
          <p:cNvSpPr txBox="1"/>
          <p:nvPr/>
        </p:nvSpPr>
        <p:spPr>
          <a:xfrm>
            <a:off x="3393559" y="716"/>
            <a:ext cx="11480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Gossip-based data</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dissemination</a:t>
            </a:r>
            <a:endParaRPr sz="600">
              <a:latin typeface="Arial"/>
              <a:cs typeface="Arial"/>
            </a:endParaRPr>
          </a:p>
        </p:txBody>
      </p:sp>
      <p:sp>
        <p:nvSpPr>
          <p:cNvPr id="4" name="object 4"/>
          <p:cNvSpPr txBox="1"/>
          <p:nvPr/>
        </p:nvSpPr>
        <p:spPr>
          <a:xfrm>
            <a:off x="95300" y="188846"/>
            <a:ext cx="1728470" cy="62293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Rumor</a:t>
            </a:r>
            <a:r>
              <a:rPr sz="1400" spc="-35" dirty="0">
                <a:solidFill>
                  <a:srgbClr val="3333B2"/>
                </a:solidFill>
                <a:latin typeface="Arial"/>
                <a:cs typeface="Arial"/>
              </a:rPr>
              <a:t> </a:t>
            </a:r>
            <a:r>
              <a:rPr sz="1400" spc="15" dirty="0">
                <a:solidFill>
                  <a:srgbClr val="3333B2"/>
                </a:solidFill>
                <a:latin typeface="Arial"/>
                <a:cs typeface="Arial"/>
              </a:rPr>
              <a:t>spreading</a:t>
            </a:r>
            <a:endParaRPr sz="1400">
              <a:latin typeface="Arial"/>
              <a:cs typeface="Arial"/>
            </a:endParaRPr>
          </a:p>
          <a:p>
            <a:pPr marL="259715">
              <a:lnSpc>
                <a:spcPct val="100000"/>
              </a:lnSpc>
              <a:spcBef>
                <a:spcPts val="1545"/>
              </a:spcBef>
            </a:pPr>
            <a:r>
              <a:rPr sz="1200" spc="-5" dirty="0">
                <a:solidFill>
                  <a:srgbClr val="3333B2"/>
                </a:solidFill>
                <a:latin typeface="Arial"/>
                <a:cs typeface="Arial"/>
              </a:rPr>
              <a:t>The</a:t>
            </a:r>
            <a:r>
              <a:rPr sz="1200" spc="-25" dirty="0">
                <a:solidFill>
                  <a:srgbClr val="3333B2"/>
                </a:solidFill>
                <a:latin typeface="Arial"/>
                <a:cs typeface="Arial"/>
              </a:rPr>
              <a:t> </a:t>
            </a:r>
            <a:r>
              <a:rPr sz="1200" spc="-10" dirty="0">
                <a:solidFill>
                  <a:srgbClr val="3333B2"/>
                </a:solidFill>
                <a:latin typeface="Arial"/>
                <a:cs typeface="Arial"/>
              </a:rPr>
              <a:t>effect</a:t>
            </a:r>
            <a:r>
              <a:rPr sz="1200" spc="-20" dirty="0">
                <a:solidFill>
                  <a:srgbClr val="3333B2"/>
                </a:solidFill>
                <a:latin typeface="Arial"/>
                <a:cs typeface="Arial"/>
              </a:rPr>
              <a:t> </a:t>
            </a:r>
            <a:r>
              <a:rPr sz="1200" spc="-5" dirty="0">
                <a:solidFill>
                  <a:srgbClr val="3333B2"/>
                </a:solidFill>
                <a:latin typeface="Arial"/>
                <a:cs typeface="Arial"/>
              </a:rPr>
              <a:t>of</a:t>
            </a:r>
            <a:r>
              <a:rPr sz="1200" spc="-20" dirty="0">
                <a:solidFill>
                  <a:srgbClr val="3333B2"/>
                </a:solidFill>
                <a:latin typeface="Arial"/>
                <a:cs typeface="Arial"/>
              </a:rPr>
              <a:t> </a:t>
            </a:r>
            <a:r>
              <a:rPr sz="1200" spc="-5" dirty="0">
                <a:solidFill>
                  <a:srgbClr val="3333B2"/>
                </a:solidFill>
                <a:latin typeface="Arial"/>
                <a:cs typeface="Arial"/>
              </a:rPr>
              <a:t>stopping</a:t>
            </a:r>
            <a:endParaRPr sz="1200">
              <a:latin typeface="Arial"/>
              <a:cs typeface="Arial"/>
            </a:endParaRPr>
          </a:p>
        </p:txBody>
      </p:sp>
      <p:grpSp>
        <p:nvGrpSpPr>
          <p:cNvPr id="5" name="object 5"/>
          <p:cNvGrpSpPr/>
          <p:nvPr/>
        </p:nvGrpSpPr>
        <p:grpSpPr>
          <a:xfrm>
            <a:off x="760710" y="961134"/>
            <a:ext cx="1559560" cy="1141730"/>
            <a:chOff x="760710" y="961134"/>
            <a:chExt cx="1559560" cy="1141730"/>
          </a:xfrm>
        </p:grpSpPr>
        <p:sp>
          <p:nvSpPr>
            <p:cNvPr id="6" name="object 6"/>
            <p:cNvSpPr/>
            <p:nvPr/>
          </p:nvSpPr>
          <p:spPr>
            <a:xfrm>
              <a:off x="763568" y="963991"/>
              <a:ext cx="1553845" cy="1136015"/>
            </a:xfrm>
            <a:custGeom>
              <a:avLst/>
              <a:gdLst/>
              <a:ahLst/>
              <a:cxnLst/>
              <a:rect l="l" t="t" r="r" b="b"/>
              <a:pathLst>
                <a:path w="1553845" h="1136014">
                  <a:moveTo>
                    <a:pt x="0" y="1135444"/>
                  </a:moveTo>
                  <a:lnTo>
                    <a:pt x="1553753" y="1135444"/>
                  </a:lnTo>
                  <a:lnTo>
                    <a:pt x="1553753" y="0"/>
                  </a:lnTo>
                  <a:lnTo>
                    <a:pt x="0" y="0"/>
                  </a:lnTo>
                  <a:lnTo>
                    <a:pt x="0" y="1135444"/>
                  </a:lnTo>
                  <a:close/>
                </a:path>
                <a:path w="1553845" h="1136014">
                  <a:moveTo>
                    <a:pt x="0" y="1135444"/>
                  </a:moveTo>
                  <a:lnTo>
                    <a:pt x="0" y="1109904"/>
                  </a:lnTo>
                </a:path>
                <a:path w="1553845" h="1136014">
                  <a:moveTo>
                    <a:pt x="310449" y="1135444"/>
                  </a:moveTo>
                  <a:lnTo>
                    <a:pt x="310449" y="1109904"/>
                  </a:lnTo>
                </a:path>
                <a:path w="1553845" h="1136014">
                  <a:moveTo>
                    <a:pt x="621651" y="1135444"/>
                  </a:moveTo>
                  <a:lnTo>
                    <a:pt x="621651" y="1109904"/>
                  </a:lnTo>
                </a:path>
                <a:path w="1553845" h="1136014">
                  <a:moveTo>
                    <a:pt x="932099" y="1135444"/>
                  </a:moveTo>
                  <a:lnTo>
                    <a:pt x="932099" y="1109904"/>
                  </a:lnTo>
                </a:path>
                <a:path w="1553845" h="1136014">
                  <a:moveTo>
                    <a:pt x="1243301" y="1135444"/>
                  </a:moveTo>
                  <a:lnTo>
                    <a:pt x="1243301" y="1109904"/>
                  </a:lnTo>
                </a:path>
                <a:path w="1553845" h="1136014">
                  <a:moveTo>
                    <a:pt x="1553754" y="1135444"/>
                  </a:moveTo>
                  <a:lnTo>
                    <a:pt x="1553754" y="1109904"/>
                  </a:lnTo>
                </a:path>
                <a:path w="1553845" h="1136014">
                  <a:moveTo>
                    <a:pt x="0" y="825741"/>
                  </a:moveTo>
                  <a:lnTo>
                    <a:pt x="47240" y="825741"/>
                  </a:lnTo>
                </a:path>
                <a:path w="1553845" h="1136014">
                  <a:moveTo>
                    <a:pt x="0" y="567520"/>
                  </a:moveTo>
                  <a:lnTo>
                    <a:pt x="47240" y="567520"/>
                  </a:lnTo>
                </a:path>
                <a:path w="1553845" h="1136014">
                  <a:moveTo>
                    <a:pt x="0" y="309706"/>
                  </a:moveTo>
                  <a:lnTo>
                    <a:pt x="47240" y="309706"/>
                  </a:lnTo>
                </a:path>
                <a:path w="1553845" h="1136014">
                  <a:moveTo>
                    <a:pt x="0" y="51485"/>
                  </a:moveTo>
                  <a:lnTo>
                    <a:pt x="47240" y="51485"/>
                  </a:lnTo>
                </a:path>
                <a:path w="1553845" h="1136014">
                  <a:moveTo>
                    <a:pt x="0" y="1135444"/>
                  </a:moveTo>
                  <a:lnTo>
                    <a:pt x="1553753" y="1135444"/>
                  </a:lnTo>
                  <a:lnTo>
                    <a:pt x="1553753" y="0"/>
                  </a:lnTo>
                  <a:lnTo>
                    <a:pt x="0" y="0"/>
                  </a:lnTo>
                  <a:lnTo>
                    <a:pt x="0" y="1135444"/>
                  </a:lnTo>
                  <a:close/>
                </a:path>
              </a:pathLst>
            </a:custGeom>
            <a:ln w="5270">
              <a:solidFill>
                <a:srgbClr val="000000"/>
              </a:solidFill>
            </a:ln>
          </p:spPr>
          <p:txBody>
            <a:bodyPr wrap="square" lIns="0" tIns="0" rIns="0" bIns="0" rtlCol="0"/>
            <a:lstStyle/>
            <a:p>
              <a:endParaRPr/>
            </a:p>
          </p:txBody>
        </p:sp>
        <p:sp>
          <p:nvSpPr>
            <p:cNvPr id="7" name="object 7"/>
            <p:cNvSpPr/>
            <p:nvPr/>
          </p:nvSpPr>
          <p:spPr>
            <a:xfrm>
              <a:off x="1031276" y="999212"/>
              <a:ext cx="1286510" cy="1043305"/>
            </a:xfrm>
            <a:custGeom>
              <a:avLst/>
              <a:gdLst/>
              <a:ahLst/>
              <a:cxnLst/>
              <a:rect l="l" t="t" r="r" b="b"/>
              <a:pathLst>
                <a:path w="1286510" h="1043305">
                  <a:moveTo>
                    <a:pt x="0" y="1043064"/>
                  </a:moveTo>
                  <a:lnTo>
                    <a:pt x="61491" y="1031312"/>
                  </a:lnTo>
                  <a:lnTo>
                    <a:pt x="100481" y="1019960"/>
                  </a:lnTo>
                  <a:lnTo>
                    <a:pt x="157468" y="996852"/>
                  </a:lnTo>
                  <a:lnTo>
                    <a:pt x="203210" y="974152"/>
                  </a:lnTo>
                  <a:lnTo>
                    <a:pt x="242199" y="951049"/>
                  </a:lnTo>
                  <a:lnTo>
                    <a:pt x="260198" y="939696"/>
                  </a:lnTo>
                  <a:lnTo>
                    <a:pt x="278195" y="928344"/>
                  </a:lnTo>
                  <a:lnTo>
                    <a:pt x="294690" y="916588"/>
                  </a:lnTo>
                  <a:lnTo>
                    <a:pt x="310436" y="905236"/>
                  </a:lnTo>
                  <a:lnTo>
                    <a:pt x="326181" y="893888"/>
                  </a:lnTo>
                  <a:lnTo>
                    <a:pt x="356923" y="870780"/>
                  </a:lnTo>
                  <a:lnTo>
                    <a:pt x="399664" y="836325"/>
                  </a:lnTo>
                  <a:lnTo>
                    <a:pt x="413166" y="824972"/>
                  </a:lnTo>
                  <a:lnTo>
                    <a:pt x="427408" y="813620"/>
                  </a:lnTo>
                  <a:lnTo>
                    <a:pt x="440160" y="801864"/>
                  </a:lnTo>
                  <a:lnTo>
                    <a:pt x="453654" y="790512"/>
                  </a:lnTo>
                  <a:lnTo>
                    <a:pt x="467151" y="779164"/>
                  </a:lnTo>
                  <a:lnTo>
                    <a:pt x="479903" y="767812"/>
                  </a:lnTo>
                  <a:lnTo>
                    <a:pt x="492647" y="756056"/>
                  </a:lnTo>
                  <a:lnTo>
                    <a:pt x="505391" y="744704"/>
                  </a:lnTo>
                  <a:lnTo>
                    <a:pt x="518143" y="733352"/>
                  </a:lnTo>
                  <a:lnTo>
                    <a:pt x="530889" y="721600"/>
                  </a:lnTo>
                  <a:lnTo>
                    <a:pt x="542884" y="710248"/>
                  </a:lnTo>
                  <a:lnTo>
                    <a:pt x="555628" y="698896"/>
                  </a:lnTo>
                  <a:lnTo>
                    <a:pt x="567624" y="687136"/>
                  </a:lnTo>
                  <a:lnTo>
                    <a:pt x="580379" y="675788"/>
                  </a:lnTo>
                  <a:lnTo>
                    <a:pt x="592374" y="664436"/>
                  </a:lnTo>
                  <a:lnTo>
                    <a:pt x="604370" y="653088"/>
                  </a:lnTo>
                  <a:lnTo>
                    <a:pt x="616365" y="641332"/>
                  </a:lnTo>
                  <a:lnTo>
                    <a:pt x="628361" y="629980"/>
                  </a:lnTo>
                  <a:lnTo>
                    <a:pt x="640357" y="618628"/>
                  </a:lnTo>
                  <a:lnTo>
                    <a:pt x="652352" y="606872"/>
                  </a:lnTo>
                  <a:lnTo>
                    <a:pt x="664348" y="595524"/>
                  </a:lnTo>
                  <a:lnTo>
                    <a:pt x="676344" y="584172"/>
                  </a:lnTo>
                  <a:lnTo>
                    <a:pt x="688339" y="572820"/>
                  </a:lnTo>
                  <a:lnTo>
                    <a:pt x="699587" y="561064"/>
                  </a:lnTo>
                  <a:lnTo>
                    <a:pt x="711582" y="549712"/>
                  </a:lnTo>
                  <a:lnTo>
                    <a:pt x="723578" y="538364"/>
                  </a:lnTo>
                  <a:lnTo>
                    <a:pt x="734825" y="526604"/>
                  </a:lnTo>
                  <a:lnTo>
                    <a:pt x="746821" y="515256"/>
                  </a:lnTo>
                  <a:lnTo>
                    <a:pt x="758817" y="503904"/>
                  </a:lnTo>
                  <a:lnTo>
                    <a:pt x="770064" y="492148"/>
                  </a:lnTo>
                  <a:lnTo>
                    <a:pt x="782059" y="480800"/>
                  </a:lnTo>
                  <a:lnTo>
                    <a:pt x="794066" y="469448"/>
                  </a:lnTo>
                  <a:lnTo>
                    <a:pt x="805302" y="458096"/>
                  </a:lnTo>
                  <a:lnTo>
                    <a:pt x="817309" y="446336"/>
                  </a:lnTo>
                  <a:lnTo>
                    <a:pt x="828556" y="434988"/>
                  </a:lnTo>
                  <a:lnTo>
                    <a:pt x="840551" y="423636"/>
                  </a:lnTo>
                  <a:lnTo>
                    <a:pt x="852537" y="411884"/>
                  </a:lnTo>
                  <a:lnTo>
                    <a:pt x="863784" y="400532"/>
                  </a:lnTo>
                  <a:lnTo>
                    <a:pt x="875790" y="389180"/>
                  </a:lnTo>
                  <a:lnTo>
                    <a:pt x="887037" y="377828"/>
                  </a:lnTo>
                  <a:lnTo>
                    <a:pt x="899033" y="366073"/>
                  </a:lnTo>
                  <a:lnTo>
                    <a:pt x="911029" y="354724"/>
                  </a:lnTo>
                  <a:lnTo>
                    <a:pt x="922276" y="343372"/>
                  </a:lnTo>
                  <a:lnTo>
                    <a:pt x="934271" y="331616"/>
                  </a:lnTo>
                  <a:lnTo>
                    <a:pt x="946267" y="320264"/>
                  </a:lnTo>
                  <a:lnTo>
                    <a:pt x="958263" y="308912"/>
                  </a:lnTo>
                  <a:lnTo>
                    <a:pt x="969510" y="297161"/>
                  </a:lnTo>
                  <a:lnTo>
                    <a:pt x="981506" y="285804"/>
                  </a:lnTo>
                  <a:lnTo>
                    <a:pt x="993501" y="274456"/>
                  </a:lnTo>
                  <a:lnTo>
                    <a:pt x="1005497" y="263104"/>
                  </a:lnTo>
                  <a:lnTo>
                    <a:pt x="1017493" y="251349"/>
                  </a:lnTo>
                  <a:lnTo>
                    <a:pt x="1029488" y="239997"/>
                  </a:lnTo>
                  <a:lnTo>
                    <a:pt x="1041484" y="228644"/>
                  </a:lnTo>
                  <a:lnTo>
                    <a:pt x="1052731" y="216891"/>
                  </a:lnTo>
                  <a:lnTo>
                    <a:pt x="1064727" y="205538"/>
                  </a:lnTo>
                  <a:lnTo>
                    <a:pt x="1077482" y="194186"/>
                  </a:lnTo>
                  <a:lnTo>
                    <a:pt x="1089477" y="182833"/>
                  </a:lnTo>
                  <a:lnTo>
                    <a:pt x="1101473" y="171080"/>
                  </a:lnTo>
                  <a:lnTo>
                    <a:pt x="1113468" y="159727"/>
                  </a:lnTo>
                  <a:lnTo>
                    <a:pt x="1125464" y="148375"/>
                  </a:lnTo>
                  <a:lnTo>
                    <a:pt x="1137460" y="136621"/>
                  </a:lnTo>
                  <a:lnTo>
                    <a:pt x="1150204" y="125269"/>
                  </a:lnTo>
                  <a:lnTo>
                    <a:pt x="1162200" y="113916"/>
                  </a:lnTo>
                  <a:lnTo>
                    <a:pt x="1174206" y="102563"/>
                  </a:lnTo>
                  <a:lnTo>
                    <a:pt x="1186950" y="90810"/>
                  </a:lnTo>
                  <a:lnTo>
                    <a:pt x="1198945" y="79468"/>
                  </a:lnTo>
                  <a:lnTo>
                    <a:pt x="1211690" y="68115"/>
                  </a:lnTo>
                  <a:lnTo>
                    <a:pt x="1223685" y="56352"/>
                  </a:lnTo>
                  <a:lnTo>
                    <a:pt x="1236429" y="44999"/>
                  </a:lnTo>
                  <a:lnTo>
                    <a:pt x="1249184" y="33657"/>
                  </a:lnTo>
                  <a:lnTo>
                    <a:pt x="1261180" y="21893"/>
                  </a:lnTo>
                  <a:lnTo>
                    <a:pt x="1273924" y="10540"/>
                  </a:lnTo>
                  <a:lnTo>
                    <a:pt x="1285919" y="0"/>
                  </a:lnTo>
                </a:path>
              </a:pathLst>
            </a:custGeom>
            <a:ln w="5270">
              <a:solidFill>
                <a:srgbClr val="231F20"/>
              </a:solidFill>
            </a:ln>
          </p:spPr>
          <p:txBody>
            <a:bodyPr wrap="square" lIns="0" tIns="0" rIns="0" bIns="0" rtlCol="0"/>
            <a:lstStyle/>
            <a:p>
              <a:endParaRPr/>
            </a:p>
          </p:txBody>
        </p:sp>
      </p:grpSp>
      <p:sp>
        <p:nvSpPr>
          <p:cNvPr id="8" name="object 8"/>
          <p:cNvSpPr txBox="1"/>
          <p:nvPr/>
        </p:nvSpPr>
        <p:spPr>
          <a:xfrm>
            <a:off x="692510" y="2091976"/>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0.0</a:t>
            </a:r>
            <a:endParaRPr sz="650">
              <a:latin typeface="Arial"/>
              <a:cs typeface="Arial"/>
            </a:endParaRPr>
          </a:p>
        </p:txBody>
      </p:sp>
      <p:sp>
        <p:nvSpPr>
          <p:cNvPr id="9" name="object 9"/>
          <p:cNvSpPr txBox="1"/>
          <p:nvPr/>
        </p:nvSpPr>
        <p:spPr>
          <a:xfrm>
            <a:off x="1003474" y="2091976"/>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0.2</a:t>
            </a:r>
            <a:endParaRPr sz="650">
              <a:latin typeface="Arial"/>
              <a:cs typeface="Arial"/>
            </a:endParaRPr>
          </a:p>
        </p:txBody>
      </p:sp>
      <p:sp>
        <p:nvSpPr>
          <p:cNvPr id="10" name="object 10"/>
          <p:cNvSpPr txBox="1"/>
          <p:nvPr/>
        </p:nvSpPr>
        <p:spPr>
          <a:xfrm>
            <a:off x="1935347" y="2091976"/>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0.8</a:t>
            </a:r>
            <a:endParaRPr sz="650">
              <a:latin typeface="Arial"/>
              <a:cs typeface="Arial"/>
            </a:endParaRPr>
          </a:p>
        </p:txBody>
      </p:sp>
      <p:sp>
        <p:nvSpPr>
          <p:cNvPr id="11" name="object 11"/>
          <p:cNvSpPr txBox="1"/>
          <p:nvPr/>
        </p:nvSpPr>
        <p:spPr>
          <a:xfrm>
            <a:off x="2243491" y="2091976"/>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1.0</a:t>
            </a:r>
            <a:endParaRPr sz="650">
              <a:latin typeface="Arial"/>
              <a:cs typeface="Arial"/>
            </a:endParaRPr>
          </a:p>
        </p:txBody>
      </p:sp>
      <p:sp>
        <p:nvSpPr>
          <p:cNvPr id="12" name="object 12"/>
          <p:cNvSpPr/>
          <p:nvPr/>
        </p:nvSpPr>
        <p:spPr>
          <a:xfrm>
            <a:off x="763568" y="2042276"/>
            <a:ext cx="267970" cy="6350"/>
          </a:xfrm>
          <a:custGeom>
            <a:avLst/>
            <a:gdLst/>
            <a:ahLst/>
            <a:cxnLst/>
            <a:rect l="l" t="t" r="r" b="b"/>
            <a:pathLst>
              <a:path w="267969" h="6350">
                <a:moveTo>
                  <a:pt x="0" y="5677"/>
                </a:moveTo>
                <a:lnTo>
                  <a:pt x="119462" y="6258"/>
                </a:lnTo>
                <a:lnTo>
                  <a:pt x="202861" y="4143"/>
                </a:lnTo>
                <a:lnTo>
                  <a:pt x="251756" y="1376"/>
                </a:lnTo>
                <a:lnTo>
                  <a:pt x="267708" y="0"/>
                </a:lnTo>
              </a:path>
            </a:pathLst>
          </a:custGeom>
          <a:ln w="5270">
            <a:solidFill>
              <a:srgbClr val="231F20"/>
            </a:solidFill>
          </a:ln>
        </p:spPr>
        <p:txBody>
          <a:bodyPr wrap="square" lIns="0" tIns="0" rIns="0" bIns="0" rtlCol="0"/>
          <a:lstStyle/>
          <a:p>
            <a:endParaRPr/>
          </a:p>
        </p:txBody>
      </p:sp>
      <p:sp>
        <p:nvSpPr>
          <p:cNvPr id="13" name="object 13"/>
          <p:cNvSpPr txBox="1"/>
          <p:nvPr/>
        </p:nvSpPr>
        <p:spPr>
          <a:xfrm>
            <a:off x="1288613" y="2091976"/>
            <a:ext cx="504190" cy="218440"/>
          </a:xfrm>
          <a:prstGeom prst="rect">
            <a:avLst/>
          </a:prstGeom>
        </p:spPr>
        <p:txBody>
          <a:bodyPr vert="horz" wrap="square" lIns="0" tIns="13970" rIns="0" bIns="0" rtlCol="0">
            <a:spAutoFit/>
          </a:bodyPr>
          <a:lstStyle/>
          <a:p>
            <a:pPr marL="38100">
              <a:lnSpc>
                <a:spcPts val="750"/>
              </a:lnSpc>
              <a:spcBef>
                <a:spcPts val="110"/>
              </a:spcBef>
              <a:tabLst>
                <a:tab pos="348615" algn="l"/>
              </a:tabLst>
            </a:pPr>
            <a:r>
              <a:rPr sz="650" spc="5" dirty="0">
                <a:solidFill>
                  <a:srgbClr val="231F20"/>
                </a:solidFill>
                <a:latin typeface="Arial"/>
                <a:cs typeface="Arial"/>
              </a:rPr>
              <a:t>0.4	0.6</a:t>
            </a:r>
            <a:endParaRPr sz="650">
              <a:latin typeface="Arial"/>
              <a:cs typeface="Arial"/>
            </a:endParaRPr>
          </a:p>
          <a:p>
            <a:pPr marL="245110">
              <a:lnSpc>
                <a:spcPts val="750"/>
              </a:lnSpc>
            </a:pPr>
            <a:r>
              <a:rPr sz="975" i="1" spc="7" baseline="12820" dirty="0">
                <a:solidFill>
                  <a:srgbClr val="231F20"/>
                </a:solidFill>
                <a:latin typeface="Arial"/>
                <a:cs typeface="Arial"/>
              </a:rPr>
              <a:t>p</a:t>
            </a:r>
            <a:r>
              <a:rPr sz="300" i="1" spc="15" dirty="0">
                <a:solidFill>
                  <a:srgbClr val="231F20"/>
                </a:solidFill>
                <a:latin typeface="Arial"/>
                <a:cs typeface="Arial"/>
              </a:rPr>
              <a:t>stop</a:t>
            </a:r>
            <a:endParaRPr sz="300">
              <a:latin typeface="Arial"/>
              <a:cs typeface="Arial"/>
            </a:endParaRPr>
          </a:p>
        </p:txBody>
      </p:sp>
      <p:sp>
        <p:nvSpPr>
          <p:cNvPr id="16" name="object 16"/>
          <p:cNvSpPr txBox="1"/>
          <p:nvPr/>
        </p:nvSpPr>
        <p:spPr>
          <a:xfrm>
            <a:off x="66700" y="3331252"/>
            <a:ext cx="11557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Information dissemination models</a:t>
            </a:r>
            <a:endParaRPr sz="600">
              <a:latin typeface="Arial"/>
              <a:cs typeface="Arial"/>
            </a:endParaRPr>
          </a:p>
        </p:txBody>
      </p:sp>
      <p:sp>
        <p:nvSpPr>
          <p:cNvPr id="17" name="object 1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47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
        <p:nvSpPr>
          <p:cNvPr id="14" name="object 14"/>
          <p:cNvSpPr txBox="1"/>
          <p:nvPr/>
        </p:nvSpPr>
        <p:spPr>
          <a:xfrm>
            <a:off x="425517" y="956533"/>
            <a:ext cx="400685" cy="1143000"/>
          </a:xfrm>
          <a:prstGeom prst="rect">
            <a:avLst/>
          </a:prstGeom>
        </p:spPr>
        <p:txBody>
          <a:bodyPr vert="horz" wrap="square" lIns="0" tIns="13970" rIns="0" bIns="0" rtlCol="0">
            <a:spAutoFit/>
          </a:bodyPr>
          <a:lstStyle/>
          <a:p>
            <a:pPr marL="160020">
              <a:lnSpc>
                <a:spcPct val="100000"/>
              </a:lnSpc>
              <a:spcBef>
                <a:spcPts val="110"/>
              </a:spcBef>
            </a:pPr>
            <a:r>
              <a:rPr sz="650" spc="5" dirty="0">
                <a:solidFill>
                  <a:srgbClr val="231F20"/>
                </a:solidFill>
                <a:latin typeface="Arial"/>
                <a:cs typeface="Arial"/>
              </a:rPr>
              <a:t>0.20</a:t>
            </a:r>
            <a:endParaRPr sz="650">
              <a:latin typeface="Arial"/>
              <a:cs typeface="Arial"/>
            </a:endParaRPr>
          </a:p>
          <a:p>
            <a:pPr>
              <a:lnSpc>
                <a:spcPct val="100000"/>
              </a:lnSpc>
            </a:pPr>
            <a:endParaRPr sz="600">
              <a:latin typeface="Arial"/>
              <a:cs typeface="Arial"/>
            </a:endParaRPr>
          </a:p>
          <a:p>
            <a:pPr marL="159385">
              <a:lnSpc>
                <a:spcPct val="100000"/>
              </a:lnSpc>
              <a:spcBef>
                <a:spcPts val="530"/>
              </a:spcBef>
            </a:pPr>
            <a:r>
              <a:rPr sz="650" spc="5" dirty="0">
                <a:solidFill>
                  <a:srgbClr val="231F20"/>
                </a:solidFill>
                <a:latin typeface="Arial"/>
                <a:cs typeface="Arial"/>
              </a:rPr>
              <a:t>0.15</a:t>
            </a:r>
            <a:endParaRPr sz="650">
              <a:latin typeface="Arial"/>
              <a:cs typeface="Arial"/>
            </a:endParaRPr>
          </a:p>
          <a:p>
            <a:pPr>
              <a:lnSpc>
                <a:spcPct val="100000"/>
              </a:lnSpc>
            </a:pPr>
            <a:endParaRPr sz="600">
              <a:latin typeface="Arial"/>
              <a:cs typeface="Arial"/>
            </a:endParaRPr>
          </a:p>
          <a:p>
            <a:pPr marL="76200">
              <a:lnSpc>
                <a:spcPct val="100000"/>
              </a:lnSpc>
              <a:spcBef>
                <a:spcPts val="530"/>
              </a:spcBef>
            </a:pPr>
            <a:r>
              <a:rPr sz="975" i="1" spc="7" baseline="-12820" dirty="0">
                <a:solidFill>
                  <a:srgbClr val="231F20"/>
                </a:solidFill>
                <a:latin typeface="Arial"/>
                <a:cs typeface="Arial"/>
              </a:rPr>
              <a:t>s</a:t>
            </a:r>
            <a:r>
              <a:rPr sz="975" i="1" spc="75" baseline="-12820" dirty="0">
                <a:solidFill>
                  <a:srgbClr val="231F20"/>
                </a:solidFill>
                <a:latin typeface="Arial"/>
                <a:cs typeface="Arial"/>
              </a:rPr>
              <a:t> </a:t>
            </a:r>
            <a:r>
              <a:rPr sz="650" spc="5" dirty="0">
                <a:solidFill>
                  <a:srgbClr val="231F20"/>
                </a:solidFill>
                <a:latin typeface="Arial"/>
                <a:cs typeface="Arial"/>
              </a:rPr>
              <a:t>0.10</a:t>
            </a:r>
            <a:endParaRPr sz="650">
              <a:latin typeface="Arial"/>
              <a:cs typeface="Arial"/>
            </a:endParaRPr>
          </a:p>
          <a:p>
            <a:pPr>
              <a:lnSpc>
                <a:spcPct val="100000"/>
              </a:lnSpc>
              <a:spcBef>
                <a:spcPts val="15"/>
              </a:spcBef>
            </a:pPr>
            <a:endParaRPr sz="1050">
              <a:latin typeface="Arial"/>
              <a:cs typeface="Arial"/>
            </a:endParaRPr>
          </a:p>
          <a:p>
            <a:pPr marL="159385">
              <a:lnSpc>
                <a:spcPct val="100000"/>
              </a:lnSpc>
            </a:pPr>
            <a:r>
              <a:rPr sz="650" spc="5" dirty="0">
                <a:solidFill>
                  <a:srgbClr val="231F20"/>
                </a:solidFill>
                <a:latin typeface="Arial"/>
                <a:cs typeface="Arial"/>
              </a:rPr>
              <a:t>0.05</a:t>
            </a:r>
            <a:endParaRPr sz="650">
              <a:latin typeface="Arial"/>
              <a:cs typeface="Arial"/>
            </a:endParaRPr>
          </a:p>
          <a:p>
            <a:pPr>
              <a:lnSpc>
                <a:spcPct val="100000"/>
              </a:lnSpc>
            </a:pPr>
            <a:endParaRPr sz="600">
              <a:latin typeface="Arial"/>
              <a:cs typeface="Arial"/>
            </a:endParaRPr>
          </a:p>
          <a:p>
            <a:pPr marL="160020">
              <a:lnSpc>
                <a:spcPct val="100000"/>
              </a:lnSpc>
              <a:spcBef>
                <a:spcPts val="530"/>
              </a:spcBef>
            </a:pPr>
            <a:r>
              <a:rPr sz="650" spc="5" dirty="0">
                <a:solidFill>
                  <a:srgbClr val="231F20"/>
                </a:solidFill>
                <a:latin typeface="Arial"/>
                <a:cs typeface="Arial"/>
              </a:rPr>
              <a:t>0.00</a:t>
            </a:r>
            <a:endParaRPr sz="650">
              <a:latin typeface="Arial"/>
              <a:cs typeface="Arial"/>
            </a:endParaRPr>
          </a:p>
        </p:txBody>
      </p:sp>
      <p:graphicFrame>
        <p:nvGraphicFramePr>
          <p:cNvPr id="15" name="object 15"/>
          <p:cNvGraphicFramePr>
            <a:graphicFrameLocks noGrp="1"/>
          </p:cNvGraphicFramePr>
          <p:nvPr/>
        </p:nvGraphicFramePr>
        <p:xfrm>
          <a:off x="2581770" y="924699"/>
          <a:ext cx="1494154" cy="1516380"/>
        </p:xfrm>
        <a:graphic>
          <a:graphicData uri="http://schemas.openxmlformats.org/drawingml/2006/table">
            <a:tbl>
              <a:tblPr firstRow="1" bandRow="1">
                <a:tableStyleId>{2D5ABB26-0587-4C30-8999-92F81FD0307C}</a:tableStyleId>
              </a:tblPr>
              <a:tblGrid>
                <a:gridCol w="507365">
                  <a:extLst>
                    <a:ext uri="{9D8B030D-6E8A-4147-A177-3AD203B41FA5}">
                      <a16:colId xmlns:a16="http://schemas.microsoft.com/office/drawing/2014/main" val="20000"/>
                    </a:ext>
                  </a:extLst>
                </a:gridCol>
                <a:gridCol w="604520">
                  <a:extLst>
                    <a:ext uri="{9D8B030D-6E8A-4147-A177-3AD203B41FA5}">
                      <a16:colId xmlns:a16="http://schemas.microsoft.com/office/drawing/2014/main" val="20001"/>
                    </a:ext>
                  </a:extLst>
                </a:gridCol>
                <a:gridCol w="382269">
                  <a:extLst>
                    <a:ext uri="{9D8B030D-6E8A-4147-A177-3AD203B41FA5}">
                      <a16:colId xmlns:a16="http://schemas.microsoft.com/office/drawing/2014/main" val="20002"/>
                    </a:ext>
                  </a:extLst>
                </a:gridCol>
              </a:tblGrid>
              <a:tr h="171450">
                <a:tc gridSpan="3">
                  <a:txBody>
                    <a:bodyPr/>
                    <a:lstStyle/>
                    <a:p>
                      <a:pPr marL="158115">
                        <a:lnSpc>
                          <a:spcPct val="100000"/>
                        </a:lnSpc>
                        <a:spcBef>
                          <a:spcPts val="40"/>
                        </a:spcBef>
                      </a:pPr>
                      <a:r>
                        <a:rPr sz="900" spc="-5" dirty="0">
                          <a:latin typeface="Arial"/>
                          <a:cs typeface="Arial"/>
                        </a:rPr>
                        <a:t>Consider</a:t>
                      </a:r>
                      <a:r>
                        <a:rPr sz="900" spc="-20" dirty="0">
                          <a:latin typeface="Arial"/>
                          <a:cs typeface="Arial"/>
                        </a:rPr>
                        <a:t> </a:t>
                      </a:r>
                      <a:r>
                        <a:rPr sz="900" spc="-5" dirty="0">
                          <a:latin typeface="Arial"/>
                          <a:cs typeface="Arial"/>
                        </a:rPr>
                        <a:t>10,000</a:t>
                      </a:r>
                      <a:r>
                        <a:rPr sz="900" spc="-15" dirty="0">
                          <a:latin typeface="Arial"/>
                          <a:cs typeface="Arial"/>
                        </a:rPr>
                        <a:t> </a:t>
                      </a:r>
                      <a:r>
                        <a:rPr sz="900" spc="-5" dirty="0">
                          <a:latin typeface="Arial"/>
                          <a:cs typeface="Arial"/>
                        </a:rPr>
                        <a:t>nodes</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71450">
                <a:tc>
                  <a:txBody>
                    <a:bodyPr/>
                    <a:lstStyle/>
                    <a:p>
                      <a:pPr marL="65405">
                        <a:lnSpc>
                          <a:spcPts val="990"/>
                        </a:lnSpc>
                        <a:spcBef>
                          <a:spcPts val="265"/>
                        </a:spcBef>
                      </a:pPr>
                      <a:r>
                        <a:rPr sz="1350" spc="37" baseline="12345" dirty="0">
                          <a:latin typeface="Arial"/>
                          <a:cs typeface="Arial"/>
                        </a:rPr>
                        <a:t>1</a:t>
                      </a:r>
                      <a:r>
                        <a:rPr sz="1350" i="1" spc="37" baseline="12345" dirty="0">
                          <a:latin typeface="Arial"/>
                          <a:cs typeface="Arial"/>
                        </a:rPr>
                        <a:t>/p</a:t>
                      </a:r>
                      <a:r>
                        <a:rPr sz="800" i="1" spc="25" dirty="0">
                          <a:latin typeface="Arial"/>
                          <a:cs typeface="Arial"/>
                        </a:rPr>
                        <a:t>stop</a:t>
                      </a:r>
                      <a:endParaRPr sz="800">
                        <a:latin typeface="Arial"/>
                        <a:cs typeface="Arial"/>
                      </a:endParaRPr>
                    </a:p>
                  </a:txBody>
                  <a:tcPr marL="0" marR="0" marT="3365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a:lnSpc>
                          <a:spcPct val="100000"/>
                        </a:lnSpc>
                        <a:spcBef>
                          <a:spcPts val="40"/>
                        </a:spcBef>
                      </a:pPr>
                      <a:r>
                        <a:rPr sz="900" i="1" dirty="0">
                          <a:latin typeface="Arial"/>
                          <a:cs typeface="Arial"/>
                        </a:rPr>
                        <a:t>s</a:t>
                      </a:r>
                      <a:endParaRPr sz="900">
                        <a:latin typeface="Arial"/>
                        <a:cs typeface="Arial"/>
                      </a:endParaRPr>
                    </a:p>
                  </a:txBody>
                  <a:tcPr marL="0" marR="0" marT="5080" marB="0">
                    <a:lnT w="6350">
                      <a:solidFill>
                        <a:srgbClr val="000000"/>
                      </a:solidFill>
                      <a:prstDash val="solid"/>
                    </a:lnT>
                    <a:lnB w="6350">
                      <a:solidFill>
                        <a:srgbClr val="000000"/>
                      </a:solidFill>
                      <a:prstDash val="solid"/>
                    </a:lnB>
                  </a:tcPr>
                </a:tc>
                <a:tc>
                  <a:txBody>
                    <a:bodyPr/>
                    <a:lstStyle/>
                    <a:p>
                      <a:pPr marR="66675" algn="r">
                        <a:lnSpc>
                          <a:spcPct val="100000"/>
                        </a:lnSpc>
                        <a:spcBef>
                          <a:spcPts val="40"/>
                        </a:spcBef>
                      </a:pPr>
                      <a:r>
                        <a:rPr sz="900" i="1" spc="-5" dirty="0">
                          <a:latin typeface="Arial"/>
                          <a:cs typeface="Arial"/>
                        </a:rPr>
                        <a:t>N</a:t>
                      </a:r>
                      <a:r>
                        <a:rPr sz="1050" i="1" spc="-7" baseline="-11904" dirty="0">
                          <a:latin typeface="Arial"/>
                          <a:cs typeface="Arial"/>
                        </a:rPr>
                        <a:t>s</a:t>
                      </a:r>
                      <a:endParaRPr sz="1050" baseline="-11904">
                        <a:latin typeface="Arial"/>
                        <a:cs typeface="Arial"/>
                      </a:endParaRPr>
                    </a:p>
                  </a:txBody>
                  <a:tcPr marL="0" marR="0" marT="5080"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64465">
                <a:tc>
                  <a:txBody>
                    <a:bodyPr/>
                    <a:lstStyle/>
                    <a:p>
                      <a:pPr marL="65405">
                        <a:lnSpc>
                          <a:spcPct val="100000"/>
                        </a:lnSpc>
                        <a:spcBef>
                          <a:spcPts val="40"/>
                        </a:spcBef>
                      </a:pPr>
                      <a:r>
                        <a:rPr sz="900" dirty="0">
                          <a:latin typeface="Arial"/>
                          <a:cs typeface="Arial"/>
                        </a:rPr>
                        <a:t>1</a:t>
                      </a:r>
                      <a:endParaRPr sz="900">
                        <a:latin typeface="Arial"/>
                        <a:cs typeface="Arial"/>
                      </a:endParaRPr>
                    </a:p>
                  </a:txBody>
                  <a:tcPr marL="0" marR="0" marT="5080" marB="0">
                    <a:lnL w="6350">
                      <a:solidFill>
                        <a:srgbClr val="000000"/>
                      </a:solidFill>
                      <a:prstDash val="solid"/>
                    </a:lnL>
                    <a:lnT w="6350">
                      <a:solidFill>
                        <a:srgbClr val="000000"/>
                      </a:solidFill>
                      <a:prstDash val="solid"/>
                    </a:lnT>
                  </a:tcPr>
                </a:tc>
                <a:tc>
                  <a:txBody>
                    <a:bodyPr/>
                    <a:lstStyle/>
                    <a:p>
                      <a:pPr marL="3175" algn="ctr">
                        <a:lnSpc>
                          <a:spcPct val="100000"/>
                        </a:lnSpc>
                        <a:spcBef>
                          <a:spcPts val="40"/>
                        </a:spcBef>
                      </a:pPr>
                      <a:r>
                        <a:rPr sz="900" spc="-5" dirty="0">
                          <a:latin typeface="Arial"/>
                          <a:cs typeface="Arial"/>
                        </a:rPr>
                        <a:t>0</a:t>
                      </a:r>
                      <a:r>
                        <a:rPr sz="900" i="1" spc="-5" dirty="0">
                          <a:latin typeface="Arial"/>
                          <a:cs typeface="Arial"/>
                        </a:rPr>
                        <a:t>.</a:t>
                      </a:r>
                      <a:r>
                        <a:rPr sz="900" spc="-5" dirty="0">
                          <a:latin typeface="Arial"/>
                          <a:cs typeface="Arial"/>
                        </a:rPr>
                        <a:t>203188</a:t>
                      </a:r>
                      <a:endParaRPr sz="900">
                        <a:latin typeface="Arial"/>
                        <a:cs typeface="Arial"/>
                      </a:endParaRPr>
                    </a:p>
                  </a:txBody>
                  <a:tcPr marL="0" marR="0" marT="5080" marB="0">
                    <a:lnT w="6350">
                      <a:solidFill>
                        <a:srgbClr val="000000"/>
                      </a:solidFill>
                      <a:prstDash val="solid"/>
                    </a:lnT>
                  </a:tcPr>
                </a:tc>
                <a:tc>
                  <a:txBody>
                    <a:bodyPr/>
                    <a:lstStyle/>
                    <a:p>
                      <a:pPr marR="57785" algn="r">
                        <a:lnSpc>
                          <a:spcPct val="100000"/>
                        </a:lnSpc>
                        <a:spcBef>
                          <a:spcPts val="40"/>
                        </a:spcBef>
                      </a:pPr>
                      <a:r>
                        <a:rPr sz="900" spc="-5" dirty="0">
                          <a:latin typeface="Arial"/>
                          <a:cs typeface="Arial"/>
                        </a:rPr>
                        <a:t>2032</a:t>
                      </a:r>
                      <a:endParaRPr sz="900">
                        <a:latin typeface="Arial"/>
                        <a:cs typeface="Arial"/>
                      </a:endParaRPr>
                    </a:p>
                  </a:txBody>
                  <a:tcPr marL="0" marR="0" marT="5080" marB="0">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2"/>
                  </a:ext>
                </a:extLst>
              </a:tr>
              <a:tr h="167005">
                <a:tc>
                  <a:txBody>
                    <a:bodyPr/>
                    <a:lstStyle/>
                    <a:p>
                      <a:pPr marL="65405">
                        <a:lnSpc>
                          <a:spcPct val="100000"/>
                        </a:lnSpc>
                        <a:spcBef>
                          <a:spcPts val="55"/>
                        </a:spcBef>
                      </a:pPr>
                      <a:r>
                        <a:rPr sz="900" dirty="0">
                          <a:latin typeface="Arial"/>
                          <a:cs typeface="Arial"/>
                        </a:rPr>
                        <a:t>2</a:t>
                      </a:r>
                      <a:endParaRPr sz="900">
                        <a:latin typeface="Arial"/>
                        <a:cs typeface="Arial"/>
                      </a:endParaRPr>
                    </a:p>
                  </a:txBody>
                  <a:tcPr marL="0" marR="0" marT="6985" marB="0">
                    <a:lnL w="6350">
                      <a:solidFill>
                        <a:srgbClr val="000000"/>
                      </a:solidFill>
                      <a:prstDash val="solid"/>
                    </a:lnL>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059520</a:t>
                      </a:r>
                      <a:endParaRPr sz="900">
                        <a:latin typeface="Arial"/>
                        <a:cs typeface="Arial"/>
                      </a:endParaRPr>
                    </a:p>
                  </a:txBody>
                  <a:tcPr marL="0" marR="0" marT="6985" marB="0"/>
                </a:tc>
                <a:tc>
                  <a:txBody>
                    <a:bodyPr/>
                    <a:lstStyle/>
                    <a:p>
                      <a:pPr marR="57785" algn="r">
                        <a:lnSpc>
                          <a:spcPct val="100000"/>
                        </a:lnSpc>
                        <a:spcBef>
                          <a:spcPts val="55"/>
                        </a:spcBef>
                      </a:pPr>
                      <a:r>
                        <a:rPr sz="900" spc="-5" dirty="0">
                          <a:latin typeface="Arial"/>
                          <a:cs typeface="Arial"/>
                        </a:rPr>
                        <a:t>595</a:t>
                      </a:r>
                      <a:endParaRPr sz="900">
                        <a:latin typeface="Arial"/>
                        <a:cs typeface="Arial"/>
                      </a:endParaRPr>
                    </a:p>
                  </a:txBody>
                  <a:tcPr marL="0" marR="0" marT="6985" marB="0">
                    <a:lnR w="6350">
                      <a:solidFill>
                        <a:srgbClr val="000000"/>
                      </a:solidFill>
                      <a:prstDash val="solid"/>
                    </a:lnR>
                  </a:tcPr>
                </a:tc>
                <a:extLst>
                  <a:ext uri="{0D108BD9-81ED-4DB2-BD59-A6C34878D82A}">
                    <a16:rowId xmlns:a16="http://schemas.microsoft.com/office/drawing/2014/main" val="10003"/>
                  </a:ext>
                </a:extLst>
              </a:tr>
              <a:tr h="167005">
                <a:tc>
                  <a:txBody>
                    <a:bodyPr/>
                    <a:lstStyle/>
                    <a:p>
                      <a:pPr marL="65405">
                        <a:lnSpc>
                          <a:spcPct val="100000"/>
                        </a:lnSpc>
                        <a:spcBef>
                          <a:spcPts val="55"/>
                        </a:spcBef>
                      </a:pPr>
                      <a:r>
                        <a:rPr sz="900" dirty="0">
                          <a:latin typeface="Arial"/>
                          <a:cs typeface="Arial"/>
                        </a:rPr>
                        <a:t>3</a:t>
                      </a:r>
                      <a:endParaRPr sz="900">
                        <a:latin typeface="Arial"/>
                        <a:cs typeface="Arial"/>
                      </a:endParaRPr>
                    </a:p>
                  </a:txBody>
                  <a:tcPr marL="0" marR="0" marT="6985" marB="0">
                    <a:lnL w="6350">
                      <a:solidFill>
                        <a:srgbClr val="000000"/>
                      </a:solidFill>
                      <a:prstDash val="solid"/>
                    </a:lnL>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019827</a:t>
                      </a:r>
                      <a:endParaRPr sz="900">
                        <a:latin typeface="Arial"/>
                        <a:cs typeface="Arial"/>
                      </a:endParaRPr>
                    </a:p>
                  </a:txBody>
                  <a:tcPr marL="0" marR="0" marT="6985" marB="0"/>
                </a:tc>
                <a:tc>
                  <a:txBody>
                    <a:bodyPr/>
                    <a:lstStyle/>
                    <a:p>
                      <a:pPr marR="57785" algn="r">
                        <a:lnSpc>
                          <a:spcPct val="100000"/>
                        </a:lnSpc>
                        <a:spcBef>
                          <a:spcPts val="55"/>
                        </a:spcBef>
                      </a:pPr>
                      <a:r>
                        <a:rPr sz="900" spc="-5" dirty="0">
                          <a:latin typeface="Arial"/>
                          <a:cs typeface="Arial"/>
                        </a:rPr>
                        <a:t>198</a:t>
                      </a:r>
                      <a:endParaRPr sz="900">
                        <a:latin typeface="Arial"/>
                        <a:cs typeface="Arial"/>
                      </a:endParaRPr>
                    </a:p>
                  </a:txBody>
                  <a:tcPr marL="0" marR="0" marT="6985" marB="0">
                    <a:lnR w="6350">
                      <a:solidFill>
                        <a:srgbClr val="000000"/>
                      </a:solidFill>
                      <a:prstDash val="solid"/>
                    </a:lnR>
                  </a:tcPr>
                </a:tc>
                <a:extLst>
                  <a:ext uri="{0D108BD9-81ED-4DB2-BD59-A6C34878D82A}">
                    <a16:rowId xmlns:a16="http://schemas.microsoft.com/office/drawing/2014/main" val="10004"/>
                  </a:ext>
                </a:extLst>
              </a:tr>
              <a:tr h="167005">
                <a:tc>
                  <a:txBody>
                    <a:bodyPr/>
                    <a:lstStyle/>
                    <a:p>
                      <a:pPr marL="65405">
                        <a:lnSpc>
                          <a:spcPct val="100000"/>
                        </a:lnSpc>
                        <a:spcBef>
                          <a:spcPts val="55"/>
                        </a:spcBef>
                      </a:pPr>
                      <a:r>
                        <a:rPr sz="900" dirty="0">
                          <a:latin typeface="Arial"/>
                          <a:cs typeface="Arial"/>
                        </a:rPr>
                        <a:t>4</a:t>
                      </a:r>
                      <a:endParaRPr sz="900">
                        <a:latin typeface="Arial"/>
                        <a:cs typeface="Arial"/>
                      </a:endParaRPr>
                    </a:p>
                  </a:txBody>
                  <a:tcPr marL="0" marR="0" marT="6985" marB="0">
                    <a:lnL w="6350">
                      <a:solidFill>
                        <a:srgbClr val="000000"/>
                      </a:solidFill>
                      <a:prstDash val="solid"/>
                    </a:lnL>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006977</a:t>
                      </a:r>
                      <a:endParaRPr sz="900">
                        <a:latin typeface="Arial"/>
                        <a:cs typeface="Arial"/>
                      </a:endParaRPr>
                    </a:p>
                  </a:txBody>
                  <a:tcPr marL="0" marR="0" marT="6985" marB="0"/>
                </a:tc>
                <a:tc>
                  <a:txBody>
                    <a:bodyPr/>
                    <a:lstStyle/>
                    <a:p>
                      <a:pPr marR="57785" algn="r">
                        <a:lnSpc>
                          <a:spcPct val="100000"/>
                        </a:lnSpc>
                        <a:spcBef>
                          <a:spcPts val="55"/>
                        </a:spcBef>
                      </a:pPr>
                      <a:r>
                        <a:rPr sz="900" spc="-5" dirty="0">
                          <a:latin typeface="Arial"/>
                          <a:cs typeface="Arial"/>
                        </a:rPr>
                        <a:t>70</a:t>
                      </a:r>
                      <a:endParaRPr sz="900">
                        <a:latin typeface="Arial"/>
                        <a:cs typeface="Arial"/>
                      </a:endParaRPr>
                    </a:p>
                  </a:txBody>
                  <a:tcPr marL="0" marR="0" marT="6985" marB="0">
                    <a:lnR w="6350">
                      <a:solidFill>
                        <a:srgbClr val="000000"/>
                      </a:solidFill>
                      <a:prstDash val="solid"/>
                    </a:lnR>
                  </a:tcPr>
                </a:tc>
                <a:extLst>
                  <a:ext uri="{0D108BD9-81ED-4DB2-BD59-A6C34878D82A}">
                    <a16:rowId xmlns:a16="http://schemas.microsoft.com/office/drawing/2014/main" val="10005"/>
                  </a:ext>
                </a:extLst>
              </a:tr>
              <a:tr h="167005">
                <a:tc>
                  <a:txBody>
                    <a:bodyPr/>
                    <a:lstStyle/>
                    <a:p>
                      <a:pPr marL="65405">
                        <a:lnSpc>
                          <a:spcPct val="100000"/>
                        </a:lnSpc>
                        <a:spcBef>
                          <a:spcPts val="55"/>
                        </a:spcBef>
                      </a:pPr>
                      <a:r>
                        <a:rPr sz="900" dirty="0">
                          <a:latin typeface="Arial"/>
                          <a:cs typeface="Arial"/>
                        </a:rPr>
                        <a:t>5</a:t>
                      </a:r>
                      <a:endParaRPr sz="900">
                        <a:latin typeface="Arial"/>
                        <a:cs typeface="Arial"/>
                      </a:endParaRPr>
                    </a:p>
                  </a:txBody>
                  <a:tcPr marL="0" marR="0" marT="6985" marB="0">
                    <a:lnL w="6350">
                      <a:solidFill>
                        <a:srgbClr val="000000"/>
                      </a:solidFill>
                      <a:prstDash val="solid"/>
                    </a:lnL>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002516</a:t>
                      </a:r>
                      <a:endParaRPr sz="900">
                        <a:latin typeface="Arial"/>
                        <a:cs typeface="Arial"/>
                      </a:endParaRPr>
                    </a:p>
                  </a:txBody>
                  <a:tcPr marL="0" marR="0" marT="6985" marB="0"/>
                </a:tc>
                <a:tc>
                  <a:txBody>
                    <a:bodyPr/>
                    <a:lstStyle/>
                    <a:p>
                      <a:pPr marR="57785" algn="r">
                        <a:lnSpc>
                          <a:spcPct val="100000"/>
                        </a:lnSpc>
                        <a:spcBef>
                          <a:spcPts val="55"/>
                        </a:spcBef>
                      </a:pPr>
                      <a:r>
                        <a:rPr sz="900" spc="-5" dirty="0">
                          <a:latin typeface="Arial"/>
                          <a:cs typeface="Arial"/>
                        </a:rPr>
                        <a:t>25</a:t>
                      </a:r>
                      <a:endParaRPr sz="900">
                        <a:latin typeface="Arial"/>
                        <a:cs typeface="Arial"/>
                      </a:endParaRPr>
                    </a:p>
                  </a:txBody>
                  <a:tcPr marL="0" marR="0" marT="6985" marB="0">
                    <a:lnR w="6350">
                      <a:solidFill>
                        <a:srgbClr val="000000"/>
                      </a:solidFill>
                      <a:prstDash val="solid"/>
                    </a:lnR>
                  </a:tcPr>
                </a:tc>
                <a:extLst>
                  <a:ext uri="{0D108BD9-81ED-4DB2-BD59-A6C34878D82A}">
                    <a16:rowId xmlns:a16="http://schemas.microsoft.com/office/drawing/2014/main" val="10006"/>
                  </a:ext>
                </a:extLst>
              </a:tr>
              <a:tr h="167005">
                <a:tc>
                  <a:txBody>
                    <a:bodyPr/>
                    <a:lstStyle/>
                    <a:p>
                      <a:pPr marL="65405">
                        <a:lnSpc>
                          <a:spcPct val="100000"/>
                        </a:lnSpc>
                        <a:spcBef>
                          <a:spcPts val="55"/>
                        </a:spcBef>
                      </a:pPr>
                      <a:r>
                        <a:rPr sz="900" dirty="0">
                          <a:latin typeface="Arial"/>
                          <a:cs typeface="Arial"/>
                        </a:rPr>
                        <a:t>6</a:t>
                      </a:r>
                      <a:endParaRPr sz="900">
                        <a:latin typeface="Arial"/>
                        <a:cs typeface="Arial"/>
                      </a:endParaRPr>
                    </a:p>
                  </a:txBody>
                  <a:tcPr marL="0" marR="0" marT="6985" marB="0">
                    <a:lnL w="6350">
                      <a:solidFill>
                        <a:srgbClr val="000000"/>
                      </a:solidFill>
                      <a:prstDash val="solid"/>
                    </a:lnL>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000918</a:t>
                      </a:r>
                      <a:endParaRPr sz="900">
                        <a:latin typeface="Arial"/>
                        <a:cs typeface="Arial"/>
                      </a:endParaRPr>
                    </a:p>
                  </a:txBody>
                  <a:tcPr marL="0" marR="0" marT="6985" marB="0"/>
                </a:tc>
                <a:tc>
                  <a:txBody>
                    <a:bodyPr/>
                    <a:lstStyle/>
                    <a:p>
                      <a:pPr marR="57785" algn="r">
                        <a:lnSpc>
                          <a:spcPct val="100000"/>
                        </a:lnSpc>
                        <a:spcBef>
                          <a:spcPts val="55"/>
                        </a:spcBef>
                      </a:pPr>
                      <a:r>
                        <a:rPr sz="900" dirty="0">
                          <a:latin typeface="Arial"/>
                          <a:cs typeface="Arial"/>
                        </a:rPr>
                        <a:t>9</a:t>
                      </a:r>
                      <a:endParaRPr sz="900">
                        <a:latin typeface="Arial"/>
                        <a:cs typeface="Arial"/>
                      </a:endParaRPr>
                    </a:p>
                  </a:txBody>
                  <a:tcPr marL="0" marR="0" marT="6985" marB="0">
                    <a:lnR w="6350">
                      <a:solidFill>
                        <a:srgbClr val="000000"/>
                      </a:solidFill>
                      <a:prstDash val="solid"/>
                    </a:lnR>
                  </a:tcPr>
                </a:tc>
                <a:extLst>
                  <a:ext uri="{0D108BD9-81ED-4DB2-BD59-A6C34878D82A}">
                    <a16:rowId xmlns:a16="http://schemas.microsoft.com/office/drawing/2014/main" val="10007"/>
                  </a:ext>
                </a:extLst>
              </a:tr>
              <a:tr h="173990">
                <a:tc>
                  <a:txBody>
                    <a:bodyPr/>
                    <a:lstStyle/>
                    <a:p>
                      <a:pPr marL="65405">
                        <a:lnSpc>
                          <a:spcPct val="100000"/>
                        </a:lnSpc>
                        <a:spcBef>
                          <a:spcPts val="55"/>
                        </a:spcBef>
                      </a:pPr>
                      <a:r>
                        <a:rPr sz="900" dirty="0">
                          <a:latin typeface="Arial"/>
                          <a:cs typeface="Arial"/>
                        </a:rPr>
                        <a:t>7</a:t>
                      </a:r>
                      <a:endParaRPr sz="900">
                        <a:latin typeface="Arial"/>
                        <a:cs typeface="Arial"/>
                      </a:endParaRPr>
                    </a:p>
                  </a:txBody>
                  <a:tcPr marL="0" marR="0" marT="6985" marB="0">
                    <a:lnL w="6350">
                      <a:solidFill>
                        <a:srgbClr val="000000"/>
                      </a:solidFill>
                      <a:prstDash val="solid"/>
                    </a:lnL>
                    <a:lnB w="6350">
                      <a:solidFill>
                        <a:srgbClr val="000000"/>
                      </a:solidFill>
                      <a:prstDash val="solid"/>
                    </a:lnB>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000336</a:t>
                      </a:r>
                      <a:endParaRPr sz="900">
                        <a:latin typeface="Arial"/>
                        <a:cs typeface="Arial"/>
                      </a:endParaRPr>
                    </a:p>
                  </a:txBody>
                  <a:tcPr marL="0" marR="0" marT="6985" marB="0">
                    <a:lnB w="6350">
                      <a:solidFill>
                        <a:srgbClr val="000000"/>
                      </a:solidFill>
                      <a:prstDash val="solid"/>
                    </a:lnB>
                  </a:tcPr>
                </a:tc>
                <a:tc>
                  <a:txBody>
                    <a:bodyPr/>
                    <a:lstStyle/>
                    <a:p>
                      <a:pPr marR="57785" algn="r">
                        <a:lnSpc>
                          <a:spcPct val="100000"/>
                        </a:lnSpc>
                        <a:spcBef>
                          <a:spcPts val="55"/>
                        </a:spcBef>
                      </a:pPr>
                      <a:r>
                        <a:rPr sz="900" dirty="0">
                          <a:latin typeface="Arial"/>
                          <a:cs typeface="Arial"/>
                        </a:rPr>
                        <a:t>3</a:t>
                      </a:r>
                      <a:endParaRPr sz="900">
                        <a:latin typeface="Arial"/>
                        <a:cs typeface="Arial"/>
                      </a:endParaRPr>
                    </a:p>
                  </a:txBody>
                  <a:tcPr marL="0" marR="0" marT="6985" marB="0">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8"/>
                  </a:ext>
                </a:extLst>
              </a:tr>
            </a:tbl>
          </a:graphicData>
        </a:graphic>
      </p:graphicFrame>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Multicast</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393559" y="716"/>
            <a:ext cx="11480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Gossip-based data</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dissemination</a:t>
            </a:r>
            <a:endParaRPr sz="600">
              <a:latin typeface="Arial"/>
              <a:cs typeface="Arial"/>
            </a:endParaRPr>
          </a:p>
        </p:txBody>
      </p:sp>
      <p:sp>
        <p:nvSpPr>
          <p:cNvPr id="4" name="object 4"/>
          <p:cNvSpPr txBox="1"/>
          <p:nvPr/>
        </p:nvSpPr>
        <p:spPr>
          <a:xfrm>
            <a:off x="95300" y="188846"/>
            <a:ext cx="1728470" cy="62293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Rumor</a:t>
            </a:r>
            <a:r>
              <a:rPr sz="1400" spc="-35" dirty="0">
                <a:solidFill>
                  <a:srgbClr val="3333B2"/>
                </a:solidFill>
                <a:latin typeface="Arial"/>
                <a:cs typeface="Arial"/>
              </a:rPr>
              <a:t> </a:t>
            </a:r>
            <a:r>
              <a:rPr sz="1400" spc="15" dirty="0">
                <a:solidFill>
                  <a:srgbClr val="3333B2"/>
                </a:solidFill>
                <a:latin typeface="Arial"/>
                <a:cs typeface="Arial"/>
              </a:rPr>
              <a:t>spreading</a:t>
            </a:r>
            <a:endParaRPr sz="1400">
              <a:latin typeface="Arial"/>
              <a:cs typeface="Arial"/>
            </a:endParaRPr>
          </a:p>
          <a:p>
            <a:pPr marL="259715">
              <a:lnSpc>
                <a:spcPct val="100000"/>
              </a:lnSpc>
              <a:spcBef>
                <a:spcPts val="1545"/>
              </a:spcBef>
            </a:pPr>
            <a:r>
              <a:rPr sz="1200" spc="-5" dirty="0">
                <a:solidFill>
                  <a:srgbClr val="3333B2"/>
                </a:solidFill>
                <a:latin typeface="Arial"/>
                <a:cs typeface="Arial"/>
              </a:rPr>
              <a:t>The</a:t>
            </a:r>
            <a:r>
              <a:rPr sz="1200" spc="-25" dirty="0">
                <a:solidFill>
                  <a:srgbClr val="3333B2"/>
                </a:solidFill>
                <a:latin typeface="Arial"/>
                <a:cs typeface="Arial"/>
              </a:rPr>
              <a:t> </a:t>
            </a:r>
            <a:r>
              <a:rPr sz="1200" spc="-10" dirty="0">
                <a:solidFill>
                  <a:srgbClr val="3333B2"/>
                </a:solidFill>
                <a:latin typeface="Arial"/>
                <a:cs typeface="Arial"/>
              </a:rPr>
              <a:t>effect</a:t>
            </a:r>
            <a:r>
              <a:rPr sz="1200" spc="-20" dirty="0">
                <a:solidFill>
                  <a:srgbClr val="3333B2"/>
                </a:solidFill>
                <a:latin typeface="Arial"/>
                <a:cs typeface="Arial"/>
              </a:rPr>
              <a:t> </a:t>
            </a:r>
            <a:r>
              <a:rPr sz="1200" spc="-5" dirty="0">
                <a:solidFill>
                  <a:srgbClr val="3333B2"/>
                </a:solidFill>
                <a:latin typeface="Arial"/>
                <a:cs typeface="Arial"/>
              </a:rPr>
              <a:t>of</a:t>
            </a:r>
            <a:r>
              <a:rPr sz="1200" spc="-20" dirty="0">
                <a:solidFill>
                  <a:srgbClr val="3333B2"/>
                </a:solidFill>
                <a:latin typeface="Arial"/>
                <a:cs typeface="Arial"/>
              </a:rPr>
              <a:t> </a:t>
            </a:r>
            <a:r>
              <a:rPr sz="1200" spc="-5" dirty="0">
                <a:solidFill>
                  <a:srgbClr val="3333B2"/>
                </a:solidFill>
                <a:latin typeface="Arial"/>
                <a:cs typeface="Arial"/>
              </a:rPr>
              <a:t>stopping</a:t>
            </a:r>
            <a:endParaRPr sz="1200">
              <a:latin typeface="Arial"/>
              <a:cs typeface="Arial"/>
            </a:endParaRPr>
          </a:p>
        </p:txBody>
      </p:sp>
      <p:grpSp>
        <p:nvGrpSpPr>
          <p:cNvPr id="5" name="object 5"/>
          <p:cNvGrpSpPr/>
          <p:nvPr/>
        </p:nvGrpSpPr>
        <p:grpSpPr>
          <a:xfrm>
            <a:off x="760710" y="961134"/>
            <a:ext cx="1559560" cy="1141730"/>
            <a:chOff x="760710" y="961134"/>
            <a:chExt cx="1559560" cy="1141730"/>
          </a:xfrm>
        </p:grpSpPr>
        <p:sp>
          <p:nvSpPr>
            <p:cNvPr id="6" name="object 6"/>
            <p:cNvSpPr/>
            <p:nvPr/>
          </p:nvSpPr>
          <p:spPr>
            <a:xfrm>
              <a:off x="763568" y="963991"/>
              <a:ext cx="1553845" cy="1136015"/>
            </a:xfrm>
            <a:custGeom>
              <a:avLst/>
              <a:gdLst/>
              <a:ahLst/>
              <a:cxnLst/>
              <a:rect l="l" t="t" r="r" b="b"/>
              <a:pathLst>
                <a:path w="1553845" h="1136014">
                  <a:moveTo>
                    <a:pt x="0" y="1135444"/>
                  </a:moveTo>
                  <a:lnTo>
                    <a:pt x="1553753" y="1135444"/>
                  </a:lnTo>
                  <a:lnTo>
                    <a:pt x="1553753" y="0"/>
                  </a:lnTo>
                  <a:lnTo>
                    <a:pt x="0" y="0"/>
                  </a:lnTo>
                  <a:lnTo>
                    <a:pt x="0" y="1135444"/>
                  </a:lnTo>
                  <a:close/>
                </a:path>
                <a:path w="1553845" h="1136014">
                  <a:moveTo>
                    <a:pt x="0" y="1135444"/>
                  </a:moveTo>
                  <a:lnTo>
                    <a:pt x="0" y="1109904"/>
                  </a:lnTo>
                </a:path>
                <a:path w="1553845" h="1136014">
                  <a:moveTo>
                    <a:pt x="310449" y="1135444"/>
                  </a:moveTo>
                  <a:lnTo>
                    <a:pt x="310449" y="1109904"/>
                  </a:lnTo>
                </a:path>
                <a:path w="1553845" h="1136014">
                  <a:moveTo>
                    <a:pt x="621651" y="1135444"/>
                  </a:moveTo>
                  <a:lnTo>
                    <a:pt x="621651" y="1109904"/>
                  </a:lnTo>
                </a:path>
                <a:path w="1553845" h="1136014">
                  <a:moveTo>
                    <a:pt x="932099" y="1135444"/>
                  </a:moveTo>
                  <a:lnTo>
                    <a:pt x="932099" y="1109904"/>
                  </a:lnTo>
                </a:path>
                <a:path w="1553845" h="1136014">
                  <a:moveTo>
                    <a:pt x="1243301" y="1135444"/>
                  </a:moveTo>
                  <a:lnTo>
                    <a:pt x="1243301" y="1109904"/>
                  </a:lnTo>
                </a:path>
                <a:path w="1553845" h="1136014">
                  <a:moveTo>
                    <a:pt x="1553754" y="1135444"/>
                  </a:moveTo>
                  <a:lnTo>
                    <a:pt x="1553754" y="1109904"/>
                  </a:lnTo>
                </a:path>
                <a:path w="1553845" h="1136014">
                  <a:moveTo>
                    <a:pt x="0" y="825741"/>
                  </a:moveTo>
                  <a:lnTo>
                    <a:pt x="47240" y="825741"/>
                  </a:lnTo>
                </a:path>
                <a:path w="1553845" h="1136014">
                  <a:moveTo>
                    <a:pt x="0" y="567520"/>
                  </a:moveTo>
                  <a:lnTo>
                    <a:pt x="47240" y="567520"/>
                  </a:lnTo>
                </a:path>
                <a:path w="1553845" h="1136014">
                  <a:moveTo>
                    <a:pt x="0" y="309706"/>
                  </a:moveTo>
                  <a:lnTo>
                    <a:pt x="47240" y="309706"/>
                  </a:lnTo>
                </a:path>
                <a:path w="1553845" h="1136014">
                  <a:moveTo>
                    <a:pt x="0" y="51485"/>
                  </a:moveTo>
                  <a:lnTo>
                    <a:pt x="47240" y="51485"/>
                  </a:lnTo>
                </a:path>
                <a:path w="1553845" h="1136014">
                  <a:moveTo>
                    <a:pt x="0" y="1135444"/>
                  </a:moveTo>
                  <a:lnTo>
                    <a:pt x="1553753" y="1135444"/>
                  </a:lnTo>
                  <a:lnTo>
                    <a:pt x="1553753" y="0"/>
                  </a:lnTo>
                  <a:lnTo>
                    <a:pt x="0" y="0"/>
                  </a:lnTo>
                  <a:lnTo>
                    <a:pt x="0" y="1135444"/>
                  </a:lnTo>
                  <a:close/>
                </a:path>
              </a:pathLst>
            </a:custGeom>
            <a:ln w="5270">
              <a:solidFill>
                <a:srgbClr val="000000"/>
              </a:solidFill>
            </a:ln>
          </p:spPr>
          <p:txBody>
            <a:bodyPr wrap="square" lIns="0" tIns="0" rIns="0" bIns="0" rtlCol="0"/>
            <a:lstStyle/>
            <a:p>
              <a:endParaRPr/>
            </a:p>
          </p:txBody>
        </p:sp>
        <p:sp>
          <p:nvSpPr>
            <p:cNvPr id="7" name="object 7"/>
            <p:cNvSpPr/>
            <p:nvPr/>
          </p:nvSpPr>
          <p:spPr>
            <a:xfrm>
              <a:off x="1031276" y="999212"/>
              <a:ext cx="1286510" cy="1043305"/>
            </a:xfrm>
            <a:custGeom>
              <a:avLst/>
              <a:gdLst/>
              <a:ahLst/>
              <a:cxnLst/>
              <a:rect l="l" t="t" r="r" b="b"/>
              <a:pathLst>
                <a:path w="1286510" h="1043305">
                  <a:moveTo>
                    <a:pt x="0" y="1043064"/>
                  </a:moveTo>
                  <a:lnTo>
                    <a:pt x="61491" y="1031312"/>
                  </a:lnTo>
                  <a:lnTo>
                    <a:pt x="100481" y="1019960"/>
                  </a:lnTo>
                  <a:lnTo>
                    <a:pt x="157468" y="996852"/>
                  </a:lnTo>
                  <a:lnTo>
                    <a:pt x="203210" y="974152"/>
                  </a:lnTo>
                  <a:lnTo>
                    <a:pt x="242199" y="951049"/>
                  </a:lnTo>
                  <a:lnTo>
                    <a:pt x="260198" y="939696"/>
                  </a:lnTo>
                  <a:lnTo>
                    <a:pt x="278195" y="928344"/>
                  </a:lnTo>
                  <a:lnTo>
                    <a:pt x="294690" y="916588"/>
                  </a:lnTo>
                  <a:lnTo>
                    <a:pt x="310436" y="905236"/>
                  </a:lnTo>
                  <a:lnTo>
                    <a:pt x="326181" y="893888"/>
                  </a:lnTo>
                  <a:lnTo>
                    <a:pt x="356923" y="870780"/>
                  </a:lnTo>
                  <a:lnTo>
                    <a:pt x="399664" y="836325"/>
                  </a:lnTo>
                  <a:lnTo>
                    <a:pt x="413166" y="824972"/>
                  </a:lnTo>
                  <a:lnTo>
                    <a:pt x="427408" y="813620"/>
                  </a:lnTo>
                  <a:lnTo>
                    <a:pt x="440160" y="801864"/>
                  </a:lnTo>
                  <a:lnTo>
                    <a:pt x="453654" y="790512"/>
                  </a:lnTo>
                  <a:lnTo>
                    <a:pt x="467151" y="779164"/>
                  </a:lnTo>
                  <a:lnTo>
                    <a:pt x="479903" y="767812"/>
                  </a:lnTo>
                  <a:lnTo>
                    <a:pt x="492647" y="756056"/>
                  </a:lnTo>
                  <a:lnTo>
                    <a:pt x="505391" y="744704"/>
                  </a:lnTo>
                  <a:lnTo>
                    <a:pt x="518143" y="733352"/>
                  </a:lnTo>
                  <a:lnTo>
                    <a:pt x="530889" y="721600"/>
                  </a:lnTo>
                  <a:lnTo>
                    <a:pt x="542884" y="710248"/>
                  </a:lnTo>
                  <a:lnTo>
                    <a:pt x="555628" y="698896"/>
                  </a:lnTo>
                  <a:lnTo>
                    <a:pt x="567624" y="687136"/>
                  </a:lnTo>
                  <a:lnTo>
                    <a:pt x="580379" y="675788"/>
                  </a:lnTo>
                  <a:lnTo>
                    <a:pt x="592374" y="664436"/>
                  </a:lnTo>
                  <a:lnTo>
                    <a:pt x="604370" y="653088"/>
                  </a:lnTo>
                  <a:lnTo>
                    <a:pt x="616365" y="641332"/>
                  </a:lnTo>
                  <a:lnTo>
                    <a:pt x="628361" y="629980"/>
                  </a:lnTo>
                  <a:lnTo>
                    <a:pt x="640357" y="618628"/>
                  </a:lnTo>
                  <a:lnTo>
                    <a:pt x="652352" y="606872"/>
                  </a:lnTo>
                  <a:lnTo>
                    <a:pt x="664348" y="595524"/>
                  </a:lnTo>
                  <a:lnTo>
                    <a:pt x="676344" y="584172"/>
                  </a:lnTo>
                  <a:lnTo>
                    <a:pt x="688339" y="572820"/>
                  </a:lnTo>
                  <a:lnTo>
                    <a:pt x="699587" y="561064"/>
                  </a:lnTo>
                  <a:lnTo>
                    <a:pt x="711582" y="549712"/>
                  </a:lnTo>
                  <a:lnTo>
                    <a:pt x="723578" y="538364"/>
                  </a:lnTo>
                  <a:lnTo>
                    <a:pt x="734825" y="526604"/>
                  </a:lnTo>
                  <a:lnTo>
                    <a:pt x="746821" y="515256"/>
                  </a:lnTo>
                  <a:lnTo>
                    <a:pt x="758817" y="503904"/>
                  </a:lnTo>
                  <a:lnTo>
                    <a:pt x="770064" y="492148"/>
                  </a:lnTo>
                  <a:lnTo>
                    <a:pt x="782059" y="480800"/>
                  </a:lnTo>
                  <a:lnTo>
                    <a:pt x="794066" y="469448"/>
                  </a:lnTo>
                  <a:lnTo>
                    <a:pt x="805302" y="458096"/>
                  </a:lnTo>
                  <a:lnTo>
                    <a:pt x="817309" y="446336"/>
                  </a:lnTo>
                  <a:lnTo>
                    <a:pt x="828556" y="434988"/>
                  </a:lnTo>
                  <a:lnTo>
                    <a:pt x="840551" y="423636"/>
                  </a:lnTo>
                  <a:lnTo>
                    <a:pt x="852537" y="411884"/>
                  </a:lnTo>
                  <a:lnTo>
                    <a:pt x="863784" y="400532"/>
                  </a:lnTo>
                  <a:lnTo>
                    <a:pt x="875790" y="389180"/>
                  </a:lnTo>
                  <a:lnTo>
                    <a:pt x="887037" y="377828"/>
                  </a:lnTo>
                  <a:lnTo>
                    <a:pt x="899033" y="366073"/>
                  </a:lnTo>
                  <a:lnTo>
                    <a:pt x="911029" y="354724"/>
                  </a:lnTo>
                  <a:lnTo>
                    <a:pt x="922276" y="343372"/>
                  </a:lnTo>
                  <a:lnTo>
                    <a:pt x="934271" y="331616"/>
                  </a:lnTo>
                  <a:lnTo>
                    <a:pt x="946267" y="320264"/>
                  </a:lnTo>
                  <a:lnTo>
                    <a:pt x="958263" y="308912"/>
                  </a:lnTo>
                  <a:lnTo>
                    <a:pt x="969510" y="297161"/>
                  </a:lnTo>
                  <a:lnTo>
                    <a:pt x="981506" y="285804"/>
                  </a:lnTo>
                  <a:lnTo>
                    <a:pt x="993501" y="274456"/>
                  </a:lnTo>
                  <a:lnTo>
                    <a:pt x="1005497" y="263104"/>
                  </a:lnTo>
                  <a:lnTo>
                    <a:pt x="1017493" y="251349"/>
                  </a:lnTo>
                  <a:lnTo>
                    <a:pt x="1029488" y="239997"/>
                  </a:lnTo>
                  <a:lnTo>
                    <a:pt x="1041484" y="228644"/>
                  </a:lnTo>
                  <a:lnTo>
                    <a:pt x="1052731" y="216891"/>
                  </a:lnTo>
                  <a:lnTo>
                    <a:pt x="1064727" y="205538"/>
                  </a:lnTo>
                  <a:lnTo>
                    <a:pt x="1077482" y="194186"/>
                  </a:lnTo>
                  <a:lnTo>
                    <a:pt x="1089477" y="182833"/>
                  </a:lnTo>
                  <a:lnTo>
                    <a:pt x="1101473" y="171080"/>
                  </a:lnTo>
                  <a:lnTo>
                    <a:pt x="1113468" y="159727"/>
                  </a:lnTo>
                  <a:lnTo>
                    <a:pt x="1125464" y="148375"/>
                  </a:lnTo>
                  <a:lnTo>
                    <a:pt x="1137460" y="136621"/>
                  </a:lnTo>
                  <a:lnTo>
                    <a:pt x="1150204" y="125269"/>
                  </a:lnTo>
                  <a:lnTo>
                    <a:pt x="1162200" y="113916"/>
                  </a:lnTo>
                  <a:lnTo>
                    <a:pt x="1174206" y="102563"/>
                  </a:lnTo>
                  <a:lnTo>
                    <a:pt x="1186950" y="90810"/>
                  </a:lnTo>
                  <a:lnTo>
                    <a:pt x="1198945" y="79468"/>
                  </a:lnTo>
                  <a:lnTo>
                    <a:pt x="1211690" y="68115"/>
                  </a:lnTo>
                  <a:lnTo>
                    <a:pt x="1223685" y="56352"/>
                  </a:lnTo>
                  <a:lnTo>
                    <a:pt x="1236429" y="44999"/>
                  </a:lnTo>
                  <a:lnTo>
                    <a:pt x="1249184" y="33657"/>
                  </a:lnTo>
                  <a:lnTo>
                    <a:pt x="1261180" y="21893"/>
                  </a:lnTo>
                  <a:lnTo>
                    <a:pt x="1273924" y="10540"/>
                  </a:lnTo>
                  <a:lnTo>
                    <a:pt x="1285919" y="0"/>
                  </a:lnTo>
                </a:path>
              </a:pathLst>
            </a:custGeom>
            <a:ln w="5270">
              <a:solidFill>
                <a:srgbClr val="231F20"/>
              </a:solidFill>
            </a:ln>
          </p:spPr>
          <p:txBody>
            <a:bodyPr wrap="square" lIns="0" tIns="0" rIns="0" bIns="0" rtlCol="0"/>
            <a:lstStyle/>
            <a:p>
              <a:endParaRPr/>
            </a:p>
          </p:txBody>
        </p:sp>
      </p:grpSp>
      <p:sp>
        <p:nvSpPr>
          <p:cNvPr id="8" name="object 8"/>
          <p:cNvSpPr txBox="1"/>
          <p:nvPr/>
        </p:nvSpPr>
        <p:spPr>
          <a:xfrm>
            <a:off x="692510" y="2091976"/>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0.0</a:t>
            </a:r>
            <a:endParaRPr sz="650">
              <a:latin typeface="Arial"/>
              <a:cs typeface="Arial"/>
            </a:endParaRPr>
          </a:p>
        </p:txBody>
      </p:sp>
      <p:sp>
        <p:nvSpPr>
          <p:cNvPr id="9" name="object 9"/>
          <p:cNvSpPr txBox="1"/>
          <p:nvPr/>
        </p:nvSpPr>
        <p:spPr>
          <a:xfrm>
            <a:off x="1003474" y="2091976"/>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0.2</a:t>
            </a:r>
            <a:endParaRPr sz="650">
              <a:latin typeface="Arial"/>
              <a:cs typeface="Arial"/>
            </a:endParaRPr>
          </a:p>
        </p:txBody>
      </p:sp>
      <p:sp>
        <p:nvSpPr>
          <p:cNvPr id="10" name="object 10"/>
          <p:cNvSpPr txBox="1"/>
          <p:nvPr/>
        </p:nvSpPr>
        <p:spPr>
          <a:xfrm>
            <a:off x="1935347" y="2091976"/>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0.8</a:t>
            </a:r>
            <a:endParaRPr sz="650">
              <a:latin typeface="Arial"/>
              <a:cs typeface="Arial"/>
            </a:endParaRPr>
          </a:p>
        </p:txBody>
      </p:sp>
      <p:sp>
        <p:nvSpPr>
          <p:cNvPr id="11" name="object 11"/>
          <p:cNvSpPr txBox="1"/>
          <p:nvPr/>
        </p:nvSpPr>
        <p:spPr>
          <a:xfrm>
            <a:off x="2243491" y="2091976"/>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1.0</a:t>
            </a:r>
            <a:endParaRPr sz="650">
              <a:latin typeface="Arial"/>
              <a:cs typeface="Arial"/>
            </a:endParaRPr>
          </a:p>
        </p:txBody>
      </p:sp>
      <p:sp>
        <p:nvSpPr>
          <p:cNvPr id="12" name="object 12"/>
          <p:cNvSpPr/>
          <p:nvPr/>
        </p:nvSpPr>
        <p:spPr>
          <a:xfrm>
            <a:off x="763568" y="2042276"/>
            <a:ext cx="267970" cy="6350"/>
          </a:xfrm>
          <a:custGeom>
            <a:avLst/>
            <a:gdLst/>
            <a:ahLst/>
            <a:cxnLst/>
            <a:rect l="l" t="t" r="r" b="b"/>
            <a:pathLst>
              <a:path w="267969" h="6350">
                <a:moveTo>
                  <a:pt x="0" y="5677"/>
                </a:moveTo>
                <a:lnTo>
                  <a:pt x="119462" y="6258"/>
                </a:lnTo>
                <a:lnTo>
                  <a:pt x="202861" y="4143"/>
                </a:lnTo>
                <a:lnTo>
                  <a:pt x="251756" y="1376"/>
                </a:lnTo>
                <a:lnTo>
                  <a:pt x="267708" y="0"/>
                </a:lnTo>
              </a:path>
            </a:pathLst>
          </a:custGeom>
          <a:ln w="5270">
            <a:solidFill>
              <a:srgbClr val="231F20"/>
            </a:solidFill>
          </a:ln>
        </p:spPr>
        <p:txBody>
          <a:bodyPr wrap="square" lIns="0" tIns="0" rIns="0" bIns="0" rtlCol="0"/>
          <a:lstStyle/>
          <a:p>
            <a:endParaRPr/>
          </a:p>
        </p:txBody>
      </p:sp>
      <p:sp>
        <p:nvSpPr>
          <p:cNvPr id="13" name="object 13"/>
          <p:cNvSpPr txBox="1"/>
          <p:nvPr/>
        </p:nvSpPr>
        <p:spPr>
          <a:xfrm>
            <a:off x="1288613" y="2091976"/>
            <a:ext cx="504190" cy="218440"/>
          </a:xfrm>
          <a:prstGeom prst="rect">
            <a:avLst/>
          </a:prstGeom>
        </p:spPr>
        <p:txBody>
          <a:bodyPr vert="horz" wrap="square" lIns="0" tIns="13970" rIns="0" bIns="0" rtlCol="0">
            <a:spAutoFit/>
          </a:bodyPr>
          <a:lstStyle/>
          <a:p>
            <a:pPr marL="38100">
              <a:lnSpc>
                <a:spcPts val="750"/>
              </a:lnSpc>
              <a:spcBef>
                <a:spcPts val="110"/>
              </a:spcBef>
              <a:tabLst>
                <a:tab pos="348615" algn="l"/>
              </a:tabLst>
            </a:pPr>
            <a:r>
              <a:rPr sz="650" spc="5" dirty="0">
                <a:solidFill>
                  <a:srgbClr val="231F20"/>
                </a:solidFill>
                <a:latin typeface="Arial"/>
                <a:cs typeface="Arial"/>
              </a:rPr>
              <a:t>0.4	0.6</a:t>
            </a:r>
            <a:endParaRPr sz="650">
              <a:latin typeface="Arial"/>
              <a:cs typeface="Arial"/>
            </a:endParaRPr>
          </a:p>
          <a:p>
            <a:pPr marL="245110">
              <a:lnSpc>
                <a:spcPts val="750"/>
              </a:lnSpc>
            </a:pPr>
            <a:r>
              <a:rPr sz="975" i="1" spc="7" baseline="12820" dirty="0">
                <a:solidFill>
                  <a:srgbClr val="231F20"/>
                </a:solidFill>
                <a:latin typeface="Arial"/>
                <a:cs typeface="Arial"/>
              </a:rPr>
              <a:t>p</a:t>
            </a:r>
            <a:r>
              <a:rPr sz="300" i="1" spc="15" dirty="0">
                <a:solidFill>
                  <a:srgbClr val="231F20"/>
                </a:solidFill>
                <a:latin typeface="Arial"/>
                <a:cs typeface="Arial"/>
              </a:rPr>
              <a:t>stop</a:t>
            </a:r>
            <a:endParaRPr sz="300">
              <a:latin typeface="Arial"/>
              <a:cs typeface="Arial"/>
            </a:endParaRPr>
          </a:p>
        </p:txBody>
      </p:sp>
      <p:sp>
        <p:nvSpPr>
          <p:cNvPr id="17" name="object 17"/>
          <p:cNvSpPr txBox="1"/>
          <p:nvPr/>
        </p:nvSpPr>
        <p:spPr>
          <a:xfrm>
            <a:off x="66700" y="3331252"/>
            <a:ext cx="11557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Information dissemination models</a:t>
            </a:r>
            <a:endParaRPr sz="600">
              <a:latin typeface="Arial"/>
              <a:cs typeface="Arial"/>
            </a:endParaRPr>
          </a:p>
        </p:txBody>
      </p:sp>
      <p:sp>
        <p:nvSpPr>
          <p:cNvPr id="18" name="object 18"/>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47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49</a:t>
            </a:r>
            <a:endParaRPr sz="600">
              <a:latin typeface="Arial"/>
              <a:cs typeface="Arial"/>
            </a:endParaRPr>
          </a:p>
        </p:txBody>
      </p:sp>
      <p:sp>
        <p:nvSpPr>
          <p:cNvPr id="14" name="object 14"/>
          <p:cNvSpPr txBox="1"/>
          <p:nvPr/>
        </p:nvSpPr>
        <p:spPr>
          <a:xfrm>
            <a:off x="425517" y="956533"/>
            <a:ext cx="400685" cy="1143000"/>
          </a:xfrm>
          <a:prstGeom prst="rect">
            <a:avLst/>
          </a:prstGeom>
        </p:spPr>
        <p:txBody>
          <a:bodyPr vert="horz" wrap="square" lIns="0" tIns="13970" rIns="0" bIns="0" rtlCol="0">
            <a:spAutoFit/>
          </a:bodyPr>
          <a:lstStyle/>
          <a:p>
            <a:pPr marL="160020">
              <a:lnSpc>
                <a:spcPct val="100000"/>
              </a:lnSpc>
              <a:spcBef>
                <a:spcPts val="110"/>
              </a:spcBef>
            </a:pPr>
            <a:r>
              <a:rPr sz="650" spc="5" dirty="0">
                <a:solidFill>
                  <a:srgbClr val="231F20"/>
                </a:solidFill>
                <a:latin typeface="Arial"/>
                <a:cs typeface="Arial"/>
              </a:rPr>
              <a:t>0.20</a:t>
            </a:r>
            <a:endParaRPr sz="650">
              <a:latin typeface="Arial"/>
              <a:cs typeface="Arial"/>
            </a:endParaRPr>
          </a:p>
          <a:p>
            <a:pPr>
              <a:lnSpc>
                <a:spcPct val="100000"/>
              </a:lnSpc>
            </a:pPr>
            <a:endParaRPr sz="600">
              <a:latin typeface="Arial"/>
              <a:cs typeface="Arial"/>
            </a:endParaRPr>
          </a:p>
          <a:p>
            <a:pPr marL="159385">
              <a:lnSpc>
                <a:spcPct val="100000"/>
              </a:lnSpc>
              <a:spcBef>
                <a:spcPts val="530"/>
              </a:spcBef>
            </a:pPr>
            <a:r>
              <a:rPr sz="650" spc="5" dirty="0">
                <a:solidFill>
                  <a:srgbClr val="231F20"/>
                </a:solidFill>
                <a:latin typeface="Arial"/>
                <a:cs typeface="Arial"/>
              </a:rPr>
              <a:t>0.15</a:t>
            </a:r>
            <a:endParaRPr sz="650">
              <a:latin typeface="Arial"/>
              <a:cs typeface="Arial"/>
            </a:endParaRPr>
          </a:p>
          <a:p>
            <a:pPr>
              <a:lnSpc>
                <a:spcPct val="100000"/>
              </a:lnSpc>
            </a:pPr>
            <a:endParaRPr sz="600">
              <a:latin typeface="Arial"/>
              <a:cs typeface="Arial"/>
            </a:endParaRPr>
          </a:p>
          <a:p>
            <a:pPr marL="76200">
              <a:lnSpc>
                <a:spcPct val="100000"/>
              </a:lnSpc>
              <a:spcBef>
                <a:spcPts val="530"/>
              </a:spcBef>
            </a:pPr>
            <a:r>
              <a:rPr sz="975" i="1" spc="7" baseline="-12820" dirty="0">
                <a:solidFill>
                  <a:srgbClr val="231F20"/>
                </a:solidFill>
                <a:latin typeface="Arial"/>
                <a:cs typeface="Arial"/>
              </a:rPr>
              <a:t>s</a:t>
            </a:r>
            <a:r>
              <a:rPr sz="975" i="1" spc="75" baseline="-12820" dirty="0">
                <a:solidFill>
                  <a:srgbClr val="231F20"/>
                </a:solidFill>
                <a:latin typeface="Arial"/>
                <a:cs typeface="Arial"/>
              </a:rPr>
              <a:t> </a:t>
            </a:r>
            <a:r>
              <a:rPr sz="650" spc="5" dirty="0">
                <a:solidFill>
                  <a:srgbClr val="231F20"/>
                </a:solidFill>
                <a:latin typeface="Arial"/>
                <a:cs typeface="Arial"/>
              </a:rPr>
              <a:t>0.10</a:t>
            </a:r>
            <a:endParaRPr sz="650">
              <a:latin typeface="Arial"/>
              <a:cs typeface="Arial"/>
            </a:endParaRPr>
          </a:p>
          <a:p>
            <a:pPr>
              <a:lnSpc>
                <a:spcPct val="100000"/>
              </a:lnSpc>
              <a:spcBef>
                <a:spcPts val="15"/>
              </a:spcBef>
            </a:pPr>
            <a:endParaRPr sz="1050">
              <a:latin typeface="Arial"/>
              <a:cs typeface="Arial"/>
            </a:endParaRPr>
          </a:p>
          <a:p>
            <a:pPr marL="159385">
              <a:lnSpc>
                <a:spcPct val="100000"/>
              </a:lnSpc>
            </a:pPr>
            <a:r>
              <a:rPr sz="650" spc="5" dirty="0">
                <a:solidFill>
                  <a:srgbClr val="231F20"/>
                </a:solidFill>
                <a:latin typeface="Arial"/>
                <a:cs typeface="Arial"/>
              </a:rPr>
              <a:t>0.05</a:t>
            </a:r>
            <a:endParaRPr sz="650">
              <a:latin typeface="Arial"/>
              <a:cs typeface="Arial"/>
            </a:endParaRPr>
          </a:p>
          <a:p>
            <a:pPr>
              <a:lnSpc>
                <a:spcPct val="100000"/>
              </a:lnSpc>
            </a:pPr>
            <a:endParaRPr sz="600">
              <a:latin typeface="Arial"/>
              <a:cs typeface="Arial"/>
            </a:endParaRPr>
          </a:p>
          <a:p>
            <a:pPr marL="160020">
              <a:lnSpc>
                <a:spcPct val="100000"/>
              </a:lnSpc>
              <a:spcBef>
                <a:spcPts val="530"/>
              </a:spcBef>
            </a:pPr>
            <a:r>
              <a:rPr sz="650" spc="5" dirty="0">
                <a:solidFill>
                  <a:srgbClr val="231F20"/>
                </a:solidFill>
                <a:latin typeface="Arial"/>
                <a:cs typeface="Arial"/>
              </a:rPr>
              <a:t>0.00</a:t>
            </a:r>
            <a:endParaRPr sz="650">
              <a:latin typeface="Arial"/>
              <a:cs typeface="Arial"/>
            </a:endParaRPr>
          </a:p>
        </p:txBody>
      </p:sp>
      <p:graphicFrame>
        <p:nvGraphicFramePr>
          <p:cNvPr id="15" name="object 15"/>
          <p:cNvGraphicFramePr>
            <a:graphicFrameLocks noGrp="1"/>
          </p:cNvGraphicFramePr>
          <p:nvPr/>
        </p:nvGraphicFramePr>
        <p:xfrm>
          <a:off x="2581770" y="924699"/>
          <a:ext cx="1494154" cy="1516380"/>
        </p:xfrm>
        <a:graphic>
          <a:graphicData uri="http://schemas.openxmlformats.org/drawingml/2006/table">
            <a:tbl>
              <a:tblPr firstRow="1" bandRow="1">
                <a:tableStyleId>{2D5ABB26-0587-4C30-8999-92F81FD0307C}</a:tableStyleId>
              </a:tblPr>
              <a:tblGrid>
                <a:gridCol w="507365">
                  <a:extLst>
                    <a:ext uri="{9D8B030D-6E8A-4147-A177-3AD203B41FA5}">
                      <a16:colId xmlns:a16="http://schemas.microsoft.com/office/drawing/2014/main" val="20000"/>
                    </a:ext>
                  </a:extLst>
                </a:gridCol>
                <a:gridCol w="604520">
                  <a:extLst>
                    <a:ext uri="{9D8B030D-6E8A-4147-A177-3AD203B41FA5}">
                      <a16:colId xmlns:a16="http://schemas.microsoft.com/office/drawing/2014/main" val="20001"/>
                    </a:ext>
                  </a:extLst>
                </a:gridCol>
                <a:gridCol w="382269">
                  <a:extLst>
                    <a:ext uri="{9D8B030D-6E8A-4147-A177-3AD203B41FA5}">
                      <a16:colId xmlns:a16="http://schemas.microsoft.com/office/drawing/2014/main" val="20002"/>
                    </a:ext>
                  </a:extLst>
                </a:gridCol>
              </a:tblGrid>
              <a:tr h="171450">
                <a:tc gridSpan="3">
                  <a:txBody>
                    <a:bodyPr/>
                    <a:lstStyle/>
                    <a:p>
                      <a:pPr marL="158115">
                        <a:lnSpc>
                          <a:spcPct val="100000"/>
                        </a:lnSpc>
                        <a:spcBef>
                          <a:spcPts val="40"/>
                        </a:spcBef>
                      </a:pPr>
                      <a:r>
                        <a:rPr sz="900" spc="-5" dirty="0">
                          <a:latin typeface="Arial"/>
                          <a:cs typeface="Arial"/>
                        </a:rPr>
                        <a:t>Consider</a:t>
                      </a:r>
                      <a:r>
                        <a:rPr sz="900" spc="-20" dirty="0">
                          <a:latin typeface="Arial"/>
                          <a:cs typeface="Arial"/>
                        </a:rPr>
                        <a:t> </a:t>
                      </a:r>
                      <a:r>
                        <a:rPr sz="900" spc="-5" dirty="0">
                          <a:latin typeface="Arial"/>
                          <a:cs typeface="Arial"/>
                        </a:rPr>
                        <a:t>10,000</a:t>
                      </a:r>
                      <a:r>
                        <a:rPr sz="900" spc="-15" dirty="0">
                          <a:latin typeface="Arial"/>
                          <a:cs typeface="Arial"/>
                        </a:rPr>
                        <a:t> </a:t>
                      </a:r>
                      <a:r>
                        <a:rPr sz="900" spc="-5" dirty="0">
                          <a:latin typeface="Arial"/>
                          <a:cs typeface="Arial"/>
                        </a:rPr>
                        <a:t>nodes</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71450">
                <a:tc>
                  <a:txBody>
                    <a:bodyPr/>
                    <a:lstStyle/>
                    <a:p>
                      <a:pPr marL="65405">
                        <a:lnSpc>
                          <a:spcPts val="990"/>
                        </a:lnSpc>
                        <a:spcBef>
                          <a:spcPts val="265"/>
                        </a:spcBef>
                      </a:pPr>
                      <a:r>
                        <a:rPr sz="1350" spc="37" baseline="12345" dirty="0">
                          <a:latin typeface="Arial"/>
                          <a:cs typeface="Arial"/>
                        </a:rPr>
                        <a:t>1</a:t>
                      </a:r>
                      <a:r>
                        <a:rPr sz="1350" i="1" spc="37" baseline="12345" dirty="0">
                          <a:latin typeface="Arial"/>
                          <a:cs typeface="Arial"/>
                        </a:rPr>
                        <a:t>/p</a:t>
                      </a:r>
                      <a:r>
                        <a:rPr sz="800" i="1" spc="25" dirty="0">
                          <a:latin typeface="Arial"/>
                          <a:cs typeface="Arial"/>
                        </a:rPr>
                        <a:t>stop</a:t>
                      </a:r>
                      <a:endParaRPr sz="800">
                        <a:latin typeface="Arial"/>
                        <a:cs typeface="Arial"/>
                      </a:endParaRPr>
                    </a:p>
                  </a:txBody>
                  <a:tcPr marL="0" marR="0" marT="3365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a:lnSpc>
                          <a:spcPct val="100000"/>
                        </a:lnSpc>
                        <a:spcBef>
                          <a:spcPts val="40"/>
                        </a:spcBef>
                      </a:pPr>
                      <a:r>
                        <a:rPr sz="900" i="1" dirty="0">
                          <a:latin typeface="Arial"/>
                          <a:cs typeface="Arial"/>
                        </a:rPr>
                        <a:t>s</a:t>
                      </a:r>
                      <a:endParaRPr sz="900">
                        <a:latin typeface="Arial"/>
                        <a:cs typeface="Arial"/>
                      </a:endParaRPr>
                    </a:p>
                  </a:txBody>
                  <a:tcPr marL="0" marR="0" marT="5080" marB="0">
                    <a:lnT w="6350">
                      <a:solidFill>
                        <a:srgbClr val="000000"/>
                      </a:solidFill>
                      <a:prstDash val="solid"/>
                    </a:lnT>
                    <a:lnB w="6350">
                      <a:solidFill>
                        <a:srgbClr val="000000"/>
                      </a:solidFill>
                      <a:prstDash val="solid"/>
                    </a:lnB>
                  </a:tcPr>
                </a:tc>
                <a:tc>
                  <a:txBody>
                    <a:bodyPr/>
                    <a:lstStyle/>
                    <a:p>
                      <a:pPr marR="66675" algn="r">
                        <a:lnSpc>
                          <a:spcPct val="100000"/>
                        </a:lnSpc>
                        <a:spcBef>
                          <a:spcPts val="40"/>
                        </a:spcBef>
                      </a:pPr>
                      <a:r>
                        <a:rPr sz="900" i="1" spc="-5" dirty="0">
                          <a:latin typeface="Arial"/>
                          <a:cs typeface="Arial"/>
                        </a:rPr>
                        <a:t>N</a:t>
                      </a:r>
                      <a:r>
                        <a:rPr sz="1050" i="1" spc="-7" baseline="-11904" dirty="0">
                          <a:latin typeface="Arial"/>
                          <a:cs typeface="Arial"/>
                        </a:rPr>
                        <a:t>s</a:t>
                      </a:r>
                      <a:endParaRPr sz="1050" baseline="-11904">
                        <a:latin typeface="Arial"/>
                        <a:cs typeface="Arial"/>
                      </a:endParaRPr>
                    </a:p>
                  </a:txBody>
                  <a:tcPr marL="0" marR="0" marT="5080"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64465">
                <a:tc>
                  <a:txBody>
                    <a:bodyPr/>
                    <a:lstStyle/>
                    <a:p>
                      <a:pPr marL="65405">
                        <a:lnSpc>
                          <a:spcPct val="100000"/>
                        </a:lnSpc>
                        <a:spcBef>
                          <a:spcPts val="40"/>
                        </a:spcBef>
                      </a:pPr>
                      <a:r>
                        <a:rPr sz="900" dirty="0">
                          <a:latin typeface="Arial"/>
                          <a:cs typeface="Arial"/>
                        </a:rPr>
                        <a:t>1</a:t>
                      </a:r>
                      <a:endParaRPr sz="900">
                        <a:latin typeface="Arial"/>
                        <a:cs typeface="Arial"/>
                      </a:endParaRPr>
                    </a:p>
                  </a:txBody>
                  <a:tcPr marL="0" marR="0" marT="5080" marB="0">
                    <a:lnL w="6350">
                      <a:solidFill>
                        <a:srgbClr val="000000"/>
                      </a:solidFill>
                      <a:prstDash val="solid"/>
                    </a:lnL>
                    <a:lnT w="6350">
                      <a:solidFill>
                        <a:srgbClr val="000000"/>
                      </a:solidFill>
                      <a:prstDash val="solid"/>
                    </a:lnT>
                  </a:tcPr>
                </a:tc>
                <a:tc>
                  <a:txBody>
                    <a:bodyPr/>
                    <a:lstStyle/>
                    <a:p>
                      <a:pPr marL="3175" algn="ctr">
                        <a:lnSpc>
                          <a:spcPct val="100000"/>
                        </a:lnSpc>
                        <a:spcBef>
                          <a:spcPts val="40"/>
                        </a:spcBef>
                      </a:pPr>
                      <a:r>
                        <a:rPr sz="900" spc="-5" dirty="0">
                          <a:latin typeface="Arial"/>
                          <a:cs typeface="Arial"/>
                        </a:rPr>
                        <a:t>0</a:t>
                      </a:r>
                      <a:r>
                        <a:rPr sz="900" i="1" spc="-5" dirty="0">
                          <a:latin typeface="Arial"/>
                          <a:cs typeface="Arial"/>
                        </a:rPr>
                        <a:t>.</a:t>
                      </a:r>
                      <a:r>
                        <a:rPr sz="900" spc="-5" dirty="0">
                          <a:latin typeface="Arial"/>
                          <a:cs typeface="Arial"/>
                        </a:rPr>
                        <a:t>203188</a:t>
                      </a:r>
                      <a:endParaRPr sz="900">
                        <a:latin typeface="Arial"/>
                        <a:cs typeface="Arial"/>
                      </a:endParaRPr>
                    </a:p>
                  </a:txBody>
                  <a:tcPr marL="0" marR="0" marT="5080" marB="0">
                    <a:lnT w="6350">
                      <a:solidFill>
                        <a:srgbClr val="000000"/>
                      </a:solidFill>
                      <a:prstDash val="solid"/>
                    </a:lnT>
                  </a:tcPr>
                </a:tc>
                <a:tc>
                  <a:txBody>
                    <a:bodyPr/>
                    <a:lstStyle/>
                    <a:p>
                      <a:pPr marR="57785" algn="r">
                        <a:lnSpc>
                          <a:spcPct val="100000"/>
                        </a:lnSpc>
                        <a:spcBef>
                          <a:spcPts val="40"/>
                        </a:spcBef>
                      </a:pPr>
                      <a:r>
                        <a:rPr sz="900" spc="-5" dirty="0">
                          <a:latin typeface="Arial"/>
                          <a:cs typeface="Arial"/>
                        </a:rPr>
                        <a:t>2032</a:t>
                      </a:r>
                      <a:endParaRPr sz="900">
                        <a:latin typeface="Arial"/>
                        <a:cs typeface="Arial"/>
                      </a:endParaRPr>
                    </a:p>
                  </a:txBody>
                  <a:tcPr marL="0" marR="0" marT="5080" marB="0">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2"/>
                  </a:ext>
                </a:extLst>
              </a:tr>
              <a:tr h="167005">
                <a:tc>
                  <a:txBody>
                    <a:bodyPr/>
                    <a:lstStyle/>
                    <a:p>
                      <a:pPr marL="65405">
                        <a:lnSpc>
                          <a:spcPct val="100000"/>
                        </a:lnSpc>
                        <a:spcBef>
                          <a:spcPts val="55"/>
                        </a:spcBef>
                      </a:pPr>
                      <a:r>
                        <a:rPr sz="900" dirty="0">
                          <a:latin typeface="Arial"/>
                          <a:cs typeface="Arial"/>
                        </a:rPr>
                        <a:t>2</a:t>
                      </a:r>
                      <a:endParaRPr sz="900">
                        <a:latin typeface="Arial"/>
                        <a:cs typeface="Arial"/>
                      </a:endParaRPr>
                    </a:p>
                  </a:txBody>
                  <a:tcPr marL="0" marR="0" marT="6985" marB="0">
                    <a:lnL w="6350">
                      <a:solidFill>
                        <a:srgbClr val="000000"/>
                      </a:solidFill>
                      <a:prstDash val="solid"/>
                    </a:lnL>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059520</a:t>
                      </a:r>
                      <a:endParaRPr sz="900">
                        <a:latin typeface="Arial"/>
                        <a:cs typeface="Arial"/>
                      </a:endParaRPr>
                    </a:p>
                  </a:txBody>
                  <a:tcPr marL="0" marR="0" marT="6985" marB="0"/>
                </a:tc>
                <a:tc>
                  <a:txBody>
                    <a:bodyPr/>
                    <a:lstStyle/>
                    <a:p>
                      <a:pPr marR="57785" algn="r">
                        <a:lnSpc>
                          <a:spcPct val="100000"/>
                        </a:lnSpc>
                        <a:spcBef>
                          <a:spcPts val="55"/>
                        </a:spcBef>
                      </a:pPr>
                      <a:r>
                        <a:rPr sz="900" spc="-5" dirty="0">
                          <a:latin typeface="Arial"/>
                          <a:cs typeface="Arial"/>
                        </a:rPr>
                        <a:t>595</a:t>
                      </a:r>
                      <a:endParaRPr sz="900">
                        <a:latin typeface="Arial"/>
                        <a:cs typeface="Arial"/>
                      </a:endParaRPr>
                    </a:p>
                  </a:txBody>
                  <a:tcPr marL="0" marR="0" marT="6985" marB="0">
                    <a:lnR w="6350">
                      <a:solidFill>
                        <a:srgbClr val="000000"/>
                      </a:solidFill>
                      <a:prstDash val="solid"/>
                    </a:lnR>
                  </a:tcPr>
                </a:tc>
                <a:extLst>
                  <a:ext uri="{0D108BD9-81ED-4DB2-BD59-A6C34878D82A}">
                    <a16:rowId xmlns:a16="http://schemas.microsoft.com/office/drawing/2014/main" val="10003"/>
                  </a:ext>
                </a:extLst>
              </a:tr>
              <a:tr h="167005">
                <a:tc>
                  <a:txBody>
                    <a:bodyPr/>
                    <a:lstStyle/>
                    <a:p>
                      <a:pPr marL="65405">
                        <a:lnSpc>
                          <a:spcPct val="100000"/>
                        </a:lnSpc>
                        <a:spcBef>
                          <a:spcPts val="55"/>
                        </a:spcBef>
                      </a:pPr>
                      <a:r>
                        <a:rPr sz="900" dirty="0">
                          <a:latin typeface="Arial"/>
                          <a:cs typeface="Arial"/>
                        </a:rPr>
                        <a:t>3</a:t>
                      </a:r>
                      <a:endParaRPr sz="900">
                        <a:latin typeface="Arial"/>
                        <a:cs typeface="Arial"/>
                      </a:endParaRPr>
                    </a:p>
                  </a:txBody>
                  <a:tcPr marL="0" marR="0" marT="6985" marB="0">
                    <a:lnL w="6350">
                      <a:solidFill>
                        <a:srgbClr val="000000"/>
                      </a:solidFill>
                      <a:prstDash val="solid"/>
                    </a:lnL>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019827</a:t>
                      </a:r>
                      <a:endParaRPr sz="900">
                        <a:latin typeface="Arial"/>
                        <a:cs typeface="Arial"/>
                      </a:endParaRPr>
                    </a:p>
                  </a:txBody>
                  <a:tcPr marL="0" marR="0" marT="6985" marB="0"/>
                </a:tc>
                <a:tc>
                  <a:txBody>
                    <a:bodyPr/>
                    <a:lstStyle/>
                    <a:p>
                      <a:pPr marR="57785" algn="r">
                        <a:lnSpc>
                          <a:spcPct val="100000"/>
                        </a:lnSpc>
                        <a:spcBef>
                          <a:spcPts val="55"/>
                        </a:spcBef>
                      </a:pPr>
                      <a:r>
                        <a:rPr sz="900" spc="-5" dirty="0">
                          <a:latin typeface="Arial"/>
                          <a:cs typeface="Arial"/>
                        </a:rPr>
                        <a:t>198</a:t>
                      </a:r>
                      <a:endParaRPr sz="900">
                        <a:latin typeface="Arial"/>
                        <a:cs typeface="Arial"/>
                      </a:endParaRPr>
                    </a:p>
                  </a:txBody>
                  <a:tcPr marL="0" marR="0" marT="6985" marB="0">
                    <a:lnR w="6350">
                      <a:solidFill>
                        <a:srgbClr val="000000"/>
                      </a:solidFill>
                      <a:prstDash val="solid"/>
                    </a:lnR>
                  </a:tcPr>
                </a:tc>
                <a:extLst>
                  <a:ext uri="{0D108BD9-81ED-4DB2-BD59-A6C34878D82A}">
                    <a16:rowId xmlns:a16="http://schemas.microsoft.com/office/drawing/2014/main" val="10004"/>
                  </a:ext>
                </a:extLst>
              </a:tr>
              <a:tr h="167005">
                <a:tc>
                  <a:txBody>
                    <a:bodyPr/>
                    <a:lstStyle/>
                    <a:p>
                      <a:pPr marL="65405">
                        <a:lnSpc>
                          <a:spcPct val="100000"/>
                        </a:lnSpc>
                        <a:spcBef>
                          <a:spcPts val="55"/>
                        </a:spcBef>
                      </a:pPr>
                      <a:r>
                        <a:rPr sz="900" dirty="0">
                          <a:latin typeface="Arial"/>
                          <a:cs typeface="Arial"/>
                        </a:rPr>
                        <a:t>4</a:t>
                      </a:r>
                      <a:endParaRPr sz="900">
                        <a:latin typeface="Arial"/>
                        <a:cs typeface="Arial"/>
                      </a:endParaRPr>
                    </a:p>
                  </a:txBody>
                  <a:tcPr marL="0" marR="0" marT="6985" marB="0">
                    <a:lnL w="6350">
                      <a:solidFill>
                        <a:srgbClr val="000000"/>
                      </a:solidFill>
                      <a:prstDash val="solid"/>
                    </a:lnL>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006977</a:t>
                      </a:r>
                      <a:endParaRPr sz="900">
                        <a:latin typeface="Arial"/>
                        <a:cs typeface="Arial"/>
                      </a:endParaRPr>
                    </a:p>
                  </a:txBody>
                  <a:tcPr marL="0" marR="0" marT="6985" marB="0"/>
                </a:tc>
                <a:tc>
                  <a:txBody>
                    <a:bodyPr/>
                    <a:lstStyle/>
                    <a:p>
                      <a:pPr marR="57785" algn="r">
                        <a:lnSpc>
                          <a:spcPct val="100000"/>
                        </a:lnSpc>
                        <a:spcBef>
                          <a:spcPts val="55"/>
                        </a:spcBef>
                      </a:pPr>
                      <a:r>
                        <a:rPr sz="900" spc="-5" dirty="0">
                          <a:latin typeface="Arial"/>
                          <a:cs typeface="Arial"/>
                        </a:rPr>
                        <a:t>70</a:t>
                      </a:r>
                      <a:endParaRPr sz="900">
                        <a:latin typeface="Arial"/>
                        <a:cs typeface="Arial"/>
                      </a:endParaRPr>
                    </a:p>
                  </a:txBody>
                  <a:tcPr marL="0" marR="0" marT="6985" marB="0">
                    <a:lnR w="6350">
                      <a:solidFill>
                        <a:srgbClr val="000000"/>
                      </a:solidFill>
                      <a:prstDash val="solid"/>
                    </a:lnR>
                  </a:tcPr>
                </a:tc>
                <a:extLst>
                  <a:ext uri="{0D108BD9-81ED-4DB2-BD59-A6C34878D82A}">
                    <a16:rowId xmlns:a16="http://schemas.microsoft.com/office/drawing/2014/main" val="10005"/>
                  </a:ext>
                </a:extLst>
              </a:tr>
              <a:tr h="167005">
                <a:tc>
                  <a:txBody>
                    <a:bodyPr/>
                    <a:lstStyle/>
                    <a:p>
                      <a:pPr marL="65405">
                        <a:lnSpc>
                          <a:spcPct val="100000"/>
                        </a:lnSpc>
                        <a:spcBef>
                          <a:spcPts val="55"/>
                        </a:spcBef>
                      </a:pPr>
                      <a:r>
                        <a:rPr sz="900" dirty="0">
                          <a:latin typeface="Arial"/>
                          <a:cs typeface="Arial"/>
                        </a:rPr>
                        <a:t>5</a:t>
                      </a:r>
                      <a:endParaRPr sz="900">
                        <a:latin typeface="Arial"/>
                        <a:cs typeface="Arial"/>
                      </a:endParaRPr>
                    </a:p>
                  </a:txBody>
                  <a:tcPr marL="0" marR="0" marT="6985" marB="0">
                    <a:lnL w="6350">
                      <a:solidFill>
                        <a:srgbClr val="000000"/>
                      </a:solidFill>
                      <a:prstDash val="solid"/>
                    </a:lnL>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002516</a:t>
                      </a:r>
                      <a:endParaRPr sz="900">
                        <a:latin typeface="Arial"/>
                        <a:cs typeface="Arial"/>
                      </a:endParaRPr>
                    </a:p>
                  </a:txBody>
                  <a:tcPr marL="0" marR="0" marT="6985" marB="0"/>
                </a:tc>
                <a:tc>
                  <a:txBody>
                    <a:bodyPr/>
                    <a:lstStyle/>
                    <a:p>
                      <a:pPr marR="57785" algn="r">
                        <a:lnSpc>
                          <a:spcPct val="100000"/>
                        </a:lnSpc>
                        <a:spcBef>
                          <a:spcPts val="55"/>
                        </a:spcBef>
                      </a:pPr>
                      <a:r>
                        <a:rPr sz="900" spc="-5" dirty="0">
                          <a:latin typeface="Arial"/>
                          <a:cs typeface="Arial"/>
                        </a:rPr>
                        <a:t>25</a:t>
                      </a:r>
                      <a:endParaRPr sz="900">
                        <a:latin typeface="Arial"/>
                        <a:cs typeface="Arial"/>
                      </a:endParaRPr>
                    </a:p>
                  </a:txBody>
                  <a:tcPr marL="0" marR="0" marT="6985" marB="0">
                    <a:lnR w="6350">
                      <a:solidFill>
                        <a:srgbClr val="000000"/>
                      </a:solidFill>
                      <a:prstDash val="solid"/>
                    </a:lnR>
                  </a:tcPr>
                </a:tc>
                <a:extLst>
                  <a:ext uri="{0D108BD9-81ED-4DB2-BD59-A6C34878D82A}">
                    <a16:rowId xmlns:a16="http://schemas.microsoft.com/office/drawing/2014/main" val="10006"/>
                  </a:ext>
                </a:extLst>
              </a:tr>
              <a:tr h="167005">
                <a:tc>
                  <a:txBody>
                    <a:bodyPr/>
                    <a:lstStyle/>
                    <a:p>
                      <a:pPr marL="65405">
                        <a:lnSpc>
                          <a:spcPct val="100000"/>
                        </a:lnSpc>
                        <a:spcBef>
                          <a:spcPts val="55"/>
                        </a:spcBef>
                      </a:pPr>
                      <a:r>
                        <a:rPr sz="900" dirty="0">
                          <a:latin typeface="Arial"/>
                          <a:cs typeface="Arial"/>
                        </a:rPr>
                        <a:t>6</a:t>
                      </a:r>
                      <a:endParaRPr sz="900">
                        <a:latin typeface="Arial"/>
                        <a:cs typeface="Arial"/>
                      </a:endParaRPr>
                    </a:p>
                  </a:txBody>
                  <a:tcPr marL="0" marR="0" marT="6985" marB="0">
                    <a:lnL w="6350">
                      <a:solidFill>
                        <a:srgbClr val="000000"/>
                      </a:solidFill>
                      <a:prstDash val="solid"/>
                    </a:lnL>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000918</a:t>
                      </a:r>
                      <a:endParaRPr sz="900">
                        <a:latin typeface="Arial"/>
                        <a:cs typeface="Arial"/>
                      </a:endParaRPr>
                    </a:p>
                  </a:txBody>
                  <a:tcPr marL="0" marR="0" marT="6985" marB="0"/>
                </a:tc>
                <a:tc>
                  <a:txBody>
                    <a:bodyPr/>
                    <a:lstStyle/>
                    <a:p>
                      <a:pPr marR="57785" algn="r">
                        <a:lnSpc>
                          <a:spcPct val="100000"/>
                        </a:lnSpc>
                        <a:spcBef>
                          <a:spcPts val="55"/>
                        </a:spcBef>
                      </a:pPr>
                      <a:r>
                        <a:rPr sz="900" dirty="0">
                          <a:latin typeface="Arial"/>
                          <a:cs typeface="Arial"/>
                        </a:rPr>
                        <a:t>9</a:t>
                      </a:r>
                      <a:endParaRPr sz="900">
                        <a:latin typeface="Arial"/>
                        <a:cs typeface="Arial"/>
                      </a:endParaRPr>
                    </a:p>
                  </a:txBody>
                  <a:tcPr marL="0" marR="0" marT="6985" marB="0">
                    <a:lnR w="6350">
                      <a:solidFill>
                        <a:srgbClr val="000000"/>
                      </a:solidFill>
                      <a:prstDash val="solid"/>
                    </a:lnR>
                  </a:tcPr>
                </a:tc>
                <a:extLst>
                  <a:ext uri="{0D108BD9-81ED-4DB2-BD59-A6C34878D82A}">
                    <a16:rowId xmlns:a16="http://schemas.microsoft.com/office/drawing/2014/main" val="10007"/>
                  </a:ext>
                </a:extLst>
              </a:tr>
              <a:tr h="173990">
                <a:tc>
                  <a:txBody>
                    <a:bodyPr/>
                    <a:lstStyle/>
                    <a:p>
                      <a:pPr marL="65405">
                        <a:lnSpc>
                          <a:spcPct val="100000"/>
                        </a:lnSpc>
                        <a:spcBef>
                          <a:spcPts val="55"/>
                        </a:spcBef>
                      </a:pPr>
                      <a:r>
                        <a:rPr sz="900" dirty="0">
                          <a:latin typeface="Arial"/>
                          <a:cs typeface="Arial"/>
                        </a:rPr>
                        <a:t>7</a:t>
                      </a:r>
                      <a:endParaRPr sz="900">
                        <a:latin typeface="Arial"/>
                        <a:cs typeface="Arial"/>
                      </a:endParaRPr>
                    </a:p>
                  </a:txBody>
                  <a:tcPr marL="0" marR="0" marT="6985" marB="0">
                    <a:lnL w="6350">
                      <a:solidFill>
                        <a:srgbClr val="000000"/>
                      </a:solidFill>
                      <a:prstDash val="solid"/>
                    </a:lnL>
                    <a:lnB w="6350">
                      <a:solidFill>
                        <a:srgbClr val="000000"/>
                      </a:solidFill>
                      <a:prstDash val="solid"/>
                    </a:lnB>
                  </a:tcPr>
                </a:tc>
                <a:tc>
                  <a:txBody>
                    <a:bodyPr/>
                    <a:lstStyle/>
                    <a:p>
                      <a:pPr marL="3175" algn="ctr">
                        <a:lnSpc>
                          <a:spcPct val="100000"/>
                        </a:lnSpc>
                        <a:spcBef>
                          <a:spcPts val="55"/>
                        </a:spcBef>
                      </a:pPr>
                      <a:r>
                        <a:rPr sz="900" spc="-5" dirty="0">
                          <a:latin typeface="Arial"/>
                          <a:cs typeface="Arial"/>
                        </a:rPr>
                        <a:t>0</a:t>
                      </a:r>
                      <a:r>
                        <a:rPr sz="900" i="1" spc="-5" dirty="0">
                          <a:latin typeface="Arial"/>
                          <a:cs typeface="Arial"/>
                        </a:rPr>
                        <a:t>.</a:t>
                      </a:r>
                      <a:r>
                        <a:rPr sz="900" spc="-5" dirty="0">
                          <a:latin typeface="Arial"/>
                          <a:cs typeface="Arial"/>
                        </a:rPr>
                        <a:t>000336</a:t>
                      </a:r>
                      <a:endParaRPr sz="900">
                        <a:latin typeface="Arial"/>
                        <a:cs typeface="Arial"/>
                      </a:endParaRPr>
                    </a:p>
                  </a:txBody>
                  <a:tcPr marL="0" marR="0" marT="6985" marB="0">
                    <a:lnB w="6350">
                      <a:solidFill>
                        <a:srgbClr val="000000"/>
                      </a:solidFill>
                      <a:prstDash val="solid"/>
                    </a:lnB>
                  </a:tcPr>
                </a:tc>
                <a:tc>
                  <a:txBody>
                    <a:bodyPr/>
                    <a:lstStyle/>
                    <a:p>
                      <a:pPr marR="57785" algn="r">
                        <a:lnSpc>
                          <a:spcPct val="100000"/>
                        </a:lnSpc>
                        <a:spcBef>
                          <a:spcPts val="55"/>
                        </a:spcBef>
                      </a:pPr>
                      <a:r>
                        <a:rPr sz="900" dirty="0">
                          <a:latin typeface="Arial"/>
                          <a:cs typeface="Arial"/>
                        </a:rPr>
                        <a:t>3</a:t>
                      </a:r>
                      <a:endParaRPr sz="900">
                        <a:latin typeface="Arial"/>
                        <a:cs typeface="Arial"/>
                      </a:endParaRPr>
                    </a:p>
                  </a:txBody>
                  <a:tcPr marL="0" marR="0" marT="6985" marB="0">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8"/>
                  </a:ext>
                </a:extLst>
              </a:tr>
            </a:tbl>
          </a:graphicData>
        </a:graphic>
      </p:graphicFrame>
      <p:sp>
        <p:nvSpPr>
          <p:cNvPr id="16" name="object 16"/>
          <p:cNvSpPr txBox="1"/>
          <p:nvPr/>
        </p:nvSpPr>
        <p:spPr>
          <a:xfrm>
            <a:off x="347294" y="2519753"/>
            <a:ext cx="3697604" cy="50482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FA0000"/>
                </a:solidFill>
                <a:latin typeface="Arial"/>
                <a:cs typeface="Arial"/>
              </a:rPr>
              <a:t>Note</a:t>
            </a:r>
            <a:endParaRPr sz="1200">
              <a:latin typeface="Arial"/>
              <a:cs typeface="Arial"/>
            </a:endParaRPr>
          </a:p>
          <a:p>
            <a:pPr marL="12700" marR="5080">
              <a:lnSpc>
                <a:spcPts val="1200"/>
              </a:lnSpc>
              <a:spcBef>
                <a:spcPts val="10"/>
              </a:spcBef>
            </a:pPr>
            <a:r>
              <a:rPr sz="1000" spc="-5" dirty="0">
                <a:latin typeface="Arial"/>
                <a:cs typeface="Arial"/>
              </a:rPr>
              <a:t>If</a:t>
            </a:r>
            <a:r>
              <a:rPr sz="1000" dirty="0">
                <a:latin typeface="Arial"/>
                <a:cs typeface="Arial"/>
              </a:rPr>
              <a:t> </a:t>
            </a:r>
            <a:r>
              <a:rPr sz="1000" spc="-10" dirty="0">
                <a:latin typeface="Arial"/>
                <a:cs typeface="Arial"/>
              </a:rPr>
              <a:t>we</a:t>
            </a:r>
            <a:r>
              <a:rPr sz="1000" dirty="0">
                <a:latin typeface="Arial"/>
                <a:cs typeface="Arial"/>
              </a:rPr>
              <a:t> </a:t>
            </a:r>
            <a:r>
              <a:rPr sz="1000" spc="-5" dirty="0">
                <a:latin typeface="Arial"/>
                <a:cs typeface="Arial"/>
              </a:rPr>
              <a:t>really</a:t>
            </a:r>
            <a:r>
              <a:rPr sz="1000" dirty="0">
                <a:latin typeface="Arial"/>
                <a:cs typeface="Arial"/>
              </a:rPr>
              <a:t> </a:t>
            </a:r>
            <a:r>
              <a:rPr sz="1000" spc="-15" dirty="0">
                <a:latin typeface="Arial"/>
                <a:cs typeface="Arial"/>
              </a:rPr>
              <a:t>have</a:t>
            </a:r>
            <a:r>
              <a:rPr sz="1000" spc="5"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ensure</a:t>
            </a:r>
            <a:r>
              <a:rPr sz="1000"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all</a:t>
            </a:r>
            <a:r>
              <a:rPr sz="1000" dirty="0">
                <a:latin typeface="Arial"/>
                <a:cs typeface="Arial"/>
              </a:rPr>
              <a:t> </a:t>
            </a:r>
            <a:r>
              <a:rPr sz="1000" spc="-5" dirty="0">
                <a:latin typeface="Arial"/>
                <a:cs typeface="Arial"/>
              </a:rPr>
              <a:t>servers</a:t>
            </a:r>
            <a:r>
              <a:rPr sz="1000" dirty="0">
                <a:latin typeface="Arial"/>
                <a:cs typeface="Arial"/>
              </a:rPr>
              <a:t> </a:t>
            </a:r>
            <a:r>
              <a:rPr sz="1000" spc="-5" dirty="0">
                <a:latin typeface="Arial"/>
                <a:cs typeface="Arial"/>
              </a:rPr>
              <a:t>are</a:t>
            </a:r>
            <a:r>
              <a:rPr sz="1000" spc="5" dirty="0">
                <a:latin typeface="Arial"/>
                <a:cs typeface="Arial"/>
              </a:rPr>
              <a:t> </a:t>
            </a:r>
            <a:r>
              <a:rPr sz="1000" spc="-10" dirty="0">
                <a:latin typeface="Arial"/>
                <a:cs typeface="Arial"/>
              </a:rPr>
              <a:t>eventually</a:t>
            </a:r>
            <a:r>
              <a:rPr sz="1000" dirty="0">
                <a:latin typeface="Arial"/>
                <a:cs typeface="Arial"/>
              </a:rPr>
              <a:t> </a:t>
            </a:r>
            <a:r>
              <a:rPr sz="1000" spc="-5" dirty="0">
                <a:latin typeface="Arial"/>
                <a:cs typeface="Arial"/>
              </a:rPr>
              <a:t>updated, </a:t>
            </a:r>
            <a:r>
              <a:rPr sz="1000" spc="-265" dirty="0">
                <a:latin typeface="Arial"/>
                <a:cs typeface="Arial"/>
              </a:rPr>
              <a:t> </a:t>
            </a:r>
            <a:r>
              <a:rPr sz="1000" dirty="0">
                <a:latin typeface="Arial"/>
                <a:cs typeface="Arial"/>
              </a:rPr>
              <a:t>rumor</a:t>
            </a:r>
            <a:r>
              <a:rPr sz="1000" spc="-10" dirty="0">
                <a:latin typeface="Arial"/>
                <a:cs typeface="Arial"/>
              </a:rPr>
              <a:t> </a:t>
            </a:r>
            <a:r>
              <a:rPr sz="1000" spc="-5" dirty="0">
                <a:latin typeface="Arial"/>
                <a:cs typeface="Arial"/>
              </a:rPr>
              <a:t>spreading alone is not enough</a:t>
            </a:r>
            <a:endParaRPr sz="1000">
              <a:latin typeface="Arial"/>
              <a:cs typeface="Arial"/>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5353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Rem</a:t>
            </a:r>
            <a:r>
              <a:rPr sz="600" spc="-15" dirty="0">
                <a:solidFill>
                  <a:srgbClr val="3333B2"/>
                </a:solidFill>
                <a:latin typeface="Arial"/>
                <a:cs typeface="Arial"/>
                <a:hlinkClick r:id="rId3" action="ppaction://hlinksldjump"/>
              </a:rPr>
              <a:t>o</a:t>
            </a:r>
            <a:r>
              <a:rPr sz="600" spc="-5" dirty="0">
                <a:solidFill>
                  <a:srgbClr val="3333B2"/>
                </a:solidFill>
                <a:latin typeface="Arial"/>
                <a:cs typeface="Arial"/>
                <a:hlinkClick r:id="rId3" action="ppaction://hlinksldjump"/>
              </a:rPr>
              <a:t>ving data</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48</a:t>
            </a:r>
            <a:r>
              <a:rPr spc="-40" dirty="0"/>
              <a:t> </a:t>
            </a:r>
            <a:r>
              <a:rPr spc="-5" dirty="0"/>
              <a:t>/</a:t>
            </a:r>
            <a:r>
              <a:rPr spc="-35" dirty="0"/>
              <a:t> </a:t>
            </a:r>
            <a:r>
              <a:rPr spc="-5" dirty="0"/>
              <a:t>49</a:t>
            </a:r>
          </a:p>
        </p:txBody>
      </p:sp>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5" action="ppaction://hlinksldjump"/>
              </a:rPr>
              <a:t>Multicast</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endParaRPr sz="600">
              <a:latin typeface="Arial"/>
              <a:cs typeface="Arial"/>
            </a:endParaRPr>
          </a:p>
        </p:txBody>
      </p:sp>
      <p:sp>
        <p:nvSpPr>
          <p:cNvPr id="3" name="object 3"/>
          <p:cNvSpPr txBox="1"/>
          <p:nvPr/>
        </p:nvSpPr>
        <p:spPr>
          <a:xfrm>
            <a:off x="3393559" y="716"/>
            <a:ext cx="11480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Gossip-based data</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dissemination</a:t>
            </a:r>
            <a:endParaRPr sz="600">
              <a:latin typeface="Arial"/>
              <a:cs typeface="Arial"/>
            </a:endParaRPr>
          </a:p>
        </p:txBody>
      </p:sp>
      <p:sp>
        <p:nvSpPr>
          <p:cNvPr id="4" name="object 4"/>
          <p:cNvSpPr txBox="1"/>
          <p:nvPr/>
        </p:nvSpPr>
        <p:spPr>
          <a:xfrm>
            <a:off x="95300" y="188846"/>
            <a:ext cx="126682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Deleting</a:t>
            </a:r>
            <a:r>
              <a:rPr sz="1400" spc="-50" dirty="0">
                <a:solidFill>
                  <a:srgbClr val="3333B2"/>
                </a:solidFill>
                <a:latin typeface="Arial"/>
                <a:cs typeface="Arial"/>
              </a:rPr>
              <a:t> </a:t>
            </a:r>
            <a:r>
              <a:rPr sz="1400" spc="5" dirty="0">
                <a:solidFill>
                  <a:srgbClr val="3333B2"/>
                </a:solidFill>
                <a:latin typeface="Arial"/>
                <a:cs typeface="Arial"/>
              </a:rPr>
              <a:t>values</a:t>
            </a:r>
            <a:endParaRPr sz="1400" dirty="0">
              <a:latin typeface="Arial"/>
              <a:cs typeface="Arial"/>
            </a:endParaRPr>
          </a:p>
        </p:txBody>
      </p:sp>
      <p:sp>
        <p:nvSpPr>
          <p:cNvPr id="5" name="object 5"/>
          <p:cNvSpPr txBox="1"/>
          <p:nvPr/>
        </p:nvSpPr>
        <p:spPr>
          <a:xfrm>
            <a:off x="341350" y="1053756"/>
            <a:ext cx="3918585" cy="1281430"/>
          </a:xfrm>
          <a:prstGeom prst="rect">
            <a:avLst/>
          </a:prstGeom>
        </p:spPr>
        <p:txBody>
          <a:bodyPr vert="horz" wrap="square" lIns="0" tIns="39370" rIns="0" bIns="0" rtlCol="0">
            <a:spAutoFit/>
          </a:bodyPr>
          <a:lstStyle/>
          <a:p>
            <a:pPr marL="18415">
              <a:lnSpc>
                <a:spcPct val="100000"/>
              </a:lnSpc>
              <a:spcBef>
                <a:spcPts val="310"/>
              </a:spcBef>
            </a:pPr>
            <a:r>
              <a:rPr sz="1200" spc="-5" dirty="0">
                <a:solidFill>
                  <a:srgbClr val="FA0000"/>
                </a:solidFill>
                <a:latin typeface="Arial"/>
                <a:cs typeface="Arial"/>
              </a:rPr>
              <a:t>Fundamental</a:t>
            </a:r>
            <a:r>
              <a:rPr sz="1200" spc="-25" dirty="0">
                <a:solidFill>
                  <a:srgbClr val="FA0000"/>
                </a:solidFill>
                <a:latin typeface="Arial"/>
                <a:cs typeface="Arial"/>
              </a:rPr>
              <a:t> </a:t>
            </a:r>
            <a:r>
              <a:rPr sz="1200" spc="-10" dirty="0">
                <a:solidFill>
                  <a:srgbClr val="FA0000"/>
                </a:solidFill>
                <a:latin typeface="Arial"/>
                <a:cs typeface="Arial"/>
              </a:rPr>
              <a:t>problem</a:t>
            </a:r>
            <a:endParaRPr sz="1200" dirty="0">
              <a:latin typeface="Arial"/>
              <a:cs typeface="Arial"/>
            </a:endParaRPr>
          </a:p>
          <a:p>
            <a:pPr marL="18415" marR="7620" indent="-6350" algn="just">
              <a:lnSpc>
                <a:spcPct val="100000"/>
              </a:lnSpc>
              <a:spcBef>
                <a:spcPts val="175"/>
              </a:spcBef>
            </a:pPr>
            <a:r>
              <a:rPr sz="1000" spc="-20" dirty="0">
                <a:latin typeface="Arial"/>
                <a:cs typeface="Arial"/>
              </a:rPr>
              <a:t>We </a:t>
            </a:r>
            <a:r>
              <a:rPr sz="1000" spc="-5" dirty="0">
                <a:latin typeface="Arial"/>
                <a:cs typeface="Arial"/>
              </a:rPr>
              <a:t>cannot </a:t>
            </a:r>
            <a:r>
              <a:rPr sz="1000" spc="-10" dirty="0">
                <a:latin typeface="Arial"/>
                <a:cs typeface="Arial"/>
              </a:rPr>
              <a:t>remove </a:t>
            </a:r>
            <a:r>
              <a:rPr sz="1000" spc="-5" dirty="0">
                <a:latin typeface="Arial"/>
                <a:cs typeface="Arial"/>
              </a:rPr>
              <a:t>an old </a:t>
            </a:r>
            <a:r>
              <a:rPr sz="1000" spc="-10" dirty="0">
                <a:latin typeface="Arial"/>
                <a:cs typeface="Arial"/>
              </a:rPr>
              <a:t>value </a:t>
            </a:r>
            <a:r>
              <a:rPr sz="1000" spc="-5" dirty="0">
                <a:latin typeface="Arial"/>
                <a:cs typeface="Arial"/>
              </a:rPr>
              <a:t>from a server and </a:t>
            </a:r>
            <a:r>
              <a:rPr sz="1000" spc="-10" dirty="0">
                <a:latin typeface="Arial"/>
                <a:cs typeface="Arial"/>
              </a:rPr>
              <a:t>expect </a:t>
            </a:r>
            <a:r>
              <a:rPr sz="1000" spc="-5" dirty="0">
                <a:latin typeface="Arial"/>
                <a:cs typeface="Arial"/>
              </a:rPr>
              <a:t>the </a:t>
            </a:r>
            <a:r>
              <a:rPr sz="1000" spc="-10" dirty="0">
                <a:latin typeface="Arial"/>
                <a:cs typeface="Arial"/>
              </a:rPr>
              <a:t>removal </a:t>
            </a:r>
            <a:r>
              <a:rPr sz="1000" spc="-265" dirty="0">
                <a:latin typeface="Arial"/>
                <a:cs typeface="Arial"/>
              </a:rPr>
              <a:t> </a:t>
            </a:r>
            <a:r>
              <a:rPr sz="1000" spc="-5" dirty="0">
                <a:latin typeface="Arial"/>
                <a:cs typeface="Arial"/>
              </a:rPr>
              <a:t>to propagate. Instead, mere </a:t>
            </a:r>
            <a:r>
              <a:rPr sz="1000" spc="-10" dirty="0">
                <a:latin typeface="Arial"/>
                <a:cs typeface="Arial"/>
              </a:rPr>
              <a:t>removal </a:t>
            </a:r>
            <a:r>
              <a:rPr sz="1000" spc="-5" dirty="0">
                <a:latin typeface="Arial"/>
                <a:cs typeface="Arial"/>
              </a:rPr>
              <a:t>will be undone in due time using </a:t>
            </a:r>
            <a:r>
              <a:rPr sz="1000" spc="-265" dirty="0">
                <a:latin typeface="Arial"/>
                <a:cs typeface="Arial"/>
              </a:rPr>
              <a:t> </a:t>
            </a:r>
            <a:r>
              <a:rPr sz="1000" spc="-5" dirty="0">
                <a:latin typeface="Arial"/>
                <a:cs typeface="Arial"/>
              </a:rPr>
              <a:t>epidemic</a:t>
            </a:r>
            <a:r>
              <a:rPr sz="1000" spc="-10" dirty="0">
                <a:latin typeface="Arial"/>
                <a:cs typeface="Arial"/>
              </a:rPr>
              <a:t> </a:t>
            </a:r>
            <a:r>
              <a:rPr sz="1000" spc="-5" dirty="0">
                <a:latin typeface="Arial"/>
                <a:cs typeface="Arial"/>
              </a:rPr>
              <a:t>algorithms</a:t>
            </a:r>
            <a:endParaRPr sz="1000" dirty="0">
              <a:latin typeface="Arial"/>
              <a:cs typeface="Arial"/>
            </a:endParaRPr>
          </a:p>
          <a:p>
            <a:pPr marL="18415">
              <a:lnSpc>
                <a:spcPts val="1410"/>
              </a:lnSpc>
              <a:spcBef>
                <a:spcPts val="680"/>
              </a:spcBef>
            </a:pPr>
            <a:r>
              <a:rPr sz="1200" spc="-5" dirty="0">
                <a:solidFill>
                  <a:srgbClr val="3333B2"/>
                </a:solidFill>
                <a:latin typeface="Arial"/>
                <a:cs typeface="Arial"/>
              </a:rPr>
              <a:t>Solution</a:t>
            </a:r>
            <a:endParaRPr sz="1200" dirty="0">
              <a:latin typeface="Arial"/>
              <a:cs typeface="Arial"/>
            </a:endParaRPr>
          </a:p>
          <a:p>
            <a:pPr marL="18415" marR="5080" algn="just">
              <a:lnSpc>
                <a:spcPts val="1200"/>
              </a:lnSpc>
              <a:spcBef>
                <a:spcPts val="15"/>
              </a:spcBef>
            </a:pPr>
            <a:r>
              <a:rPr sz="1000" spc="-15" dirty="0">
                <a:latin typeface="Arial"/>
                <a:cs typeface="Arial"/>
              </a:rPr>
              <a:t>Removal </a:t>
            </a:r>
            <a:r>
              <a:rPr sz="1000" spc="-10" dirty="0">
                <a:latin typeface="Arial"/>
                <a:cs typeface="Arial"/>
              </a:rPr>
              <a:t>has </a:t>
            </a:r>
            <a:r>
              <a:rPr sz="1000" spc="-5" dirty="0">
                <a:latin typeface="Arial"/>
                <a:cs typeface="Arial"/>
              </a:rPr>
              <a:t>to </a:t>
            </a:r>
            <a:r>
              <a:rPr sz="1000" spc="-10" dirty="0">
                <a:latin typeface="Arial"/>
                <a:cs typeface="Arial"/>
              </a:rPr>
              <a:t>be registered as a special update </a:t>
            </a:r>
            <a:r>
              <a:rPr sz="1000" spc="-20" dirty="0">
                <a:latin typeface="Arial"/>
                <a:cs typeface="Arial"/>
              </a:rPr>
              <a:t>by </a:t>
            </a:r>
            <a:r>
              <a:rPr sz="1000" spc="-5" dirty="0">
                <a:latin typeface="Arial"/>
                <a:cs typeface="Arial"/>
              </a:rPr>
              <a:t>inserting </a:t>
            </a:r>
            <a:r>
              <a:rPr sz="1000" spc="-10" dirty="0">
                <a:latin typeface="Arial"/>
                <a:cs typeface="Arial"/>
              </a:rPr>
              <a:t>a </a:t>
            </a:r>
            <a:r>
              <a:rPr sz="1000" spc="-10" dirty="0">
                <a:solidFill>
                  <a:srgbClr val="0000FA"/>
                </a:solidFill>
                <a:latin typeface="Arial"/>
                <a:cs typeface="Arial"/>
              </a:rPr>
              <a:t>death </a:t>
            </a:r>
            <a:r>
              <a:rPr sz="1000" spc="-265" dirty="0">
                <a:solidFill>
                  <a:srgbClr val="0000FA"/>
                </a:solidFill>
                <a:latin typeface="Arial"/>
                <a:cs typeface="Arial"/>
              </a:rPr>
              <a:t> </a:t>
            </a:r>
            <a:r>
              <a:rPr sz="1000" dirty="0">
                <a:solidFill>
                  <a:srgbClr val="0000FA"/>
                </a:solidFill>
                <a:latin typeface="Arial"/>
                <a:cs typeface="Arial"/>
              </a:rPr>
              <a:t>certificate</a:t>
            </a:r>
            <a:endParaRPr sz="1000" dirty="0">
              <a:latin typeface="Arial"/>
              <a:cs typeface="Arial"/>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5353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Rem</a:t>
            </a:r>
            <a:r>
              <a:rPr sz="600" spc="-15" dirty="0">
                <a:solidFill>
                  <a:srgbClr val="3333B2"/>
                </a:solidFill>
                <a:latin typeface="Arial"/>
                <a:cs typeface="Arial"/>
                <a:hlinkClick r:id="rId3" action="ppaction://hlinksldjump"/>
              </a:rPr>
              <a:t>o</a:t>
            </a:r>
            <a:r>
              <a:rPr sz="600" spc="-5" dirty="0">
                <a:solidFill>
                  <a:srgbClr val="3333B2"/>
                </a:solidFill>
                <a:latin typeface="Arial"/>
                <a:cs typeface="Arial"/>
                <a:hlinkClick r:id="rId3" action="ppaction://hlinksldjump"/>
              </a:rPr>
              <a:t>ving data</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49</a:t>
            </a:r>
            <a:r>
              <a:rPr spc="-40" dirty="0"/>
              <a:t> </a:t>
            </a:r>
            <a:r>
              <a:rPr spc="-5" dirty="0"/>
              <a:t>/</a:t>
            </a:r>
            <a:r>
              <a:rPr spc="-35" dirty="0"/>
              <a:t> </a:t>
            </a:r>
            <a:r>
              <a:rPr spc="-5" dirty="0"/>
              <a:t>49</a:t>
            </a:r>
          </a:p>
        </p:txBody>
      </p:sp>
      <p:sp>
        <p:nvSpPr>
          <p:cNvPr id="2" name="object 2"/>
          <p:cNvSpPr txBox="1"/>
          <p:nvPr/>
        </p:nvSpPr>
        <p:spPr>
          <a:xfrm>
            <a:off x="66713" y="716"/>
            <a:ext cx="1443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Communication:</a:t>
            </a:r>
            <a:r>
              <a:rPr sz="600" spc="150" dirty="0">
                <a:solidFill>
                  <a:srgbClr val="3333B2"/>
                </a:solidFill>
                <a:latin typeface="Arial"/>
                <a:cs typeface="Arial"/>
              </a:rPr>
              <a:t> </a:t>
            </a:r>
            <a:r>
              <a:rPr sz="600" spc="-5" dirty="0">
                <a:solidFill>
                  <a:srgbClr val="3333B2"/>
                </a:solidFill>
                <a:latin typeface="Arial"/>
                <a:cs typeface="Arial"/>
                <a:hlinkClick r:id="rId5" action="ppaction://hlinksldjump"/>
              </a:rPr>
              <a:t>Multicast</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endParaRPr sz="600">
              <a:latin typeface="Arial"/>
              <a:cs typeface="Arial"/>
            </a:endParaRPr>
          </a:p>
        </p:txBody>
      </p:sp>
      <p:sp>
        <p:nvSpPr>
          <p:cNvPr id="3" name="object 3"/>
          <p:cNvSpPr txBox="1"/>
          <p:nvPr/>
        </p:nvSpPr>
        <p:spPr>
          <a:xfrm>
            <a:off x="3393559" y="716"/>
            <a:ext cx="11480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Gossip-based data</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dissemination</a:t>
            </a:r>
            <a:endParaRPr sz="600">
              <a:latin typeface="Arial"/>
              <a:cs typeface="Arial"/>
            </a:endParaRPr>
          </a:p>
        </p:txBody>
      </p:sp>
      <p:sp>
        <p:nvSpPr>
          <p:cNvPr id="4" name="object 4"/>
          <p:cNvSpPr txBox="1"/>
          <p:nvPr/>
        </p:nvSpPr>
        <p:spPr>
          <a:xfrm>
            <a:off x="69900" y="188846"/>
            <a:ext cx="4245610" cy="2516505"/>
          </a:xfrm>
          <a:prstGeom prst="rect">
            <a:avLst/>
          </a:prstGeom>
        </p:spPr>
        <p:txBody>
          <a:bodyPr vert="horz" wrap="square" lIns="0" tIns="17145" rIns="0" bIns="0" rtlCol="0">
            <a:spAutoFit/>
          </a:bodyPr>
          <a:lstStyle/>
          <a:p>
            <a:pPr marL="38100">
              <a:lnSpc>
                <a:spcPct val="100000"/>
              </a:lnSpc>
              <a:spcBef>
                <a:spcPts val="135"/>
              </a:spcBef>
            </a:pPr>
            <a:r>
              <a:rPr sz="1400" spc="15" dirty="0">
                <a:solidFill>
                  <a:srgbClr val="3333B2"/>
                </a:solidFill>
                <a:latin typeface="Arial"/>
                <a:cs typeface="Arial"/>
              </a:rPr>
              <a:t>Deleting</a:t>
            </a:r>
            <a:r>
              <a:rPr sz="1400" spc="-25" dirty="0">
                <a:solidFill>
                  <a:srgbClr val="3333B2"/>
                </a:solidFill>
                <a:latin typeface="Arial"/>
                <a:cs typeface="Arial"/>
              </a:rPr>
              <a:t> </a:t>
            </a:r>
            <a:r>
              <a:rPr sz="1400" spc="5" dirty="0">
                <a:solidFill>
                  <a:srgbClr val="3333B2"/>
                </a:solidFill>
                <a:latin typeface="Arial"/>
                <a:cs typeface="Arial"/>
              </a:rPr>
              <a:t>values</a:t>
            </a:r>
            <a:endParaRPr sz="1400" dirty="0">
              <a:latin typeface="Arial"/>
              <a:cs typeface="Arial"/>
            </a:endParaRPr>
          </a:p>
          <a:p>
            <a:pPr>
              <a:lnSpc>
                <a:spcPct val="100000"/>
              </a:lnSpc>
              <a:spcBef>
                <a:spcPts val="45"/>
              </a:spcBef>
            </a:pPr>
            <a:endParaRPr sz="2650" dirty="0">
              <a:latin typeface="Arial"/>
              <a:cs typeface="Arial"/>
            </a:endParaRPr>
          </a:p>
          <a:p>
            <a:pPr marL="289560" marR="55880" indent="-7620">
              <a:lnSpc>
                <a:spcPts val="1390"/>
              </a:lnSpc>
            </a:pPr>
            <a:r>
              <a:rPr sz="1200" spc="-20" dirty="0">
                <a:solidFill>
                  <a:srgbClr val="3333B2"/>
                </a:solidFill>
                <a:latin typeface="Arial"/>
                <a:cs typeface="Arial"/>
              </a:rPr>
              <a:t>When</a:t>
            </a:r>
            <a:r>
              <a:rPr sz="1200" spc="-5" dirty="0">
                <a:solidFill>
                  <a:srgbClr val="3333B2"/>
                </a:solidFill>
                <a:latin typeface="Arial"/>
                <a:cs typeface="Arial"/>
              </a:rPr>
              <a:t> </a:t>
            </a:r>
            <a:r>
              <a:rPr sz="1200" spc="-15" dirty="0">
                <a:solidFill>
                  <a:srgbClr val="3333B2"/>
                </a:solidFill>
                <a:latin typeface="Arial"/>
                <a:cs typeface="Arial"/>
              </a:rPr>
              <a:t>to</a:t>
            </a:r>
            <a:r>
              <a:rPr sz="1200" spc="-5" dirty="0">
                <a:solidFill>
                  <a:srgbClr val="3333B2"/>
                </a:solidFill>
                <a:latin typeface="Arial"/>
                <a:cs typeface="Arial"/>
              </a:rPr>
              <a:t> </a:t>
            </a:r>
            <a:r>
              <a:rPr sz="1200" spc="-25" dirty="0">
                <a:solidFill>
                  <a:srgbClr val="3333B2"/>
                </a:solidFill>
                <a:latin typeface="Arial"/>
                <a:cs typeface="Arial"/>
              </a:rPr>
              <a:t>remove</a:t>
            </a:r>
            <a:r>
              <a:rPr sz="1200" spc="-5" dirty="0">
                <a:solidFill>
                  <a:srgbClr val="3333B2"/>
                </a:solidFill>
                <a:latin typeface="Arial"/>
                <a:cs typeface="Arial"/>
              </a:rPr>
              <a:t> </a:t>
            </a:r>
            <a:r>
              <a:rPr sz="1200" spc="-20" dirty="0">
                <a:solidFill>
                  <a:srgbClr val="3333B2"/>
                </a:solidFill>
                <a:latin typeface="Arial"/>
                <a:cs typeface="Arial"/>
              </a:rPr>
              <a:t>a</a:t>
            </a:r>
            <a:r>
              <a:rPr sz="1200" spc="-5" dirty="0">
                <a:solidFill>
                  <a:srgbClr val="3333B2"/>
                </a:solidFill>
                <a:latin typeface="Arial"/>
                <a:cs typeface="Arial"/>
              </a:rPr>
              <a:t> </a:t>
            </a:r>
            <a:r>
              <a:rPr sz="1200" spc="-15" dirty="0">
                <a:solidFill>
                  <a:srgbClr val="3333B2"/>
                </a:solidFill>
                <a:latin typeface="Arial"/>
                <a:cs typeface="Arial"/>
              </a:rPr>
              <a:t>death</a:t>
            </a:r>
            <a:r>
              <a:rPr sz="1200" dirty="0">
                <a:solidFill>
                  <a:srgbClr val="3333B2"/>
                </a:solidFill>
                <a:latin typeface="Arial"/>
                <a:cs typeface="Arial"/>
              </a:rPr>
              <a:t> </a:t>
            </a:r>
            <a:r>
              <a:rPr sz="1200" spc="-10" dirty="0">
                <a:solidFill>
                  <a:srgbClr val="3333B2"/>
                </a:solidFill>
                <a:latin typeface="Arial"/>
                <a:cs typeface="Arial"/>
              </a:rPr>
              <a:t>certificate</a:t>
            </a:r>
            <a:r>
              <a:rPr sz="1200" spc="-5" dirty="0">
                <a:solidFill>
                  <a:srgbClr val="3333B2"/>
                </a:solidFill>
                <a:latin typeface="Arial"/>
                <a:cs typeface="Arial"/>
              </a:rPr>
              <a:t> </a:t>
            </a:r>
            <a:r>
              <a:rPr sz="1200" spc="-10" dirty="0">
                <a:solidFill>
                  <a:srgbClr val="3333B2"/>
                </a:solidFill>
                <a:latin typeface="Arial"/>
                <a:cs typeface="Arial"/>
              </a:rPr>
              <a:t>(it</a:t>
            </a:r>
            <a:r>
              <a:rPr sz="1200" spc="-5" dirty="0">
                <a:solidFill>
                  <a:srgbClr val="3333B2"/>
                </a:solidFill>
                <a:latin typeface="Arial"/>
                <a:cs typeface="Arial"/>
              </a:rPr>
              <a:t> </a:t>
            </a:r>
            <a:r>
              <a:rPr sz="1200" spc="-10" dirty="0">
                <a:solidFill>
                  <a:srgbClr val="3333B2"/>
                </a:solidFill>
                <a:latin typeface="Arial"/>
                <a:cs typeface="Arial"/>
              </a:rPr>
              <a:t>is</a:t>
            </a:r>
            <a:r>
              <a:rPr sz="1200" spc="-5" dirty="0">
                <a:solidFill>
                  <a:srgbClr val="3333B2"/>
                </a:solidFill>
                <a:latin typeface="Arial"/>
                <a:cs typeface="Arial"/>
              </a:rPr>
              <a:t> </a:t>
            </a:r>
            <a:r>
              <a:rPr sz="1200" spc="-15" dirty="0">
                <a:solidFill>
                  <a:srgbClr val="3333B2"/>
                </a:solidFill>
                <a:latin typeface="Arial"/>
                <a:cs typeface="Arial"/>
              </a:rPr>
              <a:t>not</a:t>
            </a:r>
            <a:r>
              <a:rPr sz="1200" dirty="0">
                <a:solidFill>
                  <a:srgbClr val="3333B2"/>
                </a:solidFill>
                <a:latin typeface="Arial"/>
                <a:cs typeface="Arial"/>
              </a:rPr>
              <a:t> </a:t>
            </a:r>
            <a:r>
              <a:rPr sz="1200" spc="-20" dirty="0">
                <a:solidFill>
                  <a:srgbClr val="3333B2"/>
                </a:solidFill>
                <a:latin typeface="Arial"/>
                <a:cs typeface="Arial"/>
              </a:rPr>
              <a:t>allowed</a:t>
            </a:r>
            <a:r>
              <a:rPr sz="1200" spc="-5" dirty="0">
                <a:solidFill>
                  <a:srgbClr val="3333B2"/>
                </a:solidFill>
                <a:latin typeface="Arial"/>
                <a:cs typeface="Arial"/>
              </a:rPr>
              <a:t> </a:t>
            </a:r>
            <a:r>
              <a:rPr sz="1200" spc="-15" dirty="0">
                <a:solidFill>
                  <a:srgbClr val="3333B2"/>
                </a:solidFill>
                <a:latin typeface="Arial"/>
                <a:cs typeface="Arial"/>
              </a:rPr>
              <a:t>to</a:t>
            </a:r>
            <a:r>
              <a:rPr sz="1200" spc="-5" dirty="0">
                <a:solidFill>
                  <a:srgbClr val="3333B2"/>
                </a:solidFill>
                <a:latin typeface="Arial"/>
                <a:cs typeface="Arial"/>
              </a:rPr>
              <a:t> </a:t>
            </a:r>
            <a:r>
              <a:rPr sz="1200" spc="-25" dirty="0">
                <a:solidFill>
                  <a:srgbClr val="3333B2"/>
                </a:solidFill>
                <a:latin typeface="Arial"/>
                <a:cs typeface="Arial"/>
              </a:rPr>
              <a:t>stay </a:t>
            </a:r>
            <a:r>
              <a:rPr sz="1200" spc="-320" dirty="0">
                <a:solidFill>
                  <a:srgbClr val="3333B2"/>
                </a:solidFill>
                <a:latin typeface="Arial"/>
                <a:cs typeface="Arial"/>
              </a:rPr>
              <a:t> </a:t>
            </a:r>
            <a:r>
              <a:rPr sz="1200" spc="-20" dirty="0">
                <a:solidFill>
                  <a:srgbClr val="3333B2"/>
                </a:solidFill>
                <a:latin typeface="Arial"/>
                <a:cs typeface="Arial"/>
              </a:rPr>
              <a:t>for</a:t>
            </a:r>
            <a:r>
              <a:rPr sz="1200" spc="-10" dirty="0">
                <a:solidFill>
                  <a:srgbClr val="3333B2"/>
                </a:solidFill>
                <a:latin typeface="Arial"/>
                <a:cs typeface="Arial"/>
              </a:rPr>
              <a:t> </a:t>
            </a:r>
            <a:r>
              <a:rPr sz="1200" spc="-20" dirty="0">
                <a:solidFill>
                  <a:srgbClr val="3333B2"/>
                </a:solidFill>
                <a:latin typeface="Arial"/>
                <a:cs typeface="Arial"/>
              </a:rPr>
              <a:t>ever)</a:t>
            </a:r>
            <a:endParaRPr sz="1200" dirty="0">
              <a:latin typeface="Arial"/>
              <a:cs typeface="Arial"/>
            </a:endParaRPr>
          </a:p>
          <a:p>
            <a:pPr marL="567055" marR="180340" indent="-168275">
              <a:lnSpc>
                <a:spcPct val="100000"/>
              </a:lnSpc>
              <a:spcBef>
                <a:spcPts val="740"/>
              </a:spcBef>
              <a:buClr>
                <a:srgbClr val="3333B2"/>
              </a:buClr>
              <a:buChar char="►"/>
              <a:tabLst>
                <a:tab pos="567690" algn="l"/>
              </a:tabLst>
            </a:pPr>
            <a:r>
              <a:rPr sz="1000" spc="-5" dirty="0">
                <a:latin typeface="Arial"/>
                <a:cs typeface="Arial"/>
              </a:rPr>
              <a:t>Run</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global</a:t>
            </a:r>
            <a:r>
              <a:rPr sz="1000" spc="5" dirty="0">
                <a:latin typeface="Arial"/>
                <a:cs typeface="Arial"/>
              </a:rPr>
              <a:t> </a:t>
            </a:r>
            <a:r>
              <a:rPr sz="1000" spc="-5" dirty="0">
                <a:latin typeface="Arial"/>
                <a:cs typeface="Arial"/>
              </a:rPr>
              <a:t>algorithm</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detect</a:t>
            </a:r>
            <a:r>
              <a:rPr sz="1000" dirty="0">
                <a:latin typeface="Arial"/>
                <a:cs typeface="Arial"/>
              </a:rPr>
              <a:t> </a:t>
            </a:r>
            <a:r>
              <a:rPr sz="1000" spc="-5" dirty="0">
                <a:latin typeface="Arial"/>
                <a:cs typeface="Arial"/>
              </a:rPr>
              <a:t>whether</a:t>
            </a:r>
            <a:r>
              <a:rPr sz="1000" dirty="0">
                <a:latin typeface="Arial"/>
                <a:cs typeface="Arial"/>
              </a:rPr>
              <a:t> </a:t>
            </a:r>
            <a:r>
              <a:rPr sz="1000" spc="-5" dirty="0">
                <a:latin typeface="Arial"/>
                <a:cs typeface="Arial"/>
              </a:rPr>
              <a:t>the</a:t>
            </a:r>
            <a:r>
              <a:rPr sz="1000" spc="5" dirty="0">
                <a:latin typeface="Arial"/>
                <a:cs typeface="Arial"/>
              </a:rPr>
              <a:t> </a:t>
            </a:r>
            <a:r>
              <a:rPr sz="1000" spc="-10" dirty="0">
                <a:latin typeface="Arial"/>
                <a:cs typeface="Arial"/>
              </a:rPr>
              <a:t>removal</a:t>
            </a:r>
            <a:r>
              <a:rPr sz="1000" dirty="0">
                <a:latin typeface="Arial"/>
                <a:cs typeface="Arial"/>
              </a:rPr>
              <a:t> </a:t>
            </a:r>
            <a:r>
              <a:rPr sz="1000" spc="-5" dirty="0">
                <a:latin typeface="Arial"/>
                <a:cs typeface="Arial"/>
              </a:rPr>
              <a:t>is</a:t>
            </a:r>
            <a:r>
              <a:rPr sz="1000" spc="5" dirty="0">
                <a:latin typeface="Arial"/>
                <a:cs typeface="Arial"/>
              </a:rPr>
              <a:t> </a:t>
            </a:r>
            <a:r>
              <a:rPr sz="1000" spc="-10" dirty="0">
                <a:latin typeface="Arial"/>
                <a:cs typeface="Arial"/>
              </a:rPr>
              <a:t>known </a:t>
            </a:r>
            <a:r>
              <a:rPr sz="1000" spc="-265" dirty="0">
                <a:latin typeface="Arial"/>
                <a:cs typeface="Arial"/>
              </a:rPr>
              <a:t> </a:t>
            </a:r>
            <a:r>
              <a:rPr sz="1000" spc="-10" dirty="0">
                <a:latin typeface="Arial"/>
                <a:cs typeface="Arial"/>
              </a:rPr>
              <a:t>everywhere,</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then</a:t>
            </a:r>
            <a:r>
              <a:rPr sz="1000" dirty="0">
                <a:latin typeface="Arial"/>
                <a:cs typeface="Arial"/>
              </a:rPr>
              <a:t> </a:t>
            </a:r>
            <a:r>
              <a:rPr sz="1000" spc="-5" dirty="0">
                <a:latin typeface="Arial"/>
                <a:cs typeface="Arial"/>
              </a:rPr>
              <a:t>collect</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death</a:t>
            </a:r>
            <a:r>
              <a:rPr sz="1000" dirty="0">
                <a:latin typeface="Arial"/>
                <a:cs typeface="Arial"/>
              </a:rPr>
              <a:t> certificates </a:t>
            </a:r>
            <a:r>
              <a:rPr sz="1000" spc="-5" dirty="0">
                <a:latin typeface="Arial"/>
                <a:cs typeface="Arial"/>
              </a:rPr>
              <a:t>(looks</a:t>
            </a:r>
            <a:r>
              <a:rPr sz="1000" dirty="0">
                <a:latin typeface="Arial"/>
                <a:cs typeface="Arial"/>
              </a:rPr>
              <a:t> </a:t>
            </a:r>
            <a:r>
              <a:rPr sz="1000" spc="-10" dirty="0">
                <a:latin typeface="Arial"/>
                <a:cs typeface="Arial"/>
              </a:rPr>
              <a:t>like </a:t>
            </a:r>
            <a:r>
              <a:rPr sz="1000" spc="-5" dirty="0">
                <a:latin typeface="Arial"/>
                <a:cs typeface="Arial"/>
              </a:rPr>
              <a:t> garbage</a:t>
            </a:r>
            <a:r>
              <a:rPr sz="1000" spc="-10" dirty="0">
                <a:latin typeface="Arial"/>
                <a:cs typeface="Arial"/>
              </a:rPr>
              <a:t> </a:t>
            </a:r>
            <a:r>
              <a:rPr sz="1000" spc="-5" dirty="0">
                <a:latin typeface="Arial"/>
                <a:cs typeface="Arial"/>
              </a:rPr>
              <a:t>collection)</a:t>
            </a:r>
            <a:endParaRPr sz="1000" dirty="0">
              <a:latin typeface="Arial"/>
              <a:cs typeface="Arial"/>
            </a:endParaRPr>
          </a:p>
          <a:p>
            <a:pPr marL="567055" marR="59690" indent="-168275">
              <a:lnSpc>
                <a:spcPts val="1200"/>
              </a:lnSpc>
              <a:spcBef>
                <a:spcPts val="25"/>
              </a:spcBef>
              <a:buClr>
                <a:srgbClr val="3333B2"/>
              </a:buClr>
              <a:buChar char="►"/>
              <a:tabLst>
                <a:tab pos="567690" algn="l"/>
              </a:tabLst>
            </a:pPr>
            <a:r>
              <a:rPr sz="1000" spc="-5" dirty="0">
                <a:latin typeface="Arial"/>
                <a:cs typeface="Arial"/>
              </a:rPr>
              <a:t>Assume death </a:t>
            </a:r>
            <a:r>
              <a:rPr sz="1000" dirty="0">
                <a:latin typeface="Arial"/>
                <a:cs typeface="Arial"/>
              </a:rPr>
              <a:t>certificates </a:t>
            </a:r>
            <a:r>
              <a:rPr sz="1000" spc="-5" dirty="0">
                <a:latin typeface="Arial"/>
                <a:cs typeface="Arial"/>
              </a:rPr>
              <a:t>propagate in finite</a:t>
            </a:r>
            <a:r>
              <a:rPr sz="1000" dirty="0">
                <a:latin typeface="Arial"/>
                <a:cs typeface="Arial"/>
              </a:rPr>
              <a:t> </a:t>
            </a:r>
            <a:r>
              <a:rPr sz="1000" spc="-10" dirty="0">
                <a:latin typeface="Arial"/>
                <a:cs typeface="Arial"/>
              </a:rPr>
              <a:t>time,</a:t>
            </a:r>
            <a:r>
              <a:rPr sz="1000" spc="-5" dirty="0">
                <a:latin typeface="Arial"/>
                <a:cs typeface="Arial"/>
              </a:rPr>
              <a:t> and associate </a:t>
            </a:r>
            <a:r>
              <a:rPr sz="1000" spc="-260" dirty="0">
                <a:latin typeface="Arial"/>
                <a:cs typeface="Arial"/>
              </a:rPr>
              <a:t> </a:t>
            </a:r>
            <a:r>
              <a:rPr sz="1000" spc="-5" dirty="0">
                <a:latin typeface="Arial"/>
                <a:cs typeface="Arial"/>
              </a:rPr>
              <a:t>a maximum </a:t>
            </a:r>
            <a:r>
              <a:rPr sz="1000" spc="-10" dirty="0">
                <a:latin typeface="Arial"/>
                <a:cs typeface="Arial"/>
              </a:rPr>
              <a:t>lifetime</a:t>
            </a:r>
            <a:r>
              <a:rPr sz="1000" dirty="0">
                <a:latin typeface="Arial"/>
                <a:cs typeface="Arial"/>
              </a:rPr>
              <a:t> </a:t>
            </a:r>
            <a:r>
              <a:rPr sz="1000" spc="-15" dirty="0">
                <a:latin typeface="Arial"/>
                <a:cs typeface="Arial"/>
              </a:rPr>
              <a:t>for</a:t>
            </a:r>
            <a:r>
              <a:rPr sz="1000" spc="-5" dirty="0">
                <a:latin typeface="Arial"/>
                <a:cs typeface="Arial"/>
              </a:rPr>
              <a:t> a</a:t>
            </a:r>
            <a:r>
              <a:rPr sz="1000" dirty="0">
                <a:latin typeface="Arial"/>
                <a:cs typeface="Arial"/>
              </a:rPr>
              <a:t> certificate</a:t>
            </a:r>
            <a:r>
              <a:rPr sz="1000" spc="-5" dirty="0">
                <a:latin typeface="Arial"/>
                <a:cs typeface="Arial"/>
              </a:rPr>
              <a:t> (can</a:t>
            </a:r>
            <a:r>
              <a:rPr sz="1000" dirty="0">
                <a:latin typeface="Arial"/>
                <a:cs typeface="Arial"/>
              </a:rPr>
              <a:t> </a:t>
            </a:r>
            <a:r>
              <a:rPr sz="1000" spc="-5" dirty="0">
                <a:latin typeface="Arial"/>
                <a:cs typeface="Arial"/>
              </a:rPr>
              <a:t>be done at</a:t>
            </a:r>
            <a:r>
              <a:rPr sz="1000" dirty="0">
                <a:latin typeface="Arial"/>
                <a:cs typeface="Arial"/>
              </a:rPr>
              <a:t> risk</a:t>
            </a:r>
            <a:r>
              <a:rPr sz="1000" spc="-5" dirty="0">
                <a:latin typeface="Arial"/>
                <a:cs typeface="Arial"/>
              </a:rPr>
              <a:t> of</a:t>
            </a:r>
            <a:r>
              <a:rPr sz="1000" dirty="0">
                <a:latin typeface="Arial"/>
                <a:cs typeface="Arial"/>
              </a:rPr>
              <a:t> </a:t>
            </a:r>
            <a:r>
              <a:rPr sz="1000" spc="-5" dirty="0">
                <a:latin typeface="Arial"/>
                <a:cs typeface="Arial"/>
              </a:rPr>
              <a:t>not </a:t>
            </a:r>
            <a:r>
              <a:rPr sz="1000" dirty="0">
                <a:latin typeface="Arial"/>
                <a:cs typeface="Arial"/>
              </a:rPr>
              <a:t> </a:t>
            </a:r>
            <a:r>
              <a:rPr sz="1000" spc="-5" dirty="0">
                <a:latin typeface="Arial"/>
                <a:cs typeface="Arial"/>
              </a:rPr>
              <a:t>reaching</a:t>
            </a:r>
            <a:r>
              <a:rPr sz="1000" spc="-10" dirty="0">
                <a:latin typeface="Arial"/>
                <a:cs typeface="Arial"/>
              </a:rPr>
              <a:t> </a:t>
            </a:r>
            <a:r>
              <a:rPr sz="1000" spc="-5" dirty="0">
                <a:latin typeface="Arial"/>
                <a:cs typeface="Arial"/>
              </a:rPr>
              <a:t>all servers)</a:t>
            </a:r>
            <a:endParaRPr sz="1000" dirty="0">
              <a:latin typeface="Arial"/>
              <a:cs typeface="Arial"/>
            </a:endParaRPr>
          </a:p>
          <a:p>
            <a:pPr>
              <a:lnSpc>
                <a:spcPct val="100000"/>
              </a:lnSpc>
              <a:spcBef>
                <a:spcPts val="25"/>
              </a:spcBef>
            </a:pPr>
            <a:endParaRPr sz="1250" dirty="0">
              <a:latin typeface="Arial"/>
              <a:cs typeface="Arial"/>
            </a:endParaRPr>
          </a:p>
          <a:p>
            <a:pPr marL="289560">
              <a:lnSpc>
                <a:spcPts val="1420"/>
              </a:lnSpc>
            </a:pPr>
            <a:r>
              <a:rPr sz="1200" spc="-5" dirty="0">
                <a:solidFill>
                  <a:srgbClr val="FA0000"/>
                </a:solidFill>
                <a:latin typeface="Arial"/>
                <a:cs typeface="Arial"/>
              </a:rPr>
              <a:t>Note</a:t>
            </a:r>
            <a:endParaRPr sz="1200" dirty="0">
              <a:latin typeface="Arial"/>
              <a:cs typeface="Arial"/>
            </a:endParaRPr>
          </a:p>
          <a:p>
            <a:pPr marL="289560">
              <a:lnSpc>
                <a:spcPts val="1180"/>
              </a:lnSpc>
            </a:pPr>
            <a:r>
              <a:rPr sz="1000" spc="-5" dirty="0">
                <a:latin typeface="Arial"/>
                <a:cs typeface="Arial"/>
              </a:rPr>
              <a:t>It is</a:t>
            </a:r>
            <a:r>
              <a:rPr sz="1000" dirty="0">
                <a:latin typeface="Arial"/>
                <a:cs typeface="Arial"/>
              </a:rPr>
              <a:t> necessary</a:t>
            </a:r>
            <a:r>
              <a:rPr sz="1000" spc="-5" dirty="0">
                <a:latin typeface="Arial"/>
                <a:cs typeface="Arial"/>
              </a:rPr>
              <a:t> that</a:t>
            </a:r>
            <a:r>
              <a:rPr sz="1000" dirty="0">
                <a:latin typeface="Arial"/>
                <a:cs typeface="Arial"/>
              </a:rPr>
              <a:t> </a:t>
            </a:r>
            <a:r>
              <a:rPr sz="1000" spc="-5" dirty="0">
                <a:latin typeface="Arial"/>
                <a:cs typeface="Arial"/>
              </a:rPr>
              <a:t>a </a:t>
            </a:r>
            <a:r>
              <a:rPr sz="1000" spc="-10" dirty="0">
                <a:latin typeface="Arial"/>
                <a:cs typeface="Arial"/>
              </a:rPr>
              <a:t>removal</a:t>
            </a:r>
            <a:r>
              <a:rPr sz="1000" dirty="0">
                <a:latin typeface="Arial"/>
                <a:cs typeface="Arial"/>
              </a:rPr>
              <a:t> </a:t>
            </a:r>
            <a:r>
              <a:rPr sz="1000" spc="-5" dirty="0">
                <a:latin typeface="Arial"/>
                <a:cs typeface="Arial"/>
              </a:rPr>
              <a:t>actually reaches all</a:t>
            </a:r>
            <a:r>
              <a:rPr sz="1000" dirty="0">
                <a:latin typeface="Arial"/>
                <a:cs typeface="Arial"/>
              </a:rPr>
              <a:t> </a:t>
            </a:r>
            <a:r>
              <a:rPr sz="1000" spc="-5" dirty="0">
                <a:latin typeface="Arial"/>
                <a:cs typeface="Arial"/>
              </a:rPr>
              <a:t>servers.</a:t>
            </a:r>
            <a:endParaRPr sz="1000" dirty="0">
              <a:latin typeface="Arial"/>
              <a:cs typeface="Arial"/>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911</TotalTime>
  <Words>27184</Words>
  <Application>Microsoft Office PowerPoint</Application>
  <PresentationFormat>Custom</PresentationFormat>
  <Paragraphs>2519</Paragraphs>
  <Slides>54</Slides>
  <Notes>50</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メイリオ</vt:lpstr>
      <vt:lpstr>Arial</vt:lpstr>
      <vt:lpstr>Calibri</vt:lpstr>
      <vt:lpstr>DeepSeek-CJK-patch</vt:lpstr>
      <vt:lpstr>Helvetica</vt:lpstr>
      <vt:lpstr>KaTeX_Main</vt:lpstr>
      <vt:lpstr>KaTeX_Math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RPC: Parameter passing</vt:lpstr>
      <vt:lpstr>RPC: Parameter passing</vt:lpstr>
      <vt:lpstr>RPC: Parameter passing</vt:lpstr>
      <vt:lpstr>PowerPoint Presentation</vt:lpstr>
      <vt:lpstr>PowerPoint Presentation</vt:lpstr>
      <vt:lpstr>PowerPoint Presentation</vt:lpstr>
      <vt:lpstr>PowerPoint Presentation</vt:lpstr>
      <vt:lpstr>PowerPoint Presentation</vt:lpstr>
      <vt:lpstr>Sockets: Python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Message-oriented middleware</vt:lpstr>
      <vt:lpstr>General model</vt:lpstr>
      <vt:lpstr>PowerPoint Presentation</vt:lpstr>
      <vt:lpstr>Message broker: general architecture</vt:lpstr>
      <vt:lpstr>IBM’s WebSphere MQ</vt:lpstr>
      <vt:lpstr>PowerPoint Presentation</vt:lpstr>
      <vt:lpstr>PowerPoint Presentation</vt:lpstr>
      <vt:lpstr>IBM’s WebSphere MQ</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Anti-entropy: analysis</vt:lpstr>
      <vt:lpstr>PowerPoint Presentation</vt:lpstr>
      <vt:lpstr>PowerPoint Presentation</vt:lpstr>
      <vt:lpstr>Formal analysis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(3rd Edition)</dc:title>
  <cp:lastModifiedBy>Admin</cp:lastModifiedBy>
  <cp:revision>58</cp:revision>
  <dcterms:created xsi:type="dcterms:W3CDTF">2022-03-20T07:20:38Z</dcterms:created>
  <dcterms:modified xsi:type="dcterms:W3CDTF">2025-10-08T10:42:07Z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2022-03-20T00:00:00Z</vt:filetime>
  </property>
  <property fmtid="{D5CDD505-2E9C-101B-9397-08002B2CF9AE}" pid="3" name="Creator">
    <vt:lpwstr>LaTeX with Beamer class</vt:lpwstr>
  </property>
  <property fmtid="{D5CDD505-2E9C-101B-9397-08002B2CF9AE}" pid="4" name="LastSaved">
    <vt:filetime>2022-03-20T00:00:00Z</vt:filetime>
  </property>
</Properties>
</file>